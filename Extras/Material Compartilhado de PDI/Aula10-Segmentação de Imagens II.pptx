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3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29" r:id="rId3"/>
    <p:sldId id="328" r:id="rId4"/>
    <p:sldId id="259" r:id="rId5"/>
    <p:sldId id="260" r:id="rId6"/>
    <p:sldId id="261" r:id="rId7"/>
    <p:sldId id="330" r:id="rId8"/>
    <p:sldId id="354" r:id="rId9"/>
    <p:sldId id="341" r:id="rId10"/>
    <p:sldId id="257" r:id="rId11"/>
    <p:sldId id="270" r:id="rId12"/>
    <p:sldId id="271" r:id="rId13"/>
    <p:sldId id="272" r:id="rId14"/>
    <p:sldId id="331" r:id="rId15"/>
    <p:sldId id="273" r:id="rId16"/>
    <p:sldId id="274" r:id="rId17"/>
    <p:sldId id="275" r:id="rId18"/>
    <p:sldId id="276" r:id="rId19"/>
    <p:sldId id="277" r:id="rId20"/>
    <p:sldId id="332" r:id="rId21"/>
    <p:sldId id="278" r:id="rId22"/>
    <p:sldId id="333" r:id="rId23"/>
    <p:sldId id="279" r:id="rId24"/>
    <p:sldId id="334" r:id="rId25"/>
    <p:sldId id="335" r:id="rId26"/>
    <p:sldId id="283" r:id="rId27"/>
    <p:sldId id="336" r:id="rId28"/>
    <p:sldId id="337" r:id="rId29"/>
    <p:sldId id="284" r:id="rId30"/>
    <p:sldId id="338" r:id="rId31"/>
    <p:sldId id="285" r:id="rId32"/>
    <p:sldId id="339" r:id="rId33"/>
    <p:sldId id="286" r:id="rId34"/>
    <p:sldId id="287" r:id="rId35"/>
    <p:sldId id="288" r:id="rId36"/>
    <p:sldId id="340" r:id="rId3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6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92722-04CC-4E35-982E-0A76EF12C17F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C2682-7B19-4CB8-9D1C-415396A0C90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2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069CB-4885-422A-8487-E416077660F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C2682-7B19-4CB8-9D1C-415396A0C90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[1,2,1]T;</a:t>
            </a:r>
            <a:r>
              <a:rPr lang="en-US" baseline="0" dirty="0" smtClean="0"/>
              <a:t>  [-1,0,1]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8C2682-7B19-4CB8-9D1C-415396A0C90D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89998CC-3BF8-493C-8FEC-F049FF294AA1}" type="datetimeFigureOut">
              <a:rPr lang="en-US" smtClean="0"/>
              <a:pPr/>
              <a:t>3/13/2013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3EC2751-14EA-4AE1-87D0-063AFA27021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600" dirty="0" err="1" smtClean="0"/>
              <a:t>Segmentação</a:t>
            </a:r>
            <a:r>
              <a:rPr lang="en-US" sz="4600" dirty="0" smtClean="0"/>
              <a:t> de </a:t>
            </a:r>
            <a:r>
              <a:rPr lang="en-US" sz="4600" err="1" smtClean="0"/>
              <a:t>Imagens</a:t>
            </a:r>
            <a:r>
              <a:rPr lang="en-US" sz="4600" smtClean="0"/>
              <a:t> </a:t>
            </a:r>
            <a:r>
              <a:rPr lang="en-US" sz="4600" smtClean="0"/>
              <a:t>II</a:t>
            </a:r>
            <a:endParaRPr lang="en-US" sz="4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Denise </a:t>
            </a:r>
            <a:r>
              <a:rPr lang="en-US" dirty="0" err="1" smtClean="0"/>
              <a:t>Guliato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Filtros</a:t>
            </a:r>
            <a:r>
              <a:rPr lang="en-US" dirty="0" smtClean="0"/>
              <a:t> de </a:t>
            </a:r>
            <a:r>
              <a:rPr lang="en-US" dirty="0" err="1" smtClean="0"/>
              <a:t>realce</a:t>
            </a:r>
            <a:endParaRPr lang="en-US" dirty="0" smtClean="0"/>
          </a:p>
          <a:p>
            <a:pPr lvl="1"/>
            <a:r>
              <a:rPr lang="en-US" dirty="0" err="1" smtClean="0"/>
              <a:t>Baseados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derivada</a:t>
            </a:r>
            <a:r>
              <a:rPr lang="en-US" dirty="0" smtClean="0"/>
              <a:t> de </a:t>
            </a:r>
            <a:r>
              <a:rPr lang="en-US" dirty="0" err="1" smtClean="0"/>
              <a:t>primeira</a:t>
            </a:r>
            <a:r>
              <a:rPr lang="en-US" dirty="0" smtClean="0"/>
              <a:t> </a:t>
            </a:r>
            <a:r>
              <a:rPr lang="en-US" dirty="0" err="1" smtClean="0"/>
              <a:t>ordem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Baseados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derivada</a:t>
            </a:r>
            <a:r>
              <a:rPr lang="en-US" dirty="0" smtClean="0"/>
              <a:t> de </a:t>
            </a:r>
            <a:r>
              <a:rPr lang="en-US" dirty="0" err="1" smtClean="0"/>
              <a:t>segunda</a:t>
            </a:r>
            <a:r>
              <a:rPr lang="en-US" dirty="0" smtClean="0"/>
              <a:t> </a:t>
            </a:r>
            <a:r>
              <a:rPr lang="en-US" dirty="0" err="1" smtClean="0"/>
              <a:t>ordem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Máscara</a:t>
            </a:r>
            <a:r>
              <a:rPr lang="en-US" dirty="0" smtClean="0"/>
              <a:t> de </a:t>
            </a:r>
            <a:r>
              <a:rPr lang="en-US" dirty="0" err="1" smtClean="0"/>
              <a:t>nitidez</a:t>
            </a:r>
            <a:r>
              <a:rPr lang="en-US" smtClean="0"/>
              <a:t> (</a:t>
            </a:r>
            <a:r>
              <a:rPr lang="en-US" dirty="0" err="1" smtClean="0"/>
              <a:t>unsharp</a:t>
            </a:r>
            <a:r>
              <a:rPr lang="en-US" dirty="0" smtClean="0"/>
              <a:t> mask)</a:t>
            </a:r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Filtro</a:t>
            </a:r>
            <a:r>
              <a:rPr lang="en-US" dirty="0" smtClean="0"/>
              <a:t> de </a:t>
            </a:r>
            <a:r>
              <a:rPr lang="en-US" dirty="0" err="1" smtClean="0"/>
              <a:t>ênfase</a:t>
            </a:r>
            <a:r>
              <a:rPr lang="en-US" dirty="0" smtClean="0"/>
              <a:t> (</a:t>
            </a:r>
            <a:r>
              <a:rPr lang="en-US" dirty="0" err="1" smtClean="0"/>
              <a:t>highboost</a:t>
            </a:r>
            <a:r>
              <a:rPr lang="en-US" dirty="0" smtClean="0"/>
              <a:t> filter)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Recapitulando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Conteúdo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pt-BR" dirty="0" smtClean="0"/>
              </a:p>
              <a:p>
                <a:r>
                  <a:rPr lang="pt-BR" dirty="0" smtClean="0"/>
                  <a:t>A derivada de primeira ordem da função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 smtClean="0"/>
                  <a:t>  no ponto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BR" dirty="0" smtClean="0"/>
                  <a:t> pode ser aproximada por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Δ</m:t>
                    </m:r>
                    <m:r>
                      <a:rPr lang="pt-BR" b="0" i="1" smtClean="0">
                        <a:latin typeface="Cambria Math"/>
                      </a:rPr>
                      <m:t>𝑥</m:t>
                    </m:r>
                    <m:r>
                      <a:rPr lang="pt-BR" b="0" i="1" smtClean="0">
                        <a:latin typeface="Cambria Math"/>
                      </a:rPr>
                      <m:t>=1)</m:t>
                    </m:r>
                  </m:oMath>
                </a14:m>
                <a:r>
                  <a:rPr lang="pt-BR" dirty="0" smtClean="0"/>
                  <a:t>:</a:t>
                </a:r>
              </a:p>
              <a:p>
                <a:pPr>
                  <a:buNone/>
                </a:pPr>
                <a:endParaRPr lang="en-US" dirty="0" smtClean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Espaço Reservado para Conteúdo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r="-2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Recapitulando</a:t>
            </a:r>
            <a:endParaRPr 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627784" y="3212976"/>
          <a:ext cx="310197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ção" r:id="rId4" imgW="1752480" imgH="393480" progId="Equation.3">
                  <p:embed/>
                </p:oleObj>
              </mc:Choice>
              <mc:Fallback>
                <p:oleObj name="Equação" r:id="rId4" imgW="175248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212976"/>
                        <a:ext cx="3101975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9006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pt-BR" dirty="0" smtClean="0"/>
              <a:t>A derivada de segunda ordem pode ser aproximada por:</a:t>
            </a:r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</p:txBody>
      </p:sp>
      <p:sp>
        <p:nvSpPr>
          <p:cNvPr id="1029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>
                <a:solidFill>
                  <a:srgbClr val="FF0066"/>
                </a:solidFill>
              </a:rPr>
              <a:t>Recapitulando</a:t>
            </a:r>
            <a:endParaRPr lang="pt-BR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1907704" y="2636912"/>
                <a:ext cx="6336704" cy="3274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pt-BR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i="1" smtClean="0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𝑓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′(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𝜕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  =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pt-BR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−2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pt-BR" b="0" dirty="0" smtClean="0"/>
              </a:p>
              <a:p>
                <a:r>
                  <a:rPr lang="pt-BR" b="0" dirty="0" smtClean="0"/>
                  <a:t>Essa expansão é sobre o ponto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/>
                      </a:rPr>
                      <m:t>𝑥</m:t>
                    </m:r>
                    <m:r>
                      <a:rPr lang="pt-BR" b="0" i="1" dirty="0" smtClean="0">
                        <a:latin typeface="Cambria Math"/>
                      </a:rPr>
                      <m:t>+1</m:t>
                    </m:r>
                  </m:oMath>
                </a14:m>
                <a:r>
                  <a:rPr lang="pt-BR" b="0" dirty="0" smtClean="0"/>
                  <a:t>. A segunda derivada sobre o ponto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BR" b="0" dirty="0" smtClean="0"/>
                  <a:t> é obtida subtraindo 1 dos argumento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latin typeface="Cambria Math"/>
                            </a:rPr>
                            <m:t>𝑓</m:t>
                          </m:r>
                          <m:r>
                            <a:rPr lang="pt-BR" i="1">
                              <a:latin typeface="Cambria Math"/>
                            </a:rPr>
                            <m:t>(</m:t>
                          </m:r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  <m:r>
                            <a:rPr lang="pt-BR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r>
                        <a:rPr lang="pt-BR" b="0" i="1" smtClean="0">
                          <a:latin typeface="Cambria Math"/>
                        </a:rPr>
                        <m:t>2</m:t>
                      </m:r>
                      <m:r>
                        <a:rPr lang="pt-BR" b="0" i="1" smtClean="0">
                          <a:latin typeface="Cambria Math"/>
                        </a:rPr>
                        <m:t>𝑓</m:t>
                      </m:r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</a:rPr>
                        <m:t>𝑥</m:t>
                      </m:r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b="0" dirty="0" smtClean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636912"/>
                <a:ext cx="6336704" cy="3274101"/>
              </a:xfrm>
              <a:prstGeom prst="rect">
                <a:avLst/>
              </a:prstGeom>
              <a:blipFill rotWithShape="1">
                <a:blip r:embed="rId2"/>
                <a:stretch>
                  <a:fillRect l="-8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47300" y="1481138"/>
            <a:ext cx="5649399" cy="4525962"/>
          </a:xfrm>
          <a:noFill/>
          <a:ln>
            <a:miter lim="800000"/>
            <a:headEnd/>
            <a:tailEnd/>
          </a:ln>
        </p:spPr>
      </p:pic>
      <p:sp>
        <p:nvSpPr>
          <p:cNvPr id="12290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>
                <a:solidFill>
                  <a:srgbClr val="FF0066"/>
                </a:solidFill>
              </a:rPr>
              <a:t>Recapitulando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pPr marL="514350" indent="-514350" eaLnBrk="1" hangingPunct="1">
              <a:buFontTx/>
              <a:buNone/>
              <a:defRPr/>
            </a:pPr>
            <a:r>
              <a:rPr lang="pt-BR" dirty="0" smtClean="0"/>
              <a:t>                          </a:t>
            </a:r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Conclusões </a:t>
            </a:r>
          </a:p>
          <a:p>
            <a:pPr marL="514350" indent="-514350" eaLnBrk="1" hangingPunct="1">
              <a:buFontTx/>
              <a:buChar char="-"/>
              <a:defRPr/>
            </a:pPr>
            <a:r>
              <a:rPr lang="pt-BR" dirty="0" smtClean="0"/>
              <a:t>Derivadas de primeira ordem produzem arestas mais grossas na imagem;</a:t>
            </a:r>
          </a:p>
          <a:p>
            <a:pPr marL="514350" indent="-514350" eaLnBrk="1" hangingPunct="1">
              <a:buFontTx/>
              <a:buChar char="-"/>
              <a:defRPr/>
            </a:pPr>
            <a:endParaRPr lang="pt-BR" dirty="0" smtClean="0"/>
          </a:p>
          <a:p>
            <a:pPr marL="514350" indent="-514350" eaLnBrk="1" hangingPunct="1">
              <a:buFontTx/>
              <a:buChar char="-"/>
              <a:defRPr/>
            </a:pPr>
            <a:r>
              <a:rPr lang="pt-BR" dirty="0" smtClean="0"/>
              <a:t>Derivadas de segunda ordem:</a:t>
            </a:r>
          </a:p>
          <a:p>
            <a:pPr marL="914400" lvl="1" indent="-514350" eaLnBrk="1" hangingPunct="1">
              <a:buFontTx/>
              <a:buChar char="-"/>
              <a:defRPr/>
            </a:pPr>
            <a:r>
              <a:rPr lang="pt-BR" dirty="0" smtClean="0"/>
              <a:t> tem uma resposta forte para detalhes finos (pontos isolados, ruídos, linhas finas);</a:t>
            </a:r>
          </a:p>
          <a:p>
            <a:pPr marL="914400" lvl="1" indent="-514350" eaLnBrk="1" hangingPunct="1">
              <a:buFontTx/>
              <a:buChar char="-"/>
              <a:defRPr/>
            </a:pPr>
            <a:r>
              <a:rPr lang="pt-BR" dirty="0" smtClean="0"/>
              <a:t>Resultam em aresta dupla em rampas e degraus;</a:t>
            </a:r>
          </a:p>
          <a:p>
            <a:pPr marL="914400" lvl="1" indent="-514350" eaLnBrk="1" hangingPunct="1">
              <a:buFontTx/>
              <a:buChar char="-"/>
              <a:defRPr/>
            </a:pPr>
            <a:r>
              <a:rPr lang="pt-BR" dirty="0" smtClean="0"/>
              <a:t>O sinal pode ser usado para identificar a transição (claro para escuro  - negativo; escuro para claro – positivo)</a:t>
            </a:r>
            <a:endParaRPr lang="pt-BR" dirty="0"/>
          </a:p>
        </p:txBody>
      </p:sp>
      <p:sp>
        <p:nvSpPr>
          <p:cNvPr id="13314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pt-BR" dirty="0" smtClean="0">
                <a:solidFill>
                  <a:srgbClr val="FF0066"/>
                </a:solidFill>
              </a:rPr>
              <a:t>Recapitulando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</a:t>
            </a:r>
            <a:r>
              <a:rPr lang="en-US" dirty="0" err="1" smtClean="0"/>
              <a:t>Segmentação</a:t>
            </a:r>
            <a:r>
              <a:rPr lang="en-US" dirty="0" smtClean="0"/>
              <a:t> de </a:t>
            </a:r>
            <a:r>
              <a:rPr lang="en-US" dirty="0" err="1" smtClean="0"/>
              <a:t>imagens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 smtClean="0"/>
          </a:p>
          <a:p>
            <a:pPr lvl="2"/>
            <a:r>
              <a:rPr lang="en-US" dirty="0" err="1" smtClean="0"/>
              <a:t>Deteção</a:t>
            </a:r>
            <a:r>
              <a:rPr lang="en-US" dirty="0" smtClean="0"/>
              <a:t> </a:t>
            </a:r>
            <a:r>
              <a:rPr lang="en-US" dirty="0" err="1" smtClean="0"/>
              <a:t>Básica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 smtClean="0"/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Marr-</a:t>
            </a:r>
            <a:r>
              <a:rPr lang="en-US" dirty="0" err="1" smtClean="0"/>
              <a:t>Hildreth</a:t>
            </a:r>
            <a:endParaRPr lang="en-US" dirty="0" smtClean="0"/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Canny</a:t>
            </a:r>
          </a:p>
          <a:p>
            <a:pPr lvl="2"/>
            <a:r>
              <a:rPr lang="en-US" dirty="0" err="1" smtClean="0"/>
              <a:t>Seguidores</a:t>
            </a:r>
            <a:r>
              <a:rPr lang="en-US" dirty="0" smtClean="0"/>
              <a:t> de </a:t>
            </a:r>
            <a:r>
              <a:rPr lang="en-US" dirty="0" err="1" smtClean="0"/>
              <a:t>arestas</a:t>
            </a:r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err="1" smtClean="0"/>
              <a:t>Limiarização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Segmentação</a:t>
            </a:r>
            <a:r>
              <a:rPr lang="en-US" dirty="0" smtClean="0"/>
              <a:t> </a:t>
            </a:r>
            <a:r>
              <a:rPr lang="en-US" dirty="0" err="1" smtClean="0"/>
              <a:t>baseada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regiões</a:t>
            </a:r>
            <a:endParaRPr lang="en-US" dirty="0" smtClean="0"/>
          </a:p>
          <a:p>
            <a:pPr lvl="2"/>
            <a:r>
              <a:rPr lang="en-US" dirty="0" err="1" smtClean="0"/>
              <a:t>Crescimento</a:t>
            </a:r>
            <a:r>
              <a:rPr lang="en-US" dirty="0" smtClean="0"/>
              <a:t> de </a:t>
            </a:r>
            <a:r>
              <a:rPr lang="en-US" dirty="0" err="1" smtClean="0"/>
              <a:t>regiões</a:t>
            </a:r>
            <a:endParaRPr lang="en-US" dirty="0" smtClean="0"/>
          </a:p>
          <a:p>
            <a:pPr lvl="2"/>
            <a:r>
              <a:rPr lang="en-US" dirty="0" smtClean="0"/>
              <a:t>Split and merge</a:t>
            </a:r>
          </a:p>
          <a:p>
            <a:pPr>
              <a:buNone/>
            </a:pPr>
            <a:r>
              <a:rPr lang="en-US" dirty="0" smtClean="0"/>
              <a:t>     </a:t>
            </a: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Roteiro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aula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O </a:t>
            </a:r>
            <a:r>
              <a:rPr lang="en-US" dirty="0" err="1" smtClean="0">
                <a:solidFill>
                  <a:srgbClr val="00B050"/>
                </a:solidFill>
              </a:rPr>
              <a:t>que</a:t>
            </a:r>
            <a:r>
              <a:rPr lang="en-US" dirty="0" smtClean="0">
                <a:solidFill>
                  <a:srgbClr val="00B050"/>
                </a:solidFill>
              </a:rPr>
              <a:t> é </a:t>
            </a:r>
            <a:r>
              <a:rPr lang="en-US" dirty="0" err="1" smtClean="0">
                <a:solidFill>
                  <a:srgbClr val="00B050"/>
                </a:solidFill>
              </a:rPr>
              <a:t>Segmentação</a:t>
            </a:r>
            <a:r>
              <a:rPr lang="en-US" dirty="0" smtClean="0">
                <a:solidFill>
                  <a:srgbClr val="00B050"/>
                </a:solidFill>
              </a:rPr>
              <a:t> de </a:t>
            </a:r>
            <a:r>
              <a:rPr lang="en-US" dirty="0" err="1" smtClean="0">
                <a:solidFill>
                  <a:srgbClr val="00B050"/>
                </a:solidFill>
              </a:rPr>
              <a:t>imagens</a:t>
            </a:r>
            <a:r>
              <a:rPr lang="en-US" dirty="0" smtClean="0">
                <a:solidFill>
                  <a:srgbClr val="00B050"/>
                </a:solidFill>
              </a:rPr>
              <a:t>?</a:t>
            </a:r>
          </a:p>
          <a:p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Detecção</a:t>
            </a:r>
            <a:r>
              <a:rPr lang="en-US" dirty="0" smtClean="0">
                <a:solidFill>
                  <a:srgbClr val="00B050"/>
                </a:solidFill>
              </a:rPr>
              <a:t> de </a:t>
            </a:r>
            <a:r>
              <a:rPr lang="en-US" dirty="0" err="1" smtClean="0">
                <a:solidFill>
                  <a:srgbClr val="00B050"/>
                </a:solidFill>
              </a:rPr>
              <a:t>bordas</a:t>
            </a:r>
            <a:endParaRPr lang="en-US" dirty="0" smtClean="0">
              <a:solidFill>
                <a:srgbClr val="00B050"/>
              </a:solidFill>
            </a:endParaRPr>
          </a:p>
          <a:p>
            <a:pPr lvl="2"/>
            <a:r>
              <a:rPr lang="en-US" dirty="0" err="1" smtClean="0">
                <a:solidFill>
                  <a:srgbClr val="00B050"/>
                </a:solidFill>
              </a:rPr>
              <a:t>Deteção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Básica</a:t>
            </a:r>
            <a:r>
              <a:rPr lang="en-US" dirty="0" smtClean="0">
                <a:solidFill>
                  <a:srgbClr val="00B050"/>
                </a:solidFill>
              </a:rPr>
              <a:t> de </a:t>
            </a:r>
            <a:r>
              <a:rPr lang="en-US" dirty="0" err="1" smtClean="0">
                <a:solidFill>
                  <a:srgbClr val="00B050"/>
                </a:solidFill>
              </a:rPr>
              <a:t>bordas</a:t>
            </a:r>
            <a:endParaRPr lang="en-US" dirty="0" smtClean="0">
              <a:solidFill>
                <a:srgbClr val="00B050"/>
              </a:solidFill>
            </a:endParaRPr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Marr-</a:t>
            </a:r>
            <a:r>
              <a:rPr lang="en-US" dirty="0" err="1" smtClean="0"/>
              <a:t>Hildreth</a:t>
            </a:r>
            <a:endParaRPr lang="en-US" dirty="0" smtClean="0"/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Canny</a:t>
            </a:r>
          </a:p>
          <a:p>
            <a:pPr lvl="2"/>
            <a:r>
              <a:rPr lang="en-US" dirty="0" err="1" smtClean="0"/>
              <a:t>Seguidores</a:t>
            </a:r>
            <a:r>
              <a:rPr lang="en-US" dirty="0" smtClean="0"/>
              <a:t> de </a:t>
            </a:r>
            <a:r>
              <a:rPr lang="en-US" smtClean="0"/>
              <a:t>arestas</a:t>
            </a:r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err="1" smtClean="0"/>
              <a:t>Limiarização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Segmentação</a:t>
            </a:r>
            <a:r>
              <a:rPr lang="en-US" dirty="0" smtClean="0"/>
              <a:t> </a:t>
            </a:r>
            <a:r>
              <a:rPr lang="en-US" dirty="0" err="1" smtClean="0"/>
              <a:t>baseada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regiões</a:t>
            </a:r>
            <a:endParaRPr lang="en-US" dirty="0" smtClean="0"/>
          </a:p>
          <a:p>
            <a:pPr lvl="2"/>
            <a:r>
              <a:rPr lang="en-US" dirty="0" err="1" smtClean="0"/>
              <a:t>Crescimento</a:t>
            </a:r>
            <a:r>
              <a:rPr lang="en-US" dirty="0" smtClean="0"/>
              <a:t> de </a:t>
            </a:r>
            <a:r>
              <a:rPr lang="en-US" dirty="0" err="1" smtClean="0"/>
              <a:t>regiões</a:t>
            </a:r>
            <a:endParaRPr lang="en-US" dirty="0" smtClean="0"/>
          </a:p>
          <a:p>
            <a:pPr lvl="2"/>
            <a:r>
              <a:rPr lang="en-US" dirty="0" smtClean="0"/>
              <a:t>Split and merge</a:t>
            </a:r>
          </a:p>
          <a:p>
            <a:pPr>
              <a:buNone/>
            </a:pPr>
            <a:r>
              <a:rPr lang="en-US" dirty="0" smtClean="0"/>
              <a:t>     </a:t>
            </a: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Roteiro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aula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</a:t>
            </a:r>
            <a:r>
              <a:rPr lang="en-US" dirty="0" err="1" smtClean="0"/>
              <a:t>Segmentação</a:t>
            </a:r>
            <a:r>
              <a:rPr lang="en-US" dirty="0" smtClean="0"/>
              <a:t> de </a:t>
            </a:r>
            <a:r>
              <a:rPr lang="en-US" dirty="0" err="1" smtClean="0"/>
              <a:t>imagens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 smtClean="0"/>
          </a:p>
          <a:p>
            <a:pPr lvl="2"/>
            <a:r>
              <a:rPr lang="en-US" dirty="0" err="1" smtClean="0"/>
              <a:t>Deteção</a:t>
            </a:r>
            <a:r>
              <a:rPr lang="en-US" dirty="0" smtClean="0"/>
              <a:t> </a:t>
            </a:r>
            <a:r>
              <a:rPr lang="en-US" dirty="0" err="1" smtClean="0"/>
              <a:t>Básica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 smtClean="0"/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Marr-</a:t>
            </a:r>
            <a:r>
              <a:rPr lang="en-US" dirty="0" err="1" smtClean="0"/>
              <a:t>Hildreth</a:t>
            </a:r>
            <a:endParaRPr lang="en-US" dirty="0" smtClean="0"/>
          </a:p>
          <a:p>
            <a:pPr lvl="2"/>
            <a:r>
              <a:rPr lang="en-US" dirty="0" err="1" smtClean="0"/>
              <a:t>Método</a:t>
            </a:r>
            <a:r>
              <a:rPr lang="en-US" dirty="0" smtClean="0"/>
              <a:t> de Canny</a:t>
            </a:r>
          </a:p>
          <a:p>
            <a:pPr lvl="2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Aula de </a:t>
            </a:r>
            <a:r>
              <a:rPr lang="en-US" dirty="0" err="1" smtClean="0"/>
              <a:t>Hoje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smtClean="0">
                <a:solidFill>
                  <a:srgbClr val="FF0066"/>
                </a:solidFill>
              </a:rPr>
              <a:t>Segmentação de Imagens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286000"/>
            <a:ext cx="8929688" cy="307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Detecção de Bordas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r>
              <a:rPr lang="pt-BR" dirty="0" smtClean="0"/>
              <a:t>É a técnica mais utilizada para segmentação de imagens baseada nas variações abruptas (locais) de níveis de cinza.</a:t>
            </a:r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  <a:p>
            <a:pPr eaLnBrk="1" hangingPunct="1">
              <a:buFontTx/>
              <a:buNone/>
            </a:pPr>
            <a:endParaRPr lang="pt-BR" dirty="0" smtClean="0"/>
          </a:p>
        </p:txBody>
      </p:sp>
      <p:sp>
        <p:nvSpPr>
          <p:cNvPr id="21506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pt-BR" dirty="0" err="1" smtClean="0"/>
              <a:t>Segmentaçao</a:t>
            </a:r>
            <a:r>
              <a:rPr lang="pt-BR" dirty="0" smtClean="0"/>
              <a:t> baseada em descontinuidades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28625" y="1196752"/>
            <a:ext cx="8229600" cy="482939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pt-BR" dirty="0" smtClean="0"/>
              <a:t>Modelos de arestas – são classificados de acordo com seu perfil de intensidade:</a:t>
            </a:r>
          </a:p>
          <a:p>
            <a:pPr eaLnBrk="1" hangingPunct="1">
              <a:buFontTx/>
              <a:buNone/>
            </a:pPr>
            <a:endParaRPr lang="pt-BR" dirty="0" smtClean="0"/>
          </a:p>
          <a:p>
            <a:pPr lvl="1" eaLnBrk="1" hangingPunct="1"/>
            <a:r>
              <a:rPr lang="pt-BR" dirty="0" smtClean="0">
                <a:solidFill>
                  <a:srgbClr val="FF0000"/>
                </a:solidFill>
              </a:rPr>
              <a:t>Aresta degrau </a:t>
            </a:r>
            <a:r>
              <a:rPr lang="pt-BR" dirty="0" smtClean="0"/>
              <a:t>– envolve uma transição entre dois níveis de intensidade ocorrendo idealmente numa distancia de 1 pixel</a:t>
            </a:r>
          </a:p>
          <a:p>
            <a:pPr lvl="1" eaLnBrk="1" hangingPunct="1"/>
            <a:endParaRPr lang="pt-BR" dirty="0" smtClean="0"/>
          </a:p>
          <a:p>
            <a:pPr lvl="1" eaLnBrk="1" hangingPunct="1"/>
            <a:endParaRPr lang="pt-BR" dirty="0" smtClean="0"/>
          </a:p>
        </p:txBody>
      </p:sp>
      <p:sp>
        <p:nvSpPr>
          <p:cNvPr id="22530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Modelos de Bordas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3501008"/>
            <a:ext cx="2592288" cy="3018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1" algn="just">
              <a:buFontTx/>
              <a:buNone/>
            </a:pPr>
            <a:r>
              <a:rPr lang="pt-BR" dirty="0" smtClean="0"/>
              <a:t>  </a:t>
            </a:r>
          </a:p>
          <a:p>
            <a:pPr lvl="1" algn="just">
              <a:buFontTx/>
              <a:buNone/>
            </a:pPr>
            <a:r>
              <a:rPr lang="pt-BR" dirty="0" smtClean="0"/>
              <a:t>  Na prática, arestas são borradas e apresentam ruído, com o grau de </a:t>
            </a:r>
            <a:r>
              <a:rPr lang="pt-BR" dirty="0" err="1" smtClean="0"/>
              <a:t>borramento</a:t>
            </a:r>
            <a:r>
              <a:rPr lang="pt-BR" dirty="0" smtClean="0"/>
              <a:t> determinado principalmente por limitações no mecanismo de focagem, e o ruído determinado principalmente pelos componentes eletrônicos do sistema de aquisição.</a:t>
            </a:r>
          </a:p>
          <a:p>
            <a:pPr lvl="1">
              <a:buFontTx/>
              <a:buNone/>
            </a:pPr>
            <a:endParaRPr lang="pt-BR" dirty="0" smtClean="0"/>
          </a:p>
        </p:txBody>
      </p:sp>
      <p:sp>
        <p:nvSpPr>
          <p:cNvPr id="23554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Modelos de Arestas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56032" algn="just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 smtClean="0">
                <a:solidFill>
                  <a:srgbClr val="FF0000"/>
                </a:solidFill>
              </a:rPr>
              <a:t>Aresta rampa </a:t>
            </a:r>
            <a:r>
              <a:rPr lang="pt-BR" dirty="0" smtClean="0"/>
              <a:t>- A inclinação da rampa é inversamente proporcional ao grau de </a:t>
            </a:r>
            <a:r>
              <a:rPr lang="pt-BR" dirty="0" err="1" smtClean="0"/>
              <a:t>borramento</a:t>
            </a:r>
            <a:r>
              <a:rPr lang="pt-BR" dirty="0" smtClean="0"/>
              <a:t> na aresta.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Modelos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2929172"/>
            <a:ext cx="2592288" cy="2859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/>
            <a:r>
              <a:rPr lang="pt-BR" dirty="0" smtClean="0">
                <a:solidFill>
                  <a:srgbClr val="FF0000"/>
                </a:solidFill>
              </a:rPr>
              <a:t>Aresta telhado </a:t>
            </a:r>
            <a:r>
              <a:rPr lang="pt-BR" dirty="0" smtClean="0"/>
              <a:t>– são modelos de linhas que atravessam uma região com a largura do telhado sendo determinada pela espessura e </a:t>
            </a:r>
            <a:r>
              <a:rPr lang="pt-BR" dirty="0" err="1" smtClean="0"/>
              <a:t>sharpness</a:t>
            </a:r>
            <a:r>
              <a:rPr lang="pt-BR" dirty="0" smtClean="0"/>
              <a:t>.</a:t>
            </a:r>
          </a:p>
        </p:txBody>
      </p:sp>
      <p:sp>
        <p:nvSpPr>
          <p:cNvPr id="24578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Modelos de Bordas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2852936"/>
            <a:ext cx="2715741" cy="3386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endParaRPr lang="pt-BR" smtClean="0"/>
          </a:p>
        </p:txBody>
      </p:sp>
      <p:sp>
        <p:nvSpPr>
          <p:cNvPr id="25602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Exemplo</a:t>
            </a:r>
          </a:p>
        </p:txBody>
      </p:sp>
      <p:pic>
        <p:nvPicPr>
          <p:cNvPr id="25604" name="Imagem 3" descr="fig10-9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1285875"/>
            <a:ext cx="5786438" cy="535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435280" cy="92211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400" dirty="0" smtClean="0"/>
              <a:t>Comportamento da 1ª. e 2ª. derivadas</a:t>
            </a:r>
          </a:p>
        </p:txBody>
      </p:sp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1500188"/>
            <a:ext cx="6286500" cy="493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CaixaDeTexto 5"/>
          <p:cNvSpPr txBox="1">
            <a:spLocks noChangeArrowheads="1"/>
          </p:cNvSpPr>
          <p:nvPr/>
        </p:nvSpPr>
        <p:spPr bwMode="auto">
          <a:xfrm>
            <a:off x="2643188" y="4572000"/>
            <a:ext cx="17145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Magnitude da rampa</a:t>
            </a:r>
          </a:p>
        </p:txBody>
      </p:sp>
      <p:cxnSp>
        <p:nvCxnSpPr>
          <p:cNvPr id="26630" name="Conector de seta reta 7"/>
          <p:cNvCxnSpPr>
            <a:cxnSpLocks noChangeShapeType="1"/>
          </p:cNvCxnSpPr>
          <p:nvPr/>
        </p:nvCxnSpPr>
        <p:spPr bwMode="auto">
          <a:xfrm flipV="1">
            <a:off x="3857625" y="4000500"/>
            <a:ext cx="2143125" cy="7143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6631" name="Conector reto 13"/>
          <p:cNvCxnSpPr>
            <a:cxnSpLocks noChangeShapeType="1"/>
          </p:cNvCxnSpPr>
          <p:nvPr/>
        </p:nvCxnSpPr>
        <p:spPr bwMode="auto">
          <a:xfrm rot="16200000" flipH="1">
            <a:off x="5679281" y="5322094"/>
            <a:ext cx="1357313" cy="714375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sysDot"/>
            <a:round/>
            <a:headEnd/>
            <a:tailEnd/>
          </a:ln>
        </p:spPr>
      </p:cxnSp>
      <p:sp>
        <p:nvSpPr>
          <p:cNvPr id="26632" name="CaixaDeTexto 14"/>
          <p:cNvSpPr txBox="1">
            <a:spLocks noChangeArrowheads="1"/>
          </p:cNvSpPr>
          <p:nvPr/>
        </p:nvSpPr>
        <p:spPr bwMode="auto">
          <a:xfrm>
            <a:off x="3500438" y="5786438"/>
            <a:ext cx="21431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Zero crossing</a:t>
            </a:r>
          </a:p>
          <a:p>
            <a:r>
              <a:rPr lang="pt-BR"/>
              <a:t>Indica o centro da aresta</a:t>
            </a:r>
          </a:p>
        </p:txBody>
      </p:sp>
      <p:cxnSp>
        <p:nvCxnSpPr>
          <p:cNvPr id="26633" name="Conector de seta reta 16"/>
          <p:cNvCxnSpPr>
            <a:cxnSpLocks noChangeShapeType="1"/>
          </p:cNvCxnSpPr>
          <p:nvPr/>
        </p:nvCxnSpPr>
        <p:spPr bwMode="auto">
          <a:xfrm flipV="1">
            <a:off x="5072063" y="5786438"/>
            <a:ext cx="1214437" cy="285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13" y="1643063"/>
            <a:ext cx="3357562" cy="5026025"/>
          </a:xfrm>
          <a:noFill/>
          <a:ln>
            <a:miter lim="800000"/>
            <a:headEnd/>
            <a:tailEnd/>
          </a:ln>
        </p:spPr>
      </p:pic>
      <p:sp>
        <p:nvSpPr>
          <p:cNvPr id="27650" name="Título 1"/>
          <p:cNvSpPr>
            <a:spLocks noGrp="1"/>
          </p:cNvSpPr>
          <p:nvPr>
            <p:ph type="title"/>
          </p:nvPr>
        </p:nvSpPr>
        <p:spPr bwMode="auto">
          <a:xfrm>
            <a:off x="179512" y="274638"/>
            <a:ext cx="8507288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400" dirty="0" smtClean="0"/>
              <a:t>Comportamento das 1ª. e 2ª. derivadas na presença de ruído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8613" y="6000750"/>
            <a:ext cx="5005387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CaixaDeTexto 5"/>
          <p:cNvSpPr txBox="1">
            <a:spLocks noChangeArrowheads="1"/>
          </p:cNvSpPr>
          <p:nvPr/>
        </p:nvSpPr>
        <p:spPr bwMode="auto">
          <a:xfrm>
            <a:off x="4572000" y="2357438"/>
            <a:ext cx="4214813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/>
              <a:t>Note que o ruído tem impacto importante na 1ª.  e  2ª. Derivadas usadas para a detecção de </a:t>
            </a:r>
            <a:r>
              <a:rPr lang="pt-BR" dirty="0" smtClean="0"/>
              <a:t>bordas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solidFill>
                  <a:srgbClr val="002060"/>
                </a:solidFill>
              </a:rPr>
              <a:t>       suavização da imagem</a:t>
            </a:r>
          </a:p>
        </p:txBody>
      </p:sp>
      <p:cxnSp>
        <p:nvCxnSpPr>
          <p:cNvPr id="27654" name="Conector de seta reta 7"/>
          <p:cNvCxnSpPr>
            <a:cxnSpLocks noChangeShapeType="1"/>
          </p:cNvCxnSpPr>
          <p:nvPr/>
        </p:nvCxnSpPr>
        <p:spPr bwMode="auto">
          <a:xfrm rot="5400000">
            <a:off x="5715000" y="3643313"/>
            <a:ext cx="715963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214313" y="1600200"/>
            <a:ext cx="8786812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buFontTx/>
              <a:buNone/>
            </a:pPr>
            <a:r>
              <a:rPr lang="pt-BR" dirty="0" smtClean="0"/>
              <a:t>Concluímos que três passos fundamentais para a detecção de Bordas:</a:t>
            </a:r>
          </a:p>
          <a:p>
            <a:pPr>
              <a:buFontTx/>
              <a:buNone/>
            </a:pPr>
            <a:endParaRPr lang="pt-BR" dirty="0" smtClean="0"/>
          </a:p>
          <a:p>
            <a:pPr>
              <a:buFont typeface="Wingdings" pitchFamily="2" charset="2"/>
              <a:buChar char="v"/>
            </a:pPr>
            <a:r>
              <a:rPr lang="pt-BR" sz="2400" dirty="0" smtClean="0"/>
              <a:t>Suavização da imagem para remoção de ruídos;</a:t>
            </a:r>
          </a:p>
          <a:p>
            <a:pPr>
              <a:buFont typeface="Wingdings" pitchFamily="2" charset="2"/>
              <a:buChar char="v"/>
            </a:pPr>
            <a:endParaRPr lang="pt-BR" sz="2400" dirty="0" smtClean="0"/>
          </a:p>
          <a:p>
            <a:pPr>
              <a:buFont typeface="Wingdings" pitchFamily="2" charset="2"/>
              <a:buChar char="v"/>
            </a:pPr>
            <a:r>
              <a:rPr lang="pt-BR" sz="2400" dirty="0" smtClean="0"/>
              <a:t>Detecção de todos os pontos que são potencialmente candidatos a se tornarem um pontos de aresta;</a:t>
            </a:r>
          </a:p>
          <a:p>
            <a:pPr>
              <a:buFont typeface="Wingdings" pitchFamily="2" charset="2"/>
              <a:buChar char="v"/>
            </a:pPr>
            <a:endParaRPr lang="pt-BR" sz="2400" dirty="0" smtClean="0"/>
          </a:p>
          <a:p>
            <a:pPr>
              <a:buFont typeface="Wingdings" pitchFamily="2" charset="2"/>
              <a:buChar char="v"/>
            </a:pPr>
            <a:r>
              <a:rPr lang="pt-BR" sz="2400" dirty="0" smtClean="0"/>
              <a:t>Localização da aresta – seleciona entre os pontos candidatos aqueles que pertencem ao conjuntos de pontos de uma aresta.</a:t>
            </a:r>
          </a:p>
        </p:txBody>
      </p:sp>
      <p:sp>
        <p:nvSpPr>
          <p:cNvPr id="28674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dirty="0" smtClean="0"/>
              <a:t>Detecção de Bordas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Pode</a:t>
            </a:r>
            <a:r>
              <a:rPr lang="en-US" dirty="0" smtClean="0"/>
              <a:t>-se </a:t>
            </a:r>
            <a:r>
              <a:rPr lang="en-US" dirty="0" err="1" smtClean="0"/>
              <a:t>detectar</a:t>
            </a:r>
            <a:r>
              <a:rPr lang="en-US" dirty="0" smtClean="0"/>
              <a:t> </a:t>
            </a:r>
            <a:r>
              <a:rPr lang="en-US" dirty="0" err="1" smtClean="0"/>
              <a:t>mudanças</a:t>
            </a:r>
            <a:r>
              <a:rPr lang="en-US" dirty="0" smtClean="0"/>
              <a:t> de </a:t>
            </a:r>
            <a:r>
              <a:rPr lang="en-US" dirty="0" err="1" smtClean="0"/>
              <a:t>intensidade</a:t>
            </a:r>
            <a:r>
              <a:rPr lang="en-US" dirty="0" smtClean="0"/>
              <a:t> com a </a:t>
            </a:r>
            <a:r>
              <a:rPr lang="en-US" dirty="0" err="1" smtClean="0"/>
              <a:t>finalidade</a:t>
            </a:r>
            <a:r>
              <a:rPr lang="en-US" dirty="0" smtClean="0"/>
              <a:t> de </a:t>
            </a:r>
            <a:r>
              <a:rPr lang="en-US" dirty="0" err="1" smtClean="0"/>
              <a:t>encontrar</a:t>
            </a:r>
            <a:r>
              <a:rPr lang="en-US" dirty="0" smtClean="0"/>
              <a:t> </a:t>
            </a:r>
            <a:r>
              <a:rPr lang="en-US" dirty="0" err="1" smtClean="0"/>
              <a:t>bordas</a:t>
            </a:r>
            <a:r>
              <a:rPr lang="en-US" dirty="0" smtClean="0"/>
              <a:t> </a:t>
            </a:r>
            <a:r>
              <a:rPr lang="en-US" dirty="0" err="1" smtClean="0"/>
              <a:t>usando</a:t>
            </a:r>
            <a:r>
              <a:rPr lang="en-US" dirty="0" smtClean="0"/>
              <a:t> as </a:t>
            </a:r>
            <a:r>
              <a:rPr lang="en-US" dirty="0" err="1" smtClean="0"/>
              <a:t>derivadas</a:t>
            </a:r>
            <a:r>
              <a:rPr lang="en-US" dirty="0" smtClean="0"/>
              <a:t> de </a:t>
            </a:r>
            <a:r>
              <a:rPr lang="en-US" dirty="0" err="1" smtClean="0"/>
              <a:t>primeira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de </a:t>
            </a:r>
            <a:r>
              <a:rPr lang="en-US" dirty="0" err="1" smtClean="0"/>
              <a:t>segunda</a:t>
            </a:r>
            <a:r>
              <a:rPr lang="en-US" dirty="0" smtClean="0"/>
              <a:t> </a:t>
            </a:r>
            <a:r>
              <a:rPr lang="en-US" dirty="0" err="1" smtClean="0"/>
              <a:t>ordem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 smtClean="0"/>
              <a:t>Detecção Básica de Bordas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16144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pt-BR" dirty="0" smtClean="0"/>
              <a:t>  O gradiente permite calcular a força e a orientação de uma aresta no ponto (x,y) de uma imagem f. </a:t>
            </a:r>
          </a:p>
        </p:txBody>
      </p:sp>
      <p:sp>
        <p:nvSpPr>
          <p:cNvPr id="3075" name="Título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77809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pt-BR" sz="3000" dirty="0" smtClean="0"/>
              <a:t>O gradiente da imagem e suas propriedades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907704" y="3501008"/>
          <a:ext cx="3929062" cy="186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ção" r:id="rId3" imgW="1815840" imgH="863280" progId="Equation.3">
                  <p:embed/>
                </p:oleObj>
              </mc:Choice>
              <mc:Fallback>
                <p:oleObj name="Equação" r:id="rId3" imgW="1815840" imgH="863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501008"/>
                        <a:ext cx="3929062" cy="186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 magnitude (tamanho) do gradiente define a taxa de mudança na direção do vetor gradiente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>
                <a:solidFill>
                  <a:srgbClr val="FF0000"/>
                </a:solidFill>
              </a:rPr>
              <a:t>note que </a:t>
            </a:r>
            <a:r>
              <a:rPr lang="pt-BR" dirty="0" err="1" smtClean="0">
                <a:solidFill>
                  <a:srgbClr val="FF0000"/>
                </a:solidFill>
              </a:rPr>
              <a:t>g</a:t>
            </a:r>
            <a:r>
              <a:rPr lang="pt-BR" baseline="-25000" dirty="0" err="1" smtClean="0">
                <a:solidFill>
                  <a:srgbClr val="FF0000"/>
                </a:solidFill>
              </a:rPr>
              <a:t>x</a:t>
            </a:r>
            <a:r>
              <a:rPr lang="pt-BR" dirty="0" smtClean="0">
                <a:solidFill>
                  <a:srgbClr val="FF0000"/>
                </a:solidFill>
              </a:rPr>
              <a:t>, </a:t>
            </a:r>
            <a:r>
              <a:rPr lang="pt-BR" dirty="0" err="1" smtClean="0">
                <a:solidFill>
                  <a:srgbClr val="FF0000"/>
                </a:solidFill>
              </a:rPr>
              <a:t>g</a:t>
            </a:r>
            <a:r>
              <a:rPr lang="pt-BR" baseline="-25000" dirty="0" err="1" smtClean="0">
                <a:solidFill>
                  <a:srgbClr val="FF0000"/>
                </a:solidFill>
              </a:rPr>
              <a:t>y</a:t>
            </a:r>
            <a:r>
              <a:rPr lang="pt-BR" dirty="0" smtClean="0">
                <a:solidFill>
                  <a:srgbClr val="FF0000"/>
                </a:solidFill>
              </a:rPr>
              <a:t> e M(x,y) são imagens com a mesma dimensão que a original. </a:t>
            </a:r>
          </a:p>
          <a:p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>
                <a:solidFill>
                  <a:srgbClr val="FF0000"/>
                </a:solidFill>
              </a:rPr>
              <a:t>M(x,y) é dita imagem gradiente</a:t>
            </a:r>
            <a:r>
              <a:rPr lang="pt-BR" dirty="0" smtClean="0"/>
              <a:t>;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1331640" y="3068960"/>
          <a:ext cx="5770562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ção" r:id="rId3" imgW="2666880" imgH="304560" progId="Equation.3">
                  <p:embed/>
                </p:oleObj>
              </mc:Choice>
              <mc:Fallback>
                <p:oleObj name="Equação" r:id="rId3" imgW="2666880" imgH="304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068960"/>
                        <a:ext cx="5770562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pt-BR" sz="3400" dirty="0" smtClean="0"/>
              <a:t>Propriedades do Gradiente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481328"/>
            <a:ext cx="8229600" cy="504401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pt-BR" dirty="0" smtClean="0"/>
              <a:t>O ângulo </a:t>
            </a:r>
            <a:r>
              <a:rPr lang="el-GR" dirty="0" smtClean="0"/>
              <a:t>α</a:t>
            </a:r>
            <a:r>
              <a:rPr lang="pt-BR" dirty="0" smtClean="0"/>
              <a:t> define a direção do vetor gradiente, medido com relação ao eixo x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 </a:t>
            </a:r>
            <a:r>
              <a:rPr lang="pt-BR" dirty="0" smtClean="0">
                <a:solidFill>
                  <a:srgbClr val="FF0000"/>
                </a:solidFill>
              </a:rPr>
              <a:t>note que a direção da aresta no ponto (x,y)  é ortogonal à direção  </a:t>
            </a:r>
            <a:r>
              <a:rPr lang="el-GR" dirty="0" smtClean="0">
                <a:solidFill>
                  <a:srgbClr val="FF0000"/>
                </a:solidFill>
              </a:rPr>
              <a:t>α</a:t>
            </a:r>
            <a:r>
              <a:rPr lang="pt-BR" dirty="0" smtClean="0">
                <a:solidFill>
                  <a:srgbClr val="FF0000"/>
                </a:solidFill>
              </a:rPr>
              <a:t>(x,y) do vetor gradiente</a:t>
            </a:r>
          </a:p>
          <a:p>
            <a:endParaRPr lang="pt-BR" dirty="0" smtClean="0">
              <a:solidFill>
                <a:srgbClr val="FF0000"/>
              </a:solidFill>
            </a:endParaRPr>
          </a:p>
          <a:p>
            <a:endParaRPr lang="pt-BR" dirty="0" smtClean="0"/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2195736" y="2780928"/>
          <a:ext cx="27193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ção" r:id="rId3" imgW="1257120" imgH="482400" progId="Equation.3">
                  <p:embed/>
                </p:oleObj>
              </mc:Choice>
              <mc:Fallback>
                <p:oleObj name="Equação" r:id="rId3" imgW="125712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780928"/>
                        <a:ext cx="2719388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ixaDeTexto 4"/>
          <p:cNvSpPr txBox="1">
            <a:spLocks noChangeArrowheads="1"/>
          </p:cNvSpPr>
          <p:nvPr/>
        </p:nvSpPr>
        <p:spPr bwMode="auto">
          <a:xfrm>
            <a:off x="5148064" y="2924944"/>
            <a:ext cx="370790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Se </a:t>
            </a:r>
            <a:r>
              <a:rPr lang="pt-BR" dirty="0" err="1">
                <a:solidFill>
                  <a:srgbClr val="0070C0"/>
                </a:solidFill>
              </a:rPr>
              <a:t>g</a:t>
            </a:r>
            <a:r>
              <a:rPr lang="pt-BR" baseline="-25000" dirty="0" err="1">
                <a:solidFill>
                  <a:srgbClr val="0070C0"/>
                </a:solidFill>
              </a:rPr>
              <a:t>x</a:t>
            </a:r>
            <a:r>
              <a:rPr lang="pt-BR" dirty="0">
                <a:solidFill>
                  <a:srgbClr val="0070C0"/>
                </a:solidFill>
              </a:rPr>
              <a:t> = 0 </a:t>
            </a:r>
            <a:r>
              <a:rPr lang="pt-BR" dirty="0" smtClean="0">
                <a:solidFill>
                  <a:srgbClr val="0070C0"/>
                </a:solidFill>
                <a:sym typeface="Wingdings" pitchFamily="2" charset="2"/>
              </a:rPr>
              <a:t> </a:t>
            </a:r>
            <a:r>
              <a:rPr lang="el-GR" dirty="0" smtClean="0">
                <a:solidFill>
                  <a:srgbClr val="0070C0"/>
                </a:solidFill>
                <a:sym typeface="Wingdings" pitchFamily="2" charset="2"/>
              </a:rPr>
              <a:t>α</a:t>
            </a:r>
            <a:r>
              <a:rPr lang="pt-BR" dirty="0">
                <a:solidFill>
                  <a:srgbClr val="0070C0"/>
                </a:solidFill>
                <a:sym typeface="Wingdings" pitchFamily="2" charset="2"/>
              </a:rPr>
              <a:t>(x,y) = +-90;</a:t>
            </a:r>
          </a:p>
          <a:p>
            <a:endParaRPr lang="pt-BR" dirty="0">
              <a:solidFill>
                <a:srgbClr val="0070C0"/>
              </a:solidFill>
              <a:sym typeface="Wingdings" pitchFamily="2" charset="2"/>
            </a:endParaRPr>
          </a:p>
          <a:p>
            <a:r>
              <a:rPr lang="pt-BR" dirty="0">
                <a:solidFill>
                  <a:srgbClr val="0070C0"/>
                </a:solidFill>
                <a:sym typeface="Wingdings" pitchFamily="2" charset="2"/>
              </a:rPr>
              <a:t>Se </a:t>
            </a:r>
            <a:r>
              <a:rPr lang="pt-BR" dirty="0" err="1">
                <a:solidFill>
                  <a:srgbClr val="0070C0"/>
                </a:solidFill>
                <a:sym typeface="Wingdings" pitchFamily="2" charset="2"/>
              </a:rPr>
              <a:t>g</a:t>
            </a:r>
            <a:r>
              <a:rPr lang="pt-BR" baseline="-25000" dirty="0" err="1">
                <a:solidFill>
                  <a:srgbClr val="0070C0"/>
                </a:solidFill>
                <a:sym typeface="Wingdings" pitchFamily="2" charset="2"/>
              </a:rPr>
              <a:t>y</a:t>
            </a:r>
            <a:r>
              <a:rPr lang="pt-BR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pt-BR" dirty="0" smtClean="0">
                <a:solidFill>
                  <a:srgbClr val="0070C0"/>
                </a:solidFill>
                <a:sym typeface="Wingdings" pitchFamily="2" charset="2"/>
              </a:rPr>
              <a:t>= 0 </a:t>
            </a:r>
            <a:r>
              <a:rPr lang="pt-BR" dirty="0">
                <a:solidFill>
                  <a:srgbClr val="0070C0"/>
                </a:solidFill>
                <a:sym typeface="Wingdings" pitchFamily="2" charset="2"/>
              </a:rPr>
              <a:t> </a:t>
            </a:r>
            <a:r>
              <a:rPr lang="el-GR" dirty="0">
                <a:solidFill>
                  <a:srgbClr val="0070C0"/>
                </a:solidFill>
                <a:sym typeface="Wingdings" pitchFamily="2" charset="2"/>
              </a:rPr>
              <a:t>α</a:t>
            </a:r>
            <a:r>
              <a:rPr lang="pt-BR" dirty="0">
                <a:solidFill>
                  <a:srgbClr val="0070C0"/>
                </a:solidFill>
                <a:sym typeface="Wingdings" pitchFamily="2" charset="2"/>
              </a:rPr>
              <a:t>(x,y) = 0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 bwMode="auto">
          <a:xfrm>
            <a:off x="251520" y="274638"/>
            <a:ext cx="8712968" cy="9221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Propriedades do Gradiente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Veja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seção</a:t>
            </a:r>
            <a:r>
              <a:rPr lang="en-US" dirty="0" smtClean="0"/>
              <a:t> </a:t>
            </a:r>
            <a:r>
              <a:rPr lang="en-US" dirty="0" err="1" smtClean="0"/>
              <a:t>ampliada</a:t>
            </a:r>
            <a:r>
              <a:rPr lang="en-US" dirty="0" smtClean="0"/>
              <a:t> de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imagem</a:t>
            </a:r>
            <a:r>
              <a:rPr lang="en-US" dirty="0" smtClean="0"/>
              <a:t>   </a:t>
            </a:r>
            <a:r>
              <a:rPr lang="en-US" dirty="0" err="1" smtClean="0"/>
              <a:t>contendo</a:t>
            </a:r>
            <a:r>
              <a:rPr lang="en-US" dirty="0" smtClean="0"/>
              <a:t> um </a:t>
            </a:r>
            <a:r>
              <a:rPr lang="en-US" dirty="0" err="1" smtClean="0"/>
              <a:t>segmento</a:t>
            </a:r>
            <a:r>
              <a:rPr lang="en-US" dirty="0" smtClean="0"/>
              <a:t> de </a:t>
            </a:r>
            <a:r>
              <a:rPr lang="en-US" dirty="0" err="1" smtClean="0"/>
              <a:t>borda</a:t>
            </a:r>
            <a:r>
              <a:rPr lang="en-US" dirty="0" smtClean="0"/>
              <a:t> </a:t>
            </a:r>
            <a:r>
              <a:rPr lang="en-US" dirty="0" err="1" smtClean="0"/>
              <a:t>reto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US" sz="3000" dirty="0" err="1" smtClean="0"/>
              <a:t>Propriedades</a:t>
            </a:r>
            <a:r>
              <a:rPr lang="en-US" sz="3000" dirty="0" smtClean="0"/>
              <a:t> do </a:t>
            </a:r>
            <a:r>
              <a:rPr lang="en-US" sz="3000" dirty="0" err="1" smtClean="0"/>
              <a:t>Gradiente</a:t>
            </a:r>
            <a:r>
              <a:rPr lang="en-US" sz="3000" dirty="0" smtClean="0"/>
              <a:t> - </a:t>
            </a:r>
            <a:r>
              <a:rPr lang="en-US" sz="3000" dirty="0" err="1" smtClean="0"/>
              <a:t>exemplo</a:t>
            </a:r>
            <a:endParaRPr lang="en-US" sz="30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2924944"/>
            <a:ext cx="2304256" cy="2291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Qual</a:t>
            </a:r>
            <a:r>
              <a:rPr lang="en-US" dirty="0" smtClean="0">
                <a:solidFill>
                  <a:srgbClr val="FF0000"/>
                </a:solidFill>
              </a:rPr>
              <a:t> a magnitude e a </a:t>
            </a:r>
            <a:r>
              <a:rPr lang="en-US" dirty="0" err="1" smtClean="0">
                <a:solidFill>
                  <a:srgbClr val="FF0000"/>
                </a:solidFill>
              </a:rPr>
              <a:t>direção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mudança</a:t>
            </a:r>
            <a:r>
              <a:rPr lang="en-US" dirty="0" smtClean="0">
                <a:solidFill>
                  <a:srgbClr val="FF0000"/>
                </a:solidFill>
              </a:rPr>
              <a:t> de </a:t>
            </a:r>
            <a:r>
              <a:rPr lang="en-US" dirty="0" err="1" smtClean="0">
                <a:solidFill>
                  <a:srgbClr val="FF0000"/>
                </a:solidFill>
              </a:rPr>
              <a:t>intensidade</a:t>
            </a:r>
            <a:r>
              <a:rPr lang="en-US" dirty="0" smtClean="0">
                <a:solidFill>
                  <a:srgbClr val="FF0000"/>
                </a:solidFill>
              </a:rPr>
              <a:t> no </a:t>
            </a:r>
            <a:r>
              <a:rPr lang="en-US" dirty="0" err="1" smtClean="0">
                <a:solidFill>
                  <a:srgbClr val="FF0000"/>
                </a:solidFill>
              </a:rPr>
              <a:t>ponto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descatado</a:t>
            </a:r>
            <a:r>
              <a:rPr lang="en-US" dirty="0" smtClean="0">
                <a:solidFill>
                  <a:srgbClr val="FF0000"/>
                </a:solidFill>
              </a:rPr>
              <a:t> ? </a:t>
            </a:r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US" sz="3000" dirty="0" err="1" smtClean="0"/>
              <a:t>Propriedades</a:t>
            </a:r>
            <a:r>
              <a:rPr lang="en-US" sz="3000" dirty="0" smtClean="0"/>
              <a:t> do </a:t>
            </a:r>
            <a:r>
              <a:rPr lang="en-US" sz="3000" dirty="0" err="1" smtClean="0"/>
              <a:t>Gradiente</a:t>
            </a:r>
            <a:r>
              <a:rPr lang="en-US" sz="3000" dirty="0" smtClean="0"/>
              <a:t> - </a:t>
            </a:r>
            <a:r>
              <a:rPr lang="en-US" sz="3000" dirty="0" err="1" smtClean="0"/>
              <a:t>exemplo</a:t>
            </a:r>
            <a:endParaRPr lang="en-US" sz="3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3140968"/>
            <a:ext cx="2607101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6228184" y="4221088"/>
            <a:ext cx="252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00B050"/>
                </a:solidFill>
              </a:rPr>
              <a:t>Operadores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</a:rPr>
              <a:t>gradientes</a:t>
            </a:r>
            <a:r>
              <a:rPr lang="en-US" sz="2400" dirty="0" smtClean="0">
                <a:solidFill>
                  <a:srgbClr val="00B050"/>
                </a:solidFill>
              </a:rPr>
              <a:t>???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Alguns Operadores de Gradiente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247331"/>
            <a:ext cx="3368774" cy="5610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82547"/>
          </a:xfrm>
        </p:spPr>
        <p:txBody>
          <a:bodyPr/>
          <a:lstStyle/>
          <a:p>
            <a:r>
              <a:rPr lang="en-US" dirty="0" err="1" smtClean="0"/>
              <a:t>Calcule</a:t>
            </a:r>
            <a:r>
              <a:rPr lang="en-US" dirty="0" smtClean="0"/>
              <a:t> a magnitude e o </a:t>
            </a:r>
            <a:r>
              <a:rPr lang="en-US" dirty="0" err="1" smtClean="0"/>
              <a:t>angulo</a:t>
            </a:r>
            <a:r>
              <a:rPr lang="en-US" dirty="0" smtClean="0"/>
              <a:t> do </a:t>
            </a:r>
            <a:r>
              <a:rPr lang="en-US" dirty="0" err="1" smtClean="0"/>
              <a:t>vetor</a:t>
            </a:r>
            <a:r>
              <a:rPr lang="en-US" dirty="0" smtClean="0"/>
              <a:t> </a:t>
            </a:r>
            <a:r>
              <a:rPr lang="en-US" dirty="0" err="1" smtClean="0"/>
              <a:t>gradiente</a:t>
            </a:r>
            <a:r>
              <a:rPr lang="en-US" dirty="0" smtClean="0"/>
              <a:t> no pixel </a:t>
            </a:r>
            <a:r>
              <a:rPr lang="en-US" dirty="0" err="1" smtClean="0"/>
              <a:t>destacado</a:t>
            </a:r>
            <a:r>
              <a:rPr lang="en-US" dirty="0" smtClean="0"/>
              <a:t> </a:t>
            </a:r>
            <a:r>
              <a:rPr lang="en-US" dirty="0" err="1" smtClean="0"/>
              <a:t>usando</a:t>
            </a:r>
            <a:r>
              <a:rPr lang="en-US" dirty="0" smtClean="0"/>
              <a:t> Prewitt. </a:t>
            </a:r>
            <a:r>
              <a:rPr lang="en-US" sz="2200" dirty="0" smtClean="0">
                <a:solidFill>
                  <a:srgbClr val="00B050"/>
                </a:solidFill>
              </a:rPr>
              <a:t>(</a:t>
            </a:r>
            <a:r>
              <a:rPr lang="en-US" sz="2200" dirty="0" err="1" smtClean="0">
                <a:solidFill>
                  <a:srgbClr val="00B050"/>
                </a:solidFill>
              </a:rPr>
              <a:t>lembre</a:t>
            </a:r>
            <a:r>
              <a:rPr lang="en-US" sz="2200" dirty="0" smtClean="0">
                <a:solidFill>
                  <a:srgbClr val="00B050"/>
                </a:solidFill>
              </a:rPr>
              <a:t>-se </a:t>
            </a:r>
            <a:r>
              <a:rPr lang="en-US" sz="2200" dirty="0" err="1" smtClean="0">
                <a:solidFill>
                  <a:srgbClr val="00B050"/>
                </a:solidFill>
              </a:rPr>
              <a:t>da</a:t>
            </a:r>
            <a:r>
              <a:rPr lang="en-US" sz="2200" dirty="0" smtClean="0">
                <a:solidFill>
                  <a:srgbClr val="00B050"/>
                </a:solidFill>
              </a:rPr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orientação</a:t>
            </a:r>
            <a:r>
              <a:rPr lang="en-US" sz="2200" dirty="0" smtClean="0">
                <a:solidFill>
                  <a:srgbClr val="00B050"/>
                </a:solidFill>
              </a:rPr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da</a:t>
            </a:r>
            <a:r>
              <a:rPr lang="en-US" sz="2200" dirty="0" smtClean="0">
                <a:solidFill>
                  <a:srgbClr val="00B050"/>
                </a:solidFill>
              </a:rPr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imagem</a:t>
            </a:r>
            <a:r>
              <a:rPr lang="en-US" sz="2200" dirty="0" smtClean="0">
                <a:solidFill>
                  <a:srgbClr val="00B050"/>
                </a:solidFill>
              </a:rPr>
              <a:t> </a:t>
            </a:r>
            <a:r>
              <a:rPr lang="en-US" sz="2200" dirty="0" err="1" smtClean="0">
                <a:solidFill>
                  <a:srgbClr val="00B050"/>
                </a:solidFill>
              </a:rPr>
              <a:t>para</a:t>
            </a:r>
            <a:r>
              <a:rPr lang="en-US" sz="2200" dirty="0" smtClean="0">
                <a:solidFill>
                  <a:srgbClr val="00B050"/>
                </a:solidFill>
              </a:rPr>
              <a:t> a </a:t>
            </a:r>
            <a:r>
              <a:rPr lang="en-US" sz="2200" dirty="0" err="1" smtClean="0">
                <a:solidFill>
                  <a:srgbClr val="00B050"/>
                </a:solidFill>
              </a:rPr>
              <a:t>análise</a:t>
            </a:r>
            <a:r>
              <a:rPr lang="en-US" sz="2200" dirty="0" smtClean="0">
                <a:solidFill>
                  <a:srgbClr val="00B050"/>
                </a:solidFill>
              </a:rPr>
              <a:t>)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Propriedades</a:t>
            </a:r>
            <a:r>
              <a:rPr lang="en-US" sz="3200" dirty="0" smtClean="0"/>
              <a:t> do </a:t>
            </a:r>
            <a:r>
              <a:rPr lang="en-US" sz="3200" dirty="0" err="1" smtClean="0"/>
              <a:t>Gradiente</a:t>
            </a:r>
            <a:r>
              <a:rPr lang="en-US" sz="3200" dirty="0" smtClean="0"/>
              <a:t> - </a:t>
            </a:r>
            <a:r>
              <a:rPr lang="en-US" sz="3200" dirty="0" err="1" smtClean="0"/>
              <a:t>exemplo</a:t>
            </a:r>
            <a:endParaRPr lang="en-US" sz="3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4410224"/>
            <a:ext cx="2232248" cy="244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411" name="Object 4"/>
          <p:cNvGraphicFramePr>
            <a:graphicFrameLocks noChangeAspect="1"/>
          </p:cNvGraphicFramePr>
          <p:nvPr/>
        </p:nvGraphicFramePr>
        <p:xfrm>
          <a:off x="2411760" y="2492896"/>
          <a:ext cx="3240359" cy="1729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ção" r:id="rId4" imgW="1612800" imgH="863280" progId="Equation.3">
                  <p:embed/>
                </p:oleObj>
              </mc:Choice>
              <mc:Fallback>
                <p:oleObj name="Equação" r:id="rId4" imgW="1612800" imgH="863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492896"/>
                        <a:ext cx="3240359" cy="17292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79712" y="4221088"/>
            <a:ext cx="2448272" cy="243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82547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direção</a:t>
            </a:r>
            <a:r>
              <a:rPr lang="en-US" dirty="0" smtClean="0"/>
              <a:t> do </a:t>
            </a:r>
            <a:r>
              <a:rPr lang="en-US" dirty="0" err="1" smtClean="0"/>
              <a:t>vetor</a:t>
            </a:r>
            <a:r>
              <a:rPr lang="en-US" dirty="0" smtClean="0"/>
              <a:t> </a:t>
            </a:r>
            <a:r>
              <a:rPr lang="en-US" dirty="0" err="1" smtClean="0"/>
              <a:t>gradiente</a:t>
            </a:r>
            <a:r>
              <a:rPr lang="en-US" dirty="0" smtClean="0"/>
              <a:t> é dada </a:t>
            </a:r>
            <a:r>
              <a:rPr lang="en-US" dirty="0" err="1" smtClean="0"/>
              <a:t>por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420888"/>
            <a:ext cx="3096344" cy="2306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0" y="2348880"/>
            <a:ext cx="2232248" cy="2447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458" name="Object 3"/>
          <p:cNvGraphicFramePr>
            <a:graphicFrameLocks noChangeAspect="1"/>
          </p:cNvGraphicFramePr>
          <p:nvPr/>
        </p:nvGraphicFramePr>
        <p:xfrm>
          <a:off x="755576" y="1772816"/>
          <a:ext cx="74914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ção" r:id="rId5" imgW="3644640" imgH="253800" progId="Equation.3">
                  <p:embed/>
                </p:oleObj>
              </mc:Choice>
              <mc:Fallback>
                <p:oleObj name="Equação" r:id="rId5" imgW="364464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772816"/>
                        <a:ext cx="7491413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5"/>
          <p:cNvSpPr txBox="1">
            <a:spLocks noChangeArrowheads="1"/>
          </p:cNvSpPr>
          <p:nvPr/>
        </p:nvSpPr>
        <p:spPr bwMode="auto">
          <a:xfrm>
            <a:off x="395536" y="4941168"/>
            <a:ext cx="8748464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2200" dirty="0" smtClean="0">
                <a:solidFill>
                  <a:srgbClr val="FF0000"/>
                </a:solidFill>
              </a:rPr>
              <a:t>A borda em um ponto </a:t>
            </a:r>
            <a:r>
              <a:rPr lang="pt-BR" sz="2200" i="1" dirty="0" smtClean="0">
                <a:solidFill>
                  <a:srgbClr val="FF0000"/>
                </a:solidFill>
              </a:rPr>
              <a:t>p</a:t>
            </a:r>
            <a:r>
              <a:rPr lang="pt-BR" sz="2200" dirty="0" smtClean="0">
                <a:solidFill>
                  <a:srgbClr val="FF0000"/>
                </a:solidFill>
              </a:rPr>
              <a:t> é ortogonal ao sentido do vetor gradiente em </a:t>
            </a:r>
            <a:r>
              <a:rPr lang="pt-BR" sz="2200" i="1" dirty="0" smtClean="0">
                <a:solidFill>
                  <a:srgbClr val="FF0000"/>
                </a:solidFill>
              </a:rPr>
              <a:t>p</a:t>
            </a:r>
            <a:r>
              <a:rPr lang="pt-BR" sz="2200" dirty="0" smtClean="0">
                <a:solidFill>
                  <a:srgbClr val="FF0000"/>
                </a:solidFill>
              </a:rPr>
              <a:t>;</a:t>
            </a:r>
          </a:p>
          <a:p>
            <a:endParaRPr lang="pt-BR" sz="2200" dirty="0"/>
          </a:p>
          <a:p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O </a:t>
            </a:r>
            <a:r>
              <a:rPr lang="pt-BR" sz="2200" dirty="0">
                <a:solidFill>
                  <a:schemeClr val="bg2">
                    <a:lumMod val="10000"/>
                  </a:schemeClr>
                </a:solidFill>
              </a:rPr>
              <a:t>ângulo 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de borda </a:t>
            </a:r>
            <a:r>
              <a:rPr lang="pt-BR" sz="2200" dirty="0">
                <a:solidFill>
                  <a:schemeClr val="bg2">
                    <a:lumMod val="10000"/>
                  </a:schemeClr>
                </a:solidFill>
              </a:rPr>
              <a:t>é 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135</a:t>
            </a:r>
            <a:r>
              <a:rPr lang="pt-BR" sz="2200" baseline="30000" dirty="0" smtClean="0">
                <a:solidFill>
                  <a:schemeClr val="bg2">
                    <a:lumMod val="10000"/>
                  </a:schemeClr>
                </a:solidFill>
              </a:rPr>
              <a:t>o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t-BR" sz="2200" dirty="0">
                <a:solidFill>
                  <a:schemeClr val="bg2">
                    <a:lumMod val="10000"/>
                  </a:schemeClr>
                </a:solidFill>
              </a:rPr>
              <a:t>– 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90</a:t>
            </a:r>
            <a:r>
              <a:rPr lang="pt-BR" sz="2200" baseline="30000" dirty="0" smtClean="0">
                <a:solidFill>
                  <a:schemeClr val="bg2">
                    <a:lumMod val="10000"/>
                  </a:schemeClr>
                </a:solidFill>
              </a:rPr>
              <a:t>o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t-BR" sz="2200" dirty="0">
                <a:solidFill>
                  <a:schemeClr val="bg2">
                    <a:lumMod val="10000"/>
                  </a:schemeClr>
                </a:solidFill>
              </a:rPr>
              <a:t>= 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45</a:t>
            </a:r>
            <a:r>
              <a:rPr lang="pt-BR" sz="2200" baseline="30000" dirty="0" smtClean="0">
                <a:solidFill>
                  <a:schemeClr val="bg2">
                    <a:lumMod val="10000"/>
                  </a:schemeClr>
                </a:solidFill>
              </a:rPr>
              <a:t>o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pt-BR" sz="2200" dirty="0">
                <a:solidFill>
                  <a:schemeClr val="bg2">
                    <a:lumMod val="10000"/>
                  </a:schemeClr>
                </a:solidFill>
              </a:rPr>
              <a:t>graus com relação a x</a:t>
            </a:r>
            <a:r>
              <a:rPr lang="pt-BR" sz="2200" dirty="0" smtClean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pt-BR" sz="2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ítulo 2"/>
          <p:cNvSpPr txBox="1">
            <a:spLocks/>
          </p:cNvSpPr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Propriedades do Gradiente - exemplo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475656" y="2348880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rot="5400000">
            <a:off x="1115616" y="2708920"/>
            <a:ext cx="7200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2411760" y="2204864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y</a:t>
            </a:r>
            <a:endParaRPr lang="en-US" sz="12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1115616" y="278092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x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</p:txBody>
      </p:sp>
      <p:sp>
        <p:nvSpPr>
          <p:cNvPr id="33794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809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Outro Exemplo do uso Gradiente </a:t>
            </a:r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1357313"/>
            <a:ext cx="8215312" cy="50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</a:t>
            </a:r>
            <a:r>
              <a:rPr lang="en-US" dirty="0" err="1" smtClean="0"/>
              <a:t>imagem</a:t>
            </a:r>
            <a:r>
              <a:rPr lang="en-US" dirty="0" smtClean="0"/>
              <a:t> original </a:t>
            </a:r>
            <a:r>
              <a:rPr lang="en-US" dirty="0" err="1" smtClean="0"/>
              <a:t>apresenta</a:t>
            </a:r>
            <a:r>
              <a:rPr lang="en-US" dirty="0" smtClean="0"/>
              <a:t> </a:t>
            </a:r>
            <a:r>
              <a:rPr lang="en-US" dirty="0" err="1" smtClean="0"/>
              <a:t>detalhes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parede</a:t>
            </a:r>
            <a:r>
              <a:rPr lang="en-US" dirty="0" smtClean="0"/>
              <a:t> de </a:t>
            </a:r>
            <a:r>
              <a:rPr lang="en-US" dirty="0" err="1" smtClean="0"/>
              <a:t>tijolo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Este </a:t>
            </a:r>
            <a:r>
              <a:rPr lang="en-US" dirty="0" err="1" smtClean="0"/>
              <a:t>nível</a:t>
            </a:r>
            <a:r>
              <a:rPr lang="en-US" dirty="0" smtClean="0"/>
              <a:t> de </a:t>
            </a:r>
            <a:r>
              <a:rPr lang="en-US" dirty="0" err="1" smtClean="0"/>
              <a:t>detalhamento</a:t>
            </a:r>
            <a:r>
              <a:rPr lang="en-US" dirty="0" smtClean="0"/>
              <a:t> </a:t>
            </a:r>
            <a:r>
              <a:rPr lang="en-US" dirty="0" err="1" smtClean="0"/>
              <a:t>muitas</a:t>
            </a:r>
            <a:r>
              <a:rPr lang="en-US" dirty="0" smtClean="0"/>
              <a:t> </a:t>
            </a:r>
            <a:r>
              <a:rPr lang="en-US" dirty="0" err="1" smtClean="0"/>
              <a:t>vezes</a:t>
            </a:r>
            <a:r>
              <a:rPr lang="en-US" dirty="0" smtClean="0"/>
              <a:t> </a:t>
            </a:r>
            <a:r>
              <a:rPr lang="en-US" dirty="0" err="1" smtClean="0"/>
              <a:t>atrapalha</a:t>
            </a:r>
            <a:r>
              <a:rPr lang="en-US" dirty="0" smtClean="0"/>
              <a:t> a </a:t>
            </a:r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solução</a:t>
            </a:r>
            <a:r>
              <a:rPr lang="en-US" dirty="0" smtClean="0"/>
              <a:t> é </a:t>
            </a:r>
            <a:r>
              <a:rPr lang="en-US" dirty="0" err="1" smtClean="0"/>
              <a:t>suavizar</a:t>
            </a:r>
            <a:r>
              <a:rPr lang="en-US" dirty="0" smtClean="0"/>
              <a:t> a </a:t>
            </a:r>
            <a:r>
              <a:rPr lang="en-US" dirty="0" err="1" smtClean="0"/>
              <a:t>imagem</a:t>
            </a:r>
            <a:r>
              <a:rPr lang="en-US" dirty="0" smtClean="0"/>
              <a:t> antes do </a:t>
            </a:r>
            <a:r>
              <a:rPr lang="en-US" dirty="0" err="1" smtClean="0"/>
              <a:t>processo</a:t>
            </a:r>
            <a:r>
              <a:rPr lang="en-US" dirty="0" smtClean="0"/>
              <a:t> de </a:t>
            </a:r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sz="3400" dirty="0" err="1" smtClean="0"/>
              <a:t>Outro</a:t>
            </a:r>
            <a:r>
              <a:rPr lang="en-US" sz="3400" dirty="0" smtClean="0"/>
              <a:t> </a:t>
            </a:r>
            <a:r>
              <a:rPr lang="en-US" sz="3400" dirty="0" err="1" smtClean="0"/>
              <a:t>exemplo</a:t>
            </a:r>
            <a:r>
              <a:rPr lang="en-US" sz="3400" dirty="0" smtClean="0"/>
              <a:t> do </a:t>
            </a:r>
            <a:r>
              <a:rPr lang="en-US" sz="3400" dirty="0" err="1" smtClean="0"/>
              <a:t>uso</a:t>
            </a:r>
            <a:r>
              <a:rPr lang="en-US" sz="3400" dirty="0" smtClean="0"/>
              <a:t> de </a:t>
            </a:r>
            <a:r>
              <a:rPr lang="en-US" sz="3400" dirty="0" err="1" smtClean="0"/>
              <a:t>Gradiente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0" y="1643063"/>
            <a:ext cx="6286500" cy="3802062"/>
          </a:xfrm>
          <a:noFill/>
          <a:ln>
            <a:miter lim="800000"/>
            <a:headEnd/>
            <a:tailEnd/>
          </a:ln>
        </p:spPr>
      </p:pic>
      <p:sp>
        <p:nvSpPr>
          <p:cNvPr id="34820" name="CaixaDeTexto 4"/>
          <p:cNvSpPr txBox="1">
            <a:spLocks noChangeArrowheads="1"/>
          </p:cNvSpPr>
          <p:nvPr/>
        </p:nvSpPr>
        <p:spPr bwMode="auto">
          <a:xfrm>
            <a:off x="500063" y="5786438"/>
            <a:ext cx="75723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Neste caso a imagem original foi suavizada com filtro da media com dimensão  5x5 – note que a respostas das mascaras são mais fortes nas arestas  principais, sem predominancia do tenhado </a:t>
            </a:r>
          </a:p>
        </p:txBody>
      </p:sp>
      <p:sp>
        <p:nvSpPr>
          <p:cNvPr id="6" name="Título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sz="3400" dirty="0" err="1" smtClean="0"/>
              <a:t>Outro</a:t>
            </a:r>
            <a:r>
              <a:rPr lang="en-US" sz="3400" dirty="0" smtClean="0"/>
              <a:t> </a:t>
            </a:r>
            <a:r>
              <a:rPr lang="en-US" sz="3400" dirty="0" err="1" smtClean="0"/>
              <a:t>exemplo</a:t>
            </a:r>
            <a:r>
              <a:rPr lang="en-US" sz="3400" dirty="0" smtClean="0"/>
              <a:t> do </a:t>
            </a:r>
            <a:r>
              <a:rPr lang="en-US" sz="3400" dirty="0" err="1" smtClean="0"/>
              <a:t>uso</a:t>
            </a:r>
            <a:r>
              <a:rPr lang="en-US" sz="3400" dirty="0" smtClean="0"/>
              <a:t> de </a:t>
            </a:r>
            <a:r>
              <a:rPr lang="en-US" sz="3400" dirty="0" err="1" smtClean="0"/>
              <a:t>Gradiente</a:t>
            </a:r>
            <a:r>
              <a:rPr lang="en-US" sz="3400" dirty="0" smtClean="0"/>
              <a:t> –                       </a:t>
            </a:r>
            <a:br>
              <a:rPr lang="en-US" sz="3400" dirty="0" smtClean="0"/>
            </a:br>
            <a:r>
              <a:rPr lang="en-US" sz="3400" dirty="0" smtClean="0"/>
              <a:t>            </a:t>
            </a:r>
            <a:r>
              <a:rPr lang="en-US" sz="3400" dirty="0" err="1" smtClean="0"/>
              <a:t>suavizando</a:t>
            </a:r>
            <a:r>
              <a:rPr lang="en-US" sz="3400" dirty="0" smtClean="0"/>
              <a:t> a </a:t>
            </a:r>
            <a:r>
              <a:rPr lang="en-US" sz="3400" dirty="0" err="1" smtClean="0"/>
              <a:t>imagem</a:t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287655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276872"/>
            <a:ext cx="2808312" cy="2412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755576" y="5229200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r>
              <a:rPr lang="en-US" dirty="0" smtClean="0"/>
              <a:t>                         </a:t>
            </a:r>
            <a:r>
              <a:rPr lang="en-US" dirty="0" err="1" smtClean="0"/>
              <a:t>Detecção</a:t>
            </a:r>
            <a:r>
              <a:rPr lang="en-US" dirty="0" smtClean="0"/>
              <a:t> de </a:t>
            </a:r>
            <a:r>
              <a:rPr lang="en-US" dirty="0" err="1" smtClean="0"/>
              <a:t>bordas</a:t>
            </a:r>
            <a:endParaRPr lang="en-US" dirty="0" smtClean="0"/>
          </a:p>
          <a:p>
            <a:r>
              <a:rPr lang="en-US" dirty="0" err="1" smtClean="0"/>
              <a:t>sem</a:t>
            </a:r>
            <a:r>
              <a:rPr lang="en-US" dirty="0" smtClean="0"/>
              <a:t> </a:t>
            </a:r>
            <a:r>
              <a:rPr lang="en-US" dirty="0" err="1" smtClean="0"/>
              <a:t>suavização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                          com </a:t>
            </a:r>
            <a:r>
              <a:rPr lang="en-US" dirty="0" err="1" smtClean="0"/>
              <a:t>suavização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</a:p>
          <a:p>
            <a:r>
              <a:rPr lang="en-US" dirty="0" err="1"/>
              <a:t>i</a:t>
            </a:r>
            <a:r>
              <a:rPr lang="en-US" dirty="0" err="1" smtClean="0"/>
              <a:t>magem</a:t>
            </a:r>
            <a:r>
              <a:rPr lang="en-US" dirty="0" smtClean="0"/>
              <a:t> original                               </a:t>
            </a:r>
            <a:r>
              <a:rPr lang="en-US" dirty="0" err="1" smtClean="0"/>
              <a:t>imagem</a:t>
            </a:r>
            <a:r>
              <a:rPr lang="en-US" dirty="0" smtClean="0"/>
              <a:t> original</a:t>
            </a:r>
            <a:endParaRPr lang="en-US" dirty="0"/>
          </a:p>
        </p:txBody>
      </p:sp>
      <p:sp>
        <p:nvSpPr>
          <p:cNvPr id="6" name="Título 2"/>
          <p:cNvSpPr txBox="1">
            <a:spLocks/>
          </p:cNvSpPr>
          <p:nvPr/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Comparando</a:t>
            </a:r>
            <a:r>
              <a: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os</a:t>
            </a:r>
            <a:r>
              <a:rPr kumimoji="0" lang="en-US" sz="3400" b="1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400" b="1" i="0" u="none" strike="noStrike" kern="120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resultados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Espaço Reservado para Conteúdo 6"/>
          <p:cNvSpPr>
            <a:spLocks noGrp="1"/>
          </p:cNvSpPr>
          <p:nvPr>
            <p:ph idx="1"/>
          </p:nvPr>
        </p:nvSpPr>
        <p:spPr bwMode="auto">
          <a:xfrm>
            <a:off x="457200" y="3214688"/>
            <a:ext cx="8229600" cy="29114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  <a:p>
            <a:endParaRPr lang="pt-BR" smtClean="0"/>
          </a:p>
        </p:txBody>
      </p:sp>
      <p:sp>
        <p:nvSpPr>
          <p:cNvPr id="35842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5010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Outros Operadores de Gradiente</a:t>
            </a:r>
          </a:p>
        </p:txBody>
      </p:sp>
      <p:sp>
        <p:nvSpPr>
          <p:cNvPr id="35843" name="CaixaDeTexto 4"/>
          <p:cNvSpPr txBox="1">
            <a:spLocks noChangeArrowheads="1"/>
          </p:cNvSpPr>
          <p:nvPr/>
        </p:nvSpPr>
        <p:spPr bwMode="auto">
          <a:xfrm>
            <a:off x="395536" y="1340768"/>
            <a:ext cx="7858125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sz="2600" dirty="0"/>
              <a:t>Para se obter as arestas inclinada com +- 45 graus, é preciso usar as </a:t>
            </a:r>
            <a:r>
              <a:rPr lang="pt-BR" sz="2600" dirty="0" smtClean="0"/>
              <a:t>máscaras </a:t>
            </a:r>
            <a:r>
              <a:rPr lang="pt-BR" sz="2600" dirty="0"/>
              <a:t>que respondem mais fortemente a estas orientações: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3203884"/>
            <a:ext cx="3240360" cy="3301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457200" y="1412776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 smtClean="0"/>
          </a:p>
          <a:p>
            <a:endParaRPr lang="pt-BR" dirty="0" smtClean="0"/>
          </a:p>
        </p:txBody>
      </p:sp>
      <p:sp>
        <p:nvSpPr>
          <p:cNvPr id="36866" name="Título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pt-BR" dirty="0" smtClean="0"/>
              <a:t>Operadores de Gradiente Diagonal 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772816"/>
            <a:ext cx="7272808" cy="2743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899592" y="4941168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Uso</a:t>
            </a:r>
            <a:r>
              <a:rPr lang="en-US" dirty="0" smtClean="0"/>
              <a:t> do </a:t>
            </a:r>
            <a:r>
              <a:rPr lang="en-US" dirty="0" err="1" smtClean="0"/>
              <a:t>operador</a:t>
            </a:r>
            <a:r>
              <a:rPr lang="en-US" dirty="0" smtClean="0"/>
              <a:t> de </a:t>
            </a:r>
            <a:r>
              <a:rPr lang="en-US" dirty="0" err="1" smtClean="0"/>
              <a:t>Sobel</a:t>
            </a:r>
            <a:r>
              <a:rPr lang="en-US" dirty="0" smtClean="0"/>
              <a:t> de 45</a:t>
            </a:r>
            <a:r>
              <a:rPr lang="en-US" baseline="30000" dirty="0" smtClean="0"/>
              <a:t>o</a:t>
            </a:r>
            <a:endParaRPr lang="en-US" dirty="0"/>
          </a:p>
        </p:txBody>
      </p:sp>
      <p:sp>
        <p:nvSpPr>
          <p:cNvPr id="8" name="CaixaDeTexto 7"/>
          <p:cNvSpPr txBox="1"/>
          <p:nvPr/>
        </p:nvSpPr>
        <p:spPr>
          <a:xfrm>
            <a:off x="4572000" y="4941168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Uso</a:t>
            </a:r>
            <a:r>
              <a:rPr lang="en-US" dirty="0" smtClean="0"/>
              <a:t> do </a:t>
            </a:r>
            <a:r>
              <a:rPr lang="en-US" dirty="0" err="1" smtClean="0"/>
              <a:t>operador</a:t>
            </a:r>
            <a:r>
              <a:rPr lang="en-US" dirty="0" smtClean="0"/>
              <a:t> de </a:t>
            </a:r>
            <a:r>
              <a:rPr lang="en-US" dirty="0" err="1" smtClean="0"/>
              <a:t>Sobel</a:t>
            </a:r>
            <a:r>
              <a:rPr lang="en-US" dirty="0" smtClean="0"/>
              <a:t> de -45</a:t>
            </a:r>
            <a:r>
              <a:rPr lang="en-US" baseline="30000" dirty="0" smtClean="0"/>
              <a:t>o</a:t>
            </a:r>
            <a:endParaRPr lang="en-US" baseline="30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4067944" y="6237312"/>
            <a:ext cx="5076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Nota: </a:t>
            </a:r>
            <a:r>
              <a:rPr lang="en-US" dirty="0" err="1" smtClean="0"/>
              <a:t>Neste</a:t>
            </a:r>
            <a:r>
              <a:rPr lang="en-US" dirty="0" smtClean="0"/>
              <a:t> </a:t>
            </a:r>
            <a:r>
              <a:rPr lang="en-US" dirty="0" err="1" smtClean="0"/>
              <a:t>processamento</a:t>
            </a:r>
            <a:r>
              <a:rPr lang="en-US" dirty="0" smtClean="0"/>
              <a:t> </a:t>
            </a:r>
            <a:r>
              <a:rPr lang="en-US" dirty="0" err="1" smtClean="0"/>
              <a:t>foi</a:t>
            </a:r>
            <a:r>
              <a:rPr lang="en-US" dirty="0" smtClean="0"/>
              <a:t> </a:t>
            </a:r>
            <a:r>
              <a:rPr lang="en-US" dirty="0" err="1" smtClean="0"/>
              <a:t>usada</a:t>
            </a:r>
            <a:r>
              <a:rPr lang="en-US" dirty="0" smtClean="0"/>
              <a:t> a </a:t>
            </a:r>
            <a:r>
              <a:rPr lang="en-US" dirty="0" err="1" smtClean="0"/>
              <a:t>imagem</a:t>
            </a:r>
            <a:r>
              <a:rPr lang="en-US" dirty="0" smtClean="0"/>
              <a:t> original </a:t>
            </a:r>
            <a:r>
              <a:rPr lang="en-US" dirty="0" err="1" smtClean="0"/>
              <a:t>suavizada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pt-BR" dirty="0" smtClean="0"/>
              <a:t>Uma </a:t>
            </a:r>
            <a:r>
              <a:rPr lang="pt-BR" dirty="0" err="1" smtClean="0"/>
              <a:t>limiarização</a:t>
            </a:r>
            <a:r>
              <a:rPr lang="pt-BR" dirty="0" smtClean="0"/>
              <a:t> pode ser executada sobre a imagem gradiente com o objetivo de ressaltar as bordas principais.</a:t>
            </a:r>
          </a:p>
          <a:p>
            <a:pPr>
              <a:buFontTx/>
              <a:buNone/>
            </a:pPr>
            <a:endParaRPr lang="pt-BR" dirty="0" smtClean="0"/>
          </a:p>
          <a:p>
            <a:pPr>
              <a:buFontTx/>
              <a:buNone/>
            </a:pPr>
            <a:r>
              <a:rPr lang="pt-BR" dirty="0" err="1" smtClean="0"/>
              <a:t>Fig</a:t>
            </a:r>
            <a:r>
              <a:rPr lang="pt-BR" dirty="0" smtClean="0"/>
              <a:t> 10.20</a:t>
            </a:r>
          </a:p>
        </p:txBody>
      </p:sp>
      <p:sp>
        <p:nvSpPr>
          <p:cNvPr id="37890" name="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809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pt-BR" sz="3200" dirty="0" smtClean="0"/>
              <a:t>Combinando gradiente e </a:t>
            </a:r>
            <a:r>
              <a:rPr lang="pt-BR" sz="3200" dirty="0" err="1" smtClean="0"/>
              <a:t>limiarização</a:t>
            </a:r>
            <a:r>
              <a:rPr lang="pt-BR" sz="3200" dirty="0" smtClean="0"/>
              <a:t> </a:t>
            </a:r>
          </a:p>
        </p:txBody>
      </p:sp>
      <p:sp>
        <p:nvSpPr>
          <p:cNvPr id="37892" name="CaixaDeTexto 4"/>
          <p:cNvSpPr txBox="1">
            <a:spLocks noChangeArrowheads="1"/>
          </p:cNvSpPr>
          <p:nvPr/>
        </p:nvSpPr>
        <p:spPr bwMode="auto">
          <a:xfrm>
            <a:off x="5220072" y="2703016"/>
            <a:ext cx="3643312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dirty="0" smtClean="0">
                <a:solidFill>
                  <a:srgbClr val="C00000"/>
                </a:solidFill>
              </a:rPr>
              <a:t>Quando se tem interesse em destacar as bordas da imagem e manter conectividade </a:t>
            </a:r>
            <a:r>
              <a:rPr lang="pt-BR" sz="2400" dirty="0" smtClean="0">
                <a:solidFill>
                  <a:srgbClr val="C00000"/>
                </a:solidFill>
                <a:sym typeface="Wingdings" pitchFamily="2" charset="2"/>
              </a:rPr>
              <a:t> deve-se suavizar a imagem como pré-processamento.</a:t>
            </a:r>
            <a:endParaRPr lang="pt-BR" sz="2400" dirty="0" smtClean="0">
              <a:solidFill>
                <a:srgbClr val="C00000"/>
              </a:solidFill>
            </a:endParaRPr>
          </a:p>
          <a:p>
            <a:endParaRPr lang="pt-BR" sz="2400" dirty="0"/>
          </a:p>
        </p:txBody>
      </p:sp>
      <p:pic>
        <p:nvPicPr>
          <p:cNvPr id="37893" name="Imagem 4" descr="fig10-20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000375"/>
            <a:ext cx="4749800" cy="294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mascara de </a:t>
            </a:r>
            <a:r>
              <a:rPr lang="en-US" dirty="0" err="1" smtClean="0"/>
              <a:t>Sobel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r>
              <a:rPr lang="en-US" dirty="0" smtClean="0"/>
              <a:t> </a:t>
            </a:r>
            <a:r>
              <a:rPr lang="en-US" dirty="0" err="1" smtClean="0"/>
              <a:t>apresenta</a:t>
            </a:r>
            <a:r>
              <a:rPr lang="en-US" dirty="0" smtClean="0"/>
              <a:t> </a:t>
            </a:r>
            <a:r>
              <a:rPr lang="en-US" dirty="0" err="1" smtClean="0"/>
              <a:t>melhores</a:t>
            </a:r>
            <a:r>
              <a:rPr lang="en-US" dirty="0" smtClean="0"/>
              <a:t> </a:t>
            </a:r>
            <a:r>
              <a:rPr lang="en-US" dirty="0" err="1" smtClean="0"/>
              <a:t>resultados</a:t>
            </a:r>
            <a:r>
              <a:rPr lang="en-US" dirty="0" smtClean="0"/>
              <a:t> </a:t>
            </a:r>
            <a:r>
              <a:rPr lang="en-US" dirty="0" err="1" smtClean="0"/>
              <a:t>porque</a:t>
            </a:r>
            <a:r>
              <a:rPr lang="en-US" dirty="0" smtClean="0"/>
              <a:t> </a:t>
            </a:r>
            <a:r>
              <a:rPr lang="en-US" dirty="0" err="1" smtClean="0"/>
              <a:t>ela</a:t>
            </a:r>
            <a:r>
              <a:rPr lang="en-US" dirty="0" smtClean="0"/>
              <a:t> </a:t>
            </a:r>
            <a:r>
              <a:rPr lang="en-US" dirty="0" err="1" smtClean="0"/>
              <a:t>faz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supressão</a:t>
            </a:r>
            <a:r>
              <a:rPr lang="en-US" dirty="0" smtClean="0"/>
              <a:t> de </a:t>
            </a:r>
            <a:r>
              <a:rPr lang="en-US" dirty="0" err="1" smtClean="0"/>
              <a:t>ruídos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Mostre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a </a:t>
            </a:r>
            <a:r>
              <a:rPr lang="en-US" dirty="0" err="1" smtClean="0"/>
              <a:t>resposta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mascara de </a:t>
            </a:r>
            <a:r>
              <a:rPr lang="en-US" dirty="0" err="1" smtClean="0"/>
              <a:t>Sobel</a:t>
            </a:r>
            <a:r>
              <a:rPr lang="en-US" dirty="0" smtClean="0"/>
              <a:t> (</a:t>
            </a:r>
            <a:r>
              <a:rPr lang="en-US" dirty="0" err="1" smtClean="0"/>
              <a:t>g</a:t>
            </a:r>
            <a:r>
              <a:rPr lang="en-US" baseline="-25000" dirty="0" err="1" smtClean="0"/>
              <a:t>y</a:t>
            </a:r>
            <a:r>
              <a:rPr lang="en-US" dirty="0" smtClean="0"/>
              <a:t>) </a:t>
            </a:r>
            <a:r>
              <a:rPr lang="en-US" dirty="0" err="1" smtClean="0"/>
              <a:t>pode</a:t>
            </a:r>
            <a:r>
              <a:rPr lang="en-US" dirty="0" smtClean="0"/>
              <a:t> ser </a:t>
            </a:r>
            <a:r>
              <a:rPr lang="en-US" dirty="0" err="1" smtClean="0"/>
              <a:t>implementada</a:t>
            </a:r>
            <a:r>
              <a:rPr lang="en-US" dirty="0" smtClean="0"/>
              <a:t> </a:t>
            </a:r>
            <a:r>
              <a:rPr lang="en-US" dirty="0" err="1" smtClean="0"/>
              <a:t>passando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mascara  </a:t>
            </a:r>
            <a:r>
              <a:rPr lang="en-US" dirty="0" err="1" smtClean="0"/>
              <a:t>diferencial</a:t>
            </a:r>
            <a:r>
              <a:rPr lang="en-US" dirty="0" smtClean="0"/>
              <a:t> [-1, 0, 1] </a:t>
            </a:r>
            <a:r>
              <a:rPr lang="en-US" dirty="0" err="1" smtClean="0"/>
              <a:t>seguida</a:t>
            </a:r>
            <a:r>
              <a:rPr lang="en-US" dirty="0" smtClean="0"/>
              <a:t> mascara de </a:t>
            </a:r>
            <a:r>
              <a:rPr lang="en-US" dirty="0" err="1" smtClean="0"/>
              <a:t>suavização</a:t>
            </a:r>
            <a:r>
              <a:rPr lang="en-US" dirty="0" smtClean="0"/>
              <a:t> [1,2,1]</a:t>
            </a:r>
            <a:r>
              <a:rPr lang="en-US" baseline="30000" dirty="0" smtClean="0"/>
              <a:t> T</a:t>
            </a:r>
            <a:r>
              <a:rPr lang="en-US" dirty="0" smtClean="0"/>
              <a:t>  (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suas</a:t>
            </a:r>
            <a:r>
              <a:rPr lang="en-US" dirty="0" smtClean="0"/>
              <a:t> </a:t>
            </a:r>
            <a:r>
              <a:rPr lang="en-US" dirty="0" err="1" smtClean="0"/>
              <a:t>equivalentes</a:t>
            </a:r>
            <a:r>
              <a:rPr lang="en-US" dirty="0" smtClean="0"/>
              <a:t> vertical e horizontal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obter</a:t>
            </a:r>
            <a:r>
              <a:rPr lang="en-US" dirty="0" smtClean="0"/>
              <a:t> </a:t>
            </a:r>
            <a:r>
              <a:rPr lang="en-US" dirty="0" err="1" smtClean="0"/>
              <a:t>g</a:t>
            </a:r>
            <a:r>
              <a:rPr lang="en-US" baseline="-25000" dirty="0" err="1" smtClean="0"/>
              <a:t>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Exercicio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93011C-E723-478E-ABF8-836FC9BE3376}"/>
</file>

<file path=customXml/itemProps2.xml><?xml version="1.0" encoding="utf-8"?>
<ds:datastoreItem xmlns:ds="http://schemas.openxmlformats.org/officeDocument/2006/customXml" ds:itemID="{6710FB1F-78F3-423C-9296-8D5B4094727E}"/>
</file>

<file path=customXml/itemProps3.xml><?xml version="1.0" encoding="utf-8"?>
<ds:datastoreItem xmlns:ds="http://schemas.openxmlformats.org/officeDocument/2006/customXml" ds:itemID="{57490752-8756-4139-B14A-E72BF663084F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11911</TotalTime>
  <Words>1232</Words>
  <Application>Microsoft Office PowerPoint</Application>
  <PresentationFormat>Apresentação na tela (4:3)</PresentationFormat>
  <Paragraphs>188</Paragraphs>
  <Slides>36</Slides>
  <Notes>3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8" baseType="lpstr">
      <vt:lpstr>Concurso</vt:lpstr>
      <vt:lpstr>Equação</vt:lpstr>
      <vt:lpstr>Segmentação de Imagens II</vt:lpstr>
      <vt:lpstr>Recapitulando</vt:lpstr>
      <vt:lpstr>Recapitulando</vt:lpstr>
      <vt:lpstr>Recapitulando</vt:lpstr>
      <vt:lpstr>Recapitulando</vt:lpstr>
      <vt:lpstr>Recapitulando</vt:lpstr>
      <vt:lpstr>Roteiro da aula</vt:lpstr>
      <vt:lpstr>Roteiro da aula</vt:lpstr>
      <vt:lpstr>Aula de Hoje</vt:lpstr>
      <vt:lpstr>Segmentação de Imagens</vt:lpstr>
      <vt:lpstr>Segmentaçao baseada em descontinuidades</vt:lpstr>
      <vt:lpstr>Modelos de Bordas</vt:lpstr>
      <vt:lpstr>Modelos de Arestas</vt:lpstr>
      <vt:lpstr>Modelos de Bordas</vt:lpstr>
      <vt:lpstr>Modelos de Bordas</vt:lpstr>
      <vt:lpstr>Exemplo</vt:lpstr>
      <vt:lpstr>Comportamento da 1ª. e 2ª. derivadas</vt:lpstr>
      <vt:lpstr>Comportamento das 1ª. e 2ª. derivadas na presença de ruído</vt:lpstr>
      <vt:lpstr>Detecção de Bordas</vt:lpstr>
      <vt:lpstr>Detecção Básica de Bordas</vt:lpstr>
      <vt:lpstr>O gradiente da imagem e suas propriedades</vt:lpstr>
      <vt:lpstr>Propriedades do Gradiente</vt:lpstr>
      <vt:lpstr>Apresentação do PowerPoint</vt:lpstr>
      <vt:lpstr>Propriedades do Gradiente - exemplo</vt:lpstr>
      <vt:lpstr>Propriedades do Gradiente - exemplo</vt:lpstr>
      <vt:lpstr>Alguns Operadores de Gradiente</vt:lpstr>
      <vt:lpstr>Propriedades do Gradiente - exemplo</vt:lpstr>
      <vt:lpstr>Apresentação do PowerPoint</vt:lpstr>
      <vt:lpstr>Outro Exemplo do uso Gradiente </vt:lpstr>
      <vt:lpstr>Outro exemplo do uso de Gradiente</vt:lpstr>
      <vt:lpstr>Outro exemplo do uso de Gradiente –                                    suavizando a imagem</vt:lpstr>
      <vt:lpstr>Apresentação do PowerPoint</vt:lpstr>
      <vt:lpstr>Outros Operadores de Gradiente</vt:lpstr>
      <vt:lpstr>Operadores de Gradiente Diagonal </vt:lpstr>
      <vt:lpstr>Combinando gradiente e limiarização </vt:lpstr>
      <vt:lpstr>Exercicio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Segmentação de Imagens I</dc:title>
  <dc:creator>Usuário</dc:creator>
  <cp:lastModifiedBy>Bruno</cp:lastModifiedBy>
  <cp:revision>32</cp:revision>
  <dcterms:created xsi:type="dcterms:W3CDTF">2011-05-12T12:20:19Z</dcterms:created>
  <dcterms:modified xsi:type="dcterms:W3CDTF">2013-03-14T11:51:26Z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