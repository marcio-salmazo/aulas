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8"/>
  </p:notesMasterIdLst>
  <p:sldIdLst>
    <p:sldId id="256" r:id="rId5"/>
    <p:sldId id="392" r:id="rId6"/>
    <p:sldId id="478" r:id="rId7"/>
    <p:sldId id="479" r:id="rId8"/>
    <p:sldId id="550" r:id="rId9"/>
    <p:sldId id="552" r:id="rId10"/>
    <p:sldId id="481" r:id="rId11"/>
    <p:sldId id="483" r:id="rId12"/>
    <p:sldId id="482" r:id="rId13"/>
    <p:sldId id="484" r:id="rId14"/>
    <p:sldId id="485" r:id="rId15"/>
    <p:sldId id="486" r:id="rId16"/>
    <p:sldId id="489" r:id="rId17"/>
    <p:sldId id="490" r:id="rId18"/>
    <p:sldId id="491" r:id="rId19"/>
    <p:sldId id="492" r:id="rId20"/>
    <p:sldId id="494" r:id="rId21"/>
    <p:sldId id="495" r:id="rId22"/>
    <p:sldId id="496" r:id="rId23"/>
    <p:sldId id="497" r:id="rId24"/>
    <p:sldId id="498" r:id="rId25"/>
    <p:sldId id="500" r:id="rId26"/>
    <p:sldId id="501" r:id="rId27"/>
    <p:sldId id="502" r:id="rId28"/>
    <p:sldId id="503" r:id="rId29"/>
    <p:sldId id="504" r:id="rId30"/>
    <p:sldId id="505" r:id="rId31"/>
    <p:sldId id="506" r:id="rId32"/>
    <p:sldId id="507" r:id="rId33"/>
    <p:sldId id="508" r:id="rId34"/>
    <p:sldId id="509" r:id="rId35"/>
    <p:sldId id="510" r:id="rId36"/>
    <p:sldId id="511" r:id="rId37"/>
    <p:sldId id="513" r:id="rId38"/>
    <p:sldId id="514" r:id="rId39"/>
    <p:sldId id="512" r:id="rId40"/>
    <p:sldId id="515" r:id="rId41"/>
    <p:sldId id="516" r:id="rId42"/>
    <p:sldId id="519" r:id="rId43"/>
    <p:sldId id="520" r:id="rId44"/>
    <p:sldId id="521" r:id="rId45"/>
    <p:sldId id="517" r:id="rId46"/>
    <p:sldId id="522" r:id="rId47"/>
    <p:sldId id="531" r:id="rId48"/>
    <p:sldId id="523" r:id="rId49"/>
    <p:sldId id="532" r:id="rId50"/>
    <p:sldId id="533" r:id="rId51"/>
    <p:sldId id="535" r:id="rId52"/>
    <p:sldId id="534" r:id="rId53"/>
    <p:sldId id="538" r:id="rId54"/>
    <p:sldId id="536" r:id="rId55"/>
    <p:sldId id="537" r:id="rId56"/>
    <p:sldId id="540" r:id="rId57"/>
    <p:sldId id="541" r:id="rId58"/>
    <p:sldId id="545" r:id="rId59"/>
    <p:sldId id="546" r:id="rId60"/>
    <p:sldId id="547" r:id="rId61"/>
    <p:sldId id="548" r:id="rId62"/>
    <p:sldId id="549" r:id="rId63"/>
    <p:sldId id="524" r:id="rId64"/>
    <p:sldId id="527" r:id="rId65"/>
    <p:sldId id="526" r:id="rId66"/>
    <p:sldId id="528" r:id="rId67"/>
    <p:sldId id="530" r:id="rId68"/>
    <p:sldId id="553" r:id="rId69"/>
    <p:sldId id="542" r:id="rId70"/>
    <p:sldId id="591" r:id="rId71"/>
    <p:sldId id="592" r:id="rId72"/>
    <p:sldId id="594" r:id="rId73"/>
    <p:sldId id="595" r:id="rId74"/>
    <p:sldId id="598" r:id="rId75"/>
    <p:sldId id="596" r:id="rId76"/>
    <p:sldId id="597" r:id="rId77"/>
    <p:sldId id="554" r:id="rId78"/>
    <p:sldId id="587" r:id="rId79"/>
    <p:sldId id="555" r:id="rId80"/>
    <p:sldId id="586" r:id="rId81"/>
    <p:sldId id="588" r:id="rId82"/>
    <p:sldId id="589" r:id="rId83"/>
    <p:sldId id="590" r:id="rId84"/>
    <p:sldId id="599" r:id="rId85"/>
    <p:sldId id="600" r:id="rId86"/>
    <p:sldId id="601" r:id="rId8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viewProps" Target="view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51D58ECA-B396-40F4-AC25-ECF16B118060}"/>
    <pc:docChg chg="custSel modSld">
      <pc:chgData name="Bruno Augusto Nassif Travencolo" userId="9765cb90-d5ec-451e-8c7b-af57428794a1" providerId="ADAL" clId="{51D58ECA-B396-40F4-AC25-ECF16B118060}" dt="2023-04-27T20:24:16.395" v="2" actId="20577"/>
      <pc:docMkLst>
        <pc:docMk/>
      </pc:docMkLst>
      <pc:sldChg chg="modSp mod">
        <pc:chgData name="Bruno Augusto Nassif Travencolo" userId="9765cb90-d5ec-451e-8c7b-af57428794a1" providerId="ADAL" clId="{51D58ECA-B396-40F4-AC25-ECF16B118060}" dt="2023-04-27T20:23:50.613" v="0" actId="313"/>
        <pc:sldMkLst>
          <pc:docMk/>
          <pc:sldMk cId="0" sldId="495"/>
        </pc:sldMkLst>
        <pc:spChg chg="mod">
          <ac:chgData name="Bruno Augusto Nassif Travencolo" userId="9765cb90-d5ec-451e-8c7b-af57428794a1" providerId="ADAL" clId="{51D58ECA-B396-40F4-AC25-ECF16B118060}" dt="2023-04-27T20:23:50.613" v="0" actId="313"/>
          <ac:spMkLst>
            <pc:docMk/>
            <pc:sldMk cId="0" sldId="495"/>
            <ac:spMk id="3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51D58ECA-B396-40F4-AC25-ECF16B118060}" dt="2023-04-27T20:24:16.395" v="2" actId="20577"/>
        <pc:sldMkLst>
          <pc:docMk/>
          <pc:sldMk cId="0" sldId="497"/>
        </pc:sldMkLst>
        <pc:spChg chg="mod">
          <ac:chgData name="Bruno Augusto Nassif Travencolo" userId="9765cb90-d5ec-451e-8c7b-af57428794a1" providerId="ADAL" clId="{51D58ECA-B396-40F4-AC25-ECF16B118060}" dt="2023-04-27T20:24:16.395" v="2" actId="20577"/>
          <ac:spMkLst>
            <pc:docMk/>
            <pc:sldMk cId="0" sldId="497"/>
            <ac:spMk id="3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2785C7BA-641E-42A1-B53B-A244DE780DB0}"/>
    <pc:docChg chg="modSld">
      <pc:chgData name="Bruno Augusto Nassif Travencolo" userId="9765cb90-d5ec-451e-8c7b-af57428794a1" providerId="ADAL" clId="{2785C7BA-641E-42A1-B53B-A244DE780DB0}" dt="2024-09-27T10:56:29.732" v="1" actId="20577"/>
      <pc:docMkLst>
        <pc:docMk/>
      </pc:docMkLst>
      <pc:sldChg chg="modSp mod">
        <pc:chgData name="Bruno Augusto Nassif Travencolo" userId="9765cb90-d5ec-451e-8c7b-af57428794a1" providerId="ADAL" clId="{2785C7BA-641E-42A1-B53B-A244DE780DB0}" dt="2024-09-27T10:56:29.732" v="1" actId="20577"/>
        <pc:sldMkLst>
          <pc:docMk/>
          <pc:sldMk cId="869225994" sldId="486"/>
        </pc:sldMkLst>
        <pc:spChg chg="mod">
          <ac:chgData name="Bruno Augusto Nassif Travencolo" userId="9765cb90-d5ec-451e-8c7b-af57428794a1" providerId="ADAL" clId="{2785C7BA-641E-42A1-B53B-A244DE780DB0}" dt="2024-09-27T10:56:29.732" v="1" actId="20577"/>
          <ac:spMkLst>
            <pc:docMk/>
            <pc:sldMk cId="869225994" sldId="486"/>
            <ac:spMk id="3" creationId="{00000000-0000-0000-0000-000000000000}"/>
          </ac:spMkLst>
        </pc:spChg>
      </pc:sldChg>
    </pc:docChg>
  </pc:docChgLst>
  <pc:docChgLst>
    <pc:chgData name="Bruno Augusto Nassif Travencolo" userId="9765cb90-d5ec-451e-8c7b-af57428794a1" providerId="ADAL" clId="{DA4D6568-238D-4007-8C17-DE18AFBA468E}"/>
    <pc:docChg chg="custSel modSld">
      <pc:chgData name="Bruno Augusto Nassif Travencolo" userId="9765cb90-d5ec-451e-8c7b-af57428794a1" providerId="ADAL" clId="{DA4D6568-238D-4007-8C17-DE18AFBA468E}" dt="2023-10-04T21:48:12.695" v="2" actId="20577"/>
      <pc:docMkLst>
        <pc:docMk/>
      </pc:docMkLst>
      <pc:sldChg chg="modSp mod">
        <pc:chgData name="Bruno Augusto Nassif Travencolo" userId="9765cb90-d5ec-451e-8c7b-af57428794a1" providerId="ADAL" clId="{DA4D6568-238D-4007-8C17-DE18AFBA468E}" dt="2023-10-04T21:48:12.695" v="2" actId="20577"/>
        <pc:sldMkLst>
          <pc:docMk/>
          <pc:sldMk cId="1519417478" sldId="536"/>
        </pc:sldMkLst>
        <pc:spChg chg="mod">
          <ac:chgData name="Bruno Augusto Nassif Travencolo" userId="9765cb90-d5ec-451e-8c7b-af57428794a1" providerId="ADAL" clId="{DA4D6568-238D-4007-8C17-DE18AFBA468E}" dt="2023-10-04T21:48:12.695" v="2" actId="20577"/>
          <ac:spMkLst>
            <pc:docMk/>
            <pc:sldMk cId="1519417478" sldId="536"/>
            <ac:spMk id="2" creationId="{00000000-0000-0000-0000-000000000000}"/>
          </ac:spMkLst>
        </pc:spChg>
      </pc:sldChg>
      <pc:sldChg chg="modSp mod">
        <pc:chgData name="Bruno Augusto Nassif Travencolo" userId="9765cb90-d5ec-451e-8c7b-af57428794a1" providerId="ADAL" clId="{DA4D6568-238D-4007-8C17-DE18AFBA468E}" dt="2023-10-04T21:47:33.862" v="0" actId="33524"/>
        <pc:sldMkLst>
          <pc:docMk/>
          <pc:sldMk cId="3715300963" sldId="538"/>
        </pc:sldMkLst>
        <pc:spChg chg="mod">
          <ac:chgData name="Bruno Augusto Nassif Travencolo" userId="9765cb90-d5ec-451e-8c7b-af57428794a1" providerId="ADAL" clId="{DA4D6568-238D-4007-8C17-DE18AFBA468E}" dt="2023-10-04T21:47:33.862" v="0" actId="33524"/>
          <ac:spMkLst>
            <pc:docMk/>
            <pc:sldMk cId="3715300963" sldId="53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0D251D-749A-4B9A-A3E6-82592641065F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79040-1D1A-45E9-98E4-750766B0FC1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90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627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0047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2759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12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0960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202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799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9199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5572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219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8208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5422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8145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3364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79091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2762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962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2704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44081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24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0058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0765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8493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8601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14902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0060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0735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68644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27502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52425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97822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0835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8292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8601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70739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309427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6797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92441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4165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79203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55705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930026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3020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53954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9412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77685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0945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1827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404430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3129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4928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32297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05012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668216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837025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9151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0494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9307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58752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90160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031575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0595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1997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6498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80663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7723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94090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004458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100357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098198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71075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72349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09234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20800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71445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57663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75199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90436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79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56435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80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753788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81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91853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82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949303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79040-1D1A-45E9-98E4-750766B0FC1C}" type="slidenum">
              <a:rPr lang="pt-BR" smtClean="0"/>
              <a:pPr/>
              <a:t>83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611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27/09/2024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emf"/><Relationship Id="rId4" Type="http://schemas.openxmlformats.org/officeDocument/2006/relationships/package" Target="../embeddings/Microsoft_Excel_Worksheet.xls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3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2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7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wmf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Segmentação de Imagens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371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Segmentação é o processo que divide uma imagem em regiões distintas, cada uma com pixels com atributos similares </a:t>
            </a:r>
          </a:p>
          <a:p>
            <a:pPr lvl="1"/>
            <a:r>
              <a:rPr lang="pt-BR" dirty="0"/>
              <a:t>Particiona os pixels de uma imagem em grupos, geralmente relacionados a objetos em uma imagem. </a:t>
            </a:r>
          </a:p>
          <a:p>
            <a:pPr lvl="1"/>
            <a:r>
              <a:rPr lang="pt-BR" dirty="0"/>
              <a:t>É uma tarefa básica no processo de análise de imagens</a:t>
            </a:r>
          </a:p>
          <a:p>
            <a:pPr lvl="1"/>
            <a:r>
              <a:rPr lang="pt-BR" dirty="0"/>
              <a:t>O sucesso da análise da imagem depende fortemente do resultado da etapa de segmentação </a:t>
            </a:r>
          </a:p>
        </p:txBody>
      </p:sp>
    </p:spTree>
    <p:extLst>
      <p:ext uri="{BB962C8B-B14F-4D97-AF65-F5344CB8AC3E}">
        <p14:creationId xmlns:p14="http://schemas.microsoft.com/office/powerpoint/2010/main" val="3321024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77795" cy="4997152"/>
          </a:xfrm>
        </p:spPr>
        <p:txBody>
          <a:bodyPr/>
          <a:lstStyle/>
          <a:p>
            <a:r>
              <a:rPr lang="pt-BR" dirty="0"/>
              <a:t>O resultado de uma segmentação apenas é "correto" dado um determinado contexto</a:t>
            </a:r>
          </a:p>
          <a:p>
            <a:pPr lvl="1"/>
            <a:r>
              <a:rPr lang="pt-BR" dirty="0"/>
              <a:t>Subjetividade</a:t>
            </a:r>
          </a:p>
          <a:p>
            <a:pPr lvl="1"/>
            <a:r>
              <a:rPr lang="pt-BR" dirty="0"/>
              <a:t>Difícil implementação computacional.</a:t>
            </a:r>
          </a:p>
          <a:p>
            <a:pPr lvl="1"/>
            <a:r>
              <a:rPr lang="pt-BR" dirty="0"/>
              <a:t>Dificuldades na avaliação do desempenho.</a:t>
            </a:r>
          </a:p>
          <a:p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430" y="1844825"/>
            <a:ext cx="3968744" cy="4032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28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algoritmos de segmentação são geralmente baseados na busca pelas </a:t>
            </a:r>
          </a:p>
          <a:p>
            <a:pPr lvl="1"/>
            <a:r>
              <a:rPr lang="pt-BR" dirty="0"/>
              <a:t>Descontinuidades dos níveis de cinza</a:t>
            </a:r>
          </a:p>
          <a:p>
            <a:pPr lvl="2"/>
            <a:r>
              <a:rPr lang="pt-BR" dirty="0"/>
              <a:t>Exemplo: bordas</a:t>
            </a:r>
          </a:p>
          <a:p>
            <a:pPr lvl="1"/>
            <a:r>
              <a:rPr lang="pt-BR" dirty="0"/>
              <a:t>Similaridades dos níveis de cinza</a:t>
            </a:r>
          </a:p>
          <a:p>
            <a:pPr lvl="2"/>
            <a:r>
              <a:rPr lang="pt-BR" dirty="0"/>
              <a:t>Exemplo: regiões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508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97152"/>
          </a:xfrm>
        </p:spPr>
        <p:txBody>
          <a:bodyPr>
            <a:normAutofit lnSpcReduction="10000"/>
          </a:bodyPr>
          <a:lstStyle/>
          <a:p>
            <a:r>
              <a:rPr lang="pt-BR" dirty="0"/>
              <a:t>Tipos de segmentação</a:t>
            </a:r>
          </a:p>
          <a:p>
            <a:pPr lvl="1"/>
            <a:r>
              <a:rPr lang="pt-BR" dirty="0" err="1"/>
              <a:t>Limiarização</a:t>
            </a:r>
            <a:endParaRPr lang="pt-BR" dirty="0"/>
          </a:p>
          <a:p>
            <a:pPr lvl="2"/>
            <a:r>
              <a:rPr lang="pt-BR" dirty="0"/>
              <a:t>Limiar local, limiar global, múltiplos limiares</a:t>
            </a:r>
          </a:p>
          <a:p>
            <a:pPr lvl="1"/>
            <a:r>
              <a:rPr lang="pt-BR" dirty="0"/>
              <a:t>Bordas</a:t>
            </a:r>
          </a:p>
          <a:p>
            <a:pPr lvl="2"/>
            <a:r>
              <a:rPr lang="pt-BR" dirty="0"/>
              <a:t>Detecção básica de bordas (Roberts, </a:t>
            </a:r>
            <a:r>
              <a:rPr lang="pt-BR" dirty="0" err="1"/>
              <a:t>Prewitt</a:t>
            </a:r>
            <a:r>
              <a:rPr lang="pt-BR" dirty="0"/>
              <a:t>, Sobel)</a:t>
            </a:r>
          </a:p>
          <a:p>
            <a:pPr lvl="2"/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  <a:p>
            <a:pPr lvl="2"/>
            <a:r>
              <a:rPr lang="pt-BR" dirty="0"/>
              <a:t>Método de </a:t>
            </a:r>
            <a:r>
              <a:rPr lang="pt-BR" dirty="0" err="1"/>
              <a:t>Marr-Hildreth</a:t>
            </a:r>
            <a:r>
              <a:rPr lang="pt-BR" dirty="0"/>
              <a:t>, </a:t>
            </a:r>
          </a:p>
          <a:p>
            <a:pPr lvl="2"/>
            <a:r>
              <a:rPr lang="pt-BR" dirty="0"/>
              <a:t>Método de </a:t>
            </a:r>
            <a:r>
              <a:rPr lang="pt-BR" dirty="0" err="1"/>
              <a:t>Canny</a:t>
            </a:r>
            <a:endParaRPr lang="pt-BR" dirty="0"/>
          </a:p>
          <a:p>
            <a:pPr lvl="1"/>
            <a:r>
              <a:rPr lang="pt-BR" dirty="0"/>
              <a:t>Regiões</a:t>
            </a:r>
          </a:p>
          <a:p>
            <a:pPr lvl="2"/>
            <a:r>
              <a:rPr lang="pt-BR" dirty="0"/>
              <a:t>Crescimento de regiões</a:t>
            </a:r>
          </a:p>
          <a:p>
            <a:pPr lvl="2"/>
            <a:r>
              <a:rPr lang="pt-BR" dirty="0"/>
              <a:t>Split-merge</a:t>
            </a:r>
          </a:p>
          <a:p>
            <a:pPr lvl="2"/>
            <a:r>
              <a:rPr lang="pt-BR" dirty="0" err="1"/>
              <a:t>Watershed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273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Limiarização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Thresholding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35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Limiarização</a:t>
            </a:r>
            <a:r>
              <a:rPr lang="pt-BR" dirty="0"/>
              <a:t> ou </a:t>
            </a:r>
            <a:r>
              <a:rPr lang="pt-BR" dirty="0" err="1"/>
              <a:t>Thresholding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É uma técnica simples de segmentação</a:t>
            </a:r>
          </a:p>
          <a:p>
            <a:pPr lvl="1"/>
            <a:r>
              <a:rPr lang="pt-BR" dirty="0"/>
              <a:t>É um método global</a:t>
            </a:r>
          </a:p>
          <a:p>
            <a:pPr lvl="1"/>
            <a:r>
              <a:rPr lang="pt-BR" dirty="0"/>
              <a:t>Limiar único</a:t>
            </a:r>
          </a:p>
          <a:p>
            <a:pPr lvl="2"/>
            <a:r>
              <a:rPr lang="pt-BR" dirty="0"/>
              <a:t>Transforma a imagem em uma imagem binária (2 níveis de cinza)</a:t>
            </a:r>
          </a:p>
          <a:p>
            <a:pPr lvl="1"/>
            <a:r>
              <a:rPr lang="pt-BR" dirty="0"/>
              <a:t>Limiares múltiplos</a:t>
            </a:r>
          </a:p>
          <a:p>
            <a:pPr lvl="2"/>
            <a:r>
              <a:rPr lang="pt-BR" dirty="0"/>
              <a:t>Transforma a imagem em uma imagem com 2 ou mais níveis de cinza</a:t>
            </a:r>
          </a:p>
          <a:p>
            <a:pPr lvl="2"/>
            <a:endParaRPr lang="pt-BR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612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único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1798620"/>
          </a:xfrm>
        </p:spPr>
        <p:txBody>
          <a:bodyPr>
            <a:normAutofit/>
          </a:bodyPr>
          <a:lstStyle/>
          <a:p>
            <a:r>
              <a:rPr lang="pt-BR" dirty="0"/>
              <a:t>Segmenta a imagem em duas regiões: </a:t>
            </a:r>
          </a:p>
          <a:p>
            <a:pPr lvl="1"/>
            <a:r>
              <a:rPr lang="pt-BR" dirty="0"/>
              <a:t>Uma com valores menores que o limiar (rotulada com 0) e outra com valores maiores que o limiar (rotulada com 1)</a:t>
            </a:r>
            <a:endParaRPr lang="en-US" dirty="0"/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3408682"/>
            <a:ext cx="2672680" cy="2223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08" y="3356992"/>
            <a:ext cx="2910252" cy="2310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 Box 6"/>
          <p:cNvSpPr txBox="1">
            <a:spLocks noChangeArrowheads="1"/>
          </p:cNvSpPr>
          <p:nvPr/>
        </p:nvSpPr>
        <p:spPr bwMode="auto">
          <a:xfrm>
            <a:off x="107504" y="5229200"/>
            <a:ext cx="16433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Fazendo:</a:t>
            </a:r>
          </a:p>
          <a:p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1 </a:t>
            </a:r>
            <a:r>
              <a:rPr lang="pt-BR" dirty="0"/>
              <a:t>= 0</a:t>
            </a:r>
            <a:br>
              <a:rPr lang="pt-BR" dirty="0"/>
            </a:br>
            <a:r>
              <a:rPr lang="pt-BR" dirty="0"/>
              <a:t>f</a:t>
            </a:r>
            <a:r>
              <a:rPr lang="pt-BR" baseline="-25000" dirty="0"/>
              <a:t>1</a:t>
            </a:r>
            <a:r>
              <a:rPr lang="pt-BR" dirty="0"/>
              <a:t>(</a:t>
            </a:r>
            <a:r>
              <a:rPr lang="pt-BR" dirty="0" err="1"/>
              <a:t>x,y</a:t>
            </a:r>
            <a:r>
              <a:rPr lang="pt-BR" dirty="0"/>
              <a:t>) = f</a:t>
            </a:r>
            <a:r>
              <a:rPr lang="pt-BR" baseline="-25000" dirty="0"/>
              <a:t>2</a:t>
            </a:r>
            <a:r>
              <a:rPr lang="pt-BR" dirty="0"/>
              <a:t>(</a:t>
            </a:r>
            <a:r>
              <a:rPr lang="pt-BR" dirty="0" err="1"/>
              <a:t>x,y</a:t>
            </a:r>
            <a:r>
              <a:rPr lang="pt-BR" dirty="0"/>
              <a:t>)</a:t>
            </a:r>
            <a:br>
              <a:rPr lang="pt-BR" dirty="0"/>
            </a:br>
            <a:r>
              <a:rPr lang="pt-BR" dirty="0"/>
              <a:t>k</a:t>
            </a:r>
            <a:r>
              <a:rPr lang="pt-BR" baseline="-25000" dirty="0"/>
              <a:t>3</a:t>
            </a:r>
            <a:r>
              <a:rPr lang="pt-BR" dirty="0"/>
              <a:t>.f(</a:t>
            </a:r>
            <a:r>
              <a:rPr lang="pt-BR" dirty="0" err="1"/>
              <a:t>x,y</a:t>
            </a:r>
            <a:r>
              <a:rPr lang="pt-BR" dirty="0"/>
              <a:t>) = W</a:t>
            </a:r>
          </a:p>
        </p:txBody>
      </p:sp>
      <p:graphicFrame>
        <p:nvGraphicFramePr>
          <p:cNvPr id="1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6750015"/>
              </p:ext>
            </p:extLst>
          </p:nvPr>
        </p:nvGraphicFramePr>
        <p:xfrm>
          <a:off x="5330825" y="5773738"/>
          <a:ext cx="36179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1904760" imgH="457200" progId="Equation.3">
                  <p:embed/>
                </p:oleObj>
              </mc:Choice>
              <mc:Fallback>
                <p:oleObj name="Equação" r:id="rId5" imgW="1904760" imgH="457200" progId="Equation.3">
                  <p:embed/>
                  <p:pic>
                    <p:nvPicPr>
                      <p:cNvPr id="1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0825" y="5773738"/>
                        <a:ext cx="3617913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4139952" y="6001816"/>
            <a:ext cx="9605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i="1" dirty="0"/>
              <a:t>g(</a:t>
            </a:r>
            <a:r>
              <a:rPr lang="pt-BR" i="1" dirty="0" err="1"/>
              <a:t>x,y</a:t>
            </a:r>
            <a:r>
              <a:rPr lang="pt-BR" i="1" dirty="0"/>
              <a:t>) =</a:t>
            </a:r>
          </a:p>
        </p:txBody>
      </p:sp>
      <p:sp>
        <p:nvSpPr>
          <p:cNvPr id="19" name="AutoShape 9"/>
          <p:cNvSpPr>
            <a:spLocks/>
          </p:cNvSpPr>
          <p:nvPr/>
        </p:nvSpPr>
        <p:spPr bwMode="auto">
          <a:xfrm>
            <a:off x="5096279" y="5557192"/>
            <a:ext cx="76200" cy="1256184"/>
          </a:xfrm>
          <a:prstGeom prst="leftBrace">
            <a:avLst>
              <a:gd name="adj1" fmla="val 1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6157069" y="3534643"/>
            <a:ext cx="2143125" cy="8318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Threshold</a:t>
            </a:r>
            <a:br>
              <a:rPr lang="pt-BR">
                <a:solidFill>
                  <a:srgbClr val="FF0000"/>
                </a:solidFill>
              </a:rPr>
            </a:br>
            <a:r>
              <a:rPr lang="pt-BR">
                <a:solidFill>
                  <a:srgbClr val="FF0000"/>
                </a:solidFill>
              </a:rPr>
              <a:t>[f</a:t>
            </a:r>
            <a:r>
              <a:rPr lang="pt-BR" baseline="-25000">
                <a:solidFill>
                  <a:srgbClr val="FF0000"/>
                </a:solidFill>
              </a:rPr>
              <a:t>1</a:t>
            </a:r>
            <a:r>
              <a:rPr lang="pt-BR">
                <a:solidFill>
                  <a:srgbClr val="FF0000"/>
                </a:solidFill>
              </a:rPr>
              <a:t>(x,y)=f</a:t>
            </a:r>
            <a:r>
              <a:rPr lang="pt-BR" baseline="-25000">
                <a:solidFill>
                  <a:srgbClr val="FF0000"/>
                </a:solidFill>
              </a:rPr>
              <a:t>2</a:t>
            </a:r>
            <a:r>
              <a:rPr lang="pt-BR">
                <a:solidFill>
                  <a:srgbClr val="FF0000"/>
                </a:solidFill>
              </a:rPr>
              <a:t>(x,y)]</a:t>
            </a:r>
          </a:p>
        </p:txBody>
      </p:sp>
      <p:sp>
        <p:nvSpPr>
          <p:cNvPr id="21" name="Line 11"/>
          <p:cNvSpPr>
            <a:spLocks noChangeShapeType="1"/>
          </p:cNvSpPr>
          <p:nvPr/>
        </p:nvSpPr>
        <p:spPr bwMode="auto">
          <a:xfrm flipH="1">
            <a:off x="5868144" y="4331568"/>
            <a:ext cx="68580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18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único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57" y="2996952"/>
            <a:ext cx="5597315" cy="2450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5" y="2924944"/>
            <a:ext cx="3115939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405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múltiplos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rmAutofit/>
          </a:bodyPr>
          <a:lstStyle/>
          <a:p>
            <a:r>
              <a:rPr lang="pt-BR" dirty="0"/>
              <a:t>Segmenta a imagem em duas regiões: </a:t>
            </a:r>
          </a:p>
          <a:p>
            <a:pPr lvl="1"/>
            <a:r>
              <a:rPr lang="pt-BR" dirty="0"/>
              <a:t>Dois ou mais limiares podem produzir mais do que duas regiões</a:t>
            </a:r>
          </a:p>
          <a:p>
            <a:pPr lvl="1"/>
            <a:r>
              <a:rPr lang="pt-BR" dirty="0"/>
              <a:t>Intervalos de níveis de cinza correspondentes a uma região são separados por limiares;</a:t>
            </a:r>
          </a:p>
        </p:txBody>
      </p:sp>
    </p:spTree>
    <p:extLst>
      <p:ext uri="{BB962C8B-B14F-4D97-AF65-F5344CB8AC3E}">
        <p14:creationId xmlns:p14="http://schemas.microsoft.com/office/powerpoint/2010/main" val="204443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múltiplos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0912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24944"/>
            <a:ext cx="5657850" cy="2657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Grupo 7"/>
          <p:cNvGrpSpPr/>
          <p:nvPr/>
        </p:nvGrpSpPr>
        <p:grpSpPr>
          <a:xfrm>
            <a:off x="5868144" y="2996952"/>
            <a:ext cx="3221392" cy="2473452"/>
            <a:chOff x="5868144" y="2996952"/>
            <a:chExt cx="3221392" cy="2473452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8144" y="2996952"/>
              <a:ext cx="3221392" cy="24734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7" name="Conector reto 6"/>
            <p:cNvCxnSpPr/>
            <p:nvPr/>
          </p:nvCxnSpPr>
          <p:spPr>
            <a:xfrm>
              <a:off x="7308304" y="3357208"/>
              <a:ext cx="0" cy="1944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>
              <a:off x="7812360" y="3357208"/>
              <a:ext cx="0" cy="1944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>
            <a:xfrm>
              <a:off x="8272026" y="3357208"/>
              <a:ext cx="0" cy="1944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>
            <a:xfrm>
              <a:off x="8532440" y="3357208"/>
              <a:ext cx="0" cy="194400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7330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Escolhendo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Como escolher o limiar (ou os limiares) adequado para separar o objeto (ou os objetos) do background?</a:t>
            </a:r>
          </a:p>
          <a:p>
            <a:pPr lvl="1"/>
            <a:r>
              <a:rPr lang="pt-BR" dirty="0"/>
              <a:t>Não é fácil achar um número mágico </a:t>
            </a:r>
            <a:r>
              <a:rPr lang="pt-BR" i="1" dirty="0"/>
              <a:t>T</a:t>
            </a:r>
            <a:r>
              <a:rPr lang="pt-BR" dirty="0"/>
              <a:t> ideal para o limiar!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861048"/>
            <a:ext cx="7421562" cy="286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225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Escolhendo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resultado é muito sensível às variações de </a:t>
            </a:r>
            <a:r>
              <a:rPr lang="pt-BR" i="1" dirty="0"/>
              <a:t>T</a:t>
            </a:r>
          </a:p>
          <a:p>
            <a:pPr lvl="1"/>
            <a:r>
              <a:rPr lang="pt-BR" dirty="0"/>
              <a:t>Bom para uma situação</a:t>
            </a:r>
          </a:p>
          <a:p>
            <a:pPr lvl="1"/>
            <a:r>
              <a:rPr lang="pt-BR" dirty="0"/>
              <a:t>Mau para todas as outras</a:t>
            </a:r>
          </a:p>
          <a:p>
            <a:r>
              <a:rPr lang="pt-BR" dirty="0"/>
              <a:t>O sistema tem que ser robusto! Como escolher o limiar </a:t>
            </a:r>
            <a:r>
              <a:rPr lang="pt-BR" i="1" dirty="0"/>
              <a:t>T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Histogramas</a:t>
            </a:r>
          </a:p>
          <a:p>
            <a:pPr lvl="1"/>
            <a:r>
              <a:rPr lang="pt-BR" dirty="0"/>
              <a:t>Outras técnicas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22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Escolhendo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Assume-se que o histograma de imagem é multimodal </a:t>
            </a:r>
          </a:p>
          <a:p>
            <a:pPr lvl="1"/>
            <a:r>
              <a:rPr lang="pt-BR" dirty="0"/>
              <a:t>Cada região corresponde a uma moda do histograma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4005064"/>
            <a:ext cx="3096344" cy="230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27984" y="4005064"/>
            <a:ext cx="4151908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5085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Escolhendo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Dificuldade</a:t>
            </a:r>
          </a:p>
          <a:p>
            <a:pPr lvl="1"/>
            <a:r>
              <a:rPr lang="pt-BR" dirty="0"/>
              <a:t>Estabelecer múltiplos T que efetivamente isolem regiões de interesse</a:t>
            </a:r>
            <a:endParaRPr lang="en-US" dirty="0"/>
          </a:p>
        </p:txBody>
      </p:sp>
      <p:grpSp>
        <p:nvGrpSpPr>
          <p:cNvPr id="6" name="Grupo 5"/>
          <p:cNvGrpSpPr/>
          <p:nvPr/>
        </p:nvGrpSpPr>
        <p:grpSpPr>
          <a:xfrm>
            <a:off x="755576" y="3919686"/>
            <a:ext cx="3312368" cy="2295525"/>
            <a:chOff x="4932040" y="3429000"/>
            <a:chExt cx="3312368" cy="2295525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32040" y="3429000"/>
              <a:ext cx="3267075" cy="22955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CaixaDeTexto 7"/>
            <p:cNvSpPr txBox="1"/>
            <p:nvPr/>
          </p:nvSpPr>
          <p:spPr>
            <a:xfrm>
              <a:off x="5724128" y="3573016"/>
              <a:ext cx="25202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    </a:t>
              </a:r>
              <a:r>
                <a:rPr lang="en-US" sz="1600" dirty="0" err="1"/>
                <a:t>Histograma</a:t>
              </a:r>
              <a:r>
                <a:rPr lang="en-US" sz="1600" dirty="0"/>
                <a:t> multimodal</a:t>
              </a:r>
            </a:p>
          </p:txBody>
        </p:sp>
      </p:grp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0" y="3703662"/>
            <a:ext cx="4057650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07244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Escolhendo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A </a:t>
            </a:r>
            <a:r>
              <a:rPr lang="pt-BR" dirty="0" err="1"/>
              <a:t>limiarização</a:t>
            </a:r>
            <a:r>
              <a:rPr lang="pt-BR" dirty="0"/>
              <a:t> dever ser capaz de encontrar o limiar que melhor separa os picos</a:t>
            </a:r>
          </a:p>
          <a:p>
            <a:pPr lvl="1"/>
            <a:r>
              <a:rPr lang="pt-BR" dirty="0"/>
              <a:t>Inspeção visual</a:t>
            </a:r>
          </a:p>
          <a:p>
            <a:pPr lvl="2"/>
            <a:r>
              <a:rPr lang="pt-BR" dirty="0"/>
              <a:t>O usuário escolhe o limiar baseando-se na inspeção visual do histograma</a:t>
            </a:r>
          </a:p>
          <a:p>
            <a:pPr lvl="1"/>
            <a:r>
              <a:rPr lang="pt-BR" dirty="0"/>
              <a:t>Tentativa e erro</a:t>
            </a:r>
          </a:p>
          <a:p>
            <a:pPr lvl="2"/>
            <a:r>
              <a:rPr lang="pt-BR" dirty="0"/>
              <a:t>Aplicado a processos interativos. O usuário testa diferentes níveis até produzir um resultado satisfatório para o observador</a:t>
            </a:r>
          </a:p>
          <a:p>
            <a:pPr lvl="1"/>
            <a:r>
              <a:rPr lang="pt-BR" dirty="0"/>
              <a:t>Obtenção automática do limiar</a:t>
            </a:r>
          </a:p>
          <a:p>
            <a:pPr lvl="2"/>
            <a:r>
              <a:rPr lang="pt-BR" dirty="0"/>
              <a:t>Análise do formato do histograma</a:t>
            </a:r>
          </a:p>
        </p:txBody>
      </p:sp>
    </p:spTree>
    <p:extLst>
      <p:ext uri="{BB962C8B-B14F-4D97-AF65-F5344CB8AC3E}">
        <p14:creationId xmlns:p14="http://schemas.microsoft.com/office/powerpoint/2010/main" val="3746553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pt-BR" dirty="0" err="1"/>
              <a:t>Limiarização</a:t>
            </a:r>
            <a:r>
              <a:rPr lang="pt-BR" dirty="0"/>
              <a:t> – técnicas para obter o limiar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Obtenção</a:t>
            </a:r>
            <a:r>
              <a:rPr lang="en-US" dirty="0"/>
              <a:t> </a:t>
            </a:r>
            <a:r>
              <a:rPr lang="en-US" dirty="0" err="1"/>
              <a:t>automática</a:t>
            </a:r>
            <a:r>
              <a:rPr lang="en-US" dirty="0"/>
              <a:t> do </a:t>
            </a:r>
            <a:r>
              <a:rPr lang="en-US" dirty="0" err="1"/>
              <a:t>limiar</a:t>
            </a:r>
            <a:endParaRPr lang="en-US" dirty="0"/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43042" y="2230158"/>
            <a:ext cx="5688632" cy="462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Limiarização</a:t>
            </a:r>
            <a:r>
              <a:rPr lang="pt-BR" dirty="0"/>
              <a:t> – técnicas para obter o limiar único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997152"/>
          </a:xfrm>
        </p:spPr>
        <p:txBody>
          <a:bodyPr>
            <a:normAutofit fontScale="92500"/>
          </a:bodyPr>
          <a:lstStyle/>
          <a:p>
            <a:r>
              <a:rPr lang="pt-BR" dirty="0"/>
              <a:t>Limiar global adaptativo </a:t>
            </a:r>
          </a:p>
          <a:p>
            <a:pPr lvl="1"/>
            <a:r>
              <a:rPr lang="pt-BR" dirty="0"/>
              <a:t>Obtido por refinamentos sucessivos da estimativa da posição de um pico</a:t>
            </a:r>
          </a:p>
          <a:p>
            <a:pPr lvl="1"/>
            <a:r>
              <a:rPr lang="pt-BR" dirty="0"/>
              <a:t>Premissas básicas:</a:t>
            </a:r>
          </a:p>
          <a:p>
            <a:pPr lvl="2"/>
            <a:r>
              <a:rPr lang="pt-BR" dirty="0"/>
              <a:t>Cada pico coincide com a média de níveis de cinza de todos os pixels relacionados com este pico; (pico representa a região)</a:t>
            </a:r>
          </a:p>
          <a:p>
            <a:pPr lvl="2"/>
            <a:r>
              <a:rPr lang="pt-BR" dirty="0"/>
              <a:t>A probabilidade do pixel pertencer a uma região i é inversamente proporcional à diferença absoluta entre os valores do pixel e do pico que representa a região i; (pixels são atribuídos às regiões representadas pelo pico mais próximo)</a:t>
            </a:r>
          </a:p>
          <a:p>
            <a:pPr lvl="2"/>
            <a:r>
              <a:rPr lang="pt-BR" dirty="0"/>
              <a:t>Cada nível de cinza da imagem é associado a um pico de acordo com o limiar definido como sendo a metade da distância entre dois picos. (limiar definido no meio de dois picos)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Limiarização</a:t>
            </a:r>
            <a:r>
              <a:rPr lang="pt-BR" dirty="0"/>
              <a:t> – técnicas para obter o limiar único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Limiarização</a:t>
            </a:r>
            <a:r>
              <a:rPr lang="en-US" dirty="0"/>
              <a:t> global </a:t>
            </a:r>
            <a:r>
              <a:rPr lang="en-US" dirty="0" err="1"/>
              <a:t>adaptativa</a:t>
            </a:r>
            <a:endParaRPr lang="en-US" dirty="0"/>
          </a:p>
          <a:p>
            <a:pPr lvl="1"/>
            <a:r>
              <a:rPr lang="pt-BR" dirty="0"/>
              <a:t>1) Selecionar uma estimativa inicial para o limiar  T</a:t>
            </a:r>
          </a:p>
          <a:p>
            <a:pPr lvl="2"/>
            <a:r>
              <a:rPr lang="pt-BR" dirty="0"/>
              <a:t>Deve ser um ponto entre os valores de intensidade mínimo e máximo (a intensidade média, por exemplo)</a:t>
            </a:r>
          </a:p>
          <a:p>
            <a:pPr lvl="1"/>
            <a:r>
              <a:rPr lang="pt-BR" dirty="0"/>
              <a:t>2) Segmentar a imagem usando T. Isto produzirá dois grupos de pixels</a:t>
            </a:r>
          </a:p>
          <a:p>
            <a:pPr lvl="2"/>
            <a:r>
              <a:rPr lang="pt-BR" dirty="0"/>
              <a:t>G1 ≤ T</a:t>
            </a:r>
          </a:p>
          <a:p>
            <a:pPr lvl="2"/>
            <a:r>
              <a:rPr lang="pt-BR" dirty="0"/>
              <a:t>G2 &gt;  T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Limiarização</a:t>
            </a:r>
            <a:r>
              <a:rPr lang="pt-BR" dirty="0"/>
              <a:t> – técnicas para obter o limiar único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Limiarização</a:t>
            </a:r>
            <a:r>
              <a:rPr lang="en-US" dirty="0"/>
              <a:t> global </a:t>
            </a:r>
            <a:r>
              <a:rPr lang="en-US" dirty="0" err="1"/>
              <a:t>adaptativa</a:t>
            </a:r>
            <a:endParaRPr lang="en-US" dirty="0"/>
          </a:p>
          <a:p>
            <a:pPr lvl="1"/>
            <a:r>
              <a:rPr lang="pt-BR" dirty="0"/>
              <a:t>3) Computar a média das intensidades dos pixels em cada região</a:t>
            </a:r>
          </a:p>
          <a:p>
            <a:pPr lvl="2"/>
            <a:r>
              <a:rPr lang="pt-BR" dirty="0"/>
              <a:t>µ</a:t>
            </a:r>
            <a:r>
              <a:rPr lang="pt-BR" baseline="-25000" dirty="0"/>
              <a:t>1</a:t>
            </a:r>
            <a:r>
              <a:rPr lang="pt-BR" dirty="0"/>
              <a:t>(G</a:t>
            </a:r>
            <a:r>
              <a:rPr lang="pt-BR" baseline="-25000" dirty="0"/>
              <a:t>1</a:t>
            </a:r>
            <a:r>
              <a:rPr lang="pt-BR" dirty="0"/>
              <a:t>) e µ</a:t>
            </a:r>
            <a:r>
              <a:rPr lang="pt-BR" baseline="-25000" dirty="0"/>
              <a:t>2</a:t>
            </a:r>
            <a:r>
              <a:rPr lang="pt-BR" dirty="0"/>
              <a:t>(G</a:t>
            </a:r>
            <a:r>
              <a:rPr lang="pt-BR" baseline="-25000" dirty="0"/>
              <a:t>2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4) Computar o novo valor de T</a:t>
            </a:r>
          </a:p>
          <a:p>
            <a:pPr lvl="2"/>
            <a:r>
              <a:rPr lang="pt-BR" dirty="0"/>
              <a:t>T = (µ</a:t>
            </a:r>
            <a:r>
              <a:rPr lang="pt-BR" baseline="-25000" dirty="0"/>
              <a:t>1</a:t>
            </a:r>
            <a:r>
              <a:rPr lang="pt-BR" dirty="0"/>
              <a:t> + µ</a:t>
            </a:r>
            <a:r>
              <a:rPr lang="pt-BR" baseline="-25000" dirty="0"/>
              <a:t>1</a:t>
            </a:r>
            <a:r>
              <a:rPr lang="pt-BR" dirty="0"/>
              <a:t>) / 2</a:t>
            </a:r>
            <a:endParaRPr lang="pt-BR" baseline="-25000" dirty="0"/>
          </a:p>
          <a:p>
            <a:pPr lvl="1"/>
            <a:r>
              <a:rPr lang="pt-BR" dirty="0"/>
              <a:t>5) Repetir os passos de 2 a 4 até que a diferença entre dois valores sucessivos de T seja menor ou igual a ΔT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Limiarização</a:t>
            </a:r>
            <a:r>
              <a:rPr lang="pt-BR" dirty="0"/>
              <a:t> – técnicas para obter o limiar único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Limiarização</a:t>
            </a:r>
            <a:r>
              <a:rPr lang="en-US" dirty="0"/>
              <a:t> global </a:t>
            </a:r>
            <a:r>
              <a:rPr lang="en-US" dirty="0" err="1"/>
              <a:t>adaptativa</a:t>
            </a:r>
            <a:r>
              <a:rPr lang="en-US" dirty="0"/>
              <a:t> - </a:t>
            </a:r>
            <a:r>
              <a:rPr lang="en-US" dirty="0" err="1"/>
              <a:t>Exemplo</a:t>
            </a:r>
            <a:endParaRPr lang="en-US" dirty="0"/>
          </a:p>
          <a:p>
            <a:pPr lvl="1"/>
            <a:r>
              <a:rPr lang="pt-BR" dirty="0"/>
              <a:t>T inicial = média dos pixels da imagem</a:t>
            </a:r>
          </a:p>
          <a:p>
            <a:pPr lvl="1"/>
            <a:r>
              <a:rPr lang="pt-BR" dirty="0"/>
              <a:t>T resultante = 125,4 após 3 iterações </a:t>
            </a:r>
          </a:p>
          <a:p>
            <a:pPr lvl="1"/>
            <a:r>
              <a:rPr lang="pt-BR" dirty="0"/>
              <a:t>ΔT = 0</a:t>
            </a:r>
            <a:endParaRPr lang="en-US" dirty="0"/>
          </a:p>
          <a:p>
            <a:pPr lvl="1"/>
            <a:endParaRPr lang="pt-BR" dirty="0"/>
          </a:p>
        </p:txBody>
      </p:sp>
      <p:pic>
        <p:nvPicPr>
          <p:cNvPr id="4" name="Espaço Reservado para Conteúdo 3" descr="fig10-3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629918" y="3601616"/>
            <a:ext cx="5884164" cy="3113532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Global Ótimo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Obtenção automática do limiar</a:t>
            </a:r>
          </a:p>
          <a:p>
            <a:pPr lvl="1"/>
            <a:r>
              <a:rPr lang="pt-BR" dirty="0"/>
              <a:t>A </a:t>
            </a:r>
            <a:r>
              <a:rPr lang="pt-BR" dirty="0" err="1"/>
              <a:t>limiarização</a:t>
            </a:r>
            <a:r>
              <a:rPr lang="pt-BR" dirty="0"/>
              <a:t> pode ser vista como um problema de decisão estatística cujo objetivo é minimizar o erro médio ocorrido na atribuição de pixels  a uma ou mais classes;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28926" y="3929066"/>
            <a:ext cx="3240360" cy="24163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Global Ótimo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O método de </a:t>
            </a:r>
            <a:r>
              <a:rPr lang="pt-BR" dirty="0" err="1"/>
              <a:t>Otsu</a:t>
            </a:r>
            <a:r>
              <a:rPr lang="pt-BR" dirty="0"/>
              <a:t> (1979)</a:t>
            </a:r>
          </a:p>
          <a:p>
            <a:pPr lvl="1"/>
            <a:r>
              <a:rPr lang="pt-BR" dirty="0" err="1"/>
              <a:t>Ideia</a:t>
            </a:r>
            <a:endParaRPr lang="pt-BR" dirty="0"/>
          </a:p>
          <a:p>
            <a:pPr lvl="2"/>
            <a:r>
              <a:rPr lang="pt-BR" dirty="0"/>
              <a:t>maximizar a variância entre as classes (grupos)</a:t>
            </a:r>
          </a:p>
          <a:p>
            <a:pPr lvl="2"/>
            <a:r>
              <a:rPr lang="pt-BR" dirty="0"/>
              <a:t>minimizar a variância interna das classes (grupos)</a:t>
            </a:r>
          </a:p>
          <a:p>
            <a:pPr lvl="1"/>
            <a:r>
              <a:rPr lang="pt-BR" dirty="0"/>
              <a:t>Premissa</a:t>
            </a:r>
          </a:p>
          <a:p>
            <a:pPr lvl="2"/>
            <a:r>
              <a:rPr lang="pt-BR" dirty="0"/>
              <a:t>As intensidades de  pixels de uma mesma classe devem ser similares</a:t>
            </a:r>
          </a:p>
          <a:p>
            <a:pPr lvl="2"/>
            <a:r>
              <a:rPr lang="pt-BR" dirty="0"/>
              <a:t>As intensidades de pixels de classes diferentes devem ser diferentes</a:t>
            </a:r>
          </a:p>
          <a:p>
            <a:pPr lvl="1"/>
            <a:r>
              <a:rPr lang="pt-BR" dirty="0"/>
              <a:t>O método se baseia inteiramente em cálculos realizados no histograma de uma imagem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e variância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17070" cy="4495800"/>
          </a:xfrm>
        </p:spPr>
        <p:txBody>
          <a:bodyPr/>
          <a:lstStyle/>
          <a:p>
            <a:r>
              <a:rPr lang="pt-BR" dirty="0"/>
              <a:t>Qual a intensidade média da imagem?</a:t>
            </a:r>
          </a:p>
          <a:p>
            <a:r>
              <a:rPr lang="pt-BR" dirty="0"/>
              <a:t>Qual a variância das intensidades da imagem?</a:t>
            </a:r>
          </a:p>
          <a:p>
            <a:pPr lvl="1"/>
            <a:r>
              <a:rPr lang="pt-BR" dirty="0"/>
              <a:t>Variância é uma medida do contraste de uma imagem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8" name="Picture 4" descr="C:\Users\Bruno\Desktop\gim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3834" y="3709079"/>
            <a:ext cx="846310" cy="608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9" name="Objeto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150746"/>
              </p:ext>
            </p:extLst>
          </p:nvPr>
        </p:nvGraphicFramePr>
        <p:xfrm>
          <a:off x="2123728" y="3643314"/>
          <a:ext cx="5057432" cy="2851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lanilha" r:id="rId4" imgW="8124788" imgH="4581630" progId="Excel.Sheet.12">
                  <p:embed/>
                </p:oleObj>
              </mc:Choice>
              <mc:Fallback>
                <p:oleObj name="Planilha" r:id="rId4" imgW="8124788" imgH="4581630" progId="Excel.Sheet.12">
                  <p:embed/>
                  <p:pic>
                    <p:nvPicPr>
                      <p:cNvPr id="9" name="Objeto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643314"/>
                        <a:ext cx="5057432" cy="28518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5716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57224" y="4788250"/>
            <a:ext cx="10763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e variância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É possível obter essas informações a partir do histograma da imagem?</a:t>
            </a:r>
          </a:p>
          <a:p>
            <a:pPr lvl="1"/>
            <a:r>
              <a:rPr lang="pt-BR" dirty="0"/>
              <a:t>Média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Variância</a:t>
            </a:r>
          </a:p>
        </p:txBody>
      </p:sp>
      <p:pic>
        <p:nvPicPr>
          <p:cNvPr id="11571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43042" y="3005142"/>
            <a:ext cx="2543175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14480" y="4648216"/>
            <a:ext cx="33432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2" t="2980" r="6111"/>
          <a:stretch>
            <a:fillRect/>
          </a:stretch>
        </p:blipFill>
        <p:spPr bwMode="auto">
          <a:xfrm>
            <a:off x="5357818" y="2965327"/>
            <a:ext cx="3643306" cy="2892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e variância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média das intensidades a partir deste histograma?</a:t>
            </a:r>
          </a:p>
          <a:p>
            <a:pPr lvl="1"/>
            <a:r>
              <a:rPr lang="pt-BR" dirty="0"/>
              <a:t>Soma dos valores dos pixels:</a:t>
            </a:r>
          </a:p>
          <a:p>
            <a:pPr lvl="2"/>
            <a:r>
              <a:rPr lang="pt-BR" dirty="0"/>
              <a:t>5x0 + 9x1 + 6x2 +...+ 7x11 = 188</a:t>
            </a:r>
          </a:p>
          <a:p>
            <a:pPr lvl="1"/>
            <a:r>
              <a:rPr lang="pt-BR" dirty="0"/>
              <a:t>Total de Pixels:</a:t>
            </a:r>
          </a:p>
          <a:p>
            <a:pPr lvl="2"/>
            <a:r>
              <a:rPr lang="pt-BR" dirty="0"/>
              <a:t>5 + 9 + 6 + 4 + ... + 11 = 49</a:t>
            </a:r>
          </a:p>
          <a:p>
            <a:pPr lvl="1"/>
            <a:r>
              <a:rPr lang="pt-BR" dirty="0"/>
              <a:t>Média = 3.83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5" t="4491" r="8396" b="4191"/>
          <a:stretch>
            <a:fillRect/>
          </a:stretch>
        </p:blipFill>
        <p:spPr bwMode="auto">
          <a:xfrm>
            <a:off x="5327373" y="3585597"/>
            <a:ext cx="3745221" cy="312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L distintos níveis de cinza</a:t>
                </a:r>
              </a:p>
              <a:p>
                <a:pPr lvl="1"/>
                <a:r>
                  <a:rPr lang="pt-BR" dirty="0"/>
                  <a:t>{0, 1, 2, 3..., L-1}</a:t>
                </a:r>
              </a:p>
              <a:p>
                <a:pPr lvl="1"/>
                <a:r>
                  <a:rPr lang="pt-BR" dirty="0"/>
                  <a:t>Exemplo anterior: L = 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dirty="0"/>
                  <a:t> - número de pixels com intensidade i</a:t>
                </a:r>
              </a:p>
              <a:p>
                <a:pPr lvl="1"/>
                <a:r>
                  <a:rPr lang="pt-BR" dirty="0"/>
                  <a:t>Exemplo anterior: n</a:t>
                </a:r>
                <a:r>
                  <a:rPr lang="pt-BR" baseline="-25000" dirty="0"/>
                  <a:t>0</a:t>
                </a:r>
                <a:r>
                  <a:rPr lang="pt-BR" dirty="0"/>
                  <a:t> = 5, n</a:t>
                </a:r>
                <a:r>
                  <a:rPr lang="pt-BR" baseline="-25000" dirty="0"/>
                  <a:t>1</a:t>
                </a:r>
                <a:r>
                  <a:rPr lang="pt-BR" dirty="0"/>
                  <a:t> = 9, ...</a:t>
                </a:r>
              </a:p>
              <a:p>
                <a:r>
                  <a:rPr lang="pt-BR" dirty="0"/>
                  <a:t>Tamanho da imagem M x N</a:t>
                </a:r>
              </a:p>
              <a:p>
                <a:pPr lvl="1"/>
                <a:r>
                  <a:rPr lang="pt-BR" dirty="0"/>
                  <a:t>MN = n</a:t>
                </a:r>
                <a:r>
                  <a:rPr lang="pt-BR" baseline="-25000" dirty="0"/>
                  <a:t>0</a:t>
                </a:r>
                <a:r>
                  <a:rPr lang="pt-BR" dirty="0"/>
                  <a:t> + n</a:t>
                </a:r>
                <a:r>
                  <a:rPr lang="pt-BR" baseline="-25000" dirty="0"/>
                  <a:t>1</a:t>
                </a:r>
                <a:r>
                  <a:rPr lang="pt-BR" dirty="0"/>
                  <a:t> + ... + </a:t>
                </a:r>
                <a:r>
                  <a:rPr lang="pt-BR" dirty="0" err="1"/>
                  <a:t>n</a:t>
                </a:r>
                <a:r>
                  <a:rPr lang="pt-BR" baseline="-25000" dirty="0" err="1"/>
                  <a:t>L</a:t>
                </a:r>
                <a:r>
                  <a:rPr lang="pt-BR" baseline="-25000" dirty="0"/>
                  <a:t>-1</a:t>
                </a:r>
              </a:p>
              <a:p>
                <a:pPr lvl="1"/>
                <a:r>
                  <a:rPr lang="pt-BR" dirty="0"/>
                  <a:t>Exemplo anterior: 5 + 9 + ... + 11 = 49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449" t="-13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651" y="2619376"/>
            <a:ext cx="107632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Média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média das intensidades a partir deste histograma?</a:t>
            </a:r>
          </a:p>
          <a:p>
            <a:pPr lvl="1"/>
            <a:r>
              <a:rPr lang="pt-BR" dirty="0"/>
              <a:t>Soma dos valores dos pixels:</a:t>
            </a:r>
          </a:p>
          <a:p>
            <a:pPr lvl="2"/>
            <a:r>
              <a:rPr lang="pt-BR" dirty="0"/>
              <a:t>5x0 + 9x1 + 6x2 +...+ 7x11 = 188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Total de Pixels:</a:t>
            </a:r>
          </a:p>
          <a:p>
            <a:pPr lvl="2"/>
            <a:r>
              <a:rPr lang="pt-BR" dirty="0"/>
              <a:t>5 + 9 + 6 + 4 + ... + 11 = 49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Média = 3.83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5" t="4491" r="8396" b="4191"/>
          <a:stretch>
            <a:fillRect/>
          </a:stretch>
        </p:blipFill>
        <p:spPr bwMode="auto">
          <a:xfrm>
            <a:off x="5327373" y="3585597"/>
            <a:ext cx="3745221" cy="312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06" y="3786190"/>
            <a:ext cx="952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1" name="Grupo 10"/>
          <p:cNvGrpSpPr/>
          <p:nvPr/>
        </p:nvGrpSpPr>
        <p:grpSpPr>
          <a:xfrm>
            <a:off x="1214414" y="5691210"/>
            <a:ext cx="2428892" cy="1023938"/>
            <a:chOff x="1428728" y="5691210"/>
            <a:chExt cx="2428892" cy="1023938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428728" y="5762648"/>
              <a:ext cx="1076325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905120" y="5738842"/>
              <a:ext cx="952500" cy="9525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10" name="Conector reto 9"/>
            <p:cNvCxnSpPr/>
            <p:nvPr/>
          </p:nvCxnSpPr>
          <p:spPr>
            <a:xfrm rot="5400000">
              <a:off x="2143108" y="5976962"/>
              <a:ext cx="1000132" cy="4286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média das intensidades a partir do histograma NORMALIZADO?</a:t>
            </a:r>
          </a:p>
          <a:p>
            <a:pPr lvl="1"/>
            <a:r>
              <a:rPr lang="pt-BR" dirty="0"/>
              <a:t>Temos agora uma distribuição de probabilidades	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545836"/>
              </p:ext>
            </p:extLst>
          </p:nvPr>
        </p:nvGraphicFramePr>
        <p:xfrm>
          <a:off x="2285984" y="3140968"/>
          <a:ext cx="4481072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0.18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0.08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0.00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0.16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0.22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9" t="5317" r="7067" b="5397"/>
          <a:stretch>
            <a:fillRect/>
          </a:stretch>
        </p:blipFill>
        <p:spPr bwMode="auto">
          <a:xfrm>
            <a:off x="2552246" y="3664039"/>
            <a:ext cx="4000528" cy="307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média das intensidades a partir do histograma NORMALIZADO?</a:t>
            </a:r>
          </a:p>
        </p:txBody>
      </p:sp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2643182"/>
            <a:ext cx="30003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878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51358" y="3143248"/>
            <a:ext cx="26193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85720" y="5357826"/>
            <a:ext cx="8629650" cy="131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CaixaDeTexto 9"/>
          <p:cNvSpPr txBox="1"/>
          <p:nvPr/>
        </p:nvSpPr>
        <p:spPr>
          <a:xfrm>
            <a:off x="5857884" y="3643314"/>
            <a:ext cx="250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MN é uma constante, que sai do somatório e, neste caso é eliminada</a:t>
            </a:r>
          </a:p>
        </p:txBody>
      </p:sp>
      <p:cxnSp>
        <p:nvCxnSpPr>
          <p:cNvPr id="12" name="Conector de seta reta 11"/>
          <p:cNvCxnSpPr/>
          <p:nvPr/>
        </p:nvCxnSpPr>
        <p:spPr>
          <a:xfrm rot="5400000" flipH="1" flipV="1">
            <a:off x="6215074" y="4929198"/>
            <a:ext cx="642942" cy="6429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Lembrando que a soma de todas as probabilidades é igual a 1</a:t>
            </a:r>
          </a:p>
          <a:p>
            <a:pPr lvl="1"/>
            <a:endParaRPr lang="pt-BR" dirty="0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271861"/>
            <a:ext cx="870585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08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43768" y="1714488"/>
            <a:ext cx="1333500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Como calcular a variância?</a:t>
            </a:r>
          </a:p>
          <a:p>
            <a:pPr lvl="2"/>
            <a:endParaRPr lang="pt-BR" dirty="0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2357430"/>
            <a:ext cx="33909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15" t="4491" r="8396" b="4191"/>
          <a:stretch>
            <a:fillRect/>
          </a:stretch>
        </p:blipFill>
        <p:spPr bwMode="auto">
          <a:xfrm>
            <a:off x="2500298" y="3571876"/>
            <a:ext cx="3745221" cy="312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5429264"/>
            <a:ext cx="33909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Como calcular a variância?</a:t>
            </a:r>
          </a:p>
          <a:p>
            <a:pPr lvl="1"/>
            <a:r>
              <a:rPr lang="pt-BR" dirty="0"/>
              <a:t>Soma dos pixels menos a média</a:t>
            </a:r>
          </a:p>
          <a:p>
            <a:pPr lvl="2"/>
            <a:r>
              <a:rPr lang="pt-BR" dirty="0"/>
              <a:t>5*(0-µ)</a:t>
            </a:r>
            <a:r>
              <a:rPr lang="pt-BR" baseline="30000" dirty="0"/>
              <a:t>2</a:t>
            </a:r>
            <a:r>
              <a:rPr lang="pt-BR" dirty="0"/>
              <a:t> + 9*(1-µ)</a:t>
            </a:r>
            <a:r>
              <a:rPr lang="pt-BR" baseline="30000" dirty="0"/>
              <a:t>2</a:t>
            </a:r>
            <a:r>
              <a:rPr lang="pt-BR" dirty="0"/>
              <a:t> + ... + 11*(7-µ)</a:t>
            </a:r>
            <a:r>
              <a:rPr lang="pt-BR" baseline="30000" dirty="0"/>
              <a:t>2</a:t>
            </a:r>
            <a:r>
              <a:rPr lang="pt-BR" dirty="0"/>
              <a:t> 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Total de pixels (MN)</a:t>
            </a:r>
          </a:p>
          <a:p>
            <a:pPr lvl="2"/>
            <a:r>
              <a:rPr lang="pt-BR" dirty="0"/>
              <a:t>5 + 9 + 6 + 4 + ... + 11 = 49</a:t>
            </a:r>
          </a:p>
          <a:p>
            <a:pPr lvl="2"/>
            <a:endParaRPr lang="pt-BR" dirty="0"/>
          </a:p>
        </p:txBody>
      </p:sp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5143512"/>
            <a:ext cx="35623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1860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29256" y="3429000"/>
            <a:ext cx="923925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1861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00905" y="2143116"/>
            <a:ext cx="1857375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 se for um histograma NORMALIZADO?</a:t>
            </a:r>
          </a:p>
          <a:p>
            <a:pPr lvl="1"/>
            <a:r>
              <a:rPr lang="pt-BR" dirty="0"/>
              <a:t>Temos agora uma distribuição de probabilidades	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9" t="5317" r="7067" b="5397"/>
          <a:stretch>
            <a:fillRect/>
          </a:stretch>
        </p:blipFill>
        <p:spPr bwMode="auto">
          <a:xfrm>
            <a:off x="2552246" y="3566380"/>
            <a:ext cx="4000528" cy="3077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003639"/>
              </p:ext>
            </p:extLst>
          </p:nvPr>
        </p:nvGraphicFramePr>
        <p:xfrm>
          <a:off x="2285984" y="2983230"/>
          <a:ext cx="4481072" cy="4457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0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01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0.18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0.08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0.00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0.16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1" u="none" strike="noStrike" dirty="0">
                          <a:effectLst/>
                        </a:rPr>
                        <a:t>0.22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Variância a partir do histograma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variância de um histograma NORMALIZADO?	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4594" y="2731350"/>
            <a:ext cx="30003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231416"/>
            <a:ext cx="2619375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884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" y="5530994"/>
            <a:ext cx="9144000" cy="10412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aixaDeTexto 11"/>
          <p:cNvSpPr txBox="1"/>
          <p:nvPr/>
        </p:nvSpPr>
        <p:spPr>
          <a:xfrm>
            <a:off x="6500826" y="3643314"/>
            <a:ext cx="250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MN é uma constante, que sai do somatório e, neste caso é eliminada</a:t>
            </a:r>
          </a:p>
        </p:txBody>
      </p:sp>
      <p:cxnSp>
        <p:nvCxnSpPr>
          <p:cNvPr id="13" name="Conector de seta reta 12"/>
          <p:cNvCxnSpPr/>
          <p:nvPr/>
        </p:nvCxnSpPr>
        <p:spPr>
          <a:xfrm rot="5400000" flipH="1" flipV="1">
            <a:off x="6965173" y="5107793"/>
            <a:ext cx="714380" cy="35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e Classes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Suponha que selecionemos um limiar k</a:t>
            </a:r>
          </a:p>
          <a:p>
            <a:pPr lvl="1"/>
            <a:r>
              <a:rPr lang="pt-BR" dirty="0"/>
              <a:t>0 &lt; k &lt; L-1</a:t>
            </a:r>
          </a:p>
          <a:p>
            <a:pPr lvl="1"/>
            <a:r>
              <a:rPr lang="pt-BR" dirty="0"/>
              <a:t>Separar em duas classes C</a:t>
            </a:r>
            <a:r>
              <a:rPr lang="pt-BR" baseline="-25000" dirty="0"/>
              <a:t>1</a:t>
            </a:r>
            <a:r>
              <a:rPr lang="pt-BR" dirty="0"/>
              <a:t> e C</a:t>
            </a:r>
            <a:r>
              <a:rPr lang="pt-BR" baseline="-25000" dirty="0"/>
              <a:t>2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1</a:t>
            </a:r>
            <a:r>
              <a:rPr lang="pt-BR" dirty="0"/>
              <a:t>: pixels entre [0,k]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2</a:t>
            </a:r>
            <a:r>
              <a:rPr lang="pt-BR" dirty="0"/>
              <a:t>: pixels entre [k+1,L-1]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Limiar k</a:t>
            </a:r>
          </a:p>
          <a:p>
            <a:pPr lvl="1"/>
            <a:r>
              <a:rPr lang="pt-BR" dirty="0"/>
              <a:t>0 &lt; k &lt; L-1</a:t>
            </a:r>
          </a:p>
          <a:p>
            <a:pPr lvl="1"/>
            <a:r>
              <a:rPr lang="pt-BR" dirty="0"/>
              <a:t>Qual a probabilidade P</a:t>
            </a:r>
            <a:r>
              <a:rPr lang="pt-BR" baseline="-25000" dirty="0"/>
              <a:t>1</a:t>
            </a:r>
            <a:r>
              <a:rPr lang="pt-BR" dirty="0"/>
              <a:t> de um pixel pertencer a classe C</a:t>
            </a:r>
            <a:r>
              <a:rPr lang="pt-BR" baseline="-25000" dirty="0"/>
              <a:t>1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1</a:t>
            </a:r>
            <a:r>
              <a:rPr lang="pt-BR" dirty="0"/>
              <a:t>: pixels em [0,k]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Qual a probabilidade P</a:t>
            </a:r>
            <a:r>
              <a:rPr lang="pt-BR" baseline="-25000" dirty="0"/>
              <a:t>2</a:t>
            </a:r>
            <a:r>
              <a:rPr lang="pt-BR" dirty="0"/>
              <a:t> de um pixel pertencer a classe C</a:t>
            </a:r>
            <a:r>
              <a:rPr lang="pt-BR" baseline="-25000" dirty="0"/>
              <a:t>2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2</a:t>
            </a:r>
            <a:r>
              <a:rPr lang="pt-BR" dirty="0"/>
              <a:t>: pixels em [k+1,L-1]</a:t>
            </a:r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29190" y="3233743"/>
            <a:ext cx="1428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29190" y="4891105"/>
            <a:ext cx="262890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da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pt-BR" dirty="0"/>
              <a:t>Limiar k</a:t>
            </a:r>
          </a:p>
          <a:p>
            <a:pPr lvl="1"/>
            <a:r>
              <a:rPr lang="pt-BR" dirty="0"/>
              <a:t>0 &lt; k &lt; L-1</a:t>
            </a:r>
          </a:p>
          <a:p>
            <a:pPr lvl="1"/>
            <a:r>
              <a:rPr lang="pt-BR" dirty="0"/>
              <a:t>Qual a média da intensidade m</a:t>
            </a:r>
            <a:r>
              <a:rPr lang="pt-BR" baseline="-25000" dirty="0"/>
              <a:t>1</a:t>
            </a:r>
            <a:r>
              <a:rPr lang="pt-BR" dirty="0"/>
              <a:t> dos pixels que pertencem a classe C</a:t>
            </a:r>
            <a:r>
              <a:rPr lang="pt-BR" baseline="-25000" dirty="0"/>
              <a:t>1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1</a:t>
            </a:r>
            <a:r>
              <a:rPr lang="pt-BR" dirty="0"/>
              <a:t>: pixels em [0,k]</a:t>
            </a:r>
          </a:p>
          <a:p>
            <a:pPr lvl="1"/>
            <a:r>
              <a:rPr lang="pt-BR" dirty="0"/>
              <a:t>Soma dos valores dos pixels:</a:t>
            </a:r>
          </a:p>
          <a:p>
            <a:pPr lvl="2"/>
            <a:r>
              <a:rPr lang="pt-BR" dirty="0"/>
              <a:t>5x0 + 9x1 + 6x2 + 4x3 = 33</a:t>
            </a:r>
          </a:p>
          <a:p>
            <a:pPr lvl="1"/>
            <a:r>
              <a:rPr lang="pt-BR" dirty="0"/>
              <a:t>Total de Pixels:</a:t>
            </a:r>
          </a:p>
          <a:p>
            <a:pPr lvl="2"/>
            <a:r>
              <a:rPr lang="pt-BR" dirty="0"/>
              <a:t>5 + 9 + 6 + 4  = 24</a:t>
            </a:r>
          </a:p>
          <a:p>
            <a:pPr lvl="1"/>
            <a:r>
              <a:rPr lang="pt-BR" dirty="0"/>
              <a:t>Média</a:t>
            </a:r>
          </a:p>
          <a:p>
            <a:pPr lvl="2"/>
            <a:r>
              <a:rPr lang="pt-BR" dirty="0"/>
              <a:t>1.375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5494056" y="3500438"/>
            <a:ext cx="3649976" cy="3108431"/>
            <a:chOff x="3430702" y="3463817"/>
            <a:chExt cx="3935728" cy="3394183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28" r="6439"/>
            <a:stretch>
              <a:fillRect/>
            </a:stretch>
          </p:blipFill>
          <p:spPr bwMode="auto">
            <a:xfrm>
              <a:off x="3508778" y="3463817"/>
              <a:ext cx="3857652" cy="3394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Elipse 5"/>
            <p:cNvSpPr/>
            <p:nvPr/>
          </p:nvSpPr>
          <p:spPr>
            <a:xfrm>
              <a:off x="3430702" y="4401372"/>
              <a:ext cx="2531576" cy="245662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6238" y="5453086"/>
            <a:ext cx="8391525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da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Qual a média da região C</a:t>
            </a:r>
            <a:r>
              <a:rPr lang="pt-BR" baseline="-25000" dirty="0"/>
              <a:t>1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C</a:t>
            </a:r>
            <a:r>
              <a:rPr lang="pt-BR" baseline="-25000" dirty="0"/>
              <a:t>1</a:t>
            </a:r>
            <a:r>
              <a:rPr lang="pt-BR" dirty="0"/>
              <a:t>: pixels em [0,k]</a:t>
            </a:r>
          </a:p>
          <a:p>
            <a:pPr lvl="1"/>
            <a:endParaRPr lang="pt-BR" dirty="0"/>
          </a:p>
        </p:txBody>
      </p:sp>
      <p:pic>
        <p:nvPicPr>
          <p:cNvPr id="11878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2652722"/>
            <a:ext cx="3000375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CaixaDeTexto 9"/>
          <p:cNvSpPr txBox="1"/>
          <p:nvPr/>
        </p:nvSpPr>
        <p:spPr>
          <a:xfrm>
            <a:off x="5857884" y="3643314"/>
            <a:ext cx="2500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MN é uma constante, que sai do somatório e, neste caso é eliminada</a:t>
            </a:r>
          </a:p>
        </p:txBody>
      </p:sp>
      <p:cxnSp>
        <p:nvCxnSpPr>
          <p:cNvPr id="12" name="Conector de seta reta 11"/>
          <p:cNvCxnSpPr/>
          <p:nvPr/>
        </p:nvCxnSpPr>
        <p:spPr>
          <a:xfrm rot="5400000" flipH="1" flipV="1">
            <a:off x="6215074" y="4929198"/>
            <a:ext cx="642942" cy="64294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5955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285852" y="3081350"/>
            <a:ext cx="21717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Média da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Lembrando que</a:t>
            </a:r>
          </a:p>
          <a:p>
            <a:pPr lvl="1"/>
            <a:endParaRPr lang="pt-BR" dirty="0"/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1571612"/>
            <a:ext cx="13620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697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8125" y="2952771"/>
            <a:ext cx="8667750" cy="347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Média da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Limiar k</a:t>
            </a:r>
          </a:p>
          <a:p>
            <a:pPr lvl="1"/>
            <a:r>
              <a:rPr lang="pt-BR" dirty="0"/>
              <a:t>0 &lt; k &lt; L-1</a:t>
            </a:r>
          </a:p>
          <a:p>
            <a:pPr lvl="1"/>
            <a:r>
              <a:rPr lang="pt-BR" dirty="0"/>
              <a:t>Qual a média da intensidade m</a:t>
            </a:r>
            <a:r>
              <a:rPr lang="pt-BR" baseline="-25000" dirty="0"/>
              <a:t>1</a:t>
            </a:r>
            <a:r>
              <a:rPr lang="pt-BR" dirty="0"/>
              <a:t> dos pixels que pertencem a classe C</a:t>
            </a:r>
            <a:r>
              <a:rPr lang="pt-BR" baseline="-25000" dirty="0"/>
              <a:t>1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1</a:t>
            </a:r>
            <a:r>
              <a:rPr lang="pt-BR" dirty="0"/>
              <a:t>: pixels em [0,k]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Qual a média da intensidade m</a:t>
            </a:r>
            <a:r>
              <a:rPr lang="pt-BR" baseline="-25000" dirty="0"/>
              <a:t>2</a:t>
            </a:r>
            <a:r>
              <a:rPr lang="pt-BR" dirty="0"/>
              <a:t> dos pixels que pertencem a classe C</a:t>
            </a:r>
            <a:r>
              <a:rPr lang="pt-BR" baseline="-25000" dirty="0"/>
              <a:t>2</a:t>
            </a:r>
          </a:p>
          <a:p>
            <a:pPr lvl="2"/>
            <a:r>
              <a:rPr lang="pt-BR" dirty="0"/>
              <a:t>C</a:t>
            </a:r>
            <a:r>
              <a:rPr lang="pt-BR" baseline="-25000" dirty="0"/>
              <a:t>2</a:t>
            </a:r>
            <a:r>
              <a:rPr lang="pt-BR" dirty="0"/>
              <a:t>: pixels em [k+1,L-1]</a:t>
            </a:r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643570" y="3214686"/>
            <a:ext cx="18002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80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4929198"/>
            <a:ext cx="2085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Limiar e média da região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928802"/>
            <a:ext cx="6696090" cy="4660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Otsu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A fim de avaliar a "qualidade" do limiar no nível k, usamos a métrica normalizada adimensional</a:t>
            </a:r>
          </a:p>
          <a:p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Variância Global: </a:t>
            </a:r>
            <a:r>
              <a:rPr lang="el-GR" i="1" dirty="0">
                <a:latin typeface="Times New Roman"/>
                <a:cs typeface="Times New Roman"/>
              </a:rPr>
              <a:t>σ</a:t>
            </a:r>
            <a:r>
              <a:rPr lang="pt-BR" i="1" baseline="30000" dirty="0">
                <a:latin typeface="Times New Roman"/>
                <a:cs typeface="Times New Roman"/>
              </a:rPr>
              <a:t>2</a:t>
            </a:r>
            <a:r>
              <a:rPr lang="pt-BR" i="1" baseline="-25000" dirty="0">
                <a:latin typeface="Times New Roman"/>
                <a:cs typeface="Times New Roman"/>
              </a:rPr>
              <a:t>G </a:t>
            </a:r>
            <a:r>
              <a:rPr lang="pt-BR" dirty="0"/>
              <a:t>(constante)</a:t>
            </a:r>
          </a:p>
          <a:p>
            <a:pPr lvl="1"/>
            <a:r>
              <a:rPr lang="pt-BR" dirty="0"/>
              <a:t>Variância entre classes: </a:t>
            </a:r>
            <a:r>
              <a:rPr lang="el-GR" i="1" dirty="0">
                <a:latin typeface="Times New Roman"/>
                <a:cs typeface="Times New Roman"/>
              </a:rPr>
              <a:t>σ</a:t>
            </a:r>
            <a:r>
              <a:rPr lang="pt-BR" i="1" baseline="30000" dirty="0">
                <a:latin typeface="Times New Roman"/>
                <a:cs typeface="Times New Roman"/>
              </a:rPr>
              <a:t>2</a:t>
            </a:r>
            <a:r>
              <a:rPr lang="pt-BR" i="1" baseline="-25000" dirty="0">
                <a:latin typeface="Times New Roman"/>
                <a:cs typeface="Times New Roman"/>
              </a:rPr>
              <a:t>B </a:t>
            </a:r>
            <a:r>
              <a:rPr lang="pt-BR" i="1" dirty="0">
                <a:latin typeface="Times New Roman"/>
                <a:cs typeface="Times New Roman"/>
              </a:rPr>
              <a:t>(k) </a:t>
            </a:r>
            <a:r>
              <a:rPr lang="pt-BR" dirty="0"/>
              <a:t>(depende de </a:t>
            </a:r>
            <a:r>
              <a:rPr lang="pt-BR" i="1" dirty="0"/>
              <a:t>k</a:t>
            </a:r>
            <a:r>
              <a:rPr lang="pt-BR" dirty="0"/>
              <a:t>)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3635896" y="2893308"/>
                <a:ext cx="2448272" cy="10713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/>
                        </a:rPr>
                        <m:t>𝜂</m:t>
                      </m:r>
                      <m:r>
                        <a:rPr lang="pt-BR" sz="2800" b="0" i="1" smtClean="0">
                          <a:latin typeface="Cambria Math"/>
                        </a:rPr>
                        <m:t>(</m:t>
                      </m:r>
                      <m:r>
                        <a:rPr lang="pt-BR" sz="2800" b="0" i="1" smtClean="0">
                          <a:latin typeface="Cambria Math"/>
                        </a:rPr>
                        <m:t>𝑘</m:t>
                      </m:r>
                      <m:r>
                        <a:rPr lang="pt-BR" sz="2800" b="0" i="1" smtClean="0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pt-BR" sz="28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/>
                                </a:rPr>
                                <m:t>𝐺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896" y="2893308"/>
                <a:ext cx="2448272" cy="10713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Variância “global” e “entre classes”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Variância global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Variância entre classes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/>
              <p:cNvSpPr txBox="1"/>
              <p:nvPr/>
            </p:nvSpPr>
            <p:spPr>
              <a:xfrm>
                <a:off x="971600" y="2205383"/>
                <a:ext cx="2958759" cy="8121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600" b="0" i="1" smtClean="0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pt-BR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16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1600" b="0" i="1" smtClean="0">
                              <a:latin typeface="Cambria Math"/>
                            </a:rPr>
                            <m:t> 1</m:t>
                          </m:r>
                        </m:num>
                        <m:den>
                          <m:r>
                            <a:rPr lang="pt-BR" sz="1600" b="0" i="1" smtClean="0">
                              <a:latin typeface="Cambria Math"/>
                            </a:rPr>
                            <m:t>𝑀𝑁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600" i="1">
                              <a:latin typeface="Cambria Math"/>
                            </a:rPr>
                            <m:t>𝑥</m:t>
                          </m:r>
                          <m:r>
                            <a:rPr lang="pt-BR" sz="1600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pt-BR" sz="1600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16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pt-BR" sz="1600" i="1">
                                  <a:latin typeface="Cambria Math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pt-BR" sz="1600" i="1">
                                  <a:latin typeface="Cambria Math"/>
                                </a:rPr>
                                <m:t>𝑀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ctrlPr>
                                        <a:rPr lang="pt-BR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endChr m:val=""/>
                                          <m:ctrlPr>
                                            <a:rPr lang="pt-B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1600" i="1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  <m:d>
                                            <m:dPr>
                                              <m:ctrlPr>
                                                <a:rPr lang="pt-BR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pt-BR" sz="1600" i="1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  <m:r>
                                                <a:rPr lang="pt-BR" sz="1600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pt-BR" sz="1600" i="1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  <m:r>
                                        <a:rPr lang="pt-BR" sz="1600" i="1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pt-BR" sz="1600" i="1">
                                          <a:latin typeface="Cambria Math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1600" i="1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pt-BR" sz="1600" dirty="0"/>
              </a:p>
            </p:txBody>
          </p:sp>
        </mc:Choice>
        <mc:Fallback xmlns=""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2205383"/>
                <a:ext cx="2958759" cy="8121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/>
          <p:cNvSpPr txBox="1"/>
          <p:nvPr/>
        </p:nvSpPr>
        <p:spPr>
          <a:xfrm>
            <a:off x="12557" y="2288290"/>
            <a:ext cx="10310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Fórmula</a:t>
            </a:r>
          </a:p>
          <a:p>
            <a:pPr algn="ctr"/>
            <a:r>
              <a:rPr lang="pt-BR" dirty="0"/>
              <a:t>geral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/>
              <p:cNvSpPr txBox="1"/>
              <p:nvPr/>
            </p:nvSpPr>
            <p:spPr>
              <a:xfrm>
                <a:off x="4283968" y="2214712"/>
                <a:ext cx="2126480" cy="79348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defPPr>
                  <a:defRPr lang="pt-BR"/>
                </a:defPPr>
                <a:lvl1pPr>
                  <a:defRPr sz="1050" i="1"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1600" b="0" i="1" smtClean="0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lang="pt-BR" sz="16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16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600">
                              <a:latin typeface="Cambria Math"/>
                            </a:rPr>
                            <m:t>𝑖</m:t>
                          </m:r>
                          <m:r>
                            <a:rPr lang="pt-BR" sz="160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pt-BR" sz="1600">
                              <a:latin typeface="Cambria Math"/>
                            </a:rPr>
                            <m:t>𝑖</m:t>
                          </m:r>
                          <m:r>
                            <a:rPr lang="pt-BR" sz="1600">
                              <a:latin typeface="Cambria Math"/>
                            </a:rPr>
                            <m:t>=</m:t>
                          </m:r>
                          <m:r>
                            <a:rPr lang="pt-BR" sz="1600">
                              <a:latin typeface="Cambria Math"/>
                            </a:rPr>
                            <m:t>𝐿</m:t>
                          </m:r>
                          <m:r>
                            <a:rPr lang="pt-BR" sz="1600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160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sz="160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pt-BR" sz="1600">
                                      <a:latin typeface="Cambria Math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16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6" name="CaixaDe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2214712"/>
                <a:ext cx="2126480" cy="793487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eta para a direita 6"/>
          <p:cNvSpPr/>
          <p:nvPr/>
        </p:nvSpPr>
        <p:spPr>
          <a:xfrm>
            <a:off x="3851920" y="2468785"/>
            <a:ext cx="324000" cy="285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/>
              <p:cNvSpPr txBox="1"/>
              <p:nvPr/>
            </p:nvSpPr>
            <p:spPr>
              <a:xfrm>
                <a:off x="6830882" y="2214712"/>
                <a:ext cx="2296077" cy="793487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>
                <a:defPPr>
                  <a:defRPr lang="pt-BR"/>
                </a:defPPr>
                <a:lvl1pPr>
                  <a:defRPr sz="1050" i="1"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1600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pt-BR" sz="1600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sz="16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1600">
                              <a:latin typeface="Cambria Math"/>
                            </a:rPr>
                            <m:t>𝑖</m:t>
                          </m:r>
                          <m:r>
                            <a:rPr lang="pt-BR" sz="160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pt-BR" sz="1600">
                              <a:latin typeface="Cambria Math"/>
                            </a:rPr>
                            <m:t>𝑖</m:t>
                          </m:r>
                          <m:r>
                            <a:rPr lang="pt-BR" sz="1600">
                              <a:latin typeface="Cambria Math"/>
                            </a:rPr>
                            <m:t>=</m:t>
                          </m:r>
                          <m:r>
                            <a:rPr lang="pt-BR" sz="1600">
                              <a:latin typeface="Cambria Math"/>
                            </a:rPr>
                            <m:t>𝐿</m:t>
                          </m:r>
                          <m:r>
                            <a:rPr lang="pt-BR" sz="1600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60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sz="160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pt-B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600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sz="160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pt-B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1600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pt-BR" sz="1600" b="0" i="1" smtClean="0">
                                          <a:latin typeface="Cambria Math"/>
                                        </a:rPr>
                                        <m:t>𝑔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pt-BR" sz="16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1600">
                              <a:latin typeface="Cambria Math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pt-BR" sz="1100" dirty="0"/>
              </a:p>
            </p:txBody>
          </p:sp>
        </mc:Choice>
        <mc:Fallback xmlns="">
          <p:sp>
            <p:nvSpPr>
              <p:cNvPr id="8" name="CaixaDe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882" y="2214712"/>
                <a:ext cx="2296077" cy="79348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eta para a direita 8"/>
          <p:cNvSpPr/>
          <p:nvPr/>
        </p:nvSpPr>
        <p:spPr>
          <a:xfrm>
            <a:off x="6471826" y="2468785"/>
            <a:ext cx="324000" cy="2853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ângulo 9"/>
              <p:cNvSpPr/>
              <p:nvPr/>
            </p:nvSpPr>
            <p:spPr>
              <a:xfrm>
                <a:off x="3707904" y="1684270"/>
                <a:ext cx="504304" cy="376578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𝐺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0" name="Retângulo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1684270"/>
                <a:ext cx="504304" cy="376578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tângulo 10"/>
              <p:cNvSpPr/>
              <p:nvPr/>
            </p:nvSpPr>
            <p:spPr>
              <a:xfrm>
                <a:off x="4881845" y="3271845"/>
                <a:ext cx="513922" cy="37317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" name="Retângulo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1845" y="3271845"/>
                <a:ext cx="513922" cy="37317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/>
              <p:cNvSpPr txBox="1"/>
              <p:nvPr/>
            </p:nvSpPr>
            <p:spPr>
              <a:xfrm>
                <a:off x="1043608" y="3831613"/>
                <a:ext cx="4032448" cy="4663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2" name="CaixaDe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831613"/>
                <a:ext cx="4032448" cy="466346"/>
              </a:xfrm>
              <a:prstGeom prst="rect">
                <a:avLst/>
              </a:prstGeom>
              <a:blipFill rotWithShape="1">
                <a:blip r:embed="rId8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ixaDeTexto 12"/>
              <p:cNvSpPr txBox="1"/>
              <p:nvPr/>
            </p:nvSpPr>
            <p:spPr>
              <a:xfrm>
                <a:off x="971600" y="4583381"/>
                <a:ext cx="2422651" cy="373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b="0" i="1" smtClean="0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𝐵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pt-BR" b="0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pt-BR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b="0" dirty="0"/>
              </a:p>
            </p:txBody>
          </p:sp>
        </mc:Choice>
        <mc:Fallback xmlns="">
          <p:sp>
            <p:nvSpPr>
              <p:cNvPr id="13" name="CaixaDeTex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4583381"/>
                <a:ext cx="2422651" cy="373179"/>
              </a:xfrm>
              <a:prstGeom prst="rect">
                <a:avLst/>
              </a:prstGeom>
              <a:blipFill rotWithShape="1">
                <a:blip r:embed="rId9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/>
              <p:cNvSpPr txBox="1"/>
              <p:nvPr/>
            </p:nvSpPr>
            <p:spPr>
              <a:xfrm>
                <a:off x="3391827" y="4382749"/>
                <a:ext cx="1880900" cy="7744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/>
                                    </a:rPr>
                                    <m:t> −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𝑚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/>
                            </a:rPr>
                            <m:t>(1−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pt-BR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4" name="CaixaDeTexto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1827" y="4382749"/>
                <a:ext cx="1880900" cy="774443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ixaDeTexto 14"/>
              <p:cNvSpPr txBox="1"/>
              <p:nvPr/>
            </p:nvSpPr>
            <p:spPr>
              <a:xfrm>
                <a:off x="6166723" y="4352100"/>
                <a:ext cx="1745413" cy="8771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𝑚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pt-BR" b="0" i="1" smtClean="0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  <m:sSub>
                            <m:sSub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5" name="CaixaDeTexto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6723" y="4352100"/>
                <a:ext cx="1745413" cy="8771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CaixaDeTexto 15"/>
          <p:cNvSpPr txBox="1"/>
          <p:nvPr/>
        </p:nvSpPr>
        <p:spPr>
          <a:xfrm>
            <a:off x="6166723" y="3984861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Média acumulada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/>
              <p:cNvSpPr txBox="1"/>
              <p:nvPr/>
            </p:nvSpPr>
            <p:spPr>
              <a:xfrm>
                <a:off x="1130954" y="5516672"/>
                <a:ext cx="2936990" cy="108068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pt-BR" sz="1600" dirty="0"/>
                  <a:t>Quanto maior a distância entre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pt-BR" sz="16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i="1"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pt-BR" sz="1600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pt-BR" sz="1600" dirty="0"/>
                  <a:t>, maior será o valor da variância entre classes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16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pt-BR" sz="1600" i="1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sz="1600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endParaRPr lang="pt-BR" sz="1600" dirty="0"/>
              </a:p>
            </p:txBody>
          </p:sp>
        </mc:Choice>
        <mc:Fallback xmlns="">
          <p:sp>
            <p:nvSpPr>
              <p:cNvPr id="18" name="CaixaDeTexto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954" y="5516672"/>
                <a:ext cx="2936990" cy="1080680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de seta reta 19"/>
          <p:cNvCxnSpPr/>
          <p:nvPr/>
        </p:nvCxnSpPr>
        <p:spPr>
          <a:xfrm>
            <a:off x="2599449" y="4956560"/>
            <a:ext cx="0" cy="416656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cxnSpLocks/>
          </p:cNvCxnSpPr>
          <p:nvPr/>
        </p:nvCxnSpPr>
        <p:spPr>
          <a:xfrm>
            <a:off x="4932040" y="4653136"/>
            <a:ext cx="1234683" cy="1375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583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Otsu</a:t>
            </a:r>
            <a:r>
              <a:rPr lang="pt-BR" dirty="0"/>
              <a:t> - </a:t>
            </a:r>
            <a:r>
              <a:rPr lang="pt-BR" dirty="0" err="1"/>
              <a:t>Thresholding</a:t>
            </a:r>
            <a:r>
              <a:rPr lang="pt-BR" dirty="0"/>
              <a:t> Global Ótimo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pt-BR" dirty="0"/>
                  <a:t>Queremos separação máxima entre classes, isso implica em maximizar</a:t>
                </a:r>
              </a:p>
              <a:p>
                <a:pPr lvl="1"/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dirty="0"/>
                  <a:t>Como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sz="3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sz="32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pt-BR" sz="3200" i="1">
                            <a:latin typeface="Cambria Math"/>
                          </a:rPr>
                          <m:t>𝐺</m:t>
                        </m:r>
                      </m:sub>
                      <m:sup>
                        <m:r>
                          <a:rPr lang="pt-BR" sz="3200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pt-BR" dirty="0"/>
                  <a:t> é constante. Podemos maximizar apenas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pt-BR" i="1">
                            <a:latin typeface="Cambria Math"/>
                          </a:rPr>
                          <m:t>𝐵</m:t>
                        </m:r>
                      </m:sub>
                      <m:sup>
                        <m:r>
                          <a:rPr lang="pt-BR" i="1"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pt-BR" b="0" i="1" smtClean="0">
                        <a:latin typeface="Cambria Math"/>
                      </a:rPr>
                      <m:t>(</m:t>
                    </m:r>
                    <m:r>
                      <a:rPr lang="pt-BR" b="0" i="1" smtClean="0">
                        <a:latin typeface="Cambria Math"/>
                      </a:rPr>
                      <m:t>𝑘</m:t>
                    </m:r>
                    <m:r>
                      <a:rPr lang="pt-BR" b="0" i="1" smtClean="0">
                        <a:latin typeface="Cambria Math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Para achar </a:t>
                </a:r>
                <a:r>
                  <a:rPr lang="pt-BR" i="1" dirty="0"/>
                  <a:t>k</a:t>
                </a:r>
                <a:r>
                  <a:rPr lang="pt-BR" dirty="0"/>
                  <a:t>, basta avaliar a expressão acima para todo inteiro </a:t>
                </a:r>
                <a:r>
                  <a:rPr lang="pt-BR" i="1" dirty="0"/>
                  <a:t>k</a:t>
                </a:r>
                <a:r>
                  <a:rPr lang="pt-BR" dirty="0"/>
                  <a:t>, e selecionar o valor de </a:t>
                </a:r>
                <a:r>
                  <a:rPr lang="pt-BR" i="1" dirty="0"/>
                  <a:t>k</a:t>
                </a:r>
                <a:r>
                  <a:rPr lang="pt-BR" dirty="0"/>
                  <a:t> que maximiza a expressão</a:t>
                </a:r>
              </a:p>
              <a:p>
                <a:pPr lvl="1"/>
                <a:r>
                  <a:rPr lang="pt-BR" dirty="0"/>
                  <a:t>O </a:t>
                </a:r>
                <a:r>
                  <a:rPr lang="pt-BR" dirty="0" err="1"/>
                  <a:t>thresholding</a:t>
                </a:r>
                <a:r>
                  <a:rPr lang="pt-BR" dirty="0"/>
                  <a:t> é feito usando o valor </a:t>
                </a:r>
                <a:r>
                  <a:rPr lang="pt-BR" i="1" dirty="0"/>
                  <a:t>k</a:t>
                </a: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1">
                <a:blip r:embed="rId3"/>
                <a:stretch>
                  <a:fillRect l="-374" t="-2985" r="-8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3491880" y="2356632"/>
                <a:ext cx="2448272" cy="1071384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/>
                        </a:rPr>
                        <m:t>𝜂</m:t>
                      </m:r>
                      <m:r>
                        <a:rPr lang="pt-BR" sz="2800" b="0" i="1" smtClean="0">
                          <a:latin typeface="Cambria Math"/>
                        </a:rPr>
                        <m:t>(</m:t>
                      </m:r>
                      <m:r>
                        <a:rPr lang="pt-BR" sz="2800" b="0" i="1" smtClean="0">
                          <a:latin typeface="Cambria Math"/>
                        </a:rPr>
                        <m:t>𝑘</m:t>
                      </m:r>
                      <m:r>
                        <a:rPr lang="pt-BR" sz="2800" b="0" i="1" smtClean="0">
                          <a:latin typeface="Cambria Math"/>
                        </a:rPr>
                        <m:t>)= </m:t>
                      </m:r>
                      <m:f>
                        <m:f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pt-BR" sz="2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pt-BR" sz="2800" b="0" i="1" smtClean="0">
                              <a:latin typeface="Cambria Math"/>
                            </a:rPr>
                            <m:t>𝑘</m:t>
                          </m:r>
                          <m:r>
                            <a:rPr lang="pt-BR" sz="28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Sup>
                            <m:sSubSup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8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/>
                                </a:rPr>
                                <m:t>𝐺</m:t>
                              </m:r>
                            </m:sub>
                            <m:sup>
                              <m:r>
                                <a:rPr lang="pt-BR" sz="28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1880" y="2356632"/>
                <a:ext cx="2448272" cy="107138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 de </a:t>
            </a:r>
            <a:r>
              <a:rPr lang="pt-BR" dirty="0" err="1"/>
              <a:t>Otsu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Passos</a:t>
            </a:r>
          </a:p>
          <a:p>
            <a:pPr lvl="1"/>
            <a:r>
              <a:rPr lang="pt-BR" sz="2200" dirty="0"/>
              <a:t>Calcular o histograma normalizado da imagem de entrada (</a:t>
            </a:r>
            <a:r>
              <a:rPr lang="pt-BR" sz="2200" dirty="0" err="1"/>
              <a:t>pi</a:t>
            </a:r>
            <a:r>
              <a:rPr lang="pt-BR" sz="2200" dirty="0"/>
              <a:t>), i=1,2,3,…L-1</a:t>
            </a:r>
          </a:p>
          <a:p>
            <a:pPr lvl="1"/>
            <a:r>
              <a:rPr lang="pt-BR" sz="2200" dirty="0"/>
              <a:t>Calcular P1(k) e P2(k), k = 0,1,2 …L-1</a:t>
            </a:r>
          </a:p>
          <a:p>
            <a:pPr lvl="1"/>
            <a:r>
              <a:rPr lang="pt-BR" sz="2200" dirty="0"/>
              <a:t>Calcular µ</a:t>
            </a:r>
            <a:r>
              <a:rPr lang="pt-BR" sz="2200" baseline="-25000" dirty="0"/>
              <a:t>1</a:t>
            </a:r>
            <a:r>
              <a:rPr lang="pt-BR" sz="2200" dirty="0"/>
              <a:t> e µ</a:t>
            </a:r>
            <a:r>
              <a:rPr lang="pt-BR" sz="2200" baseline="-25000" dirty="0"/>
              <a:t>2</a:t>
            </a:r>
            <a:r>
              <a:rPr lang="pt-BR" sz="2200" dirty="0"/>
              <a:t>, k =0,1,2,…L-1</a:t>
            </a:r>
          </a:p>
          <a:p>
            <a:pPr lvl="1"/>
            <a:r>
              <a:rPr lang="pt-BR" sz="2200" dirty="0"/>
              <a:t>Calcular µ</a:t>
            </a:r>
            <a:r>
              <a:rPr lang="pt-BR" sz="2200" baseline="-25000" dirty="0"/>
              <a:t>G</a:t>
            </a:r>
          </a:p>
          <a:p>
            <a:pPr lvl="1"/>
            <a:r>
              <a:rPr lang="pt-BR" sz="2200" dirty="0"/>
              <a:t>Calcular a variância entre classes            , k = 0,1,2,…L-1</a:t>
            </a:r>
          </a:p>
          <a:p>
            <a:pPr lvl="1"/>
            <a:r>
              <a:rPr lang="pt-BR" sz="2200" dirty="0"/>
              <a:t>Obter o limiar </a:t>
            </a:r>
            <a:r>
              <a:rPr lang="pt-BR" sz="2200" dirty="0" err="1"/>
              <a:t>Otsu</a:t>
            </a:r>
            <a:r>
              <a:rPr lang="pt-BR" sz="2200" dirty="0"/>
              <a:t> </a:t>
            </a:r>
            <a:r>
              <a:rPr lang="pt-BR" sz="2200" i="1" dirty="0"/>
              <a:t>k</a:t>
            </a:r>
            <a:r>
              <a:rPr lang="pt-BR" sz="2200" dirty="0"/>
              <a:t> (se o </a:t>
            </a:r>
            <a:r>
              <a:rPr lang="pt-BR" sz="2200" i="1" dirty="0"/>
              <a:t>k </a:t>
            </a:r>
            <a:r>
              <a:rPr lang="pt-BR" sz="2200" dirty="0"/>
              <a:t>não for único, calcular a média dos candidatos)</a:t>
            </a:r>
          </a:p>
          <a:p>
            <a:pPr lvl="1"/>
            <a:r>
              <a:rPr lang="pt-BR" sz="2200" dirty="0"/>
              <a:t>Calcular a variância geral (      )</a:t>
            </a:r>
          </a:p>
          <a:p>
            <a:pPr lvl="1"/>
            <a:r>
              <a:rPr lang="pt-BR" sz="2200" dirty="0"/>
              <a:t>Avaliar a </a:t>
            </a:r>
            <a:r>
              <a:rPr lang="pt-BR" sz="2200" dirty="0" err="1"/>
              <a:t>separabilidade</a:t>
            </a:r>
            <a:r>
              <a:rPr lang="pt-BR" sz="2200" dirty="0"/>
              <a:t> obtida com a </a:t>
            </a:r>
            <a:r>
              <a:rPr lang="pt-BR" sz="2200" dirty="0" err="1"/>
              <a:t>limiarização</a:t>
            </a:r>
            <a:r>
              <a:rPr lang="pt-BR" sz="2200" dirty="0"/>
              <a:t> </a:t>
            </a:r>
          </a:p>
          <a:p>
            <a:pPr lvl="1"/>
            <a:endParaRPr lang="en-US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516057"/>
              </p:ext>
            </p:extLst>
          </p:nvPr>
        </p:nvGraphicFramePr>
        <p:xfrm>
          <a:off x="5102148" y="4077072"/>
          <a:ext cx="84613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406224" imgH="228501" progId="Equation.3">
                  <p:embed/>
                </p:oleObj>
              </mc:Choice>
              <mc:Fallback>
                <p:oleObj name="Equação" r:id="rId3" imgW="406224" imgH="228501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2148" y="4077072"/>
                        <a:ext cx="84613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385195"/>
              </p:ext>
            </p:extLst>
          </p:nvPr>
        </p:nvGraphicFramePr>
        <p:xfrm>
          <a:off x="4464717" y="5252135"/>
          <a:ext cx="44926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5" imgW="215713" imgH="241091" progId="Equation.3">
                  <p:embed/>
                </p:oleObj>
              </mc:Choice>
              <mc:Fallback>
                <p:oleObj name="Equação" r:id="rId5" imgW="215713" imgH="241091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717" y="5252135"/>
                        <a:ext cx="44926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972966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  <a:endParaRPr lang="en-US" dirty="0"/>
          </a:p>
        </p:txBody>
      </p:sp>
      <p:pic>
        <p:nvPicPr>
          <p:cNvPr id="4" name="Espaço Reservado para Conteúdo 3" descr="fig10-39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547664" y="1556792"/>
            <a:ext cx="5820156" cy="4219956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>
          <a:xfrm>
            <a:off x="1691680" y="5877272"/>
            <a:ext cx="6120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dirty="0"/>
              <a:t>T obtido pelo método adaptativo básico=169</a:t>
            </a:r>
            <a:br>
              <a:rPr lang="pt-BR" dirty="0"/>
            </a:br>
            <a:r>
              <a:rPr lang="pt-BR" dirty="0"/>
              <a:t>T obtido pelo </a:t>
            </a:r>
            <a:r>
              <a:rPr lang="pt-BR" dirty="0" err="1"/>
              <a:t>Otsu</a:t>
            </a:r>
            <a:r>
              <a:rPr lang="pt-BR" dirty="0"/>
              <a:t> =181 ; </a:t>
            </a:r>
            <a:r>
              <a:rPr lang="el-GR" dirty="0"/>
              <a:t>η</a:t>
            </a:r>
            <a:r>
              <a:rPr lang="pt-BR" dirty="0"/>
              <a:t> =0.467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293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507" y="1700808"/>
            <a:ext cx="3704385" cy="238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233269"/>
            <a:ext cx="3785503" cy="249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4644008" y="6237312"/>
            <a:ext cx="4499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Slide </a:t>
            </a:r>
            <a:r>
              <a:rPr lang="en-US" dirty="0" err="1"/>
              <a:t>adaptado</a:t>
            </a:r>
            <a:r>
              <a:rPr lang="en-US" dirty="0"/>
              <a:t> do </a:t>
            </a:r>
            <a:r>
              <a:rPr lang="en-US" dirty="0" err="1"/>
              <a:t>grupo</a:t>
            </a:r>
            <a:r>
              <a:rPr lang="en-US" dirty="0"/>
              <a:t> IMAGO - UFPR</a:t>
            </a: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9213" y="1988840"/>
            <a:ext cx="4249018" cy="3825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98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Melhorando o </a:t>
            </a:r>
            <a:r>
              <a:rPr lang="pt-BR" dirty="0" err="1"/>
              <a:t>Thresholding</a:t>
            </a:r>
            <a:r>
              <a:rPr lang="pt-BR" dirty="0"/>
              <a:t> Global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Ruído </a:t>
            </a:r>
            <a:r>
              <a:rPr lang="pt-BR" sz="2800" dirty="0"/>
              <a:t>pode tornar a </a:t>
            </a:r>
            <a:r>
              <a:rPr lang="pt-BR" sz="2800" dirty="0" err="1"/>
              <a:t>limiarização</a:t>
            </a:r>
            <a:r>
              <a:rPr lang="pt-BR" sz="2800" dirty="0"/>
              <a:t> um problema insolúvel</a:t>
            </a:r>
          </a:p>
          <a:p>
            <a:pPr lvl="1"/>
            <a:r>
              <a:rPr lang="pt-BR" sz="2400" dirty="0"/>
              <a:t>Suavizar a imagem antes de executar o </a:t>
            </a:r>
            <a:r>
              <a:rPr lang="pt-BR" sz="2400" dirty="0" err="1"/>
              <a:t>thresholding</a:t>
            </a:r>
            <a:r>
              <a:rPr lang="pt-BR" dirty="0"/>
              <a:t>.</a:t>
            </a:r>
          </a:p>
          <a:p>
            <a:endParaRPr lang="en-US" dirty="0"/>
          </a:p>
        </p:txBody>
      </p:sp>
      <p:pic>
        <p:nvPicPr>
          <p:cNvPr id="4" name="Espaço Reservado para Conteúdo 3" descr="fig10-4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1907704" y="3092603"/>
            <a:ext cx="5659000" cy="3576757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577078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Multiplos</a:t>
            </a:r>
            <a:r>
              <a:rPr lang="en-US" dirty="0"/>
              <a:t> Thresholds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método de </a:t>
            </a:r>
            <a:r>
              <a:rPr lang="pt-BR" dirty="0" err="1"/>
              <a:t>Otsu</a:t>
            </a:r>
            <a:r>
              <a:rPr lang="pt-BR" dirty="0"/>
              <a:t> pode ser estendido para múltiplos </a:t>
            </a:r>
            <a:r>
              <a:rPr lang="pt-BR" dirty="0" err="1"/>
              <a:t>thresholds</a:t>
            </a:r>
            <a:endParaRPr lang="pt-BR" dirty="0"/>
          </a:p>
          <a:p>
            <a:pPr lvl="1"/>
            <a:r>
              <a:rPr lang="pt-BR" dirty="0"/>
              <a:t>O resultado começa a perder o significado à medida que aumenta o número de classes</a:t>
            </a:r>
            <a:endParaRPr lang="en-US" dirty="0"/>
          </a:p>
        </p:txBody>
      </p:sp>
      <p:pic>
        <p:nvPicPr>
          <p:cNvPr id="4" name="Imagem 6" descr="fig10-45.jpg"/>
          <p:cNvPicPr>
            <a:picLocks noChangeAspect="1"/>
          </p:cNvPicPr>
          <p:nvPr/>
        </p:nvPicPr>
        <p:blipFill rotWithShape="1">
          <a:blip r:embed="rId3" cstate="print"/>
          <a:srcRect t="5546"/>
          <a:stretch/>
        </p:blipFill>
        <p:spPr bwMode="auto">
          <a:xfrm>
            <a:off x="683568" y="3457587"/>
            <a:ext cx="7858125" cy="3355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53009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Múltiplos </a:t>
            </a:r>
            <a:r>
              <a:rPr lang="pt-BR" dirty="0" err="1"/>
              <a:t>Thresholds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Na prática, a </a:t>
            </a:r>
            <a:r>
              <a:rPr lang="pt-BR" dirty="0" err="1"/>
              <a:t>limiarização</a:t>
            </a:r>
            <a:r>
              <a:rPr lang="pt-BR" dirty="0"/>
              <a:t> global múltipla é usada quando se acredita que problema possa ser resolvido com 2 limiares</a:t>
            </a:r>
          </a:p>
          <a:p>
            <a:pPr lvl="1"/>
            <a:r>
              <a:rPr lang="pt-BR" dirty="0"/>
              <a:t>Em geral, problemas que requerem mais de 2 limiares são resolvidos usando mais informações além da intensidade do pixel ou outros métodos de segmentação mais apropriados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4174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Problema</a:t>
            </a:r>
          </a:p>
          <a:p>
            <a:pPr lvl="1"/>
            <a:r>
              <a:rPr lang="pt-BR" dirty="0"/>
              <a:t>Ruído ou iluminação não uniforme podem comprometer o desempenho dos algoritmos de </a:t>
            </a:r>
            <a:r>
              <a:rPr lang="pt-BR" dirty="0" err="1"/>
              <a:t>limiarização</a:t>
            </a:r>
            <a:endParaRPr lang="pt-BR" dirty="0"/>
          </a:p>
          <a:p>
            <a:pPr lvl="1"/>
            <a:r>
              <a:rPr lang="pt-BR" dirty="0"/>
              <a:t>A suavização pode melhorar os resultados, mas frequentemente não é efetivo</a:t>
            </a:r>
          </a:p>
          <a:p>
            <a:r>
              <a:rPr lang="pt-BR" dirty="0"/>
              <a:t>Solução 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 </a:t>
            </a:r>
            <a:r>
              <a:rPr lang="pt-BR" dirty="0" err="1"/>
              <a:t>thresholding</a:t>
            </a:r>
            <a:r>
              <a:rPr lang="pt-BR" dirty="0"/>
              <a:t> variável</a:t>
            </a:r>
          </a:p>
          <a:p>
            <a:pPr lvl="1"/>
            <a:r>
              <a:rPr lang="pt-BR" dirty="0" err="1"/>
              <a:t>Particionamento</a:t>
            </a:r>
            <a:r>
              <a:rPr lang="pt-BR" dirty="0"/>
              <a:t> da imagem</a:t>
            </a:r>
          </a:p>
          <a:p>
            <a:pPr lvl="1"/>
            <a:r>
              <a:rPr lang="pt-BR" dirty="0"/>
              <a:t>Uso de propriedades locais da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745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Particionamento</a:t>
            </a:r>
            <a:r>
              <a:rPr lang="pt-BR" dirty="0"/>
              <a:t> da imagem</a:t>
            </a:r>
          </a:p>
          <a:p>
            <a:pPr lvl="1"/>
            <a:r>
              <a:rPr lang="pt-BR" dirty="0"/>
              <a:t>É utilizada para compensar problemas na iluminação ou na </a:t>
            </a:r>
            <a:r>
              <a:rPr lang="pt-BR" dirty="0" err="1"/>
              <a:t>reflectância</a:t>
            </a:r>
            <a:endParaRPr lang="pt-BR" dirty="0"/>
          </a:p>
          <a:p>
            <a:pPr lvl="1"/>
            <a:r>
              <a:rPr lang="pt-BR" dirty="0"/>
              <a:t>Subdivide a imagem em retângulos que não se sobrepõem</a:t>
            </a:r>
          </a:p>
          <a:p>
            <a:pPr lvl="2"/>
            <a:r>
              <a:rPr lang="pt-BR" dirty="0" err="1"/>
              <a:t>Otsu</a:t>
            </a:r>
            <a:r>
              <a:rPr lang="pt-BR" dirty="0"/>
              <a:t> é aplicado a cada retângulo</a:t>
            </a:r>
          </a:p>
          <a:p>
            <a:pPr lvl="1"/>
            <a:r>
              <a:rPr lang="pt-BR" dirty="0"/>
              <a:t>Os retângulos devem ser pequenos o suficiente para que a iluminação em cada um seja aproximadamente uniforme</a:t>
            </a:r>
          </a:p>
        </p:txBody>
      </p:sp>
    </p:spTree>
    <p:extLst>
      <p:ext uri="{BB962C8B-B14F-4D97-AF65-F5344CB8AC3E}">
        <p14:creationId xmlns:p14="http://schemas.microsoft.com/office/powerpoint/2010/main" val="29077152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Particionamento</a:t>
            </a:r>
            <a:r>
              <a:rPr lang="pt-BR" dirty="0"/>
              <a:t> da imagem</a:t>
            </a:r>
          </a:p>
        </p:txBody>
      </p:sp>
      <p:pic>
        <p:nvPicPr>
          <p:cNvPr id="4" name="Espaço Reservado para Conteúdo 3" descr="fig10-46.jpg"/>
          <p:cNvPicPr>
            <a:picLocks noChangeAspect="1"/>
          </p:cNvPicPr>
          <p:nvPr/>
        </p:nvPicPr>
        <p:blipFill rotWithShape="1">
          <a:blip r:embed="rId3" cstate="print"/>
          <a:srcRect t="4489" b="4574"/>
          <a:stretch/>
        </p:blipFill>
        <p:spPr bwMode="auto">
          <a:xfrm>
            <a:off x="1259632" y="2204864"/>
            <a:ext cx="6786562" cy="457200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47227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Particionamento</a:t>
            </a:r>
            <a:r>
              <a:rPr lang="pt-BR" dirty="0"/>
              <a:t> da imagem</a:t>
            </a:r>
          </a:p>
          <a:p>
            <a:pPr lvl="1"/>
            <a:r>
              <a:rPr lang="pt-BR" dirty="0"/>
              <a:t>Subdivisão de imagem funciona bem nos casos em que os objetos de interesse e o fundo ocupam regiões de tamanhos aproximadamente iguais</a:t>
            </a:r>
          </a:p>
          <a:p>
            <a:pPr lvl="1"/>
            <a:r>
              <a:rPr lang="pt-BR" dirty="0"/>
              <a:t>Quando isto não acontece, o método falha porque uma subdivisão pode conter apenas objeto ou apenas fundo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4606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propriedades locais</a:t>
            </a:r>
          </a:p>
          <a:p>
            <a:pPr lvl="1"/>
            <a:r>
              <a:rPr lang="pt-BR" dirty="0"/>
              <a:t>Para cada pixel </a:t>
            </a:r>
            <a:r>
              <a:rPr lang="pt-BR" i="1" dirty="0"/>
              <a:t>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r>
              <a:rPr lang="pt-BR" dirty="0"/>
              <a:t> e uma vizinhança </a:t>
            </a:r>
            <a:r>
              <a:rPr lang="pt-BR" i="1" dirty="0" err="1"/>
              <a:t>S</a:t>
            </a:r>
            <a:r>
              <a:rPr lang="pt-BR" i="1" baseline="-25000" dirty="0" err="1"/>
              <a:t>xy</a:t>
            </a:r>
            <a:r>
              <a:rPr lang="pt-BR" dirty="0"/>
              <a:t>, calcula  a media </a:t>
            </a:r>
            <a:r>
              <a:rPr lang="pt-BR" i="1" dirty="0" err="1"/>
              <a:t>m</a:t>
            </a:r>
            <a:r>
              <a:rPr lang="pt-BR" i="1" baseline="-25000" dirty="0" err="1"/>
              <a:t>xy</a:t>
            </a:r>
            <a:r>
              <a:rPr lang="pt-BR" dirty="0"/>
              <a:t> e o desvio padrão </a:t>
            </a:r>
            <a:r>
              <a:rPr lang="pt-BR" i="1" dirty="0" err="1"/>
              <a:t>σ</a:t>
            </a:r>
            <a:r>
              <a:rPr lang="pt-BR" i="1" baseline="-25000" dirty="0" err="1"/>
              <a:t>xy</a:t>
            </a:r>
            <a:endParaRPr lang="pt-BR" dirty="0"/>
          </a:p>
          <a:p>
            <a:pPr lvl="1"/>
            <a:r>
              <a:rPr lang="pt-BR" dirty="0" err="1"/>
              <a:t>Threshold</a:t>
            </a:r>
            <a:endParaRPr lang="pt-BR" dirty="0"/>
          </a:p>
          <a:p>
            <a:pPr lvl="2"/>
            <a:r>
              <a:rPr lang="pt-BR" i="1" dirty="0" err="1"/>
              <a:t>T</a:t>
            </a:r>
            <a:r>
              <a:rPr lang="pt-BR" i="1" baseline="-25000" dirty="0" err="1"/>
              <a:t>xy</a:t>
            </a:r>
            <a:r>
              <a:rPr lang="pt-BR" i="1" dirty="0"/>
              <a:t> = </a:t>
            </a:r>
            <a:r>
              <a:rPr lang="pt-BR" i="1" dirty="0" err="1"/>
              <a:t>a.σ</a:t>
            </a:r>
            <a:r>
              <a:rPr lang="pt-BR" i="1" baseline="-25000" dirty="0" err="1"/>
              <a:t>xy</a:t>
            </a:r>
            <a:r>
              <a:rPr lang="pt-BR" i="1" dirty="0"/>
              <a:t> + </a:t>
            </a:r>
            <a:r>
              <a:rPr lang="pt-BR" i="1" dirty="0" err="1"/>
              <a:t>b.m</a:t>
            </a:r>
            <a:r>
              <a:rPr lang="pt-BR" i="1" baseline="-25000" dirty="0" err="1"/>
              <a:t>xy</a:t>
            </a:r>
            <a:endParaRPr lang="pt-BR" i="1" baseline="-25000" dirty="0"/>
          </a:p>
          <a:p>
            <a:pPr lvl="2"/>
            <a:r>
              <a:rPr lang="pt-BR" dirty="0"/>
              <a:t>ou </a:t>
            </a:r>
          </a:p>
          <a:p>
            <a:pPr lvl="2"/>
            <a:r>
              <a:rPr lang="pt-BR" i="1" dirty="0" err="1"/>
              <a:t>T</a:t>
            </a:r>
            <a:r>
              <a:rPr lang="pt-BR" i="1" baseline="-25000" dirty="0" err="1"/>
              <a:t>xy</a:t>
            </a:r>
            <a:r>
              <a:rPr lang="pt-BR" i="1" dirty="0"/>
              <a:t> = </a:t>
            </a:r>
            <a:r>
              <a:rPr lang="pt-BR" i="1" dirty="0" err="1"/>
              <a:t>a.σ</a:t>
            </a:r>
            <a:r>
              <a:rPr lang="pt-BR" i="1" baseline="-25000" dirty="0" err="1"/>
              <a:t>xy</a:t>
            </a:r>
            <a:r>
              <a:rPr lang="pt-BR" i="1" dirty="0"/>
              <a:t> + </a:t>
            </a:r>
            <a:r>
              <a:rPr lang="pt-BR" i="1" dirty="0" err="1"/>
              <a:t>b.G</a:t>
            </a:r>
            <a:r>
              <a:rPr lang="pt-BR" i="1" baseline="-25000" dirty="0" err="1"/>
              <a:t>xy</a:t>
            </a:r>
            <a:r>
              <a:rPr lang="pt-BR" i="1" dirty="0"/>
              <a:t>    </a:t>
            </a:r>
          </a:p>
          <a:p>
            <a:pPr lvl="1"/>
            <a:r>
              <a:rPr lang="pt-BR" dirty="0"/>
              <a:t>A imagem segmentada é obtida como</a:t>
            </a:r>
          </a:p>
          <a:p>
            <a:pPr lvl="1"/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218324"/>
              </p:ext>
            </p:extLst>
          </p:nvPr>
        </p:nvGraphicFramePr>
        <p:xfrm>
          <a:off x="2781151" y="5301208"/>
          <a:ext cx="337502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714500" imgH="508000" progId="Equation.3">
                  <p:embed/>
                </p:oleObj>
              </mc:Choice>
              <mc:Fallback>
                <p:oleObj name="Equação" r:id="rId3" imgW="1714500" imgH="508000" progId="Equation.3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1151" y="5301208"/>
                        <a:ext cx="3375025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08904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propriedades locais</a:t>
            </a:r>
          </a:p>
          <a:p>
            <a:pPr lvl="1"/>
            <a:r>
              <a:rPr lang="pt-BR" dirty="0"/>
              <a:t>Podemos usar predicados baseados nos parâmetros calculados na vizinhança de </a:t>
            </a:r>
            <a:r>
              <a:rPr lang="pt-BR" i="1" dirty="0"/>
              <a:t>(</a:t>
            </a:r>
            <a:r>
              <a:rPr lang="pt-BR" i="1" dirty="0" err="1"/>
              <a:t>x,y</a:t>
            </a:r>
            <a:r>
              <a:rPr lang="pt-BR" i="1" dirty="0"/>
              <a:t>)</a:t>
            </a:r>
            <a:endParaRPr lang="pt-BR" dirty="0"/>
          </a:p>
        </p:txBody>
      </p:sp>
      <p:graphicFrame>
        <p:nvGraphicFramePr>
          <p:cNvPr id="5" name="Obje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667638"/>
              </p:ext>
            </p:extLst>
          </p:nvPr>
        </p:nvGraphicFramePr>
        <p:xfrm>
          <a:off x="693043" y="3522687"/>
          <a:ext cx="8199437" cy="271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3720960" imgH="1231560" progId="Equation.3">
                  <p:embed/>
                </p:oleObj>
              </mc:Choice>
              <mc:Fallback>
                <p:oleObj name="Equação" r:id="rId3" imgW="3720960" imgH="1231560" progId="Equation.3">
                  <p:embed/>
                  <p:pic>
                    <p:nvPicPr>
                      <p:cNvPr id="5" name="Objeto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43" y="3522687"/>
                        <a:ext cx="8199437" cy="271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72474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propriedades locais</a:t>
            </a:r>
          </a:p>
          <a:p>
            <a:pPr lvl="1"/>
            <a:endParaRPr lang="pt-BR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07679" y="2299320"/>
            <a:ext cx="20002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aixaDeTexto 6"/>
          <p:cNvSpPr txBox="1"/>
          <p:nvPr/>
        </p:nvSpPr>
        <p:spPr>
          <a:xfrm>
            <a:off x="1259632" y="4841789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Imagem</a:t>
            </a:r>
            <a:r>
              <a:rPr lang="en-US" dirty="0"/>
              <a:t> de </a:t>
            </a:r>
            <a:r>
              <a:rPr lang="en-US" dirty="0" err="1"/>
              <a:t>levedura</a:t>
            </a:r>
            <a:endParaRPr lang="en-US" dirty="0"/>
          </a:p>
          <a:p>
            <a:pPr algn="ctr"/>
            <a:r>
              <a:rPr lang="en-US" dirty="0"/>
              <a:t>(</a:t>
            </a:r>
            <a:r>
              <a:rPr lang="en-US" dirty="0" err="1"/>
              <a:t>possui</a:t>
            </a:r>
            <a:r>
              <a:rPr lang="en-US" dirty="0"/>
              <a:t> 3 </a:t>
            </a:r>
            <a:r>
              <a:rPr lang="en-US" dirty="0" err="1"/>
              <a:t>regioes</a:t>
            </a:r>
            <a:r>
              <a:rPr lang="en-US" dirty="0"/>
              <a:t>)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75325" y="2321509"/>
            <a:ext cx="2009775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CaixaDeTexto 8"/>
          <p:cNvSpPr txBox="1"/>
          <p:nvPr/>
        </p:nvSpPr>
        <p:spPr>
          <a:xfrm>
            <a:off x="4788024" y="4985805"/>
            <a:ext cx="3384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Imgem</a:t>
            </a:r>
            <a:r>
              <a:rPr lang="en-US" dirty="0"/>
              <a:t> </a:t>
            </a:r>
            <a:r>
              <a:rPr lang="en-US" dirty="0" err="1"/>
              <a:t>segmentada</a:t>
            </a:r>
            <a:r>
              <a:rPr lang="en-US" dirty="0"/>
              <a:t> </a:t>
            </a:r>
            <a:r>
              <a:rPr lang="en-US" dirty="0" err="1"/>
              <a:t>usando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Otsu com 2 </a:t>
            </a:r>
            <a:r>
              <a:rPr lang="en-US" dirty="0" err="1"/>
              <a:t>limiares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53164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Thresholding</a:t>
            </a:r>
            <a:r>
              <a:rPr lang="pt-BR" dirty="0"/>
              <a:t> Variável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Uso de propriedades locais</a:t>
            </a:r>
          </a:p>
          <a:p>
            <a:pPr lvl="1"/>
            <a:endParaRPr lang="pt-B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91630" y="2255887"/>
            <a:ext cx="200025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CaixaDeTexto 10"/>
          <p:cNvSpPr txBox="1"/>
          <p:nvPr/>
        </p:nvSpPr>
        <p:spPr>
          <a:xfrm>
            <a:off x="899592" y="4437112"/>
            <a:ext cx="33123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Calcula</a:t>
            </a:r>
            <a:r>
              <a:rPr lang="en-US" dirty="0"/>
              <a:t> o </a:t>
            </a:r>
            <a:r>
              <a:rPr lang="en-US" dirty="0" err="1"/>
              <a:t>desvio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</a:t>
            </a:r>
            <a:r>
              <a:rPr lang="en-US" dirty="0" err="1"/>
              <a:t>para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pixel (</a:t>
            </a:r>
            <a:r>
              <a:rPr lang="en-US" dirty="0" err="1"/>
              <a:t>x,y</a:t>
            </a:r>
            <a:r>
              <a:rPr lang="en-US" dirty="0"/>
              <a:t>) </a:t>
            </a:r>
            <a:r>
              <a:rPr lang="en-US" dirty="0" err="1"/>
              <a:t>numa</a:t>
            </a:r>
            <a:r>
              <a:rPr lang="en-US" dirty="0"/>
              <a:t> </a:t>
            </a:r>
            <a:r>
              <a:rPr lang="en-US" dirty="0" err="1"/>
              <a:t>vizinhança</a:t>
            </a:r>
            <a:r>
              <a:rPr lang="en-US" dirty="0"/>
              <a:t> 3x3.</a:t>
            </a:r>
          </a:p>
          <a:p>
            <a:pPr algn="ctr"/>
            <a:endParaRPr lang="en-US" dirty="0"/>
          </a:p>
          <a:p>
            <a:pPr algn="ctr"/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o </a:t>
            </a:r>
            <a:r>
              <a:rPr lang="en-US" dirty="0" err="1"/>
              <a:t>resultado</a:t>
            </a:r>
            <a:r>
              <a:rPr lang="en-US" dirty="0"/>
              <a:t> do </a:t>
            </a:r>
            <a:r>
              <a:rPr lang="en-US" dirty="0" err="1"/>
              <a:t>desvio</a:t>
            </a:r>
            <a:r>
              <a:rPr lang="en-US" dirty="0"/>
              <a:t> </a:t>
            </a:r>
            <a:r>
              <a:rPr lang="en-US" dirty="0" err="1"/>
              <a:t>padrão</a:t>
            </a:r>
            <a:r>
              <a:rPr lang="en-US" dirty="0"/>
              <a:t> local. As </a:t>
            </a:r>
            <a:r>
              <a:rPr lang="en-US" dirty="0" err="1"/>
              <a:t>fronteiras</a:t>
            </a:r>
            <a:r>
              <a:rPr lang="en-US" dirty="0"/>
              <a:t> das </a:t>
            </a:r>
            <a:r>
              <a:rPr lang="en-US" dirty="0" err="1"/>
              <a:t>células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visiveis</a:t>
            </a:r>
            <a:r>
              <a:rPr lang="en-US" dirty="0"/>
              <a:t>.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8104" y="2272804"/>
            <a:ext cx="196215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CaixaDeTexto 12"/>
          <p:cNvSpPr txBox="1"/>
          <p:nvPr/>
        </p:nvSpPr>
        <p:spPr>
          <a:xfrm>
            <a:off x="5148064" y="4721076"/>
            <a:ext cx="3995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Resultado</a:t>
            </a:r>
            <a:r>
              <a:rPr lang="en-US" dirty="0"/>
              <a:t> da </a:t>
            </a:r>
            <a:r>
              <a:rPr lang="en-US" dirty="0" err="1"/>
              <a:t>segmentação</a:t>
            </a:r>
            <a:r>
              <a:rPr lang="en-US" dirty="0"/>
              <a:t> local </a:t>
            </a:r>
            <a:r>
              <a:rPr lang="en-US" dirty="0" err="1"/>
              <a:t>usando</a:t>
            </a:r>
            <a:r>
              <a:rPr lang="en-US" dirty="0"/>
              <a:t> </a:t>
            </a:r>
            <a:r>
              <a:rPr lang="en-US" dirty="0" err="1"/>
              <a:t>média</a:t>
            </a:r>
            <a:r>
              <a:rPr lang="en-US" dirty="0"/>
              <a:t> </a:t>
            </a:r>
            <a:r>
              <a:rPr lang="en-US" dirty="0" err="1"/>
              <a:t>geral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vez</a:t>
            </a:r>
            <a:r>
              <a:rPr lang="en-US" dirty="0"/>
              <a:t> de </a:t>
            </a:r>
            <a:r>
              <a:rPr lang="en-US" dirty="0" err="1"/>
              <a:t>média</a:t>
            </a:r>
            <a:r>
              <a:rPr lang="en-US" dirty="0"/>
              <a:t> local </a:t>
            </a:r>
          </a:p>
          <a:p>
            <a:pPr algn="ctr"/>
            <a:r>
              <a:rPr lang="en-US" dirty="0"/>
              <a:t>a = 30 e b = 1,5.</a:t>
            </a:r>
          </a:p>
        </p:txBody>
      </p:sp>
    </p:spTree>
    <p:extLst>
      <p:ext uri="{BB962C8B-B14F-4D97-AF65-F5344CB8AC3E}">
        <p14:creationId xmlns:p14="http://schemas.microsoft.com/office/powerpoint/2010/main" val="42194604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Intensidade média de movimento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Técnica útil em processamento de texto</a:t>
            </a:r>
          </a:p>
          <a:p>
            <a:pPr lvl="1"/>
            <a:r>
              <a:rPr lang="pt-BR" dirty="0"/>
              <a:t>A media é obtida ao longo do </a:t>
            </a:r>
            <a:r>
              <a:rPr lang="pt-BR" dirty="0" err="1"/>
              <a:t>scan</a:t>
            </a:r>
            <a:r>
              <a:rPr lang="pt-BR" dirty="0"/>
              <a:t> </a:t>
            </a:r>
            <a:r>
              <a:rPr lang="pt-BR" dirty="0" err="1"/>
              <a:t>line</a:t>
            </a:r>
            <a:r>
              <a:rPr lang="pt-BR" dirty="0"/>
              <a:t> da imagem</a:t>
            </a:r>
          </a:p>
          <a:p>
            <a:pPr lvl="1"/>
            <a:r>
              <a:rPr lang="pt-BR" dirty="0"/>
              <a:t>Seja </a:t>
            </a:r>
            <a:r>
              <a:rPr lang="pt-BR" dirty="0" err="1"/>
              <a:t>z</a:t>
            </a:r>
            <a:r>
              <a:rPr lang="pt-BR" baseline="-25000" dirty="0" err="1"/>
              <a:t>k</a:t>
            </a:r>
            <a:r>
              <a:rPr lang="pt-BR" baseline="-25000" dirty="0"/>
              <a:t>+1</a:t>
            </a:r>
            <a:r>
              <a:rPr lang="pt-BR" dirty="0"/>
              <a:t> a intensidade de um ponto encontrado na </a:t>
            </a:r>
            <a:r>
              <a:rPr lang="pt-BR" dirty="0" err="1"/>
              <a:t>sequência</a:t>
            </a:r>
            <a:r>
              <a:rPr lang="pt-BR" dirty="0"/>
              <a:t> do </a:t>
            </a:r>
            <a:r>
              <a:rPr lang="pt-BR" dirty="0" err="1"/>
              <a:t>scanning</a:t>
            </a:r>
            <a:r>
              <a:rPr lang="pt-BR" dirty="0"/>
              <a:t> no passo k+1. A intensidade média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 neste ponto é obtida por</a:t>
            </a:r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131074" name="Object 2"/>
          <p:cNvGraphicFramePr>
            <a:graphicFrameLocks noChangeAspect="1"/>
          </p:cNvGraphicFramePr>
          <p:nvPr/>
        </p:nvGraphicFramePr>
        <p:xfrm>
          <a:off x="3571868" y="4800600"/>
          <a:ext cx="22987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3" imgW="1193800" imgH="889000" progId="Equation.3">
                  <p:embed/>
                </p:oleObj>
              </mc:Choice>
              <mc:Fallback>
                <p:oleObj name="Equação" r:id="rId3" imgW="1193800" imgH="889000" progId="Equation.3">
                  <p:embed/>
                  <p:pic>
                    <p:nvPicPr>
                      <p:cNvPr id="131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68" y="4800600"/>
                        <a:ext cx="2298700" cy="171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Intensidade média de movimento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Observações</a:t>
            </a:r>
          </a:p>
          <a:p>
            <a:pPr lvl="1"/>
            <a:r>
              <a:rPr lang="pt-BR" dirty="0"/>
              <a:t>O valor m(1) não é correto</a:t>
            </a:r>
          </a:p>
          <a:p>
            <a:pPr lvl="2"/>
            <a:r>
              <a:rPr lang="pt-BR" dirty="0"/>
              <a:t>É como se a imagem tivesse n-1 zeros para preencher os pixels de borda</a:t>
            </a:r>
          </a:p>
          <a:p>
            <a:pPr lvl="1"/>
            <a:r>
              <a:rPr lang="pt-BR" dirty="0"/>
              <a:t>O algoritmo é inicializado apenas 1 vez </a:t>
            </a:r>
          </a:p>
          <a:p>
            <a:pPr lvl="2"/>
            <a:r>
              <a:rPr lang="pt-BR" dirty="0"/>
              <a:t>Não reinicializar a cada linha!</a:t>
            </a:r>
          </a:p>
          <a:p>
            <a:pPr lvl="1"/>
            <a:r>
              <a:rPr lang="pt-BR" dirty="0"/>
              <a:t>Transformação pontual</a:t>
            </a:r>
          </a:p>
          <a:p>
            <a:pPr lvl="2"/>
            <a:r>
              <a:rPr lang="pt-BR" dirty="0" err="1"/>
              <a:t>T</a:t>
            </a:r>
            <a:r>
              <a:rPr lang="pt-BR" baseline="-25000" dirty="0" err="1"/>
              <a:t>xy</a:t>
            </a:r>
            <a:r>
              <a:rPr lang="pt-BR" dirty="0"/>
              <a:t> = </a:t>
            </a:r>
            <a:r>
              <a:rPr lang="pt-BR" dirty="0" err="1"/>
              <a:t>b.m</a:t>
            </a:r>
            <a:r>
              <a:rPr lang="pt-BR" baseline="-25000" dirty="0" err="1"/>
              <a:t>xy</a:t>
            </a:r>
            <a:r>
              <a:rPr lang="pt-BR" dirty="0"/>
              <a:t>, b &gt; 0, em que </a:t>
            </a:r>
            <a:r>
              <a:rPr lang="pt-BR" dirty="0" err="1"/>
              <a:t>m</a:t>
            </a:r>
            <a:r>
              <a:rPr lang="pt-BR" baseline="-25000" dirty="0" err="1"/>
              <a:t>xy</a:t>
            </a:r>
            <a:r>
              <a:rPr lang="pt-BR" dirty="0"/>
              <a:t> é a 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 no ponto (x,y)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Intensidade média de movimento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Observações</a:t>
            </a:r>
          </a:p>
          <a:p>
            <a:pPr lvl="1"/>
            <a:r>
              <a:rPr lang="pt-BR" dirty="0"/>
              <a:t>Valor mágico para n</a:t>
            </a:r>
          </a:p>
          <a:p>
            <a:pPr lvl="2"/>
            <a:r>
              <a:rPr lang="pt-BR" dirty="0"/>
              <a:t>5 vezes a largura da letra</a:t>
            </a:r>
          </a:p>
          <a:p>
            <a:pPr lvl="1"/>
            <a:r>
              <a:rPr lang="pt-BR" dirty="0"/>
              <a:t>O método funciona bem em aplicações em que os objetos de interesse são pequeno (ou finos) com respeito ao tamanho da imagem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Intensidade média de movimento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n = 20</a:t>
            </a:r>
          </a:p>
          <a:p>
            <a:pPr lvl="1"/>
            <a:r>
              <a:rPr lang="pt-BR" dirty="0"/>
              <a:t>b = 0.5</a:t>
            </a:r>
          </a:p>
        </p:txBody>
      </p:sp>
      <p:pic>
        <p:nvPicPr>
          <p:cNvPr id="4" name="Espaço Reservado para Conteúdo 3" descr="fig10-49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403" y="3286124"/>
            <a:ext cx="7786687" cy="3460750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Intensidade média de movimento (</a:t>
            </a:r>
            <a:r>
              <a:rPr lang="pt-BR" dirty="0" err="1"/>
              <a:t>moving</a:t>
            </a:r>
            <a:r>
              <a:rPr lang="pt-BR" dirty="0"/>
              <a:t> </a:t>
            </a:r>
            <a:r>
              <a:rPr lang="pt-BR" dirty="0" err="1"/>
              <a:t>average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  <a:p>
            <a:pPr lvl="1"/>
            <a:r>
              <a:rPr lang="pt-BR" dirty="0"/>
              <a:t>n = 20</a:t>
            </a:r>
          </a:p>
          <a:p>
            <a:pPr lvl="1"/>
            <a:r>
              <a:rPr lang="pt-BR" dirty="0"/>
              <a:t>b = 0.5</a:t>
            </a:r>
          </a:p>
        </p:txBody>
      </p:sp>
      <p:pic>
        <p:nvPicPr>
          <p:cNvPr id="5" name="Espaço Reservado para Conteúdo 3" descr="fig10-50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3079774"/>
            <a:ext cx="8215313" cy="3706812"/>
          </a:xfrm>
          <a:prstGeom prst="rect">
            <a:avLst/>
          </a:prstGeom>
          <a:noFill/>
          <a:ln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8254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Segmentação de pontos isolados</a:t>
            </a:r>
          </a:p>
          <a:p>
            <a:pPr lvl="1"/>
            <a:r>
              <a:rPr lang="pt-BR" dirty="0"/>
              <a:t>Ponto isolado = Ponto que se destaca dos demais</a:t>
            </a:r>
          </a:p>
          <a:p>
            <a:pPr lvl="1"/>
            <a:r>
              <a:rPr lang="pt-BR" dirty="0"/>
              <a:t>Feita através do uso de um filtro passa altas e um limiar de aceitação</a:t>
            </a:r>
          </a:p>
          <a:p>
            <a:endParaRPr lang="en-US" dirty="0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221088"/>
            <a:ext cx="19812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5148064" y="4941168"/>
            <a:ext cx="1152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|R| &gt; T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690559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Segmentação de linhas</a:t>
            </a:r>
          </a:p>
          <a:p>
            <a:pPr lvl="1"/>
            <a:r>
              <a:rPr lang="pt-BR" dirty="0"/>
              <a:t>Feita através do uso de um filtro passa altas direcionais</a:t>
            </a:r>
          </a:p>
          <a:p>
            <a:pPr lvl="1"/>
            <a:r>
              <a:rPr lang="pt-BR" dirty="0"/>
              <a:t>Uso de um limiar de aceitação</a:t>
            </a:r>
          </a:p>
          <a:p>
            <a:pPr lvl="1"/>
            <a:endParaRPr lang="en-US" dirty="0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20504"/>
            <a:ext cx="7948563" cy="2333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88441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Segmentação de bordas</a:t>
            </a:r>
          </a:p>
          <a:p>
            <a:pPr lvl="1"/>
            <a:r>
              <a:rPr lang="pt-BR" dirty="0"/>
              <a:t>Borda: limite entre duas regiões com propriedades relativamente distintas de nível de cinza</a:t>
            </a:r>
          </a:p>
          <a:p>
            <a:pPr lvl="2"/>
            <a:r>
              <a:rPr lang="pt-BR" dirty="0"/>
              <a:t>Roberts, </a:t>
            </a:r>
            <a:r>
              <a:rPr lang="pt-BR" dirty="0" err="1"/>
              <a:t>Prewitt</a:t>
            </a:r>
            <a:r>
              <a:rPr lang="pt-BR" dirty="0"/>
              <a:t>, Sobel, Laplaciano</a:t>
            </a:r>
          </a:p>
          <a:p>
            <a:pPr lvl="1"/>
            <a:r>
              <a:rPr lang="pt-BR" dirty="0"/>
              <a:t>Vetor de Gradiente</a:t>
            </a:r>
          </a:p>
          <a:p>
            <a:pPr lvl="2"/>
            <a:r>
              <a:rPr lang="pt-BR" dirty="0"/>
              <a:t>Verifica se a magnitude é maior que um certo valor</a:t>
            </a:r>
          </a:p>
          <a:p>
            <a:pPr lvl="1"/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696635"/>
            <a:ext cx="5832648" cy="213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70573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  <a:p>
            <a:pPr lvl="1"/>
            <a:r>
              <a:rPr lang="pt-BR" dirty="0"/>
              <a:t>Permite encontrar formas em imagens</a:t>
            </a:r>
          </a:p>
          <a:p>
            <a:pPr lvl="2"/>
            <a:r>
              <a:rPr lang="pt-BR" dirty="0"/>
              <a:t>Retas, círculos e elipses (seções cônicas)</a:t>
            </a:r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380508"/>
            <a:ext cx="6842217" cy="2280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879090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  <a:p>
            <a:pPr lvl="1"/>
            <a:r>
              <a:rPr lang="pt-BR" dirty="0"/>
              <a:t>Espaço dual</a:t>
            </a:r>
          </a:p>
          <a:p>
            <a:pPr lvl="2"/>
            <a:r>
              <a:rPr lang="pt-BR" dirty="0"/>
              <a:t>pontos são transformados em retas, e vice-versa</a:t>
            </a:r>
          </a:p>
          <a:p>
            <a:pPr lvl="2"/>
            <a:r>
              <a:rPr lang="pt-BR" dirty="0"/>
              <a:t>todos pontos colineares em uma imagem, definem o pontos de interseção (A,B) no espaço dual</a:t>
            </a:r>
          </a:p>
          <a:p>
            <a:pPr lvl="2"/>
            <a:r>
              <a:rPr lang="pt-BR" dirty="0"/>
              <a:t>Encontra a reta (A,B) rastreando o acumulo das evidências</a:t>
            </a:r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221088"/>
            <a:ext cx="5840581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061381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132856"/>
            <a:ext cx="9038465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38952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  <a:p>
            <a:pPr lvl="1"/>
            <a:r>
              <a:rPr lang="pt-BR" dirty="0"/>
              <a:t>Votação</a:t>
            </a:r>
          </a:p>
          <a:p>
            <a:pPr lvl="2"/>
            <a:r>
              <a:rPr lang="pt-BR" dirty="0"/>
              <a:t>Cada ponto (</a:t>
            </a:r>
            <a:r>
              <a:rPr lang="pt-BR" dirty="0" err="1"/>
              <a:t>xi,yi</a:t>
            </a:r>
            <a:r>
              <a:rPr lang="pt-BR" dirty="0"/>
              <a:t>) forma uma reta Ui no espaço dual </a:t>
            </a:r>
          </a:p>
          <a:p>
            <a:pPr lvl="2"/>
            <a:r>
              <a:rPr lang="pt-BR" dirty="0"/>
              <a:t>Cada reta Ui vota em todos pontos pelos quais ela passa</a:t>
            </a:r>
          </a:p>
          <a:p>
            <a:pPr lvl="2"/>
            <a:r>
              <a:rPr lang="pt-BR" dirty="0"/>
              <a:t>pontos que obtém muitos votos no espaço dual, são os candidatos para serem retas na imagem</a:t>
            </a:r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221088"/>
            <a:ext cx="5840581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03304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Descontinuidades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Transformada de </a:t>
            </a:r>
            <a:r>
              <a:rPr lang="pt-BR" dirty="0" err="1"/>
              <a:t>Hough</a:t>
            </a:r>
            <a:endParaRPr lang="pt-BR" dirty="0"/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2183085"/>
            <a:ext cx="4981575" cy="4486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381788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Regiões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8146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063808" cy="4495800"/>
          </a:xfrm>
        </p:spPr>
        <p:txBody>
          <a:bodyPr>
            <a:normAutofit/>
          </a:bodyPr>
          <a:lstStyle/>
          <a:p>
            <a:r>
              <a:rPr lang="pt-BR" dirty="0"/>
              <a:t>Baseia-se em conjuntos.</a:t>
            </a:r>
          </a:p>
          <a:p>
            <a:pPr lvl="1"/>
            <a:r>
              <a:rPr lang="pt-BR" dirty="0"/>
              <a:t>A imagem R é um conjunto de regiões R</a:t>
            </a:r>
            <a:r>
              <a:rPr lang="pt-BR" baseline="-25000" dirty="0"/>
              <a:t>i</a:t>
            </a:r>
            <a:endParaRPr lang="pt-BR" dirty="0"/>
          </a:p>
          <a:p>
            <a:pPr lvl="1"/>
            <a:r>
              <a:rPr lang="pt-BR" dirty="0"/>
              <a:t>Todos os pontos pertencem a uma das regiões</a:t>
            </a:r>
          </a:p>
          <a:p>
            <a:pPr lvl="1"/>
            <a:r>
              <a:rPr lang="pt-BR" dirty="0"/>
              <a:t>Um ponto apenas pode pertencer a uma única região</a:t>
            </a:r>
          </a:p>
          <a:p>
            <a:pPr lvl="1"/>
            <a:r>
              <a:rPr lang="pt-BR" dirty="0"/>
              <a:t>Eficaz em imagens </a:t>
            </a:r>
            <a:r>
              <a:rPr lang="pt-BR" dirty="0" err="1"/>
              <a:t>ruídosas</a:t>
            </a:r>
            <a:endParaRPr lang="pt-BR" dirty="0"/>
          </a:p>
        </p:txBody>
      </p: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4568527"/>
            <a:ext cx="5524500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9429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Crescimento de Regiões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Consiste na união/divisão de um conjunto inicial de regiões</a:t>
            </a:r>
          </a:p>
          <a:p>
            <a:pPr lvl="1"/>
            <a:r>
              <a:rPr lang="pt-BR" dirty="0"/>
              <a:t>Baseado em algum critério de homogeneidade</a:t>
            </a:r>
          </a:p>
          <a:p>
            <a:pPr lvl="2"/>
            <a:r>
              <a:rPr lang="pt-BR" dirty="0"/>
              <a:t>Cor</a:t>
            </a:r>
          </a:p>
          <a:p>
            <a:pPr lvl="2"/>
            <a:r>
              <a:rPr lang="pt-BR" dirty="0"/>
              <a:t>Textura</a:t>
            </a:r>
          </a:p>
          <a:p>
            <a:pPr lvl="2"/>
            <a:r>
              <a:rPr lang="pt-BR" dirty="0" err="1"/>
              <a:t>Etc</a:t>
            </a:r>
            <a:endParaRPr lang="pt-BR" dirty="0"/>
          </a:p>
          <a:p>
            <a:pPr lvl="1"/>
            <a:r>
              <a:rPr lang="pt-BR" dirty="0"/>
              <a:t>Tipicamente iterativo</a:t>
            </a:r>
          </a:p>
          <a:p>
            <a:pPr lvl="2"/>
            <a:r>
              <a:rPr lang="pt-BR" dirty="0" err="1"/>
              <a:t>Region</a:t>
            </a:r>
            <a:r>
              <a:rPr lang="pt-BR" dirty="0"/>
              <a:t> </a:t>
            </a:r>
            <a:r>
              <a:rPr lang="pt-BR" dirty="0" err="1"/>
              <a:t>merging</a:t>
            </a:r>
            <a:endParaRPr lang="pt-BR" dirty="0"/>
          </a:p>
          <a:p>
            <a:pPr lvl="2"/>
            <a:r>
              <a:rPr lang="pt-BR" dirty="0" err="1"/>
              <a:t>Region</a:t>
            </a:r>
            <a:r>
              <a:rPr lang="pt-BR" dirty="0"/>
              <a:t> </a:t>
            </a:r>
            <a:r>
              <a:rPr lang="pt-BR" dirty="0" err="1"/>
              <a:t>splitting</a:t>
            </a:r>
            <a:endParaRPr lang="pt-BR" dirty="0"/>
          </a:p>
          <a:p>
            <a:pPr lvl="2"/>
            <a:r>
              <a:rPr lang="pt-BR" dirty="0"/>
              <a:t>Split-merge</a:t>
            </a:r>
          </a:p>
        </p:txBody>
      </p:sp>
    </p:spTree>
    <p:extLst>
      <p:ext uri="{BB962C8B-B14F-4D97-AF65-F5344CB8AC3E}">
        <p14:creationId xmlns:p14="http://schemas.microsoft.com/office/powerpoint/2010/main" val="3955308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Crescimento de Regiões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4495800"/>
          </a:xfrm>
        </p:spPr>
        <p:txBody>
          <a:bodyPr>
            <a:normAutofit/>
          </a:bodyPr>
          <a:lstStyle/>
          <a:p>
            <a:r>
              <a:rPr lang="en-US" dirty="0"/>
              <a:t>Region merging</a:t>
            </a:r>
          </a:p>
          <a:p>
            <a:pPr lvl="1"/>
            <a:r>
              <a:rPr lang="pt-BR" dirty="0"/>
              <a:t>Divisão inicial da imagem em regiões</a:t>
            </a:r>
          </a:p>
          <a:p>
            <a:pPr lvl="1"/>
            <a:r>
              <a:rPr lang="pt-BR" dirty="0"/>
              <a:t>Definição do critério de união de 2 regiões adjacentes.</a:t>
            </a:r>
          </a:p>
          <a:p>
            <a:pPr lvl="1"/>
            <a:r>
              <a:rPr lang="pt-BR" dirty="0"/>
              <a:t>Unir regiões</a:t>
            </a:r>
          </a:p>
          <a:p>
            <a:pPr lvl="1"/>
            <a:r>
              <a:rPr lang="pt-BR" dirty="0"/>
              <a:t>Repetir passo anterior até não haver mais uniões</a:t>
            </a:r>
            <a:endParaRPr lang="en-US" dirty="0"/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885" y="1988840"/>
            <a:ext cx="4353619" cy="4441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274570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Crescimento de Regiões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4495800"/>
          </a:xfrm>
        </p:spPr>
        <p:txBody>
          <a:bodyPr>
            <a:normAutofit/>
          </a:bodyPr>
          <a:lstStyle/>
          <a:p>
            <a:r>
              <a:rPr lang="en-US" dirty="0"/>
              <a:t>Region splitting</a:t>
            </a:r>
          </a:p>
          <a:p>
            <a:pPr lvl="1"/>
            <a:r>
              <a:rPr lang="pt-BR" dirty="0"/>
              <a:t>Inicialmente usa a imagem completa</a:t>
            </a:r>
          </a:p>
          <a:p>
            <a:pPr lvl="1"/>
            <a:r>
              <a:rPr lang="pt-BR" dirty="0"/>
              <a:t>Definição do critério de divisão</a:t>
            </a:r>
          </a:p>
          <a:p>
            <a:pPr lvl="1"/>
            <a:r>
              <a:rPr lang="pt-BR" dirty="0"/>
              <a:t>Divisão iterativa em sub-regiões</a:t>
            </a:r>
          </a:p>
          <a:p>
            <a:pPr lvl="1"/>
            <a:r>
              <a:rPr lang="pt-BR" dirty="0"/>
              <a:t>Parada quando falhar o critério de divisão</a:t>
            </a:r>
            <a:endParaRPr lang="en-US" dirty="0"/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02" y="2060848"/>
            <a:ext cx="4255602" cy="4112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96032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Crescimento de Regiões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4495800"/>
          </a:xfrm>
        </p:spPr>
        <p:txBody>
          <a:bodyPr>
            <a:normAutofit/>
          </a:bodyPr>
          <a:lstStyle/>
          <a:p>
            <a:r>
              <a:rPr lang="en-US" dirty="0"/>
              <a:t>Split-merge</a:t>
            </a:r>
          </a:p>
          <a:p>
            <a:pPr lvl="1"/>
            <a:r>
              <a:rPr lang="pt-BR" dirty="0"/>
              <a:t>Combinação dos dois algoritmos</a:t>
            </a:r>
          </a:p>
          <a:p>
            <a:pPr lvl="1"/>
            <a:r>
              <a:rPr lang="pt-BR" dirty="0"/>
              <a:t>Permite lidar com formas mais variadas</a:t>
            </a:r>
          </a:p>
          <a:p>
            <a:pPr lvl="1"/>
            <a:r>
              <a:rPr lang="pt-BR" dirty="0"/>
              <a:t>Basta aplicar consecutivamente os algoritmos anteriores</a:t>
            </a:r>
            <a:endParaRPr lang="en-US" dirty="0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9248" y="2060848"/>
            <a:ext cx="382764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2536292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Transformada </a:t>
            </a:r>
            <a:r>
              <a:rPr lang="pt-BR" dirty="0" err="1"/>
              <a:t>Watershed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Inspiração geográfica</a:t>
            </a:r>
          </a:p>
          <a:p>
            <a:pPr lvl="1"/>
            <a:r>
              <a:rPr lang="pt-BR" dirty="0"/>
              <a:t>Lançar água sobre um terreno montanhoso</a:t>
            </a:r>
          </a:p>
          <a:p>
            <a:pPr lvl="1"/>
            <a:r>
              <a:rPr lang="pt-BR" dirty="0"/>
              <a:t>Cada lago corresponde a uma região</a:t>
            </a:r>
          </a:p>
          <a:p>
            <a:r>
              <a:rPr lang="pt-BR" dirty="0"/>
              <a:t>Características</a:t>
            </a:r>
          </a:p>
          <a:p>
            <a:pPr lvl="1"/>
            <a:r>
              <a:rPr lang="pt-BR" dirty="0"/>
              <a:t>Computacionalmente complexo</a:t>
            </a:r>
          </a:p>
          <a:p>
            <a:pPr lvl="1"/>
            <a:r>
              <a:rPr lang="pt-BR" dirty="0"/>
              <a:t>Grande flexibilidade na segmentação</a:t>
            </a:r>
          </a:p>
          <a:p>
            <a:pPr lvl="1"/>
            <a:r>
              <a:rPr lang="pt-BR" dirty="0"/>
              <a:t>Resultados mais estáveis</a:t>
            </a:r>
          </a:p>
          <a:p>
            <a:pPr lvl="1"/>
            <a:r>
              <a:rPr lang="pt-BR" dirty="0"/>
              <a:t>Risco de </a:t>
            </a:r>
            <a:r>
              <a:rPr lang="pt-BR" dirty="0" err="1"/>
              <a:t>super-segmentação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945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</a:t>
            </a:r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Suponha que em cada mínimo local tenha um ponto que seja uma fonte de água</a:t>
            </a:r>
          </a:p>
          <a:p>
            <a:pPr lvl="1"/>
            <a:r>
              <a:rPr lang="pt-BR" dirty="0"/>
              <a:t>A água sobe inundando as regiões, de baixo para cima</a:t>
            </a:r>
          </a:p>
          <a:p>
            <a:pPr lvl="1"/>
            <a:r>
              <a:rPr lang="pt-BR" dirty="0"/>
              <a:t>A água sobre em uma taxa uniforme</a:t>
            </a:r>
          </a:p>
          <a:p>
            <a:pPr lvl="1"/>
            <a:r>
              <a:rPr lang="pt-BR" dirty="0"/>
              <a:t>As bordas da imagem podem ser consideradas como sendo uma barragem mais alta que a maior montanha</a:t>
            </a:r>
          </a:p>
        </p:txBody>
      </p:sp>
    </p:spTree>
    <p:extLst>
      <p:ext uri="{BB962C8B-B14F-4D97-AF65-F5344CB8AC3E}">
        <p14:creationId xmlns:p14="http://schemas.microsoft.com/office/powerpoint/2010/main" val="188887494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</a:t>
            </a:r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Funcionamento</a:t>
            </a:r>
          </a:p>
          <a:p>
            <a:pPr lvl="1"/>
            <a:r>
              <a:rPr lang="pt-BR" dirty="0"/>
              <a:t>Quando a água está prestes a se fundir nas diversas </a:t>
            </a:r>
            <a:r>
              <a:rPr lang="pt-BR" dirty="0" err="1"/>
              <a:t>watersheds</a:t>
            </a:r>
            <a:r>
              <a:rPr lang="pt-BR" dirty="0"/>
              <a:t>, uma barragem é construída para impedir a fusão</a:t>
            </a:r>
          </a:p>
          <a:p>
            <a:pPr lvl="1"/>
            <a:r>
              <a:rPr lang="pt-BR" dirty="0"/>
              <a:t>A inundação chegará a um ponto em que somente apenas os topos das barragens serão visíveis acima da linha d’</a:t>
            </a:r>
            <a:r>
              <a:rPr lang="pt-BR" dirty="0" err="1"/>
              <a:t>àgua</a:t>
            </a:r>
            <a:endParaRPr lang="pt-BR" dirty="0"/>
          </a:p>
          <a:p>
            <a:pPr lvl="1"/>
            <a:r>
              <a:rPr lang="pt-BR" dirty="0"/>
              <a:t>Essas linhas são as Linhas de divisão ou linhas de </a:t>
            </a:r>
            <a:r>
              <a:rPr lang="pt-BR" dirty="0" err="1"/>
              <a:t>Watershed</a:t>
            </a:r>
            <a:endParaRPr lang="pt-BR" dirty="0"/>
          </a:p>
          <a:p>
            <a:pPr lvl="1"/>
            <a:r>
              <a:rPr lang="pt-BR" dirty="0"/>
              <a:t>Portanto, são as fronteiras conectadas que são extraídas em um algoritmo de segmentação </a:t>
            </a:r>
            <a:r>
              <a:rPr lang="pt-BR" dirty="0" err="1"/>
              <a:t>Watershed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09422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Transformada </a:t>
            </a:r>
            <a:r>
              <a:rPr lang="pt-BR" dirty="0" err="1"/>
              <a:t>Watershed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1259632" y="2392474"/>
            <a:ext cx="6720983" cy="4276886"/>
            <a:chOff x="1259632" y="2392474"/>
            <a:chExt cx="6720983" cy="4276886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8207" y="2406762"/>
              <a:ext cx="2095500" cy="21240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82650" y="2392474"/>
              <a:ext cx="2095500" cy="2152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27965" y="2392474"/>
              <a:ext cx="2143125" cy="21526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32" y="4535760"/>
              <a:ext cx="2152650" cy="2133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58838" y="4545285"/>
              <a:ext cx="2143125" cy="2114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8440" y="4535760"/>
              <a:ext cx="2162175" cy="2133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92572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613E0B-7D90-4298-9C6A-13A99646FE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7D9867-ED9D-45C7-99CA-F169148FC96F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99586E0D-CD81-4622-B7B7-EF2EFA20F620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6392</TotalTime>
  <Words>3085</Words>
  <Application>Microsoft Office PowerPoint</Application>
  <PresentationFormat>Apresentação na tela (4:3)</PresentationFormat>
  <Paragraphs>552</Paragraphs>
  <Slides>83</Slides>
  <Notes>83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83</vt:i4>
      </vt:variant>
    </vt:vector>
  </HeadingPairs>
  <TitlesOfParts>
    <vt:vector size="92" baseType="lpstr">
      <vt:lpstr>Calibri</vt:lpstr>
      <vt:lpstr>Cambria Math</vt:lpstr>
      <vt:lpstr>Times New Roman</vt:lpstr>
      <vt:lpstr>Tw Cen MT</vt:lpstr>
      <vt:lpstr>Wingdings</vt:lpstr>
      <vt:lpstr>Wingdings 2</vt:lpstr>
      <vt:lpstr>Mediano</vt:lpstr>
      <vt:lpstr>Equação</vt:lpstr>
      <vt:lpstr>Planilha</vt:lpstr>
      <vt:lpstr>Segmentação de Imagens</vt:lpstr>
      <vt:lpstr>Definição</vt:lpstr>
      <vt:lpstr>Definição</vt:lpstr>
      <vt:lpstr>Definição</vt:lpstr>
      <vt:lpstr>Definição</vt:lpstr>
      <vt:lpstr>Limiarização ou Thresholding</vt:lpstr>
      <vt:lpstr>Limiarização ou Thresholding</vt:lpstr>
      <vt:lpstr>Limiar único</vt:lpstr>
      <vt:lpstr>Limiar único</vt:lpstr>
      <vt:lpstr>Limiar múltiplos</vt:lpstr>
      <vt:lpstr>Limiar múltiplos</vt:lpstr>
      <vt:lpstr>Escolhendo o Limiar</vt:lpstr>
      <vt:lpstr>Escolhendo o Limiar</vt:lpstr>
      <vt:lpstr>Escolhendo o Limiar</vt:lpstr>
      <vt:lpstr>Escolhendo o Limiar</vt:lpstr>
      <vt:lpstr>Escolhendo o Limiar</vt:lpstr>
      <vt:lpstr>Limiarização – técnicas para obter o limiar</vt:lpstr>
      <vt:lpstr>Limiarização – técnicas para obter o limiar único</vt:lpstr>
      <vt:lpstr>Limiarização – técnicas para obter o limiar único</vt:lpstr>
      <vt:lpstr>Limiarização – técnicas para obter o limiar único</vt:lpstr>
      <vt:lpstr>Limiarização – técnicas para obter o limiar único</vt:lpstr>
      <vt:lpstr>Thresholding Global Ótimo</vt:lpstr>
      <vt:lpstr>Thresholding Global Ótimo</vt:lpstr>
      <vt:lpstr>Média e variância</vt:lpstr>
      <vt:lpstr>Média e variância</vt:lpstr>
      <vt:lpstr>Média e variância</vt:lpstr>
      <vt:lpstr>Definições</vt:lpstr>
      <vt:lpstr>Média a partir do histograma</vt:lpstr>
      <vt:lpstr>Média a partir do histograma</vt:lpstr>
      <vt:lpstr>Média a partir do histograma</vt:lpstr>
      <vt:lpstr>Média a partir do histograma</vt:lpstr>
      <vt:lpstr>Variância a partir do histograma</vt:lpstr>
      <vt:lpstr>Variância a partir do histograma</vt:lpstr>
      <vt:lpstr>Variância a partir do histograma</vt:lpstr>
      <vt:lpstr>Variância a partir do histograma</vt:lpstr>
      <vt:lpstr>Limiar e Classes</vt:lpstr>
      <vt:lpstr>Probabilidade</vt:lpstr>
      <vt:lpstr>Média da região</vt:lpstr>
      <vt:lpstr>Média da região</vt:lpstr>
      <vt:lpstr>Média da região</vt:lpstr>
      <vt:lpstr>Média da região</vt:lpstr>
      <vt:lpstr>Limiar e média da região</vt:lpstr>
      <vt:lpstr>Otsu</vt:lpstr>
      <vt:lpstr>Variância “global” e “entre classes”</vt:lpstr>
      <vt:lpstr>Otsu - Thresholding Global Ótimo</vt:lpstr>
      <vt:lpstr>Algoritmo de Otsu</vt:lpstr>
      <vt:lpstr>Exemplo</vt:lpstr>
      <vt:lpstr>Exemplo</vt:lpstr>
      <vt:lpstr>Melhorando o Thresholding Global</vt:lpstr>
      <vt:lpstr>Multiplos Thresholds</vt:lpstr>
      <vt:lpstr>Múltiplos Thresholds</vt:lpstr>
      <vt:lpstr>Thresholding Variável</vt:lpstr>
      <vt:lpstr>Thresholding Variável</vt:lpstr>
      <vt:lpstr>Thresholding Variável</vt:lpstr>
      <vt:lpstr>Thresholding Variável</vt:lpstr>
      <vt:lpstr>Thresholding Variável</vt:lpstr>
      <vt:lpstr>Thresholding Variável</vt:lpstr>
      <vt:lpstr>Thresholding Variável</vt:lpstr>
      <vt:lpstr>Thresholding Variável</vt:lpstr>
      <vt:lpstr>Intensidade média de movimento (moving average)</vt:lpstr>
      <vt:lpstr>Intensidade média de movimento (moving average)</vt:lpstr>
      <vt:lpstr>Intensidade média de movimento (moving average)</vt:lpstr>
      <vt:lpstr>Intensidade média de movimento (moving average)</vt:lpstr>
      <vt:lpstr>Intensidade média de movimento (moving average)</vt:lpstr>
      <vt:lpstr>Detecção de Descontinuidades</vt:lpstr>
      <vt:lpstr>Detecção de Descontinuidades</vt:lpstr>
      <vt:lpstr>Detecção de Descontinuidades</vt:lpstr>
      <vt:lpstr>Detecção de Descontinuidades</vt:lpstr>
      <vt:lpstr>Detecção de Descontinuidades</vt:lpstr>
      <vt:lpstr>Detecção de Descontinuidades</vt:lpstr>
      <vt:lpstr>Detecção de Descontinuidades</vt:lpstr>
      <vt:lpstr>Detecção de Descontinuidades</vt:lpstr>
      <vt:lpstr>Detecção de Descontinuidades</vt:lpstr>
      <vt:lpstr>Detecção de Regiões</vt:lpstr>
      <vt:lpstr>Definição</vt:lpstr>
      <vt:lpstr>Crescimento de Regiões</vt:lpstr>
      <vt:lpstr>Crescimento de Regiões</vt:lpstr>
      <vt:lpstr>Crescimento de Regiões</vt:lpstr>
      <vt:lpstr>Crescimento de Regiões</vt:lpstr>
      <vt:lpstr>Transformada Watershed</vt:lpstr>
      <vt:lpstr>Transformada Watershed</vt:lpstr>
      <vt:lpstr>Transformada Watershed</vt:lpstr>
      <vt:lpstr>Transformada Watershed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Cor</dc:title>
  <dc:creator>User</dc:creator>
  <cp:lastModifiedBy>Bruno Travencolo</cp:lastModifiedBy>
  <cp:revision>227</cp:revision>
  <dcterms:created xsi:type="dcterms:W3CDTF">2014-09-26T11:36:19Z</dcterms:created>
  <dcterms:modified xsi:type="dcterms:W3CDTF">2024-09-27T10:56:38Z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1300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</Properties>
</file>