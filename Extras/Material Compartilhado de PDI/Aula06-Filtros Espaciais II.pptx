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8"/>
  </p:notesMasterIdLst>
  <p:sldIdLst>
    <p:sldId id="256" r:id="rId5"/>
    <p:sldId id="283" r:id="rId6"/>
    <p:sldId id="284" r:id="rId7"/>
    <p:sldId id="258" r:id="rId8"/>
    <p:sldId id="285" r:id="rId9"/>
    <p:sldId id="303" r:id="rId10"/>
    <p:sldId id="286" r:id="rId11"/>
    <p:sldId id="290" r:id="rId12"/>
    <p:sldId id="287" r:id="rId13"/>
    <p:sldId id="259" r:id="rId14"/>
    <p:sldId id="291" r:id="rId15"/>
    <p:sldId id="289" r:id="rId16"/>
    <p:sldId id="260" r:id="rId17"/>
    <p:sldId id="262" r:id="rId18"/>
    <p:sldId id="297" r:id="rId19"/>
    <p:sldId id="293" r:id="rId20"/>
    <p:sldId id="307" r:id="rId21"/>
    <p:sldId id="263" r:id="rId22"/>
    <p:sldId id="264" r:id="rId23"/>
    <p:sldId id="265" r:id="rId24"/>
    <p:sldId id="266" r:id="rId25"/>
    <p:sldId id="312" r:id="rId26"/>
    <p:sldId id="308" r:id="rId27"/>
    <p:sldId id="309" r:id="rId28"/>
    <p:sldId id="267" r:id="rId29"/>
    <p:sldId id="310" r:id="rId30"/>
    <p:sldId id="268" r:id="rId31"/>
    <p:sldId id="311" r:id="rId32"/>
    <p:sldId id="313" r:id="rId33"/>
    <p:sldId id="269" r:id="rId34"/>
    <p:sldId id="304" r:id="rId35"/>
    <p:sldId id="314" r:id="rId36"/>
    <p:sldId id="317" r:id="rId37"/>
    <p:sldId id="318" r:id="rId38"/>
    <p:sldId id="315" r:id="rId39"/>
    <p:sldId id="316" r:id="rId40"/>
    <p:sldId id="319" r:id="rId41"/>
    <p:sldId id="320" r:id="rId42"/>
    <p:sldId id="330" r:id="rId43"/>
    <p:sldId id="331" r:id="rId44"/>
    <p:sldId id="332" r:id="rId45"/>
    <p:sldId id="321" r:id="rId46"/>
    <p:sldId id="322" r:id="rId47"/>
    <p:sldId id="323" r:id="rId48"/>
    <p:sldId id="324" r:id="rId49"/>
    <p:sldId id="325" r:id="rId50"/>
    <p:sldId id="326" r:id="rId51"/>
    <p:sldId id="327" r:id="rId52"/>
    <p:sldId id="328" r:id="rId53"/>
    <p:sldId id="329" r:id="rId54"/>
    <p:sldId id="280" r:id="rId55"/>
    <p:sldId id="296" r:id="rId56"/>
    <p:sldId id="281" r:id="rId5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8ACF3D-1B36-4C37-B5AB-4657A2BCAE18}" v="4" dt="2023-09-27T20:38:01.5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155" autoAdjust="0"/>
  </p:normalViewPr>
  <p:slideViewPr>
    <p:cSldViewPr>
      <p:cViewPr varScale="1">
        <p:scale>
          <a:sx n="95" d="100"/>
          <a:sy n="95" d="100"/>
        </p:scale>
        <p:origin x="206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Augusto Nassif Travencolo" userId="9765cb90-d5ec-451e-8c7b-af57428794a1" providerId="ADAL" clId="{CF542071-8093-4C6A-9C5D-FEC66CCF9338}"/>
    <pc:docChg chg="modSld">
      <pc:chgData name="Bruno Augusto Nassif Travencolo" userId="9765cb90-d5ec-451e-8c7b-af57428794a1" providerId="ADAL" clId="{CF542071-8093-4C6A-9C5D-FEC66CCF9338}" dt="2023-04-20T23:30:00.104" v="3" actId="1076"/>
      <pc:docMkLst>
        <pc:docMk/>
      </pc:docMkLst>
      <pc:sldChg chg="modSp">
        <pc:chgData name="Bruno Augusto Nassif Travencolo" userId="9765cb90-d5ec-451e-8c7b-af57428794a1" providerId="ADAL" clId="{CF542071-8093-4C6A-9C5D-FEC66CCF9338}" dt="2023-04-20T23:30:00.104" v="3" actId="1076"/>
        <pc:sldMkLst>
          <pc:docMk/>
          <pc:sldMk cId="3211110765" sldId="329"/>
        </pc:sldMkLst>
        <pc:picChg chg="mod">
          <ac:chgData name="Bruno Augusto Nassif Travencolo" userId="9765cb90-d5ec-451e-8c7b-af57428794a1" providerId="ADAL" clId="{CF542071-8093-4C6A-9C5D-FEC66CCF9338}" dt="2023-04-20T23:30:00.104" v="3" actId="1076"/>
          <ac:picMkLst>
            <pc:docMk/>
            <pc:sldMk cId="3211110765" sldId="329"/>
            <ac:picMk id="52226" creationId="{00000000-0000-0000-0000-000000000000}"/>
          </ac:picMkLst>
        </pc:picChg>
      </pc:sldChg>
    </pc:docChg>
  </pc:docChgLst>
  <pc:docChgLst>
    <pc:chgData name="Bruno Augusto Nassif Travencolo" userId="9765cb90-d5ec-451e-8c7b-af57428794a1" providerId="ADAL" clId="{AC8ACF3D-1B36-4C37-B5AB-4657A2BCAE18}"/>
    <pc:docChg chg="custSel modSld">
      <pc:chgData name="Bruno Augusto Nassif Travencolo" userId="9765cb90-d5ec-451e-8c7b-af57428794a1" providerId="ADAL" clId="{AC8ACF3D-1B36-4C37-B5AB-4657A2BCAE18}" dt="2023-09-27T20:49:12.544" v="29" actId="20577"/>
      <pc:docMkLst>
        <pc:docMk/>
      </pc:docMkLst>
      <pc:sldChg chg="modSp mod">
        <pc:chgData name="Bruno Augusto Nassif Travencolo" userId="9765cb90-d5ec-451e-8c7b-af57428794a1" providerId="ADAL" clId="{AC8ACF3D-1B36-4C37-B5AB-4657A2BCAE18}" dt="2023-09-27T20:37:34.039" v="0" actId="20577"/>
        <pc:sldMkLst>
          <pc:docMk/>
          <pc:sldMk cId="0" sldId="258"/>
        </pc:sldMkLst>
        <pc:spChg chg="mod">
          <ac:chgData name="Bruno Augusto Nassif Travencolo" userId="9765cb90-d5ec-451e-8c7b-af57428794a1" providerId="ADAL" clId="{AC8ACF3D-1B36-4C37-B5AB-4657A2BCAE18}" dt="2023-09-27T20:37:34.039" v="0" actId="20577"/>
          <ac:spMkLst>
            <pc:docMk/>
            <pc:sldMk cId="0" sldId="258"/>
            <ac:spMk id="33795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AC8ACF3D-1B36-4C37-B5AB-4657A2BCAE18}" dt="2023-09-27T20:38:46.960" v="8" actId="20577"/>
        <pc:sldMkLst>
          <pc:docMk/>
          <pc:sldMk cId="0" sldId="259"/>
        </pc:sldMkLst>
        <pc:spChg chg="mod">
          <ac:chgData name="Bruno Augusto Nassif Travencolo" userId="9765cb90-d5ec-451e-8c7b-af57428794a1" providerId="ADAL" clId="{AC8ACF3D-1B36-4C37-B5AB-4657A2BCAE18}" dt="2023-09-27T20:38:46.960" v="8" actId="20577"/>
          <ac:spMkLst>
            <pc:docMk/>
            <pc:sldMk cId="0" sldId="259"/>
            <ac:spMk id="6148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AC8ACF3D-1B36-4C37-B5AB-4657A2BCAE18}" dt="2023-09-27T20:48:27.198" v="10" actId="20577"/>
        <pc:sldMkLst>
          <pc:docMk/>
          <pc:sldMk cId="0" sldId="268"/>
        </pc:sldMkLst>
        <pc:spChg chg="mod">
          <ac:chgData name="Bruno Augusto Nassif Travencolo" userId="9765cb90-d5ec-451e-8c7b-af57428794a1" providerId="ADAL" clId="{AC8ACF3D-1B36-4C37-B5AB-4657A2BCAE18}" dt="2023-09-27T20:48:27.198" v="10" actId="20577"/>
          <ac:spMkLst>
            <pc:docMk/>
            <pc:sldMk cId="0" sldId="268"/>
            <ac:spMk id="9220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AC8ACF3D-1B36-4C37-B5AB-4657A2BCAE18}" dt="2023-09-27T20:38:01.593" v="5" actId="790"/>
        <pc:sldMkLst>
          <pc:docMk/>
          <pc:sldMk cId="0" sldId="285"/>
        </pc:sldMkLst>
        <pc:spChg chg="mod">
          <ac:chgData name="Bruno Augusto Nassif Travencolo" userId="9765cb90-d5ec-451e-8c7b-af57428794a1" providerId="ADAL" clId="{AC8ACF3D-1B36-4C37-B5AB-4657A2BCAE18}" dt="2023-09-27T20:37:47.713" v="1" actId="790"/>
          <ac:spMkLst>
            <pc:docMk/>
            <pc:sldMk cId="0" sldId="285"/>
            <ac:spMk id="2" creationId="{00000000-0000-0000-0000-000000000000}"/>
          </ac:spMkLst>
        </pc:spChg>
        <pc:spChg chg="mod">
          <ac:chgData name="Bruno Augusto Nassif Travencolo" userId="9765cb90-d5ec-451e-8c7b-af57428794a1" providerId="ADAL" clId="{AC8ACF3D-1B36-4C37-B5AB-4657A2BCAE18}" dt="2023-09-27T20:38:01.593" v="5" actId="790"/>
          <ac:spMkLst>
            <pc:docMk/>
            <pc:sldMk cId="0" sldId="285"/>
            <ac:spMk id="5" creationId="{00000000-0000-0000-0000-000000000000}"/>
          </ac:spMkLst>
        </pc:spChg>
        <pc:spChg chg="mod">
          <ac:chgData name="Bruno Augusto Nassif Travencolo" userId="9765cb90-d5ec-451e-8c7b-af57428794a1" providerId="ADAL" clId="{AC8ACF3D-1B36-4C37-B5AB-4657A2BCAE18}" dt="2023-09-27T20:37:56.525" v="4" actId="790"/>
          <ac:spMkLst>
            <pc:docMk/>
            <pc:sldMk cId="0" sldId="285"/>
            <ac:spMk id="6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AC8ACF3D-1B36-4C37-B5AB-4657A2BCAE18}" dt="2023-09-27T20:38:18.866" v="6" actId="790"/>
        <pc:sldMkLst>
          <pc:docMk/>
          <pc:sldMk cId="0" sldId="303"/>
        </pc:sldMkLst>
        <pc:spChg chg="mod">
          <ac:chgData name="Bruno Augusto Nassif Travencolo" userId="9765cb90-d5ec-451e-8c7b-af57428794a1" providerId="ADAL" clId="{AC8ACF3D-1B36-4C37-B5AB-4657A2BCAE18}" dt="2023-09-27T20:38:18.866" v="6" actId="790"/>
          <ac:spMkLst>
            <pc:docMk/>
            <pc:sldMk cId="0" sldId="303"/>
            <ac:spMk id="2" creationId="{00000000-0000-0000-0000-000000000000}"/>
          </ac:spMkLst>
        </pc:spChg>
      </pc:sldChg>
      <pc:sldChg chg="delSp modSp mod">
        <pc:chgData name="Bruno Augusto Nassif Travencolo" userId="9765cb90-d5ec-451e-8c7b-af57428794a1" providerId="ADAL" clId="{AC8ACF3D-1B36-4C37-B5AB-4657A2BCAE18}" dt="2023-09-27T20:48:49.240" v="28" actId="478"/>
        <pc:sldMkLst>
          <pc:docMk/>
          <pc:sldMk cId="2516641343" sldId="313"/>
        </pc:sldMkLst>
        <pc:spChg chg="del">
          <ac:chgData name="Bruno Augusto Nassif Travencolo" userId="9765cb90-d5ec-451e-8c7b-af57428794a1" providerId="ADAL" clId="{AC8ACF3D-1B36-4C37-B5AB-4657A2BCAE18}" dt="2023-09-27T20:48:49.240" v="28" actId="478"/>
          <ac:spMkLst>
            <pc:docMk/>
            <pc:sldMk cId="2516641343" sldId="313"/>
            <ac:spMk id="4" creationId="{00000000-0000-0000-0000-000000000000}"/>
          </ac:spMkLst>
        </pc:spChg>
        <pc:spChg chg="mod">
          <ac:chgData name="Bruno Augusto Nassif Travencolo" userId="9765cb90-d5ec-451e-8c7b-af57428794a1" providerId="ADAL" clId="{AC8ACF3D-1B36-4C37-B5AB-4657A2BCAE18}" dt="2023-09-27T20:48:45.538" v="27" actId="20577"/>
          <ac:spMkLst>
            <pc:docMk/>
            <pc:sldMk cId="2516641343" sldId="313"/>
            <ac:spMk id="1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AC8ACF3D-1B36-4C37-B5AB-4657A2BCAE18}" dt="2023-09-27T20:49:12.544" v="29" actId="20577"/>
        <pc:sldMkLst>
          <pc:docMk/>
          <pc:sldMk cId="4049021906" sldId="317"/>
        </pc:sldMkLst>
        <pc:spChg chg="mod">
          <ac:chgData name="Bruno Augusto Nassif Travencolo" userId="9765cb90-d5ec-451e-8c7b-af57428794a1" providerId="ADAL" clId="{AC8ACF3D-1B36-4C37-B5AB-4657A2BCAE18}" dt="2023-09-27T20:49:12.544" v="29" actId="20577"/>
          <ac:spMkLst>
            <pc:docMk/>
            <pc:sldMk cId="4049021906" sldId="317"/>
            <ac:spMk id="614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F5BE9-BCE9-4E33-A72A-C06C915D5AB1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7A249C-EDAB-47DF-B6A7-6BBFF6BE304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78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pt-BR" dirty="0"/>
              <a:t>d’’(x) = f’(x) – f’(x-1) = f(x+1)-f(x) –f(x)+f(x-1) = f(x+1)-f(x-1)-2f(x)</a:t>
            </a:r>
          </a:p>
          <a:p>
            <a:pPr eaLnBrk="1" hangingPunct="1">
              <a:spcBef>
                <a:spcPct val="0"/>
              </a:spcBef>
            </a:pPr>
            <a:r>
              <a:rPr lang="pt-BR" dirty="0"/>
              <a:t>Exemplo: f(0) = 0; f(1) = 4; f(2) = 6; f(3)=10; f(4)= 12</a:t>
            </a:r>
          </a:p>
          <a:p>
            <a:pPr eaLnBrk="1" hangingPunct="1">
              <a:spcBef>
                <a:spcPct val="0"/>
              </a:spcBef>
            </a:pPr>
            <a:r>
              <a:rPr lang="pt-BR" dirty="0"/>
              <a:t>              f’(1) = f(2)-f(1) =2</a:t>
            </a:r>
          </a:p>
          <a:p>
            <a:pPr eaLnBrk="1" hangingPunct="1">
              <a:spcBef>
                <a:spcPct val="0"/>
              </a:spcBef>
            </a:pPr>
            <a:r>
              <a:rPr lang="pt-BR" dirty="0"/>
              <a:t>              f’(2) = f(3)-f(2) = 4</a:t>
            </a:r>
          </a:p>
          <a:p>
            <a:pPr eaLnBrk="1" hangingPunct="1">
              <a:spcBef>
                <a:spcPct val="0"/>
              </a:spcBef>
            </a:pPr>
            <a:r>
              <a:rPr lang="pt-BR" dirty="0"/>
              <a:t>              f’’(2) = f’(2)-f’(1) = f(3)-f(2)-f(2)+f(1) = f(3)+f(1)-2f(2)</a:t>
            </a:r>
          </a:p>
          <a:p>
            <a:pPr eaLnBrk="1" hangingPunct="1">
              <a:spcBef>
                <a:spcPct val="0"/>
              </a:spcBef>
            </a:pPr>
            <a:r>
              <a:rPr lang="pt-BR" dirty="0"/>
              <a:t>              </a:t>
            </a:r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7A249C-EDAB-47DF-B6A7-6BBFF6BE304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dirty="0"/>
          </a:p>
          <a:p>
            <a:pPr eaLnBrk="1" hangingPunct="1">
              <a:spcBef>
                <a:spcPct val="0"/>
              </a:spcBef>
            </a:pPr>
            <a:r>
              <a:rPr lang="pt-BR" dirty="0"/>
              <a:t>              </a:t>
            </a:r>
          </a:p>
        </p:txBody>
      </p:sp>
      <p:sp>
        <p:nvSpPr>
          <p:cNvPr id="5222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9E28A72-FF99-4947-A097-3B6B14E3B149}" type="slidenum">
              <a:rPr lang="pt-BR" smtClean="0"/>
              <a:pPr/>
              <a:t>13</a:t>
            </a:fld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ABC560-A1EC-45F3-B623-7F9F20D6F2B9}" type="slidenum">
              <a:rPr lang="pt-BR" smtClean="0"/>
              <a:pPr>
                <a:defRPr/>
              </a:pPr>
              <a:t>32</a:t>
            </a:fld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ABC560-A1EC-45F3-B623-7F9F20D6F2B9}" type="slidenum">
              <a:rPr lang="pt-BR" smtClean="0"/>
              <a:pPr>
                <a:defRPr/>
              </a:pPr>
              <a:t>33</a:t>
            </a:fld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ABC560-A1EC-45F3-B623-7F9F20D6F2B9}" type="slidenum">
              <a:rPr lang="pt-BR" smtClean="0"/>
              <a:pPr>
                <a:defRPr/>
              </a:pPr>
              <a:t>34</a:t>
            </a:fld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C5D5A0-C74A-4D62-9982-056AB0B971AE}" type="slidenum">
              <a:rPr lang="pt-BR" smtClean="0"/>
              <a:pPr>
                <a:defRPr/>
              </a:pPr>
              <a:t>35</a:t>
            </a:fld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64C63C-4D4E-4B88-A4B2-466222D7141B}" type="slidenum">
              <a:rPr lang="pt-BR" smtClean="0"/>
              <a:pPr>
                <a:defRPr/>
              </a:pPr>
              <a:t>36</a:t>
            </a:fld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916C6C-EF93-437C-B28B-9F546783AC39}" type="slidenum">
              <a:rPr lang="pt-BR" smtClean="0"/>
              <a:pPr>
                <a:defRPr/>
              </a:pPr>
              <a:t>38</a:t>
            </a:fld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pt-BR" dirty="0"/>
              <a:t>Magnitude do gradiente -  </a:t>
            </a:r>
            <a:r>
              <a:rPr lang="pt-BR" dirty="0" err="1"/>
              <a:t>eh</a:t>
            </a:r>
            <a:r>
              <a:rPr lang="pt-BR" dirty="0"/>
              <a:t> calculado</a:t>
            </a:r>
            <a:r>
              <a:rPr lang="pt-BR" baseline="0" dirty="0"/>
              <a:t> pela </a:t>
            </a:r>
            <a:r>
              <a:rPr lang="pt-BR" baseline="0" dirty="0" err="1"/>
              <a:t>combinaçao</a:t>
            </a:r>
            <a:r>
              <a:rPr lang="pt-BR" baseline="0" dirty="0"/>
              <a:t> das derivadas parciais. Sendo assim ele se torna invariante as </a:t>
            </a:r>
            <a:r>
              <a:rPr lang="pt-BR" baseline="0" dirty="0" err="1"/>
              <a:t>rotacao</a:t>
            </a:r>
            <a:r>
              <a:rPr lang="pt-BR" baseline="0" dirty="0"/>
              <a:t>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7A249C-EDAB-47DF-B6A7-6BBFF6BE3043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FC75E2-28D6-4935-BC6C-F150368A940A}" type="slidenum">
              <a:rPr lang="pt-BR" smtClean="0"/>
              <a:pPr>
                <a:defRPr/>
              </a:pPr>
              <a:t>42</a:t>
            </a:fld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B86E75-A2AD-4CD3-9AE0-A3C45D77C209}" type="slidenum">
              <a:rPr lang="pt-BR" smtClean="0"/>
              <a:pPr>
                <a:defRPr/>
              </a:pPr>
              <a:t>43</a:t>
            </a:fld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7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B80A276-F976-4200-911F-4A83B091EB66}" type="slidenum">
              <a:rPr lang="pt-BR" smtClean="0"/>
              <a:pPr>
                <a:defRPr/>
              </a:pPr>
              <a:t>44</a:t>
            </a:fld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D9E280-EF48-4164-A52F-300F9F07CE16}" type="slidenum">
              <a:rPr lang="pt-BR" smtClean="0"/>
              <a:pPr>
                <a:defRPr/>
              </a:pPr>
              <a:t>45</a:t>
            </a:fld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E8CEA50-8874-41CA-BDA3-782823284166}" type="slidenum">
              <a:rPr lang="pt-BR" smtClean="0"/>
              <a:pPr>
                <a:defRPr/>
              </a:pPr>
              <a:t>46</a:t>
            </a:fld>
            <a:endParaRPr 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26608C0-907E-47F6-8E2C-8C9C58FAFBEE}" type="slidenum">
              <a:rPr lang="pt-BR" smtClean="0"/>
              <a:pPr>
                <a:defRPr/>
              </a:pPr>
              <a:t>47</a:t>
            </a:fld>
            <a:endParaRPr 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4298169-9A26-4E5D-81A3-8F17D5EC6BA1}" type="slidenum">
              <a:rPr lang="pt-BR" smtClean="0"/>
              <a:pPr>
                <a:defRPr/>
              </a:pPr>
              <a:t>48</a:t>
            </a:fld>
            <a:endParaRPr 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F0BD9F-DBFA-46DD-98B9-521EF8F1F068}" type="slidenum">
              <a:rPr lang="pt-BR" smtClean="0"/>
              <a:pPr>
                <a:defRPr/>
              </a:pPr>
              <a:t>49</a:t>
            </a:fld>
            <a:endParaRPr 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C49BA56-65B0-4DB1-A884-1B608F343646}" type="slidenum">
              <a:rPr lang="pt-BR" smtClean="0"/>
              <a:pPr>
                <a:defRPr/>
              </a:pPr>
              <a:t>50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1BCBB75-59B4-45BC-8113-261ADA7DBC16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C323C8C-C545-4186-A864-4B7E43002F5D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BB75-59B4-45BC-8113-261ADA7DBC16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23C8C-C545-4186-A864-4B7E43002F5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BB75-59B4-45BC-8113-261ADA7DBC16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23C8C-C545-4186-A864-4B7E43002F5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Divisa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BB75-59B4-45BC-8113-261ADA7DBC16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23C8C-C545-4186-A864-4B7E43002F5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BB75-59B4-45BC-8113-261ADA7DBC16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23C8C-C545-4186-A864-4B7E43002F5D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BB75-59B4-45BC-8113-261ADA7DBC16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23C8C-C545-4186-A864-4B7E43002F5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BB75-59B4-45BC-8113-261ADA7DBC16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23C8C-C545-4186-A864-4B7E43002F5D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D1BCBB75-59B4-45BC-8113-261ADA7DBC16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23C8C-C545-4186-A864-4B7E43002F5D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1BCBB75-59B4-45BC-8113-261ADA7DBC16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C323C8C-C545-4186-A864-4B7E43002F5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BB75-59B4-45BC-8113-261ADA7DBC16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23C8C-C545-4186-A864-4B7E43002F5D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BB75-59B4-45BC-8113-261ADA7DBC16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23C8C-C545-4186-A864-4B7E43002F5D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D1BCBB75-59B4-45BC-8113-261ADA7DBC16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1C323C8C-C545-4186-A864-4B7E43002F5D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0.bin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2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16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18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4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18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Filtros</a:t>
            </a:r>
            <a:r>
              <a:rPr lang="en-US" dirty="0"/>
              <a:t> </a:t>
            </a:r>
            <a:r>
              <a:rPr lang="en-US" dirty="0" err="1"/>
              <a:t>Espaciais</a:t>
            </a:r>
            <a:r>
              <a:rPr lang="en-US" dirty="0"/>
              <a:t> II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Denise </a:t>
            </a:r>
            <a:r>
              <a:rPr lang="en-US" dirty="0" err="1"/>
              <a:t>Guliato</a:t>
            </a:r>
            <a:endParaRPr lang="en-US" dirty="0"/>
          </a:p>
          <a:p>
            <a:r>
              <a:rPr lang="en-US" dirty="0"/>
              <a:t>Bruno </a:t>
            </a:r>
            <a:r>
              <a:rPr lang="en-US" dirty="0" err="1"/>
              <a:t>Travençolo</a:t>
            </a:r>
            <a:endParaRPr lang="en-US" dirty="0"/>
          </a:p>
          <a:p>
            <a:r>
              <a:rPr lang="en-US" dirty="0" err="1"/>
              <a:t>Universidade</a:t>
            </a:r>
            <a:r>
              <a:rPr lang="en-US" dirty="0"/>
              <a:t> Federal de Uberlandia - FACOM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Filtros</a:t>
            </a:r>
            <a:r>
              <a:rPr lang="en-US" dirty="0"/>
              <a:t> </a:t>
            </a:r>
            <a:r>
              <a:rPr lang="en-US" dirty="0" err="1"/>
              <a:t>espaciais</a:t>
            </a:r>
            <a:r>
              <a:rPr lang="en-US" dirty="0"/>
              <a:t> de </a:t>
            </a:r>
            <a:r>
              <a:rPr lang="en-US" dirty="0" err="1"/>
              <a:t>suavização</a:t>
            </a:r>
            <a:endParaRPr lang="en-US" dirty="0"/>
          </a:p>
          <a:p>
            <a:pPr lvl="1"/>
            <a:r>
              <a:rPr lang="en-US" dirty="0" err="1"/>
              <a:t>Filtros</a:t>
            </a:r>
            <a:r>
              <a:rPr lang="en-US" dirty="0"/>
              <a:t> </a:t>
            </a:r>
            <a:r>
              <a:rPr lang="en-US" dirty="0" err="1"/>
              <a:t>lineares</a:t>
            </a:r>
            <a:endParaRPr lang="en-US" dirty="0"/>
          </a:p>
          <a:p>
            <a:pPr lvl="2"/>
            <a:r>
              <a:rPr lang="en-US" dirty="0" err="1"/>
              <a:t>Filtro</a:t>
            </a:r>
            <a:r>
              <a:rPr lang="en-US" dirty="0"/>
              <a:t> de </a:t>
            </a:r>
            <a:r>
              <a:rPr lang="en-US" dirty="0" err="1"/>
              <a:t>média</a:t>
            </a:r>
            <a:endParaRPr lang="en-US" dirty="0"/>
          </a:p>
          <a:p>
            <a:pPr>
              <a:buNone/>
            </a:pPr>
            <a:endParaRPr lang="en-US" dirty="0"/>
          </a:p>
          <a:p>
            <a:pPr lvl="1"/>
            <a:r>
              <a:rPr lang="en-US" dirty="0" err="1"/>
              <a:t>Filtros</a:t>
            </a:r>
            <a:r>
              <a:rPr lang="en-US" dirty="0"/>
              <a:t> </a:t>
            </a:r>
            <a:r>
              <a:rPr lang="en-US" dirty="0" err="1"/>
              <a:t>nao</a:t>
            </a:r>
            <a:r>
              <a:rPr lang="en-US" dirty="0"/>
              <a:t> </a:t>
            </a:r>
            <a:r>
              <a:rPr lang="en-US" dirty="0" err="1"/>
              <a:t>lineares</a:t>
            </a:r>
            <a:endParaRPr lang="en-US" dirty="0"/>
          </a:p>
          <a:p>
            <a:pPr lvl="2"/>
            <a:r>
              <a:rPr lang="en-US" dirty="0" err="1"/>
              <a:t>Filtro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mediana</a:t>
            </a:r>
            <a:endParaRPr lang="en-US" dirty="0"/>
          </a:p>
          <a:p>
            <a:pPr lvl="2"/>
            <a:r>
              <a:rPr lang="en-US" dirty="0" err="1"/>
              <a:t>Filtro</a:t>
            </a:r>
            <a:r>
              <a:rPr lang="en-US" dirty="0"/>
              <a:t> do </a:t>
            </a:r>
            <a:r>
              <a:rPr lang="en-US" dirty="0" err="1"/>
              <a:t>maximo</a:t>
            </a:r>
            <a:endParaRPr lang="en-US" dirty="0"/>
          </a:p>
          <a:p>
            <a:pPr lvl="2"/>
            <a:r>
              <a:rPr lang="en-US" dirty="0" err="1"/>
              <a:t>Filtro</a:t>
            </a:r>
            <a:r>
              <a:rPr lang="en-US" dirty="0"/>
              <a:t> do </a:t>
            </a:r>
            <a:r>
              <a:rPr lang="en-US" dirty="0" err="1"/>
              <a:t>minimo</a:t>
            </a:r>
            <a:endParaRPr lang="en-US" dirty="0"/>
          </a:p>
          <a:p>
            <a:pPr lvl="2"/>
            <a:r>
              <a:rPr lang="en-US" dirty="0" err="1"/>
              <a:t>Filtro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moda</a:t>
            </a:r>
            <a:endParaRPr lang="en-U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Recapitulando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530944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Filtros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espaciais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realce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arestas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/>
              <a:t>- </a:t>
            </a:r>
            <a:r>
              <a:rPr lang="pt-BR" dirty="0"/>
              <a:t>Realça as transições de  intensidades que ocorrem em uma imagem</a:t>
            </a:r>
          </a:p>
          <a:p>
            <a:endParaRPr lang="pt-BR" dirty="0"/>
          </a:p>
          <a:p>
            <a:r>
              <a:rPr lang="pt-BR" dirty="0"/>
              <a:t>Estudaremos</a:t>
            </a:r>
            <a:endParaRPr lang="en-US" dirty="0"/>
          </a:p>
          <a:p>
            <a:pPr lvl="1"/>
            <a:r>
              <a:rPr lang="pt-BR" dirty="0"/>
              <a:t>Filtros de derivadas de primeira ordem:</a:t>
            </a:r>
          </a:p>
          <a:p>
            <a:pPr lvl="2"/>
            <a:r>
              <a:rPr lang="pt-BR" dirty="0"/>
              <a:t>Filtro de </a:t>
            </a:r>
            <a:r>
              <a:rPr lang="pt-BR" dirty="0" err="1"/>
              <a:t>Prewitt</a:t>
            </a:r>
            <a:endParaRPr lang="pt-BR" dirty="0"/>
          </a:p>
          <a:p>
            <a:pPr lvl="2"/>
            <a:r>
              <a:rPr lang="pt-BR" dirty="0"/>
              <a:t>Filtro de </a:t>
            </a:r>
            <a:r>
              <a:rPr lang="pt-BR" dirty="0" err="1"/>
              <a:t>Sobel</a:t>
            </a:r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Filtros de derivadas de segunda ordem</a:t>
            </a:r>
          </a:p>
          <a:p>
            <a:pPr lvl="2"/>
            <a:r>
              <a:rPr lang="pt-BR" dirty="0"/>
              <a:t>Filtro Laplaciano</a:t>
            </a:r>
          </a:p>
          <a:p>
            <a:pPr lvl="2"/>
            <a:endParaRPr lang="pt-BR" dirty="0"/>
          </a:p>
          <a:p>
            <a:pPr lvl="1"/>
            <a:r>
              <a:rPr lang="pt-BR" dirty="0"/>
              <a:t>Filtros de ênfase </a:t>
            </a:r>
          </a:p>
          <a:p>
            <a:pPr lvl="2"/>
            <a:r>
              <a:rPr lang="pt-BR" dirty="0" err="1"/>
              <a:t>unsharp</a:t>
            </a:r>
            <a:r>
              <a:rPr lang="pt-BR" dirty="0"/>
              <a:t> </a:t>
            </a:r>
            <a:r>
              <a:rPr lang="pt-BR" dirty="0" err="1"/>
              <a:t>mask</a:t>
            </a:r>
            <a:r>
              <a:rPr lang="pt-BR" dirty="0"/>
              <a:t> </a:t>
            </a:r>
          </a:p>
          <a:p>
            <a:pPr lvl="2"/>
            <a:r>
              <a:rPr lang="pt-BR" dirty="0" err="1"/>
              <a:t>high</a:t>
            </a:r>
            <a:r>
              <a:rPr lang="pt-BR" dirty="0"/>
              <a:t> </a:t>
            </a:r>
            <a:r>
              <a:rPr lang="pt-BR" dirty="0" err="1"/>
              <a:t>boost</a:t>
            </a:r>
            <a:r>
              <a:rPr lang="pt-BR" dirty="0"/>
              <a:t> </a:t>
            </a:r>
            <a:r>
              <a:rPr lang="pt-BR" dirty="0" err="1"/>
              <a:t>filter</a:t>
            </a:r>
            <a:endParaRPr lang="pt-BR" dirty="0"/>
          </a:p>
          <a:p>
            <a:pPr>
              <a:buFontTx/>
              <a:buNone/>
            </a:pPr>
            <a:endParaRPr lang="pt-BR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778098"/>
          </a:xfrm>
        </p:spPr>
        <p:txBody>
          <a:bodyPr/>
          <a:lstStyle/>
          <a:p>
            <a:r>
              <a:rPr lang="en-US" dirty="0"/>
              <a:t>Aula de </a:t>
            </a:r>
            <a:r>
              <a:rPr lang="en-US" dirty="0" err="1"/>
              <a:t>hoje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457200" y="1600200"/>
            <a:ext cx="8229600" cy="490061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/>
              <a:t>O filtro de realce de arestas deve ser capaz de identificar:</a:t>
            </a:r>
          </a:p>
          <a:p>
            <a:endParaRPr lang="pt-BR" dirty="0"/>
          </a:p>
          <a:p>
            <a:pPr lvl="1"/>
            <a:r>
              <a:rPr lang="pt-BR" dirty="0"/>
              <a:t>Áreas de intensidade constante;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Início e fim de áreas de descontinuidades (degraus e rampas de descontinuidades);</a:t>
            </a:r>
          </a:p>
          <a:p>
            <a:pPr lvl="1">
              <a:buFontTx/>
              <a:buNone/>
            </a:pPr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pt-BR" dirty="0"/>
          </a:p>
        </p:txBody>
      </p:sp>
      <p:sp>
        <p:nvSpPr>
          <p:cNvPr id="33794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/>
              <a:t>Filtros para Realce de Arestas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r>
              <a:rPr lang="pt-BR" dirty="0"/>
              <a:t>Como identificar as áreas com intensidade constante na imagem?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Como identificar as transições de intensidade em uma imagem? 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7809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/>
              <a:t>Filtros para Realce de Arestas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1547664" y="3068960"/>
            <a:ext cx="62646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solidFill>
                  <a:srgbClr val="C00000"/>
                </a:solidFill>
              </a:rPr>
              <a:t>Magnitude das transições de intensidades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547664" y="5085184"/>
            <a:ext cx="6120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solidFill>
                  <a:srgbClr val="C00000"/>
                </a:solidFill>
              </a:rPr>
              <a:t>Magnitude das transições de intensidades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t-BR"/>
              <a:t>  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   </a:t>
            </a:r>
            <a:r>
              <a:rPr lang="pt-BR" dirty="0">
                <a:solidFill>
                  <a:srgbClr val="C00000"/>
                </a:solidFill>
              </a:rPr>
              <a:t>Como medir a magnitude de transição de intensidade em um dado ponto da imagem???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06613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/>
              <a:t>Filtros para Realce de Arestas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  <a:p>
            <a:r>
              <a:rPr lang="pt-BR" dirty="0"/>
              <a:t>A magnitude da transição de intensidade em um ponto pode ser medida pela derivada da imagem calculada numa vizinhança daquele ponto.</a:t>
            </a:r>
          </a:p>
          <a:p>
            <a:endParaRPr lang="pt-BR" dirty="0"/>
          </a:p>
          <a:p>
            <a:r>
              <a:rPr lang="pt-BR" dirty="0"/>
              <a:t>A derivada de uma função discreta (imagem) com relação a um ponto </a:t>
            </a:r>
            <a:r>
              <a:rPr lang="pt-BR" i="1" dirty="0"/>
              <a:t>p</a:t>
            </a:r>
            <a:r>
              <a:rPr lang="pt-BR" dirty="0"/>
              <a:t> é definida em termos de diferenças dos pontos na vizinhança de </a:t>
            </a:r>
            <a:r>
              <a:rPr lang="pt-BR" i="1" dirty="0"/>
              <a:t>p.</a:t>
            </a:r>
          </a:p>
          <a:p>
            <a:endParaRPr lang="en-U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850106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/>
              <a:t>Filtros para Realce de Arestas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</a:pPr>
            <a:endParaRPr lang="pt-BR" dirty="0"/>
          </a:p>
          <a:p>
            <a:pPr lvl="1">
              <a:buFontTx/>
              <a:buNone/>
            </a:pPr>
            <a:r>
              <a:rPr lang="pt-BR" sz="2800" dirty="0"/>
              <a:t>Derivada de primeira ordem:</a:t>
            </a:r>
          </a:p>
          <a:p>
            <a:pPr lvl="1">
              <a:buFontTx/>
              <a:buNone/>
            </a:pPr>
            <a:endParaRPr lang="pt-BR" dirty="0"/>
          </a:p>
          <a:p>
            <a:pPr lvl="1">
              <a:buFontTx/>
              <a:buNone/>
            </a:pPr>
            <a:r>
              <a:rPr lang="pt-BR" dirty="0"/>
              <a:t>Definição básica de uma derivada de primeira ordem para uma função 1D f(x):</a:t>
            </a:r>
          </a:p>
          <a:p>
            <a:pPr lvl="1">
              <a:buFontTx/>
              <a:buNone/>
            </a:pPr>
            <a:r>
              <a:rPr lang="pt-BR" dirty="0"/>
              <a:t>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2987824" y="3861048"/>
          <a:ext cx="28575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282680" imgH="393480" progId="Equation.3">
                  <p:embed/>
                </p:oleObj>
              </mc:Choice>
              <mc:Fallback>
                <p:oleObj name="Equação" r:id="rId2" imgW="1282680" imgH="393480" progId="Equation.3">
                  <p:embed/>
                  <p:pic>
                    <p:nvPicPr>
                      <p:cNvPr id="102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3861048"/>
                        <a:ext cx="2857500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/>
              <a:t>Filtros para Realce de Arestas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32656"/>
            <a:ext cx="6414268" cy="6113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480370"/>
              </p:ext>
            </p:extLst>
          </p:nvPr>
        </p:nvGraphicFramePr>
        <p:xfrm>
          <a:off x="179512" y="980728"/>
          <a:ext cx="1944216" cy="596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282700" imgH="393700" progId="Equation.3">
                  <p:embed/>
                </p:oleObj>
              </mc:Choice>
              <mc:Fallback>
                <p:oleObj name="Equação" r:id="rId3" imgW="1282700" imgH="393700" progId="Equation.3">
                  <p:embed/>
                  <p:pic>
                    <p:nvPicPr>
                      <p:cNvPr id="2" name="Objeto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980728"/>
                        <a:ext cx="1944216" cy="5962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457200" y="1600200"/>
            <a:ext cx="8229600" cy="504348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>
              <a:buFontTx/>
              <a:buNone/>
            </a:pPr>
            <a:r>
              <a:rPr lang="pt-BR" dirty="0"/>
              <a:t>Características de um filtro de </a:t>
            </a:r>
            <a:r>
              <a:rPr lang="pt-BR" b="1" dirty="0"/>
              <a:t>derivada de primeira ordem</a:t>
            </a:r>
            <a:r>
              <a:rPr lang="pt-BR" dirty="0"/>
              <a:t>:</a:t>
            </a:r>
          </a:p>
          <a:p>
            <a:pPr lvl="1">
              <a:buFontTx/>
              <a:buNone/>
            </a:pPr>
            <a:endParaRPr lang="pt-BR" dirty="0"/>
          </a:p>
          <a:p>
            <a:pPr lvl="2"/>
            <a:r>
              <a:rPr lang="pt-BR" dirty="0"/>
              <a:t> deve ser zero em áreas de intensidade constante;</a:t>
            </a:r>
          </a:p>
          <a:p>
            <a:pPr lvl="2"/>
            <a:endParaRPr lang="pt-BR" dirty="0"/>
          </a:p>
          <a:p>
            <a:pPr lvl="2"/>
            <a:r>
              <a:rPr lang="pt-BR" dirty="0"/>
              <a:t> deve ser diferente de zero no início e fim de um degrau ou rampa de intensidade;</a:t>
            </a:r>
          </a:p>
          <a:p>
            <a:pPr lvl="2"/>
            <a:endParaRPr lang="pt-BR" dirty="0"/>
          </a:p>
          <a:p>
            <a:pPr lvl="2"/>
            <a:r>
              <a:rPr lang="pt-BR" dirty="0"/>
              <a:t>deve ser diferente de zero ao longo de uma rampa;</a:t>
            </a:r>
          </a:p>
          <a:p>
            <a:pPr lvl="2">
              <a:buFontTx/>
              <a:buNone/>
            </a:pPr>
            <a:endParaRPr lang="pt-BR" dirty="0"/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/>
              <a:t>Filtros para Realce de Arestas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ço Reservado para Conteúdo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65760" lvl="1" indent="-256032">
                  <a:spcBef>
                    <a:spcPts val="400"/>
                  </a:spcBef>
                  <a:buSzPct val="68000"/>
                  <a:buNone/>
                </a:pPr>
                <a:r>
                  <a:rPr lang="pt-BR" sz="2800" dirty="0"/>
                  <a:t>Derivada de segunda ordem:</a:t>
                </a:r>
              </a:p>
              <a:p>
                <a:pPr marL="365760" lvl="1" indent="-256032">
                  <a:spcBef>
                    <a:spcPts val="400"/>
                  </a:spcBef>
                  <a:buSzPct val="68000"/>
                  <a:buNone/>
                </a:pPr>
                <a:endParaRPr lang="pt-BR" dirty="0"/>
              </a:p>
              <a:p>
                <a:pPr marL="365760" lvl="1" indent="-256032">
                  <a:spcBef>
                    <a:spcPts val="400"/>
                  </a:spcBef>
                  <a:buSzPct val="68000"/>
                  <a:buNone/>
                </a:pPr>
                <a:r>
                  <a:rPr lang="pt-BR" dirty="0"/>
                  <a:t>   Definição básica de uma derivada de segunda ordem para uma função 1D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𝑓</m:t>
                    </m:r>
                    <m:r>
                      <a:rPr lang="pt-BR" i="1" dirty="0" smtClean="0">
                        <a:latin typeface="Cambria Math"/>
                      </a:rPr>
                      <m:t>(</m:t>
                    </m:r>
                    <m:r>
                      <a:rPr lang="pt-BR" i="1" dirty="0" smtClean="0">
                        <a:latin typeface="Cambria Math"/>
                      </a:rPr>
                      <m:t>𝑥</m:t>
                    </m:r>
                    <m:r>
                      <a:rPr lang="pt-BR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pt-BR" dirty="0"/>
                  <a:t>:</a:t>
                </a:r>
                <a:endParaRPr lang="en-US" dirty="0"/>
              </a:p>
            </p:txBody>
          </p:sp>
        </mc:Choice>
        <mc:Fallback xmlns="">
          <p:sp>
            <p:nvSpPr>
              <p:cNvPr id="2" name="Espaço Reservado para Conteúdo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4"/>
                <a:stretch>
                  <a:fillRect l="-148" t="-1348" r="-29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/>
              <a:t>Filtros para Realce de Arestas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/>
              <p:cNvSpPr txBox="1"/>
              <p:nvPr/>
            </p:nvSpPr>
            <p:spPr>
              <a:xfrm>
                <a:off x="2339752" y="3140968"/>
                <a:ext cx="6336704" cy="3274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pt-BR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 smtClean="0">
                                  <a:latin typeface="Cambria Math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/>
                            </a:rPr>
                            <m:t>𝑓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pt-BR" i="1" smtClean="0">
                              <a:latin typeface="Cambria Math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/>
                            </a:rPr>
                            <m:t>𝜕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𝑓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′(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pt-BR" b="0" i="1" smtClean="0">
                              <a:latin typeface="Cambria Math"/>
                            </a:rPr>
                            <m:t>𝜕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den>
                      </m:f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  <m:sup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pt-B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  <m:sup>
                          <m:r>
                            <a:rPr lang="pt-BR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pt-B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=  =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t-BR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pt-BR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pt-BR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  <m:r>
                            <a:rPr lang="pt-BR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pt-BR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r>
                        <a:rPr lang="pt-BR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+2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−</m:t>
                      </m:r>
                      <m:r>
                        <a:rPr lang="pt-BR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−</m:t>
                      </m:r>
                      <m:r>
                        <a:rPr lang="pt-BR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+</m:t>
                      </m:r>
                      <m:r>
                        <a:rPr lang="pt-BR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r>
                        <a:rPr lang="pt-BR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+2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−2</m:t>
                      </m:r>
                      <m:r>
                        <a:rPr lang="pt-BR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+</m:t>
                      </m:r>
                      <m:r>
                        <a:rPr lang="pt-BR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pt-BR" b="0" dirty="0"/>
              </a:p>
              <a:p>
                <a:r>
                  <a:rPr lang="pt-BR" b="0" dirty="0"/>
                  <a:t>Essa expansão é sobre o ponto </a:t>
                </a:r>
                <a14:m>
                  <m:oMath xmlns:m="http://schemas.openxmlformats.org/officeDocument/2006/math">
                    <m:r>
                      <a:rPr lang="pt-BR" b="0" i="1" dirty="0" smtClean="0">
                        <a:latin typeface="Cambria Math"/>
                      </a:rPr>
                      <m:t>𝑥</m:t>
                    </m:r>
                    <m:r>
                      <a:rPr lang="pt-BR" b="0" i="1" dirty="0" smtClean="0">
                        <a:latin typeface="Cambria Math"/>
                      </a:rPr>
                      <m:t>+1</m:t>
                    </m:r>
                  </m:oMath>
                </a14:m>
                <a:r>
                  <a:rPr lang="pt-BR" b="0" dirty="0"/>
                  <a:t>. A segunda derivada sobre o ponto </a:t>
                </a:r>
                <a14:m>
                  <m:oMath xmlns:m="http://schemas.openxmlformats.org/officeDocument/2006/math">
                    <m:r>
                      <a:rPr lang="pt-BR" b="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pt-BR" b="0" dirty="0"/>
                  <a:t> é obtida subtraindo 1 dos argumento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pt-B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i="1">
                              <a:latin typeface="Cambria Math"/>
                            </a:rPr>
                            <m:t>𝑓</m:t>
                          </m:r>
                          <m:r>
                            <a:rPr lang="pt-BR" i="1">
                              <a:latin typeface="Cambria Math"/>
                            </a:rPr>
                            <m:t>(</m:t>
                          </m:r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  <m:r>
                            <a:rPr lang="pt-BR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pt-BR" i="1">
                              <a:latin typeface="Cambria Math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r>
                        <a:rPr lang="pt-BR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+</m:t>
                      </m:r>
                      <m:r>
                        <a:rPr lang="pt-BR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−2</m:t>
                      </m:r>
                      <m:r>
                        <a:rPr lang="pt-BR" b="0" i="1" smtClean="0">
                          <a:latin typeface="Cambria Math"/>
                        </a:rPr>
                        <m:t>𝑓</m:t>
                      </m:r>
                      <m:r>
                        <a:rPr lang="pt-BR" b="0" i="1" smtClean="0">
                          <a:latin typeface="Cambria Math"/>
                        </a:rPr>
                        <m:t>(</m:t>
                      </m:r>
                      <m:r>
                        <a:rPr lang="pt-BR" b="0" i="1" smtClean="0">
                          <a:latin typeface="Cambria Math"/>
                        </a:rPr>
                        <m:t>𝑥</m:t>
                      </m:r>
                      <m:r>
                        <a:rPr lang="pt-BR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pt-BR" b="0" dirty="0"/>
              </a:p>
            </p:txBody>
          </p:sp>
        </mc:Choice>
        <mc:Fallback xmlns=""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3140968"/>
                <a:ext cx="6336704" cy="3274101"/>
              </a:xfrm>
              <a:prstGeom prst="rect">
                <a:avLst/>
              </a:prstGeom>
              <a:blipFill rotWithShape="1">
                <a:blip r:embed="rId5"/>
                <a:stretch>
                  <a:fillRect l="-86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3484432"/>
              </p:ext>
            </p:extLst>
          </p:nvPr>
        </p:nvGraphicFramePr>
        <p:xfrm>
          <a:off x="7164288" y="1556792"/>
          <a:ext cx="1704873" cy="522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1282700" imgH="393700" progId="Equation.3">
                  <p:embed/>
                </p:oleObj>
              </mc:Choice>
              <mc:Fallback>
                <p:oleObj name="Equação" r:id="rId6" imgW="1282700" imgH="39370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288" y="1556792"/>
                        <a:ext cx="1704873" cy="5228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332656"/>
            <a:ext cx="6414268" cy="6113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607167"/>
              </p:ext>
            </p:extLst>
          </p:nvPr>
        </p:nvGraphicFramePr>
        <p:xfrm>
          <a:off x="257870" y="692696"/>
          <a:ext cx="2831416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2057400" imgH="419100" progId="Equation.3">
                  <p:embed/>
                </p:oleObj>
              </mc:Choice>
              <mc:Fallback>
                <p:oleObj name="Equação" r:id="rId3" imgW="2057400" imgH="419100" progId="Equation.3">
                  <p:embed/>
                  <p:pic>
                    <p:nvPicPr>
                      <p:cNvPr id="2" name="Objeto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70" y="692696"/>
                        <a:ext cx="2831416" cy="576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457200" y="1600200"/>
            <a:ext cx="8229600" cy="48291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>
              <a:buFontTx/>
              <a:buNone/>
            </a:pPr>
            <a:r>
              <a:rPr lang="pt-BR" dirty="0"/>
              <a:t>Características de um filtro de derivada de segunda ordem:</a:t>
            </a:r>
          </a:p>
          <a:p>
            <a:pPr lvl="1">
              <a:buFontTx/>
              <a:buNone/>
            </a:pPr>
            <a:endParaRPr lang="pt-BR" dirty="0"/>
          </a:p>
          <a:p>
            <a:pPr lvl="2"/>
            <a:r>
              <a:rPr lang="pt-BR" dirty="0"/>
              <a:t> deve ser zero em áreas de intensidade constante;</a:t>
            </a:r>
          </a:p>
          <a:p>
            <a:pPr lvl="2"/>
            <a:endParaRPr lang="pt-BR" dirty="0"/>
          </a:p>
          <a:p>
            <a:pPr lvl="2"/>
            <a:r>
              <a:rPr lang="pt-BR" dirty="0"/>
              <a:t>deve ser diferente de zero no inicio e fim de um degrau ou rampa de intensidade;</a:t>
            </a:r>
          </a:p>
          <a:p>
            <a:pPr lvl="2"/>
            <a:endParaRPr lang="pt-BR" dirty="0"/>
          </a:p>
          <a:p>
            <a:pPr lvl="2"/>
            <a:r>
              <a:rPr lang="pt-BR" dirty="0"/>
              <a:t>deve ser zero em uma rampa com inclinação constante;</a:t>
            </a:r>
          </a:p>
          <a:p>
            <a:pPr lvl="2">
              <a:buFontTx/>
              <a:buNone/>
            </a:pPr>
            <a:endParaRPr lang="pt-BR" dirty="0"/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/>
              <a:t>Filtros para Realce de Arestas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395536" y="1340768"/>
            <a:ext cx="8229600" cy="551723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buNone/>
            </a:pPr>
            <a:endParaRPr lang="pt-BR" dirty="0"/>
          </a:p>
          <a:p>
            <a:r>
              <a:rPr lang="pt-BR" dirty="0"/>
              <a:t>Arestas em imagens digitais frequentemente se comportam como transições de rampa de intensidade</a:t>
            </a: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064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dirty="0"/>
              <a:t>Filtros para Realce de Arestas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573016"/>
            <a:ext cx="6162675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lvl="1" indent="-256032">
              <a:spcBef>
                <a:spcPts val="400"/>
              </a:spcBef>
              <a:buSzPct val="68000"/>
              <a:buFont typeface="Wingdings 3"/>
              <a:buChar char=""/>
            </a:pPr>
            <a:r>
              <a:rPr lang="pt-BR" dirty="0"/>
              <a:t>Aplicando a derivada primeira </a:t>
            </a:r>
            <a:r>
              <a:rPr lang="pt-BR" dirty="0">
                <a:sym typeface="Wingdings" pitchFamily="2" charset="2"/>
              </a:rPr>
              <a:t></a:t>
            </a:r>
          </a:p>
          <a:p>
            <a:pPr marL="603504" lvl="2" indent="-256032">
              <a:spcBef>
                <a:spcPts val="400"/>
              </a:spcBef>
              <a:buSzPct val="68000"/>
              <a:buFont typeface="Wingdings 3"/>
              <a:buChar char=""/>
            </a:pPr>
            <a:r>
              <a:rPr lang="pt-BR" dirty="0">
                <a:sym typeface="Wingdings" pitchFamily="2" charset="2"/>
              </a:rPr>
              <a:t> resulta em arestas grossas porque a derivada na rampa é diferente de zero;</a:t>
            </a:r>
          </a:p>
          <a:p>
            <a:endParaRPr lang="en-US" dirty="0"/>
          </a:p>
        </p:txBody>
      </p:sp>
      <p:sp>
        <p:nvSpPr>
          <p:cNvPr id="4" name="CaixaDeTexto 3"/>
          <p:cNvSpPr txBox="1"/>
          <p:nvPr/>
        </p:nvSpPr>
        <p:spPr>
          <a:xfrm>
            <a:off x="1547664" y="5411778"/>
            <a:ext cx="65555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1a. </a:t>
            </a:r>
            <a:r>
              <a:rPr lang="en-US" sz="1200" dirty="0" err="1"/>
              <a:t>Derivada</a:t>
            </a:r>
            <a:r>
              <a:rPr lang="en-US" sz="1200" dirty="0"/>
              <a:t>      0  0   0  </a:t>
            </a:r>
            <a:r>
              <a:rPr lang="en-US" sz="1200" dirty="0">
                <a:solidFill>
                  <a:srgbClr val="C00000"/>
                </a:solidFill>
              </a:rPr>
              <a:t>-1 -1 -1 -1 -1   </a:t>
            </a:r>
            <a:r>
              <a:rPr lang="en-US" sz="1200" dirty="0"/>
              <a:t>0   0   0   0   0  5   0   0   0   0       </a:t>
            </a: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92211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/>
              <a:t>Filtros para Realce de Arestas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414" y="3306753"/>
            <a:ext cx="6162675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666523"/>
          </a:xfrm>
        </p:spPr>
        <p:txBody>
          <a:bodyPr/>
          <a:lstStyle/>
          <a:p>
            <a:pPr lvl="1"/>
            <a:r>
              <a:rPr lang="pt-BR" dirty="0">
                <a:sym typeface="Wingdings" pitchFamily="2" charset="2"/>
              </a:rPr>
              <a:t>Aplicando a derivada segunda  produz aresta dupla com um pixel de largura, separada por zeros:</a:t>
            </a:r>
          </a:p>
          <a:p>
            <a:pPr lvl="2"/>
            <a:r>
              <a:rPr lang="pt-BR" dirty="0">
                <a:solidFill>
                  <a:srgbClr val="C00000"/>
                </a:solidFill>
                <a:sym typeface="Wingdings" pitchFamily="2" charset="2"/>
              </a:rPr>
              <a:t>melhora detalhes finos, uma propriedade desejável para realce de imagens;</a:t>
            </a:r>
          </a:p>
          <a:p>
            <a:pPr lvl="2"/>
            <a:r>
              <a:rPr lang="pt-BR" dirty="0">
                <a:solidFill>
                  <a:srgbClr val="C00000"/>
                </a:solidFill>
                <a:sym typeface="Wingdings" pitchFamily="2" charset="2"/>
              </a:rPr>
              <a:t>são mais fáceis de implementar</a:t>
            </a:r>
            <a:endParaRPr lang="en-US" dirty="0"/>
          </a:p>
        </p:txBody>
      </p:sp>
      <p:sp>
        <p:nvSpPr>
          <p:cNvPr id="4" name="CaixaDeTexto 3"/>
          <p:cNvSpPr txBox="1"/>
          <p:nvPr/>
        </p:nvSpPr>
        <p:spPr>
          <a:xfrm>
            <a:off x="1423257" y="5829017"/>
            <a:ext cx="6555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1a. </a:t>
            </a:r>
            <a:r>
              <a:rPr lang="en-US" sz="1200" dirty="0" err="1"/>
              <a:t>Derivada</a:t>
            </a:r>
            <a:r>
              <a:rPr lang="en-US" sz="1200" dirty="0"/>
              <a:t>          0   0  </a:t>
            </a:r>
            <a:r>
              <a:rPr lang="en-US" sz="1200" dirty="0">
                <a:solidFill>
                  <a:srgbClr val="C00000"/>
                </a:solidFill>
              </a:rPr>
              <a:t>-1 -1 -1 -1 -1   </a:t>
            </a:r>
            <a:r>
              <a:rPr lang="en-US" sz="1200" dirty="0"/>
              <a:t>0   0   0   0   0  5   0   0   0   0</a:t>
            </a:r>
          </a:p>
          <a:p>
            <a:r>
              <a:rPr lang="en-US" sz="1200" dirty="0"/>
              <a:t>2a. </a:t>
            </a:r>
            <a:r>
              <a:rPr lang="en-US" sz="1200" dirty="0" err="1"/>
              <a:t>Derivada</a:t>
            </a:r>
            <a:r>
              <a:rPr lang="en-US" sz="1200" dirty="0"/>
              <a:t>               0  -1  0   0   0   </a:t>
            </a:r>
            <a:r>
              <a:rPr lang="en-US" sz="1200"/>
              <a:t>0    1   </a:t>
            </a:r>
            <a:r>
              <a:rPr lang="en-US" sz="1200" dirty="0"/>
              <a:t>0  0   0   0   5  -5  0   0   0    </a:t>
            </a: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064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dirty="0"/>
              <a:t>Filtros para Realce de Arestas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573016"/>
            <a:ext cx="6162675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Utilização de derivadas bidimensionais de segunda ordem</a:t>
            </a:r>
          </a:p>
          <a:p>
            <a:r>
              <a:rPr lang="pt-BR" dirty="0"/>
              <a:t>Metodologia: definir uma fórmula discreta de derivada de segunda ordem e construir uma máscara de filtragem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Utilizando a segunda derivada para realce de imagens</a:t>
            </a:r>
          </a:p>
        </p:txBody>
      </p:sp>
    </p:spTree>
    <p:extLst>
      <p:ext uri="{BB962C8B-B14F-4D97-AF65-F5344CB8AC3E}">
        <p14:creationId xmlns:p14="http://schemas.microsoft.com/office/powerpoint/2010/main" val="1672135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None/>
              <a:defRPr/>
            </a:pPr>
            <a:endParaRPr lang="pt-BR" dirty="0"/>
          </a:p>
          <a:p>
            <a:pPr>
              <a:buFontTx/>
              <a:buNone/>
              <a:defRPr/>
            </a:pPr>
            <a:r>
              <a:rPr lang="pt-BR" dirty="0"/>
              <a:t>O filtro Laplaciano é </a:t>
            </a:r>
          </a:p>
          <a:p>
            <a:pPr>
              <a:buFontTx/>
              <a:buNone/>
              <a:defRPr/>
            </a:pPr>
            <a:endParaRPr lang="pt-BR" dirty="0"/>
          </a:p>
          <a:p>
            <a:pPr>
              <a:buFontTx/>
              <a:buNone/>
              <a:defRPr/>
            </a:pPr>
            <a:r>
              <a:rPr lang="pt-BR" dirty="0"/>
              <a:t>	-isotrópico: </a:t>
            </a:r>
          </a:p>
          <a:p>
            <a:pPr lvl="1">
              <a:buFontTx/>
              <a:buNone/>
              <a:defRPr/>
            </a:pPr>
            <a:r>
              <a:rPr lang="pt-BR" dirty="0"/>
              <a:t>	a resposta é independente da direção da descontinuidade na imagem em que o filtro é aplicado (invariante à rotação);</a:t>
            </a:r>
          </a:p>
          <a:p>
            <a:pPr lvl="1">
              <a:buFontTx/>
              <a:buNone/>
              <a:defRPr/>
            </a:pPr>
            <a:endParaRPr lang="pt-BR" dirty="0"/>
          </a:p>
          <a:p>
            <a:pPr lvl="1">
              <a:buFontTx/>
              <a:buNone/>
              <a:defRPr/>
            </a:pPr>
            <a:r>
              <a:rPr lang="pt-BR" dirty="0"/>
              <a:t>-</a:t>
            </a:r>
            <a:r>
              <a:rPr lang="pt-BR" sz="3200" dirty="0">
                <a:ea typeface="+mn-ea"/>
                <a:cs typeface="+mn-cs"/>
              </a:rPr>
              <a:t>é linear</a:t>
            </a:r>
          </a:p>
          <a:p>
            <a:pPr lvl="1">
              <a:buFontTx/>
              <a:buNone/>
              <a:defRPr/>
            </a:pPr>
            <a:endParaRPr lang="pt-BR" sz="3200" dirty="0"/>
          </a:p>
          <a:p>
            <a:pPr lvl="1">
              <a:buFontTx/>
              <a:buNone/>
              <a:defRPr/>
            </a:pPr>
            <a:r>
              <a:rPr lang="pt-BR" sz="3200" dirty="0"/>
              <a:t>- Definição:</a:t>
            </a:r>
            <a:endParaRPr lang="pt-BR" sz="3200" dirty="0">
              <a:ea typeface="+mn-ea"/>
              <a:cs typeface="+mn-cs"/>
            </a:endParaRPr>
          </a:p>
          <a:p>
            <a:pPr>
              <a:buFontTx/>
              <a:buNone/>
              <a:defRPr/>
            </a:pPr>
            <a:endParaRPr lang="pt-BR" dirty="0"/>
          </a:p>
          <a:p>
            <a:pPr>
              <a:buFontTx/>
              <a:buNone/>
              <a:defRPr/>
            </a:pPr>
            <a:endParaRPr lang="pt-BR" dirty="0"/>
          </a:p>
          <a:p>
            <a:pPr>
              <a:buFontTx/>
              <a:buNone/>
              <a:defRPr/>
            </a:pPr>
            <a:endParaRPr lang="pt-BR" dirty="0"/>
          </a:p>
          <a:p>
            <a:pPr lvl="1">
              <a:buFontTx/>
              <a:buNone/>
              <a:defRPr/>
            </a:pPr>
            <a:endParaRPr lang="pt-BR" dirty="0"/>
          </a:p>
        </p:txBody>
      </p:sp>
      <p:sp>
        <p:nvSpPr>
          <p:cNvPr id="36866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sz="3800" dirty="0"/>
              <a:t>Filtro Laplaciano – filtro baseado na derivada de segunda ordem</a:t>
            </a:r>
          </a:p>
        </p:txBody>
      </p:sp>
      <p:graphicFrame>
        <p:nvGraphicFramePr>
          <p:cNvPr id="2" name="Objeto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574687128"/>
              </p:ext>
            </p:extLst>
          </p:nvPr>
        </p:nvGraphicFramePr>
        <p:xfrm>
          <a:off x="3419872" y="5157192"/>
          <a:ext cx="2880320" cy="1122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143000" imgH="444240" progId="Equation.3">
                  <p:embed/>
                </p:oleObj>
              </mc:Choice>
              <mc:Fallback>
                <p:oleObj name="Equação" r:id="rId2" imgW="1143000" imgH="444240" progId="Equation.3">
                  <p:embed/>
                  <p:pic>
                    <p:nvPicPr>
                      <p:cNvPr id="2" name="Objeto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5157192"/>
                        <a:ext cx="2880320" cy="1122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8529064"/>
              </p:ext>
            </p:extLst>
          </p:nvPr>
        </p:nvGraphicFramePr>
        <p:xfrm>
          <a:off x="1403648" y="2852936"/>
          <a:ext cx="5908949" cy="2752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3898800" imgH="1815840" progId="Equation.3">
                  <p:embed/>
                </p:oleObj>
              </mc:Choice>
              <mc:Fallback>
                <p:oleObj name="Equação" r:id="rId2" imgW="3898800" imgH="1815840" progId="Equation.3">
                  <p:embed/>
                  <p:pic>
                    <p:nvPicPr>
                      <p:cNvPr id="81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852936"/>
                        <a:ext cx="5908949" cy="27523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/>
              <a:t>Filtro Laplaciano</a:t>
            </a:r>
          </a:p>
        </p:txBody>
      </p:sp>
      <p:sp>
        <p:nvSpPr>
          <p:cNvPr id="8196" name="CaixaDeTexto 4"/>
          <p:cNvSpPr txBox="1">
            <a:spLocks noChangeArrowheads="1"/>
          </p:cNvSpPr>
          <p:nvPr/>
        </p:nvSpPr>
        <p:spPr bwMode="auto">
          <a:xfrm>
            <a:off x="642938" y="2000250"/>
            <a:ext cx="47148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800"/>
              <a:t>Definição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428625" y="1714500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pt-BR" dirty="0"/>
              <a:t>O Laplaciano pode ser implementado pela máscara:</a:t>
            </a:r>
          </a:p>
          <a:p>
            <a:pPr>
              <a:buFontTx/>
              <a:buNone/>
            </a:pPr>
            <a:endParaRPr lang="pt-BR" dirty="0"/>
          </a:p>
          <a:p>
            <a:pPr>
              <a:buFontTx/>
              <a:buNone/>
            </a:pPr>
            <a:endParaRPr lang="pt-BR" dirty="0"/>
          </a:p>
        </p:txBody>
      </p:sp>
      <p:sp>
        <p:nvSpPr>
          <p:cNvPr id="37890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/>
              <a:t>Filtro Laplaciano</a:t>
            </a:r>
          </a:p>
        </p:txBody>
      </p:sp>
      <p:graphicFrame>
        <p:nvGraphicFramePr>
          <p:cNvPr id="5" name="Group 10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097129"/>
              </p:ext>
            </p:extLst>
          </p:nvPr>
        </p:nvGraphicFramePr>
        <p:xfrm>
          <a:off x="3707904" y="3717032"/>
          <a:ext cx="1611313" cy="1280160"/>
        </p:xfrm>
        <a:graphic>
          <a:graphicData uri="http://schemas.openxmlformats.org/drawingml/2006/table">
            <a:tbl>
              <a:tblPr/>
              <a:tblGrid>
                <a:gridCol w="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-4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Objeto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221842570"/>
              </p:ext>
            </p:extLst>
          </p:nvPr>
        </p:nvGraphicFramePr>
        <p:xfrm>
          <a:off x="1403648" y="2492896"/>
          <a:ext cx="5908675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3898800" imgH="457200" progId="Equation.3">
                  <p:embed/>
                </p:oleObj>
              </mc:Choice>
              <mc:Fallback>
                <p:oleObj name="Equação" r:id="rId2" imgW="3898800" imgH="457200" progId="Equation.3">
                  <p:embed/>
                  <p:pic>
                    <p:nvPicPr>
                      <p:cNvPr id="2" name="Objeto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492896"/>
                        <a:ext cx="5908675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582049224"/>
              </p:ext>
            </p:extLst>
          </p:nvPr>
        </p:nvGraphicFramePr>
        <p:xfrm>
          <a:off x="3995936" y="5013176"/>
          <a:ext cx="1001712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660240" imgH="203040" progId="Equation.3">
                  <p:embed/>
                </p:oleObj>
              </mc:Choice>
              <mc:Fallback>
                <p:oleObj name="Equação" r:id="rId4" imgW="660240" imgH="203040" progId="Equation.3">
                  <p:embed/>
                  <p:pic>
                    <p:nvPicPr>
                      <p:cNvPr id="6" name="Objeto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5013176"/>
                        <a:ext cx="1001712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7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086011932"/>
              </p:ext>
            </p:extLst>
          </p:nvPr>
        </p:nvGraphicFramePr>
        <p:xfrm>
          <a:off x="3995936" y="3356992"/>
          <a:ext cx="1001712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660240" imgH="203040" progId="Equation.3">
                  <p:embed/>
                </p:oleObj>
              </mc:Choice>
              <mc:Fallback>
                <p:oleObj name="Equação" r:id="rId6" imgW="660240" imgH="203040" progId="Equation.3">
                  <p:embed/>
                  <p:pic>
                    <p:nvPicPr>
                      <p:cNvPr id="8" name="Objeto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3356992"/>
                        <a:ext cx="1001712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8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194029368"/>
              </p:ext>
            </p:extLst>
          </p:nvPr>
        </p:nvGraphicFramePr>
        <p:xfrm>
          <a:off x="5436096" y="4221088"/>
          <a:ext cx="1001712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660240" imgH="203040" progId="Equation.3">
                  <p:embed/>
                </p:oleObj>
              </mc:Choice>
              <mc:Fallback>
                <p:oleObj name="Equação" r:id="rId8" imgW="660240" imgH="203040" progId="Equation.3">
                  <p:embed/>
                  <p:pic>
                    <p:nvPicPr>
                      <p:cNvPr id="9" name="Objeto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4221088"/>
                        <a:ext cx="1001712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o 9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627173626"/>
              </p:ext>
            </p:extLst>
          </p:nvPr>
        </p:nvGraphicFramePr>
        <p:xfrm>
          <a:off x="2627784" y="4221088"/>
          <a:ext cx="1001713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0" imgW="660240" imgH="203040" progId="Equation.3">
                  <p:embed/>
                </p:oleObj>
              </mc:Choice>
              <mc:Fallback>
                <p:oleObj name="Equação" r:id="rId10" imgW="660240" imgH="203040" progId="Equation.3">
                  <p:embed/>
                  <p:pic>
                    <p:nvPicPr>
                      <p:cNvPr id="10" name="Objeto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4221088"/>
                        <a:ext cx="1001713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o 10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696965971"/>
              </p:ext>
            </p:extLst>
          </p:nvPr>
        </p:nvGraphicFramePr>
        <p:xfrm>
          <a:off x="5837761" y="5157192"/>
          <a:ext cx="1020762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2" imgW="672840" imgH="203040" progId="Equation.3">
                  <p:embed/>
                </p:oleObj>
              </mc:Choice>
              <mc:Fallback>
                <p:oleObj name="Equação" r:id="rId12" imgW="672840" imgH="203040" progId="Equation.3">
                  <p:embed/>
                  <p:pic>
                    <p:nvPicPr>
                      <p:cNvPr id="11" name="Objeto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7761" y="5157192"/>
                        <a:ext cx="1020762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Conector de seta reta 12"/>
          <p:cNvCxnSpPr/>
          <p:nvPr/>
        </p:nvCxnSpPr>
        <p:spPr>
          <a:xfrm flipH="1" flipV="1">
            <a:off x="4700708" y="4509120"/>
            <a:ext cx="1152128" cy="64807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3995936" y="5949280"/>
            <a:ext cx="3866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Resultados isotrópicos para 90º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500063" y="1428750"/>
            <a:ext cx="8229600" cy="542925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>
              <a:buFontTx/>
              <a:buNone/>
            </a:pPr>
            <a:r>
              <a:rPr lang="pt-BR" dirty="0"/>
              <a:t>As direções diagonais podem ser incluídas na definição do Laplaciano digital acrescentando dois termos à equação, um para cada umas das duas direções diagonais:</a:t>
            </a:r>
          </a:p>
          <a:p>
            <a:pPr>
              <a:buFontTx/>
              <a:buNone/>
            </a:pPr>
            <a:endParaRPr lang="pt-BR" dirty="0"/>
          </a:p>
          <a:p>
            <a:pPr>
              <a:buFontTx/>
              <a:buNone/>
            </a:pPr>
            <a:endParaRPr lang="pt-BR" dirty="0"/>
          </a:p>
          <a:p>
            <a:pPr>
              <a:buFontTx/>
              <a:buNone/>
            </a:pPr>
            <a:endParaRPr lang="pt-BR" dirty="0"/>
          </a:p>
          <a:p>
            <a:pPr>
              <a:buFontTx/>
              <a:buNone/>
            </a:pPr>
            <a:endParaRPr lang="pt-BR" sz="240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endParaRPr lang="pt-BR" sz="240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pt-BR" sz="2400" dirty="0">
                <a:solidFill>
                  <a:srgbClr val="FF0000"/>
                </a:solidFill>
              </a:rPr>
              <a:t>Nota1: </a:t>
            </a:r>
            <a:r>
              <a:rPr lang="pt-BR" sz="2400" i="1" dirty="0">
                <a:solidFill>
                  <a:srgbClr val="FF0000"/>
                </a:solidFill>
              </a:rPr>
              <a:t>-4f(x,y) </a:t>
            </a:r>
            <a:r>
              <a:rPr lang="pt-BR" sz="2400" dirty="0">
                <a:solidFill>
                  <a:srgbClr val="FF0000"/>
                </a:solidFill>
              </a:rPr>
              <a:t>se torna </a:t>
            </a:r>
            <a:r>
              <a:rPr lang="pt-BR" sz="2400" i="1" dirty="0">
                <a:solidFill>
                  <a:srgbClr val="FF0000"/>
                </a:solidFill>
              </a:rPr>
              <a:t>-8f(x,y);</a:t>
            </a:r>
          </a:p>
          <a:p>
            <a:pPr>
              <a:buFontTx/>
              <a:buNone/>
            </a:pPr>
            <a:r>
              <a:rPr lang="pt-BR" sz="2400" dirty="0">
                <a:solidFill>
                  <a:srgbClr val="FF0000"/>
                </a:solidFill>
              </a:rPr>
              <a:t>Nota 2: o somatório é zero  o que define valores nulos nas regiões homogêneas e valores mais elevados próximos aos seus contornos.</a:t>
            </a:r>
          </a:p>
          <a:p>
            <a:pPr>
              <a:buFontTx/>
              <a:buNone/>
            </a:pPr>
            <a:endParaRPr lang="pt-BR" i="1" dirty="0"/>
          </a:p>
        </p:txBody>
      </p:sp>
      <p:sp>
        <p:nvSpPr>
          <p:cNvPr id="38914" name="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850106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/>
              <a:t>Filtro Laplaciano</a:t>
            </a:r>
          </a:p>
        </p:txBody>
      </p:sp>
      <p:graphicFrame>
        <p:nvGraphicFramePr>
          <p:cNvPr id="4" name="Group 10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319345"/>
              </p:ext>
            </p:extLst>
          </p:nvPr>
        </p:nvGraphicFramePr>
        <p:xfrm>
          <a:off x="3347864" y="3356992"/>
          <a:ext cx="1611313" cy="1280160"/>
        </p:xfrm>
        <a:graphic>
          <a:graphicData uri="http://schemas.openxmlformats.org/drawingml/2006/table">
            <a:tbl>
              <a:tblPr/>
              <a:tblGrid>
                <a:gridCol w="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-8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5076056" y="4437112"/>
            <a:ext cx="3749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Resultados isotrópicos para 45º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Máscaras para o operador Laplaciano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1876425"/>
            <a:ext cx="3328988" cy="330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513" y="1879600"/>
            <a:ext cx="981075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468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Máscara Laplaciano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65" y="2132856"/>
            <a:ext cx="3520609" cy="346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2132856"/>
            <a:ext cx="2990625" cy="346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5815284" y="5733256"/>
            <a:ext cx="266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*Valores negativos ajustados para zero</a:t>
            </a:r>
          </a:p>
        </p:txBody>
      </p:sp>
      <p:graphicFrame>
        <p:nvGraphicFramePr>
          <p:cNvPr id="8" name="Group 10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9021"/>
              </p:ext>
            </p:extLst>
          </p:nvPr>
        </p:nvGraphicFramePr>
        <p:xfrm>
          <a:off x="3697684" y="3356992"/>
          <a:ext cx="1611313" cy="1280160"/>
        </p:xfrm>
        <a:graphic>
          <a:graphicData uri="http://schemas.openxmlformats.org/drawingml/2006/table">
            <a:tbl>
              <a:tblPr/>
              <a:tblGrid>
                <a:gridCol w="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-4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eta para a direita 4"/>
          <p:cNvSpPr/>
          <p:nvPr/>
        </p:nvSpPr>
        <p:spPr>
          <a:xfrm>
            <a:off x="3491880" y="4005064"/>
            <a:ext cx="194294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 para a direita 9"/>
          <p:cNvSpPr/>
          <p:nvPr/>
        </p:nvSpPr>
        <p:spPr>
          <a:xfrm>
            <a:off x="5364088" y="3933056"/>
            <a:ext cx="194294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4575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Máscara Laplaciano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65" y="2132856"/>
            <a:ext cx="3520609" cy="346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5815284" y="5596681"/>
            <a:ext cx="266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*levando o menor valor para zero</a:t>
            </a:r>
          </a:p>
        </p:txBody>
      </p:sp>
      <p:graphicFrame>
        <p:nvGraphicFramePr>
          <p:cNvPr id="8" name="Group 10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186834"/>
              </p:ext>
            </p:extLst>
          </p:nvPr>
        </p:nvGraphicFramePr>
        <p:xfrm>
          <a:off x="3697684" y="3356992"/>
          <a:ext cx="1611313" cy="1280160"/>
        </p:xfrm>
        <a:graphic>
          <a:graphicData uri="http://schemas.openxmlformats.org/drawingml/2006/table">
            <a:tbl>
              <a:tblPr/>
              <a:tblGrid>
                <a:gridCol w="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-4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eta para a direita 4"/>
          <p:cNvSpPr/>
          <p:nvPr/>
        </p:nvSpPr>
        <p:spPr>
          <a:xfrm>
            <a:off x="3491880" y="4005064"/>
            <a:ext cx="194294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 para a direita 9"/>
          <p:cNvSpPr/>
          <p:nvPr/>
        </p:nvSpPr>
        <p:spPr>
          <a:xfrm>
            <a:off x="5364088" y="3933056"/>
            <a:ext cx="194294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950" y="2132856"/>
            <a:ext cx="2916964" cy="3323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CaixaDeTexto 12"/>
          <p:cNvSpPr txBox="1"/>
          <p:nvPr/>
        </p:nvSpPr>
        <p:spPr>
          <a:xfrm>
            <a:off x="5815284" y="1496287"/>
            <a:ext cx="266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Típica imagem Laplaciano</a:t>
            </a:r>
          </a:p>
        </p:txBody>
      </p:sp>
    </p:spTree>
    <p:extLst>
      <p:ext uri="{BB962C8B-B14F-4D97-AF65-F5344CB8AC3E}">
        <p14:creationId xmlns:p14="http://schemas.microsoft.com/office/powerpoint/2010/main" val="4868127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457200" y="1600200"/>
            <a:ext cx="8229600" cy="48291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pt-BR" sz="3000" dirty="0"/>
              <a:t>O Laplaciano enfatiza regiões de descontinuidade e ameniza regiões de variação lenta de níveis de intensidade;</a:t>
            </a:r>
          </a:p>
          <a:p>
            <a:endParaRPr lang="pt-BR" sz="3000" dirty="0"/>
          </a:p>
          <a:p>
            <a:r>
              <a:rPr lang="pt-BR" sz="3000" dirty="0"/>
              <a:t>Esta característica tende a produzir imagens que apresentam arestas e outras descontinuidades na cor cinzenta sobreposta a um fundo sem muita informação;</a:t>
            </a:r>
          </a:p>
          <a:p>
            <a:endParaRPr lang="pt-BR" sz="3000" dirty="0"/>
          </a:p>
        </p:txBody>
      </p:sp>
      <p:sp>
        <p:nvSpPr>
          <p:cNvPr id="39938" name="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850106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/>
              <a:t>Filtro Laplaciano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No filtro Laplaciano o fundo da imagem é “perdido”</a:t>
            </a:r>
          </a:p>
          <a:p>
            <a:r>
              <a:rPr lang="pt-BR" sz="2800" dirty="0"/>
              <a:t>O fundo pode ser “reconstruído”, preservando as descontinuidades, somando a imagem Laplaciana à imagem original (cuidado com o sinal).</a:t>
            </a:r>
          </a:p>
          <a:p>
            <a:r>
              <a:rPr lang="pt-BR" sz="2800" dirty="0"/>
              <a:t>As bordas então são realçadas</a:t>
            </a:r>
          </a:p>
          <a:p>
            <a:pPr marL="109728" indent="0">
              <a:buNone/>
            </a:pP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Realce</a:t>
            </a:r>
            <a:r>
              <a:rPr lang="en-US" dirty="0"/>
              <a:t> </a:t>
            </a:r>
            <a:r>
              <a:rPr lang="en-US" dirty="0" err="1"/>
              <a:t>utilizando</a:t>
            </a:r>
            <a:r>
              <a:rPr lang="en-US" dirty="0"/>
              <a:t> o </a:t>
            </a:r>
            <a:r>
              <a:rPr lang="en-US" dirty="0" err="1"/>
              <a:t>Filtro</a:t>
            </a:r>
            <a:r>
              <a:rPr lang="en-US" dirty="0"/>
              <a:t> </a:t>
            </a:r>
            <a:r>
              <a:rPr lang="en-US" dirty="0" err="1"/>
              <a:t>Laplaciano</a:t>
            </a:r>
            <a:endParaRPr lang="en-US" dirty="0"/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0543694"/>
              </p:ext>
            </p:extLst>
          </p:nvPr>
        </p:nvGraphicFramePr>
        <p:xfrm>
          <a:off x="2267744" y="5229200"/>
          <a:ext cx="5256212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955800" imgH="228600" progId="Equation.3">
                  <p:embed/>
                </p:oleObj>
              </mc:Choice>
              <mc:Fallback>
                <p:oleObj name="Equação" r:id="rId2" imgW="1955800" imgH="22860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5229200"/>
                        <a:ext cx="5256212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347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Espaço Reservado para Conteúdo 2"/>
          <p:cNvSpPr>
            <a:spLocks noGrp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/>
          </a:bodyPr>
          <a:lstStyle/>
          <a:p>
            <a:pPr>
              <a:buFontTx/>
              <a:buNone/>
            </a:pPr>
            <a:r>
              <a:rPr lang="pt-BR" dirty="0"/>
              <a:t>Uso do filtro Laplaciano para realçar imagens:</a:t>
            </a:r>
          </a:p>
          <a:p>
            <a:pPr>
              <a:buFontTx/>
              <a:buNone/>
            </a:pPr>
            <a:endParaRPr lang="pt-BR" dirty="0"/>
          </a:p>
          <a:p>
            <a:pPr>
              <a:buFontTx/>
              <a:buNone/>
            </a:pPr>
            <a:endParaRPr lang="pt-BR" dirty="0"/>
          </a:p>
          <a:p>
            <a:pPr>
              <a:buFontTx/>
              <a:buNone/>
            </a:pPr>
            <a:endParaRPr lang="pt-BR" dirty="0"/>
          </a:p>
          <a:p>
            <a:pPr>
              <a:buFontTx/>
              <a:buNone/>
            </a:pPr>
            <a:r>
              <a:rPr lang="pt-BR" dirty="0"/>
              <a:t>em que,</a:t>
            </a:r>
          </a:p>
          <a:p>
            <a:pPr>
              <a:buFontTx/>
              <a:buNone/>
            </a:pPr>
            <a:endParaRPr lang="pt-BR" dirty="0"/>
          </a:p>
          <a:p>
            <a:pPr>
              <a:buFontTx/>
              <a:buNone/>
            </a:pPr>
            <a:r>
              <a:rPr lang="pt-BR" i="1" dirty="0"/>
              <a:t>f(x,y)</a:t>
            </a:r>
            <a:r>
              <a:rPr lang="pt-BR" dirty="0"/>
              <a:t> e </a:t>
            </a:r>
            <a:r>
              <a:rPr lang="pt-BR" i="1" dirty="0"/>
              <a:t>g(x,y)</a:t>
            </a:r>
            <a:r>
              <a:rPr lang="pt-BR" dirty="0"/>
              <a:t> são as imagens de entrada e saída</a:t>
            </a:r>
          </a:p>
          <a:p>
            <a:pPr>
              <a:buFontTx/>
              <a:buNone/>
            </a:pPr>
            <a:endParaRPr lang="pt-BR" dirty="0"/>
          </a:p>
          <a:p>
            <a:pPr>
              <a:buFontTx/>
              <a:buNone/>
            </a:pPr>
            <a:r>
              <a:rPr lang="pt-BR" i="1" dirty="0"/>
              <a:t>c</a:t>
            </a:r>
            <a:r>
              <a:rPr lang="pt-BR" dirty="0"/>
              <a:t>  é uma constante, c = -1 se centro da máscara é negativo e c=1 , caso contrário. </a:t>
            </a:r>
          </a:p>
        </p:txBody>
      </p:sp>
      <p:sp>
        <p:nvSpPr>
          <p:cNvPr id="9219" name="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850106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dirty="0"/>
              <a:t>Uma aplicação do Filtro Laplaciano</a:t>
            </a:r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1331640" y="2060848"/>
          <a:ext cx="5256212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955520" imgH="228600" progId="Equation.3">
                  <p:embed/>
                </p:oleObj>
              </mc:Choice>
              <mc:Fallback>
                <p:oleObj name="Equação" r:id="rId2" imgW="1955520" imgH="228600" progId="Equation.3">
                  <p:embed/>
                  <p:pic>
                    <p:nvPicPr>
                      <p:cNvPr id="92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2060848"/>
                        <a:ext cx="5256212" cy="642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Máscaras para o operador Laplaciano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1876425"/>
            <a:ext cx="3328988" cy="330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513" y="1879600"/>
            <a:ext cx="981075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30948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Máscara Laplaciano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65" y="2132856"/>
            <a:ext cx="3520609" cy="346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" name="Group 10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493229"/>
              </p:ext>
            </p:extLst>
          </p:nvPr>
        </p:nvGraphicFramePr>
        <p:xfrm>
          <a:off x="3697684" y="3356992"/>
          <a:ext cx="1611313" cy="1280160"/>
        </p:xfrm>
        <a:graphic>
          <a:graphicData uri="http://schemas.openxmlformats.org/drawingml/2006/table">
            <a:tbl>
              <a:tblPr/>
              <a:tblGrid>
                <a:gridCol w="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-4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pt-P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eta para a direita 4"/>
          <p:cNvSpPr/>
          <p:nvPr/>
        </p:nvSpPr>
        <p:spPr>
          <a:xfrm>
            <a:off x="3491880" y="4005064"/>
            <a:ext cx="194294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 para a direita 9"/>
          <p:cNvSpPr/>
          <p:nvPr/>
        </p:nvSpPr>
        <p:spPr>
          <a:xfrm>
            <a:off x="5364088" y="3933056"/>
            <a:ext cx="194294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/>
          <p:cNvSpPr txBox="1"/>
          <p:nvPr/>
        </p:nvSpPr>
        <p:spPr>
          <a:xfrm>
            <a:off x="5815284" y="1496287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Realce por Laplaciano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0671" y="2132856"/>
            <a:ext cx="2993521" cy="3454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66413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500" y="1071563"/>
            <a:ext cx="5794375" cy="5380037"/>
          </a:xfrm>
          <a:noFill/>
          <a:ln>
            <a:miter lim="800000"/>
            <a:headEnd/>
            <a:tailEnd/>
          </a:ln>
        </p:spPr>
      </p:pic>
      <p:sp>
        <p:nvSpPr>
          <p:cNvPr id="40962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>
                <a:solidFill>
                  <a:srgbClr val="7030A0"/>
                </a:solidFill>
              </a:rPr>
              <a:t>Filtro Laplaciano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Dada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imagem</a:t>
            </a:r>
            <a:r>
              <a:rPr lang="en-US" dirty="0"/>
              <a:t>, </a:t>
            </a:r>
            <a:r>
              <a:rPr lang="en-US" dirty="0" err="1"/>
              <a:t>filtre</a:t>
            </a:r>
            <a:r>
              <a:rPr lang="en-US" dirty="0"/>
              <a:t>-a </a:t>
            </a:r>
            <a:r>
              <a:rPr lang="en-US" dirty="0" err="1"/>
              <a:t>usando</a:t>
            </a:r>
            <a:r>
              <a:rPr lang="en-US" dirty="0"/>
              <a:t> o </a:t>
            </a:r>
            <a:r>
              <a:rPr lang="en-US" dirty="0" err="1"/>
              <a:t>filtro</a:t>
            </a:r>
            <a:r>
              <a:rPr lang="en-US" dirty="0"/>
              <a:t> </a:t>
            </a:r>
            <a:r>
              <a:rPr lang="en-US" dirty="0" err="1"/>
              <a:t>Laplaciano</a:t>
            </a:r>
            <a:r>
              <a:rPr lang="en-US" dirty="0"/>
              <a:t> (</a:t>
            </a:r>
            <a:r>
              <a:rPr lang="en-US" dirty="0" err="1"/>
              <a:t>extensão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replicação</a:t>
            </a:r>
            <a:r>
              <a:rPr lang="en-US" dirty="0"/>
              <a:t>)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Exercicio</a:t>
            </a:r>
            <a:endParaRPr lang="en-US" dirty="0"/>
          </a:p>
        </p:txBody>
      </p:sp>
      <p:sp>
        <p:nvSpPr>
          <p:cNvPr id="4" name="Retângulo 3"/>
          <p:cNvSpPr/>
          <p:nvPr/>
        </p:nvSpPr>
        <p:spPr>
          <a:xfrm>
            <a:off x="1907704" y="2924944"/>
            <a:ext cx="457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0 0 0 0 100 200 255 255 255 255</a:t>
            </a:r>
          </a:p>
          <a:p>
            <a:pPr>
              <a:buNone/>
            </a:pPr>
            <a:r>
              <a:rPr lang="en-US" dirty="0"/>
              <a:t>0 0 0 0 100 200 255 255 255 255</a:t>
            </a:r>
          </a:p>
          <a:p>
            <a:pPr>
              <a:buNone/>
            </a:pPr>
            <a:r>
              <a:rPr lang="en-US" dirty="0"/>
              <a:t>0 0 0 0 100 200 255 255 255 255</a:t>
            </a:r>
          </a:p>
          <a:p>
            <a:pPr>
              <a:buNone/>
            </a:pPr>
            <a:r>
              <a:rPr lang="en-US" dirty="0"/>
              <a:t>0 0 0 0 100 200 255 255 255 255</a:t>
            </a:r>
          </a:p>
          <a:p>
            <a:pPr>
              <a:buNone/>
            </a:pPr>
            <a:r>
              <a:rPr lang="en-US" dirty="0"/>
              <a:t>0 0 0 0 100 200 255 255 255 255</a:t>
            </a:r>
          </a:p>
          <a:p>
            <a:pPr>
              <a:buNone/>
            </a:pPr>
            <a:r>
              <a:rPr lang="en-US" dirty="0"/>
              <a:t>0 0 0 0 100 200 255 255 255 255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Filtros espaciais de realce</a:t>
            </a:r>
          </a:p>
        </p:txBody>
      </p:sp>
      <p:sp>
        <p:nvSpPr>
          <p:cNvPr id="6148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dirty="0"/>
              <a:t>Um processo para aumentar a nitidez das imagens (aguçamento) </a:t>
            </a:r>
            <a:r>
              <a:rPr lang="pt-BR" dirty="0">
                <a:solidFill>
                  <a:srgbClr val="00B050"/>
                </a:solidFill>
              </a:rPr>
              <a:t>consiste em subtrair uma versão não nítida (suavizada) de uma imagem da imagem original</a:t>
            </a:r>
          </a:p>
          <a:p>
            <a:pPr eaLnBrk="1" hangingPunct="1"/>
            <a:endParaRPr lang="pt-BR" dirty="0"/>
          </a:p>
          <a:p>
            <a:pPr eaLnBrk="1" hangingPunct="1"/>
            <a:r>
              <a:rPr lang="pt-BR" dirty="0"/>
              <a:t>Passos:</a:t>
            </a:r>
          </a:p>
          <a:p>
            <a:pPr lvl="1"/>
            <a:r>
              <a:rPr lang="pt-BR" dirty="0"/>
              <a:t>Borrar a imagem original</a:t>
            </a:r>
          </a:p>
          <a:p>
            <a:pPr lvl="1"/>
            <a:r>
              <a:rPr lang="pt-BR" dirty="0"/>
              <a:t>Subtrair a imagem borrada da original – a diferença resultante é chamada de </a:t>
            </a:r>
            <a:r>
              <a:rPr lang="pt-BR" i="1" dirty="0"/>
              <a:t>máscara</a:t>
            </a:r>
          </a:p>
          <a:p>
            <a:pPr lvl="1"/>
            <a:r>
              <a:rPr lang="pt-BR" dirty="0"/>
              <a:t>Adicionar a máscara à imagem original</a:t>
            </a:r>
          </a:p>
          <a:p>
            <a:pPr lvl="1"/>
            <a:endParaRPr lang="pt-BR" dirty="0"/>
          </a:p>
          <a:p>
            <a:pPr eaLnBrk="1" hangingPunct="1">
              <a:buFont typeface="Arial" charset="0"/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26624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Filtros espaciais de realce</a:t>
            </a:r>
          </a:p>
        </p:txBody>
      </p:sp>
      <p:sp>
        <p:nvSpPr>
          <p:cNvPr id="6148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i="1" dirty="0" err="1"/>
              <a:t>Unsharp</a:t>
            </a:r>
            <a:r>
              <a:rPr lang="pt-BR" i="1" dirty="0"/>
              <a:t> </a:t>
            </a:r>
            <a:r>
              <a:rPr lang="pt-BR" i="1" dirty="0" err="1"/>
              <a:t>masking</a:t>
            </a:r>
            <a:r>
              <a:rPr lang="pt-BR" i="1" dirty="0"/>
              <a:t>  (máscara de nitidez) e </a:t>
            </a:r>
            <a:r>
              <a:rPr lang="pt-BR" dirty="0"/>
              <a:t>filtragem </a:t>
            </a:r>
            <a:r>
              <a:rPr lang="pt-BR" i="1" dirty="0" err="1"/>
              <a:t>highboost</a:t>
            </a:r>
            <a:endParaRPr lang="pt-BR" i="1" dirty="0"/>
          </a:p>
          <a:p>
            <a:pPr lvl="1" eaLnBrk="1" hangingPunct="1"/>
            <a:r>
              <a:rPr lang="pt-BR" dirty="0"/>
              <a:t>Seja  </a:t>
            </a:r>
            <a:r>
              <a:rPr lang="pt-BR" i="1" dirty="0"/>
              <a:t>s(</a:t>
            </a:r>
            <a:r>
              <a:rPr lang="pt-BR" i="1" dirty="0" err="1"/>
              <a:t>x,y</a:t>
            </a:r>
            <a:r>
              <a:rPr lang="pt-BR" i="1" dirty="0"/>
              <a:t>)</a:t>
            </a:r>
            <a:r>
              <a:rPr lang="pt-BR" dirty="0"/>
              <a:t> uma suavização de </a:t>
            </a:r>
            <a:r>
              <a:rPr lang="pt-BR" i="1" dirty="0"/>
              <a:t>f(</a:t>
            </a:r>
            <a:r>
              <a:rPr lang="pt-BR" i="1" dirty="0" err="1"/>
              <a:t>x,y</a:t>
            </a:r>
            <a:r>
              <a:rPr lang="pt-BR" i="1" dirty="0"/>
              <a:t>)</a:t>
            </a:r>
          </a:p>
          <a:p>
            <a:pPr eaLnBrk="1" hangingPunct="1"/>
            <a:endParaRPr lang="pt-BR" i="1" dirty="0"/>
          </a:p>
          <a:p>
            <a:pPr eaLnBrk="1" hangingPunct="1"/>
            <a:endParaRPr lang="pt-BR" i="1" dirty="0"/>
          </a:p>
          <a:p>
            <a:pPr eaLnBrk="1" hangingPunct="1"/>
            <a:endParaRPr lang="pt-BR" i="1" dirty="0"/>
          </a:p>
          <a:p>
            <a:pPr eaLnBrk="1" hangingPunct="1">
              <a:buFont typeface="Arial" charset="0"/>
              <a:buNone/>
            </a:pPr>
            <a:endParaRPr lang="pt-BR" dirty="0"/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511497"/>
              </p:ext>
            </p:extLst>
          </p:nvPr>
        </p:nvGraphicFramePr>
        <p:xfrm>
          <a:off x="1979712" y="3861048"/>
          <a:ext cx="4933950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828800" imgH="457200" progId="Equation.3">
                  <p:embed/>
                </p:oleObj>
              </mc:Choice>
              <mc:Fallback>
                <p:oleObj name="Equação" r:id="rId3" imgW="1828800" imgH="457200" progId="Equation.3">
                  <p:embed/>
                  <p:pic>
                    <p:nvPicPr>
                      <p:cNvPr id="61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3861048"/>
                        <a:ext cx="4933950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90219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Filtros espaciais de realce</a:t>
            </a:r>
          </a:p>
        </p:txBody>
      </p:sp>
      <p:sp>
        <p:nvSpPr>
          <p:cNvPr id="6148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pt-BR" i="1" dirty="0"/>
              <a:t>Generalizando</a:t>
            </a:r>
          </a:p>
          <a:p>
            <a:pPr lvl="1" eaLnBrk="1" hangingPunct="1"/>
            <a:r>
              <a:rPr lang="pt-BR" dirty="0"/>
              <a:t>Seja  </a:t>
            </a:r>
            <a:r>
              <a:rPr lang="pt-BR" i="1" dirty="0"/>
              <a:t>s(</a:t>
            </a:r>
            <a:r>
              <a:rPr lang="pt-BR" i="1" dirty="0" err="1"/>
              <a:t>x,y</a:t>
            </a:r>
            <a:r>
              <a:rPr lang="pt-BR" i="1" dirty="0"/>
              <a:t>)</a:t>
            </a:r>
            <a:r>
              <a:rPr lang="pt-BR" dirty="0"/>
              <a:t> uma suavização de </a:t>
            </a:r>
            <a:r>
              <a:rPr lang="pt-BR" i="1" dirty="0"/>
              <a:t>f(</a:t>
            </a:r>
            <a:r>
              <a:rPr lang="pt-BR" i="1" dirty="0" err="1"/>
              <a:t>x,y</a:t>
            </a:r>
            <a:r>
              <a:rPr lang="pt-BR" i="1" dirty="0"/>
              <a:t>)</a:t>
            </a:r>
          </a:p>
          <a:p>
            <a:pPr eaLnBrk="1" hangingPunct="1"/>
            <a:endParaRPr lang="pt-BR" i="1" dirty="0"/>
          </a:p>
          <a:p>
            <a:pPr eaLnBrk="1" hangingPunct="1"/>
            <a:endParaRPr lang="pt-BR" i="1" dirty="0"/>
          </a:p>
          <a:p>
            <a:pPr eaLnBrk="1" hangingPunct="1"/>
            <a:endParaRPr lang="pt-BR" i="1" dirty="0"/>
          </a:p>
          <a:p>
            <a:pPr eaLnBrk="1" hangingPunct="1"/>
            <a:endParaRPr lang="pt-BR" i="1" dirty="0"/>
          </a:p>
          <a:p>
            <a:pPr eaLnBrk="1" hangingPunct="1"/>
            <a:r>
              <a:rPr lang="pt-BR" i="1" dirty="0"/>
              <a:t>k = 1 </a:t>
            </a:r>
            <a:r>
              <a:rPr lang="pt-BR" i="1" dirty="0">
                <a:sym typeface="Wingdings" pitchFamily="2" charset="2"/>
              </a:rPr>
              <a:t> </a:t>
            </a:r>
            <a:r>
              <a:rPr lang="pt-BR" i="1" dirty="0" err="1">
                <a:sym typeface="Wingdings" pitchFamily="2" charset="2"/>
              </a:rPr>
              <a:t>unsharp</a:t>
            </a:r>
            <a:r>
              <a:rPr lang="pt-BR" i="1" dirty="0">
                <a:sym typeface="Wingdings" pitchFamily="2" charset="2"/>
              </a:rPr>
              <a:t> </a:t>
            </a:r>
            <a:r>
              <a:rPr lang="pt-BR" i="1" dirty="0" err="1">
                <a:sym typeface="Wingdings" pitchFamily="2" charset="2"/>
              </a:rPr>
              <a:t>masking</a:t>
            </a:r>
            <a:endParaRPr lang="pt-BR" i="1" dirty="0">
              <a:sym typeface="Wingdings" pitchFamily="2" charset="2"/>
            </a:endParaRPr>
          </a:p>
          <a:p>
            <a:pPr eaLnBrk="1" hangingPunct="1"/>
            <a:r>
              <a:rPr lang="pt-BR" i="1" dirty="0">
                <a:sym typeface="Wingdings" pitchFamily="2" charset="2"/>
              </a:rPr>
              <a:t>K &gt; 1  </a:t>
            </a:r>
            <a:r>
              <a:rPr lang="pt-BR" i="1" dirty="0" err="1">
                <a:sym typeface="Wingdings" pitchFamily="2" charset="2"/>
              </a:rPr>
              <a:t>highboost</a:t>
            </a:r>
            <a:r>
              <a:rPr lang="pt-BR" i="1" dirty="0">
                <a:sym typeface="Wingdings" pitchFamily="2" charset="2"/>
              </a:rPr>
              <a:t> </a:t>
            </a:r>
            <a:r>
              <a:rPr lang="pt-BR" i="1" dirty="0" err="1">
                <a:sym typeface="Wingdings" pitchFamily="2" charset="2"/>
              </a:rPr>
              <a:t>filtering</a:t>
            </a:r>
            <a:r>
              <a:rPr lang="pt-BR" i="1" dirty="0">
                <a:sym typeface="Wingdings" pitchFamily="2" charset="2"/>
              </a:rPr>
              <a:t> (filtragem alto-reforço)</a:t>
            </a:r>
          </a:p>
          <a:p>
            <a:r>
              <a:rPr lang="pt-BR" i="1" dirty="0">
                <a:sym typeface="Wingdings" pitchFamily="2" charset="2"/>
              </a:rPr>
              <a:t>K &lt; 1  atenua a contribuição da máscara de nitidez</a:t>
            </a:r>
            <a:endParaRPr lang="pt-BR" i="1" dirty="0"/>
          </a:p>
          <a:p>
            <a:pPr eaLnBrk="1" hangingPunct="1">
              <a:buFont typeface="Arial" charset="0"/>
              <a:buNone/>
            </a:pPr>
            <a:endParaRPr lang="pt-BR" dirty="0"/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2542728"/>
              </p:ext>
            </p:extLst>
          </p:nvPr>
        </p:nvGraphicFramePr>
        <p:xfrm>
          <a:off x="1619672" y="2564904"/>
          <a:ext cx="5207000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930320" imgH="457200" progId="Equation.3">
                  <p:embed/>
                </p:oleObj>
              </mc:Choice>
              <mc:Fallback>
                <p:oleObj name="Equação" r:id="rId3" imgW="1930320" imgH="457200" progId="Equation.3">
                  <p:embed/>
                  <p:pic>
                    <p:nvPicPr>
                      <p:cNvPr id="61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2564904"/>
                        <a:ext cx="5207000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74191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Filtros espaciais de realce</a:t>
            </a:r>
          </a:p>
        </p:txBody>
      </p:sp>
      <p:sp>
        <p:nvSpPr>
          <p:cNvPr id="4505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i="1"/>
              <a:t>Unsharp masking</a:t>
            </a:r>
          </a:p>
        </p:txBody>
      </p:sp>
      <p:pic>
        <p:nvPicPr>
          <p:cNvPr id="4506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2428875"/>
            <a:ext cx="5553075" cy="392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1" name="CaixaDeTexto 6"/>
          <p:cNvSpPr txBox="1">
            <a:spLocks noChangeArrowheads="1"/>
          </p:cNvSpPr>
          <p:nvPr/>
        </p:nvSpPr>
        <p:spPr bwMode="auto">
          <a:xfrm>
            <a:off x="5429250" y="6357938"/>
            <a:ext cx="1857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 i="1"/>
              <a:t>Fonte: wikipedia</a:t>
            </a:r>
          </a:p>
        </p:txBody>
      </p:sp>
      <p:sp>
        <p:nvSpPr>
          <p:cNvPr id="6" name="Chave direita 5"/>
          <p:cNvSpPr/>
          <p:nvPr/>
        </p:nvSpPr>
        <p:spPr>
          <a:xfrm>
            <a:off x="6500813" y="2428875"/>
            <a:ext cx="142875" cy="18573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5063" name="CaixaDeTexto 6"/>
          <p:cNvSpPr txBox="1">
            <a:spLocks noChangeArrowheads="1"/>
          </p:cNvSpPr>
          <p:nvPr/>
        </p:nvSpPr>
        <p:spPr bwMode="auto">
          <a:xfrm>
            <a:off x="6786563" y="3214688"/>
            <a:ext cx="2143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Sem filtragem</a:t>
            </a:r>
          </a:p>
        </p:txBody>
      </p:sp>
      <p:sp>
        <p:nvSpPr>
          <p:cNvPr id="8" name="Chave direita 7"/>
          <p:cNvSpPr/>
          <p:nvPr/>
        </p:nvSpPr>
        <p:spPr>
          <a:xfrm>
            <a:off x="6500813" y="4429125"/>
            <a:ext cx="142875" cy="18573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5065" name="CaixaDeTexto 8"/>
          <p:cNvSpPr txBox="1">
            <a:spLocks noChangeArrowheads="1"/>
          </p:cNvSpPr>
          <p:nvPr/>
        </p:nvSpPr>
        <p:spPr bwMode="auto">
          <a:xfrm>
            <a:off x="6786563" y="5143500"/>
            <a:ext cx="2143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Com filtragem</a:t>
            </a:r>
          </a:p>
        </p:txBody>
      </p:sp>
    </p:spTree>
    <p:extLst>
      <p:ext uri="{BB962C8B-B14F-4D97-AF65-F5344CB8AC3E}">
        <p14:creationId xmlns:p14="http://schemas.microsoft.com/office/powerpoint/2010/main" val="16533765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Filtros espaciais de realce</a:t>
            </a:r>
          </a:p>
        </p:txBody>
      </p:sp>
      <p:sp>
        <p:nvSpPr>
          <p:cNvPr id="46083" name="Espaço Reservado para Conteúdo 2"/>
          <p:cNvSpPr>
            <a:spLocks noGrp="1"/>
          </p:cNvSpPr>
          <p:nvPr>
            <p:ph idx="1"/>
          </p:nvPr>
        </p:nvSpPr>
        <p:spPr>
          <a:xfrm>
            <a:off x="428625" y="1571625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Filtragem </a:t>
            </a:r>
            <a:r>
              <a:rPr lang="en-US" i="1"/>
              <a:t>highboost</a:t>
            </a:r>
            <a:endParaRPr lang="en-US"/>
          </a:p>
        </p:txBody>
      </p:sp>
      <p:pic>
        <p:nvPicPr>
          <p:cNvPr id="4608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2357438"/>
            <a:ext cx="1781175" cy="407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5" name="CaixaDeTexto 4"/>
          <p:cNvSpPr txBox="1">
            <a:spLocks noChangeArrowheads="1"/>
          </p:cNvSpPr>
          <p:nvPr/>
        </p:nvSpPr>
        <p:spPr bwMode="auto">
          <a:xfrm>
            <a:off x="3214688" y="2500313"/>
            <a:ext cx="1857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Original</a:t>
            </a:r>
          </a:p>
        </p:txBody>
      </p:sp>
      <p:sp>
        <p:nvSpPr>
          <p:cNvPr id="46086" name="CaixaDeTexto 5"/>
          <p:cNvSpPr txBox="1">
            <a:spLocks noChangeArrowheads="1"/>
          </p:cNvSpPr>
          <p:nvPr/>
        </p:nvSpPr>
        <p:spPr bwMode="auto">
          <a:xfrm>
            <a:off x="3286125" y="3344863"/>
            <a:ext cx="25717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Suavizada (Gaussiana)</a:t>
            </a:r>
          </a:p>
        </p:txBody>
      </p:sp>
      <p:sp>
        <p:nvSpPr>
          <p:cNvPr id="46087" name="CaixaDeTexto 6"/>
          <p:cNvSpPr txBox="1">
            <a:spLocks noChangeArrowheads="1"/>
          </p:cNvSpPr>
          <p:nvPr/>
        </p:nvSpPr>
        <p:spPr bwMode="auto">
          <a:xfrm>
            <a:off x="3286125" y="4214813"/>
            <a:ext cx="3286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 i="1"/>
              <a:t>Unsharp mask (g</a:t>
            </a:r>
            <a:r>
              <a:rPr lang="pt-BR" i="1" baseline="-25000"/>
              <a:t>mask</a:t>
            </a:r>
            <a:r>
              <a:rPr lang="pt-BR" i="1"/>
              <a:t>)</a:t>
            </a:r>
          </a:p>
        </p:txBody>
      </p:sp>
      <p:sp>
        <p:nvSpPr>
          <p:cNvPr id="46088" name="CaixaDeTexto 7"/>
          <p:cNvSpPr txBox="1">
            <a:spLocks noChangeArrowheads="1"/>
          </p:cNvSpPr>
          <p:nvPr/>
        </p:nvSpPr>
        <p:spPr bwMode="auto">
          <a:xfrm>
            <a:off x="3286125" y="5059363"/>
            <a:ext cx="4286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 dirty="0"/>
              <a:t>Resultado usando </a:t>
            </a:r>
            <a:r>
              <a:rPr lang="pt-BR" i="1" dirty="0" err="1"/>
              <a:t>unsharp</a:t>
            </a:r>
            <a:r>
              <a:rPr lang="pt-BR" i="1" dirty="0"/>
              <a:t> </a:t>
            </a:r>
            <a:r>
              <a:rPr lang="pt-BR" i="1" dirty="0" err="1"/>
              <a:t>mask</a:t>
            </a:r>
            <a:r>
              <a:rPr lang="pt-BR" i="1" dirty="0"/>
              <a:t> (k=1)</a:t>
            </a:r>
          </a:p>
        </p:txBody>
      </p:sp>
      <p:sp>
        <p:nvSpPr>
          <p:cNvPr id="46089" name="CaixaDeTexto 8"/>
          <p:cNvSpPr txBox="1">
            <a:spLocks noChangeArrowheads="1"/>
          </p:cNvSpPr>
          <p:nvPr/>
        </p:nvSpPr>
        <p:spPr bwMode="auto">
          <a:xfrm>
            <a:off x="3286124" y="5845175"/>
            <a:ext cx="48862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 dirty="0"/>
              <a:t>Resultado usando filtragem </a:t>
            </a:r>
            <a:r>
              <a:rPr lang="pt-BR" i="1" dirty="0" err="1"/>
              <a:t>highboost</a:t>
            </a:r>
            <a:r>
              <a:rPr lang="pt-BR" i="1" dirty="0"/>
              <a:t> (k= 4.5)</a:t>
            </a:r>
          </a:p>
        </p:txBody>
      </p:sp>
    </p:spTree>
    <p:extLst>
      <p:ext uri="{BB962C8B-B14F-4D97-AF65-F5344CB8AC3E}">
        <p14:creationId xmlns:p14="http://schemas.microsoft.com/office/powerpoint/2010/main" val="2156069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unidimensional para entender o processo 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636912"/>
            <a:ext cx="2181225" cy="318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5568" y="2636912"/>
            <a:ext cx="931862" cy="237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827584" y="3456617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Sinal Suavizado </a:t>
            </a:r>
            <a:r>
              <a:rPr lang="pt-BR" dirty="0">
                <a:sym typeface="Wingdings" pitchFamily="2" charset="2"/>
              </a:rPr>
              <a:t></a:t>
            </a: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827584" y="4061704"/>
            <a:ext cx="2448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Diferença entre sinal suavizado </a:t>
            </a:r>
            <a:r>
              <a:rPr lang="pt-BR" dirty="0">
                <a:sym typeface="Wingdings" pitchFamily="2" charset="2"/>
              </a:rPr>
              <a:t></a:t>
            </a:r>
            <a:endParaRPr lang="pt-BR" dirty="0"/>
          </a:p>
          <a:p>
            <a:r>
              <a:rPr lang="pt-BR" dirty="0"/>
              <a:t> e o original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04406" y="5184670"/>
            <a:ext cx="2094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Sinal realçado </a:t>
            </a:r>
            <a:r>
              <a:rPr lang="pt-BR" dirty="0">
                <a:sym typeface="Wingdings" pitchFamily="2" charset="2"/>
              </a:rPr>
              <a:t>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89096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Filtros espaciais de realce</a:t>
            </a:r>
          </a:p>
        </p:txBody>
      </p:sp>
      <p:sp>
        <p:nvSpPr>
          <p:cNvPr id="7172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/>
              <a:t>Filtros derivativos</a:t>
            </a:r>
          </a:p>
          <a:p>
            <a:pPr lvl="1" eaLnBrk="1" hangingPunct="1"/>
            <a:r>
              <a:rPr lang="pt-BR"/>
              <a:t>Derivadas de primeira ordem</a:t>
            </a:r>
          </a:p>
          <a:p>
            <a:pPr lvl="1" eaLnBrk="1" hangingPunct="1"/>
            <a:r>
              <a:rPr lang="pt-BR"/>
              <a:t>Utilizam a magnitude do gradiente</a:t>
            </a:r>
          </a:p>
          <a:p>
            <a:pPr lvl="2" eaLnBrk="1" hangingPunct="1"/>
            <a:r>
              <a:rPr lang="pt-BR"/>
              <a:t>Vetor que indica a direção de maior variação de uma função</a:t>
            </a:r>
          </a:p>
          <a:p>
            <a:pPr lvl="2" eaLnBrk="1" hangingPunct="1"/>
            <a:endParaRPr lang="pt-BR"/>
          </a:p>
          <a:p>
            <a:pPr lvl="2" eaLnBrk="1" hangingPunct="1"/>
            <a:endParaRPr lang="pt-BR"/>
          </a:p>
          <a:p>
            <a:pPr lvl="2" eaLnBrk="1" hangingPunct="1"/>
            <a:endParaRPr lang="pt-BR"/>
          </a:p>
          <a:p>
            <a:pPr lvl="2" eaLnBrk="1" hangingPunct="1"/>
            <a:r>
              <a:rPr lang="pt-BR"/>
              <a:t>Magnitude</a:t>
            </a:r>
          </a:p>
          <a:p>
            <a:pPr eaLnBrk="1" hangingPunct="1">
              <a:buFont typeface="Arial" charset="0"/>
              <a:buNone/>
            </a:pPr>
            <a:endParaRPr lang="pt-BR"/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091376"/>
              </p:ext>
            </p:extLst>
          </p:nvPr>
        </p:nvGraphicFramePr>
        <p:xfrm>
          <a:off x="1691680" y="3284984"/>
          <a:ext cx="4922837" cy="250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2666880" imgH="1358640" progId="Equation.3">
                  <p:embed/>
                </p:oleObj>
              </mc:Choice>
              <mc:Fallback>
                <p:oleObj name="Equação" r:id="rId3" imgW="2666880" imgH="1358640" progId="Equation.3">
                  <p:embed/>
                  <p:pic>
                    <p:nvPicPr>
                      <p:cNvPr id="717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3284984"/>
                        <a:ext cx="4922837" cy="2506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58385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Espaço Reservado para Conteúdo 2"/>
          <p:cNvSpPr>
            <a:spLocks noGrp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pt-BR" dirty="0"/>
              <a:t>A magnitude do vetor gradiente de f, (   ), denotado por M(x,y)  é dado por: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M(x,y) indica, no ponto (x,y), a taxa de mudança na direção do vetor gradiente.</a:t>
            </a:r>
          </a:p>
          <a:p>
            <a:endParaRPr lang="pt-BR" dirty="0"/>
          </a:p>
          <a:p>
            <a:pPr>
              <a:buFontTx/>
              <a:buNone/>
            </a:pPr>
            <a:r>
              <a:rPr lang="pt-BR" dirty="0">
                <a:solidFill>
                  <a:srgbClr val="0070C0"/>
                </a:solidFill>
              </a:rPr>
              <a:t>Nota: a imagem gradiente tem o mesmo tamanho que a imagem original</a:t>
            </a:r>
          </a:p>
        </p:txBody>
      </p:sp>
      <p:sp>
        <p:nvSpPr>
          <p:cNvPr id="12291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algn="just"/>
            <a:r>
              <a:rPr lang="pt-BR" sz="3400" dirty="0"/>
              <a:t>Realce de Imagens usando Derivadas </a:t>
            </a:r>
            <a:br>
              <a:rPr lang="pt-BR" sz="3400" dirty="0"/>
            </a:br>
            <a:r>
              <a:rPr lang="pt-BR" sz="3400" dirty="0"/>
              <a:t>de primeira ordem – Gradiente</a:t>
            </a:r>
          </a:p>
        </p:txBody>
      </p:sp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1979712" y="2708920"/>
          <a:ext cx="418147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981080" imgH="304560" progId="Equation.3">
                  <p:embed/>
                </p:oleObj>
              </mc:Choice>
              <mc:Fallback>
                <p:oleObj name="Equação" r:id="rId2" imgW="1981080" imgH="304560" progId="Equation.3">
                  <p:embed/>
                  <p:pic>
                    <p:nvPicPr>
                      <p:cNvPr id="122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708920"/>
                        <a:ext cx="4181475" cy="642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/>
        </p:nvGraphicFramePr>
        <p:xfrm>
          <a:off x="7164288" y="1484784"/>
          <a:ext cx="519346" cy="46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228600" imgH="203040" progId="Equation.3">
                  <p:embed/>
                </p:oleObj>
              </mc:Choice>
              <mc:Fallback>
                <p:oleObj name="Equação" r:id="rId4" imgW="228600" imgH="20304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288" y="1484784"/>
                        <a:ext cx="519346" cy="461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71892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457200" y="1600200"/>
            <a:ext cx="8229600" cy="490061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buFontTx/>
              <a:buNone/>
            </a:pPr>
            <a:r>
              <a:rPr lang="pt-BR" dirty="0"/>
              <a:t>Note que as componentes do vetor gradiente são derivadas e portanto são operadores lineares;</a:t>
            </a:r>
          </a:p>
          <a:p>
            <a:pPr>
              <a:buFontTx/>
              <a:buNone/>
            </a:pPr>
            <a:endParaRPr lang="pt-BR" dirty="0"/>
          </a:p>
          <a:p>
            <a:pPr>
              <a:buFontTx/>
              <a:buNone/>
            </a:pPr>
            <a:r>
              <a:rPr lang="pt-BR" dirty="0"/>
              <a:t>A magnitude não é linear por causa da exponenciação e da radiciação;</a:t>
            </a:r>
          </a:p>
          <a:p>
            <a:pPr>
              <a:buFontTx/>
              <a:buNone/>
            </a:pPr>
            <a:endParaRPr lang="pt-BR" dirty="0"/>
          </a:p>
          <a:p>
            <a:pPr>
              <a:buFontTx/>
              <a:buNone/>
            </a:pPr>
            <a:r>
              <a:rPr lang="pt-BR" dirty="0"/>
              <a:t>As derivadas parciais não são invariantes à rotação (isotrópicas), mas a magnitude do gradiente é .</a:t>
            </a:r>
          </a:p>
          <a:p>
            <a:pPr>
              <a:buFontTx/>
              <a:buNone/>
            </a:pPr>
            <a:endParaRPr lang="pt-BR" dirty="0"/>
          </a:p>
          <a:p>
            <a:pPr>
              <a:buFontTx/>
              <a:buNone/>
            </a:pPr>
            <a:endParaRPr lang="pt-BR" dirty="0"/>
          </a:p>
          <a:p>
            <a:pPr>
              <a:buFontTx/>
              <a:buNone/>
            </a:pPr>
            <a:endParaRPr lang="pt-BR" dirty="0"/>
          </a:p>
          <a:p>
            <a:pPr>
              <a:buFontTx/>
              <a:buNone/>
            </a:pPr>
            <a:endParaRPr lang="pt-BR" dirty="0"/>
          </a:p>
        </p:txBody>
      </p:sp>
      <p:sp>
        <p:nvSpPr>
          <p:cNvPr id="46082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algn="just"/>
            <a:r>
              <a:rPr lang="pt-BR" sz="3400" dirty="0"/>
              <a:t>Realce de Imagens usando Derivadas </a:t>
            </a:r>
            <a:br>
              <a:rPr lang="pt-BR" sz="3400" dirty="0"/>
            </a:br>
            <a:r>
              <a:rPr lang="pt-BR" sz="3400" dirty="0"/>
              <a:t>de primeira ordem – Gradiente</a:t>
            </a:r>
          </a:p>
        </p:txBody>
      </p:sp>
    </p:spTree>
    <p:extLst>
      <p:ext uri="{BB962C8B-B14F-4D97-AF65-F5344CB8AC3E}">
        <p14:creationId xmlns:p14="http://schemas.microsoft.com/office/powerpoint/2010/main" val="30055683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457200" y="1600200"/>
            <a:ext cx="8229600" cy="48291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r>
              <a:rPr lang="pt-BR" dirty="0"/>
              <a:t>Em algumas implementações é apropriado obter o gradiente de </a:t>
            </a:r>
            <a:r>
              <a:rPr lang="pt-BR" i="1" dirty="0"/>
              <a:t>f </a:t>
            </a:r>
            <a:r>
              <a:rPr lang="pt-BR" dirty="0"/>
              <a:t> como: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Esta representação preserva as mudanças relativas na intensidade, mas a propriedade isotrópica é perdida, de uma maneira geral;</a:t>
            </a:r>
          </a:p>
          <a:p>
            <a:endParaRPr lang="pt-BR" dirty="0"/>
          </a:p>
          <a:p>
            <a:r>
              <a:rPr lang="pt-BR" dirty="0"/>
              <a:t>As máscaras mais populares para aproximar o gradiente são isotrópicas em rotações múltiplas de 90</a:t>
            </a:r>
            <a:r>
              <a:rPr lang="pt-BR" baseline="30000" dirty="0"/>
              <a:t>0</a:t>
            </a:r>
            <a:r>
              <a:rPr lang="pt-BR" dirty="0"/>
              <a:t>. </a:t>
            </a:r>
          </a:p>
          <a:p>
            <a:endParaRPr lang="pt-BR" dirty="0"/>
          </a:p>
          <a:p>
            <a:pPr>
              <a:buFontTx/>
              <a:buNone/>
            </a:pPr>
            <a:endParaRPr lang="pt-BR" dirty="0"/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2555776" y="2492896"/>
          <a:ext cx="279241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218960" imgH="279360" progId="Equation.3">
                  <p:embed/>
                </p:oleObj>
              </mc:Choice>
              <mc:Fallback>
                <p:oleObj name="Equação" r:id="rId2" imgW="1218960" imgH="279360" progId="Equation.3">
                  <p:embed/>
                  <p:pic>
                    <p:nvPicPr>
                      <p:cNvPr id="133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2492896"/>
                        <a:ext cx="2792412" cy="714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algn="just"/>
            <a:r>
              <a:rPr lang="pt-BR" sz="3400" dirty="0"/>
              <a:t>Realce de Imagens usando Derivadas </a:t>
            </a:r>
            <a:br>
              <a:rPr lang="pt-BR" sz="3400" dirty="0"/>
            </a:br>
            <a:r>
              <a:rPr lang="pt-BR" sz="3400" dirty="0"/>
              <a:t>de primeira ordem – Gradiente</a:t>
            </a:r>
          </a:p>
        </p:txBody>
      </p:sp>
    </p:spTree>
    <p:extLst>
      <p:ext uri="{BB962C8B-B14F-4D97-AF65-F5344CB8AC3E}">
        <p14:creationId xmlns:p14="http://schemas.microsoft.com/office/powerpoint/2010/main" val="10915576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Filtros espaciais de realce</a:t>
            </a:r>
          </a:p>
        </p:txBody>
      </p:sp>
      <p:sp>
        <p:nvSpPr>
          <p:cNvPr id="47107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dirty="0"/>
              <a:t>Cálculo da derivada para funções discretas</a:t>
            </a:r>
          </a:p>
          <a:p>
            <a:pPr lvl="1" eaLnBrk="1" hangingPunct="1"/>
            <a:r>
              <a:rPr lang="pt-BR" dirty="0"/>
              <a:t>Devemos construir máscaras</a:t>
            </a:r>
          </a:p>
          <a:p>
            <a:pPr lvl="1" eaLnBrk="1" hangingPunct="1"/>
            <a:r>
              <a:rPr lang="pt-BR" dirty="0"/>
              <a:t>Máscaras Propostas na literatura</a:t>
            </a:r>
          </a:p>
          <a:p>
            <a:pPr lvl="2" eaLnBrk="1" hangingPunct="1"/>
            <a:r>
              <a:rPr lang="pt-BR" dirty="0"/>
              <a:t>Operador gradiente cruzado de Roberts</a:t>
            </a:r>
          </a:p>
          <a:p>
            <a:pPr lvl="2" eaLnBrk="1" hangingPunct="1"/>
            <a:r>
              <a:rPr lang="pt-BR" dirty="0"/>
              <a:t>Operador de </a:t>
            </a:r>
            <a:r>
              <a:rPr lang="pt-BR" dirty="0" err="1"/>
              <a:t>Prewitt</a:t>
            </a:r>
            <a:endParaRPr lang="pt-BR" dirty="0"/>
          </a:p>
          <a:p>
            <a:pPr lvl="2" eaLnBrk="1" hangingPunct="1"/>
            <a:r>
              <a:rPr lang="pt-BR" dirty="0"/>
              <a:t>Operador de Sobel</a:t>
            </a:r>
          </a:p>
        </p:txBody>
      </p:sp>
    </p:spTree>
    <p:extLst>
      <p:ext uri="{BB962C8B-B14F-4D97-AF65-F5344CB8AC3E}">
        <p14:creationId xmlns:p14="http://schemas.microsoft.com/office/powerpoint/2010/main" val="28898910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Filtros espaciais de realce</a:t>
            </a:r>
          </a:p>
        </p:txBody>
      </p:sp>
      <p:sp>
        <p:nvSpPr>
          <p:cNvPr id="8196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/>
              <a:t>Operador gradiente-cruzado de Roberts</a:t>
            </a:r>
          </a:p>
          <a:p>
            <a:pPr eaLnBrk="1" hangingPunct="1"/>
            <a:endParaRPr lang="pt-BR"/>
          </a:p>
        </p:txBody>
      </p:sp>
      <p:pic>
        <p:nvPicPr>
          <p:cNvPr id="819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2365375"/>
            <a:ext cx="3892550" cy="10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2149475" y="4354513"/>
          <a:ext cx="4494213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2031840" imgH="291960" progId="Equation.3">
                  <p:embed/>
                </p:oleObj>
              </mc:Choice>
              <mc:Fallback>
                <p:oleObj name="Equação" r:id="rId4" imgW="2031840" imgH="291960" progId="Equation.3">
                  <p:embed/>
                  <p:pic>
                    <p:nvPicPr>
                      <p:cNvPr id="81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5" y="4354513"/>
                        <a:ext cx="4494213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92906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Filtros espaciais de realce</a:t>
            </a:r>
          </a:p>
        </p:txBody>
      </p:sp>
      <p:sp>
        <p:nvSpPr>
          <p:cNvPr id="48131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/>
              <a:t>Operador gradiente-cruzado de Roberts</a:t>
            </a:r>
          </a:p>
          <a:p>
            <a:pPr eaLnBrk="1" hangingPunct="1"/>
            <a:endParaRPr lang="pt-BR"/>
          </a:p>
        </p:txBody>
      </p:sp>
      <p:pic>
        <p:nvPicPr>
          <p:cNvPr id="4813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2786063"/>
            <a:ext cx="3381375" cy="335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8" y="2786063"/>
            <a:ext cx="3384550" cy="333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90056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Filtros espaciais de realce</a:t>
            </a:r>
          </a:p>
        </p:txBody>
      </p:sp>
      <p:sp>
        <p:nvSpPr>
          <p:cNvPr id="9220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/>
              <a:t>Operador de Prewitt</a:t>
            </a:r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2149475" y="4354513"/>
          <a:ext cx="4494213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2031840" imgH="291960" progId="Equation.3">
                  <p:embed/>
                </p:oleObj>
              </mc:Choice>
              <mc:Fallback>
                <p:oleObj name="Equação" r:id="rId3" imgW="2031840" imgH="291960" progId="Equation.3">
                  <p:embed/>
                  <p:pic>
                    <p:nvPicPr>
                      <p:cNvPr id="92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5" y="4354513"/>
                        <a:ext cx="4494213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1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688" y="2428875"/>
            <a:ext cx="4343400" cy="125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8582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Filtros espaciais de realce</a:t>
            </a:r>
          </a:p>
        </p:txBody>
      </p:sp>
      <p:sp>
        <p:nvSpPr>
          <p:cNvPr id="49155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/>
              <a:t>Operador de Prewitt</a:t>
            </a:r>
          </a:p>
        </p:txBody>
      </p:sp>
      <p:pic>
        <p:nvPicPr>
          <p:cNvPr id="4915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2928938"/>
            <a:ext cx="3384550" cy="333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2928938"/>
            <a:ext cx="3357563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5061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Filtros espaciais de realce</a:t>
            </a:r>
          </a:p>
        </p:txBody>
      </p:sp>
      <p:sp>
        <p:nvSpPr>
          <p:cNvPr id="10244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/>
              <a:t>Operador de Sobel</a:t>
            </a:r>
          </a:p>
          <a:p>
            <a:pPr eaLnBrk="1" hangingPunct="1"/>
            <a:endParaRPr lang="pt-BR"/>
          </a:p>
        </p:txBody>
      </p:sp>
      <p:pic>
        <p:nvPicPr>
          <p:cNvPr id="1024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2500313"/>
            <a:ext cx="4343400" cy="126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2149475" y="4354513"/>
          <a:ext cx="4494213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2031840" imgH="291960" progId="Equation.3">
                  <p:embed/>
                </p:oleObj>
              </mc:Choice>
              <mc:Fallback>
                <p:oleObj name="Equação" r:id="rId4" imgW="2031840" imgH="291960" progId="Equation.3">
                  <p:embed/>
                  <p:pic>
                    <p:nvPicPr>
                      <p:cNvPr id="102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5" y="4354513"/>
                        <a:ext cx="4494213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8149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Filtros espaciais de realce</a:t>
            </a:r>
          </a:p>
        </p:txBody>
      </p:sp>
      <p:sp>
        <p:nvSpPr>
          <p:cNvPr id="5017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/>
              <a:t>Operador de Sobel</a:t>
            </a:r>
          </a:p>
          <a:p>
            <a:pPr eaLnBrk="1" hangingPunct="1"/>
            <a:endParaRPr lang="pt-BR"/>
          </a:p>
        </p:txBody>
      </p:sp>
      <p:pic>
        <p:nvPicPr>
          <p:cNvPr id="5018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063" y="2714625"/>
            <a:ext cx="3357562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2643188"/>
            <a:ext cx="3384550" cy="333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16773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Filtros espaciais de realce</a:t>
            </a:r>
          </a:p>
        </p:txBody>
      </p:sp>
      <p:pic>
        <p:nvPicPr>
          <p:cNvPr id="5120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1643063"/>
            <a:ext cx="6072187" cy="457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4" name="CaixaDeTexto 5"/>
          <p:cNvSpPr txBox="1">
            <a:spLocks noChangeArrowheads="1"/>
          </p:cNvSpPr>
          <p:nvPr/>
        </p:nvSpPr>
        <p:spPr bwMode="auto">
          <a:xfrm>
            <a:off x="1357313" y="1357313"/>
            <a:ext cx="1143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Original</a:t>
            </a:r>
          </a:p>
        </p:txBody>
      </p:sp>
      <p:sp>
        <p:nvSpPr>
          <p:cNvPr id="51205" name="CaixaDeTexto 6"/>
          <p:cNvSpPr txBox="1">
            <a:spLocks noChangeArrowheads="1"/>
          </p:cNvSpPr>
          <p:nvPr/>
        </p:nvSpPr>
        <p:spPr bwMode="auto">
          <a:xfrm>
            <a:off x="4357688" y="1357313"/>
            <a:ext cx="30718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Bordas horizontais (Sobel)</a:t>
            </a:r>
          </a:p>
        </p:txBody>
      </p:sp>
      <p:sp>
        <p:nvSpPr>
          <p:cNvPr id="51206" name="CaixaDeTexto 7"/>
          <p:cNvSpPr txBox="1">
            <a:spLocks noChangeArrowheads="1"/>
          </p:cNvSpPr>
          <p:nvPr/>
        </p:nvSpPr>
        <p:spPr bwMode="auto">
          <a:xfrm>
            <a:off x="1357313" y="6143625"/>
            <a:ext cx="3071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Bordas verticais (Sobel)</a:t>
            </a:r>
          </a:p>
        </p:txBody>
      </p:sp>
      <p:sp>
        <p:nvSpPr>
          <p:cNvPr id="51207" name="CaixaDeTexto 8"/>
          <p:cNvSpPr txBox="1">
            <a:spLocks noChangeArrowheads="1"/>
          </p:cNvSpPr>
          <p:nvPr/>
        </p:nvSpPr>
        <p:spPr bwMode="auto">
          <a:xfrm>
            <a:off x="4357688" y="6143625"/>
            <a:ext cx="3071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Imagem gradiente</a:t>
            </a:r>
          </a:p>
        </p:txBody>
      </p:sp>
    </p:spTree>
    <p:extLst>
      <p:ext uri="{BB962C8B-B14F-4D97-AF65-F5344CB8AC3E}">
        <p14:creationId xmlns:p14="http://schemas.microsoft.com/office/powerpoint/2010/main" val="37825540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522904"/>
            <a:ext cx="6072188" cy="457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7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Filtros espaciais de realce</a:t>
            </a:r>
          </a:p>
        </p:txBody>
      </p:sp>
      <p:sp>
        <p:nvSpPr>
          <p:cNvPr id="52228" name="CaixaDeTexto 5"/>
          <p:cNvSpPr txBox="1">
            <a:spLocks noChangeArrowheads="1"/>
          </p:cNvSpPr>
          <p:nvPr/>
        </p:nvSpPr>
        <p:spPr bwMode="auto">
          <a:xfrm>
            <a:off x="1357313" y="1357313"/>
            <a:ext cx="3000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Original suavizada</a:t>
            </a:r>
          </a:p>
        </p:txBody>
      </p:sp>
      <p:sp>
        <p:nvSpPr>
          <p:cNvPr id="52229" name="CaixaDeTexto 6"/>
          <p:cNvSpPr txBox="1">
            <a:spLocks noChangeArrowheads="1"/>
          </p:cNvSpPr>
          <p:nvPr/>
        </p:nvSpPr>
        <p:spPr bwMode="auto">
          <a:xfrm>
            <a:off x="4357688" y="1357313"/>
            <a:ext cx="30718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Bordas horizontais (Sobel)</a:t>
            </a:r>
          </a:p>
        </p:txBody>
      </p:sp>
      <p:sp>
        <p:nvSpPr>
          <p:cNvPr id="52230" name="CaixaDeTexto 7"/>
          <p:cNvSpPr txBox="1">
            <a:spLocks noChangeArrowheads="1"/>
          </p:cNvSpPr>
          <p:nvPr/>
        </p:nvSpPr>
        <p:spPr bwMode="auto">
          <a:xfrm>
            <a:off x="1357313" y="6143625"/>
            <a:ext cx="3071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Bordas verticais (Sobel)</a:t>
            </a:r>
          </a:p>
        </p:txBody>
      </p:sp>
      <p:sp>
        <p:nvSpPr>
          <p:cNvPr id="52231" name="CaixaDeTexto 8"/>
          <p:cNvSpPr txBox="1">
            <a:spLocks noChangeArrowheads="1"/>
          </p:cNvSpPr>
          <p:nvPr/>
        </p:nvSpPr>
        <p:spPr bwMode="auto">
          <a:xfrm>
            <a:off x="4357688" y="6143625"/>
            <a:ext cx="3071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Imagem gradiente</a:t>
            </a:r>
          </a:p>
        </p:txBody>
      </p:sp>
    </p:spTree>
    <p:extLst>
      <p:ext uri="{BB962C8B-B14F-4D97-AF65-F5344CB8AC3E}">
        <p14:creationId xmlns:p14="http://schemas.microsoft.com/office/powerpoint/2010/main" val="32111107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50" y="2071688"/>
            <a:ext cx="6346825" cy="2903537"/>
          </a:xfrm>
          <a:noFill/>
          <a:ln>
            <a:miter lim="800000"/>
            <a:headEnd/>
            <a:tailEnd/>
          </a:ln>
        </p:spPr>
      </p:pic>
      <p:sp>
        <p:nvSpPr>
          <p:cNvPr id="48130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/>
              <a:t>Um exemplo usando </a:t>
            </a:r>
            <a:r>
              <a:rPr lang="pt-BR" dirty="0" err="1"/>
              <a:t>Sobel</a:t>
            </a:r>
            <a:endParaRPr lang="pt-BR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Dada a </a:t>
            </a:r>
            <a:r>
              <a:rPr lang="en-US" dirty="0" err="1"/>
              <a:t>imagem</a:t>
            </a:r>
            <a:r>
              <a:rPr lang="en-US" dirty="0"/>
              <a:t> </a:t>
            </a:r>
            <a:r>
              <a:rPr lang="en-US" dirty="0" err="1"/>
              <a:t>abaixo</a:t>
            </a:r>
            <a:r>
              <a:rPr lang="en-US" dirty="0"/>
              <a:t>, execute o </a:t>
            </a:r>
            <a:r>
              <a:rPr lang="en-US" dirty="0" err="1"/>
              <a:t>realce</a:t>
            </a:r>
            <a:r>
              <a:rPr lang="en-US" dirty="0"/>
              <a:t> das </a:t>
            </a:r>
            <a:r>
              <a:rPr lang="en-US" dirty="0" err="1"/>
              <a:t>arestas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</a:t>
            </a:r>
            <a:r>
              <a:rPr lang="en-US" dirty="0" err="1"/>
              <a:t>Filtro</a:t>
            </a:r>
            <a:r>
              <a:rPr lang="en-US" dirty="0"/>
              <a:t> de </a:t>
            </a:r>
            <a:r>
              <a:rPr lang="en-US" dirty="0" err="1"/>
              <a:t>Sobel</a:t>
            </a:r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sz="2200" dirty="0"/>
              <a:t>0 0 0 0 100 200 255 255 255 255</a:t>
            </a:r>
          </a:p>
          <a:p>
            <a:pPr>
              <a:buNone/>
            </a:pPr>
            <a:r>
              <a:rPr lang="en-US" sz="2200" dirty="0"/>
              <a:t>0 0 0 0 100 200 255 255 255 255</a:t>
            </a:r>
          </a:p>
          <a:p>
            <a:pPr>
              <a:buNone/>
            </a:pPr>
            <a:r>
              <a:rPr lang="en-US" sz="2200" dirty="0"/>
              <a:t>0 0 0 0 100 200 255 255 255 255</a:t>
            </a:r>
          </a:p>
          <a:p>
            <a:pPr>
              <a:buNone/>
            </a:pPr>
            <a:r>
              <a:rPr lang="en-US" sz="2200" dirty="0"/>
              <a:t>0 0 0 0 100 200 255 255 255 255</a:t>
            </a:r>
          </a:p>
          <a:p>
            <a:pPr>
              <a:buNone/>
            </a:pPr>
            <a:r>
              <a:rPr lang="en-US" sz="2200" dirty="0"/>
              <a:t>0 0 0 0 100 200 255 255 255 255</a:t>
            </a:r>
          </a:p>
          <a:p>
            <a:pPr>
              <a:buNone/>
            </a:pPr>
            <a:r>
              <a:rPr lang="en-US" sz="2200" dirty="0"/>
              <a:t>0 0 0 0 100 200 255 255 255 255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Exercicio</a:t>
            </a:r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ítulo 1"/>
          <p:cNvSpPr>
            <a:spLocks noGrp="1"/>
          </p:cNvSpPr>
          <p:nvPr>
            <p:ph type="title"/>
          </p:nvPr>
        </p:nvSpPr>
        <p:spPr bwMode="auto">
          <a:xfrm>
            <a:off x="357188" y="285750"/>
            <a:ext cx="8463284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pt-BR" sz="3000" dirty="0"/>
              <a:t>Um exemplo da combinação de métodos de Realce</a:t>
            </a:r>
          </a:p>
        </p:txBody>
      </p:sp>
      <p:pic>
        <p:nvPicPr>
          <p:cNvPr id="49156" name="Picture 102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980728"/>
            <a:ext cx="3529012" cy="560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7" name="Picture 102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5976" y="4221088"/>
            <a:ext cx="1303337" cy="224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upo 7"/>
          <p:cNvGrpSpPr>
            <a:grpSpLocks/>
          </p:cNvGrpSpPr>
          <p:nvPr/>
        </p:nvGrpSpPr>
        <p:grpSpPr bwMode="auto">
          <a:xfrm>
            <a:off x="4254500" y="836712"/>
            <a:ext cx="4889500" cy="5786437"/>
            <a:chOff x="2285984" y="1571306"/>
            <a:chExt cx="4603750" cy="5286694"/>
          </a:xfrm>
        </p:grpSpPr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85984" y="1571306"/>
              <a:ext cx="3294062" cy="52866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4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730859" y="3108322"/>
              <a:ext cx="1158875" cy="37496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B6610C1FC8AB48BA79369D9F0FA2AE" ma:contentTypeVersion="0" ma:contentTypeDescription="Crie um novo documento." ma:contentTypeScope="" ma:versionID="bb0d639e4679164d038a7d1ea4c9b2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8F828A5-0245-4338-A889-86CF4A57B3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C75C035-063F-4B56-B847-58FE9DDC15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6F24BC-69C2-4713-9621-151836595E4E}">
  <ds:schemaRefs>
    <ds:schemaRef ds:uri="http://schemas.microsoft.com/office/2006/documentManagement/types"/>
    <ds:schemaRef ds:uri="d3277c54-f02d-4e77-a007-b35c2ed6fb24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805</TotalTime>
  <Words>1918</Words>
  <Application>Microsoft Office PowerPoint</Application>
  <PresentationFormat>Apresentação na tela (4:3)</PresentationFormat>
  <Paragraphs>348</Paragraphs>
  <Slides>53</Slides>
  <Notes>18</Notes>
  <HiddenSlides>0</HiddenSlides>
  <MMClips>0</MMClips>
  <ScaleCrop>false</ScaleCrop>
  <HeadingPairs>
    <vt:vector size="8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53</vt:i4>
      </vt:variant>
    </vt:vector>
  </HeadingPairs>
  <TitlesOfParts>
    <vt:vector size="64" baseType="lpstr">
      <vt:lpstr>Arial</vt:lpstr>
      <vt:lpstr>Calibri</vt:lpstr>
      <vt:lpstr>Cambria Math</vt:lpstr>
      <vt:lpstr>Lucida Sans Unicode</vt:lpstr>
      <vt:lpstr>Times New Roman</vt:lpstr>
      <vt:lpstr>Verdana</vt:lpstr>
      <vt:lpstr>Wingdings</vt:lpstr>
      <vt:lpstr>Wingdings 2</vt:lpstr>
      <vt:lpstr>Wingdings 3</vt:lpstr>
      <vt:lpstr>Concurso</vt:lpstr>
      <vt:lpstr>Equação</vt:lpstr>
      <vt:lpstr>Filtros Espaciais II</vt:lpstr>
      <vt:lpstr>Recapitulando</vt:lpstr>
      <vt:lpstr>Aula de hoje</vt:lpstr>
      <vt:lpstr>Filtros para Realce de Arestas</vt:lpstr>
      <vt:lpstr>Filtros para Realce de Arestas</vt:lpstr>
      <vt:lpstr>Filtros para Realce de Arestas</vt:lpstr>
      <vt:lpstr>Filtros para Realce de Arestas</vt:lpstr>
      <vt:lpstr>Filtros para Realce de Arestas</vt:lpstr>
      <vt:lpstr>Apresentação do PowerPoint</vt:lpstr>
      <vt:lpstr>Filtros para Realce de Arestas</vt:lpstr>
      <vt:lpstr>Filtros para Realce de Arestas</vt:lpstr>
      <vt:lpstr>Apresentação do PowerPoint</vt:lpstr>
      <vt:lpstr>Filtros para Realce de Arestas</vt:lpstr>
      <vt:lpstr>Filtros para Realce de Arestas</vt:lpstr>
      <vt:lpstr>Filtros para Realce de Arestas</vt:lpstr>
      <vt:lpstr>Filtros para Realce de Arestas</vt:lpstr>
      <vt:lpstr>Utilizando a segunda derivada para realce de imagens</vt:lpstr>
      <vt:lpstr>Filtro Laplaciano – filtro baseado na derivada de segunda ordem</vt:lpstr>
      <vt:lpstr>Filtro Laplaciano</vt:lpstr>
      <vt:lpstr>Filtro Laplaciano</vt:lpstr>
      <vt:lpstr>Filtro Laplaciano</vt:lpstr>
      <vt:lpstr>Máscaras para o operador Laplaciano</vt:lpstr>
      <vt:lpstr>Máscara Laplaciano</vt:lpstr>
      <vt:lpstr>Máscara Laplaciano</vt:lpstr>
      <vt:lpstr>Filtro Laplaciano</vt:lpstr>
      <vt:lpstr>Realce utilizando o Filtro Laplaciano</vt:lpstr>
      <vt:lpstr>Uma aplicação do Filtro Laplaciano</vt:lpstr>
      <vt:lpstr>Máscaras para o operador Laplaciano</vt:lpstr>
      <vt:lpstr>Máscara Laplaciano</vt:lpstr>
      <vt:lpstr>Filtro Laplaciano</vt:lpstr>
      <vt:lpstr>Exercicio</vt:lpstr>
      <vt:lpstr>Filtros espaciais de realce</vt:lpstr>
      <vt:lpstr>Filtros espaciais de realce</vt:lpstr>
      <vt:lpstr>Filtros espaciais de realce</vt:lpstr>
      <vt:lpstr>Filtros espaciais de realce</vt:lpstr>
      <vt:lpstr>Filtros espaciais de realce</vt:lpstr>
      <vt:lpstr>Exemplo</vt:lpstr>
      <vt:lpstr>Filtros espaciais de realce</vt:lpstr>
      <vt:lpstr>Realce de Imagens usando Derivadas  de primeira ordem – Gradiente</vt:lpstr>
      <vt:lpstr>Realce de Imagens usando Derivadas  de primeira ordem – Gradiente</vt:lpstr>
      <vt:lpstr>Realce de Imagens usando Derivadas  de primeira ordem – Gradiente</vt:lpstr>
      <vt:lpstr>Filtros espaciais de realce</vt:lpstr>
      <vt:lpstr>Filtros espaciais de realce</vt:lpstr>
      <vt:lpstr>Filtros espaciais de realce</vt:lpstr>
      <vt:lpstr>Filtros espaciais de realce</vt:lpstr>
      <vt:lpstr>Filtros espaciais de realce</vt:lpstr>
      <vt:lpstr>Filtros espaciais de realce</vt:lpstr>
      <vt:lpstr>Filtros espaciais de realce</vt:lpstr>
      <vt:lpstr>Filtros espaciais de realce</vt:lpstr>
      <vt:lpstr>Filtros espaciais de realce</vt:lpstr>
      <vt:lpstr>Um exemplo usando Sobel</vt:lpstr>
      <vt:lpstr>Exercicio</vt:lpstr>
      <vt:lpstr>Um exemplo da combinação de métodos de Realce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Filtros Espaciais II</dc:title>
  <dc:creator>Usuário</dc:creator>
  <cp:lastModifiedBy>Marcio Salmazo Ramos</cp:lastModifiedBy>
  <cp:revision>34</cp:revision>
  <dcterms:created xsi:type="dcterms:W3CDTF">2011-05-09T12:07:45Z</dcterms:created>
  <dcterms:modified xsi:type="dcterms:W3CDTF">2026-10-21T20:06:53Z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0x01010097B6610C1FC8AB48BA79369D9F0FA2AE</vt:lpwstr>
  </property>
  <property fmtid="{D5CDD505-2E9C-101B-9397-08002B2CF9AE}" pid="3" name="Order">
    <vt:r8>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</Properties>
</file>