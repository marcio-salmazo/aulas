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7"/>
  </p:notesMasterIdLst>
  <p:sldIdLst>
    <p:sldId id="256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268" r:id="rId19"/>
    <p:sldId id="306" r:id="rId20"/>
    <p:sldId id="307" r:id="rId21"/>
    <p:sldId id="308" r:id="rId22"/>
    <p:sldId id="309" r:id="rId23"/>
    <p:sldId id="310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11" r:id="rId35"/>
    <p:sldId id="312" r:id="rId36"/>
    <p:sldId id="331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289" r:id="rId45"/>
    <p:sldId id="330" r:id="rId4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F03F9A-D9FD-49C2-A867-4A89A2AEB5AA}" v="2" dt="2023-08-23T23:59:54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23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94F03F9A-D9FD-49C2-A867-4A89A2AEB5AA}"/>
    <pc:docChg chg="custSel modSld">
      <pc:chgData name="Bruno Augusto Nassif Travencolo" userId="9765cb90-d5ec-451e-8c7b-af57428794a1" providerId="ADAL" clId="{94F03F9A-D9FD-49C2-A867-4A89A2AEB5AA}" dt="2023-08-23T23:59:54.698" v="21" actId="27636"/>
      <pc:docMkLst>
        <pc:docMk/>
      </pc:docMkLst>
      <pc:sldChg chg="modSp mod">
        <pc:chgData name="Bruno Augusto Nassif Travencolo" userId="9765cb90-d5ec-451e-8c7b-af57428794a1" providerId="ADAL" clId="{94F03F9A-D9FD-49C2-A867-4A89A2AEB5AA}" dt="2023-08-23T23:59:54.698" v="21" actId="27636"/>
        <pc:sldMkLst>
          <pc:docMk/>
          <pc:sldMk cId="0" sldId="289"/>
        </pc:sldMkLst>
        <pc:spChg chg="mod">
          <ac:chgData name="Bruno Augusto Nassif Travencolo" userId="9765cb90-d5ec-451e-8c7b-af57428794a1" providerId="ADAL" clId="{94F03F9A-D9FD-49C2-A867-4A89A2AEB5AA}" dt="2023-08-23T23:59:54.698" v="21" actId="27636"/>
          <ac:spMkLst>
            <pc:docMk/>
            <pc:sldMk cId="0" sldId="289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565" v="2" actId="27636"/>
        <pc:sldMkLst>
          <pc:docMk/>
          <pc:sldMk cId="2278637860" sldId="292"/>
        </pc:sldMkLst>
        <pc:spChg chg="mod">
          <ac:chgData name="Bruno Augusto Nassif Travencolo" userId="9765cb90-d5ec-451e-8c7b-af57428794a1" providerId="ADAL" clId="{94F03F9A-D9FD-49C2-A867-4A89A2AEB5AA}" dt="2023-08-23T23:59:54.565" v="2" actId="27636"/>
          <ac:spMkLst>
            <pc:docMk/>
            <pc:sldMk cId="2278637860" sldId="292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571" v="3" actId="27636"/>
        <pc:sldMkLst>
          <pc:docMk/>
          <pc:sldMk cId="1973906313" sldId="293"/>
        </pc:sldMkLst>
        <pc:spChg chg="mod">
          <ac:chgData name="Bruno Augusto Nassif Travencolo" userId="9765cb90-d5ec-451e-8c7b-af57428794a1" providerId="ADAL" clId="{94F03F9A-D9FD-49C2-A867-4A89A2AEB5AA}" dt="2023-08-23T23:59:54.571" v="3" actId="27636"/>
          <ac:spMkLst>
            <pc:docMk/>
            <pc:sldMk cId="1973906313" sldId="293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579" v="4" actId="27636"/>
        <pc:sldMkLst>
          <pc:docMk/>
          <pc:sldMk cId="2136800141" sldId="294"/>
        </pc:sldMkLst>
        <pc:spChg chg="mod">
          <ac:chgData name="Bruno Augusto Nassif Travencolo" userId="9765cb90-d5ec-451e-8c7b-af57428794a1" providerId="ADAL" clId="{94F03F9A-D9FD-49C2-A867-4A89A2AEB5AA}" dt="2023-08-23T23:59:54.579" v="4" actId="27636"/>
          <ac:spMkLst>
            <pc:docMk/>
            <pc:sldMk cId="2136800141" sldId="294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583" v="5" actId="27636"/>
        <pc:sldMkLst>
          <pc:docMk/>
          <pc:sldMk cId="2123582408" sldId="295"/>
        </pc:sldMkLst>
        <pc:spChg chg="mod">
          <ac:chgData name="Bruno Augusto Nassif Travencolo" userId="9765cb90-d5ec-451e-8c7b-af57428794a1" providerId="ADAL" clId="{94F03F9A-D9FD-49C2-A867-4A89A2AEB5AA}" dt="2023-08-23T23:59:54.583" v="5" actId="27636"/>
          <ac:spMkLst>
            <pc:docMk/>
            <pc:sldMk cId="2123582408" sldId="295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588" v="6" actId="27636"/>
        <pc:sldMkLst>
          <pc:docMk/>
          <pc:sldMk cId="2123582408" sldId="296"/>
        </pc:sldMkLst>
        <pc:spChg chg="mod">
          <ac:chgData name="Bruno Augusto Nassif Travencolo" userId="9765cb90-d5ec-451e-8c7b-af57428794a1" providerId="ADAL" clId="{94F03F9A-D9FD-49C2-A867-4A89A2AEB5AA}" dt="2023-08-23T23:59:54.588" v="6" actId="27636"/>
          <ac:spMkLst>
            <pc:docMk/>
            <pc:sldMk cId="2123582408" sldId="296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597" v="7" actId="27636"/>
        <pc:sldMkLst>
          <pc:docMk/>
          <pc:sldMk cId="2198241511" sldId="297"/>
        </pc:sldMkLst>
        <pc:spChg chg="mod">
          <ac:chgData name="Bruno Augusto Nassif Travencolo" userId="9765cb90-d5ec-451e-8c7b-af57428794a1" providerId="ADAL" clId="{94F03F9A-D9FD-49C2-A867-4A89A2AEB5AA}" dt="2023-08-23T23:59:54.597" v="7" actId="27636"/>
          <ac:spMkLst>
            <pc:docMk/>
            <pc:sldMk cId="2198241511" sldId="297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604" v="8" actId="27636"/>
        <pc:sldMkLst>
          <pc:docMk/>
          <pc:sldMk cId="2198241511" sldId="298"/>
        </pc:sldMkLst>
        <pc:spChg chg="mod">
          <ac:chgData name="Bruno Augusto Nassif Travencolo" userId="9765cb90-d5ec-451e-8c7b-af57428794a1" providerId="ADAL" clId="{94F03F9A-D9FD-49C2-A867-4A89A2AEB5AA}" dt="2023-08-23T23:59:54.604" v="8" actId="27636"/>
          <ac:spMkLst>
            <pc:docMk/>
            <pc:sldMk cId="2198241511" sldId="298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608" v="9" actId="27636"/>
        <pc:sldMkLst>
          <pc:docMk/>
          <pc:sldMk cId="2198241511" sldId="299"/>
        </pc:sldMkLst>
        <pc:spChg chg="mod">
          <ac:chgData name="Bruno Augusto Nassif Travencolo" userId="9765cb90-d5ec-451e-8c7b-af57428794a1" providerId="ADAL" clId="{94F03F9A-D9FD-49C2-A867-4A89A2AEB5AA}" dt="2023-08-23T23:59:54.608" v="9" actId="27636"/>
          <ac:spMkLst>
            <pc:docMk/>
            <pc:sldMk cId="2198241511" sldId="299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612" v="10" actId="27636"/>
        <pc:sldMkLst>
          <pc:docMk/>
          <pc:sldMk cId="288502936" sldId="300"/>
        </pc:sldMkLst>
        <pc:spChg chg="mod">
          <ac:chgData name="Bruno Augusto Nassif Travencolo" userId="9765cb90-d5ec-451e-8c7b-af57428794a1" providerId="ADAL" clId="{94F03F9A-D9FD-49C2-A867-4A89A2AEB5AA}" dt="2023-08-23T23:59:54.612" v="10" actId="27636"/>
          <ac:spMkLst>
            <pc:docMk/>
            <pc:sldMk cId="288502936" sldId="300"/>
            <ac:spMk id="29698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617" v="11" actId="27636"/>
        <pc:sldMkLst>
          <pc:docMk/>
          <pc:sldMk cId="1877273441" sldId="301"/>
        </pc:sldMkLst>
        <pc:spChg chg="mod">
          <ac:chgData name="Bruno Augusto Nassif Travencolo" userId="9765cb90-d5ec-451e-8c7b-af57428794a1" providerId="ADAL" clId="{94F03F9A-D9FD-49C2-A867-4A89A2AEB5AA}" dt="2023-08-23T23:59:54.617" v="11" actId="27636"/>
          <ac:spMkLst>
            <pc:docMk/>
            <pc:sldMk cId="1877273441" sldId="301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621" v="12" actId="27636"/>
        <pc:sldMkLst>
          <pc:docMk/>
          <pc:sldMk cId="2347759599" sldId="302"/>
        </pc:sldMkLst>
        <pc:spChg chg="mod">
          <ac:chgData name="Bruno Augusto Nassif Travencolo" userId="9765cb90-d5ec-451e-8c7b-af57428794a1" providerId="ADAL" clId="{94F03F9A-D9FD-49C2-A867-4A89A2AEB5AA}" dt="2023-08-23T23:59:54.621" v="12" actId="27636"/>
          <ac:spMkLst>
            <pc:docMk/>
            <pc:sldMk cId="2347759599" sldId="302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625" v="13" actId="27636"/>
        <pc:sldMkLst>
          <pc:docMk/>
          <pc:sldMk cId="2347759599" sldId="303"/>
        </pc:sldMkLst>
        <pc:spChg chg="mod">
          <ac:chgData name="Bruno Augusto Nassif Travencolo" userId="9765cb90-d5ec-451e-8c7b-af57428794a1" providerId="ADAL" clId="{94F03F9A-D9FD-49C2-A867-4A89A2AEB5AA}" dt="2023-08-23T23:59:54.625" v="13" actId="27636"/>
          <ac:spMkLst>
            <pc:docMk/>
            <pc:sldMk cId="2347759599" sldId="303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630" v="14" actId="27636"/>
        <pc:sldMkLst>
          <pc:docMk/>
          <pc:sldMk cId="3572854927" sldId="304"/>
        </pc:sldMkLst>
        <pc:spChg chg="mod">
          <ac:chgData name="Bruno Augusto Nassif Travencolo" userId="9765cb90-d5ec-451e-8c7b-af57428794a1" providerId="ADAL" clId="{94F03F9A-D9FD-49C2-A867-4A89A2AEB5AA}" dt="2023-08-23T23:59:54.630" v="14" actId="27636"/>
          <ac:spMkLst>
            <pc:docMk/>
            <pc:sldMk cId="3572854927" sldId="304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646" v="15" actId="27636"/>
        <pc:sldMkLst>
          <pc:docMk/>
          <pc:sldMk cId="1504588978" sldId="311"/>
        </pc:sldMkLst>
        <pc:spChg chg="mod">
          <ac:chgData name="Bruno Augusto Nassif Travencolo" userId="9765cb90-d5ec-451e-8c7b-af57428794a1" providerId="ADAL" clId="{94F03F9A-D9FD-49C2-A867-4A89A2AEB5AA}" dt="2023-08-23T23:59:54.646" v="15" actId="27636"/>
          <ac:spMkLst>
            <pc:docMk/>
            <pc:sldMk cId="1504588978" sldId="311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650" v="16" actId="27636"/>
        <pc:sldMkLst>
          <pc:docMk/>
          <pc:sldMk cId="1733920486" sldId="312"/>
        </pc:sldMkLst>
        <pc:spChg chg="mod">
          <ac:chgData name="Bruno Augusto Nassif Travencolo" userId="9765cb90-d5ec-451e-8c7b-af57428794a1" providerId="ADAL" clId="{94F03F9A-D9FD-49C2-A867-4A89A2AEB5AA}" dt="2023-08-23T23:59:54.650" v="16" actId="27636"/>
          <ac:spMkLst>
            <pc:docMk/>
            <pc:sldMk cId="1733920486" sldId="312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665" v="18" actId="27636"/>
        <pc:sldMkLst>
          <pc:docMk/>
          <pc:sldMk cId="0" sldId="323"/>
        </pc:sldMkLst>
        <pc:spChg chg="mod">
          <ac:chgData name="Bruno Augusto Nassif Travencolo" userId="9765cb90-d5ec-451e-8c7b-af57428794a1" providerId="ADAL" clId="{94F03F9A-D9FD-49C2-A867-4A89A2AEB5AA}" dt="2023-08-23T23:59:54.665" v="18" actId="27636"/>
          <ac:spMkLst>
            <pc:docMk/>
            <pc:sldMk cId="0" sldId="323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677" v="19" actId="27636"/>
        <pc:sldMkLst>
          <pc:docMk/>
          <pc:sldMk cId="0" sldId="326"/>
        </pc:sldMkLst>
        <pc:spChg chg="mod">
          <ac:chgData name="Bruno Augusto Nassif Travencolo" userId="9765cb90-d5ec-451e-8c7b-af57428794a1" providerId="ADAL" clId="{94F03F9A-D9FD-49C2-A867-4A89A2AEB5AA}" dt="2023-08-23T23:59:54.677" v="19" actId="27636"/>
          <ac:spMkLst>
            <pc:docMk/>
            <pc:sldMk cId="0" sldId="326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689" v="20" actId="27636"/>
        <pc:sldMkLst>
          <pc:docMk/>
          <pc:sldMk cId="0" sldId="327"/>
        </pc:sldMkLst>
        <pc:spChg chg="mod">
          <ac:chgData name="Bruno Augusto Nassif Travencolo" userId="9765cb90-d5ec-451e-8c7b-af57428794a1" providerId="ADAL" clId="{94F03F9A-D9FD-49C2-A867-4A89A2AEB5AA}" dt="2023-08-23T23:59:54.689" v="20" actId="27636"/>
          <ac:spMkLst>
            <pc:docMk/>
            <pc:sldMk cId="0" sldId="327"/>
            <ac:spMk id="3" creationId="{00000000-0000-0000-0000-000000000000}"/>
          </ac:spMkLst>
        </pc:spChg>
      </pc:sldChg>
      <pc:sldChg chg="addSp delSp mod">
        <pc:chgData name="Bruno Augusto Nassif Travencolo" userId="9765cb90-d5ec-451e-8c7b-af57428794a1" providerId="ADAL" clId="{94F03F9A-D9FD-49C2-A867-4A89A2AEB5AA}" dt="2023-08-23T23:50:47.455" v="1" actId="478"/>
        <pc:sldMkLst>
          <pc:docMk/>
          <pc:sldMk cId="0" sldId="330"/>
        </pc:sldMkLst>
        <pc:spChg chg="add del">
          <ac:chgData name="Bruno Augusto Nassif Travencolo" userId="9765cb90-d5ec-451e-8c7b-af57428794a1" providerId="ADAL" clId="{94F03F9A-D9FD-49C2-A867-4A89A2AEB5AA}" dt="2023-08-23T23:50:47.455" v="1" actId="478"/>
          <ac:spMkLst>
            <pc:docMk/>
            <pc:sldMk cId="0" sldId="330"/>
            <ac:spMk id="4" creationId="{1E73FC43-C37C-527B-5CE1-796F82E1AC2B}"/>
          </ac:spMkLst>
        </pc:spChg>
      </pc:sldChg>
      <pc:sldChg chg="modSp mod">
        <pc:chgData name="Bruno Augusto Nassif Travencolo" userId="9765cb90-d5ec-451e-8c7b-af57428794a1" providerId="ADAL" clId="{94F03F9A-D9FD-49C2-A867-4A89A2AEB5AA}" dt="2023-08-23T23:59:54.654" v="17" actId="27636"/>
        <pc:sldMkLst>
          <pc:docMk/>
          <pc:sldMk cId="1927983692" sldId="331"/>
        </pc:sldMkLst>
        <pc:spChg chg="mod">
          <ac:chgData name="Bruno Augusto Nassif Travencolo" userId="9765cb90-d5ec-451e-8c7b-af57428794a1" providerId="ADAL" clId="{94F03F9A-D9FD-49C2-A867-4A89A2AEB5AA}" dt="2023-08-23T23:59:54.654" v="17" actId="27636"/>
          <ac:spMkLst>
            <pc:docMk/>
            <pc:sldMk cId="1927983692" sldId="331"/>
            <ac:spMk id="2" creationId="{00000000-0000-0000-0000-000000000000}"/>
          </ac:spMkLst>
        </pc:spChg>
      </pc:sldChg>
    </pc:docChg>
  </pc:docChgLst>
  <pc:docChgLst>
    <pc:chgData name="Bruno Augusto Nassif Travencolo" userId="S::travencolo@ufu.br::9765cb90-d5ec-451e-8c7b-af57428794a1" providerId="AD" clId="Web-{6F914EA0-33C9-C8F2-FF33-3F5F51F42D2D}"/>
    <pc:docChg chg="modSld">
      <pc:chgData name="Bruno Augusto Nassif Travencolo" userId="S::travencolo@ufu.br::9765cb90-d5ec-451e-8c7b-af57428794a1" providerId="AD" clId="Web-{6F914EA0-33C9-C8F2-FF33-3F5F51F42D2D}" dt="2023-03-02T20:26:47.896" v="12" actId="20577"/>
      <pc:docMkLst>
        <pc:docMk/>
      </pc:docMkLst>
      <pc:sldChg chg="modSp">
        <pc:chgData name="Bruno Augusto Nassif Travencolo" userId="S::travencolo@ufu.br::9765cb90-d5ec-451e-8c7b-af57428794a1" providerId="AD" clId="Web-{6F914EA0-33C9-C8F2-FF33-3F5F51F42D2D}" dt="2023-03-02T20:26:47.896" v="12" actId="20577"/>
        <pc:sldMkLst>
          <pc:docMk/>
          <pc:sldMk cId="0" sldId="289"/>
        </pc:sldMkLst>
        <pc:spChg chg="mod">
          <ac:chgData name="Bruno Augusto Nassif Travencolo" userId="S::travencolo@ufu.br::9765cb90-d5ec-451e-8c7b-af57428794a1" providerId="AD" clId="Web-{6F914EA0-33C9-C8F2-FF33-3F5F51F42D2D}" dt="2023-03-02T20:26:47.896" v="12" actId="20577"/>
          <ac:spMkLst>
            <pc:docMk/>
            <pc:sldMk cId="0" sldId="289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4776B-15C2-4B51-8AA2-B837E35A4E29}" type="datetimeFigureOut">
              <a:rPr lang="pt-BR" smtClean="0"/>
              <a:t>23/08/2023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6BA12-935D-4B8F-BB72-7FFF5E9163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668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4301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1462FDE-428C-4FBE-B2E3-030309BE1E2A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EE1ECE9-BFEA-4DE9-B37E-BD2107320727}" type="datetimeFigureOut">
              <a:rPr lang="pt-BR" smtClean="0"/>
              <a:t>23/08/2023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9073B8-AE7E-4CCF-9DBE-13714BCD268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ECE9-BFEA-4DE9-B37E-BD2107320727}" type="datetimeFigureOut">
              <a:rPr lang="pt-BR" smtClean="0"/>
              <a:t>23/08/2023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9073B8-AE7E-4CCF-9DBE-13714BCD268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ECE9-BFEA-4DE9-B37E-BD2107320727}" type="datetimeFigureOut">
              <a:rPr lang="pt-BR" smtClean="0"/>
              <a:t>23/08/2023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49073B8-AE7E-4CCF-9DBE-13714BCD268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EE1ECE9-BFEA-4DE9-B37E-BD2107320727}" type="datetimeFigureOut">
              <a:rPr lang="pt-BR" smtClean="0"/>
              <a:t>23/08/2023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9073B8-AE7E-4CCF-9DBE-13714BCD2681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EE1ECE9-BFEA-4DE9-B37E-BD2107320727}" type="datetimeFigureOut">
              <a:rPr lang="pt-BR" smtClean="0"/>
              <a:t>23/08/2023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9073B8-AE7E-4CCF-9DBE-13714BCD268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ECE9-BFEA-4DE9-B37E-BD2107320727}" type="datetimeFigureOut">
              <a:rPr lang="pt-BR" smtClean="0"/>
              <a:t>23/08/2023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9073B8-AE7E-4CCF-9DBE-13714BCD268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ECE9-BFEA-4DE9-B37E-BD2107320727}" type="datetimeFigureOut">
              <a:rPr lang="pt-BR" smtClean="0"/>
              <a:t>23/08/2023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9073B8-AE7E-4CCF-9DBE-13714BCD268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ECE9-BFEA-4DE9-B37E-BD2107320727}" type="datetimeFigureOut">
              <a:rPr lang="pt-BR" smtClean="0"/>
              <a:t>23/08/2023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9073B8-AE7E-4CCF-9DBE-13714BCD2681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EE1ECE9-BFEA-4DE9-B37E-BD2107320727}" type="datetimeFigureOut">
              <a:rPr lang="pt-BR" smtClean="0"/>
              <a:t>23/08/2023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49073B8-AE7E-4CCF-9DBE-13714BCD268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ECE9-BFEA-4DE9-B37E-BD2107320727}" type="datetimeFigureOut">
              <a:rPr lang="pt-BR" smtClean="0"/>
              <a:t>23/08/2023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073B8-AE7E-4CCF-9DBE-13714BCD268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EE1ECE9-BFEA-4DE9-B37E-BD2107320727}" type="datetimeFigureOut">
              <a:rPr lang="pt-BR" smtClean="0"/>
              <a:t>23/08/2023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C49073B8-AE7E-4CCF-9DBE-13714BCD268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EE1ECE9-BFEA-4DE9-B37E-BD2107320727}" type="datetimeFigureOut">
              <a:rPr lang="pt-BR" smtClean="0"/>
              <a:t>23/08/2023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49073B8-AE7E-4CCF-9DBE-13714BCD268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Processamento Digital de Imagens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Processamento Digital de Imagens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Motivado por duas principais aplicações:</a:t>
            </a:r>
          </a:p>
          <a:p>
            <a:pPr lvl="1"/>
            <a:r>
              <a:rPr lang="pt-BR" dirty="0"/>
              <a:t>Melhorar a informação da imagem para interpretação humana </a:t>
            </a:r>
          </a:p>
          <a:p>
            <a:pPr lvl="1"/>
            <a:r>
              <a:rPr lang="pt-BR" dirty="0"/>
              <a:t>Processamento de cenas para percepção de máquinas (Visão Computacional)</a:t>
            </a:r>
          </a:p>
          <a:p>
            <a:r>
              <a:rPr lang="pt-BR" dirty="0"/>
              <a:t>Armazenamento e transmissão eficientes</a:t>
            </a:r>
          </a:p>
        </p:txBody>
      </p:sp>
    </p:spTree>
    <p:extLst>
      <p:ext uri="{BB962C8B-B14F-4D97-AF65-F5344CB8AC3E}">
        <p14:creationId xmlns:p14="http://schemas.microsoft.com/office/powerpoint/2010/main" val="2278637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Emprega métodos capazes de melhorar a informação </a:t>
            </a:r>
            <a:r>
              <a:rPr lang="pt-BR" dirty="0" err="1"/>
              <a:t>pictorial</a:t>
            </a:r>
            <a:r>
              <a:rPr lang="pt-BR" dirty="0"/>
              <a:t> para interpretação e análises humanas</a:t>
            </a:r>
          </a:p>
          <a:p>
            <a:r>
              <a:rPr lang="pt-BR" dirty="0"/>
              <a:t>Aplicações típicas:</a:t>
            </a:r>
          </a:p>
          <a:p>
            <a:pPr lvl="1"/>
            <a:r>
              <a:rPr lang="pt-BR" dirty="0"/>
              <a:t>Realce do conteúdo da imagem</a:t>
            </a:r>
          </a:p>
          <a:p>
            <a:pPr lvl="1"/>
            <a:r>
              <a:rPr lang="pt-BR" dirty="0"/>
              <a:t>Aumento de contraste</a:t>
            </a:r>
          </a:p>
          <a:p>
            <a:pPr lvl="1"/>
            <a:r>
              <a:rPr lang="pt-BR" dirty="0"/>
              <a:t>Correção de imagens borradas</a:t>
            </a:r>
          </a:p>
          <a:p>
            <a:pPr lvl="1"/>
            <a:r>
              <a:rPr lang="pt-BR" dirty="0"/>
              <a:t>Correção de iluminação</a:t>
            </a:r>
          </a:p>
          <a:p>
            <a:pPr lvl="1"/>
            <a:r>
              <a:rPr lang="pt-BR" dirty="0"/>
              <a:t>Eliminação de ruídos</a:t>
            </a:r>
          </a:p>
          <a:p>
            <a:pPr lvl="1"/>
            <a:r>
              <a:rPr lang="pt-BR" dirty="0"/>
              <a:t>Pseudo-coloração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906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Processamento de histogramas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2204863"/>
            <a:ext cx="2160240" cy="2192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4483569"/>
            <a:ext cx="2160240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039" y="2348880"/>
            <a:ext cx="2835119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2040" y="4555577"/>
            <a:ext cx="2808312" cy="2113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680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Expansão de contraste</a:t>
            </a:r>
            <a:endParaRPr lang="en-US" dirty="0"/>
          </a:p>
        </p:txBody>
      </p:sp>
      <p:pic>
        <p:nvPicPr>
          <p:cNvPr id="4" name="Picture 2" descr="C:\Denise\disciplinas\PDI-grad\PDI\imagens\introducao\slide0126_image06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969872" y="2155358"/>
            <a:ext cx="3096200" cy="2086035"/>
          </a:xfrm>
          <a:prstGeom prst="rect">
            <a:avLst/>
          </a:prstGeom>
        </p:spPr>
      </p:pic>
      <p:pic>
        <p:nvPicPr>
          <p:cNvPr id="5" name="Picture 3" descr="C:\Denise\disciplinas\PDI-grad\PDI\imagens\introducao\slide0126_image06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2204863"/>
            <a:ext cx="3024794" cy="2036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971600" y="4365104"/>
            <a:ext cx="3114938" cy="2408087"/>
          </a:xfrm>
          <a:prstGeom prst="rect">
            <a:avLst/>
          </a:prstGeom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65523" y="4437113"/>
            <a:ext cx="3162861" cy="2336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23582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Correção de foco</a:t>
            </a:r>
            <a:endParaRPr lang="en-US" dirty="0"/>
          </a:p>
        </p:txBody>
      </p:sp>
      <p:pic>
        <p:nvPicPr>
          <p:cNvPr id="4" name="Picture 2" descr="C:\Denise\disciplinas\PDI-grad\PDI\imagens\introducao\slide0132_image08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971600" y="2431888"/>
            <a:ext cx="3202133" cy="2968787"/>
          </a:xfrm>
          <a:prstGeom prst="rect">
            <a:avLst/>
          </a:prstGeom>
        </p:spPr>
      </p:pic>
      <p:pic>
        <p:nvPicPr>
          <p:cNvPr id="5" name="Picture 3" descr="C:\Denise\disciplinas\PDI-grad\PDI\imagens\introducao\slide0132_image08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976" y="2610330"/>
            <a:ext cx="3023691" cy="2790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23582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Correção de movimento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092991" y="2331590"/>
            <a:ext cx="2541847" cy="3642483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64878" y="2420888"/>
            <a:ext cx="2448397" cy="3553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98241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Correção</a:t>
            </a:r>
            <a:r>
              <a:rPr lang="en-US" dirty="0"/>
              <a:t> de </a:t>
            </a:r>
            <a:r>
              <a:rPr lang="en-US" dirty="0" err="1"/>
              <a:t>iluminação</a:t>
            </a:r>
            <a:r>
              <a:rPr lang="en-US" dirty="0"/>
              <a:t> irregular</a:t>
            </a:r>
          </a:p>
        </p:txBody>
      </p:sp>
      <p:pic>
        <p:nvPicPr>
          <p:cNvPr id="4" name="Picture 2" descr="C:\Denise\disciplinas\PDI-grad\PDI\imagens\introducao\slide0128_image06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932305" y="2412283"/>
            <a:ext cx="3145715" cy="2903882"/>
          </a:xfrm>
          <a:prstGeom prst="rect">
            <a:avLst/>
          </a:prstGeom>
        </p:spPr>
      </p:pic>
      <p:pic>
        <p:nvPicPr>
          <p:cNvPr id="5" name="Picture 3" descr="C:\Denise\disciplinas\PDI-grad\PDI\imagens\introducao\slide0128_image07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2492896"/>
            <a:ext cx="3061355" cy="2823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98241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Eliminação</a:t>
            </a:r>
            <a:r>
              <a:rPr lang="en-US" dirty="0"/>
              <a:t> de </a:t>
            </a:r>
            <a:r>
              <a:rPr lang="en-US" dirty="0" err="1"/>
              <a:t>Ruídos</a:t>
            </a:r>
            <a:endParaRPr lang="en-US" dirty="0"/>
          </a:p>
        </p:txBody>
      </p:sp>
      <p:pic>
        <p:nvPicPr>
          <p:cNvPr id="4" name="Picture 2" descr="C:\Denise\disciplinas\PDI-grad\PDI\imagens\introducao\slide0129_image07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115616" y="2924175"/>
            <a:ext cx="2520950" cy="2544763"/>
          </a:xfrm>
          <a:prstGeom prst="rect">
            <a:avLst/>
          </a:prstGeom>
        </p:spPr>
      </p:pic>
      <p:pic>
        <p:nvPicPr>
          <p:cNvPr id="5" name="Picture 3" descr="C:\Denise\disciplinas\PDI-grad\PDI\imagens\introducao\slide0129_image07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825" y="2924175"/>
            <a:ext cx="2519363" cy="2544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98241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pt-BR" dirty="0"/>
          </a:p>
        </p:txBody>
      </p:sp>
      <p:sp>
        <p:nvSpPr>
          <p:cNvPr id="29699" name="Espaço Reservado para Conteúdo 2"/>
          <p:cNvSpPr>
            <a:spLocks noGrp="1"/>
          </p:cNvSpPr>
          <p:nvPr>
            <p:ph idx="1"/>
          </p:nvPr>
        </p:nvSpPr>
        <p:spPr>
          <a:xfrm>
            <a:off x="357188" y="1500188"/>
            <a:ext cx="8229600" cy="4525962"/>
          </a:xfrm>
        </p:spPr>
        <p:txBody>
          <a:bodyPr/>
          <a:lstStyle/>
          <a:p>
            <a:r>
              <a:rPr lang="en-US" dirty="0" err="1"/>
              <a:t>Eliminação</a:t>
            </a:r>
            <a:r>
              <a:rPr lang="en-US" dirty="0"/>
              <a:t> de </a:t>
            </a:r>
            <a:r>
              <a:rPr lang="en-US" dirty="0" err="1"/>
              <a:t>Ruídos</a:t>
            </a:r>
            <a:r>
              <a:rPr lang="en-US" dirty="0"/>
              <a:t>: f</a:t>
            </a:r>
            <a:r>
              <a:rPr lang="pt-BR" dirty="0" err="1"/>
              <a:t>iltros</a:t>
            </a:r>
            <a:r>
              <a:rPr lang="pt-BR" dirty="0"/>
              <a:t> de média</a:t>
            </a:r>
          </a:p>
          <a:p>
            <a:pPr lvl="1" eaLnBrk="1" hangingPunct="1"/>
            <a:r>
              <a:rPr lang="pt-BR" dirty="0"/>
              <a:t>Nota-se que neste caso não é o melhor filtro</a:t>
            </a:r>
          </a:p>
        </p:txBody>
      </p:sp>
      <p:pic>
        <p:nvPicPr>
          <p:cNvPr id="29700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63" y="2857500"/>
            <a:ext cx="3171825" cy="318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1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9188" y="2857500"/>
            <a:ext cx="3132137" cy="314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8502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Realce</a:t>
            </a:r>
          </a:p>
          <a:p>
            <a:pPr lvl="1"/>
            <a:r>
              <a:rPr lang="pt-BR" dirty="0"/>
              <a:t>Uso do Filtro Laplaciano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3608" y="3068960"/>
            <a:ext cx="2370137" cy="272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3920" y="3068960"/>
            <a:ext cx="2330450" cy="270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44233" y="3070548"/>
            <a:ext cx="2357437" cy="271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77273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Eliminação</a:t>
            </a:r>
            <a:r>
              <a:rPr lang="en-US" dirty="0"/>
              <a:t> de </a:t>
            </a:r>
            <a:r>
              <a:rPr lang="en-US" dirty="0" err="1"/>
              <a:t>ruídos</a:t>
            </a:r>
            <a:r>
              <a:rPr lang="en-US" dirty="0"/>
              <a:t> </a:t>
            </a:r>
            <a:r>
              <a:rPr lang="en-US" dirty="0" err="1"/>
              <a:t>periódicos</a:t>
            </a:r>
            <a:endParaRPr lang="en-US" dirty="0"/>
          </a:p>
        </p:txBody>
      </p:sp>
      <p:pic>
        <p:nvPicPr>
          <p:cNvPr id="4" name="Picture 2" descr="C:\Denise\disciplinas\PDI-grad\PDI\imagens\introducao\slide0130_image07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755079" y="2432954"/>
            <a:ext cx="3581112" cy="3281506"/>
          </a:xfrm>
          <a:prstGeom prst="rect">
            <a:avLst/>
          </a:prstGeom>
        </p:spPr>
      </p:pic>
      <p:pic>
        <p:nvPicPr>
          <p:cNvPr id="5" name="Picture 3" descr="C:\Denise\disciplinas\PDI-grad\PDI\imagens\introducao\slide0130_image07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255" y="2348880"/>
            <a:ext cx="3672209" cy="336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47759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Pseudo-</a:t>
            </a:r>
            <a:r>
              <a:rPr lang="en-US" dirty="0" err="1"/>
              <a:t>coloração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5786" y="2143116"/>
            <a:ext cx="3810000" cy="2543175"/>
          </a:xfrm>
          <a:prstGeom prst="rect">
            <a:avLst/>
          </a:prstGeom>
        </p:spPr>
      </p:pic>
      <p:pic>
        <p:nvPicPr>
          <p:cNvPr id="5" name="Picture 2" descr="C:\Denise\disciplinas\PDI-grad\PDI\imagens\introducao\slide0127_image06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508103" y="1628775"/>
            <a:ext cx="3176587" cy="2447161"/>
          </a:xfrm>
          <a:prstGeom prst="rect">
            <a:avLst/>
          </a:prstGeom>
        </p:spPr>
      </p:pic>
      <p:pic>
        <p:nvPicPr>
          <p:cNvPr id="6" name="Picture 3" descr="C:\Denise\disciplinas\PDI-grad\PDI\imagens\introducao\slide0127_image066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8104" y="4149427"/>
            <a:ext cx="3176587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47759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Pseudo-</a:t>
            </a:r>
            <a:r>
              <a:rPr lang="en-US" dirty="0" err="1"/>
              <a:t>coloração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71604" y="2214554"/>
            <a:ext cx="2357454" cy="23467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4572008"/>
            <a:ext cx="3024188" cy="219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1" name="Picture 1" descr="E:\helix03_hst_big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3438" y="1785951"/>
            <a:ext cx="4000508" cy="50006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72854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Aplicações: Retoque digital </a:t>
            </a:r>
          </a:p>
        </p:txBody>
      </p:sp>
      <p:pic>
        <p:nvPicPr>
          <p:cNvPr id="4" name="Picture 2" descr="bikini1_01-down[1]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484784"/>
            <a:ext cx="3274293" cy="4525962"/>
          </a:xfrm>
          <a:prstGeom prst="rect">
            <a:avLst/>
          </a:prstGeom>
          <a:noFill/>
        </p:spPr>
      </p:pic>
      <p:pic>
        <p:nvPicPr>
          <p:cNvPr id="5" name="Picture 2" descr="bikini1_01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1412776"/>
            <a:ext cx="3384376" cy="46785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23729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Visão Computacional</a:t>
            </a:r>
          </a:p>
        </p:txBody>
      </p:sp>
    </p:spTree>
    <p:extLst>
      <p:ext uri="{BB962C8B-B14F-4D97-AF65-F5344CB8AC3E}">
        <p14:creationId xmlns:p14="http://schemas.microsoft.com/office/powerpoint/2010/main" val="2401662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Visão</a:t>
            </a:r>
            <a:r>
              <a:rPr lang="en-US" dirty="0"/>
              <a:t> </a:t>
            </a:r>
            <a:r>
              <a:rPr lang="en-US" dirty="0" err="1"/>
              <a:t>Computacional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 visão está diretamente relacionada com a Inteligência!</a:t>
            </a:r>
            <a:endParaRPr lang="en-US" dirty="0"/>
          </a:p>
        </p:txBody>
      </p:sp>
      <p:pic>
        <p:nvPicPr>
          <p:cNvPr id="4" name="Picture 1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799381"/>
            <a:ext cx="4484185" cy="350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356992"/>
            <a:ext cx="3240360" cy="2644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2854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Visão</a:t>
            </a:r>
            <a:r>
              <a:rPr lang="en-US" dirty="0"/>
              <a:t> </a:t>
            </a:r>
            <a:r>
              <a:rPr lang="en-US" dirty="0" err="1"/>
              <a:t>Computacional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Um dos maiores desafios científicos do homem contemporâneo</a:t>
            </a:r>
          </a:p>
          <a:p>
            <a:r>
              <a:rPr lang="pt-BR" dirty="0"/>
              <a:t>Está muito distante de ser solucionado</a:t>
            </a:r>
          </a:p>
          <a:p>
            <a:r>
              <a:rPr lang="pt-BR" dirty="0"/>
              <a:t>Um dos melhores exemplos da multidisciplinaridade da ciência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501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Visão</a:t>
            </a:r>
            <a:r>
              <a:rPr lang="en-US" dirty="0"/>
              <a:t> </a:t>
            </a:r>
            <a:r>
              <a:rPr lang="en-US" dirty="0" err="1"/>
              <a:t>Computacional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Interesse na extração de informações quantitativas da imagem com o objetivo de classificação  de padrões e recuperação de imagens por conteúdo.</a:t>
            </a:r>
          </a:p>
          <a:p>
            <a:r>
              <a:rPr lang="pt-BR" dirty="0"/>
              <a:t>Extração de características</a:t>
            </a:r>
          </a:p>
          <a:p>
            <a:pPr lvl="1"/>
            <a:r>
              <a:rPr lang="pt-BR" dirty="0"/>
              <a:t>Automática</a:t>
            </a:r>
          </a:p>
          <a:p>
            <a:pPr lvl="1"/>
            <a:r>
              <a:rPr lang="pt-BR" dirty="0" err="1"/>
              <a:t>Semiautomática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5976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Visão</a:t>
            </a:r>
            <a:r>
              <a:rPr lang="en-US" dirty="0"/>
              <a:t> </a:t>
            </a:r>
            <a:r>
              <a:rPr lang="en-US" dirty="0" err="1"/>
              <a:t>Computacional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Tipos de características</a:t>
            </a:r>
          </a:p>
          <a:p>
            <a:pPr lvl="1"/>
            <a:r>
              <a:rPr lang="pt-BR" dirty="0"/>
              <a:t>Cor: produz uma assinatura de cor para a imagem ou para uma região </a:t>
            </a:r>
          </a:p>
          <a:p>
            <a:pPr lvl="2"/>
            <a:r>
              <a:rPr lang="pt-BR" dirty="0"/>
              <a:t>média de cor, histograma, etc.</a:t>
            </a:r>
          </a:p>
          <a:p>
            <a:pPr lvl="1"/>
            <a:r>
              <a:rPr lang="pt-BR" dirty="0"/>
              <a:t>Forma: descreve a forma de um objeto</a:t>
            </a:r>
          </a:p>
          <a:p>
            <a:pPr lvl="2"/>
            <a:r>
              <a:rPr lang="pt-BR" dirty="0"/>
              <a:t>compacidade, índice de convexidade, perímetro, etc.</a:t>
            </a:r>
          </a:p>
          <a:p>
            <a:pPr lvl="1"/>
            <a:r>
              <a:rPr lang="pt-BR" dirty="0"/>
              <a:t>Textura: produz uma caracterização matemática de um padrão que se repete na imagem </a:t>
            </a:r>
          </a:p>
          <a:p>
            <a:pPr lvl="2"/>
            <a:r>
              <a:rPr lang="pt-BR" dirty="0"/>
              <a:t>entropia, contraste, transformada de </a:t>
            </a:r>
            <a:r>
              <a:rPr lang="pt-BR" dirty="0" err="1"/>
              <a:t>Wavelet</a:t>
            </a:r>
            <a:r>
              <a:rPr lang="pt-BR" dirty="0"/>
              <a:t> ou Fourier,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501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Aplicações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Reconhecimento e análise de plantas for meio da forma e textura</a:t>
            </a:r>
            <a:endParaRPr lang="en-US" dirty="0"/>
          </a:p>
        </p:txBody>
      </p:sp>
      <p:pic>
        <p:nvPicPr>
          <p:cNvPr id="2050" name="Picture 2" descr="D:\Pesquisa\Publicações\Artigos Publicados\Tese Doutorado\Dalcimar\Figs\leaves40Classe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564904"/>
            <a:ext cx="2808312" cy="3972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D:\Pesquisa\Publicações\Artigos Publicados\Artigo Minkowski3D RGB MultiEscala Folhas - ICISP 2010\Figs\diff_classes_folha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995" y="3001580"/>
            <a:ext cx="5036493" cy="299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501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Aplicações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Caracterização das estruturas internas de uma folha</a:t>
            </a:r>
            <a:endParaRPr lang="en-US" dirty="0"/>
          </a:p>
        </p:txBody>
      </p:sp>
      <p:pic>
        <p:nvPicPr>
          <p:cNvPr id="4" name="Picture 3" descr="D:\Pesquisa\Publicações\Artigos Publicados\Artigo Folhas Jarbas Mestrado\imagens\vetor_pca_esquema_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618953"/>
            <a:ext cx="7286625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328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Aplicações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Análise de imagens urbanas de sensoriamento remoto</a:t>
            </a:r>
            <a:endParaRPr lang="en-US" dirty="0"/>
          </a:p>
        </p:txBody>
      </p:sp>
      <p:pic>
        <p:nvPicPr>
          <p:cNvPr id="4" name="Picture 4" descr="D:\Pesquisa\Publicações\Artigos Publicados\WVC 2008 - Minkowski 3D Imagens Satelite\Figs\Mapa_Mink3D_5clusters_D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473440"/>
            <a:ext cx="5036840" cy="437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482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Aplicações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Desenvolvimento de rotinas computacionais para caracterização morfológica de espermatozoides de touro</a:t>
            </a:r>
            <a:endParaRPr lang="en-US" dirty="0"/>
          </a:p>
        </p:txBody>
      </p:sp>
      <p:pic>
        <p:nvPicPr>
          <p:cNvPr id="4" name="Picture 3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037609"/>
            <a:ext cx="3617306" cy="2983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D:\cowork\bullsperm\dados\Uiara\manual\CT4_30-03\4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5" y="3017748"/>
            <a:ext cx="3600401" cy="2970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65328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Aplicações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2119" y="1749454"/>
            <a:ext cx="1982162" cy="219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3" y="1749454"/>
            <a:ext cx="2011601" cy="2255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599" y="2109494"/>
            <a:ext cx="2188883" cy="1859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68151" y="4395909"/>
            <a:ext cx="2128069" cy="1973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63888" y="4017076"/>
            <a:ext cx="2007679" cy="2321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652119" y="4014250"/>
            <a:ext cx="2088233" cy="2367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907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Busca por objetos que possuem formato semelhante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2" cstate="print"/>
          <a:srcRect t="38085" r="6598" b="7468"/>
          <a:stretch/>
        </p:blipFill>
        <p:spPr>
          <a:xfrm>
            <a:off x="3529237" y="2708920"/>
            <a:ext cx="2119064" cy="1293943"/>
          </a:xfrm>
          <a:prstGeom prst="rect">
            <a:avLst/>
          </a:prstGeom>
          <a:noFill/>
          <a:ln/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3" cstate="print"/>
          <a:srcRect l="2406" t="35005" r="2141" b="29990"/>
          <a:stretch/>
        </p:blipFill>
        <p:spPr bwMode="auto">
          <a:xfrm>
            <a:off x="179513" y="4437112"/>
            <a:ext cx="8784976" cy="15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03595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Busca por cor semelhante</a:t>
            </a:r>
          </a:p>
          <a:p>
            <a:endParaRPr lang="pt-BR" dirty="0"/>
          </a:p>
        </p:txBody>
      </p:sp>
      <p:pic>
        <p:nvPicPr>
          <p:cNvPr id="4" name="Picture 4" descr="BLU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47664" y="2076908"/>
            <a:ext cx="6272065" cy="4699776"/>
          </a:xfrm>
          <a:prstGeom prst="rect">
            <a:avLst/>
          </a:prstGeom>
          <a:noFill/>
          <a:ln/>
        </p:spPr>
      </p:pic>
    </p:spTree>
    <p:extLst>
      <p:ext uri="{BB962C8B-B14F-4D97-AF65-F5344CB8AC3E}">
        <p14:creationId xmlns:p14="http://schemas.microsoft.com/office/powerpoint/2010/main" val="454617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err="1"/>
              <a:t>Aplicações</a:t>
            </a:r>
            <a:endParaRPr lang="en-US" dirty="0"/>
          </a:p>
        </p:txBody>
      </p:sp>
      <p:sp>
        <p:nvSpPr>
          <p:cNvPr id="2" name="Espaço Reservado para Conteúdo 1"/>
          <p:cNvSpPr>
            <a:spLocks noGrp="1"/>
          </p:cNvSpPr>
          <p:nvPr>
            <p:ph sz="quarter" idx="1"/>
          </p:nvPr>
        </p:nvSpPr>
        <p:spPr>
          <a:xfrm>
            <a:off x="457200" y="1481138"/>
            <a:ext cx="8229600" cy="2379662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err="1"/>
              <a:t>Busca</a:t>
            </a:r>
            <a:r>
              <a:rPr lang="en-US" dirty="0"/>
              <a:t> </a:t>
            </a:r>
            <a:r>
              <a:rPr lang="en-US" dirty="0" err="1"/>
              <a:t>parcial</a:t>
            </a:r>
            <a:r>
              <a:rPr lang="en-US" dirty="0"/>
              <a:t> de </a:t>
            </a:r>
            <a:r>
              <a:rPr lang="en-US" dirty="0" err="1"/>
              <a:t>imagens</a:t>
            </a:r>
            <a:endParaRPr lang="en-US" dirty="0"/>
          </a:p>
          <a:p>
            <a:pPr lvl="1">
              <a:defRPr/>
            </a:pPr>
            <a:r>
              <a:rPr lang="en-US" dirty="0" err="1"/>
              <a:t>Neste</a:t>
            </a:r>
            <a:r>
              <a:rPr lang="en-US" dirty="0"/>
              <a:t> </a:t>
            </a:r>
            <a:r>
              <a:rPr lang="en-US" dirty="0" err="1"/>
              <a:t>projeto</a:t>
            </a:r>
            <a:r>
              <a:rPr lang="en-US" dirty="0"/>
              <a:t> </a:t>
            </a:r>
            <a:r>
              <a:rPr lang="en-US" dirty="0" err="1"/>
              <a:t>exploramos</a:t>
            </a:r>
            <a:r>
              <a:rPr lang="en-US" dirty="0"/>
              <a:t> o </a:t>
            </a:r>
            <a:r>
              <a:rPr lang="en-US" dirty="0" err="1"/>
              <a:t>uso</a:t>
            </a:r>
            <a:r>
              <a:rPr lang="en-US" dirty="0"/>
              <a:t> de </a:t>
            </a:r>
            <a:r>
              <a:rPr lang="en-US" dirty="0" err="1"/>
              <a:t>grafos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buscar</a:t>
            </a:r>
            <a:r>
              <a:rPr lang="en-US" dirty="0"/>
              <a:t> </a:t>
            </a:r>
            <a:r>
              <a:rPr lang="en-US" dirty="0" err="1"/>
              <a:t>imagens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contenham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 dada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referência</a:t>
            </a:r>
            <a:endParaRPr lang="en-US" dirty="0"/>
          </a:p>
        </p:txBody>
      </p:sp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3933825"/>
            <a:ext cx="8186738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Aplicações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Diagnóstico por imagem, CBIR (busca por conteúdo), etc.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75" r="34167" b="8593"/>
          <a:stretch>
            <a:fillRect/>
          </a:stretch>
        </p:blipFill>
        <p:spPr bwMode="auto">
          <a:xfrm>
            <a:off x="0" y="3286124"/>
            <a:ext cx="5643570" cy="2500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 descr="D:\Pesquisa\Publicações\Artigos Publicados\Tese Doutorado\Figs\vetor_assinatur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932" y="2143116"/>
            <a:ext cx="2840652" cy="471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6734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Aplicações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Aplicações industriais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51520" y="2564904"/>
            <a:ext cx="5362575" cy="2647950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2775247"/>
            <a:ext cx="3455987" cy="222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22673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Compressão de imagens</a:t>
            </a:r>
          </a:p>
          <a:p>
            <a:pPr lvl="1"/>
            <a:r>
              <a:rPr lang="pt-BR" dirty="0"/>
              <a:t>Imagens normalmente contêm redundâncias que podem ser exploradas para obter a compressão de imagens</a:t>
            </a:r>
          </a:p>
          <a:p>
            <a:endParaRPr lang="pt-BR" dirty="0"/>
          </a:p>
        </p:txBody>
      </p:sp>
      <p:pic>
        <p:nvPicPr>
          <p:cNvPr id="4" name="Picture 2" descr="C:\Denise\disciplinas\PDI-grad\PDI\imagens\introducao\slide0198_image22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3357562"/>
            <a:ext cx="3456384" cy="3456384"/>
          </a:xfrm>
          <a:prstGeom prst="rect">
            <a:avLst/>
          </a:prstGeom>
          <a:noFill/>
        </p:spPr>
      </p:pic>
      <p:sp>
        <p:nvSpPr>
          <p:cNvPr id="5" name="Elipse 4"/>
          <p:cNvSpPr/>
          <p:nvPr/>
        </p:nvSpPr>
        <p:spPr>
          <a:xfrm>
            <a:off x="3275856" y="3643314"/>
            <a:ext cx="288032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/>
          <p:cNvSpPr/>
          <p:nvPr/>
        </p:nvSpPr>
        <p:spPr>
          <a:xfrm>
            <a:off x="5940152" y="5515522"/>
            <a:ext cx="288032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/>
          <p:cNvSpPr/>
          <p:nvPr/>
        </p:nvSpPr>
        <p:spPr>
          <a:xfrm>
            <a:off x="4499992" y="6379618"/>
            <a:ext cx="288032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889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Compressão de imagens</a:t>
            </a:r>
          </a:p>
        </p:txBody>
      </p:sp>
      <p:pic>
        <p:nvPicPr>
          <p:cNvPr id="8" name="Picture 3" descr="C:\Denise\disciplinas\PDI-grad\PDI\imagens\introducao\slide0198_image23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2456892"/>
            <a:ext cx="2160240" cy="2160240"/>
          </a:xfrm>
          <a:prstGeom prst="rect">
            <a:avLst/>
          </a:prstGeom>
          <a:noFill/>
        </p:spPr>
      </p:pic>
      <p:pic>
        <p:nvPicPr>
          <p:cNvPr id="9" name="Picture 2" descr="C:\Denise\disciplinas\PDI-grad\PDI\imagens\introducao\slide0198_image229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168" y="2464446"/>
            <a:ext cx="2160240" cy="2145133"/>
          </a:xfrm>
          <a:prstGeom prst="rect">
            <a:avLst/>
          </a:prstGeom>
          <a:noFill/>
        </p:spPr>
      </p:pic>
      <p:pic>
        <p:nvPicPr>
          <p:cNvPr id="10" name="Picture 2" descr="C:\Denise\disciplinas\PDI-grad\PDI\imagens\introducao\slide0198_image227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2420888"/>
            <a:ext cx="2232248" cy="2232248"/>
          </a:xfrm>
          <a:prstGeom prst="rect">
            <a:avLst/>
          </a:prstGeom>
          <a:noFill/>
        </p:spPr>
      </p:pic>
      <p:sp>
        <p:nvSpPr>
          <p:cNvPr id="11" name="CaixaDeTexto 10"/>
          <p:cNvSpPr txBox="1"/>
          <p:nvPr/>
        </p:nvSpPr>
        <p:spPr>
          <a:xfrm>
            <a:off x="3131840" y="4730660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Compressão mínima (</a:t>
            </a:r>
            <a:r>
              <a:rPr lang="pt-BR" dirty="0" err="1"/>
              <a:t>jpeg</a:t>
            </a:r>
            <a:r>
              <a:rPr lang="pt-BR" dirty="0"/>
              <a:t>) – 105 KB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5832140" y="4730659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Compressão máxima (</a:t>
            </a:r>
            <a:r>
              <a:rPr lang="pt-BR" dirty="0" err="1"/>
              <a:t>jpeg</a:t>
            </a:r>
            <a:r>
              <a:rPr lang="pt-BR" dirty="0"/>
              <a:t>) – 16 KB 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611560" y="4869160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Imagem</a:t>
            </a:r>
            <a:r>
              <a:rPr lang="en-US" dirty="0"/>
              <a:t> original - 257 KB</a:t>
            </a:r>
          </a:p>
        </p:txBody>
      </p:sp>
    </p:spTree>
    <p:extLst>
      <p:ext uri="{BB962C8B-B14F-4D97-AF65-F5344CB8AC3E}">
        <p14:creationId xmlns:p14="http://schemas.microsoft.com/office/powerpoint/2010/main" val="1733920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Digital de </a:t>
            </a:r>
            <a:r>
              <a:rPr lang="en-US" dirty="0" err="1"/>
              <a:t>Imagens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Compressão de imagens</a:t>
            </a:r>
          </a:p>
        </p:txBody>
      </p:sp>
      <p:pic>
        <p:nvPicPr>
          <p:cNvPr id="1026" name="Picture 2" descr="D:\Dropbox\Aulas\2016-01\PDI\12341593_480396265481922_4133231345286003466_n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204864"/>
            <a:ext cx="5832648" cy="430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9836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Um pouco de história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Uma das primeiras aplicações de técnicas de PDI para interpretação humana: imagens digitalizada para jornal transmitidas  por cabos submarinos entre Londres e Nova York usando </a:t>
            </a:r>
            <a:r>
              <a:rPr lang="pt-BR" i="1" dirty="0" err="1"/>
              <a:t>Bartlane</a:t>
            </a:r>
            <a:r>
              <a:rPr lang="pt-BR" i="1" dirty="0"/>
              <a:t> </a:t>
            </a:r>
            <a:r>
              <a:rPr lang="pt-BR" i="1" dirty="0" err="1"/>
              <a:t>cable</a:t>
            </a:r>
            <a:r>
              <a:rPr lang="pt-BR" i="1" dirty="0"/>
              <a:t> </a:t>
            </a:r>
            <a:r>
              <a:rPr lang="pt-BR" i="1" dirty="0" err="1"/>
              <a:t>picture</a:t>
            </a:r>
            <a:r>
              <a:rPr lang="pt-BR" i="1" dirty="0"/>
              <a:t> </a:t>
            </a:r>
            <a:r>
              <a:rPr lang="pt-BR" i="1" dirty="0" err="1"/>
              <a:t>transmission</a:t>
            </a:r>
            <a:r>
              <a:rPr lang="pt-BR" dirty="0"/>
              <a:t>. </a:t>
            </a:r>
          </a:p>
          <a:p>
            <a:r>
              <a:rPr lang="pt-BR" dirty="0"/>
              <a:t>Desenvolvida no inicio do século 20, esta tecnologia de transmissão reduziu o tempo de transporte de uma semana para menos de 3hs. </a:t>
            </a:r>
          </a:p>
          <a:p>
            <a:r>
              <a:rPr lang="pt-BR" dirty="0"/>
              <a:t>Problemas iniciais quanto a qualidade das imagens estava relacionadas com a seleção dos procedimentos de impressão e distribuição dos níveis de cinza (a reprodução das imagens era feita em uma impressora de telégrafo simulando </a:t>
            </a:r>
            <a:r>
              <a:rPr lang="pt-BR" i="1" dirty="0" err="1"/>
              <a:t>halftone</a:t>
            </a:r>
            <a:r>
              <a:rPr lang="pt-BR" dirty="0"/>
              <a:t>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Um pouco de história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18" y="2786058"/>
            <a:ext cx="3744521" cy="2518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0133" y="2829789"/>
            <a:ext cx="1417190" cy="1559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Um pouco de história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método de impressão usando impressoras de telégrafo foi abandonado em 1921, tendo sido substituído por reprodução fotográfica das fitas perfuradas do terminal de telégrafo. Houve uma melhora evidente quanto à resolução e  distribuição dos níveis de cinza (5 </a:t>
            </a:r>
            <a:r>
              <a:rPr lang="pt-BR" dirty="0" err="1"/>
              <a:t>niveis</a:t>
            </a:r>
            <a:r>
              <a:rPr lang="pt-BR" dirty="0"/>
              <a:t> de cinza).</a:t>
            </a:r>
          </a:p>
          <a:p>
            <a:endParaRPr lang="pt-BR" dirty="0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4" y="4405312"/>
            <a:ext cx="1633537" cy="245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71" y="4437062"/>
            <a:ext cx="957263" cy="1201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Um pouco de história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971808"/>
          </a:xfrm>
        </p:spPr>
        <p:txBody>
          <a:bodyPr>
            <a:normAutofit fontScale="92500"/>
          </a:bodyPr>
          <a:lstStyle/>
          <a:p>
            <a:r>
              <a:rPr lang="pt-BR" dirty="0"/>
              <a:t>A capacidade do </a:t>
            </a:r>
            <a:r>
              <a:rPr lang="pt-BR" i="1" dirty="0" err="1"/>
              <a:t>Batlane</a:t>
            </a:r>
            <a:r>
              <a:rPr lang="pt-BR" i="1" dirty="0"/>
              <a:t> system </a:t>
            </a:r>
            <a:r>
              <a:rPr lang="pt-BR" dirty="0"/>
              <a:t>foi aumentada para 15 níveis de brilho em 1929. </a:t>
            </a:r>
          </a:p>
          <a:p>
            <a:pPr lvl="1"/>
            <a:r>
              <a:rPr lang="pt-BR" dirty="0"/>
              <a:t>Imagens passaram a ser obtidas por um sistema de revelação de filme via feixes de luz que eram modulados pela fita (tape) da imagem codificada.</a:t>
            </a:r>
          </a:p>
          <a:p>
            <a:pPr lvl="1"/>
            <a:r>
              <a:rPr lang="pt-BR" dirty="0"/>
              <a:t>Novos métodos de processamento para melhorar imagens digitais (transmitidas) continuaram até a década de 60.</a:t>
            </a:r>
          </a:p>
          <a:p>
            <a:endParaRPr lang="pt-BR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569" y="4357694"/>
            <a:ext cx="2778133" cy="2433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362" y="5297885"/>
            <a:ext cx="985838" cy="149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Um pouco de história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888046" cy="5114948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A ida ao homem a lua e computadores com capacidades cada vez maiores revelaram o potencial do conceito de processamento de imagens. </a:t>
            </a:r>
          </a:p>
          <a:p>
            <a:pPr lvl="1"/>
            <a:r>
              <a:rPr lang="pt-BR" dirty="0"/>
              <a:t>Trabalhos usando técnicas computacionais para melhorar imagens obtidas por sondas espaciais começaram no </a:t>
            </a:r>
            <a:r>
              <a:rPr lang="pt-BR" i="1" dirty="0"/>
              <a:t>Jet </a:t>
            </a:r>
            <a:r>
              <a:rPr lang="pt-BR" i="1" dirty="0" err="1"/>
              <a:t>Propulsion</a:t>
            </a:r>
            <a:r>
              <a:rPr lang="pt-BR" i="1" dirty="0"/>
              <a:t> Lab</a:t>
            </a:r>
            <a:r>
              <a:rPr lang="pt-BR" dirty="0"/>
              <a:t>. (</a:t>
            </a:r>
            <a:r>
              <a:rPr lang="pt-BR" dirty="0" err="1"/>
              <a:t>Pasadena</a:t>
            </a:r>
            <a:r>
              <a:rPr lang="pt-BR" dirty="0"/>
              <a:t>, CA) em 1964 quando imagens da lua foram transmitidas pela Ranger7. (correções das distorções da imagem devido a câmara de TV </a:t>
            </a:r>
            <a:r>
              <a:rPr lang="pt-BR" i="1" dirty="0"/>
              <a:t>a bordo</a:t>
            </a:r>
            <a:r>
              <a:rPr lang="pt-BR" dirty="0"/>
              <a:t>)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8" y="1600130"/>
            <a:ext cx="3428992" cy="327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92" y="4891110"/>
            <a:ext cx="1127125" cy="182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Um pouco de história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 1964 até hoje, a área de processamento digital de imagens tem crescido muito. </a:t>
            </a:r>
          </a:p>
          <a:p>
            <a:r>
              <a:rPr lang="pt-BR" dirty="0"/>
              <a:t>Além das aplicações no programa espacial, técnicas de processamento digital de imagens têm sido usadas para uma grande variedade de aplicações</a:t>
            </a:r>
          </a:p>
          <a:p>
            <a:pPr lvl="1"/>
            <a:r>
              <a:rPr lang="pt-BR" dirty="0"/>
              <a:t>medicina, biologia, sensoriamento remoto, astronomia, geologia, aplicações militares, aplicações industriais entre outras </a:t>
            </a:r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Passos para o  processamento e análise de imagens</a:t>
            </a:r>
          </a:p>
        </p:txBody>
      </p:sp>
      <p:sp>
        <p:nvSpPr>
          <p:cNvPr id="4" name="Retângulo 3"/>
          <p:cNvSpPr/>
          <p:nvPr/>
        </p:nvSpPr>
        <p:spPr>
          <a:xfrm>
            <a:off x="2339752" y="1556792"/>
            <a:ext cx="41044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Aquisição da imagem</a:t>
            </a:r>
          </a:p>
        </p:txBody>
      </p:sp>
      <p:sp>
        <p:nvSpPr>
          <p:cNvPr id="5" name="Retângulo 4"/>
          <p:cNvSpPr/>
          <p:nvPr/>
        </p:nvSpPr>
        <p:spPr>
          <a:xfrm>
            <a:off x="2339752" y="2564904"/>
            <a:ext cx="41044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Pré-processamento</a:t>
            </a:r>
          </a:p>
        </p:txBody>
      </p:sp>
      <p:sp>
        <p:nvSpPr>
          <p:cNvPr id="6" name="Retângulo 5"/>
          <p:cNvSpPr/>
          <p:nvPr/>
        </p:nvSpPr>
        <p:spPr>
          <a:xfrm>
            <a:off x="2339752" y="3573016"/>
            <a:ext cx="41044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Segmentação </a:t>
            </a:r>
          </a:p>
        </p:txBody>
      </p:sp>
      <p:sp>
        <p:nvSpPr>
          <p:cNvPr id="7" name="Retângulo 6"/>
          <p:cNvSpPr/>
          <p:nvPr/>
        </p:nvSpPr>
        <p:spPr>
          <a:xfrm>
            <a:off x="2339752" y="4581128"/>
            <a:ext cx="41044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Descrição e extração de características</a:t>
            </a:r>
          </a:p>
        </p:txBody>
      </p:sp>
      <p:sp>
        <p:nvSpPr>
          <p:cNvPr id="8" name="Retângulo 7"/>
          <p:cNvSpPr/>
          <p:nvPr/>
        </p:nvSpPr>
        <p:spPr>
          <a:xfrm>
            <a:off x="2339752" y="5661248"/>
            <a:ext cx="41044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Classificação/reconhecimento de padrões</a:t>
            </a:r>
          </a:p>
        </p:txBody>
      </p:sp>
      <p:sp>
        <p:nvSpPr>
          <p:cNvPr id="9" name="Forma livre 8"/>
          <p:cNvSpPr/>
          <p:nvPr/>
        </p:nvSpPr>
        <p:spPr>
          <a:xfrm>
            <a:off x="0" y="1556792"/>
            <a:ext cx="1995713" cy="2739571"/>
          </a:xfrm>
          <a:custGeom>
            <a:avLst/>
            <a:gdLst>
              <a:gd name="connsiteX0" fmla="*/ 417285 w 1995713"/>
              <a:gd name="connsiteY0" fmla="*/ 555171 h 2739571"/>
              <a:gd name="connsiteX1" fmla="*/ 1135742 w 1995713"/>
              <a:gd name="connsiteY1" fmla="*/ 10886 h 2739571"/>
              <a:gd name="connsiteX2" fmla="*/ 1788885 w 1995713"/>
              <a:gd name="connsiteY2" fmla="*/ 489857 h 2739571"/>
              <a:gd name="connsiteX3" fmla="*/ 1941285 w 1995713"/>
              <a:gd name="connsiteY3" fmla="*/ 1534886 h 2739571"/>
              <a:gd name="connsiteX4" fmla="*/ 1462314 w 1995713"/>
              <a:gd name="connsiteY4" fmla="*/ 2667000 h 2739571"/>
              <a:gd name="connsiteX5" fmla="*/ 286657 w 1995713"/>
              <a:gd name="connsiteY5" fmla="*/ 1970314 h 2739571"/>
              <a:gd name="connsiteX6" fmla="*/ 25400 w 1995713"/>
              <a:gd name="connsiteY6" fmla="*/ 1012371 h 2739571"/>
              <a:gd name="connsiteX7" fmla="*/ 417285 w 1995713"/>
              <a:gd name="connsiteY7" fmla="*/ 555171 h 273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95713" h="2739571">
                <a:moveTo>
                  <a:pt x="417285" y="555171"/>
                </a:moveTo>
                <a:cubicBezTo>
                  <a:pt x="602342" y="388257"/>
                  <a:pt x="907142" y="21772"/>
                  <a:pt x="1135742" y="10886"/>
                </a:cubicBezTo>
                <a:cubicBezTo>
                  <a:pt x="1364342" y="0"/>
                  <a:pt x="1654628" y="235857"/>
                  <a:pt x="1788885" y="489857"/>
                </a:cubicBezTo>
                <a:cubicBezTo>
                  <a:pt x="1923142" y="743857"/>
                  <a:pt x="1995713" y="1172029"/>
                  <a:pt x="1941285" y="1534886"/>
                </a:cubicBezTo>
                <a:cubicBezTo>
                  <a:pt x="1886857" y="1897743"/>
                  <a:pt x="1738085" y="2594429"/>
                  <a:pt x="1462314" y="2667000"/>
                </a:cubicBezTo>
                <a:cubicBezTo>
                  <a:pt x="1186543" y="2739571"/>
                  <a:pt x="526143" y="2246086"/>
                  <a:pt x="286657" y="1970314"/>
                </a:cubicBezTo>
                <a:cubicBezTo>
                  <a:pt x="47171" y="1694543"/>
                  <a:pt x="0" y="1244600"/>
                  <a:pt x="25400" y="1012371"/>
                </a:cubicBezTo>
                <a:cubicBezTo>
                  <a:pt x="50800" y="780142"/>
                  <a:pt x="232228" y="722085"/>
                  <a:pt x="417285" y="555171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0070C0"/>
                </a:solidFill>
              </a:rPr>
              <a:t>Formação da imagem</a:t>
            </a:r>
          </a:p>
        </p:txBody>
      </p:sp>
      <p:sp>
        <p:nvSpPr>
          <p:cNvPr id="10" name="Seta para a direita 9"/>
          <p:cNvSpPr/>
          <p:nvPr/>
        </p:nvSpPr>
        <p:spPr>
          <a:xfrm>
            <a:off x="1475656" y="1772816"/>
            <a:ext cx="720080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eta para baixo 10"/>
          <p:cNvSpPr/>
          <p:nvPr/>
        </p:nvSpPr>
        <p:spPr>
          <a:xfrm>
            <a:off x="4283968" y="2132856"/>
            <a:ext cx="45719" cy="36004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eta para baixo 11"/>
          <p:cNvSpPr/>
          <p:nvPr/>
        </p:nvSpPr>
        <p:spPr>
          <a:xfrm>
            <a:off x="4283968" y="3140968"/>
            <a:ext cx="45719" cy="36004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eta para baixo 12"/>
          <p:cNvSpPr/>
          <p:nvPr/>
        </p:nvSpPr>
        <p:spPr>
          <a:xfrm>
            <a:off x="4283968" y="4149080"/>
            <a:ext cx="45719" cy="36004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eta para baixo 13"/>
          <p:cNvSpPr/>
          <p:nvPr/>
        </p:nvSpPr>
        <p:spPr>
          <a:xfrm>
            <a:off x="4211960" y="5157192"/>
            <a:ext cx="117727" cy="432048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ixaDeTexto 14"/>
          <p:cNvSpPr txBox="1"/>
          <p:nvPr/>
        </p:nvSpPr>
        <p:spPr>
          <a:xfrm>
            <a:off x="3571868" y="648866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resultado</a:t>
            </a:r>
          </a:p>
        </p:txBody>
      </p:sp>
      <p:sp>
        <p:nvSpPr>
          <p:cNvPr id="16" name="Seta para a esquerda e para a direita 15"/>
          <p:cNvSpPr/>
          <p:nvPr/>
        </p:nvSpPr>
        <p:spPr>
          <a:xfrm>
            <a:off x="6516216" y="5733256"/>
            <a:ext cx="720080" cy="288032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eta para a esquerda e para a direita 16"/>
          <p:cNvSpPr/>
          <p:nvPr/>
        </p:nvSpPr>
        <p:spPr>
          <a:xfrm>
            <a:off x="6516216" y="4653136"/>
            <a:ext cx="720080" cy="288032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eta para a esquerda e para a direita 17"/>
          <p:cNvSpPr/>
          <p:nvPr/>
        </p:nvSpPr>
        <p:spPr>
          <a:xfrm>
            <a:off x="6516216" y="3717032"/>
            <a:ext cx="720080" cy="288032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eta para a esquerda e para a direita 18"/>
          <p:cNvSpPr/>
          <p:nvPr/>
        </p:nvSpPr>
        <p:spPr>
          <a:xfrm>
            <a:off x="6516216" y="2708920"/>
            <a:ext cx="720080" cy="288032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eta para a esquerda e para a direita 19"/>
          <p:cNvSpPr/>
          <p:nvPr/>
        </p:nvSpPr>
        <p:spPr>
          <a:xfrm>
            <a:off x="6516216" y="1700808"/>
            <a:ext cx="720080" cy="288032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tângulo 20"/>
          <p:cNvSpPr/>
          <p:nvPr/>
        </p:nvSpPr>
        <p:spPr>
          <a:xfrm>
            <a:off x="7308304" y="836712"/>
            <a:ext cx="1080120" cy="5688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S </a:t>
            </a:r>
          </a:p>
          <a:p>
            <a:pPr algn="ctr"/>
            <a:r>
              <a:rPr lang="en-US" dirty="0"/>
              <a:t>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</a:t>
            </a:r>
          </a:p>
          <a:p>
            <a:pPr algn="ctr"/>
            <a:r>
              <a:rPr lang="en-US" dirty="0"/>
              <a:t>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O</a:t>
            </a:r>
          </a:p>
          <a:p>
            <a:pPr algn="ctr"/>
            <a:r>
              <a:rPr lang="en-US" dirty="0"/>
              <a:t>N</a:t>
            </a:r>
          </a:p>
          <a:p>
            <a:pPr algn="ctr"/>
            <a:r>
              <a:rPr lang="en-US" dirty="0"/>
              <a:t>H</a:t>
            </a:r>
          </a:p>
          <a:p>
            <a:pPr algn="ctr"/>
            <a:r>
              <a:rPr lang="en-US" dirty="0"/>
              <a:t>E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I</a:t>
            </a:r>
          </a:p>
          <a:p>
            <a:pPr algn="ctr"/>
            <a:r>
              <a:rPr lang="en-US" dirty="0"/>
              <a:t>M</a:t>
            </a:r>
          </a:p>
          <a:p>
            <a:pPr algn="ctr"/>
            <a:r>
              <a:rPr lang="en-US" dirty="0"/>
              <a:t>E</a:t>
            </a:r>
          </a:p>
          <a:p>
            <a:pPr algn="ctr"/>
            <a:r>
              <a:rPr lang="en-US" dirty="0"/>
              <a:t>N</a:t>
            </a:r>
          </a:p>
          <a:p>
            <a:pPr algn="ctr"/>
            <a:r>
              <a:rPr lang="en-US" dirty="0"/>
              <a:t>T</a:t>
            </a:r>
          </a:p>
          <a:p>
            <a:pPr algn="ctr"/>
            <a:r>
              <a:rPr lang="en-US" dirty="0"/>
              <a:t>O</a:t>
            </a:r>
          </a:p>
          <a:p>
            <a:pPr algn="ctr"/>
            <a:endParaRPr lang="en-US" dirty="0"/>
          </a:p>
        </p:txBody>
      </p:sp>
      <p:sp>
        <p:nvSpPr>
          <p:cNvPr id="22" name="Seta para baixo 21"/>
          <p:cNvSpPr/>
          <p:nvPr/>
        </p:nvSpPr>
        <p:spPr>
          <a:xfrm>
            <a:off x="4283968" y="6237312"/>
            <a:ext cx="45719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 lnSpcReduction="10000"/>
          </a:bodyPr>
          <a:lstStyle/>
          <a:p>
            <a:r>
              <a:rPr lang="pt-BR" dirty="0"/>
              <a:t>Photoshop / </a:t>
            </a:r>
            <a:r>
              <a:rPr lang="pt-BR" dirty="0" err="1"/>
              <a:t>Gimp</a:t>
            </a:r>
            <a:endParaRPr lang="pt-BR" dirty="0"/>
          </a:p>
          <a:p>
            <a:r>
              <a:rPr lang="pt-BR" dirty="0" err="1"/>
              <a:t>Matlab</a:t>
            </a:r>
            <a:r>
              <a:rPr lang="pt-BR" dirty="0"/>
              <a:t> / </a:t>
            </a:r>
            <a:r>
              <a:rPr lang="pt-BR" dirty="0" err="1"/>
              <a:t>Scilab</a:t>
            </a:r>
            <a:r>
              <a:rPr lang="pt-BR" dirty="0"/>
              <a:t> / </a:t>
            </a:r>
            <a:r>
              <a:rPr lang="pt-BR" dirty="0" err="1"/>
              <a:t>Octave</a:t>
            </a:r>
            <a:endParaRPr lang="pt-BR" dirty="0"/>
          </a:p>
          <a:p>
            <a:r>
              <a:rPr lang="pt-BR" dirty="0" err="1"/>
              <a:t>ImageJ</a:t>
            </a:r>
            <a:endParaRPr lang="pt-BR" dirty="0"/>
          </a:p>
          <a:p>
            <a:r>
              <a:rPr lang="pt-BR" dirty="0" err="1"/>
              <a:t>OpenCV</a:t>
            </a:r>
            <a:endParaRPr lang="pt-BR" dirty="0"/>
          </a:p>
          <a:p>
            <a:r>
              <a:rPr lang="pt-BR" dirty="0" err="1"/>
              <a:t>Imagemagick</a:t>
            </a:r>
            <a:endParaRPr lang="pt-BR" dirty="0"/>
          </a:p>
          <a:p>
            <a:r>
              <a:rPr lang="pt-BR" dirty="0"/>
              <a:t>ITK / VTK</a:t>
            </a:r>
          </a:p>
          <a:p>
            <a:r>
              <a:rPr lang="pt-BR" dirty="0"/>
              <a:t>Python </a:t>
            </a:r>
          </a:p>
          <a:p>
            <a:pPr lvl="1">
              <a:buClr>
                <a:srgbClr val="94B6D2"/>
              </a:buClr>
            </a:pPr>
            <a:r>
              <a:rPr lang="pt-BR" i="1" dirty="0" err="1">
                <a:ea typeface="+mn-lt"/>
                <a:cs typeface="+mn-lt"/>
              </a:rPr>
              <a:t>scikit-image</a:t>
            </a:r>
            <a:r>
              <a:rPr lang="pt-BR" dirty="0">
                <a:ea typeface="+mn-lt"/>
                <a:cs typeface="+mn-lt"/>
              </a:rPr>
              <a:t> </a:t>
            </a:r>
          </a:p>
          <a:p>
            <a:pPr lvl="1">
              <a:buClr>
                <a:srgbClr val="94B6D2"/>
              </a:buClr>
            </a:pPr>
            <a:r>
              <a:rPr lang="pt-BR" dirty="0" err="1">
                <a:ea typeface="+mn-lt"/>
                <a:cs typeface="+mn-lt"/>
              </a:rPr>
              <a:t>opencv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Algumas Ferramentas / Bibliotecas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Livro Texto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Processamento Digital de Imagens, 3ª edição, Rafael C. Gonzalez, Richard E. Woods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297BEB-B3A5-46E1-90D0-BDCC697E56E1}">
  <ds:schemaRefs>
    <ds:schemaRef ds:uri="http://schemas.openxmlformats.org/package/2006/metadata/core-properti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29D894-994C-460E-B3D1-E4C3F04C47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AA90C4-319F-42B5-8D8C-DDCB4D5FEEC1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18</TotalTime>
  <Words>897</Words>
  <Application>Microsoft Office PowerPoint</Application>
  <PresentationFormat>Apresentação na tela (4:3)</PresentationFormat>
  <Paragraphs>150</Paragraphs>
  <Slides>42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7" baseType="lpstr">
      <vt:lpstr>Calibri</vt:lpstr>
      <vt:lpstr>Tw Cen MT</vt:lpstr>
      <vt:lpstr>Wingdings</vt:lpstr>
      <vt:lpstr>Wingdings 2</vt:lpstr>
      <vt:lpstr>Mediano</vt:lpstr>
      <vt:lpstr>Processamento Digital de Imagens</vt:lpstr>
      <vt:lpstr>Processamento Digital de Imagens</vt:lpstr>
      <vt:lpstr>Processamento Digital de Imagens</vt:lpstr>
      <vt:lpstr>Processamento Digital de Imagens</vt:lpstr>
      <vt:lpstr>Processamento Digital de Imagens</vt:lpstr>
      <vt:lpstr>Processamento Digital de Imagens</vt:lpstr>
      <vt:lpstr>Processamento Digital de Imagens</vt:lpstr>
      <vt:lpstr>Processamento Digital de Imagens</vt:lpstr>
      <vt:lpstr>Processamento Digital de Imagens</vt:lpstr>
      <vt:lpstr>Processamento Digital de Imagens</vt:lpstr>
      <vt:lpstr>Processamento Digital de Imagens</vt:lpstr>
      <vt:lpstr>Processamento Digital de Imagens</vt:lpstr>
      <vt:lpstr>Processamento Digital de Imagens</vt:lpstr>
      <vt:lpstr>Processamento Digital de Imagens</vt:lpstr>
      <vt:lpstr>Aplicações: Retoque digital </vt:lpstr>
      <vt:lpstr>Visão Computacional</vt:lpstr>
      <vt:lpstr>Visão Computacional</vt:lpstr>
      <vt:lpstr>Visão Computacional</vt:lpstr>
      <vt:lpstr>Visão Computacional</vt:lpstr>
      <vt:lpstr>Visão Computacional</vt:lpstr>
      <vt:lpstr>Aplicações</vt:lpstr>
      <vt:lpstr>Aplicações</vt:lpstr>
      <vt:lpstr>Aplicações</vt:lpstr>
      <vt:lpstr>Aplicações</vt:lpstr>
      <vt:lpstr>Aplicações</vt:lpstr>
      <vt:lpstr>Aplicações</vt:lpstr>
      <vt:lpstr>Aplicações</vt:lpstr>
      <vt:lpstr>Aplicações</vt:lpstr>
      <vt:lpstr>Aplicações</vt:lpstr>
      <vt:lpstr>Aplicações</vt:lpstr>
      <vt:lpstr>Processamento Digital de Imagens</vt:lpstr>
      <vt:lpstr>Processamento Digital de Imagens</vt:lpstr>
      <vt:lpstr>Processamento Digital de Imagens</vt:lpstr>
      <vt:lpstr> Um pouco de história</vt:lpstr>
      <vt:lpstr> Um pouco de história</vt:lpstr>
      <vt:lpstr> Um pouco de história</vt:lpstr>
      <vt:lpstr> Um pouco de história</vt:lpstr>
      <vt:lpstr> Um pouco de história</vt:lpstr>
      <vt:lpstr> Um pouco de história</vt:lpstr>
      <vt:lpstr>Passos para o  processamento e análise de imagens</vt:lpstr>
      <vt:lpstr>Algumas Ferramentas / Bibliotecas</vt:lpstr>
      <vt:lpstr>Livro Texto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Processamento Digital de Imagens</dc:title>
  <dc:creator>Eduardo</dc:creator>
  <cp:lastModifiedBy>Bruno Augusto Nassif Travencolo</cp:lastModifiedBy>
  <cp:revision>12</cp:revision>
  <dcterms:created xsi:type="dcterms:W3CDTF">2014-09-12T16:14:37Z</dcterms:created>
  <dcterms:modified xsi:type="dcterms:W3CDTF">2023-08-24T00:00:05Z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1700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_SharedFileIndex">
    <vt:lpwstr/>
  </property>
  <property fmtid="{D5CDD505-2E9C-101B-9397-08002B2CF9AE}" pid="11" name="_SourceUrl">
    <vt:lpwstr/>
  </property>
</Properties>
</file>