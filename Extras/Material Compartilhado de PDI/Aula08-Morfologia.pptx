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6"/>
  </p:notesMasterIdLst>
  <p:sldIdLst>
    <p:sldId id="256" r:id="rId5"/>
    <p:sldId id="391" r:id="rId6"/>
    <p:sldId id="449" r:id="rId7"/>
    <p:sldId id="450" r:id="rId8"/>
    <p:sldId id="451" r:id="rId9"/>
    <p:sldId id="452" r:id="rId10"/>
    <p:sldId id="453" r:id="rId11"/>
    <p:sldId id="454" r:id="rId12"/>
    <p:sldId id="455" r:id="rId13"/>
    <p:sldId id="392" r:id="rId14"/>
    <p:sldId id="460" r:id="rId15"/>
    <p:sldId id="473" r:id="rId16"/>
    <p:sldId id="461" r:id="rId17"/>
    <p:sldId id="462" r:id="rId18"/>
    <p:sldId id="463" r:id="rId19"/>
    <p:sldId id="464" r:id="rId20"/>
    <p:sldId id="458" r:id="rId21"/>
    <p:sldId id="459" r:id="rId22"/>
    <p:sldId id="465" r:id="rId23"/>
    <p:sldId id="467" r:id="rId24"/>
    <p:sldId id="472" r:id="rId25"/>
    <p:sldId id="470" r:id="rId26"/>
    <p:sldId id="468" r:id="rId27"/>
    <p:sldId id="474" r:id="rId28"/>
    <p:sldId id="456" r:id="rId29"/>
    <p:sldId id="466" r:id="rId30"/>
    <p:sldId id="475" r:id="rId31"/>
    <p:sldId id="476" r:id="rId32"/>
    <p:sldId id="480" r:id="rId33"/>
    <p:sldId id="486" r:id="rId34"/>
    <p:sldId id="477" r:id="rId35"/>
    <p:sldId id="481" r:id="rId36"/>
    <p:sldId id="482" r:id="rId37"/>
    <p:sldId id="485" r:id="rId38"/>
    <p:sldId id="483" r:id="rId39"/>
    <p:sldId id="484" r:id="rId40"/>
    <p:sldId id="487" r:id="rId41"/>
    <p:sldId id="488" r:id="rId42"/>
    <p:sldId id="491" r:id="rId43"/>
    <p:sldId id="492" r:id="rId44"/>
    <p:sldId id="493" r:id="rId45"/>
    <p:sldId id="494" r:id="rId46"/>
    <p:sldId id="479" r:id="rId47"/>
    <p:sldId id="498" r:id="rId48"/>
    <p:sldId id="495" r:id="rId49"/>
    <p:sldId id="496" r:id="rId50"/>
    <p:sldId id="502" r:id="rId51"/>
    <p:sldId id="499" r:id="rId52"/>
    <p:sldId id="500" r:id="rId53"/>
    <p:sldId id="501" r:id="rId54"/>
    <p:sldId id="497" r:id="rId55"/>
    <p:sldId id="505" r:id="rId56"/>
    <p:sldId id="504" r:id="rId57"/>
    <p:sldId id="503" r:id="rId58"/>
    <p:sldId id="508" r:id="rId59"/>
    <p:sldId id="507" r:id="rId60"/>
    <p:sldId id="509" r:id="rId61"/>
    <p:sldId id="510" r:id="rId62"/>
    <p:sldId id="511" r:id="rId63"/>
    <p:sldId id="512" r:id="rId64"/>
    <p:sldId id="514" r:id="rId65"/>
    <p:sldId id="515" r:id="rId66"/>
    <p:sldId id="516" r:id="rId67"/>
    <p:sldId id="517" r:id="rId68"/>
    <p:sldId id="513" r:id="rId69"/>
    <p:sldId id="519" r:id="rId70"/>
    <p:sldId id="522" r:id="rId71"/>
    <p:sldId id="520" r:id="rId72"/>
    <p:sldId id="521" r:id="rId73"/>
    <p:sldId id="523" r:id="rId74"/>
    <p:sldId id="524" r:id="rId7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Augusto Nassif Travencolo" userId="9765cb90-d5ec-451e-8c7b-af57428794a1" providerId="ADAL" clId="{7A42FE91-662A-418C-B73A-DED8EB088EA2}"/>
    <pc:docChg chg="custSel modSld">
      <pc:chgData name="Bruno Augusto Nassif Travencolo" userId="9765cb90-d5ec-451e-8c7b-af57428794a1" providerId="ADAL" clId="{7A42FE91-662A-418C-B73A-DED8EB088EA2}" dt="2023-10-18T21:19:18.752" v="15" actId="20577"/>
      <pc:docMkLst>
        <pc:docMk/>
      </pc:docMkLst>
      <pc:sldChg chg="addSp delSp modSp mod">
        <pc:chgData name="Bruno Augusto Nassif Travencolo" userId="9765cb90-d5ec-451e-8c7b-af57428794a1" providerId="ADAL" clId="{7A42FE91-662A-418C-B73A-DED8EB088EA2}" dt="2023-10-18T21:19:18.752" v="15" actId="20577"/>
        <pc:sldMkLst>
          <pc:docMk/>
          <pc:sldMk cId="2331134399" sldId="505"/>
        </pc:sldMkLst>
        <pc:spChg chg="add mod">
          <ac:chgData name="Bruno Augusto Nassif Travencolo" userId="9765cb90-d5ec-451e-8c7b-af57428794a1" providerId="ADAL" clId="{7A42FE91-662A-418C-B73A-DED8EB088EA2}" dt="2023-10-18T21:19:18.752" v="15" actId="20577"/>
          <ac:spMkLst>
            <pc:docMk/>
            <pc:sldMk cId="2331134399" sldId="505"/>
            <ac:spMk id="4" creationId="{00000000-0000-0000-0000-000000000000}"/>
          </ac:spMkLst>
        </pc:spChg>
        <pc:graphicFrameChg chg="del mod replId">
          <ac:chgData name="Bruno Augusto Nassif Travencolo" userId="9765cb90-d5ec-451e-8c7b-af57428794a1" providerId="ADAL" clId="{7A42FE91-662A-418C-B73A-DED8EB088EA2}" dt="2023-10-18T21:18:31.589" v="1"/>
          <ac:graphicFrameMkLst>
            <pc:docMk/>
            <pc:sldMk cId="2331134399" sldId="505"/>
            <ac:graphicFrameMk id="5" creationId="{00000000-0000-0000-0000-000000000000}"/>
          </ac:graphicFrameMkLst>
        </pc:graphicFrameChg>
      </pc:sldChg>
    </pc:docChg>
  </pc:docChgLst>
  <pc:docChgLst>
    <pc:chgData name="Bruno Augusto Nassif Travencolo" userId="9765cb90-d5ec-451e-8c7b-af57428794a1" providerId="ADAL" clId="{DB553EA8-9C7B-40D8-BE12-741C95521021}"/>
    <pc:docChg chg="custSel modSld">
      <pc:chgData name="Bruno Augusto Nassif Travencolo" userId="9765cb90-d5ec-451e-8c7b-af57428794a1" providerId="ADAL" clId="{DB553EA8-9C7B-40D8-BE12-741C95521021}" dt="2024-10-10T20:32:08.906" v="3" actId="478"/>
      <pc:docMkLst>
        <pc:docMk/>
      </pc:docMkLst>
      <pc:sldChg chg="delSp mod">
        <pc:chgData name="Bruno Augusto Nassif Travencolo" userId="9765cb90-d5ec-451e-8c7b-af57428794a1" providerId="ADAL" clId="{DB553EA8-9C7B-40D8-BE12-741C95521021}" dt="2024-10-10T20:28:02.813" v="0" actId="478"/>
        <pc:sldMkLst>
          <pc:docMk/>
          <pc:sldMk cId="2732859420" sldId="454"/>
        </pc:sldMkLst>
        <pc:inkChg chg="del">
          <ac:chgData name="Bruno Augusto Nassif Travencolo" userId="9765cb90-d5ec-451e-8c7b-af57428794a1" providerId="ADAL" clId="{DB553EA8-9C7B-40D8-BE12-741C95521021}" dt="2024-10-10T20:28:02.813" v="0" actId="478"/>
          <ac:inkMkLst>
            <pc:docMk/>
            <pc:sldMk cId="2732859420" sldId="454"/>
            <ac:inkMk id="9" creationId="{D206E78A-FC45-6A2D-96B4-68352A98ECE2}"/>
          </ac:inkMkLst>
        </pc:inkChg>
      </pc:sldChg>
      <pc:sldChg chg="delSp mod">
        <pc:chgData name="Bruno Augusto Nassif Travencolo" userId="9765cb90-d5ec-451e-8c7b-af57428794a1" providerId="ADAL" clId="{DB553EA8-9C7B-40D8-BE12-741C95521021}" dt="2024-10-10T20:28:43.749" v="1" actId="478"/>
        <pc:sldMkLst>
          <pc:docMk/>
          <pc:sldMk cId="3924530292" sldId="465"/>
        </pc:sldMkLst>
        <pc:inkChg chg="del">
          <ac:chgData name="Bruno Augusto Nassif Travencolo" userId="9765cb90-d5ec-451e-8c7b-af57428794a1" providerId="ADAL" clId="{DB553EA8-9C7B-40D8-BE12-741C95521021}" dt="2024-10-10T20:28:43.749" v="1" actId="478"/>
          <ac:inkMkLst>
            <pc:docMk/>
            <pc:sldMk cId="3924530292" sldId="465"/>
            <ac:inkMk id="4" creationId="{9440390F-7EE1-D2F2-006F-C2E57D7153C3}"/>
          </ac:inkMkLst>
        </pc:inkChg>
      </pc:sldChg>
      <pc:sldChg chg="modSp mod">
        <pc:chgData name="Bruno Augusto Nassif Travencolo" userId="9765cb90-d5ec-451e-8c7b-af57428794a1" providerId="ADAL" clId="{DB553EA8-9C7B-40D8-BE12-741C95521021}" dt="2024-10-10T20:31:04.491" v="2" actId="20577"/>
        <pc:sldMkLst>
          <pc:docMk/>
          <pc:sldMk cId="1763445671" sldId="487"/>
        </pc:sldMkLst>
        <pc:spChg chg="mod">
          <ac:chgData name="Bruno Augusto Nassif Travencolo" userId="9765cb90-d5ec-451e-8c7b-af57428794a1" providerId="ADAL" clId="{DB553EA8-9C7B-40D8-BE12-741C95521021}" dt="2024-10-10T20:31:04.491" v="2" actId="20577"/>
          <ac:spMkLst>
            <pc:docMk/>
            <pc:sldMk cId="1763445671" sldId="487"/>
            <ac:spMk id="3" creationId="{00000000-0000-0000-0000-000000000000}"/>
          </ac:spMkLst>
        </pc:spChg>
      </pc:sldChg>
      <pc:sldChg chg="delSp mod">
        <pc:chgData name="Bruno Augusto Nassif Travencolo" userId="9765cb90-d5ec-451e-8c7b-af57428794a1" providerId="ADAL" clId="{DB553EA8-9C7B-40D8-BE12-741C95521021}" dt="2024-10-10T20:32:08.906" v="3" actId="478"/>
        <pc:sldMkLst>
          <pc:docMk/>
          <pc:sldMk cId="2640426853" sldId="515"/>
        </pc:sldMkLst>
        <pc:inkChg chg="del">
          <ac:chgData name="Bruno Augusto Nassif Travencolo" userId="9765cb90-d5ec-451e-8c7b-af57428794a1" providerId="ADAL" clId="{DB553EA8-9C7B-40D8-BE12-741C95521021}" dt="2024-10-10T20:32:08.906" v="3" actId="478"/>
          <ac:inkMkLst>
            <pc:docMk/>
            <pc:sldMk cId="2640426853" sldId="515"/>
            <ac:inkMk id="4" creationId="{643A76D4-9B24-6DDA-1B5B-1A9DC24BAAE4}"/>
          </ac:inkMkLst>
        </pc:inkChg>
      </pc:sldChg>
    </pc:docChg>
  </pc:docChgLst>
  <pc:docChgLst>
    <pc:chgData name="Bruno Augusto Nassif Travencolo" userId="9765cb90-d5ec-451e-8c7b-af57428794a1" providerId="ADAL" clId="{2783F04F-1D3E-4993-8163-61FAD4A16F5C}"/>
    <pc:docChg chg="modSld">
      <pc:chgData name="Bruno Augusto Nassif Travencolo" userId="9765cb90-d5ec-451e-8c7b-af57428794a1" providerId="ADAL" clId="{2783F04F-1D3E-4993-8163-61FAD4A16F5C}" dt="2023-05-04T21:12:42.214" v="39" actId="1076"/>
      <pc:docMkLst>
        <pc:docMk/>
      </pc:docMkLst>
      <pc:sldChg chg="modSp">
        <pc:chgData name="Bruno Augusto Nassif Travencolo" userId="9765cb90-d5ec-451e-8c7b-af57428794a1" providerId="ADAL" clId="{2783F04F-1D3E-4993-8163-61FAD4A16F5C}" dt="2023-05-04T19:21:28.660" v="33" actId="27636"/>
        <pc:sldMkLst>
          <pc:docMk/>
          <pc:sldMk cId="3523036919" sldId="468"/>
        </pc:sldMkLst>
        <pc:spChg chg="mod">
          <ac:chgData name="Bruno Augusto Nassif Travencolo" userId="9765cb90-d5ec-451e-8c7b-af57428794a1" providerId="ADAL" clId="{2783F04F-1D3E-4993-8163-61FAD4A16F5C}" dt="2023-05-04T19:21:28.660" v="33" actId="27636"/>
          <ac:spMkLst>
            <pc:docMk/>
            <pc:sldMk cId="3523036919" sldId="468"/>
            <ac:spMk id="128" creationId="{00000000-0000-0000-0000-000000000000}"/>
          </ac:spMkLst>
        </pc:spChg>
      </pc:sldChg>
      <pc:sldChg chg="modSp">
        <pc:chgData name="Bruno Augusto Nassif Travencolo" userId="9765cb90-d5ec-451e-8c7b-af57428794a1" providerId="ADAL" clId="{2783F04F-1D3E-4993-8163-61FAD4A16F5C}" dt="2023-05-04T19:23:33.733" v="34" actId="14100"/>
        <pc:sldMkLst>
          <pc:docMk/>
          <pc:sldMk cId="3928372796" sldId="474"/>
        </pc:sldMkLst>
        <pc:spChg chg="mod">
          <ac:chgData name="Bruno Augusto Nassif Travencolo" userId="9765cb90-d5ec-451e-8c7b-af57428794a1" providerId="ADAL" clId="{2783F04F-1D3E-4993-8163-61FAD4A16F5C}" dt="2023-05-04T19:23:33.733" v="34" actId="14100"/>
          <ac:spMkLst>
            <pc:docMk/>
            <pc:sldMk cId="3928372796" sldId="474"/>
            <ac:spMk id="128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2783F04F-1D3E-4993-8163-61FAD4A16F5C}" dt="2023-05-04T19:24:49.425" v="35" actId="1076"/>
        <pc:sldMkLst>
          <pc:docMk/>
          <pc:sldMk cId="2281909285" sldId="481"/>
        </pc:sldMkLst>
        <pc:graphicFrameChg chg="mod">
          <ac:chgData name="Bruno Augusto Nassif Travencolo" userId="9765cb90-d5ec-451e-8c7b-af57428794a1" providerId="ADAL" clId="{2783F04F-1D3E-4993-8163-61FAD4A16F5C}" dt="2023-05-04T19:24:49.425" v="35" actId="1076"/>
          <ac:graphicFrameMkLst>
            <pc:docMk/>
            <pc:sldMk cId="2281909285" sldId="481"/>
            <ac:graphicFrameMk id="4" creationId="{00000000-0000-0000-0000-000000000000}"/>
          </ac:graphicFrameMkLst>
        </pc:graphicFrameChg>
      </pc:sldChg>
      <pc:sldChg chg="addSp modSp">
        <pc:chgData name="Bruno Augusto Nassif Travencolo" userId="9765cb90-d5ec-451e-8c7b-af57428794a1" providerId="ADAL" clId="{2783F04F-1D3E-4993-8163-61FAD4A16F5C}" dt="2023-05-04T21:12:42.214" v="39" actId="1076"/>
        <pc:sldMkLst>
          <pc:docMk/>
          <pc:sldMk cId="18675581" sldId="509"/>
        </pc:sldMkLst>
        <pc:picChg chg="add mod">
          <ac:chgData name="Bruno Augusto Nassif Travencolo" userId="9765cb90-d5ec-451e-8c7b-af57428794a1" providerId="ADAL" clId="{2783F04F-1D3E-4993-8163-61FAD4A16F5C}" dt="2023-05-04T21:12:42.214" v="39" actId="1076"/>
          <ac:picMkLst>
            <pc:docMk/>
            <pc:sldMk cId="18675581" sldId="509"/>
            <ac:picMk id="5" creationId="{BFFCAC55-3667-FA49-F539-7E880EC1B64F}"/>
          </ac:picMkLst>
        </pc:picChg>
      </pc:sldChg>
    </pc:docChg>
  </pc:docChgLst>
  <pc:docChgLst>
    <pc:chgData name="Bruno Augusto Nassif Travencolo" userId="S::travencolo@ufu.br::9765cb90-d5ec-451e-8c7b-af57428794a1" providerId="AD" clId="Web-{577E6B00-CEBE-72A5-8D8B-B96B4285B69A}"/>
    <pc:docChg chg="modSld">
      <pc:chgData name="Bruno Augusto Nassif Travencolo" userId="S::travencolo@ufu.br::9765cb90-d5ec-451e-8c7b-af57428794a1" providerId="AD" clId="Web-{577E6B00-CEBE-72A5-8D8B-B96B4285B69A}" dt="2023-10-18T20:54:22.303" v="38" actId="20577"/>
      <pc:docMkLst>
        <pc:docMk/>
      </pc:docMkLst>
      <pc:sldChg chg="modSp">
        <pc:chgData name="Bruno Augusto Nassif Travencolo" userId="S::travencolo@ufu.br::9765cb90-d5ec-451e-8c7b-af57428794a1" providerId="AD" clId="Web-{577E6B00-CEBE-72A5-8D8B-B96B4285B69A}" dt="2023-10-18T20:13:44.910" v="35" actId="20577"/>
        <pc:sldMkLst>
          <pc:docMk/>
          <pc:sldMk cId="1763445671" sldId="487"/>
        </pc:sldMkLst>
        <pc:spChg chg="mod">
          <ac:chgData name="Bruno Augusto Nassif Travencolo" userId="S::travencolo@ufu.br::9765cb90-d5ec-451e-8c7b-af57428794a1" providerId="AD" clId="Web-{577E6B00-CEBE-72A5-8D8B-B96B4285B69A}" dt="2023-10-18T20:13:44.910" v="35" actId="20577"/>
          <ac:spMkLst>
            <pc:docMk/>
            <pc:sldMk cId="1763445671" sldId="487"/>
            <ac:spMk id="3" creationId="{00000000-0000-0000-0000-000000000000}"/>
          </ac:spMkLst>
        </pc:spChg>
      </pc:sldChg>
      <pc:sldChg chg="modSp">
        <pc:chgData name="Bruno Augusto Nassif Travencolo" userId="S::travencolo@ufu.br::9765cb90-d5ec-451e-8c7b-af57428794a1" providerId="AD" clId="Web-{577E6B00-CEBE-72A5-8D8B-B96B4285B69A}" dt="2023-10-18T20:14:21.770" v="37" actId="20577"/>
        <pc:sldMkLst>
          <pc:docMk/>
          <pc:sldMk cId="819136394" sldId="488"/>
        </pc:sldMkLst>
        <pc:spChg chg="mod">
          <ac:chgData name="Bruno Augusto Nassif Travencolo" userId="S::travencolo@ufu.br::9765cb90-d5ec-451e-8c7b-af57428794a1" providerId="AD" clId="Web-{577E6B00-CEBE-72A5-8D8B-B96B4285B69A}" dt="2023-10-18T20:14:21.770" v="37" actId="20577"/>
          <ac:spMkLst>
            <pc:docMk/>
            <pc:sldMk cId="819136394" sldId="488"/>
            <ac:spMk id="3" creationId="{00000000-0000-0000-0000-000000000000}"/>
          </ac:spMkLst>
        </pc:spChg>
      </pc:sldChg>
      <pc:sldChg chg="modSp">
        <pc:chgData name="Bruno Augusto Nassif Travencolo" userId="S::travencolo@ufu.br::9765cb90-d5ec-451e-8c7b-af57428794a1" providerId="AD" clId="Web-{577E6B00-CEBE-72A5-8D8B-B96B4285B69A}" dt="2023-10-18T20:54:22.303" v="38" actId="20577"/>
        <pc:sldMkLst>
          <pc:docMk/>
          <pc:sldMk cId="623609383" sldId="500"/>
        </pc:sldMkLst>
        <pc:spChg chg="mod">
          <ac:chgData name="Bruno Augusto Nassif Travencolo" userId="S::travencolo@ufu.br::9765cb90-d5ec-451e-8c7b-af57428794a1" providerId="AD" clId="Web-{577E6B00-CEBE-72A5-8D8B-B96B4285B69A}" dt="2023-10-18T20:54:22.303" v="38" actId="20577"/>
          <ac:spMkLst>
            <pc:docMk/>
            <pc:sldMk cId="623609383" sldId="500"/>
            <ac:spMk id="3" creationId="{00000000-0000-0000-0000-000000000000}"/>
          </ac:spMkLst>
        </pc:spChg>
      </pc:sldChg>
    </pc:docChg>
  </pc:docChgLst>
  <pc:docChgLst>
    <pc:chgData name="Bruno Augusto Nassif Travencolo" userId="9765cb90-d5ec-451e-8c7b-af57428794a1" providerId="ADAL" clId="{8FF9E8B1-40BF-4920-A21A-EF3059C2EF3C}"/>
    <pc:docChg chg="modSld">
      <pc:chgData name="Bruno Augusto Nassif Travencolo" userId="9765cb90-d5ec-451e-8c7b-af57428794a1" providerId="ADAL" clId="{8FF9E8B1-40BF-4920-A21A-EF3059C2EF3C}" dt="2023-10-18T23:55:16.322" v="0"/>
      <pc:docMkLst>
        <pc:docMk/>
      </pc:docMkLst>
      <pc:sldChg chg="addSp">
        <pc:chgData name="Bruno Augusto Nassif Travencolo" userId="9765cb90-d5ec-451e-8c7b-af57428794a1" providerId="ADAL" clId="{8FF9E8B1-40BF-4920-A21A-EF3059C2EF3C}" dt="2023-10-18T23:55:16.322" v="0"/>
        <pc:sldMkLst>
          <pc:docMk/>
          <pc:sldMk cId="1061006707" sldId="391"/>
        </pc:sldMkLst>
        <pc:inkChg chg="add">
          <ac:chgData name="Bruno Augusto Nassif Travencolo" userId="9765cb90-d5ec-451e-8c7b-af57428794a1" providerId="ADAL" clId="{8FF9E8B1-40BF-4920-A21A-EF3059C2EF3C}" dt="2023-10-18T23:55:16.322" v="0"/>
          <ac:inkMkLst>
            <pc:docMk/>
            <pc:sldMk cId="1061006707" sldId="391"/>
            <ac:inkMk id="4" creationId="{DAA5F383-D46A-D1DA-B448-F43C622D6545}"/>
          </ac:inkMkLst>
        </pc:inkChg>
      </pc:sldChg>
      <pc:sldChg chg="addSp">
        <pc:chgData name="Bruno Augusto Nassif Travencolo" userId="9765cb90-d5ec-451e-8c7b-af57428794a1" providerId="ADAL" clId="{8FF9E8B1-40BF-4920-A21A-EF3059C2EF3C}" dt="2023-10-18T23:55:16.322" v="0"/>
        <pc:sldMkLst>
          <pc:docMk/>
          <pc:sldMk cId="2427630225" sldId="449"/>
        </pc:sldMkLst>
        <pc:inkChg chg="add">
          <ac:chgData name="Bruno Augusto Nassif Travencolo" userId="9765cb90-d5ec-451e-8c7b-af57428794a1" providerId="ADAL" clId="{8FF9E8B1-40BF-4920-A21A-EF3059C2EF3C}" dt="2023-10-18T23:55:16.322" v="0"/>
          <ac:inkMkLst>
            <pc:docMk/>
            <pc:sldMk cId="2427630225" sldId="449"/>
            <ac:inkMk id="4" creationId="{43F94EB0-B249-E73C-2CFA-50C6425B49B8}"/>
          </ac:inkMkLst>
        </pc:inkChg>
      </pc:sldChg>
      <pc:sldChg chg="addSp">
        <pc:chgData name="Bruno Augusto Nassif Travencolo" userId="9765cb90-d5ec-451e-8c7b-af57428794a1" providerId="ADAL" clId="{8FF9E8B1-40BF-4920-A21A-EF3059C2EF3C}" dt="2023-10-18T23:55:16.322" v="0"/>
        <pc:sldMkLst>
          <pc:docMk/>
          <pc:sldMk cId="2732859420" sldId="454"/>
        </pc:sldMkLst>
        <pc:inkChg chg="add">
          <ac:chgData name="Bruno Augusto Nassif Travencolo" userId="9765cb90-d5ec-451e-8c7b-af57428794a1" providerId="ADAL" clId="{8FF9E8B1-40BF-4920-A21A-EF3059C2EF3C}" dt="2023-10-18T23:55:16.322" v="0"/>
          <ac:inkMkLst>
            <pc:docMk/>
            <pc:sldMk cId="2732859420" sldId="454"/>
            <ac:inkMk id="9" creationId="{D206E78A-FC45-6A2D-96B4-68352A98ECE2}"/>
          </ac:inkMkLst>
        </pc:inkChg>
      </pc:sldChg>
      <pc:sldChg chg="addSp">
        <pc:chgData name="Bruno Augusto Nassif Travencolo" userId="9765cb90-d5ec-451e-8c7b-af57428794a1" providerId="ADAL" clId="{8FF9E8B1-40BF-4920-A21A-EF3059C2EF3C}" dt="2023-10-18T23:55:16.322" v="0"/>
        <pc:sldMkLst>
          <pc:docMk/>
          <pc:sldMk cId="4128499503" sldId="455"/>
        </pc:sldMkLst>
        <pc:inkChg chg="add">
          <ac:chgData name="Bruno Augusto Nassif Travencolo" userId="9765cb90-d5ec-451e-8c7b-af57428794a1" providerId="ADAL" clId="{8FF9E8B1-40BF-4920-A21A-EF3059C2EF3C}" dt="2023-10-18T23:55:16.322" v="0"/>
          <ac:inkMkLst>
            <pc:docMk/>
            <pc:sldMk cId="4128499503" sldId="455"/>
            <ac:inkMk id="5" creationId="{64524BE9-883E-4A99-C6BD-3A88362B16C3}"/>
          </ac:inkMkLst>
        </pc:inkChg>
      </pc:sldChg>
      <pc:sldChg chg="addSp">
        <pc:chgData name="Bruno Augusto Nassif Travencolo" userId="9765cb90-d5ec-451e-8c7b-af57428794a1" providerId="ADAL" clId="{8FF9E8B1-40BF-4920-A21A-EF3059C2EF3C}" dt="2023-10-18T23:55:16.322" v="0"/>
        <pc:sldMkLst>
          <pc:docMk/>
          <pc:sldMk cId="3924530292" sldId="465"/>
        </pc:sldMkLst>
        <pc:inkChg chg="add">
          <ac:chgData name="Bruno Augusto Nassif Travencolo" userId="9765cb90-d5ec-451e-8c7b-af57428794a1" providerId="ADAL" clId="{8FF9E8B1-40BF-4920-A21A-EF3059C2EF3C}" dt="2023-10-18T23:55:16.322" v="0"/>
          <ac:inkMkLst>
            <pc:docMk/>
            <pc:sldMk cId="3924530292" sldId="465"/>
            <ac:inkMk id="4" creationId="{9440390F-7EE1-D2F2-006F-C2E57D7153C3}"/>
          </ac:inkMkLst>
        </pc:inkChg>
      </pc:sldChg>
      <pc:sldChg chg="addSp">
        <pc:chgData name="Bruno Augusto Nassif Travencolo" userId="9765cb90-d5ec-451e-8c7b-af57428794a1" providerId="ADAL" clId="{8FF9E8B1-40BF-4920-A21A-EF3059C2EF3C}" dt="2023-10-18T23:55:16.322" v="0"/>
        <pc:sldMkLst>
          <pc:docMk/>
          <pc:sldMk cId="3523036919" sldId="468"/>
        </pc:sldMkLst>
        <pc:inkChg chg="add">
          <ac:chgData name="Bruno Augusto Nassif Travencolo" userId="9765cb90-d5ec-451e-8c7b-af57428794a1" providerId="ADAL" clId="{8FF9E8B1-40BF-4920-A21A-EF3059C2EF3C}" dt="2023-10-18T23:55:16.322" v="0"/>
          <ac:inkMkLst>
            <pc:docMk/>
            <pc:sldMk cId="3523036919" sldId="468"/>
            <ac:inkMk id="4" creationId="{800DD283-A70A-4A5A-83E2-9E97AE19ACF9}"/>
          </ac:inkMkLst>
        </pc:inkChg>
      </pc:sldChg>
      <pc:sldChg chg="addSp">
        <pc:chgData name="Bruno Augusto Nassif Travencolo" userId="9765cb90-d5ec-451e-8c7b-af57428794a1" providerId="ADAL" clId="{8FF9E8B1-40BF-4920-A21A-EF3059C2EF3C}" dt="2023-10-18T23:55:16.322" v="0"/>
        <pc:sldMkLst>
          <pc:docMk/>
          <pc:sldMk cId="3306895294" sldId="475"/>
        </pc:sldMkLst>
        <pc:inkChg chg="add">
          <ac:chgData name="Bruno Augusto Nassif Travencolo" userId="9765cb90-d5ec-451e-8c7b-af57428794a1" providerId="ADAL" clId="{8FF9E8B1-40BF-4920-A21A-EF3059C2EF3C}" dt="2023-10-18T23:55:16.322" v="0"/>
          <ac:inkMkLst>
            <pc:docMk/>
            <pc:sldMk cId="3306895294" sldId="475"/>
            <ac:inkMk id="5" creationId="{5E6D68F8-7CC2-CEA8-28CA-3526195CB0BD}"/>
          </ac:inkMkLst>
        </pc:inkChg>
      </pc:sldChg>
      <pc:sldChg chg="addSp">
        <pc:chgData name="Bruno Augusto Nassif Travencolo" userId="9765cb90-d5ec-451e-8c7b-af57428794a1" providerId="ADAL" clId="{8FF9E8B1-40BF-4920-A21A-EF3059C2EF3C}" dt="2023-10-18T23:55:16.322" v="0"/>
        <pc:sldMkLst>
          <pc:docMk/>
          <pc:sldMk cId="2281909285" sldId="481"/>
        </pc:sldMkLst>
        <pc:inkChg chg="add">
          <ac:chgData name="Bruno Augusto Nassif Travencolo" userId="9765cb90-d5ec-451e-8c7b-af57428794a1" providerId="ADAL" clId="{8FF9E8B1-40BF-4920-A21A-EF3059C2EF3C}" dt="2023-10-18T23:55:16.322" v="0"/>
          <ac:inkMkLst>
            <pc:docMk/>
            <pc:sldMk cId="2281909285" sldId="481"/>
            <ac:inkMk id="5" creationId="{C18BD352-8FE6-75F6-95F0-7DB93C8A1DB3}"/>
          </ac:inkMkLst>
        </pc:inkChg>
      </pc:sldChg>
      <pc:sldChg chg="addSp">
        <pc:chgData name="Bruno Augusto Nassif Travencolo" userId="9765cb90-d5ec-451e-8c7b-af57428794a1" providerId="ADAL" clId="{8FF9E8B1-40BF-4920-A21A-EF3059C2EF3C}" dt="2023-10-18T23:55:16.322" v="0"/>
        <pc:sldMkLst>
          <pc:docMk/>
          <pc:sldMk cId="1996172404" sldId="484"/>
        </pc:sldMkLst>
        <pc:inkChg chg="add">
          <ac:chgData name="Bruno Augusto Nassif Travencolo" userId="9765cb90-d5ec-451e-8c7b-af57428794a1" providerId="ADAL" clId="{8FF9E8B1-40BF-4920-A21A-EF3059C2EF3C}" dt="2023-10-18T23:55:16.322" v="0"/>
          <ac:inkMkLst>
            <pc:docMk/>
            <pc:sldMk cId="1996172404" sldId="484"/>
            <ac:inkMk id="4" creationId="{EDF28563-8EA3-C8A3-4793-BA53EF9C64AC}"/>
          </ac:inkMkLst>
        </pc:inkChg>
      </pc:sldChg>
      <pc:sldChg chg="addSp">
        <pc:chgData name="Bruno Augusto Nassif Travencolo" userId="9765cb90-d5ec-451e-8c7b-af57428794a1" providerId="ADAL" clId="{8FF9E8B1-40BF-4920-A21A-EF3059C2EF3C}" dt="2023-10-18T23:55:16.322" v="0"/>
        <pc:sldMkLst>
          <pc:docMk/>
          <pc:sldMk cId="1763445671" sldId="487"/>
        </pc:sldMkLst>
        <pc:inkChg chg="add">
          <ac:chgData name="Bruno Augusto Nassif Travencolo" userId="9765cb90-d5ec-451e-8c7b-af57428794a1" providerId="ADAL" clId="{8FF9E8B1-40BF-4920-A21A-EF3059C2EF3C}" dt="2023-10-18T23:55:16.322" v="0"/>
          <ac:inkMkLst>
            <pc:docMk/>
            <pc:sldMk cId="1763445671" sldId="487"/>
            <ac:inkMk id="5" creationId="{7B55E7B8-611B-A797-5A49-C76C7916947F}"/>
          </ac:inkMkLst>
        </pc:inkChg>
      </pc:sldChg>
      <pc:sldChg chg="addSp">
        <pc:chgData name="Bruno Augusto Nassif Travencolo" userId="9765cb90-d5ec-451e-8c7b-af57428794a1" providerId="ADAL" clId="{8FF9E8B1-40BF-4920-A21A-EF3059C2EF3C}" dt="2023-10-18T23:55:16.322" v="0"/>
        <pc:sldMkLst>
          <pc:docMk/>
          <pc:sldMk cId="2640426853" sldId="515"/>
        </pc:sldMkLst>
        <pc:inkChg chg="add">
          <ac:chgData name="Bruno Augusto Nassif Travencolo" userId="9765cb90-d5ec-451e-8c7b-af57428794a1" providerId="ADAL" clId="{8FF9E8B1-40BF-4920-A21A-EF3059C2EF3C}" dt="2023-10-18T23:55:16.322" v="0"/>
          <ac:inkMkLst>
            <pc:docMk/>
            <pc:sldMk cId="2640426853" sldId="515"/>
            <ac:inkMk id="4" creationId="{643A76D4-9B24-6DDA-1B5B-1A9DC24BAAE4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3-10-18T22:25:00.9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8434 12080 0</inkml:trace>
  <inkml:trace contextRef="#ctx0" brushRef="#br0" timeOffset="807.87">8434 12080 0</inkml:trace>
  <inkml:trace contextRef="#ctx0" brushRef="#br0" timeOffset="5807.87">16892 8905 0</inkml:trace>
  <inkml:trace contextRef="#ctx0" brushRef="#br0" timeOffset="7228.44">12328 8706 0</inkml:trace>
  <inkml:trace contextRef="#ctx0" brushRef="#br0" timeOffset="7722.36">12328 8706 0</inkml:trace>
  <inkml:trace contextRef="#ctx0" brushRef="#br0" timeOffset="9564.53">1811 9277 0</inkml:trace>
  <inkml:trace contextRef="#ctx0" brushRef="#br0" timeOffset="9783.35">1811 9277 0</inkml:trace>
  <inkml:trace contextRef="#ctx0" brushRef="#br0" timeOffset="10439.75">1811 9277 0</inkml:trace>
  <inkml:trace contextRef="#ctx0" brushRef="#br0" timeOffset="10735.54">1811 9277 0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10-18T22:22:46.9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9331 7774 1418 0,'0'0'502'0,"0"0"-433"0,0 0-41 16,0 0-27-16,0 0 16 15,0 0-17-15,0 0 17 16,0 1-17 0,0-1-52-16,0 0-108 0,0-3-141 15,-9-8-90-15,-5-1-243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10-18T22:41:37.9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6183 9791 75 0,'0'0'46'0,"0"0"-27"16,0 0-18-16,0 0 45 15,0 0-22-15,0 0-24 16,14 28-24-16,-14-22-84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10-18T23:14:13.6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23371 11640 1307 0,'0'0'540'0,"0"0"-353"0,0 0-178 16,0 0-9 0,0 0-93-16,0 0 43 0,0 0-34 15,6 2-8-15,11-11-222 16,-3-9-414-16</inkml:trace>
  <inkml:trace contextRef="#ctx0" brushRef="#br0" timeOffset="1732.91">24462 10724 578 0,'0'0'1359'0,"0"0"-1095"16,0 0-264-16,0 0-62 0,0 0 30 15,0 0 32 1,0 0 55-16,9 0-55 0,-4 0-19 16,10-16-235-16,-1 0-264 15,-3 0-114-15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10-18T23:25:44.8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24952 10914 773 0,'83'58'327'0,"-83"-58"-188"16,0 0-83-16,0 0-56 15,0 0 0-15,0 0-9 16,0 0-7-16,0 0-91 16,0-5-103-16,0-5-142 0</inkml:trace>
  <inkml:trace contextRef="#ctx0" brushRef="#br0" timeOffset="143868.29">24239 11217 1367 0,'69'21'244'16,"-72"-21"-244"-16,3 0-120 15,0 0-25-15,0 0 71 16,19-23 64-16,0 1-87 0,0 0-273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10-18T23:34:46.1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8864 11518 195 0,'0'0'0'0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10-18T23:39:13.2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20612 12180 1239 0,'0'0'181'16,"0"0"-181"-16,0 0-673 0</inkml:trace>
  <inkml:trace contextRef="#ctx0" brushRef="#br0" timeOffset="607.4">21406 11705 1333 0,'0'0'409'0,"0"0"-256"16,0 0-51-16,0 0 90 15,0 0 2-15,0 0 11 16,0 0-94-16,-12 35-61 15,10-35-16-15,2 0-34 16,0 0-63-16,0-7-134 16,4-47-71-16,14 1-305 15,1-4-238-15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10-18T23:40:39.6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21479 12854 1164 0,'0'0'281'16,"0"0"-201"-16,0 0-50 15,0 0 75-15,0 0-22 16,0 0-83-16,0 0-265 16,0-63-561-16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0D251D-749A-4B9A-A3E6-82592641065F}" type="datetimeFigureOut">
              <a:rPr lang="pt-BR" smtClean="0"/>
              <a:t>10/10/2024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79040-1D1A-45E9-98E4-750766B0FC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290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10/10/2024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10/10/2024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10/10/2024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10/10/2024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10/10/2024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10/10/2024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2E700DB3-DBF0-4086-B675-117E7A9610B8}" type="datetimeFigureOut">
              <a:rPr lang="pt-BR" smtClean="0"/>
              <a:t>10/10/2024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10/10/2024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10/10/2024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10/10/2024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3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36.png"/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12" Type="http://schemas.openxmlformats.org/officeDocument/2006/relationships/customXml" Target="../ink/ink4.xml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31.wmf"/><Relationship Id="rId5" Type="http://schemas.openxmlformats.org/officeDocument/2006/relationships/image" Target="../media/image28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30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36.wmf"/><Relationship Id="rId3" Type="http://schemas.openxmlformats.org/officeDocument/2006/relationships/image" Target="../media/image32.wmf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27.bin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31.wmf"/><Relationship Id="rId5" Type="http://schemas.openxmlformats.org/officeDocument/2006/relationships/image" Target="../media/image33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35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customXml" Target="../ink/ink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customXml" Target="../ink/ink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53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60.wmf"/><Relationship Id="rId3" Type="http://schemas.openxmlformats.org/officeDocument/2006/relationships/image" Target="../media/image55.wmf"/><Relationship Id="rId7" Type="http://schemas.openxmlformats.org/officeDocument/2006/relationships/image" Target="../media/image57.wmf"/><Relationship Id="rId12" Type="http://schemas.openxmlformats.org/officeDocument/2006/relationships/oleObject" Target="../embeddings/oleObject36.bin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59.wmf"/><Relationship Id="rId5" Type="http://schemas.openxmlformats.org/officeDocument/2006/relationships/image" Target="../media/image56.wmf"/><Relationship Id="rId15" Type="http://schemas.openxmlformats.org/officeDocument/2006/relationships/image" Target="../media/image67.png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58.wmf"/><Relationship Id="rId14" Type="http://schemas.openxmlformats.org/officeDocument/2006/relationships/customXml" Target="../ink/ink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61.wmf"/><Relationship Id="rId7" Type="http://schemas.openxmlformats.org/officeDocument/2006/relationships/image" Target="../media/image63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62.w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7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w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w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wmf"/><Relationship Id="rId4" Type="http://schemas.openxmlformats.org/officeDocument/2006/relationships/oleObject" Target="../embeddings/oleObject43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image" Target="../media/image92.wmf"/><Relationship Id="rId7" Type="http://schemas.openxmlformats.org/officeDocument/2006/relationships/image" Target="../media/image94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7.bin"/><Relationship Id="rId5" Type="http://schemas.openxmlformats.org/officeDocument/2006/relationships/image" Target="../media/image93.wmf"/><Relationship Id="rId4" Type="http://schemas.openxmlformats.org/officeDocument/2006/relationships/oleObject" Target="../embeddings/oleObject46.bin"/><Relationship Id="rId9" Type="http://schemas.openxmlformats.org/officeDocument/2006/relationships/image" Target="../media/image95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wmf"/><Relationship Id="rId4" Type="http://schemas.openxmlformats.org/officeDocument/2006/relationships/oleObject" Target="../embeddings/oleObject50.bin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Morfologia Matemática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7371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Morfologia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/>
              <a:t>Na Biologia</a:t>
            </a:r>
          </a:p>
          <a:p>
            <a:pPr lvl="1"/>
            <a:r>
              <a:rPr lang="pt-BR"/>
              <a:t>área que trata com a forma e a estrutura de plantas e animais</a:t>
            </a:r>
          </a:p>
          <a:p>
            <a:endParaRPr lang="pt-BR"/>
          </a:p>
          <a:p>
            <a:r>
              <a:rPr lang="pt-BR"/>
              <a:t>Processamento de Imagens</a:t>
            </a:r>
          </a:p>
          <a:p>
            <a:pPr lvl="1"/>
            <a:r>
              <a:rPr lang="pt-BR"/>
              <a:t>Ferramenta para extração de componentes de imagens que sejam úteis na representação e descrição da forma de uma região</a:t>
            </a:r>
          </a:p>
          <a:p>
            <a:pPr lvl="1"/>
            <a:r>
              <a:rPr lang="pt-BR"/>
              <a:t>As técnicas morfológicas também são utilizadas para filtragem, afinamento e poda</a:t>
            </a:r>
          </a:p>
          <a:p>
            <a:pPr lvl="1"/>
            <a:r>
              <a:rPr lang="pt-BR"/>
              <a:t>Baseada na Teoria dos Conjuntos</a:t>
            </a:r>
          </a:p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AA5F383-D46A-D1DA-B448-F43C622D6545}"/>
                  </a:ext>
                </a:extLst>
              </p14:cNvPr>
              <p14:cNvContentPartPr/>
              <p14:nvPr/>
            </p14:nvContentPartPr>
            <p14:xfrm>
              <a:off x="651960" y="3134160"/>
              <a:ext cx="5429520" cy="121500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AA5F383-D46A-D1DA-B448-F43C622D65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2600" y="3124800"/>
                <a:ext cx="5448240" cy="123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1006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Definições Básicas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/>
              <a:t>Imagens binárias</a:t>
            </a:r>
          </a:p>
          <a:p>
            <a:pPr lvl="1"/>
            <a:r>
              <a:rPr lang="pt-BR"/>
              <a:t>O conjunto de todos os pixels pretos (ou brancos) é uma descrição completa dessa imagem </a:t>
            </a:r>
          </a:p>
          <a:p>
            <a:pPr lvl="1"/>
            <a:r>
              <a:rPr lang="pt-BR"/>
              <a:t>Os conjuntos são membros do espaço </a:t>
            </a:r>
            <a:r>
              <a:rPr lang="pt-BR" err="1"/>
              <a:t>bi-dimensional</a:t>
            </a:r>
            <a:r>
              <a:rPr lang="pt-BR"/>
              <a:t> de números inteiros </a:t>
            </a:r>
            <a:r>
              <a:rPr lang="pt-BR" i="1"/>
              <a:t>Z</a:t>
            </a:r>
            <a:r>
              <a:rPr lang="pt-BR" i="1" baseline="30000"/>
              <a:t>2</a:t>
            </a:r>
            <a:r>
              <a:rPr lang="pt-BR"/>
              <a:t>. Cada elemento é definido pelas coordenadas </a:t>
            </a:r>
            <a:r>
              <a:rPr lang="pt-BR" i="1"/>
              <a:t>(x, y)</a:t>
            </a:r>
          </a:p>
          <a:p>
            <a:r>
              <a:rPr lang="pt-BR"/>
              <a:t> Imagens em nível de cinza </a:t>
            </a:r>
          </a:p>
          <a:p>
            <a:pPr lvl="1"/>
            <a:r>
              <a:rPr lang="pt-BR"/>
              <a:t>Podem ser representadas por conjuntos cujos componentes estejam em </a:t>
            </a:r>
            <a:r>
              <a:rPr lang="pt-BR" i="1"/>
              <a:t>Z</a:t>
            </a:r>
            <a:r>
              <a:rPr lang="pt-BR" i="1" baseline="30000"/>
              <a:t>3</a:t>
            </a:r>
            <a:r>
              <a:rPr lang="pt-BR"/>
              <a:t>: </a:t>
            </a:r>
            <a:r>
              <a:rPr lang="pt-BR" i="1"/>
              <a:t>(x, y, z)</a:t>
            </a:r>
            <a:r>
              <a:rPr lang="pt-BR"/>
              <a:t>, onde </a:t>
            </a:r>
            <a:r>
              <a:rPr lang="pt-BR" i="1"/>
              <a:t>z</a:t>
            </a:r>
            <a:r>
              <a:rPr lang="pt-BR"/>
              <a:t> corresponde ao valor da intensidade</a:t>
            </a:r>
          </a:p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43F94EB0-B249-E73C-2CFA-50C6425B49B8}"/>
                  </a:ext>
                </a:extLst>
              </p14:cNvPr>
              <p14:cNvContentPartPr/>
              <p14:nvPr/>
            </p14:nvContentPartPr>
            <p14:xfrm>
              <a:off x="3350880" y="2789640"/>
              <a:ext cx="8640" cy="972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43F94EB0-B249-E73C-2CFA-50C6425B49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41520" y="2780280"/>
                <a:ext cx="27360" cy="2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7630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Definições Básicas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Sejam </a:t>
            </a:r>
            <a:r>
              <a:rPr lang="pt-BR" i="1"/>
              <a:t>A</a:t>
            </a:r>
            <a:r>
              <a:rPr lang="pt-BR"/>
              <a:t> e </a:t>
            </a:r>
            <a:r>
              <a:rPr lang="pt-BR" i="1"/>
              <a:t>B</a:t>
            </a:r>
            <a:r>
              <a:rPr lang="pt-BR"/>
              <a:t> conjuntos de </a:t>
            </a:r>
            <a:r>
              <a:rPr lang="pt-BR" i="1"/>
              <a:t>Z</a:t>
            </a:r>
            <a:r>
              <a:rPr lang="pt-BR" i="1" baseline="30000"/>
              <a:t>2</a:t>
            </a:r>
            <a:r>
              <a:rPr lang="pt-BR"/>
              <a:t>, com componentes:</a:t>
            </a:r>
          </a:p>
          <a:p>
            <a:pPr lvl="1"/>
            <a:r>
              <a:rPr lang="pt-BR" i="1"/>
              <a:t>a = (a</a:t>
            </a:r>
            <a:r>
              <a:rPr lang="pt-BR" i="1" baseline="-25000"/>
              <a:t>1</a:t>
            </a:r>
            <a:r>
              <a:rPr lang="pt-BR" i="1"/>
              <a:t>, a</a:t>
            </a:r>
            <a:r>
              <a:rPr lang="pt-BR" i="1" baseline="-25000"/>
              <a:t>2</a:t>
            </a:r>
            <a:r>
              <a:rPr lang="pt-BR" i="1"/>
              <a:t>)</a:t>
            </a:r>
          </a:p>
          <a:p>
            <a:pPr lvl="1"/>
            <a:r>
              <a:rPr lang="pt-BR" i="1"/>
              <a:t>b = (b</a:t>
            </a:r>
            <a:r>
              <a:rPr lang="pt-BR" i="1" baseline="-25000"/>
              <a:t>1</a:t>
            </a:r>
            <a:r>
              <a:rPr lang="pt-BR" i="1"/>
              <a:t>, b</a:t>
            </a:r>
            <a:r>
              <a:rPr lang="pt-BR" i="1" baseline="-25000"/>
              <a:t>2</a:t>
            </a:r>
            <a:r>
              <a:rPr lang="pt-BR" i="1"/>
              <a:t>)</a:t>
            </a:r>
          </a:p>
          <a:p>
            <a:pPr lvl="1"/>
            <a:endParaRPr lang="pt-BR" i="1"/>
          </a:p>
          <a:p>
            <a:r>
              <a:rPr lang="pt-BR"/>
              <a:t>Considere também</a:t>
            </a:r>
          </a:p>
          <a:p>
            <a:pPr lvl="1"/>
            <a:r>
              <a:rPr lang="pt-BR" i="1"/>
              <a:t>x = (x</a:t>
            </a:r>
            <a:r>
              <a:rPr lang="pt-BR" i="1" baseline="-25000"/>
              <a:t>1</a:t>
            </a:r>
            <a:r>
              <a:rPr lang="pt-BR" i="1"/>
              <a:t>, x</a:t>
            </a:r>
            <a:r>
              <a:rPr lang="pt-BR" i="1" baseline="-25000"/>
              <a:t>2</a:t>
            </a:r>
            <a:r>
              <a:rPr lang="pt-BR" i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04891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Definições Básicas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Translação de </a:t>
            </a:r>
            <a:r>
              <a:rPr lang="pt-BR" i="1"/>
              <a:t>A</a:t>
            </a:r>
            <a:r>
              <a:rPr lang="pt-BR"/>
              <a:t> por </a:t>
            </a:r>
            <a:r>
              <a:rPr lang="pt-BR" i="1"/>
              <a:t>x</a:t>
            </a:r>
            <a:endParaRPr lang="en-US"/>
          </a:p>
        </p:txBody>
      </p:sp>
      <p:graphicFrame>
        <p:nvGraphicFramePr>
          <p:cNvPr id="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3370236"/>
              </p:ext>
            </p:extLst>
          </p:nvPr>
        </p:nvGraphicFramePr>
        <p:xfrm>
          <a:off x="1763688" y="2636912"/>
          <a:ext cx="5616624" cy="702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31840" imgH="253800" progId="Equation.3">
                  <p:embed/>
                </p:oleObj>
              </mc:Choice>
              <mc:Fallback>
                <p:oleObj name="Equation" r:id="rId2" imgW="2031840" imgH="253800" progId="Equation.3">
                  <p:embed/>
                  <p:pic>
                    <p:nvPicPr>
                      <p:cNvPr id="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636912"/>
                        <a:ext cx="5616624" cy="7020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962400"/>
            <a:ext cx="2439988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962400"/>
            <a:ext cx="2428875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2270125" y="4154488"/>
            <a:ext cx="2855913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Origem do conjunto</a:t>
            </a: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 flipH="1">
            <a:off x="1752600" y="4419600"/>
            <a:ext cx="533400" cy="30480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068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Definições Básicas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Reflexão de </a:t>
            </a:r>
            <a:r>
              <a:rPr lang="pt-BR" i="1"/>
              <a:t>B</a:t>
            </a:r>
            <a:endParaRPr lang="en-US"/>
          </a:p>
        </p:txBody>
      </p:sp>
      <p:graphicFrame>
        <p:nvGraphicFramePr>
          <p:cNvPr id="1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6000560"/>
              </p:ext>
            </p:extLst>
          </p:nvPr>
        </p:nvGraphicFramePr>
        <p:xfrm>
          <a:off x="2438400" y="2824311"/>
          <a:ext cx="42672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65080" imgH="266400" progId="Equation.3">
                  <p:embed/>
                </p:oleObj>
              </mc:Choice>
              <mc:Fallback>
                <p:oleObj name="Equation" r:id="rId2" imgW="1765080" imgH="266400" progId="Equation.3">
                  <p:embed/>
                  <p:pic>
                    <p:nvPicPr>
                      <p:cNvPr id="1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824311"/>
                        <a:ext cx="426720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043511"/>
            <a:ext cx="2400300" cy="239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575" y="4043511"/>
            <a:ext cx="2409825" cy="24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2110408" y="4272111"/>
            <a:ext cx="2855913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Origem do conjunto</a:t>
            </a:r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 flipH="1">
            <a:off x="2186608" y="4729311"/>
            <a:ext cx="457200" cy="38100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458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Definições Básicas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Complemento do conjunto </a:t>
            </a:r>
            <a:r>
              <a:rPr lang="pt-BR" i="1"/>
              <a:t>A</a:t>
            </a:r>
            <a:endParaRPr lang="en-US" i="1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6061123"/>
              </p:ext>
            </p:extLst>
          </p:nvPr>
        </p:nvGraphicFramePr>
        <p:xfrm>
          <a:off x="3419872" y="2559075"/>
          <a:ext cx="2257602" cy="653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76240" imgH="253800" progId="Equation.3">
                  <p:embed/>
                </p:oleObj>
              </mc:Choice>
              <mc:Fallback>
                <p:oleObj name="Equation" r:id="rId2" imgW="876240" imgH="2538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2559075"/>
                        <a:ext cx="2257602" cy="6539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244" y="3817962"/>
            <a:ext cx="2449513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9837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Definições Básicas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836912"/>
          </a:xfrm>
        </p:spPr>
        <p:txBody>
          <a:bodyPr>
            <a:normAutofit lnSpcReduction="10000"/>
          </a:bodyPr>
          <a:lstStyle/>
          <a:p>
            <a:r>
              <a:rPr lang="pt-BR"/>
              <a:t>Interseção de </a:t>
            </a:r>
            <a:r>
              <a:rPr lang="pt-BR" i="1"/>
              <a:t>A</a:t>
            </a:r>
            <a:r>
              <a:rPr lang="pt-BR"/>
              <a:t> e </a:t>
            </a:r>
            <a:r>
              <a:rPr lang="pt-BR" i="1"/>
              <a:t>B</a:t>
            </a:r>
            <a:r>
              <a:rPr lang="pt-BR"/>
              <a:t> </a:t>
            </a:r>
          </a:p>
          <a:p>
            <a:pPr lvl="1"/>
            <a:r>
              <a:rPr lang="pt-BR"/>
              <a:t>É o conjunto de pixels pertencentes a ambos</a:t>
            </a:r>
          </a:p>
          <a:p>
            <a:pPr lvl="1"/>
            <a:endParaRPr lang="pt-BR" i="1"/>
          </a:p>
          <a:p>
            <a:pPr lvl="1"/>
            <a:endParaRPr lang="pt-BR" i="1"/>
          </a:p>
          <a:p>
            <a:r>
              <a:rPr lang="pt-BR"/>
              <a:t>União de </a:t>
            </a:r>
            <a:r>
              <a:rPr lang="pt-BR" i="1"/>
              <a:t>A</a:t>
            </a:r>
            <a:r>
              <a:rPr lang="pt-BR"/>
              <a:t> e </a:t>
            </a:r>
            <a:r>
              <a:rPr lang="pt-BR" i="1"/>
              <a:t>B</a:t>
            </a:r>
            <a:r>
              <a:rPr lang="pt-BR"/>
              <a:t> </a:t>
            </a:r>
          </a:p>
          <a:p>
            <a:pPr lvl="1"/>
            <a:r>
              <a:rPr lang="pt-BR"/>
              <a:t>É o conjunto de pixels que pertencem a </a:t>
            </a:r>
            <a:r>
              <a:rPr lang="pt-BR" i="1" err="1"/>
              <a:t>A</a:t>
            </a:r>
            <a:r>
              <a:rPr lang="pt-BR"/>
              <a:t> ou </a:t>
            </a:r>
            <a:r>
              <a:rPr lang="pt-BR" i="1"/>
              <a:t>B</a:t>
            </a:r>
            <a:endParaRPr lang="en-US" i="1"/>
          </a:p>
          <a:p>
            <a:pPr lvl="1"/>
            <a:endParaRPr lang="en-US" i="1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6274853"/>
              </p:ext>
            </p:extLst>
          </p:nvPr>
        </p:nvGraphicFramePr>
        <p:xfrm>
          <a:off x="2054324" y="2699767"/>
          <a:ext cx="453390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52600" imgH="254000" progId="Equation.3">
                  <p:embed/>
                </p:oleObj>
              </mc:Choice>
              <mc:Fallback>
                <p:oleObj name="Equation" r:id="rId2" imgW="1752600" imgH="2540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4324" y="2699767"/>
                        <a:ext cx="4533900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842653"/>
              </p:ext>
            </p:extLst>
          </p:nvPr>
        </p:nvGraphicFramePr>
        <p:xfrm>
          <a:off x="2054324" y="4293096"/>
          <a:ext cx="453390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52600" imgH="254000" progId="Equation.3">
                  <p:embed/>
                </p:oleObj>
              </mc:Choice>
              <mc:Fallback>
                <p:oleObj name="Equation" r:id="rId4" imgW="1752600" imgH="254000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4324" y="4293096"/>
                        <a:ext cx="4533900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upo 7"/>
          <p:cNvGrpSpPr/>
          <p:nvPr/>
        </p:nvGrpSpPr>
        <p:grpSpPr>
          <a:xfrm>
            <a:off x="3203848" y="5157192"/>
            <a:ext cx="2664296" cy="1512168"/>
            <a:chOff x="3203848" y="5157192"/>
            <a:chExt cx="2664296" cy="1512168"/>
          </a:xfrm>
        </p:grpSpPr>
        <p:sp>
          <p:nvSpPr>
            <p:cNvPr id="6" name="Elipse 5"/>
            <p:cNvSpPr/>
            <p:nvPr/>
          </p:nvSpPr>
          <p:spPr>
            <a:xfrm>
              <a:off x="3203848" y="5157192"/>
              <a:ext cx="1512168" cy="1512168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>
                  <a:solidFill>
                    <a:schemeClr val="tx1"/>
                  </a:solidFill>
                </a:rPr>
                <a:t>A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Elipse 6"/>
            <p:cNvSpPr/>
            <p:nvPr/>
          </p:nvSpPr>
          <p:spPr>
            <a:xfrm>
              <a:off x="4355976" y="5157192"/>
              <a:ext cx="1512168" cy="1512168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>
                  <a:solidFill>
                    <a:schemeClr val="tx1"/>
                  </a:solidFill>
                </a:rPr>
                <a:t>B</a:t>
              </a:r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2859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Definições Básicas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Diferença de dois conjuntos </a:t>
            </a:r>
            <a:r>
              <a:rPr lang="pt-BR" i="1"/>
              <a:t>A</a:t>
            </a:r>
            <a:r>
              <a:rPr lang="pt-BR"/>
              <a:t> e </a:t>
            </a:r>
            <a:r>
              <a:rPr lang="pt-BR" i="1"/>
              <a:t>B</a:t>
            </a:r>
            <a:endParaRPr lang="pt-BR"/>
          </a:p>
          <a:p>
            <a:pPr lvl="1"/>
            <a:r>
              <a:rPr lang="pt-BR"/>
              <a:t>É o conjunto de pixels que pertencem a um, mas não ao outro</a:t>
            </a:r>
            <a:endParaRPr lang="en-US" i="1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918" y="4005064"/>
            <a:ext cx="2449513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503" y="4024114"/>
            <a:ext cx="2409825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930167"/>
              </p:ext>
            </p:extLst>
          </p:nvPr>
        </p:nvGraphicFramePr>
        <p:xfrm>
          <a:off x="2123728" y="3049141"/>
          <a:ext cx="4680390" cy="595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93900" imgH="254000" progId="Equation.3">
                  <p:embed/>
                </p:oleObj>
              </mc:Choice>
              <mc:Fallback>
                <p:oleObj name="Equation" r:id="rId4" imgW="1993900" imgH="2540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3049141"/>
                        <a:ext cx="4680390" cy="5958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4524BE9-883E-4A99-C6BD-3A88362B16C3}"/>
                  </a:ext>
                </a:extLst>
              </p14:cNvPr>
              <p14:cNvContentPartPr/>
              <p14:nvPr/>
            </p14:nvContentPartPr>
            <p14:xfrm>
              <a:off x="2225880" y="3524760"/>
              <a:ext cx="5400" cy="1260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4524BE9-883E-4A99-C6BD-3A88362B16C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16520" y="3515400"/>
                <a:ext cx="24120" cy="3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8499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Dilatação Binária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620888"/>
          </a:xfrm>
        </p:spPr>
        <p:txBody>
          <a:bodyPr>
            <a:normAutofit/>
          </a:bodyPr>
          <a:lstStyle/>
          <a:p>
            <a:r>
              <a:rPr lang="pt-BR"/>
              <a:t>A dilatação é uma transformação morfológica que combina dois conjuntos usando adição vetorial</a:t>
            </a:r>
          </a:p>
          <a:p>
            <a:pPr lvl="1"/>
            <a:r>
              <a:rPr lang="pt-BR"/>
              <a:t>Como o seu nome diz, o resultado será uma imagem “engordada”</a:t>
            </a:r>
          </a:p>
          <a:p>
            <a:r>
              <a:rPr lang="pt-BR"/>
              <a:t>Aplicação: Preenchimento de espaço (</a:t>
            </a:r>
            <a:r>
              <a:rPr lang="pt-BR" i="1"/>
              <a:t>gap </a:t>
            </a:r>
            <a:r>
              <a:rPr lang="pt-BR" i="1" err="1"/>
              <a:t>filling</a:t>
            </a:r>
            <a:r>
              <a:rPr lang="pt-BR"/>
              <a:t>)</a:t>
            </a:r>
            <a:endParaRPr lang="en-US"/>
          </a:p>
        </p:txBody>
      </p:sp>
      <p:pic>
        <p:nvPicPr>
          <p:cNvPr id="5734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875487"/>
            <a:ext cx="5616624" cy="295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8221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Dilatação Binária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A dilatação de </a:t>
            </a:r>
            <a:r>
              <a:rPr lang="pt-BR" i="1"/>
              <a:t>A</a:t>
            </a:r>
            <a:r>
              <a:rPr lang="pt-BR"/>
              <a:t> por </a:t>
            </a:r>
            <a:r>
              <a:rPr lang="pt-BR" i="1"/>
              <a:t>B</a:t>
            </a:r>
            <a:r>
              <a:rPr lang="pt-BR"/>
              <a:t> é definida como</a:t>
            </a:r>
          </a:p>
          <a:p>
            <a:endParaRPr lang="pt-BR"/>
          </a:p>
          <a:p>
            <a:endParaRPr lang="pt-BR"/>
          </a:p>
          <a:p>
            <a:r>
              <a:rPr lang="pt-BR"/>
              <a:t>Onde</a:t>
            </a:r>
          </a:p>
          <a:p>
            <a:pPr lvl="1"/>
            <a:r>
              <a:rPr lang="pt-BR" i="1"/>
              <a:t>A</a:t>
            </a:r>
            <a:r>
              <a:rPr lang="pt-BR"/>
              <a:t> e </a:t>
            </a:r>
            <a:r>
              <a:rPr lang="pt-BR" i="1"/>
              <a:t>B</a:t>
            </a:r>
            <a:r>
              <a:rPr lang="pt-BR"/>
              <a:t> são conjuntos de </a:t>
            </a:r>
            <a:r>
              <a:rPr lang="pt-BR" i="1"/>
              <a:t>Z</a:t>
            </a:r>
            <a:r>
              <a:rPr lang="pt-BR" i="1" baseline="30000"/>
              <a:t>2</a:t>
            </a:r>
            <a:r>
              <a:rPr lang="pt-BR"/>
              <a:t> (imagens binárias)</a:t>
            </a:r>
          </a:p>
          <a:p>
            <a:pPr lvl="1"/>
            <a:r>
              <a:rPr lang="pt-BR" i="1"/>
              <a:t>A</a:t>
            </a:r>
            <a:r>
              <a:rPr lang="pt-BR"/>
              <a:t> é a imagem sendo operada</a:t>
            </a:r>
          </a:p>
          <a:p>
            <a:pPr lvl="1"/>
            <a:r>
              <a:rPr lang="pt-BR" i="1"/>
              <a:t>B</a:t>
            </a:r>
            <a:r>
              <a:rPr lang="pt-BR"/>
              <a:t> é chamado de </a:t>
            </a:r>
            <a:r>
              <a:rPr lang="pt-BR" b="1"/>
              <a:t>Elemento Estruturante</a:t>
            </a:r>
          </a:p>
          <a:p>
            <a:pPr lvl="2"/>
            <a:r>
              <a:rPr lang="pt-BR"/>
              <a:t>Sua natureza define como a dilatação irá ocorrer</a:t>
            </a:r>
          </a:p>
          <a:p>
            <a:pPr lvl="1"/>
            <a:endParaRPr lang="en-US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1624800"/>
              </p:ext>
            </p:extLst>
          </p:nvPr>
        </p:nvGraphicFramePr>
        <p:xfrm>
          <a:off x="1798339" y="2420888"/>
          <a:ext cx="5942013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2463480" imgH="253800" progId="Equation.3">
                  <p:embed/>
                </p:oleObj>
              </mc:Choice>
              <mc:Fallback>
                <p:oleObj name="Equação" r:id="rId2" imgW="2463480" imgH="2538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8339" y="2420888"/>
                        <a:ext cx="5942013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651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Dilatação Binária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A dilatação de </a:t>
            </a:r>
            <a:r>
              <a:rPr lang="pt-BR" i="1"/>
              <a:t>A</a:t>
            </a:r>
            <a:r>
              <a:rPr lang="pt-BR"/>
              <a:t> por </a:t>
            </a:r>
            <a:r>
              <a:rPr lang="pt-BR" i="1"/>
              <a:t>B</a:t>
            </a:r>
            <a:r>
              <a:rPr lang="pt-BR"/>
              <a:t> é definida como </a:t>
            </a:r>
          </a:p>
          <a:p>
            <a:endParaRPr lang="pt-BR"/>
          </a:p>
          <a:p>
            <a:endParaRPr lang="pt-BR"/>
          </a:p>
          <a:p>
            <a:r>
              <a:rPr lang="pt-BR"/>
              <a:t>A dilatação é o conjunto de todos os deslocamentos </a:t>
            </a:r>
            <a:r>
              <a:rPr lang="pt-BR" b="1" i="1"/>
              <a:t>c</a:t>
            </a:r>
            <a:r>
              <a:rPr lang="pt-BR"/>
              <a:t> tais que </a:t>
            </a:r>
            <a:r>
              <a:rPr lang="pt-BR" i="1"/>
              <a:t>A</a:t>
            </a:r>
            <a:r>
              <a:rPr lang="pt-BR"/>
              <a:t> sobreponha-se em pelo menos um elemento não nulo (fundo / background da imagem)</a:t>
            </a:r>
          </a:p>
          <a:p>
            <a:pPr lvl="1"/>
            <a:r>
              <a:rPr lang="pt-BR"/>
              <a:t>Elemento não nulo: fundo/background da imagem</a:t>
            </a:r>
            <a:endParaRPr lang="en-US"/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1624800"/>
              </p:ext>
            </p:extLst>
          </p:nvPr>
        </p:nvGraphicFramePr>
        <p:xfrm>
          <a:off x="1798638" y="2420938"/>
          <a:ext cx="5942012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2463480" imgH="253800" progId="Equation.3">
                  <p:embed/>
                </p:oleObj>
              </mc:Choice>
              <mc:Fallback>
                <p:oleObj name="Equação" r:id="rId2" imgW="2463480" imgH="253800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8638" y="2420938"/>
                        <a:ext cx="5942012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7099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Dilatação Binária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Exemplo</a:t>
            </a:r>
          </a:p>
          <a:p>
            <a:pPr lvl="1"/>
            <a:r>
              <a:rPr lang="pt-BR"/>
              <a:t>Dado a imagem </a:t>
            </a:r>
            <a:r>
              <a:rPr lang="pt-BR" i="1"/>
              <a:t>A</a:t>
            </a:r>
            <a:r>
              <a:rPr lang="pt-BR"/>
              <a:t> e o elemento estruturante </a:t>
            </a:r>
            <a:r>
              <a:rPr lang="pt-BR" i="1"/>
              <a:t>B</a:t>
            </a:r>
            <a:r>
              <a:rPr lang="pt-BR"/>
              <a:t>, calcular </a:t>
            </a:r>
            <a:endParaRPr lang="en-US"/>
          </a:p>
        </p:txBody>
      </p:sp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2205608" y="4309700"/>
            <a:ext cx="1219200" cy="1143000"/>
            <a:chOff x="4080" y="7650"/>
            <a:chExt cx="680" cy="680"/>
          </a:xfrm>
        </p:grpSpPr>
        <p:sp>
          <p:nvSpPr>
            <p:cNvPr id="5" name="Rectangle 7"/>
            <p:cNvSpPr>
              <a:spLocks noChangeArrowheads="1"/>
            </p:cNvSpPr>
            <p:nvPr/>
          </p:nvSpPr>
          <p:spPr bwMode="auto">
            <a:xfrm>
              <a:off x="4080" y="7650"/>
              <a:ext cx="680" cy="6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Oval 8"/>
            <p:cNvSpPr>
              <a:spLocks noChangeArrowheads="1"/>
            </p:cNvSpPr>
            <p:nvPr/>
          </p:nvSpPr>
          <p:spPr bwMode="auto">
            <a:xfrm flipV="1">
              <a:off x="408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Oval 9"/>
            <p:cNvSpPr>
              <a:spLocks noChangeArrowheads="1"/>
            </p:cNvSpPr>
            <p:nvPr/>
          </p:nvSpPr>
          <p:spPr bwMode="auto">
            <a:xfrm flipV="1">
              <a:off x="425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Oval 10"/>
            <p:cNvSpPr>
              <a:spLocks noChangeArrowheads="1"/>
            </p:cNvSpPr>
            <p:nvPr/>
          </p:nvSpPr>
          <p:spPr bwMode="auto">
            <a:xfrm flipV="1">
              <a:off x="442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11"/>
            <p:cNvSpPr>
              <a:spLocks noChangeArrowheads="1"/>
            </p:cNvSpPr>
            <p:nvPr/>
          </p:nvSpPr>
          <p:spPr bwMode="auto">
            <a:xfrm flipV="1">
              <a:off x="459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12"/>
            <p:cNvSpPr>
              <a:spLocks noChangeArrowheads="1"/>
            </p:cNvSpPr>
            <p:nvPr/>
          </p:nvSpPr>
          <p:spPr bwMode="auto">
            <a:xfrm flipV="1">
              <a:off x="408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13"/>
            <p:cNvSpPr>
              <a:spLocks noChangeArrowheads="1"/>
            </p:cNvSpPr>
            <p:nvPr/>
          </p:nvSpPr>
          <p:spPr bwMode="auto">
            <a:xfrm flipV="1">
              <a:off x="425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4"/>
            <p:cNvSpPr>
              <a:spLocks noChangeArrowheads="1"/>
            </p:cNvSpPr>
            <p:nvPr/>
          </p:nvSpPr>
          <p:spPr bwMode="auto">
            <a:xfrm flipV="1">
              <a:off x="442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Oval 15"/>
            <p:cNvSpPr>
              <a:spLocks noChangeArrowheads="1"/>
            </p:cNvSpPr>
            <p:nvPr/>
          </p:nvSpPr>
          <p:spPr bwMode="auto">
            <a:xfrm flipV="1">
              <a:off x="459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Oval 16"/>
            <p:cNvSpPr>
              <a:spLocks noChangeArrowheads="1"/>
            </p:cNvSpPr>
            <p:nvPr/>
          </p:nvSpPr>
          <p:spPr bwMode="auto">
            <a:xfrm flipV="1">
              <a:off x="425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Oval 17"/>
            <p:cNvSpPr>
              <a:spLocks noChangeArrowheads="1"/>
            </p:cNvSpPr>
            <p:nvPr/>
          </p:nvSpPr>
          <p:spPr bwMode="auto">
            <a:xfrm flipV="1">
              <a:off x="442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Oval 18"/>
            <p:cNvSpPr>
              <a:spLocks noChangeArrowheads="1"/>
            </p:cNvSpPr>
            <p:nvPr/>
          </p:nvSpPr>
          <p:spPr bwMode="auto">
            <a:xfrm flipV="1">
              <a:off x="459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Oval 19"/>
            <p:cNvSpPr>
              <a:spLocks noChangeArrowheads="1"/>
            </p:cNvSpPr>
            <p:nvPr/>
          </p:nvSpPr>
          <p:spPr bwMode="auto">
            <a:xfrm flipV="1">
              <a:off x="408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Oval 20"/>
            <p:cNvSpPr>
              <a:spLocks noChangeArrowheads="1"/>
            </p:cNvSpPr>
            <p:nvPr/>
          </p:nvSpPr>
          <p:spPr bwMode="auto">
            <a:xfrm flipV="1">
              <a:off x="425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Oval 21"/>
            <p:cNvSpPr>
              <a:spLocks noChangeArrowheads="1"/>
            </p:cNvSpPr>
            <p:nvPr/>
          </p:nvSpPr>
          <p:spPr bwMode="auto">
            <a:xfrm flipV="1">
              <a:off x="442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22"/>
            <p:cNvSpPr>
              <a:spLocks noChangeArrowheads="1"/>
            </p:cNvSpPr>
            <p:nvPr/>
          </p:nvSpPr>
          <p:spPr bwMode="auto">
            <a:xfrm flipV="1">
              <a:off x="459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AutoShape 23"/>
            <p:cNvSpPr>
              <a:spLocks noChangeArrowheads="1"/>
            </p:cNvSpPr>
            <p:nvPr/>
          </p:nvSpPr>
          <p:spPr bwMode="auto">
            <a:xfrm>
              <a:off x="4080" y="7650"/>
              <a:ext cx="169" cy="169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4"/>
          <p:cNvGrpSpPr>
            <a:grpSpLocks/>
          </p:cNvGrpSpPr>
          <p:nvPr/>
        </p:nvGrpSpPr>
        <p:grpSpPr bwMode="auto">
          <a:xfrm>
            <a:off x="6609308" y="4385900"/>
            <a:ext cx="660400" cy="304800"/>
            <a:chOff x="7480" y="6750"/>
            <a:chExt cx="340" cy="170"/>
          </a:xfrm>
        </p:grpSpPr>
        <p:sp>
          <p:nvSpPr>
            <p:cNvPr id="23" name="Rectangle 25"/>
            <p:cNvSpPr>
              <a:spLocks noChangeArrowheads="1"/>
            </p:cNvSpPr>
            <p:nvPr/>
          </p:nvSpPr>
          <p:spPr bwMode="auto">
            <a:xfrm>
              <a:off x="7480" y="6750"/>
              <a:ext cx="340" cy="1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Oval 26"/>
            <p:cNvSpPr>
              <a:spLocks noChangeArrowheads="1"/>
            </p:cNvSpPr>
            <p:nvPr/>
          </p:nvSpPr>
          <p:spPr bwMode="auto">
            <a:xfrm>
              <a:off x="7650" y="6750"/>
              <a:ext cx="170" cy="17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AutoShape 27"/>
            <p:cNvSpPr>
              <a:spLocks noChangeArrowheads="1"/>
            </p:cNvSpPr>
            <p:nvPr/>
          </p:nvSpPr>
          <p:spPr bwMode="auto">
            <a:xfrm>
              <a:off x="7480" y="6750"/>
              <a:ext cx="170" cy="170"/>
            </a:xfrm>
            <a:prstGeom prst="flowChartSummingJunction">
              <a:avLst/>
            </a:prstGeom>
            <a:solidFill>
              <a:srgbClr val="000000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 Box 29"/>
          <p:cNvSpPr txBox="1">
            <a:spLocks noChangeArrowheads="1"/>
          </p:cNvSpPr>
          <p:nvPr/>
        </p:nvSpPr>
        <p:spPr bwMode="auto">
          <a:xfrm>
            <a:off x="1346448" y="3700100"/>
            <a:ext cx="29375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A = {(1,1),(1,2),(2,1),(2,2)}</a:t>
            </a:r>
            <a:r>
              <a:rPr lang="pt-BR"/>
              <a:t> </a:t>
            </a:r>
          </a:p>
        </p:txBody>
      </p:sp>
      <p:sp>
        <p:nvSpPr>
          <p:cNvPr id="27" name="Text Box 31"/>
          <p:cNvSpPr txBox="1">
            <a:spLocks noChangeArrowheads="1"/>
          </p:cNvSpPr>
          <p:nvPr/>
        </p:nvSpPr>
        <p:spPr bwMode="auto">
          <a:xfrm>
            <a:off x="5994648" y="3700100"/>
            <a:ext cx="18897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B = {(0,0),(0,1)}</a:t>
            </a:r>
            <a:r>
              <a:rPr lang="pt-BR"/>
              <a:t> </a:t>
            </a:r>
          </a:p>
        </p:txBody>
      </p:sp>
      <p:sp>
        <p:nvSpPr>
          <p:cNvPr id="28" name="Text Box 32"/>
          <p:cNvSpPr txBox="1">
            <a:spLocks noChangeArrowheads="1"/>
          </p:cNvSpPr>
          <p:nvPr/>
        </p:nvSpPr>
        <p:spPr bwMode="auto">
          <a:xfrm>
            <a:off x="5892306" y="5147900"/>
            <a:ext cx="941283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/>
              <a:t>Origem</a:t>
            </a:r>
          </a:p>
        </p:txBody>
      </p:sp>
      <p:sp>
        <p:nvSpPr>
          <p:cNvPr id="29" name="Line 33"/>
          <p:cNvSpPr>
            <a:spLocks noChangeShapeType="1"/>
          </p:cNvSpPr>
          <p:nvPr/>
        </p:nvSpPr>
        <p:spPr bwMode="auto">
          <a:xfrm flipV="1">
            <a:off x="6604249" y="4737484"/>
            <a:ext cx="170160" cy="410416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30" name="Objeto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0398496"/>
              </p:ext>
            </p:extLst>
          </p:nvPr>
        </p:nvGraphicFramePr>
        <p:xfrm>
          <a:off x="2483768" y="2568327"/>
          <a:ext cx="10096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419040" imgH="177480" progId="Equation.3">
                  <p:embed/>
                </p:oleObj>
              </mc:Choice>
              <mc:Fallback>
                <p:oleObj name="Equação" r:id="rId2" imgW="419040" imgH="177480" progId="Equation.3">
                  <p:embed/>
                  <p:pic>
                    <p:nvPicPr>
                      <p:cNvPr id="30" name="Objeto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2568327"/>
                        <a:ext cx="100965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2240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Dilatação Binária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Exemplo</a:t>
            </a:r>
            <a:endParaRPr lang="en-US"/>
          </a:p>
        </p:txBody>
      </p:sp>
      <p:graphicFrame>
        <p:nvGraphicFramePr>
          <p:cNvPr id="3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710718"/>
              </p:ext>
            </p:extLst>
          </p:nvPr>
        </p:nvGraphicFramePr>
        <p:xfrm>
          <a:off x="996809" y="2132856"/>
          <a:ext cx="50038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2600" imgH="215640" progId="Equation.3">
                  <p:embed/>
                </p:oleObj>
              </mc:Choice>
              <mc:Fallback>
                <p:oleObj name="Equation" r:id="rId2" imgW="2082600" imgH="215640" progId="Equation.3">
                  <p:embed/>
                  <p:pic>
                    <p:nvPicPr>
                      <p:cNvPr id="3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809" y="2132856"/>
                        <a:ext cx="50038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5"/>
          <p:cNvSpPr txBox="1">
            <a:spLocks noChangeArrowheads="1"/>
          </p:cNvSpPr>
          <p:nvPr/>
        </p:nvSpPr>
        <p:spPr bwMode="auto">
          <a:xfrm>
            <a:off x="914400" y="4293096"/>
            <a:ext cx="38736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{A + [(0,0)]} = {(1,1),(1,2),(2,1),(2,2)} </a:t>
            </a:r>
          </a:p>
        </p:txBody>
      </p:sp>
      <p:sp>
        <p:nvSpPr>
          <p:cNvPr id="33" name="Text Box 6"/>
          <p:cNvSpPr txBox="1">
            <a:spLocks noChangeArrowheads="1"/>
          </p:cNvSpPr>
          <p:nvPr/>
        </p:nvSpPr>
        <p:spPr bwMode="auto">
          <a:xfrm>
            <a:off x="914400" y="3033960"/>
            <a:ext cx="29136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A = {(1,1),(1,2),(2,1),(2,2)}</a:t>
            </a:r>
            <a:r>
              <a:rPr lang="pt-BR"/>
              <a:t> </a:t>
            </a:r>
          </a:p>
        </p:txBody>
      </p:sp>
      <p:grpSp>
        <p:nvGrpSpPr>
          <p:cNvPr id="34" name="Group 7"/>
          <p:cNvGrpSpPr>
            <a:grpSpLocks/>
          </p:cNvGrpSpPr>
          <p:nvPr/>
        </p:nvGrpSpPr>
        <p:grpSpPr bwMode="auto">
          <a:xfrm>
            <a:off x="4943971" y="4978896"/>
            <a:ext cx="1365250" cy="1270000"/>
            <a:chOff x="4080" y="7650"/>
            <a:chExt cx="680" cy="680"/>
          </a:xfrm>
        </p:grpSpPr>
        <p:sp>
          <p:nvSpPr>
            <p:cNvPr id="35" name="Rectangle 8"/>
            <p:cNvSpPr>
              <a:spLocks noChangeArrowheads="1"/>
            </p:cNvSpPr>
            <p:nvPr/>
          </p:nvSpPr>
          <p:spPr bwMode="auto">
            <a:xfrm>
              <a:off x="4080" y="7650"/>
              <a:ext cx="680" cy="6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Oval 9"/>
            <p:cNvSpPr>
              <a:spLocks noChangeArrowheads="1"/>
            </p:cNvSpPr>
            <p:nvPr/>
          </p:nvSpPr>
          <p:spPr bwMode="auto">
            <a:xfrm flipV="1">
              <a:off x="408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Oval 10"/>
            <p:cNvSpPr>
              <a:spLocks noChangeArrowheads="1"/>
            </p:cNvSpPr>
            <p:nvPr/>
          </p:nvSpPr>
          <p:spPr bwMode="auto">
            <a:xfrm flipV="1">
              <a:off x="425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Oval 11"/>
            <p:cNvSpPr>
              <a:spLocks noChangeArrowheads="1"/>
            </p:cNvSpPr>
            <p:nvPr/>
          </p:nvSpPr>
          <p:spPr bwMode="auto">
            <a:xfrm flipV="1">
              <a:off x="442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Oval 12"/>
            <p:cNvSpPr>
              <a:spLocks noChangeArrowheads="1"/>
            </p:cNvSpPr>
            <p:nvPr/>
          </p:nvSpPr>
          <p:spPr bwMode="auto">
            <a:xfrm flipV="1">
              <a:off x="459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Oval 13"/>
            <p:cNvSpPr>
              <a:spLocks noChangeArrowheads="1"/>
            </p:cNvSpPr>
            <p:nvPr/>
          </p:nvSpPr>
          <p:spPr bwMode="auto">
            <a:xfrm flipV="1">
              <a:off x="408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14"/>
            <p:cNvSpPr>
              <a:spLocks noChangeArrowheads="1"/>
            </p:cNvSpPr>
            <p:nvPr/>
          </p:nvSpPr>
          <p:spPr bwMode="auto">
            <a:xfrm flipV="1">
              <a:off x="425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Oval 15"/>
            <p:cNvSpPr>
              <a:spLocks noChangeArrowheads="1"/>
            </p:cNvSpPr>
            <p:nvPr/>
          </p:nvSpPr>
          <p:spPr bwMode="auto">
            <a:xfrm flipV="1">
              <a:off x="442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Oval 16"/>
            <p:cNvSpPr>
              <a:spLocks noChangeArrowheads="1"/>
            </p:cNvSpPr>
            <p:nvPr/>
          </p:nvSpPr>
          <p:spPr bwMode="auto">
            <a:xfrm flipV="1">
              <a:off x="459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Oval 17"/>
            <p:cNvSpPr>
              <a:spLocks noChangeArrowheads="1"/>
            </p:cNvSpPr>
            <p:nvPr/>
          </p:nvSpPr>
          <p:spPr bwMode="auto">
            <a:xfrm flipV="1">
              <a:off x="425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Oval 18"/>
            <p:cNvSpPr>
              <a:spLocks noChangeArrowheads="1"/>
            </p:cNvSpPr>
            <p:nvPr/>
          </p:nvSpPr>
          <p:spPr bwMode="auto">
            <a:xfrm flipV="1">
              <a:off x="442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Oval 19"/>
            <p:cNvSpPr>
              <a:spLocks noChangeArrowheads="1"/>
            </p:cNvSpPr>
            <p:nvPr/>
          </p:nvSpPr>
          <p:spPr bwMode="auto">
            <a:xfrm flipV="1">
              <a:off x="459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Oval 20"/>
            <p:cNvSpPr>
              <a:spLocks noChangeArrowheads="1"/>
            </p:cNvSpPr>
            <p:nvPr/>
          </p:nvSpPr>
          <p:spPr bwMode="auto">
            <a:xfrm flipV="1">
              <a:off x="408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Oval 21"/>
            <p:cNvSpPr>
              <a:spLocks noChangeArrowheads="1"/>
            </p:cNvSpPr>
            <p:nvPr/>
          </p:nvSpPr>
          <p:spPr bwMode="auto">
            <a:xfrm flipV="1">
              <a:off x="425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Oval 22"/>
            <p:cNvSpPr>
              <a:spLocks noChangeArrowheads="1"/>
            </p:cNvSpPr>
            <p:nvPr/>
          </p:nvSpPr>
          <p:spPr bwMode="auto">
            <a:xfrm flipV="1">
              <a:off x="442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Oval 23"/>
            <p:cNvSpPr>
              <a:spLocks noChangeArrowheads="1"/>
            </p:cNvSpPr>
            <p:nvPr/>
          </p:nvSpPr>
          <p:spPr bwMode="auto">
            <a:xfrm flipV="1">
              <a:off x="459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AutoShape 24"/>
            <p:cNvSpPr>
              <a:spLocks noChangeArrowheads="1"/>
            </p:cNvSpPr>
            <p:nvPr/>
          </p:nvSpPr>
          <p:spPr bwMode="auto">
            <a:xfrm>
              <a:off x="4080" y="7650"/>
              <a:ext cx="169" cy="169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2" name="Text Box 25"/>
          <p:cNvSpPr txBox="1">
            <a:spLocks noChangeArrowheads="1"/>
          </p:cNvSpPr>
          <p:nvPr/>
        </p:nvSpPr>
        <p:spPr bwMode="auto">
          <a:xfrm>
            <a:off x="1475656" y="4750296"/>
            <a:ext cx="2819400" cy="1778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(1,1) + (0,0) = (1,1) </a:t>
            </a:r>
          </a:p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(1,2) + (0,0) = (1,2) </a:t>
            </a:r>
          </a:p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(2,1) + (0,0) = (2,1) </a:t>
            </a:r>
          </a:p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(2,2) + (0,0) = (2,2)</a:t>
            </a:r>
            <a:endParaRPr lang="pt-BR" sz="2000"/>
          </a:p>
        </p:txBody>
      </p:sp>
      <p:sp>
        <p:nvSpPr>
          <p:cNvPr id="53" name="Text Box 26"/>
          <p:cNvSpPr txBox="1">
            <a:spLocks noChangeArrowheads="1"/>
          </p:cNvSpPr>
          <p:nvPr/>
        </p:nvSpPr>
        <p:spPr bwMode="auto">
          <a:xfrm>
            <a:off x="6477000" y="4978896"/>
            <a:ext cx="22860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A translação de qualquer pixel por  (0,0) não altera sua posição</a:t>
            </a:r>
            <a:r>
              <a:rPr lang="pt-BR" sz="2000"/>
              <a:t> </a:t>
            </a:r>
          </a:p>
        </p:txBody>
      </p:sp>
      <p:grpSp>
        <p:nvGrpSpPr>
          <p:cNvPr id="54" name="Group 27"/>
          <p:cNvGrpSpPr>
            <a:grpSpLocks/>
          </p:cNvGrpSpPr>
          <p:nvPr/>
        </p:nvGrpSpPr>
        <p:grpSpPr bwMode="auto">
          <a:xfrm>
            <a:off x="4943971" y="2786826"/>
            <a:ext cx="1365250" cy="1270000"/>
            <a:chOff x="4080" y="7650"/>
            <a:chExt cx="680" cy="680"/>
          </a:xfrm>
        </p:grpSpPr>
        <p:sp>
          <p:nvSpPr>
            <p:cNvPr id="55" name="Rectangle 28"/>
            <p:cNvSpPr>
              <a:spLocks noChangeArrowheads="1"/>
            </p:cNvSpPr>
            <p:nvPr/>
          </p:nvSpPr>
          <p:spPr bwMode="auto">
            <a:xfrm>
              <a:off x="4080" y="7650"/>
              <a:ext cx="680" cy="6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Oval 29"/>
            <p:cNvSpPr>
              <a:spLocks noChangeArrowheads="1"/>
            </p:cNvSpPr>
            <p:nvPr/>
          </p:nvSpPr>
          <p:spPr bwMode="auto">
            <a:xfrm flipV="1">
              <a:off x="408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Oval 30"/>
            <p:cNvSpPr>
              <a:spLocks noChangeArrowheads="1"/>
            </p:cNvSpPr>
            <p:nvPr/>
          </p:nvSpPr>
          <p:spPr bwMode="auto">
            <a:xfrm flipV="1">
              <a:off x="425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Oval 31"/>
            <p:cNvSpPr>
              <a:spLocks noChangeArrowheads="1"/>
            </p:cNvSpPr>
            <p:nvPr/>
          </p:nvSpPr>
          <p:spPr bwMode="auto">
            <a:xfrm flipV="1">
              <a:off x="442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Oval 32"/>
            <p:cNvSpPr>
              <a:spLocks noChangeArrowheads="1"/>
            </p:cNvSpPr>
            <p:nvPr/>
          </p:nvSpPr>
          <p:spPr bwMode="auto">
            <a:xfrm flipV="1">
              <a:off x="459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Oval 33"/>
            <p:cNvSpPr>
              <a:spLocks noChangeArrowheads="1"/>
            </p:cNvSpPr>
            <p:nvPr/>
          </p:nvSpPr>
          <p:spPr bwMode="auto">
            <a:xfrm flipV="1">
              <a:off x="408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Oval 34"/>
            <p:cNvSpPr>
              <a:spLocks noChangeArrowheads="1"/>
            </p:cNvSpPr>
            <p:nvPr/>
          </p:nvSpPr>
          <p:spPr bwMode="auto">
            <a:xfrm flipV="1">
              <a:off x="425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Oval 35"/>
            <p:cNvSpPr>
              <a:spLocks noChangeArrowheads="1"/>
            </p:cNvSpPr>
            <p:nvPr/>
          </p:nvSpPr>
          <p:spPr bwMode="auto">
            <a:xfrm flipV="1">
              <a:off x="442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Oval 36"/>
            <p:cNvSpPr>
              <a:spLocks noChangeArrowheads="1"/>
            </p:cNvSpPr>
            <p:nvPr/>
          </p:nvSpPr>
          <p:spPr bwMode="auto">
            <a:xfrm flipV="1">
              <a:off x="459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Oval 37"/>
            <p:cNvSpPr>
              <a:spLocks noChangeArrowheads="1"/>
            </p:cNvSpPr>
            <p:nvPr/>
          </p:nvSpPr>
          <p:spPr bwMode="auto">
            <a:xfrm flipV="1">
              <a:off x="425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Oval 38"/>
            <p:cNvSpPr>
              <a:spLocks noChangeArrowheads="1"/>
            </p:cNvSpPr>
            <p:nvPr/>
          </p:nvSpPr>
          <p:spPr bwMode="auto">
            <a:xfrm flipV="1">
              <a:off x="442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Oval 39"/>
            <p:cNvSpPr>
              <a:spLocks noChangeArrowheads="1"/>
            </p:cNvSpPr>
            <p:nvPr/>
          </p:nvSpPr>
          <p:spPr bwMode="auto">
            <a:xfrm flipV="1">
              <a:off x="459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Oval 40"/>
            <p:cNvSpPr>
              <a:spLocks noChangeArrowheads="1"/>
            </p:cNvSpPr>
            <p:nvPr/>
          </p:nvSpPr>
          <p:spPr bwMode="auto">
            <a:xfrm flipV="1">
              <a:off x="408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Oval 41"/>
            <p:cNvSpPr>
              <a:spLocks noChangeArrowheads="1"/>
            </p:cNvSpPr>
            <p:nvPr/>
          </p:nvSpPr>
          <p:spPr bwMode="auto">
            <a:xfrm flipV="1">
              <a:off x="425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Oval 42"/>
            <p:cNvSpPr>
              <a:spLocks noChangeArrowheads="1"/>
            </p:cNvSpPr>
            <p:nvPr/>
          </p:nvSpPr>
          <p:spPr bwMode="auto">
            <a:xfrm flipV="1">
              <a:off x="442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Oval 43"/>
            <p:cNvSpPr>
              <a:spLocks noChangeArrowheads="1"/>
            </p:cNvSpPr>
            <p:nvPr/>
          </p:nvSpPr>
          <p:spPr bwMode="auto">
            <a:xfrm flipV="1">
              <a:off x="459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AutoShape 44"/>
            <p:cNvSpPr>
              <a:spLocks noChangeArrowheads="1"/>
            </p:cNvSpPr>
            <p:nvPr/>
          </p:nvSpPr>
          <p:spPr bwMode="auto">
            <a:xfrm>
              <a:off x="4080" y="7650"/>
              <a:ext cx="169" cy="169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8147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Dilatação Binária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Exemplo</a:t>
            </a:r>
            <a:endParaRPr lang="en-US"/>
          </a:p>
        </p:txBody>
      </p:sp>
      <p:graphicFrame>
        <p:nvGraphicFramePr>
          <p:cNvPr id="3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030838"/>
              </p:ext>
            </p:extLst>
          </p:nvPr>
        </p:nvGraphicFramePr>
        <p:xfrm>
          <a:off x="996809" y="2132856"/>
          <a:ext cx="50038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2600" imgH="215640" progId="Equation.3">
                  <p:embed/>
                </p:oleObj>
              </mc:Choice>
              <mc:Fallback>
                <p:oleObj name="Equation" r:id="rId2" imgW="2082600" imgH="215640" progId="Equation.3">
                  <p:embed/>
                  <p:pic>
                    <p:nvPicPr>
                      <p:cNvPr id="3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809" y="2132856"/>
                        <a:ext cx="50038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6"/>
          <p:cNvSpPr txBox="1">
            <a:spLocks noChangeArrowheads="1"/>
          </p:cNvSpPr>
          <p:nvPr/>
        </p:nvSpPr>
        <p:spPr bwMode="auto">
          <a:xfrm>
            <a:off x="914400" y="3033960"/>
            <a:ext cx="29136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A = {(1,1),(1,2),(2,1),(2,2)}</a:t>
            </a:r>
            <a:r>
              <a:rPr lang="pt-BR"/>
              <a:t> </a:t>
            </a:r>
          </a:p>
        </p:txBody>
      </p:sp>
      <p:grpSp>
        <p:nvGrpSpPr>
          <p:cNvPr id="54" name="Group 27"/>
          <p:cNvGrpSpPr>
            <a:grpSpLocks/>
          </p:cNvGrpSpPr>
          <p:nvPr/>
        </p:nvGrpSpPr>
        <p:grpSpPr bwMode="auto">
          <a:xfrm>
            <a:off x="4906458" y="2768292"/>
            <a:ext cx="1365250" cy="1270000"/>
            <a:chOff x="4080" y="7650"/>
            <a:chExt cx="680" cy="680"/>
          </a:xfrm>
        </p:grpSpPr>
        <p:sp>
          <p:nvSpPr>
            <p:cNvPr id="55" name="Rectangle 28"/>
            <p:cNvSpPr>
              <a:spLocks noChangeArrowheads="1"/>
            </p:cNvSpPr>
            <p:nvPr/>
          </p:nvSpPr>
          <p:spPr bwMode="auto">
            <a:xfrm>
              <a:off x="4080" y="7650"/>
              <a:ext cx="680" cy="6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Oval 29"/>
            <p:cNvSpPr>
              <a:spLocks noChangeArrowheads="1"/>
            </p:cNvSpPr>
            <p:nvPr/>
          </p:nvSpPr>
          <p:spPr bwMode="auto">
            <a:xfrm flipV="1">
              <a:off x="408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Oval 30"/>
            <p:cNvSpPr>
              <a:spLocks noChangeArrowheads="1"/>
            </p:cNvSpPr>
            <p:nvPr/>
          </p:nvSpPr>
          <p:spPr bwMode="auto">
            <a:xfrm flipV="1">
              <a:off x="425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Oval 31"/>
            <p:cNvSpPr>
              <a:spLocks noChangeArrowheads="1"/>
            </p:cNvSpPr>
            <p:nvPr/>
          </p:nvSpPr>
          <p:spPr bwMode="auto">
            <a:xfrm flipV="1">
              <a:off x="442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Oval 32"/>
            <p:cNvSpPr>
              <a:spLocks noChangeArrowheads="1"/>
            </p:cNvSpPr>
            <p:nvPr/>
          </p:nvSpPr>
          <p:spPr bwMode="auto">
            <a:xfrm flipV="1">
              <a:off x="459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Oval 33"/>
            <p:cNvSpPr>
              <a:spLocks noChangeArrowheads="1"/>
            </p:cNvSpPr>
            <p:nvPr/>
          </p:nvSpPr>
          <p:spPr bwMode="auto">
            <a:xfrm flipV="1">
              <a:off x="408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Oval 34"/>
            <p:cNvSpPr>
              <a:spLocks noChangeArrowheads="1"/>
            </p:cNvSpPr>
            <p:nvPr/>
          </p:nvSpPr>
          <p:spPr bwMode="auto">
            <a:xfrm flipV="1">
              <a:off x="425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Oval 35"/>
            <p:cNvSpPr>
              <a:spLocks noChangeArrowheads="1"/>
            </p:cNvSpPr>
            <p:nvPr/>
          </p:nvSpPr>
          <p:spPr bwMode="auto">
            <a:xfrm flipV="1">
              <a:off x="442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Oval 36"/>
            <p:cNvSpPr>
              <a:spLocks noChangeArrowheads="1"/>
            </p:cNvSpPr>
            <p:nvPr/>
          </p:nvSpPr>
          <p:spPr bwMode="auto">
            <a:xfrm flipV="1">
              <a:off x="459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Oval 37"/>
            <p:cNvSpPr>
              <a:spLocks noChangeArrowheads="1"/>
            </p:cNvSpPr>
            <p:nvPr/>
          </p:nvSpPr>
          <p:spPr bwMode="auto">
            <a:xfrm flipV="1">
              <a:off x="425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Oval 38"/>
            <p:cNvSpPr>
              <a:spLocks noChangeArrowheads="1"/>
            </p:cNvSpPr>
            <p:nvPr/>
          </p:nvSpPr>
          <p:spPr bwMode="auto">
            <a:xfrm flipV="1">
              <a:off x="442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Oval 39"/>
            <p:cNvSpPr>
              <a:spLocks noChangeArrowheads="1"/>
            </p:cNvSpPr>
            <p:nvPr/>
          </p:nvSpPr>
          <p:spPr bwMode="auto">
            <a:xfrm flipV="1">
              <a:off x="459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Oval 40"/>
            <p:cNvSpPr>
              <a:spLocks noChangeArrowheads="1"/>
            </p:cNvSpPr>
            <p:nvPr/>
          </p:nvSpPr>
          <p:spPr bwMode="auto">
            <a:xfrm flipV="1">
              <a:off x="408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Oval 41"/>
            <p:cNvSpPr>
              <a:spLocks noChangeArrowheads="1"/>
            </p:cNvSpPr>
            <p:nvPr/>
          </p:nvSpPr>
          <p:spPr bwMode="auto">
            <a:xfrm flipV="1">
              <a:off x="425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Oval 42"/>
            <p:cNvSpPr>
              <a:spLocks noChangeArrowheads="1"/>
            </p:cNvSpPr>
            <p:nvPr/>
          </p:nvSpPr>
          <p:spPr bwMode="auto">
            <a:xfrm flipV="1">
              <a:off x="442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Oval 43"/>
            <p:cNvSpPr>
              <a:spLocks noChangeArrowheads="1"/>
            </p:cNvSpPr>
            <p:nvPr/>
          </p:nvSpPr>
          <p:spPr bwMode="auto">
            <a:xfrm flipV="1">
              <a:off x="459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AutoShape 44"/>
            <p:cNvSpPr>
              <a:spLocks noChangeArrowheads="1"/>
            </p:cNvSpPr>
            <p:nvPr/>
          </p:nvSpPr>
          <p:spPr bwMode="auto">
            <a:xfrm>
              <a:off x="4080" y="7650"/>
              <a:ext cx="169" cy="169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" name="Text Box 45"/>
          <p:cNvSpPr txBox="1">
            <a:spLocks noChangeArrowheads="1"/>
          </p:cNvSpPr>
          <p:nvPr/>
        </p:nvSpPr>
        <p:spPr bwMode="auto">
          <a:xfrm>
            <a:off x="914400" y="4293096"/>
            <a:ext cx="3886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{A + [(0,1)]} = {(1,2),(2,2),(1,3),(2,3)}</a:t>
            </a:r>
            <a:r>
              <a:rPr lang="pt-BR"/>
              <a:t> </a:t>
            </a:r>
          </a:p>
        </p:txBody>
      </p:sp>
      <p:sp>
        <p:nvSpPr>
          <p:cNvPr id="73" name="Text Box 46"/>
          <p:cNvSpPr txBox="1">
            <a:spLocks noChangeArrowheads="1"/>
          </p:cNvSpPr>
          <p:nvPr/>
        </p:nvSpPr>
        <p:spPr bwMode="auto">
          <a:xfrm>
            <a:off x="1464568" y="4747344"/>
            <a:ext cx="2819400" cy="1778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(1,1) + (0,1) = (1,2)</a:t>
            </a:r>
          </a:p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(1,2) + (0,1) = (1,3)</a:t>
            </a:r>
          </a:p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(2,1) + (0,1) = (2,2)</a:t>
            </a:r>
          </a:p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(2,2) + (0,1) = (2,3) </a:t>
            </a:r>
          </a:p>
        </p:txBody>
      </p:sp>
      <p:grpSp>
        <p:nvGrpSpPr>
          <p:cNvPr id="74" name="Group 47"/>
          <p:cNvGrpSpPr>
            <a:grpSpLocks/>
          </p:cNvGrpSpPr>
          <p:nvPr/>
        </p:nvGrpSpPr>
        <p:grpSpPr bwMode="auto">
          <a:xfrm>
            <a:off x="4932040" y="4941168"/>
            <a:ext cx="1371600" cy="1270000"/>
            <a:chOff x="4930" y="12070"/>
            <a:chExt cx="680" cy="680"/>
          </a:xfrm>
        </p:grpSpPr>
        <p:sp>
          <p:nvSpPr>
            <p:cNvPr id="75" name="Rectangle 48"/>
            <p:cNvSpPr>
              <a:spLocks noChangeArrowheads="1"/>
            </p:cNvSpPr>
            <p:nvPr/>
          </p:nvSpPr>
          <p:spPr bwMode="auto">
            <a:xfrm>
              <a:off x="4930" y="12070"/>
              <a:ext cx="680" cy="6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Oval 49"/>
            <p:cNvSpPr>
              <a:spLocks noChangeArrowheads="1"/>
            </p:cNvSpPr>
            <p:nvPr/>
          </p:nvSpPr>
          <p:spPr bwMode="auto">
            <a:xfrm flipV="1">
              <a:off x="4930" y="1241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Oval 50"/>
            <p:cNvSpPr>
              <a:spLocks noChangeArrowheads="1"/>
            </p:cNvSpPr>
            <p:nvPr/>
          </p:nvSpPr>
          <p:spPr bwMode="auto">
            <a:xfrm flipV="1">
              <a:off x="5100" y="1207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Oval 51"/>
            <p:cNvSpPr>
              <a:spLocks noChangeArrowheads="1"/>
            </p:cNvSpPr>
            <p:nvPr/>
          </p:nvSpPr>
          <p:spPr bwMode="auto">
            <a:xfrm flipV="1">
              <a:off x="5270" y="1207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Oval 52"/>
            <p:cNvSpPr>
              <a:spLocks noChangeArrowheads="1"/>
            </p:cNvSpPr>
            <p:nvPr/>
          </p:nvSpPr>
          <p:spPr bwMode="auto">
            <a:xfrm flipV="1">
              <a:off x="5440" y="1207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Oval 53"/>
            <p:cNvSpPr>
              <a:spLocks noChangeArrowheads="1"/>
            </p:cNvSpPr>
            <p:nvPr/>
          </p:nvSpPr>
          <p:spPr bwMode="auto">
            <a:xfrm flipV="1">
              <a:off x="4930" y="1224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Oval 54"/>
            <p:cNvSpPr>
              <a:spLocks noChangeArrowheads="1"/>
            </p:cNvSpPr>
            <p:nvPr/>
          </p:nvSpPr>
          <p:spPr bwMode="auto">
            <a:xfrm flipV="1">
              <a:off x="5440" y="1224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Oval 55"/>
            <p:cNvSpPr>
              <a:spLocks noChangeArrowheads="1"/>
            </p:cNvSpPr>
            <p:nvPr/>
          </p:nvSpPr>
          <p:spPr bwMode="auto">
            <a:xfrm flipV="1">
              <a:off x="5270" y="1224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Oval 56"/>
            <p:cNvSpPr>
              <a:spLocks noChangeArrowheads="1"/>
            </p:cNvSpPr>
            <p:nvPr/>
          </p:nvSpPr>
          <p:spPr bwMode="auto">
            <a:xfrm flipV="1">
              <a:off x="5100" y="1224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Oval 57"/>
            <p:cNvSpPr>
              <a:spLocks noChangeArrowheads="1"/>
            </p:cNvSpPr>
            <p:nvPr/>
          </p:nvSpPr>
          <p:spPr bwMode="auto">
            <a:xfrm flipV="1">
              <a:off x="5440" y="1241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Oval 58"/>
            <p:cNvSpPr>
              <a:spLocks noChangeArrowheads="1"/>
            </p:cNvSpPr>
            <p:nvPr/>
          </p:nvSpPr>
          <p:spPr bwMode="auto">
            <a:xfrm flipV="1">
              <a:off x="5270" y="1241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Oval 59"/>
            <p:cNvSpPr>
              <a:spLocks noChangeArrowheads="1"/>
            </p:cNvSpPr>
            <p:nvPr/>
          </p:nvSpPr>
          <p:spPr bwMode="auto">
            <a:xfrm flipV="1">
              <a:off x="5100" y="1241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Oval 60"/>
            <p:cNvSpPr>
              <a:spLocks noChangeArrowheads="1"/>
            </p:cNvSpPr>
            <p:nvPr/>
          </p:nvSpPr>
          <p:spPr bwMode="auto">
            <a:xfrm flipV="1">
              <a:off x="4930" y="1258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Oval 61"/>
            <p:cNvSpPr>
              <a:spLocks noChangeArrowheads="1"/>
            </p:cNvSpPr>
            <p:nvPr/>
          </p:nvSpPr>
          <p:spPr bwMode="auto">
            <a:xfrm flipV="1">
              <a:off x="5100" y="1258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Oval 62"/>
            <p:cNvSpPr>
              <a:spLocks noChangeArrowheads="1"/>
            </p:cNvSpPr>
            <p:nvPr/>
          </p:nvSpPr>
          <p:spPr bwMode="auto">
            <a:xfrm flipV="1">
              <a:off x="5270" y="1258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Oval 63"/>
            <p:cNvSpPr>
              <a:spLocks noChangeArrowheads="1"/>
            </p:cNvSpPr>
            <p:nvPr/>
          </p:nvSpPr>
          <p:spPr bwMode="auto">
            <a:xfrm flipV="1">
              <a:off x="5440" y="1258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AutoShape 64"/>
            <p:cNvSpPr>
              <a:spLocks noChangeArrowheads="1"/>
            </p:cNvSpPr>
            <p:nvPr/>
          </p:nvSpPr>
          <p:spPr bwMode="auto">
            <a:xfrm>
              <a:off x="4930" y="12070"/>
              <a:ext cx="169" cy="169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61978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Dilatação Binária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Exemplo</a:t>
            </a:r>
            <a:endParaRPr lang="en-US"/>
          </a:p>
        </p:txBody>
      </p:sp>
      <p:graphicFrame>
        <p:nvGraphicFramePr>
          <p:cNvPr id="3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0726765"/>
              </p:ext>
            </p:extLst>
          </p:nvPr>
        </p:nvGraphicFramePr>
        <p:xfrm>
          <a:off x="996809" y="2132856"/>
          <a:ext cx="50038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2600" imgH="215640" progId="Equation.3">
                  <p:embed/>
                </p:oleObj>
              </mc:Choice>
              <mc:Fallback>
                <p:oleObj name="Equation" r:id="rId2" imgW="2082600" imgH="215640" progId="Equation.3">
                  <p:embed/>
                  <p:pic>
                    <p:nvPicPr>
                      <p:cNvPr id="3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809" y="2132856"/>
                        <a:ext cx="50038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" name="Group 27"/>
          <p:cNvGrpSpPr>
            <a:grpSpLocks/>
          </p:cNvGrpSpPr>
          <p:nvPr/>
        </p:nvGrpSpPr>
        <p:grpSpPr bwMode="auto">
          <a:xfrm>
            <a:off x="6420812" y="2760332"/>
            <a:ext cx="1365250" cy="1270000"/>
            <a:chOff x="4080" y="7650"/>
            <a:chExt cx="680" cy="680"/>
          </a:xfrm>
        </p:grpSpPr>
        <p:sp>
          <p:nvSpPr>
            <p:cNvPr id="55" name="Rectangle 28"/>
            <p:cNvSpPr>
              <a:spLocks noChangeArrowheads="1"/>
            </p:cNvSpPr>
            <p:nvPr/>
          </p:nvSpPr>
          <p:spPr bwMode="auto">
            <a:xfrm>
              <a:off x="4080" y="7650"/>
              <a:ext cx="680" cy="6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Oval 29"/>
            <p:cNvSpPr>
              <a:spLocks noChangeArrowheads="1"/>
            </p:cNvSpPr>
            <p:nvPr/>
          </p:nvSpPr>
          <p:spPr bwMode="auto">
            <a:xfrm flipV="1">
              <a:off x="408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Oval 30"/>
            <p:cNvSpPr>
              <a:spLocks noChangeArrowheads="1"/>
            </p:cNvSpPr>
            <p:nvPr/>
          </p:nvSpPr>
          <p:spPr bwMode="auto">
            <a:xfrm flipV="1">
              <a:off x="425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Oval 31"/>
            <p:cNvSpPr>
              <a:spLocks noChangeArrowheads="1"/>
            </p:cNvSpPr>
            <p:nvPr/>
          </p:nvSpPr>
          <p:spPr bwMode="auto">
            <a:xfrm flipV="1">
              <a:off x="442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Oval 32"/>
            <p:cNvSpPr>
              <a:spLocks noChangeArrowheads="1"/>
            </p:cNvSpPr>
            <p:nvPr/>
          </p:nvSpPr>
          <p:spPr bwMode="auto">
            <a:xfrm flipV="1">
              <a:off x="459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Oval 33"/>
            <p:cNvSpPr>
              <a:spLocks noChangeArrowheads="1"/>
            </p:cNvSpPr>
            <p:nvPr/>
          </p:nvSpPr>
          <p:spPr bwMode="auto">
            <a:xfrm flipV="1">
              <a:off x="408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Oval 34"/>
            <p:cNvSpPr>
              <a:spLocks noChangeArrowheads="1"/>
            </p:cNvSpPr>
            <p:nvPr/>
          </p:nvSpPr>
          <p:spPr bwMode="auto">
            <a:xfrm flipV="1">
              <a:off x="425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Oval 35"/>
            <p:cNvSpPr>
              <a:spLocks noChangeArrowheads="1"/>
            </p:cNvSpPr>
            <p:nvPr/>
          </p:nvSpPr>
          <p:spPr bwMode="auto">
            <a:xfrm flipV="1">
              <a:off x="442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Oval 36"/>
            <p:cNvSpPr>
              <a:spLocks noChangeArrowheads="1"/>
            </p:cNvSpPr>
            <p:nvPr/>
          </p:nvSpPr>
          <p:spPr bwMode="auto">
            <a:xfrm flipV="1">
              <a:off x="459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Oval 37"/>
            <p:cNvSpPr>
              <a:spLocks noChangeArrowheads="1"/>
            </p:cNvSpPr>
            <p:nvPr/>
          </p:nvSpPr>
          <p:spPr bwMode="auto">
            <a:xfrm flipV="1">
              <a:off x="425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Oval 38"/>
            <p:cNvSpPr>
              <a:spLocks noChangeArrowheads="1"/>
            </p:cNvSpPr>
            <p:nvPr/>
          </p:nvSpPr>
          <p:spPr bwMode="auto">
            <a:xfrm flipV="1">
              <a:off x="442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Oval 39"/>
            <p:cNvSpPr>
              <a:spLocks noChangeArrowheads="1"/>
            </p:cNvSpPr>
            <p:nvPr/>
          </p:nvSpPr>
          <p:spPr bwMode="auto">
            <a:xfrm flipV="1">
              <a:off x="459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Oval 40"/>
            <p:cNvSpPr>
              <a:spLocks noChangeArrowheads="1"/>
            </p:cNvSpPr>
            <p:nvPr/>
          </p:nvSpPr>
          <p:spPr bwMode="auto">
            <a:xfrm flipV="1">
              <a:off x="408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Oval 41"/>
            <p:cNvSpPr>
              <a:spLocks noChangeArrowheads="1"/>
            </p:cNvSpPr>
            <p:nvPr/>
          </p:nvSpPr>
          <p:spPr bwMode="auto">
            <a:xfrm flipV="1">
              <a:off x="425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Oval 42"/>
            <p:cNvSpPr>
              <a:spLocks noChangeArrowheads="1"/>
            </p:cNvSpPr>
            <p:nvPr/>
          </p:nvSpPr>
          <p:spPr bwMode="auto">
            <a:xfrm flipV="1">
              <a:off x="442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Oval 43"/>
            <p:cNvSpPr>
              <a:spLocks noChangeArrowheads="1"/>
            </p:cNvSpPr>
            <p:nvPr/>
          </p:nvSpPr>
          <p:spPr bwMode="auto">
            <a:xfrm flipV="1">
              <a:off x="459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AutoShape 44"/>
            <p:cNvSpPr>
              <a:spLocks noChangeArrowheads="1"/>
            </p:cNvSpPr>
            <p:nvPr/>
          </p:nvSpPr>
          <p:spPr bwMode="auto">
            <a:xfrm>
              <a:off x="4080" y="7650"/>
              <a:ext cx="169" cy="169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" name="Group 47"/>
          <p:cNvGrpSpPr>
            <a:grpSpLocks/>
          </p:cNvGrpSpPr>
          <p:nvPr/>
        </p:nvGrpSpPr>
        <p:grpSpPr bwMode="auto">
          <a:xfrm>
            <a:off x="6412455" y="4103531"/>
            <a:ext cx="1371600" cy="1270000"/>
            <a:chOff x="4930" y="12070"/>
            <a:chExt cx="680" cy="680"/>
          </a:xfrm>
        </p:grpSpPr>
        <p:sp>
          <p:nvSpPr>
            <p:cNvPr id="75" name="Rectangle 48"/>
            <p:cNvSpPr>
              <a:spLocks noChangeArrowheads="1"/>
            </p:cNvSpPr>
            <p:nvPr/>
          </p:nvSpPr>
          <p:spPr bwMode="auto">
            <a:xfrm>
              <a:off x="4930" y="12070"/>
              <a:ext cx="680" cy="6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Oval 49"/>
            <p:cNvSpPr>
              <a:spLocks noChangeArrowheads="1"/>
            </p:cNvSpPr>
            <p:nvPr/>
          </p:nvSpPr>
          <p:spPr bwMode="auto">
            <a:xfrm flipV="1">
              <a:off x="4930" y="1241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Oval 50"/>
            <p:cNvSpPr>
              <a:spLocks noChangeArrowheads="1"/>
            </p:cNvSpPr>
            <p:nvPr/>
          </p:nvSpPr>
          <p:spPr bwMode="auto">
            <a:xfrm flipV="1">
              <a:off x="5100" y="1207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Oval 51"/>
            <p:cNvSpPr>
              <a:spLocks noChangeArrowheads="1"/>
            </p:cNvSpPr>
            <p:nvPr/>
          </p:nvSpPr>
          <p:spPr bwMode="auto">
            <a:xfrm flipV="1">
              <a:off x="5270" y="1207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Oval 52"/>
            <p:cNvSpPr>
              <a:spLocks noChangeArrowheads="1"/>
            </p:cNvSpPr>
            <p:nvPr/>
          </p:nvSpPr>
          <p:spPr bwMode="auto">
            <a:xfrm flipV="1">
              <a:off x="5440" y="1207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Oval 53"/>
            <p:cNvSpPr>
              <a:spLocks noChangeArrowheads="1"/>
            </p:cNvSpPr>
            <p:nvPr/>
          </p:nvSpPr>
          <p:spPr bwMode="auto">
            <a:xfrm flipV="1">
              <a:off x="4930" y="1224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Oval 54"/>
            <p:cNvSpPr>
              <a:spLocks noChangeArrowheads="1"/>
            </p:cNvSpPr>
            <p:nvPr/>
          </p:nvSpPr>
          <p:spPr bwMode="auto">
            <a:xfrm flipV="1">
              <a:off x="5440" y="1224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Oval 55"/>
            <p:cNvSpPr>
              <a:spLocks noChangeArrowheads="1"/>
            </p:cNvSpPr>
            <p:nvPr/>
          </p:nvSpPr>
          <p:spPr bwMode="auto">
            <a:xfrm flipV="1">
              <a:off x="5270" y="1224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Oval 56"/>
            <p:cNvSpPr>
              <a:spLocks noChangeArrowheads="1"/>
            </p:cNvSpPr>
            <p:nvPr/>
          </p:nvSpPr>
          <p:spPr bwMode="auto">
            <a:xfrm flipV="1">
              <a:off x="5100" y="1224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Oval 57"/>
            <p:cNvSpPr>
              <a:spLocks noChangeArrowheads="1"/>
            </p:cNvSpPr>
            <p:nvPr/>
          </p:nvSpPr>
          <p:spPr bwMode="auto">
            <a:xfrm flipV="1">
              <a:off x="5440" y="1241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Oval 58"/>
            <p:cNvSpPr>
              <a:spLocks noChangeArrowheads="1"/>
            </p:cNvSpPr>
            <p:nvPr/>
          </p:nvSpPr>
          <p:spPr bwMode="auto">
            <a:xfrm flipV="1">
              <a:off x="5270" y="1241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Oval 59"/>
            <p:cNvSpPr>
              <a:spLocks noChangeArrowheads="1"/>
            </p:cNvSpPr>
            <p:nvPr/>
          </p:nvSpPr>
          <p:spPr bwMode="auto">
            <a:xfrm flipV="1">
              <a:off x="5100" y="1241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Oval 60"/>
            <p:cNvSpPr>
              <a:spLocks noChangeArrowheads="1"/>
            </p:cNvSpPr>
            <p:nvPr/>
          </p:nvSpPr>
          <p:spPr bwMode="auto">
            <a:xfrm flipV="1">
              <a:off x="4930" y="1258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Oval 61"/>
            <p:cNvSpPr>
              <a:spLocks noChangeArrowheads="1"/>
            </p:cNvSpPr>
            <p:nvPr/>
          </p:nvSpPr>
          <p:spPr bwMode="auto">
            <a:xfrm flipV="1">
              <a:off x="5100" y="1258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Oval 62"/>
            <p:cNvSpPr>
              <a:spLocks noChangeArrowheads="1"/>
            </p:cNvSpPr>
            <p:nvPr/>
          </p:nvSpPr>
          <p:spPr bwMode="auto">
            <a:xfrm flipV="1">
              <a:off x="5270" y="1258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Oval 63"/>
            <p:cNvSpPr>
              <a:spLocks noChangeArrowheads="1"/>
            </p:cNvSpPr>
            <p:nvPr/>
          </p:nvSpPr>
          <p:spPr bwMode="auto">
            <a:xfrm flipV="1">
              <a:off x="5440" y="1258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AutoShape 64"/>
            <p:cNvSpPr>
              <a:spLocks noChangeArrowheads="1"/>
            </p:cNvSpPr>
            <p:nvPr/>
          </p:nvSpPr>
          <p:spPr bwMode="auto">
            <a:xfrm>
              <a:off x="4930" y="12070"/>
              <a:ext cx="169" cy="169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" name="Text Box 4"/>
          <p:cNvSpPr txBox="1">
            <a:spLocks noChangeArrowheads="1"/>
          </p:cNvSpPr>
          <p:nvPr/>
        </p:nvSpPr>
        <p:spPr bwMode="auto">
          <a:xfrm>
            <a:off x="2254424" y="5962228"/>
            <a:ext cx="356463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 {(1,1),(1,2),(1,3),(2,1),(2,2),(2,3)}</a:t>
            </a:r>
            <a:r>
              <a:rPr lang="pt-BR"/>
              <a:t> </a:t>
            </a:r>
          </a:p>
        </p:txBody>
      </p:sp>
      <p:sp>
        <p:nvSpPr>
          <p:cNvPr id="46" name="Text Box 6"/>
          <p:cNvSpPr txBox="1">
            <a:spLocks noChangeArrowheads="1"/>
          </p:cNvSpPr>
          <p:nvPr/>
        </p:nvSpPr>
        <p:spPr bwMode="auto">
          <a:xfrm>
            <a:off x="1187624" y="3203684"/>
            <a:ext cx="3937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{A + [(0,0)]} = {(1,1),(1,2),(2,1),(2,2)} </a:t>
            </a:r>
          </a:p>
        </p:txBody>
      </p:sp>
      <p:sp>
        <p:nvSpPr>
          <p:cNvPr id="47" name="Text Box 7"/>
          <p:cNvSpPr txBox="1">
            <a:spLocks noChangeArrowheads="1"/>
          </p:cNvSpPr>
          <p:nvPr/>
        </p:nvSpPr>
        <p:spPr bwMode="auto">
          <a:xfrm>
            <a:off x="1187624" y="4499828"/>
            <a:ext cx="3860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{A + [(0,1)]} = {(1,2),(2,2),(1,3),(2,3)}</a:t>
            </a:r>
            <a:r>
              <a:rPr lang="pt-BR"/>
              <a:t> </a:t>
            </a:r>
          </a:p>
        </p:txBody>
      </p:sp>
      <p:grpSp>
        <p:nvGrpSpPr>
          <p:cNvPr id="48" name="Group 8"/>
          <p:cNvGrpSpPr>
            <a:grpSpLocks/>
          </p:cNvGrpSpPr>
          <p:nvPr/>
        </p:nvGrpSpPr>
        <p:grpSpPr bwMode="auto">
          <a:xfrm>
            <a:off x="6412455" y="5426873"/>
            <a:ext cx="1369583" cy="1359869"/>
            <a:chOff x="5440" y="13600"/>
            <a:chExt cx="680" cy="680"/>
          </a:xfrm>
        </p:grpSpPr>
        <p:sp>
          <p:nvSpPr>
            <p:cNvPr id="49" name="Rectangle 9"/>
            <p:cNvSpPr>
              <a:spLocks noChangeArrowheads="1"/>
            </p:cNvSpPr>
            <p:nvPr/>
          </p:nvSpPr>
          <p:spPr bwMode="auto">
            <a:xfrm>
              <a:off x="5440" y="13600"/>
              <a:ext cx="680" cy="6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Oval 10"/>
            <p:cNvSpPr>
              <a:spLocks noChangeArrowheads="1"/>
            </p:cNvSpPr>
            <p:nvPr/>
          </p:nvSpPr>
          <p:spPr bwMode="auto">
            <a:xfrm flipV="1">
              <a:off x="5440" y="1394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Oval 11"/>
            <p:cNvSpPr>
              <a:spLocks noChangeArrowheads="1"/>
            </p:cNvSpPr>
            <p:nvPr/>
          </p:nvSpPr>
          <p:spPr bwMode="auto">
            <a:xfrm flipV="1">
              <a:off x="5610" y="1360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Oval 12"/>
            <p:cNvSpPr>
              <a:spLocks noChangeArrowheads="1"/>
            </p:cNvSpPr>
            <p:nvPr/>
          </p:nvSpPr>
          <p:spPr bwMode="auto">
            <a:xfrm flipV="1">
              <a:off x="5780" y="1360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Oval 13"/>
            <p:cNvSpPr>
              <a:spLocks noChangeArrowheads="1"/>
            </p:cNvSpPr>
            <p:nvPr/>
          </p:nvSpPr>
          <p:spPr bwMode="auto">
            <a:xfrm flipV="1">
              <a:off x="5950" y="1360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Oval 14"/>
            <p:cNvSpPr>
              <a:spLocks noChangeArrowheads="1"/>
            </p:cNvSpPr>
            <p:nvPr/>
          </p:nvSpPr>
          <p:spPr bwMode="auto">
            <a:xfrm flipV="1">
              <a:off x="5440" y="1377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Oval 15"/>
            <p:cNvSpPr>
              <a:spLocks noChangeArrowheads="1"/>
            </p:cNvSpPr>
            <p:nvPr/>
          </p:nvSpPr>
          <p:spPr bwMode="auto">
            <a:xfrm flipV="1">
              <a:off x="5950" y="1377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Oval 16"/>
            <p:cNvSpPr>
              <a:spLocks noChangeArrowheads="1"/>
            </p:cNvSpPr>
            <p:nvPr/>
          </p:nvSpPr>
          <p:spPr bwMode="auto">
            <a:xfrm flipV="1">
              <a:off x="5780" y="1377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Oval 17"/>
            <p:cNvSpPr>
              <a:spLocks noChangeArrowheads="1"/>
            </p:cNvSpPr>
            <p:nvPr/>
          </p:nvSpPr>
          <p:spPr bwMode="auto">
            <a:xfrm flipV="1">
              <a:off x="5610" y="1377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Oval 18"/>
            <p:cNvSpPr>
              <a:spLocks noChangeArrowheads="1"/>
            </p:cNvSpPr>
            <p:nvPr/>
          </p:nvSpPr>
          <p:spPr bwMode="auto">
            <a:xfrm flipV="1">
              <a:off x="5950" y="1394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Oval 19"/>
            <p:cNvSpPr>
              <a:spLocks noChangeArrowheads="1"/>
            </p:cNvSpPr>
            <p:nvPr/>
          </p:nvSpPr>
          <p:spPr bwMode="auto">
            <a:xfrm flipV="1">
              <a:off x="5780" y="1394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Oval 20"/>
            <p:cNvSpPr>
              <a:spLocks noChangeArrowheads="1"/>
            </p:cNvSpPr>
            <p:nvPr/>
          </p:nvSpPr>
          <p:spPr bwMode="auto">
            <a:xfrm flipV="1">
              <a:off x="5610" y="1394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Oval 21"/>
            <p:cNvSpPr>
              <a:spLocks noChangeArrowheads="1"/>
            </p:cNvSpPr>
            <p:nvPr/>
          </p:nvSpPr>
          <p:spPr bwMode="auto">
            <a:xfrm flipV="1">
              <a:off x="5440" y="1411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Oval 22"/>
            <p:cNvSpPr>
              <a:spLocks noChangeArrowheads="1"/>
            </p:cNvSpPr>
            <p:nvPr/>
          </p:nvSpPr>
          <p:spPr bwMode="auto">
            <a:xfrm flipV="1">
              <a:off x="5610" y="1411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Oval 23"/>
            <p:cNvSpPr>
              <a:spLocks noChangeArrowheads="1"/>
            </p:cNvSpPr>
            <p:nvPr/>
          </p:nvSpPr>
          <p:spPr bwMode="auto">
            <a:xfrm flipV="1">
              <a:off x="5780" y="1411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Oval 24"/>
            <p:cNvSpPr>
              <a:spLocks noChangeArrowheads="1"/>
            </p:cNvSpPr>
            <p:nvPr/>
          </p:nvSpPr>
          <p:spPr bwMode="auto">
            <a:xfrm flipV="1">
              <a:off x="5950" y="1411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AutoShape 25"/>
            <p:cNvSpPr>
              <a:spLocks noChangeArrowheads="1"/>
            </p:cNvSpPr>
            <p:nvPr/>
          </p:nvSpPr>
          <p:spPr bwMode="auto">
            <a:xfrm>
              <a:off x="5440" y="13600"/>
              <a:ext cx="169" cy="169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0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1563472"/>
              </p:ext>
            </p:extLst>
          </p:nvPr>
        </p:nvGraphicFramePr>
        <p:xfrm>
          <a:off x="1187624" y="5962228"/>
          <a:ext cx="1257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33160" imgH="177480" progId="Equation.3">
                  <p:embed/>
                </p:oleObj>
              </mc:Choice>
              <mc:Fallback>
                <p:oleObj name="Equation" r:id="rId4" imgW="533160" imgH="177480" progId="Equation.3">
                  <p:embed/>
                  <p:pic>
                    <p:nvPicPr>
                      <p:cNvPr id="10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5962228"/>
                        <a:ext cx="1257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1221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Dilatação Binária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Exemplos</a:t>
            </a:r>
            <a:endParaRPr lang="en-US"/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467667"/>
            <a:ext cx="7220486" cy="4273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5758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Dilatação Binária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Exemplos</a:t>
            </a:r>
            <a:endParaRPr lang="en-US"/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411" y="2381719"/>
            <a:ext cx="7069981" cy="395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0817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Erosão Binária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476872"/>
          </a:xfrm>
        </p:spPr>
        <p:txBody>
          <a:bodyPr>
            <a:normAutofit/>
          </a:bodyPr>
          <a:lstStyle/>
          <a:p>
            <a:r>
              <a:rPr lang="pt-BR"/>
              <a:t>A erosão é uma transformação morfológica que combina dois conjuntos usando vetores de subtração</a:t>
            </a:r>
          </a:p>
          <a:p>
            <a:pPr lvl="1"/>
            <a:r>
              <a:rPr lang="pt-BR"/>
              <a:t>Como o seu nome diz, o resultado será uma imagem “encolhida”</a:t>
            </a:r>
          </a:p>
          <a:p>
            <a:r>
              <a:rPr lang="pt-BR"/>
              <a:t>Aplicação: Remoção de Componentes</a:t>
            </a:r>
            <a:endParaRPr lang="en-US"/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5" y="3964036"/>
            <a:ext cx="5976664" cy="2849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4530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Erosão Binária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A erosão de </a:t>
            </a:r>
            <a:r>
              <a:rPr lang="pt-BR" i="1"/>
              <a:t>A</a:t>
            </a:r>
            <a:r>
              <a:rPr lang="pt-BR"/>
              <a:t> por </a:t>
            </a:r>
            <a:r>
              <a:rPr lang="pt-BR" i="1"/>
              <a:t>B</a:t>
            </a:r>
            <a:r>
              <a:rPr lang="pt-BR"/>
              <a:t> é definida como</a:t>
            </a:r>
          </a:p>
          <a:p>
            <a:endParaRPr lang="pt-BR"/>
          </a:p>
          <a:p>
            <a:endParaRPr lang="pt-BR"/>
          </a:p>
          <a:p>
            <a:r>
              <a:rPr lang="pt-BR"/>
              <a:t>Onde</a:t>
            </a:r>
          </a:p>
          <a:p>
            <a:pPr lvl="1"/>
            <a:r>
              <a:rPr lang="pt-BR" i="1"/>
              <a:t>A</a:t>
            </a:r>
            <a:r>
              <a:rPr lang="pt-BR"/>
              <a:t> e </a:t>
            </a:r>
            <a:r>
              <a:rPr lang="pt-BR" i="1"/>
              <a:t>B</a:t>
            </a:r>
            <a:r>
              <a:rPr lang="pt-BR"/>
              <a:t> são conjuntos de </a:t>
            </a:r>
            <a:r>
              <a:rPr lang="pt-BR" i="1"/>
              <a:t>Z</a:t>
            </a:r>
            <a:r>
              <a:rPr lang="pt-BR" i="1" baseline="30000"/>
              <a:t>2</a:t>
            </a:r>
            <a:r>
              <a:rPr lang="pt-BR"/>
              <a:t> (imagens binárias)</a:t>
            </a:r>
          </a:p>
          <a:p>
            <a:pPr lvl="1"/>
            <a:r>
              <a:rPr lang="pt-BR" i="1"/>
              <a:t>A</a:t>
            </a:r>
            <a:r>
              <a:rPr lang="pt-BR"/>
              <a:t> é a imagem sendo operada</a:t>
            </a:r>
          </a:p>
          <a:p>
            <a:pPr lvl="1"/>
            <a:r>
              <a:rPr lang="pt-BR" i="1"/>
              <a:t>B</a:t>
            </a:r>
            <a:r>
              <a:rPr lang="pt-BR"/>
              <a:t> é chamado de </a:t>
            </a:r>
            <a:r>
              <a:rPr lang="pt-BR" b="1"/>
              <a:t>Elemento Estruturante</a:t>
            </a:r>
          </a:p>
          <a:p>
            <a:pPr lvl="2"/>
            <a:r>
              <a:rPr lang="pt-BR"/>
              <a:t>Sua natureza define como a erosão irá ocorrer</a:t>
            </a:r>
            <a:endParaRPr lang="en-US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691494"/>
              </p:ext>
            </p:extLst>
          </p:nvPr>
        </p:nvGraphicFramePr>
        <p:xfrm>
          <a:off x="996776" y="2348880"/>
          <a:ext cx="695960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41600" imgH="254000" progId="Equation.3">
                  <p:embed/>
                </p:oleObj>
              </mc:Choice>
              <mc:Fallback>
                <p:oleObj name="Equation" r:id="rId2" imgW="2641600" imgH="2540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776" y="2348880"/>
                        <a:ext cx="695960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271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Erosão Binária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/>
              <a:t>A erosão de </a:t>
            </a:r>
            <a:r>
              <a:rPr lang="pt-BR" i="1"/>
              <a:t>A</a:t>
            </a:r>
            <a:r>
              <a:rPr lang="pt-BR"/>
              <a:t> por </a:t>
            </a:r>
            <a:r>
              <a:rPr lang="pt-BR" i="1"/>
              <a:t>B</a:t>
            </a:r>
            <a:r>
              <a:rPr lang="pt-BR"/>
              <a:t> é definida como</a:t>
            </a:r>
          </a:p>
          <a:p>
            <a:endParaRPr lang="pt-BR"/>
          </a:p>
          <a:p>
            <a:endParaRPr lang="pt-BR"/>
          </a:p>
          <a:p>
            <a:r>
              <a:rPr lang="pt-BR"/>
              <a:t>A erosão é conjunto de translações de </a:t>
            </a:r>
            <a:r>
              <a:rPr lang="pt-BR" i="1"/>
              <a:t>B</a:t>
            </a:r>
            <a:r>
              <a:rPr lang="pt-BR"/>
              <a:t> que alinham </a:t>
            </a:r>
            <a:r>
              <a:rPr lang="pt-BR" i="1"/>
              <a:t>B</a:t>
            </a:r>
            <a:r>
              <a:rPr lang="pt-BR"/>
              <a:t> sobre o conjunto de pixels do objeto em </a:t>
            </a:r>
            <a:r>
              <a:rPr lang="pt-BR" i="1"/>
              <a:t>A</a:t>
            </a:r>
          </a:p>
          <a:p>
            <a:pPr lvl="1"/>
            <a:r>
              <a:rPr lang="pt-BR"/>
              <a:t>Isso significa que nem todas as translações necessitam ser consideradas, mas somente aquelas que tem a origem de </a:t>
            </a:r>
            <a:r>
              <a:rPr lang="pt-BR" i="1"/>
              <a:t>B</a:t>
            </a:r>
            <a:r>
              <a:rPr lang="pt-BR"/>
              <a:t> em um membro de </a:t>
            </a:r>
            <a:r>
              <a:rPr lang="pt-BR" i="1"/>
              <a:t>A</a:t>
            </a:r>
            <a:endParaRPr lang="en-US" i="1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691494"/>
              </p:ext>
            </p:extLst>
          </p:nvPr>
        </p:nvGraphicFramePr>
        <p:xfrm>
          <a:off x="996950" y="2349500"/>
          <a:ext cx="695960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41600" imgH="254000" progId="Equation.3">
                  <p:embed/>
                </p:oleObj>
              </mc:Choice>
              <mc:Fallback>
                <p:oleObj name="Equation" r:id="rId2" imgW="2641600" imgH="2540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2349500"/>
                        <a:ext cx="695960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92301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Erosão Binária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Exemplo</a:t>
            </a:r>
          </a:p>
          <a:p>
            <a:pPr lvl="1"/>
            <a:r>
              <a:rPr lang="pt-BR"/>
              <a:t>Dado a imagem A e o elemento estruturante B, calcular </a:t>
            </a:r>
            <a:endParaRPr lang="en-US"/>
          </a:p>
        </p:txBody>
      </p:sp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2205608" y="4309700"/>
            <a:ext cx="1219200" cy="1143000"/>
            <a:chOff x="4080" y="7650"/>
            <a:chExt cx="680" cy="680"/>
          </a:xfrm>
        </p:grpSpPr>
        <p:sp>
          <p:nvSpPr>
            <p:cNvPr id="5" name="Rectangle 7"/>
            <p:cNvSpPr>
              <a:spLocks noChangeArrowheads="1"/>
            </p:cNvSpPr>
            <p:nvPr/>
          </p:nvSpPr>
          <p:spPr bwMode="auto">
            <a:xfrm>
              <a:off x="4080" y="7650"/>
              <a:ext cx="680" cy="6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Oval 8"/>
            <p:cNvSpPr>
              <a:spLocks noChangeArrowheads="1"/>
            </p:cNvSpPr>
            <p:nvPr/>
          </p:nvSpPr>
          <p:spPr bwMode="auto">
            <a:xfrm flipV="1">
              <a:off x="408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Oval 9"/>
            <p:cNvSpPr>
              <a:spLocks noChangeArrowheads="1"/>
            </p:cNvSpPr>
            <p:nvPr/>
          </p:nvSpPr>
          <p:spPr bwMode="auto">
            <a:xfrm flipV="1">
              <a:off x="425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Oval 10"/>
            <p:cNvSpPr>
              <a:spLocks noChangeArrowheads="1"/>
            </p:cNvSpPr>
            <p:nvPr/>
          </p:nvSpPr>
          <p:spPr bwMode="auto">
            <a:xfrm flipV="1">
              <a:off x="442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11"/>
            <p:cNvSpPr>
              <a:spLocks noChangeArrowheads="1"/>
            </p:cNvSpPr>
            <p:nvPr/>
          </p:nvSpPr>
          <p:spPr bwMode="auto">
            <a:xfrm flipV="1">
              <a:off x="459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12"/>
            <p:cNvSpPr>
              <a:spLocks noChangeArrowheads="1"/>
            </p:cNvSpPr>
            <p:nvPr/>
          </p:nvSpPr>
          <p:spPr bwMode="auto">
            <a:xfrm flipV="1">
              <a:off x="408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13"/>
            <p:cNvSpPr>
              <a:spLocks noChangeArrowheads="1"/>
            </p:cNvSpPr>
            <p:nvPr/>
          </p:nvSpPr>
          <p:spPr bwMode="auto">
            <a:xfrm flipV="1">
              <a:off x="425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4"/>
            <p:cNvSpPr>
              <a:spLocks noChangeArrowheads="1"/>
            </p:cNvSpPr>
            <p:nvPr/>
          </p:nvSpPr>
          <p:spPr bwMode="auto">
            <a:xfrm flipV="1">
              <a:off x="442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Oval 15"/>
            <p:cNvSpPr>
              <a:spLocks noChangeArrowheads="1"/>
            </p:cNvSpPr>
            <p:nvPr/>
          </p:nvSpPr>
          <p:spPr bwMode="auto">
            <a:xfrm flipV="1">
              <a:off x="459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Oval 16"/>
            <p:cNvSpPr>
              <a:spLocks noChangeArrowheads="1"/>
            </p:cNvSpPr>
            <p:nvPr/>
          </p:nvSpPr>
          <p:spPr bwMode="auto">
            <a:xfrm flipV="1">
              <a:off x="425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Oval 17"/>
            <p:cNvSpPr>
              <a:spLocks noChangeArrowheads="1"/>
            </p:cNvSpPr>
            <p:nvPr/>
          </p:nvSpPr>
          <p:spPr bwMode="auto">
            <a:xfrm flipV="1">
              <a:off x="442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Oval 18"/>
            <p:cNvSpPr>
              <a:spLocks noChangeArrowheads="1"/>
            </p:cNvSpPr>
            <p:nvPr/>
          </p:nvSpPr>
          <p:spPr bwMode="auto">
            <a:xfrm flipV="1">
              <a:off x="459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Oval 19"/>
            <p:cNvSpPr>
              <a:spLocks noChangeArrowheads="1"/>
            </p:cNvSpPr>
            <p:nvPr/>
          </p:nvSpPr>
          <p:spPr bwMode="auto">
            <a:xfrm flipV="1">
              <a:off x="408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Oval 20"/>
            <p:cNvSpPr>
              <a:spLocks noChangeArrowheads="1"/>
            </p:cNvSpPr>
            <p:nvPr/>
          </p:nvSpPr>
          <p:spPr bwMode="auto">
            <a:xfrm flipV="1">
              <a:off x="425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Oval 21"/>
            <p:cNvSpPr>
              <a:spLocks noChangeArrowheads="1"/>
            </p:cNvSpPr>
            <p:nvPr/>
          </p:nvSpPr>
          <p:spPr bwMode="auto">
            <a:xfrm flipV="1">
              <a:off x="442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22"/>
            <p:cNvSpPr>
              <a:spLocks noChangeArrowheads="1"/>
            </p:cNvSpPr>
            <p:nvPr/>
          </p:nvSpPr>
          <p:spPr bwMode="auto">
            <a:xfrm flipV="1">
              <a:off x="459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AutoShape 23"/>
            <p:cNvSpPr>
              <a:spLocks noChangeArrowheads="1"/>
            </p:cNvSpPr>
            <p:nvPr/>
          </p:nvSpPr>
          <p:spPr bwMode="auto">
            <a:xfrm>
              <a:off x="4080" y="7650"/>
              <a:ext cx="169" cy="169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4"/>
          <p:cNvGrpSpPr>
            <a:grpSpLocks/>
          </p:cNvGrpSpPr>
          <p:nvPr/>
        </p:nvGrpSpPr>
        <p:grpSpPr bwMode="auto">
          <a:xfrm>
            <a:off x="6609308" y="4385900"/>
            <a:ext cx="660400" cy="304800"/>
            <a:chOff x="7480" y="6750"/>
            <a:chExt cx="340" cy="170"/>
          </a:xfrm>
        </p:grpSpPr>
        <p:sp>
          <p:nvSpPr>
            <p:cNvPr id="23" name="Rectangle 25"/>
            <p:cNvSpPr>
              <a:spLocks noChangeArrowheads="1"/>
            </p:cNvSpPr>
            <p:nvPr/>
          </p:nvSpPr>
          <p:spPr bwMode="auto">
            <a:xfrm>
              <a:off x="7480" y="6750"/>
              <a:ext cx="340" cy="1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Oval 26"/>
            <p:cNvSpPr>
              <a:spLocks noChangeArrowheads="1"/>
            </p:cNvSpPr>
            <p:nvPr/>
          </p:nvSpPr>
          <p:spPr bwMode="auto">
            <a:xfrm>
              <a:off x="7650" y="6750"/>
              <a:ext cx="170" cy="17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AutoShape 27"/>
            <p:cNvSpPr>
              <a:spLocks noChangeArrowheads="1"/>
            </p:cNvSpPr>
            <p:nvPr/>
          </p:nvSpPr>
          <p:spPr bwMode="auto">
            <a:xfrm>
              <a:off x="7480" y="6750"/>
              <a:ext cx="170" cy="170"/>
            </a:xfrm>
            <a:prstGeom prst="flowChartSummingJunction">
              <a:avLst/>
            </a:prstGeom>
            <a:solidFill>
              <a:srgbClr val="000000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 Box 29"/>
          <p:cNvSpPr txBox="1">
            <a:spLocks noChangeArrowheads="1"/>
          </p:cNvSpPr>
          <p:nvPr/>
        </p:nvSpPr>
        <p:spPr bwMode="auto">
          <a:xfrm>
            <a:off x="1346448" y="3700100"/>
            <a:ext cx="29375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A = {(1,1),(1,2),(2,1),(2,2)}</a:t>
            </a:r>
            <a:r>
              <a:rPr lang="pt-BR"/>
              <a:t> </a:t>
            </a:r>
          </a:p>
        </p:txBody>
      </p:sp>
      <p:sp>
        <p:nvSpPr>
          <p:cNvPr id="27" name="Text Box 31"/>
          <p:cNvSpPr txBox="1">
            <a:spLocks noChangeArrowheads="1"/>
          </p:cNvSpPr>
          <p:nvPr/>
        </p:nvSpPr>
        <p:spPr bwMode="auto">
          <a:xfrm>
            <a:off x="5994648" y="3700100"/>
            <a:ext cx="18897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B = {(0,0),(0,1)}</a:t>
            </a:r>
            <a:r>
              <a:rPr lang="pt-BR"/>
              <a:t> </a:t>
            </a:r>
          </a:p>
        </p:txBody>
      </p:sp>
      <p:sp>
        <p:nvSpPr>
          <p:cNvPr id="28" name="Text Box 32"/>
          <p:cNvSpPr txBox="1">
            <a:spLocks noChangeArrowheads="1"/>
          </p:cNvSpPr>
          <p:nvPr/>
        </p:nvSpPr>
        <p:spPr bwMode="auto">
          <a:xfrm>
            <a:off x="5892306" y="5147900"/>
            <a:ext cx="941283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/>
              <a:t>Origem</a:t>
            </a:r>
          </a:p>
        </p:txBody>
      </p:sp>
      <p:sp>
        <p:nvSpPr>
          <p:cNvPr id="29" name="Line 33"/>
          <p:cNvSpPr>
            <a:spLocks noChangeShapeType="1"/>
          </p:cNvSpPr>
          <p:nvPr/>
        </p:nvSpPr>
        <p:spPr bwMode="auto">
          <a:xfrm flipV="1">
            <a:off x="6604249" y="4737484"/>
            <a:ext cx="170160" cy="410416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31" name="Objeto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360569"/>
              </p:ext>
            </p:extLst>
          </p:nvPr>
        </p:nvGraphicFramePr>
        <p:xfrm>
          <a:off x="2411760" y="2528640"/>
          <a:ext cx="93662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355320" imgH="177480" progId="Equation.3">
                  <p:embed/>
                </p:oleObj>
              </mc:Choice>
              <mc:Fallback>
                <p:oleObj name="Equação" r:id="rId2" imgW="355320" imgH="177480" progId="Equation.3">
                  <p:embed/>
                  <p:pic>
                    <p:nvPicPr>
                      <p:cNvPr id="31" name="Objeto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2528640"/>
                        <a:ext cx="936625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05507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Erosão Binária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Exemplo</a:t>
            </a:r>
            <a:endParaRPr lang="en-US"/>
          </a:p>
        </p:txBody>
      </p:sp>
      <p:sp>
        <p:nvSpPr>
          <p:cNvPr id="6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221183" y="3436926"/>
            <a:ext cx="533400" cy="244476"/>
          </a:xfrm>
        </p:spPr>
        <p:txBody>
          <a:bodyPr>
            <a:normAutofit fontScale="85000" lnSpcReduction="20000"/>
          </a:bodyPr>
          <a:lstStyle/>
          <a:p>
            <a:fld id="{88A2AC5A-D27D-460A-BBC4-9EBB857D68C9}" type="slidenum">
              <a:rPr lang="pt-BR"/>
              <a:pPr/>
              <a:t>23</a:t>
            </a:fld>
            <a:endParaRPr lang="pt-BR"/>
          </a:p>
        </p:txBody>
      </p:sp>
      <p:sp>
        <p:nvSpPr>
          <p:cNvPr id="66" name="Text Box 3"/>
          <p:cNvSpPr txBox="1">
            <a:spLocks noChangeArrowheads="1"/>
          </p:cNvSpPr>
          <p:nvPr/>
        </p:nvSpPr>
        <p:spPr bwMode="auto">
          <a:xfrm>
            <a:off x="1547664" y="3563724"/>
            <a:ext cx="29019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A = {(1,1),(1,2),(2,1),(2,2)}</a:t>
            </a:r>
            <a:r>
              <a:rPr lang="pt-BR"/>
              <a:t> </a:t>
            </a:r>
          </a:p>
        </p:txBody>
      </p:sp>
      <p:sp>
        <p:nvSpPr>
          <p:cNvPr id="67" name="Text Box 4"/>
          <p:cNvSpPr txBox="1">
            <a:spLocks noChangeArrowheads="1"/>
          </p:cNvSpPr>
          <p:nvPr/>
        </p:nvSpPr>
        <p:spPr bwMode="auto">
          <a:xfrm>
            <a:off x="5472441" y="3563724"/>
            <a:ext cx="18335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B = {(0,0),(0,1)}</a:t>
            </a:r>
            <a:r>
              <a:rPr lang="pt-BR"/>
              <a:t> </a:t>
            </a:r>
          </a:p>
        </p:txBody>
      </p:sp>
      <p:sp>
        <p:nvSpPr>
          <p:cNvPr id="71" name="Text Box 9"/>
          <p:cNvSpPr txBox="1">
            <a:spLocks noChangeArrowheads="1"/>
          </p:cNvSpPr>
          <p:nvPr/>
        </p:nvSpPr>
        <p:spPr bwMode="auto">
          <a:xfrm>
            <a:off x="975693" y="4587428"/>
            <a:ext cx="35963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pt-BR"/>
              <a:t>(1,1) +[(0,0),(0,1)] = [(1,1),(1,2)]</a:t>
            </a:r>
          </a:p>
        </p:txBody>
      </p:sp>
      <p:graphicFrame>
        <p:nvGraphicFramePr>
          <p:cNvPr id="7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8092753"/>
              </p:ext>
            </p:extLst>
          </p:nvPr>
        </p:nvGraphicFramePr>
        <p:xfrm>
          <a:off x="5220073" y="4623940"/>
          <a:ext cx="1422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560" imgH="203040" progId="Equation.3">
                  <p:embed/>
                </p:oleObj>
              </mc:Choice>
              <mc:Fallback>
                <p:oleObj name="Equation" r:id="rId2" imgW="736560" imgH="203040" progId="Equation.3">
                  <p:embed/>
                  <p:pic>
                    <p:nvPicPr>
                      <p:cNvPr id="7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3" y="4623940"/>
                        <a:ext cx="1422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AutoShape 11"/>
          <p:cNvSpPr>
            <a:spLocks noChangeArrowheads="1"/>
          </p:cNvSpPr>
          <p:nvPr/>
        </p:nvSpPr>
        <p:spPr bwMode="auto">
          <a:xfrm>
            <a:off x="4427985" y="470014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74" name="Text Box 13"/>
          <p:cNvSpPr txBox="1">
            <a:spLocks noChangeArrowheads="1"/>
          </p:cNvSpPr>
          <p:nvPr/>
        </p:nvSpPr>
        <p:spPr bwMode="auto">
          <a:xfrm>
            <a:off x="975693" y="5128392"/>
            <a:ext cx="358043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pt-BR"/>
              <a:t>(1,2) +[(0,0),(0,1)] = [(1,2),(1,3)]</a:t>
            </a:r>
          </a:p>
        </p:txBody>
      </p:sp>
      <p:sp>
        <p:nvSpPr>
          <p:cNvPr id="75" name="AutoShape 14"/>
          <p:cNvSpPr>
            <a:spLocks noChangeArrowheads="1"/>
          </p:cNvSpPr>
          <p:nvPr/>
        </p:nvSpPr>
        <p:spPr bwMode="auto">
          <a:xfrm>
            <a:off x="4427985" y="5204592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graphicFrame>
        <p:nvGraphicFramePr>
          <p:cNvPr id="7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6245302"/>
              </p:ext>
            </p:extLst>
          </p:nvPr>
        </p:nvGraphicFramePr>
        <p:xfrm>
          <a:off x="5220073" y="5128392"/>
          <a:ext cx="14970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360" imgH="203040" progId="Equation.3">
                  <p:embed/>
                </p:oleObj>
              </mc:Choice>
              <mc:Fallback>
                <p:oleObj name="Equation" r:id="rId4" imgW="774360" imgH="203040" progId="Equation.3">
                  <p:embed/>
                  <p:pic>
                    <p:nvPicPr>
                      <p:cNvPr id="7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3" y="5128392"/>
                        <a:ext cx="14970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Text Box 16"/>
          <p:cNvSpPr txBox="1">
            <a:spLocks noChangeArrowheads="1"/>
          </p:cNvSpPr>
          <p:nvPr/>
        </p:nvSpPr>
        <p:spPr bwMode="auto">
          <a:xfrm>
            <a:off x="975693" y="5665712"/>
            <a:ext cx="350423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pt-BR"/>
              <a:t>(2,1) +[(0,0),(0,1)] = [(2,1),(2,2)]</a:t>
            </a:r>
          </a:p>
        </p:txBody>
      </p:sp>
      <p:sp>
        <p:nvSpPr>
          <p:cNvPr id="78" name="AutoShape 17"/>
          <p:cNvSpPr>
            <a:spLocks noChangeArrowheads="1"/>
          </p:cNvSpPr>
          <p:nvPr/>
        </p:nvSpPr>
        <p:spPr bwMode="auto">
          <a:xfrm>
            <a:off x="4427985" y="5741912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graphicFrame>
        <p:nvGraphicFramePr>
          <p:cNvPr id="7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1110876"/>
              </p:ext>
            </p:extLst>
          </p:nvPr>
        </p:nvGraphicFramePr>
        <p:xfrm>
          <a:off x="5220073" y="5665712"/>
          <a:ext cx="14954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74360" imgH="203040" progId="Equation.3">
                  <p:embed/>
                </p:oleObj>
              </mc:Choice>
              <mc:Fallback>
                <p:oleObj name="Equation" r:id="rId6" imgW="774360" imgH="203040" progId="Equation.3">
                  <p:embed/>
                  <p:pic>
                    <p:nvPicPr>
                      <p:cNvPr id="7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3" y="5665712"/>
                        <a:ext cx="14954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Text Box 19"/>
          <p:cNvSpPr txBox="1">
            <a:spLocks noChangeArrowheads="1"/>
          </p:cNvSpPr>
          <p:nvPr/>
        </p:nvSpPr>
        <p:spPr bwMode="auto">
          <a:xfrm>
            <a:off x="975693" y="6203652"/>
            <a:ext cx="350423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pt-BR"/>
              <a:t>(2,2) +[(0,0),(0,1)] = [(2,2),(2,3)]</a:t>
            </a:r>
          </a:p>
        </p:txBody>
      </p:sp>
      <p:sp>
        <p:nvSpPr>
          <p:cNvPr id="81" name="AutoShape 20"/>
          <p:cNvSpPr>
            <a:spLocks noChangeArrowheads="1"/>
          </p:cNvSpPr>
          <p:nvPr/>
        </p:nvSpPr>
        <p:spPr bwMode="auto">
          <a:xfrm>
            <a:off x="4427985" y="6279852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graphicFrame>
        <p:nvGraphicFramePr>
          <p:cNvPr id="8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580496"/>
              </p:ext>
            </p:extLst>
          </p:nvPr>
        </p:nvGraphicFramePr>
        <p:xfrm>
          <a:off x="5220073" y="6203652"/>
          <a:ext cx="15462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99920" imgH="203040" progId="Equation.3">
                  <p:embed/>
                </p:oleObj>
              </mc:Choice>
              <mc:Fallback>
                <p:oleObj name="Equation" r:id="rId8" imgW="799920" imgH="203040" progId="Equation.3">
                  <p:embed/>
                  <p:pic>
                    <p:nvPicPr>
                      <p:cNvPr id="82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3" y="6203652"/>
                        <a:ext cx="15462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3" name="Group 22"/>
          <p:cNvGrpSpPr>
            <a:grpSpLocks/>
          </p:cNvGrpSpPr>
          <p:nvPr/>
        </p:nvGrpSpPr>
        <p:grpSpPr bwMode="auto">
          <a:xfrm>
            <a:off x="7271247" y="4696405"/>
            <a:ext cx="1219200" cy="1143000"/>
            <a:chOff x="5949" y="2720"/>
            <a:chExt cx="681" cy="680"/>
          </a:xfrm>
        </p:grpSpPr>
        <p:sp>
          <p:nvSpPr>
            <p:cNvPr id="84" name="Rectangle 23"/>
            <p:cNvSpPr>
              <a:spLocks noChangeArrowheads="1"/>
            </p:cNvSpPr>
            <p:nvPr/>
          </p:nvSpPr>
          <p:spPr bwMode="auto">
            <a:xfrm>
              <a:off x="5950" y="2720"/>
              <a:ext cx="680" cy="68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Oval 24"/>
            <p:cNvSpPr>
              <a:spLocks noChangeArrowheads="1"/>
            </p:cNvSpPr>
            <p:nvPr/>
          </p:nvSpPr>
          <p:spPr bwMode="auto">
            <a:xfrm flipV="1">
              <a:off x="5949" y="306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Oval 25"/>
            <p:cNvSpPr>
              <a:spLocks noChangeArrowheads="1"/>
            </p:cNvSpPr>
            <p:nvPr/>
          </p:nvSpPr>
          <p:spPr bwMode="auto">
            <a:xfrm flipV="1">
              <a:off x="6121" y="272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Oval 26"/>
            <p:cNvSpPr>
              <a:spLocks noChangeArrowheads="1"/>
            </p:cNvSpPr>
            <p:nvPr/>
          </p:nvSpPr>
          <p:spPr bwMode="auto">
            <a:xfrm flipV="1">
              <a:off x="6291" y="272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Oval 27"/>
            <p:cNvSpPr>
              <a:spLocks noChangeArrowheads="1"/>
            </p:cNvSpPr>
            <p:nvPr/>
          </p:nvSpPr>
          <p:spPr bwMode="auto">
            <a:xfrm flipV="1">
              <a:off x="5949" y="289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Oval 28"/>
            <p:cNvSpPr>
              <a:spLocks noChangeArrowheads="1"/>
            </p:cNvSpPr>
            <p:nvPr/>
          </p:nvSpPr>
          <p:spPr bwMode="auto">
            <a:xfrm flipV="1">
              <a:off x="6120" y="28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Oval 29"/>
            <p:cNvSpPr>
              <a:spLocks noChangeArrowheads="1"/>
            </p:cNvSpPr>
            <p:nvPr/>
          </p:nvSpPr>
          <p:spPr bwMode="auto">
            <a:xfrm flipV="1">
              <a:off x="6290" y="289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Oval 30"/>
            <p:cNvSpPr>
              <a:spLocks noChangeArrowheads="1"/>
            </p:cNvSpPr>
            <p:nvPr/>
          </p:nvSpPr>
          <p:spPr bwMode="auto">
            <a:xfrm flipV="1">
              <a:off x="6460" y="272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Oval 31"/>
            <p:cNvSpPr>
              <a:spLocks noChangeArrowheads="1"/>
            </p:cNvSpPr>
            <p:nvPr/>
          </p:nvSpPr>
          <p:spPr bwMode="auto">
            <a:xfrm flipV="1">
              <a:off x="6459" y="289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Oval 32"/>
            <p:cNvSpPr>
              <a:spLocks noChangeArrowheads="1"/>
            </p:cNvSpPr>
            <p:nvPr/>
          </p:nvSpPr>
          <p:spPr bwMode="auto">
            <a:xfrm flipV="1">
              <a:off x="6120" y="306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Oval 33"/>
            <p:cNvSpPr>
              <a:spLocks noChangeArrowheads="1"/>
            </p:cNvSpPr>
            <p:nvPr/>
          </p:nvSpPr>
          <p:spPr bwMode="auto">
            <a:xfrm flipV="1">
              <a:off x="6289" y="306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Oval 34"/>
            <p:cNvSpPr>
              <a:spLocks noChangeArrowheads="1"/>
            </p:cNvSpPr>
            <p:nvPr/>
          </p:nvSpPr>
          <p:spPr bwMode="auto">
            <a:xfrm flipV="1">
              <a:off x="6459" y="306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Oval 35"/>
            <p:cNvSpPr>
              <a:spLocks noChangeArrowheads="1"/>
            </p:cNvSpPr>
            <p:nvPr/>
          </p:nvSpPr>
          <p:spPr bwMode="auto">
            <a:xfrm flipV="1">
              <a:off x="5949" y="323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Oval 36"/>
            <p:cNvSpPr>
              <a:spLocks noChangeArrowheads="1"/>
            </p:cNvSpPr>
            <p:nvPr/>
          </p:nvSpPr>
          <p:spPr bwMode="auto">
            <a:xfrm flipV="1">
              <a:off x="6120" y="323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Oval 37"/>
            <p:cNvSpPr>
              <a:spLocks noChangeArrowheads="1"/>
            </p:cNvSpPr>
            <p:nvPr/>
          </p:nvSpPr>
          <p:spPr bwMode="auto">
            <a:xfrm flipV="1">
              <a:off x="6290" y="323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Oval 38"/>
            <p:cNvSpPr>
              <a:spLocks noChangeArrowheads="1"/>
            </p:cNvSpPr>
            <p:nvPr/>
          </p:nvSpPr>
          <p:spPr bwMode="auto">
            <a:xfrm flipV="1">
              <a:off x="6459" y="323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AutoShape 39"/>
            <p:cNvSpPr>
              <a:spLocks noChangeArrowheads="1"/>
            </p:cNvSpPr>
            <p:nvPr/>
          </p:nvSpPr>
          <p:spPr bwMode="auto">
            <a:xfrm>
              <a:off x="5950" y="2720"/>
              <a:ext cx="169" cy="169"/>
            </a:xfrm>
            <a:prstGeom prst="flowChartSummingJunction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25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29343"/>
              </p:ext>
            </p:extLst>
          </p:nvPr>
        </p:nvGraphicFramePr>
        <p:xfrm>
          <a:off x="7433394" y="5941566"/>
          <a:ext cx="812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55320" imgH="177480" progId="Equation.3">
                  <p:embed/>
                </p:oleObj>
              </mc:Choice>
              <mc:Fallback>
                <p:oleObj name="Equation" r:id="rId10" imgW="355320" imgH="177480" progId="Equation.3">
                  <p:embed/>
                  <p:pic>
                    <p:nvPicPr>
                      <p:cNvPr id="125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3394" y="5941566"/>
                        <a:ext cx="812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Text Box 9"/>
          <p:cNvSpPr txBox="1">
            <a:spLocks noChangeArrowheads="1"/>
          </p:cNvSpPr>
          <p:nvPr/>
        </p:nvSpPr>
        <p:spPr bwMode="auto">
          <a:xfrm>
            <a:off x="971600" y="4181584"/>
            <a:ext cx="6295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pt-BR"/>
              <a:t>a</a:t>
            </a:r>
          </a:p>
        </p:txBody>
      </p:sp>
      <p:sp>
        <p:nvSpPr>
          <p:cNvPr id="127" name="Text Box 9"/>
          <p:cNvSpPr txBox="1">
            <a:spLocks noChangeArrowheads="1"/>
          </p:cNvSpPr>
          <p:nvPr/>
        </p:nvSpPr>
        <p:spPr bwMode="auto">
          <a:xfrm>
            <a:off x="1979713" y="4181584"/>
            <a:ext cx="6295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pt-BR"/>
              <a:t>B</a:t>
            </a:r>
          </a:p>
        </p:txBody>
      </p:sp>
      <p:sp>
        <p:nvSpPr>
          <p:cNvPr id="128" name="Text Box 9"/>
          <p:cNvSpPr txBox="1">
            <a:spLocks noChangeArrowheads="1"/>
          </p:cNvSpPr>
          <p:nvPr/>
        </p:nvSpPr>
        <p:spPr bwMode="auto">
          <a:xfrm>
            <a:off x="3232194" y="4181584"/>
            <a:ext cx="8454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pt-BR"/>
              <a:t>a + b</a:t>
            </a:r>
          </a:p>
        </p:txBody>
      </p:sp>
      <p:grpSp>
        <p:nvGrpSpPr>
          <p:cNvPr id="129" name="Group 6"/>
          <p:cNvGrpSpPr>
            <a:grpSpLocks/>
          </p:cNvGrpSpPr>
          <p:nvPr/>
        </p:nvGrpSpPr>
        <p:grpSpPr bwMode="auto">
          <a:xfrm>
            <a:off x="2319587" y="2276872"/>
            <a:ext cx="1219200" cy="1143000"/>
            <a:chOff x="4080" y="7650"/>
            <a:chExt cx="680" cy="680"/>
          </a:xfrm>
        </p:grpSpPr>
        <p:sp>
          <p:nvSpPr>
            <p:cNvPr id="130" name="Rectangle 7"/>
            <p:cNvSpPr>
              <a:spLocks noChangeArrowheads="1"/>
            </p:cNvSpPr>
            <p:nvPr/>
          </p:nvSpPr>
          <p:spPr bwMode="auto">
            <a:xfrm>
              <a:off x="4080" y="7650"/>
              <a:ext cx="680" cy="6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Oval 8"/>
            <p:cNvSpPr>
              <a:spLocks noChangeArrowheads="1"/>
            </p:cNvSpPr>
            <p:nvPr/>
          </p:nvSpPr>
          <p:spPr bwMode="auto">
            <a:xfrm flipV="1">
              <a:off x="408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Oval 9"/>
            <p:cNvSpPr>
              <a:spLocks noChangeArrowheads="1"/>
            </p:cNvSpPr>
            <p:nvPr/>
          </p:nvSpPr>
          <p:spPr bwMode="auto">
            <a:xfrm flipV="1">
              <a:off x="425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Oval 10"/>
            <p:cNvSpPr>
              <a:spLocks noChangeArrowheads="1"/>
            </p:cNvSpPr>
            <p:nvPr/>
          </p:nvSpPr>
          <p:spPr bwMode="auto">
            <a:xfrm flipV="1">
              <a:off x="442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Oval 11"/>
            <p:cNvSpPr>
              <a:spLocks noChangeArrowheads="1"/>
            </p:cNvSpPr>
            <p:nvPr/>
          </p:nvSpPr>
          <p:spPr bwMode="auto">
            <a:xfrm flipV="1">
              <a:off x="459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Oval 12"/>
            <p:cNvSpPr>
              <a:spLocks noChangeArrowheads="1"/>
            </p:cNvSpPr>
            <p:nvPr/>
          </p:nvSpPr>
          <p:spPr bwMode="auto">
            <a:xfrm flipV="1">
              <a:off x="408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Oval 13"/>
            <p:cNvSpPr>
              <a:spLocks noChangeArrowheads="1"/>
            </p:cNvSpPr>
            <p:nvPr/>
          </p:nvSpPr>
          <p:spPr bwMode="auto">
            <a:xfrm flipV="1">
              <a:off x="425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Oval 14"/>
            <p:cNvSpPr>
              <a:spLocks noChangeArrowheads="1"/>
            </p:cNvSpPr>
            <p:nvPr/>
          </p:nvSpPr>
          <p:spPr bwMode="auto">
            <a:xfrm flipV="1">
              <a:off x="442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Oval 15"/>
            <p:cNvSpPr>
              <a:spLocks noChangeArrowheads="1"/>
            </p:cNvSpPr>
            <p:nvPr/>
          </p:nvSpPr>
          <p:spPr bwMode="auto">
            <a:xfrm flipV="1">
              <a:off x="459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Oval 16"/>
            <p:cNvSpPr>
              <a:spLocks noChangeArrowheads="1"/>
            </p:cNvSpPr>
            <p:nvPr/>
          </p:nvSpPr>
          <p:spPr bwMode="auto">
            <a:xfrm flipV="1">
              <a:off x="425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Oval 17"/>
            <p:cNvSpPr>
              <a:spLocks noChangeArrowheads="1"/>
            </p:cNvSpPr>
            <p:nvPr/>
          </p:nvSpPr>
          <p:spPr bwMode="auto">
            <a:xfrm flipV="1">
              <a:off x="442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Oval 18"/>
            <p:cNvSpPr>
              <a:spLocks noChangeArrowheads="1"/>
            </p:cNvSpPr>
            <p:nvPr/>
          </p:nvSpPr>
          <p:spPr bwMode="auto">
            <a:xfrm flipV="1">
              <a:off x="459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Oval 19"/>
            <p:cNvSpPr>
              <a:spLocks noChangeArrowheads="1"/>
            </p:cNvSpPr>
            <p:nvPr/>
          </p:nvSpPr>
          <p:spPr bwMode="auto">
            <a:xfrm flipV="1">
              <a:off x="408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Oval 20"/>
            <p:cNvSpPr>
              <a:spLocks noChangeArrowheads="1"/>
            </p:cNvSpPr>
            <p:nvPr/>
          </p:nvSpPr>
          <p:spPr bwMode="auto">
            <a:xfrm flipV="1">
              <a:off x="425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Oval 21"/>
            <p:cNvSpPr>
              <a:spLocks noChangeArrowheads="1"/>
            </p:cNvSpPr>
            <p:nvPr/>
          </p:nvSpPr>
          <p:spPr bwMode="auto">
            <a:xfrm flipV="1">
              <a:off x="442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Oval 22"/>
            <p:cNvSpPr>
              <a:spLocks noChangeArrowheads="1"/>
            </p:cNvSpPr>
            <p:nvPr/>
          </p:nvSpPr>
          <p:spPr bwMode="auto">
            <a:xfrm flipV="1">
              <a:off x="459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AutoShape 23"/>
            <p:cNvSpPr>
              <a:spLocks noChangeArrowheads="1"/>
            </p:cNvSpPr>
            <p:nvPr/>
          </p:nvSpPr>
          <p:spPr bwMode="auto">
            <a:xfrm>
              <a:off x="4080" y="7650"/>
              <a:ext cx="169" cy="169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7" name="Group 24"/>
          <p:cNvGrpSpPr>
            <a:grpSpLocks/>
          </p:cNvGrpSpPr>
          <p:nvPr/>
        </p:nvGrpSpPr>
        <p:grpSpPr bwMode="auto">
          <a:xfrm>
            <a:off x="6058997" y="3001144"/>
            <a:ext cx="660400" cy="304800"/>
            <a:chOff x="7480" y="6750"/>
            <a:chExt cx="340" cy="170"/>
          </a:xfrm>
        </p:grpSpPr>
        <p:sp>
          <p:nvSpPr>
            <p:cNvPr id="148" name="Rectangle 25"/>
            <p:cNvSpPr>
              <a:spLocks noChangeArrowheads="1"/>
            </p:cNvSpPr>
            <p:nvPr/>
          </p:nvSpPr>
          <p:spPr bwMode="auto">
            <a:xfrm>
              <a:off x="7480" y="6750"/>
              <a:ext cx="340" cy="1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Oval 26"/>
            <p:cNvSpPr>
              <a:spLocks noChangeArrowheads="1"/>
            </p:cNvSpPr>
            <p:nvPr/>
          </p:nvSpPr>
          <p:spPr bwMode="auto">
            <a:xfrm>
              <a:off x="7650" y="6750"/>
              <a:ext cx="170" cy="17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AutoShape 27"/>
            <p:cNvSpPr>
              <a:spLocks noChangeArrowheads="1"/>
            </p:cNvSpPr>
            <p:nvPr/>
          </p:nvSpPr>
          <p:spPr bwMode="auto">
            <a:xfrm>
              <a:off x="7480" y="6750"/>
              <a:ext cx="170" cy="170"/>
            </a:xfrm>
            <a:prstGeom prst="flowChartSummingJunction">
              <a:avLst/>
            </a:prstGeom>
            <a:solidFill>
              <a:srgbClr val="000000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800DD283-A70A-4A5A-83E2-9E97AE19ACF9}"/>
                  </a:ext>
                </a:extLst>
              </p14:cNvPr>
              <p14:cNvContentPartPr/>
              <p14:nvPr/>
            </p14:nvContentPartPr>
            <p14:xfrm>
              <a:off x="8413560" y="3843360"/>
              <a:ext cx="412560" cy="34812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800DD283-A70A-4A5A-83E2-9E97AE19ACF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404200" y="3834000"/>
                <a:ext cx="431280" cy="36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3036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Erosão Binária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Exemplo</a:t>
            </a:r>
            <a:endParaRPr lang="en-US"/>
          </a:p>
        </p:txBody>
      </p:sp>
      <p:sp>
        <p:nvSpPr>
          <p:cNvPr id="6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221183" y="3436926"/>
            <a:ext cx="533400" cy="244476"/>
          </a:xfrm>
        </p:spPr>
        <p:txBody>
          <a:bodyPr>
            <a:normAutofit fontScale="85000" lnSpcReduction="20000"/>
          </a:bodyPr>
          <a:lstStyle/>
          <a:p>
            <a:fld id="{88A2AC5A-D27D-460A-BBC4-9EBB857D68C9}" type="slidenum">
              <a:rPr lang="pt-BR"/>
              <a:pPr/>
              <a:t>24</a:t>
            </a:fld>
            <a:endParaRPr lang="pt-BR"/>
          </a:p>
        </p:txBody>
      </p:sp>
      <p:sp>
        <p:nvSpPr>
          <p:cNvPr id="66" name="Text Box 3"/>
          <p:cNvSpPr txBox="1">
            <a:spLocks noChangeArrowheads="1"/>
          </p:cNvSpPr>
          <p:nvPr/>
        </p:nvSpPr>
        <p:spPr bwMode="auto">
          <a:xfrm>
            <a:off x="1377014" y="3563724"/>
            <a:ext cx="33123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A={(1,1),(3,3),(3,4),(4,3),(4,4)}</a:t>
            </a:r>
          </a:p>
        </p:txBody>
      </p:sp>
      <p:sp>
        <p:nvSpPr>
          <p:cNvPr id="67" name="Text Box 4"/>
          <p:cNvSpPr txBox="1">
            <a:spLocks noChangeArrowheads="1"/>
          </p:cNvSpPr>
          <p:nvPr/>
        </p:nvSpPr>
        <p:spPr bwMode="auto">
          <a:xfrm>
            <a:off x="5076056" y="3563724"/>
            <a:ext cx="276289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B={(0,0),(0,1),(1,0),(1,1)}</a:t>
            </a:r>
            <a:endParaRPr lang="pt-BR"/>
          </a:p>
        </p:txBody>
      </p:sp>
      <p:sp>
        <p:nvSpPr>
          <p:cNvPr id="71" name="Text Box 9"/>
          <p:cNvSpPr txBox="1">
            <a:spLocks noChangeArrowheads="1"/>
          </p:cNvSpPr>
          <p:nvPr/>
        </p:nvSpPr>
        <p:spPr bwMode="auto">
          <a:xfrm>
            <a:off x="77146" y="4537588"/>
            <a:ext cx="507605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pt-BR" sz="1600"/>
              <a:t>(1,1) + [(0,0),(0,1),(1,0),(1,1)] = [(1,1),(1,2),(2,1),(2,2)]</a:t>
            </a:r>
          </a:p>
        </p:txBody>
      </p:sp>
      <p:graphicFrame>
        <p:nvGraphicFramePr>
          <p:cNvPr id="7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4298055"/>
              </p:ext>
            </p:extLst>
          </p:nvPr>
        </p:nvGraphicFramePr>
        <p:xfrm>
          <a:off x="5940152" y="4574100"/>
          <a:ext cx="1422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736560" imgH="203040" progId="Equation.3">
                  <p:embed/>
                </p:oleObj>
              </mc:Choice>
              <mc:Fallback>
                <p:oleObj name="Equação" r:id="rId2" imgW="736560" imgH="203040" progId="Equation.3">
                  <p:embed/>
                  <p:pic>
                    <p:nvPicPr>
                      <p:cNvPr id="7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4574100"/>
                        <a:ext cx="1422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AutoShape 11"/>
          <p:cNvSpPr>
            <a:spLocks noChangeArrowheads="1"/>
          </p:cNvSpPr>
          <p:nvPr/>
        </p:nvSpPr>
        <p:spPr bwMode="auto">
          <a:xfrm>
            <a:off x="5148064" y="465030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74" name="Text Box 13"/>
          <p:cNvSpPr txBox="1">
            <a:spLocks noChangeArrowheads="1"/>
          </p:cNvSpPr>
          <p:nvPr/>
        </p:nvSpPr>
        <p:spPr bwMode="auto">
          <a:xfrm>
            <a:off x="77146" y="4995840"/>
            <a:ext cx="528694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pt-BR" sz="1600"/>
              <a:t>(3,3) + [(0,0),(0,1),(1,0),(1,1)] = [(3,3),(3,4),(4,3),(4,4)]</a:t>
            </a:r>
          </a:p>
        </p:txBody>
      </p:sp>
      <p:sp>
        <p:nvSpPr>
          <p:cNvPr id="75" name="AutoShape 14"/>
          <p:cNvSpPr>
            <a:spLocks noChangeArrowheads="1"/>
          </p:cNvSpPr>
          <p:nvPr/>
        </p:nvSpPr>
        <p:spPr bwMode="auto">
          <a:xfrm>
            <a:off x="5148064" y="507204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graphicFrame>
        <p:nvGraphicFramePr>
          <p:cNvPr id="7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7576536"/>
              </p:ext>
            </p:extLst>
          </p:nvPr>
        </p:nvGraphicFramePr>
        <p:xfrm>
          <a:off x="5940152" y="4995840"/>
          <a:ext cx="14970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774360" imgH="203040" progId="Equation.3">
                  <p:embed/>
                </p:oleObj>
              </mc:Choice>
              <mc:Fallback>
                <p:oleObj name="Equação" r:id="rId4" imgW="774360" imgH="203040" progId="Equation.3">
                  <p:embed/>
                  <p:pic>
                    <p:nvPicPr>
                      <p:cNvPr id="7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4995840"/>
                        <a:ext cx="14970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Text Box 16"/>
          <p:cNvSpPr txBox="1">
            <a:spLocks noChangeArrowheads="1"/>
          </p:cNvSpPr>
          <p:nvPr/>
        </p:nvSpPr>
        <p:spPr bwMode="auto">
          <a:xfrm>
            <a:off x="77146" y="5417184"/>
            <a:ext cx="510847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pt-BR" sz="1600"/>
              <a:t>(3,4) + [(0,0),(0,1),(1,0),(1,1)] = [(3,4),(3,5),(4,4),(4,5)]</a:t>
            </a:r>
          </a:p>
        </p:txBody>
      </p:sp>
      <p:sp>
        <p:nvSpPr>
          <p:cNvPr id="78" name="AutoShape 17"/>
          <p:cNvSpPr>
            <a:spLocks noChangeArrowheads="1"/>
          </p:cNvSpPr>
          <p:nvPr/>
        </p:nvSpPr>
        <p:spPr bwMode="auto">
          <a:xfrm>
            <a:off x="5148064" y="5493384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graphicFrame>
        <p:nvGraphicFramePr>
          <p:cNvPr id="7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6985610"/>
              </p:ext>
            </p:extLst>
          </p:nvPr>
        </p:nvGraphicFramePr>
        <p:xfrm>
          <a:off x="5927725" y="5416550"/>
          <a:ext cx="15208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787320" imgH="203040" progId="Equation.3">
                  <p:embed/>
                </p:oleObj>
              </mc:Choice>
              <mc:Fallback>
                <p:oleObj name="Equação" r:id="rId6" imgW="787320" imgH="203040" progId="Equation.3">
                  <p:embed/>
                  <p:pic>
                    <p:nvPicPr>
                      <p:cNvPr id="7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7725" y="5416550"/>
                        <a:ext cx="15208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Text Box 19"/>
          <p:cNvSpPr txBox="1">
            <a:spLocks noChangeArrowheads="1"/>
          </p:cNvSpPr>
          <p:nvPr/>
        </p:nvSpPr>
        <p:spPr bwMode="auto">
          <a:xfrm>
            <a:off x="77146" y="5843612"/>
            <a:ext cx="503646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pt-BR" sz="1600"/>
              <a:t>(4,3) + [(0,0),(0,1),(1,0),(1,1)] = [(4,3),(4,4),(5,3),(5,4)]</a:t>
            </a:r>
          </a:p>
        </p:txBody>
      </p:sp>
      <p:sp>
        <p:nvSpPr>
          <p:cNvPr id="81" name="AutoShape 20"/>
          <p:cNvSpPr>
            <a:spLocks noChangeArrowheads="1"/>
          </p:cNvSpPr>
          <p:nvPr/>
        </p:nvSpPr>
        <p:spPr bwMode="auto">
          <a:xfrm>
            <a:off x="5148064" y="5919812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graphicFrame>
        <p:nvGraphicFramePr>
          <p:cNvPr id="8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717973"/>
              </p:ext>
            </p:extLst>
          </p:nvPr>
        </p:nvGraphicFramePr>
        <p:xfrm>
          <a:off x="5953125" y="5843588"/>
          <a:ext cx="15208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8" imgW="787320" imgH="203040" progId="Equation.3">
                  <p:embed/>
                </p:oleObj>
              </mc:Choice>
              <mc:Fallback>
                <p:oleObj name="Equação" r:id="rId8" imgW="787320" imgH="203040" progId="Equation.3">
                  <p:embed/>
                  <p:pic>
                    <p:nvPicPr>
                      <p:cNvPr id="82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25" y="5843588"/>
                        <a:ext cx="15208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832466"/>
              </p:ext>
            </p:extLst>
          </p:nvPr>
        </p:nvGraphicFramePr>
        <p:xfrm>
          <a:off x="7827491" y="5891726"/>
          <a:ext cx="812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55320" imgH="177480" progId="Equation.3">
                  <p:embed/>
                </p:oleObj>
              </mc:Choice>
              <mc:Fallback>
                <p:oleObj name="Equation" r:id="rId10" imgW="355320" imgH="177480" progId="Equation.3">
                  <p:embed/>
                  <p:pic>
                    <p:nvPicPr>
                      <p:cNvPr id="125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7491" y="5891726"/>
                        <a:ext cx="812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Text Box 9"/>
          <p:cNvSpPr txBox="1">
            <a:spLocks noChangeArrowheads="1"/>
          </p:cNvSpPr>
          <p:nvPr/>
        </p:nvSpPr>
        <p:spPr bwMode="auto">
          <a:xfrm>
            <a:off x="107504" y="4131744"/>
            <a:ext cx="6295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pt-BR"/>
              <a:t>a</a:t>
            </a:r>
          </a:p>
        </p:txBody>
      </p:sp>
      <p:sp>
        <p:nvSpPr>
          <p:cNvPr id="127" name="Text Box 9"/>
          <p:cNvSpPr txBox="1">
            <a:spLocks noChangeArrowheads="1"/>
          </p:cNvSpPr>
          <p:nvPr/>
        </p:nvSpPr>
        <p:spPr bwMode="auto">
          <a:xfrm>
            <a:off x="1475656" y="4131744"/>
            <a:ext cx="6295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pt-BR"/>
              <a:t>B</a:t>
            </a:r>
          </a:p>
        </p:txBody>
      </p:sp>
      <p:sp>
        <p:nvSpPr>
          <p:cNvPr id="128" name="Text Box 9"/>
          <p:cNvSpPr txBox="1">
            <a:spLocks noChangeArrowheads="1"/>
          </p:cNvSpPr>
          <p:nvPr/>
        </p:nvSpPr>
        <p:spPr bwMode="auto">
          <a:xfrm>
            <a:off x="2843808" y="4131744"/>
            <a:ext cx="15121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pt-BR"/>
              <a:t>a + b</a:t>
            </a:r>
          </a:p>
        </p:txBody>
      </p:sp>
      <p:grpSp>
        <p:nvGrpSpPr>
          <p:cNvPr id="63" name="Group 3"/>
          <p:cNvGrpSpPr>
            <a:grpSpLocks/>
          </p:cNvGrpSpPr>
          <p:nvPr/>
        </p:nvGrpSpPr>
        <p:grpSpPr bwMode="auto">
          <a:xfrm>
            <a:off x="2366814" y="2164397"/>
            <a:ext cx="1263650" cy="1225550"/>
            <a:chOff x="2210" y="5100"/>
            <a:chExt cx="850" cy="850"/>
          </a:xfrm>
        </p:grpSpPr>
        <p:sp>
          <p:nvSpPr>
            <p:cNvPr id="64" name="Rectangle 4"/>
            <p:cNvSpPr>
              <a:spLocks noChangeArrowheads="1"/>
            </p:cNvSpPr>
            <p:nvPr/>
          </p:nvSpPr>
          <p:spPr bwMode="auto">
            <a:xfrm>
              <a:off x="2210" y="5100"/>
              <a:ext cx="850" cy="8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Oval 5"/>
            <p:cNvSpPr>
              <a:spLocks noChangeArrowheads="1"/>
            </p:cNvSpPr>
            <p:nvPr/>
          </p:nvSpPr>
          <p:spPr bwMode="auto">
            <a:xfrm flipV="1">
              <a:off x="2210" y="578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Oval 6"/>
            <p:cNvSpPr>
              <a:spLocks noChangeArrowheads="1"/>
            </p:cNvSpPr>
            <p:nvPr/>
          </p:nvSpPr>
          <p:spPr bwMode="auto">
            <a:xfrm flipV="1">
              <a:off x="2380" y="510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Oval 7"/>
            <p:cNvSpPr>
              <a:spLocks noChangeArrowheads="1"/>
            </p:cNvSpPr>
            <p:nvPr/>
          </p:nvSpPr>
          <p:spPr bwMode="auto">
            <a:xfrm flipV="1">
              <a:off x="2550" y="510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Oval 8"/>
            <p:cNvSpPr>
              <a:spLocks noChangeArrowheads="1"/>
            </p:cNvSpPr>
            <p:nvPr/>
          </p:nvSpPr>
          <p:spPr bwMode="auto">
            <a:xfrm flipV="1">
              <a:off x="2720" y="510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Oval 9"/>
            <p:cNvSpPr>
              <a:spLocks noChangeArrowheads="1"/>
            </p:cNvSpPr>
            <p:nvPr/>
          </p:nvSpPr>
          <p:spPr bwMode="auto">
            <a:xfrm flipV="1">
              <a:off x="2890" y="510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Oval 10"/>
            <p:cNvSpPr>
              <a:spLocks noChangeArrowheads="1"/>
            </p:cNvSpPr>
            <p:nvPr/>
          </p:nvSpPr>
          <p:spPr bwMode="auto">
            <a:xfrm flipV="1">
              <a:off x="2210" y="527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Oval 11"/>
            <p:cNvSpPr>
              <a:spLocks noChangeArrowheads="1"/>
            </p:cNvSpPr>
            <p:nvPr/>
          </p:nvSpPr>
          <p:spPr bwMode="auto">
            <a:xfrm flipV="1">
              <a:off x="2380" y="527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Oval 12"/>
            <p:cNvSpPr>
              <a:spLocks noChangeArrowheads="1"/>
            </p:cNvSpPr>
            <p:nvPr/>
          </p:nvSpPr>
          <p:spPr bwMode="auto">
            <a:xfrm flipV="1">
              <a:off x="2550" y="527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Oval 13"/>
            <p:cNvSpPr>
              <a:spLocks noChangeArrowheads="1"/>
            </p:cNvSpPr>
            <p:nvPr/>
          </p:nvSpPr>
          <p:spPr bwMode="auto">
            <a:xfrm flipV="1">
              <a:off x="2720" y="527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Oval 14"/>
            <p:cNvSpPr>
              <a:spLocks noChangeArrowheads="1"/>
            </p:cNvSpPr>
            <p:nvPr/>
          </p:nvSpPr>
          <p:spPr bwMode="auto">
            <a:xfrm flipV="1">
              <a:off x="2890" y="527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Oval 15"/>
            <p:cNvSpPr>
              <a:spLocks noChangeArrowheads="1"/>
            </p:cNvSpPr>
            <p:nvPr/>
          </p:nvSpPr>
          <p:spPr bwMode="auto">
            <a:xfrm flipV="1">
              <a:off x="2210" y="544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Oval 16"/>
            <p:cNvSpPr>
              <a:spLocks noChangeArrowheads="1"/>
            </p:cNvSpPr>
            <p:nvPr/>
          </p:nvSpPr>
          <p:spPr bwMode="auto">
            <a:xfrm flipV="1">
              <a:off x="2380" y="544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Oval 17"/>
            <p:cNvSpPr>
              <a:spLocks noChangeArrowheads="1"/>
            </p:cNvSpPr>
            <p:nvPr/>
          </p:nvSpPr>
          <p:spPr bwMode="auto">
            <a:xfrm flipV="1">
              <a:off x="2550" y="544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Oval 18"/>
            <p:cNvSpPr>
              <a:spLocks noChangeArrowheads="1"/>
            </p:cNvSpPr>
            <p:nvPr/>
          </p:nvSpPr>
          <p:spPr bwMode="auto">
            <a:xfrm flipV="1">
              <a:off x="2720" y="5440"/>
              <a:ext cx="169" cy="17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Oval 19"/>
            <p:cNvSpPr>
              <a:spLocks noChangeArrowheads="1"/>
            </p:cNvSpPr>
            <p:nvPr/>
          </p:nvSpPr>
          <p:spPr bwMode="auto">
            <a:xfrm flipV="1">
              <a:off x="2890" y="544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Oval 20"/>
            <p:cNvSpPr>
              <a:spLocks noChangeArrowheads="1"/>
            </p:cNvSpPr>
            <p:nvPr/>
          </p:nvSpPr>
          <p:spPr bwMode="auto">
            <a:xfrm flipV="1">
              <a:off x="2210" y="561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Oval 21"/>
            <p:cNvSpPr>
              <a:spLocks noChangeArrowheads="1"/>
            </p:cNvSpPr>
            <p:nvPr/>
          </p:nvSpPr>
          <p:spPr bwMode="auto">
            <a:xfrm flipV="1">
              <a:off x="2380" y="561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Oval 22"/>
            <p:cNvSpPr>
              <a:spLocks noChangeArrowheads="1"/>
            </p:cNvSpPr>
            <p:nvPr/>
          </p:nvSpPr>
          <p:spPr bwMode="auto">
            <a:xfrm flipV="1">
              <a:off x="2550" y="561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Oval 23"/>
            <p:cNvSpPr>
              <a:spLocks noChangeArrowheads="1"/>
            </p:cNvSpPr>
            <p:nvPr/>
          </p:nvSpPr>
          <p:spPr bwMode="auto">
            <a:xfrm flipV="1">
              <a:off x="2720" y="561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Oval 24"/>
            <p:cNvSpPr>
              <a:spLocks noChangeArrowheads="1"/>
            </p:cNvSpPr>
            <p:nvPr/>
          </p:nvSpPr>
          <p:spPr bwMode="auto">
            <a:xfrm flipV="1">
              <a:off x="2890" y="561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Oval 25"/>
            <p:cNvSpPr>
              <a:spLocks noChangeArrowheads="1"/>
            </p:cNvSpPr>
            <p:nvPr/>
          </p:nvSpPr>
          <p:spPr bwMode="auto">
            <a:xfrm flipV="1">
              <a:off x="2380" y="578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Oval 26"/>
            <p:cNvSpPr>
              <a:spLocks noChangeArrowheads="1"/>
            </p:cNvSpPr>
            <p:nvPr/>
          </p:nvSpPr>
          <p:spPr bwMode="auto">
            <a:xfrm flipV="1">
              <a:off x="2550" y="578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Oval 27"/>
            <p:cNvSpPr>
              <a:spLocks noChangeArrowheads="1"/>
            </p:cNvSpPr>
            <p:nvPr/>
          </p:nvSpPr>
          <p:spPr bwMode="auto">
            <a:xfrm flipV="1">
              <a:off x="2720" y="578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Oval 28"/>
            <p:cNvSpPr>
              <a:spLocks noChangeArrowheads="1"/>
            </p:cNvSpPr>
            <p:nvPr/>
          </p:nvSpPr>
          <p:spPr bwMode="auto">
            <a:xfrm flipV="1">
              <a:off x="2889" y="578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AutoShape 29"/>
            <p:cNvSpPr>
              <a:spLocks noChangeArrowheads="1"/>
            </p:cNvSpPr>
            <p:nvPr/>
          </p:nvSpPr>
          <p:spPr bwMode="auto">
            <a:xfrm>
              <a:off x="2210" y="5100"/>
              <a:ext cx="169" cy="169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4" name="Group 30"/>
          <p:cNvGrpSpPr>
            <a:grpSpLocks/>
          </p:cNvGrpSpPr>
          <p:nvPr/>
        </p:nvGrpSpPr>
        <p:grpSpPr bwMode="auto">
          <a:xfrm>
            <a:off x="6136073" y="2909887"/>
            <a:ext cx="506248" cy="480060"/>
            <a:chOff x="4250" y="5950"/>
            <a:chExt cx="340" cy="340"/>
          </a:xfrm>
        </p:grpSpPr>
        <p:sp>
          <p:nvSpPr>
            <p:cNvPr id="126" name="Rectangle 31"/>
            <p:cNvSpPr>
              <a:spLocks noChangeArrowheads="1"/>
            </p:cNvSpPr>
            <p:nvPr/>
          </p:nvSpPr>
          <p:spPr bwMode="auto">
            <a:xfrm>
              <a:off x="4250" y="5950"/>
              <a:ext cx="340" cy="3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Oval 32"/>
            <p:cNvSpPr>
              <a:spLocks noChangeArrowheads="1"/>
            </p:cNvSpPr>
            <p:nvPr/>
          </p:nvSpPr>
          <p:spPr bwMode="auto">
            <a:xfrm>
              <a:off x="4420" y="5950"/>
              <a:ext cx="170" cy="17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AutoShape 33"/>
            <p:cNvSpPr>
              <a:spLocks noChangeArrowheads="1"/>
            </p:cNvSpPr>
            <p:nvPr/>
          </p:nvSpPr>
          <p:spPr bwMode="auto">
            <a:xfrm>
              <a:off x="4250" y="5950"/>
              <a:ext cx="170" cy="170"/>
            </a:xfrm>
            <a:prstGeom prst="flowChartSummingJunction">
              <a:avLst/>
            </a:prstGeom>
            <a:solidFill>
              <a:srgbClr val="000000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Oval 34"/>
            <p:cNvSpPr>
              <a:spLocks noChangeArrowheads="1"/>
            </p:cNvSpPr>
            <p:nvPr/>
          </p:nvSpPr>
          <p:spPr bwMode="auto">
            <a:xfrm>
              <a:off x="4420" y="6120"/>
              <a:ext cx="170" cy="17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Oval 35"/>
            <p:cNvSpPr>
              <a:spLocks noChangeArrowheads="1"/>
            </p:cNvSpPr>
            <p:nvPr/>
          </p:nvSpPr>
          <p:spPr bwMode="auto">
            <a:xfrm>
              <a:off x="4250" y="6120"/>
              <a:ext cx="170" cy="17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5" name="Group 41"/>
          <p:cNvGrpSpPr>
            <a:grpSpLocks/>
          </p:cNvGrpSpPr>
          <p:nvPr/>
        </p:nvGrpSpPr>
        <p:grpSpPr bwMode="auto">
          <a:xfrm>
            <a:off x="7594641" y="4644740"/>
            <a:ext cx="1295400" cy="1219200"/>
            <a:chOff x="7140" y="4930"/>
            <a:chExt cx="850" cy="850"/>
          </a:xfrm>
        </p:grpSpPr>
        <p:sp>
          <p:nvSpPr>
            <p:cNvPr id="156" name="Rectangle 42"/>
            <p:cNvSpPr>
              <a:spLocks noChangeArrowheads="1"/>
            </p:cNvSpPr>
            <p:nvPr/>
          </p:nvSpPr>
          <p:spPr bwMode="auto">
            <a:xfrm>
              <a:off x="7140" y="4930"/>
              <a:ext cx="850" cy="85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Oval 43"/>
            <p:cNvSpPr>
              <a:spLocks noChangeArrowheads="1"/>
            </p:cNvSpPr>
            <p:nvPr/>
          </p:nvSpPr>
          <p:spPr bwMode="auto">
            <a:xfrm flipV="1">
              <a:off x="7140" y="561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Oval 44"/>
            <p:cNvSpPr>
              <a:spLocks noChangeArrowheads="1"/>
            </p:cNvSpPr>
            <p:nvPr/>
          </p:nvSpPr>
          <p:spPr bwMode="auto">
            <a:xfrm flipV="1">
              <a:off x="7310" y="493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Oval 45"/>
            <p:cNvSpPr>
              <a:spLocks noChangeArrowheads="1"/>
            </p:cNvSpPr>
            <p:nvPr/>
          </p:nvSpPr>
          <p:spPr bwMode="auto">
            <a:xfrm flipV="1">
              <a:off x="7480" y="493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Oval 46"/>
            <p:cNvSpPr>
              <a:spLocks noChangeArrowheads="1"/>
            </p:cNvSpPr>
            <p:nvPr/>
          </p:nvSpPr>
          <p:spPr bwMode="auto">
            <a:xfrm flipV="1">
              <a:off x="7650" y="493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Oval 47"/>
            <p:cNvSpPr>
              <a:spLocks noChangeArrowheads="1"/>
            </p:cNvSpPr>
            <p:nvPr/>
          </p:nvSpPr>
          <p:spPr bwMode="auto">
            <a:xfrm flipV="1">
              <a:off x="7820" y="493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Oval 48"/>
            <p:cNvSpPr>
              <a:spLocks noChangeArrowheads="1"/>
            </p:cNvSpPr>
            <p:nvPr/>
          </p:nvSpPr>
          <p:spPr bwMode="auto">
            <a:xfrm flipV="1">
              <a:off x="7140" y="510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Oval 49"/>
            <p:cNvSpPr>
              <a:spLocks noChangeArrowheads="1"/>
            </p:cNvSpPr>
            <p:nvPr/>
          </p:nvSpPr>
          <p:spPr bwMode="auto">
            <a:xfrm flipV="1">
              <a:off x="7310" y="510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Oval 50"/>
            <p:cNvSpPr>
              <a:spLocks noChangeArrowheads="1"/>
            </p:cNvSpPr>
            <p:nvPr/>
          </p:nvSpPr>
          <p:spPr bwMode="auto">
            <a:xfrm flipV="1">
              <a:off x="7480" y="510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Oval 51"/>
            <p:cNvSpPr>
              <a:spLocks noChangeArrowheads="1"/>
            </p:cNvSpPr>
            <p:nvPr/>
          </p:nvSpPr>
          <p:spPr bwMode="auto">
            <a:xfrm flipV="1">
              <a:off x="7650" y="510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Oval 52"/>
            <p:cNvSpPr>
              <a:spLocks noChangeArrowheads="1"/>
            </p:cNvSpPr>
            <p:nvPr/>
          </p:nvSpPr>
          <p:spPr bwMode="auto">
            <a:xfrm flipV="1">
              <a:off x="7820" y="510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Oval 53"/>
            <p:cNvSpPr>
              <a:spLocks noChangeArrowheads="1"/>
            </p:cNvSpPr>
            <p:nvPr/>
          </p:nvSpPr>
          <p:spPr bwMode="auto">
            <a:xfrm flipV="1">
              <a:off x="7140" y="527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Oval 54"/>
            <p:cNvSpPr>
              <a:spLocks noChangeArrowheads="1"/>
            </p:cNvSpPr>
            <p:nvPr/>
          </p:nvSpPr>
          <p:spPr bwMode="auto">
            <a:xfrm flipV="1">
              <a:off x="7310" y="527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Oval 55"/>
            <p:cNvSpPr>
              <a:spLocks noChangeArrowheads="1"/>
            </p:cNvSpPr>
            <p:nvPr/>
          </p:nvSpPr>
          <p:spPr bwMode="auto">
            <a:xfrm flipV="1">
              <a:off x="7480" y="527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Oval 56"/>
            <p:cNvSpPr>
              <a:spLocks noChangeArrowheads="1"/>
            </p:cNvSpPr>
            <p:nvPr/>
          </p:nvSpPr>
          <p:spPr bwMode="auto">
            <a:xfrm flipV="1">
              <a:off x="7650" y="5270"/>
              <a:ext cx="169" cy="17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Oval 57"/>
            <p:cNvSpPr>
              <a:spLocks noChangeArrowheads="1"/>
            </p:cNvSpPr>
            <p:nvPr/>
          </p:nvSpPr>
          <p:spPr bwMode="auto">
            <a:xfrm flipV="1">
              <a:off x="7820" y="527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Oval 58"/>
            <p:cNvSpPr>
              <a:spLocks noChangeArrowheads="1"/>
            </p:cNvSpPr>
            <p:nvPr/>
          </p:nvSpPr>
          <p:spPr bwMode="auto">
            <a:xfrm flipV="1">
              <a:off x="7140" y="544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Oval 59"/>
            <p:cNvSpPr>
              <a:spLocks noChangeArrowheads="1"/>
            </p:cNvSpPr>
            <p:nvPr/>
          </p:nvSpPr>
          <p:spPr bwMode="auto">
            <a:xfrm flipV="1">
              <a:off x="7310" y="544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Oval 60"/>
            <p:cNvSpPr>
              <a:spLocks noChangeArrowheads="1"/>
            </p:cNvSpPr>
            <p:nvPr/>
          </p:nvSpPr>
          <p:spPr bwMode="auto">
            <a:xfrm flipV="1">
              <a:off x="7480" y="544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Oval 61"/>
            <p:cNvSpPr>
              <a:spLocks noChangeArrowheads="1"/>
            </p:cNvSpPr>
            <p:nvPr/>
          </p:nvSpPr>
          <p:spPr bwMode="auto">
            <a:xfrm flipV="1">
              <a:off x="7650" y="544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Oval 62"/>
            <p:cNvSpPr>
              <a:spLocks noChangeArrowheads="1"/>
            </p:cNvSpPr>
            <p:nvPr/>
          </p:nvSpPr>
          <p:spPr bwMode="auto">
            <a:xfrm flipV="1">
              <a:off x="7820" y="544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Oval 63"/>
            <p:cNvSpPr>
              <a:spLocks noChangeArrowheads="1"/>
            </p:cNvSpPr>
            <p:nvPr/>
          </p:nvSpPr>
          <p:spPr bwMode="auto">
            <a:xfrm flipV="1">
              <a:off x="7310" y="561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Oval 64"/>
            <p:cNvSpPr>
              <a:spLocks noChangeArrowheads="1"/>
            </p:cNvSpPr>
            <p:nvPr/>
          </p:nvSpPr>
          <p:spPr bwMode="auto">
            <a:xfrm flipV="1">
              <a:off x="7480" y="561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Oval 65"/>
            <p:cNvSpPr>
              <a:spLocks noChangeArrowheads="1"/>
            </p:cNvSpPr>
            <p:nvPr/>
          </p:nvSpPr>
          <p:spPr bwMode="auto">
            <a:xfrm flipV="1">
              <a:off x="7650" y="561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Oval 66"/>
            <p:cNvSpPr>
              <a:spLocks noChangeArrowheads="1"/>
            </p:cNvSpPr>
            <p:nvPr/>
          </p:nvSpPr>
          <p:spPr bwMode="auto">
            <a:xfrm flipV="1">
              <a:off x="7819" y="561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AutoShape 67"/>
            <p:cNvSpPr>
              <a:spLocks noChangeArrowheads="1"/>
            </p:cNvSpPr>
            <p:nvPr/>
          </p:nvSpPr>
          <p:spPr bwMode="auto">
            <a:xfrm>
              <a:off x="7140" y="4930"/>
              <a:ext cx="169" cy="169"/>
            </a:xfrm>
            <a:prstGeom prst="flowChartSummingJunction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2" name="Text Box 19"/>
          <p:cNvSpPr txBox="1">
            <a:spLocks noChangeArrowheads="1"/>
          </p:cNvSpPr>
          <p:nvPr/>
        </p:nvSpPr>
        <p:spPr bwMode="auto">
          <a:xfrm>
            <a:off x="77146" y="6275660"/>
            <a:ext cx="503646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pt-BR" sz="1600"/>
              <a:t>(4,4) + [(0,0),(0,1),(1,0),(1,1)] = [(4,4),(4,5),(5,4),(5,5)]</a:t>
            </a:r>
          </a:p>
        </p:txBody>
      </p:sp>
      <p:sp>
        <p:nvSpPr>
          <p:cNvPr id="183" name="AutoShape 20"/>
          <p:cNvSpPr>
            <a:spLocks noChangeArrowheads="1"/>
          </p:cNvSpPr>
          <p:nvPr/>
        </p:nvSpPr>
        <p:spPr bwMode="auto">
          <a:xfrm>
            <a:off x="5148064" y="635186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graphicFrame>
        <p:nvGraphicFramePr>
          <p:cNvPr id="184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7644046"/>
              </p:ext>
            </p:extLst>
          </p:nvPr>
        </p:nvGraphicFramePr>
        <p:xfrm>
          <a:off x="5940152" y="6275660"/>
          <a:ext cx="15462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2" imgW="799920" imgH="203040" progId="Equation.3">
                  <p:embed/>
                </p:oleObj>
              </mc:Choice>
              <mc:Fallback>
                <p:oleObj name="Equação" r:id="rId12" imgW="799920" imgH="203040" progId="Equation.3">
                  <p:embed/>
                  <p:pic>
                    <p:nvPicPr>
                      <p:cNvPr id="184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6275660"/>
                        <a:ext cx="15462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83727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Erosão Binária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Exemplos</a:t>
            </a:r>
            <a:endParaRPr lang="en-US"/>
          </a:p>
        </p:txBody>
      </p:sp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142727"/>
            <a:ext cx="7728917" cy="4670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0420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Erosão Binária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Exemplos</a:t>
            </a:r>
            <a:endParaRPr lang="en-US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967" y="2348880"/>
            <a:ext cx="7605473" cy="4206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77068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Dilatação x Erosão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/>
              <a:t>Considerações</a:t>
            </a:r>
          </a:p>
          <a:p>
            <a:pPr lvl="1"/>
            <a:r>
              <a:rPr lang="pt-BR"/>
              <a:t>A Dilatação expande uma imagem e a Erosão reduz</a:t>
            </a:r>
          </a:p>
          <a:p>
            <a:pPr lvl="1"/>
            <a:r>
              <a:rPr lang="pt-BR"/>
              <a:t>A Erosão não é o inverso da Dilatação (há exceções)</a:t>
            </a:r>
          </a:p>
          <a:p>
            <a:pPr lvl="2"/>
            <a:r>
              <a:rPr lang="pt-BR"/>
              <a:t>Elas são operações duais: </a:t>
            </a:r>
          </a:p>
          <a:p>
            <a:endParaRPr lang="pt-BR"/>
          </a:p>
          <a:p>
            <a:pPr lvl="2"/>
            <a:endParaRPr lang="pt-BR"/>
          </a:p>
          <a:p>
            <a:pPr lvl="2"/>
            <a:r>
              <a:rPr lang="pt-BR"/>
              <a:t>O complemento de uma Erosão é o mesmo que uma Dilatação do complemento da imagem pelo elemento estruturante refletido</a:t>
            </a:r>
          </a:p>
          <a:p>
            <a:endParaRPr lang="pt-BR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7902683"/>
              </p:ext>
            </p:extLst>
          </p:nvPr>
        </p:nvGraphicFramePr>
        <p:xfrm>
          <a:off x="3117850" y="3429000"/>
          <a:ext cx="290830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726" imgH="241195" progId="Equation.3">
                  <p:embed/>
                </p:oleObj>
              </mc:Choice>
              <mc:Fallback>
                <p:oleObj name="Equation" r:id="rId2" imgW="1091726" imgH="241195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0" y="3429000"/>
                        <a:ext cx="2908300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E6D68F8-7CC2-CEA8-28CA-3526195CB0BD}"/>
                  </a:ext>
                </a:extLst>
              </p14:cNvPr>
              <p14:cNvContentPartPr/>
              <p14:nvPr/>
            </p14:nvContentPartPr>
            <p14:xfrm>
              <a:off x="8726040" y="3929040"/>
              <a:ext cx="286920" cy="11700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E6D68F8-7CC2-CEA8-28CA-3526195CB0B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16680" y="3919680"/>
                <a:ext cx="305640" cy="13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68952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Abertura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/>
              <a:t>A operação de Abertura é uma operação de Erosão seguida imediatamente de uma Dilatação utilizando o mesmo elemento estrutural</a:t>
            </a:r>
          </a:p>
          <a:p>
            <a:pPr lvl="1"/>
            <a:r>
              <a:rPr lang="pt-BR"/>
              <a:t>Assim, a Abertura de um conjunto </a:t>
            </a:r>
            <a:r>
              <a:rPr lang="pt-BR" i="1"/>
              <a:t>A</a:t>
            </a:r>
            <a:r>
              <a:rPr lang="pt-BR"/>
              <a:t> por um elemento estruturante </a:t>
            </a:r>
            <a:r>
              <a:rPr lang="pt-BR" i="1"/>
              <a:t>B</a:t>
            </a:r>
            <a:r>
              <a:rPr lang="pt-BR"/>
              <a:t>, é definida como:</a:t>
            </a:r>
            <a:endParaRPr lang="en-US"/>
          </a:p>
          <a:p>
            <a:endParaRPr lang="pt-BR"/>
          </a:p>
          <a:p>
            <a:pPr lvl="1"/>
            <a:r>
              <a:rPr lang="pt-BR"/>
              <a:t>A Abertura é uma operação morfológica que geralmente suaviza o contorno de uma imagem, quebra </a:t>
            </a:r>
            <a:r>
              <a:rPr lang="pt-BR" i="1"/>
              <a:t>istmos</a:t>
            </a:r>
            <a:r>
              <a:rPr lang="pt-BR"/>
              <a:t> estreitos e elimina </a:t>
            </a:r>
            <a:r>
              <a:rPr lang="pt-BR" err="1"/>
              <a:t>protusões</a:t>
            </a:r>
            <a:r>
              <a:rPr lang="pt-BR"/>
              <a:t> finas </a:t>
            </a:r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0773285"/>
              </p:ext>
            </p:extLst>
          </p:nvPr>
        </p:nvGraphicFramePr>
        <p:xfrm>
          <a:off x="2870200" y="3717032"/>
          <a:ext cx="340360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800" imgH="203200" progId="Equation.3">
                  <p:embed/>
                </p:oleObj>
              </mc:Choice>
              <mc:Fallback>
                <p:oleObj name="Equation" r:id="rId2" imgW="1193800" imgH="2032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200" y="3717032"/>
                        <a:ext cx="3403600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47246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Abertura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Exemplo</a:t>
            </a:r>
            <a:endParaRPr lang="en-US"/>
          </a:p>
        </p:txBody>
      </p:sp>
      <p:grpSp>
        <p:nvGrpSpPr>
          <p:cNvPr id="13" name="Grupo 12"/>
          <p:cNvGrpSpPr/>
          <p:nvPr/>
        </p:nvGrpSpPr>
        <p:grpSpPr>
          <a:xfrm>
            <a:off x="1115616" y="2097896"/>
            <a:ext cx="7076103" cy="4643472"/>
            <a:chOff x="1024289" y="2097896"/>
            <a:chExt cx="7076103" cy="4643472"/>
          </a:xfrm>
        </p:grpSpPr>
        <p:pic>
          <p:nvPicPr>
            <p:cNvPr id="12" name="Picture 1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402" y="5055443"/>
              <a:ext cx="3232990" cy="1685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3489" y="2514263"/>
              <a:ext cx="604838" cy="4889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6570468" y="3047663"/>
              <a:ext cx="3968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pt-BR" sz="2000"/>
                <a:t>B</a:t>
              </a:r>
            </a:p>
          </p:txBody>
        </p:sp>
        <p:pic>
          <p:nvPicPr>
            <p:cNvPr id="9" name="Picture 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3289" y="3621509"/>
              <a:ext cx="3414713" cy="14636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9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4381" y="3728477"/>
              <a:ext cx="2692676" cy="14636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" name="Picture 10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4289" y="5008240"/>
              <a:ext cx="2974975" cy="1609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4222" y="2097896"/>
              <a:ext cx="3274443" cy="15471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089149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Abertura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Exemplo</a:t>
            </a:r>
            <a:endParaRPr lang="en-US"/>
          </a:p>
        </p:txBody>
      </p:sp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204864"/>
            <a:ext cx="8086675" cy="4180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03636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Abertura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/>
              <a:t>Utilização</a:t>
            </a:r>
          </a:p>
          <a:p>
            <a:pPr lvl="1"/>
            <a:r>
              <a:rPr lang="pt-BR"/>
              <a:t>A Abertura tende a abrir pequenos vazios ou espaços entre objetos próximos numa imagem</a:t>
            </a:r>
          </a:p>
          <a:p>
            <a:pPr lvl="1"/>
            <a:r>
              <a:rPr lang="pt-BR"/>
              <a:t>A operação Abertura é usada também para remover ruídos da imagem (pontos brancos no fundo preto)</a:t>
            </a:r>
          </a:p>
          <a:p>
            <a:pPr lvl="2"/>
            <a:r>
              <a:rPr lang="pt-BR"/>
              <a:t>Pontos aleatórios e isolados podem ser removidos pela Erosão e a forma dos objetos é recuperada pela Dilatação sem restaurar o ruído</a:t>
            </a:r>
          </a:p>
          <a:p>
            <a:pPr lvl="2"/>
            <a:r>
              <a:rPr lang="pt-BR"/>
              <a:t>Este processo é útil apenas para remover pontos de ruído no fundo. Ele não serve para pontos espúrios dentro do objeto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636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Fechamento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/>
              <a:t>A operação de Fechamento é uma operação de Dilatação seguida imediatamente de uma Erosão utilizando o mesmo elemento estrutural</a:t>
            </a:r>
          </a:p>
          <a:p>
            <a:pPr lvl="1"/>
            <a:r>
              <a:rPr lang="pt-BR"/>
              <a:t>Assim, o Fechamento de um conjunto </a:t>
            </a:r>
            <a:r>
              <a:rPr lang="pt-BR" i="1"/>
              <a:t>A</a:t>
            </a:r>
            <a:r>
              <a:rPr lang="pt-BR"/>
              <a:t> por um elemento estruturante </a:t>
            </a:r>
            <a:r>
              <a:rPr lang="pt-BR" i="1"/>
              <a:t>B</a:t>
            </a:r>
            <a:r>
              <a:rPr lang="pt-BR"/>
              <a:t>, é definida como:</a:t>
            </a:r>
          </a:p>
          <a:p>
            <a:pPr lvl="1"/>
            <a:endParaRPr lang="pt-BR"/>
          </a:p>
          <a:p>
            <a:pPr lvl="1"/>
            <a:r>
              <a:rPr lang="pt-BR"/>
              <a:t>A operação de Fechamento também tende a suavizar os contornos, mas geralmente funde partes, elimina pequenos buracos e preenche fendas em um contorno</a:t>
            </a:r>
          </a:p>
          <a:p>
            <a:pPr lvl="1"/>
            <a:endParaRPr lang="en-US"/>
          </a:p>
          <a:p>
            <a:endParaRPr lang="en-US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6530590"/>
              </p:ext>
            </p:extLst>
          </p:nvPr>
        </p:nvGraphicFramePr>
        <p:xfrm>
          <a:off x="2711450" y="3848100"/>
          <a:ext cx="37211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800" imgH="203200" progId="Equation.3">
                  <p:embed/>
                </p:oleObj>
              </mc:Choice>
              <mc:Fallback>
                <p:oleObj name="Equation" r:id="rId2" imgW="1193800" imgH="2032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3848100"/>
                        <a:ext cx="37211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18BD352-8FE6-75F6-95F0-7DB93C8A1DB3}"/>
                  </a:ext>
                </a:extLst>
              </p14:cNvPr>
              <p14:cNvContentPartPr/>
              <p14:nvPr/>
            </p14:nvContentPartPr>
            <p14:xfrm>
              <a:off x="3191040" y="4146480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18BD352-8FE6-75F6-95F0-7DB93C8A1D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81680" y="41371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19092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/>
          <p:cNvGrpSpPr/>
          <p:nvPr/>
        </p:nvGrpSpPr>
        <p:grpSpPr>
          <a:xfrm>
            <a:off x="914401" y="1985147"/>
            <a:ext cx="7499782" cy="4773977"/>
            <a:chOff x="914401" y="2111407"/>
            <a:chExt cx="7499782" cy="4773977"/>
          </a:xfrm>
        </p:grpSpPr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2894" y="2111407"/>
              <a:ext cx="3179025" cy="15018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0800" y="2426717"/>
              <a:ext cx="604838" cy="4889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6507338" y="2960117"/>
              <a:ext cx="3968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pt-BR" sz="2000"/>
                <a:t>B</a:t>
              </a:r>
            </a:p>
          </p:txBody>
        </p:sp>
        <p:pic>
          <p:nvPicPr>
            <p:cNvPr id="7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1" y="3576658"/>
              <a:ext cx="3364390" cy="1640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10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5402" y="3547363"/>
              <a:ext cx="3308781" cy="18258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1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349" y="5213541"/>
              <a:ext cx="3373659" cy="16687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1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0073" y="5337579"/>
              <a:ext cx="3067805" cy="15478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Fechamento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Exemplo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5748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Fechamento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Exemplo</a:t>
            </a:r>
            <a:endParaRPr lang="en-US"/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97" y="2421553"/>
            <a:ext cx="7798643" cy="4031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86637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Fechamento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Utilização</a:t>
            </a:r>
          </a:p>
          <a:p>
            <a:pPr lvl="1"/>
            <a:r>
              <a:rPr lang="pt-BR"/>
              <a:t>A operação de Fechamento irá preencher ou fechar os vazios dentro do objeto</a:t>
            </a:r>
          </a:p>
          <a:p>
            <a:pPr lvl="1"/>
            <a:r>
              <a:rPr lang="pt-BR"/>
              <a:t>A operação Fechamento pode remover muitos dos pixels pretos de ruído (objeto branco)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5748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Abertura x Fechamento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/>
              <a:t>Abertura</a:t>
            </a:r>
          </a:p>
          <a:p>
            <a:pPr lvl="1"/>
            <a:r>
              <a:rPr lang="pt-BR"/>
              <a:t>       é um </a:t>
            </a:r>
            <a:r>
              <a:rPr lang="pt-BR" err="1"/>
              <a:t>sub-conjunto</a:t>
            </a:r>
            <a:r>
              <a:rPr lang="pt-BR"/>
              <a:t> de </a:t>
            </a:r>
            <a:r>
              <a:rPr lang="pt-BR" i="1"/>
              <a:t>A</a:t>
            </a:r>
          </a:p>
          <a:p>
            <a:pPr lvl="1"/>
            <a:r>
              <a:rPr lang="pt-BR"/>
              <a:t>Se </a:t>
            </a:r>
            <a:r>
              <a:rPr lang="pt-BR" i="1"/>
              <a:t>C</a:t>
            </a:r>
            <a:r>
              <a:rPr lang="pt-BR"/>
              <a:t> for um </a:t>
            </a:r>
            <a:r>
              <a:rPr lang="pt-BR" err="1"/>
              <a:t>sub-conjunto</a:t>
            </a:r>
            <a:r>
              <a:rPr lang="pt-BR"/>
              <a:t> de </a:t>
            </a:r>
            <a:r>
              <a:rPr lang="pt-BR" i="1"/>
              <a:t>D</a:t>
            </a:r>
            <a:r>
              <a:rPr lang="pt-BR"/>
              <a:t>, então          será um </a:t>
            </a:r>
            <a:r>
              <a:rPr lang="pt-BR" err="1"/>
              <a:t>sub-conjunto</a:t>
            </a:r>
            <a:r>
              <a:rPr lang="pt-BR"/>
              <a:t> de</a:t>
            </a:r>
          </a:p>
          <a:p>
            <a:pPr lvl="1"/>
            <a:endParaRPr lang="pt-BR" i="1"/>
          </a:p>
          <a:p>
            <a:r>
              <a:rPr lang="pt-BR"/>
              <a:t>Fechamento</a:t>
            </a:r>
          </a:p>
          <a:p>
            <a:pPr lvl="1"/>
            <a:r>
              <a:rPr lang="pt-BR"/>
              <a:t>A é um </a:t>
            </a:r>
            <a:r>
              <a:rPr lang="pt-BR" err="1"/>
              <a:t>sub-conjunto</a:t>
            </a:r>
            <a:r>
              <a:rPr lang="pt-BR"/>
              <a:t> de </a:t>
            </a:r>
          </a:p>
          <a:p>
            <a:pPr lvl="1"/>
            <a:r>
              <a:rPr lang="pt-BR">
                <a:latin typeface="Arial" charset="0"/>
              </a:rPr>
              <a:t>Se </a:t>
            </a:r>
            <a:r>
              <a:rPr lang="pt-BR" i="1">
                <a:latin typeface="Arial" charset="0"/>
              </a:rPr>
              <a:t>C</a:t>
            </a:r>
            <a:r>
              <a:rPr lang="pt-BR">
                <a:latin typeface="Arial" charset="0"/>
              </a:rPr>
              <a:t> for um </a:t>
            </a:r>
            <a:r>
              <a:rPr lang="pt-BR" err="1">
                <a:latin typeface="Arial" charset="0"/>
              </a:rPr>
              <a:t>sub-conjunto</a:t>
            </a:r>
            <a:r>
              <a:rPr lang="pt-BR">
                <a:latin typeface="Arial" charset="0"/>
              </a:rPr>
              <a:t> de </a:t>
            </a:r>
            <a:r>
              <a:rPr lang="pt-BR" i="1">
                <a:latin typeface="Arial" charset="0"/>
              </a:rPr>
              <a:t>D</a:t>
            </a:r>
            <a:r>
              <a:rPr lang="pt-BR">
                <a:latin typeface="Arial" charset="0"/>
              </a:rPr>
              <a:t>, então          será um </a:t>
            </a:r>
            <a:r>
              <a:rPr lang="pt-BR" err="1">
                <a:latin typeface="Arial" charset="0"/>
              </a:rPr>
              <a:t>sub-conjunto</a:t>
            </a:r>
            <a:r>
              <a:rPr lang="pt-BR">
                <a:latin typeface="Arial" charset="0"/>
              </a:rPr>
              <a:t> de</a:t>
            </a:r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997941"/>
              </p:ext>
            </p:extLst>
          </p:nvPr>
        </p:nvGraphicFramePr>
        <p:xfrm>
          <a:off x="1218946" y="2173145"/>
          <a:ext cx="7874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5292" imgH="164957" progId="Equation.3">
                  <p:embed/>
                </p:oleObj>
              </mc:Choice>
              <mc:Fallback>
                <p:oleObj name="Equation" r:id="rId2" imgW="355292" imgH="164957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8946" y="2173145"/>
                        <a:ext cx="787400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0414327"/>
              </p:ext>
            </p:extLst>
          </p:nvPr>
        </p:nvGraphicFramePr>
        <p:xfrm>
          <a:off x="4573975" y="4509120"/>
          <a:ext cx="8159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8140" imgH="165028" progId="Equation.3">
                  <p:embed/>
                </p:oleObj>
              </mc:Choice>
              <mc:Fallback>
                <p:oleObj name="Equation" r:id="rId4" imgW="368140" imgH="165028" progId="Equation.3">
                  <p:embed/>
                  <p:pic>
                    <p:nvPicPr>
                      <p:cNvPr id="6" name="Obje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3975" y="4509120"/>
                        <a:ext cx="815975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057648"/>
              </p:ext>
            </p:extLst>
          </p:nvPr>
        </p:nvGraphicFramePr>
        <p:xfrm>
          <a:off x="6181624" y="2662253"/>
          <a:ext cx="787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5138" imgH="177569" progId="Equation.3">
                  <p:embed/>
                </p:oleObj>
              </mc:Choice>
              <mc:Fallback>
                <p:oleObj name="Equation" r:id="rId6" imgW="355138" imgH="177569" progId="Equation.3">
                  <p:embed/>
                  <p:pic>
                    <p:nvPicPr>
                      <p:cNvPr id="7" name="Objeto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1624" y="2662253"/>
                        <a:ext cx="787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8837967"/>
              </p:ext>
            </p:extLst>
          </p:nvPr>
        </p:nvGraphicFramePr>
        <p:xfrm>
          <a:off x="3563888" y="3074941"/>
          <a:ext cx="9144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8140" imgH="165028" progId="Equation.3">
                  <p:embed/>
                </p:oleObj>
              </mc:Choice>
              <mc:Fallback>
                <p:oleObj name="Equation" r:id="rId8" imgW="368140" imgH="165028" progId="Equation.3">
                  <p:embed/>
                  <p:pic>
                    <p:nvPicPr>
                      <p:cNvPr id="8" name="Objeto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3074941"/>
                        <a:ext cx="91440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6889952"/>
              </p:ext>
            </p:extLst>
          </p:nvPr>
        </p:nvGraphicFramePr>
        <p:xfrm>
          <a:off x="4275510" y="5351299"/>
          <a:ext cx="944562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0835" imgH="165028" progId="Equation.3">
                  <p:embed/>
                </p:oleObj>
              </mc:Choice>
              <mc:Fallback>
                <p:oleObj name="Equation" r:id="rId10" imgW="380835" imgH="165028" progId="Equation.3">
                  <p:embed/>
                  <p:pic>
                    <p:nvPicPr>
                      <p:cNvPr id="9" name="Objeto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5510" y="5351299"/>
                        <a:ext cx="944562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o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4928540"/>
              </p:ext>
            </p:extLst>
          </p:nvPr>
        </p:nvGraphicFramePr>
        <p:xfrm>
          <a:off x="6937449" y="4979177"/>
          <a:ext cx="8159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68140" imgH="177723" progId="Equation.3">
                  <p:embed/>
                </p:oleObj>
              </mc:Choice>
              <mc:Fallback>
                <p:oleObj name="Equation" r:id="rId12" imgW="368140" imgH="177723" progId="Equation.3">
                  <p:embed/>
                  <p:pic>
                    <p:nvPicPr>
                      <p:cNvPr id="10" name="Objeto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7449" y="4979177"/>
                        <a:ext cx="81597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DF28563-8EA3-C8A3-4793-BA53EF9C64AC}"/>
                  </a:ext>
                </a:extLst>
              </p14:cNvPr>
              <p14:cNvContentPartPr/>
              <p14:nvPr/>
            </p14:nvContentPartPr>
            <p14:xfrm>
              <a:off x="7420320" y="4164840"/>
              <a:ext cx="295920" cy="22032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DF28563-8EA3-C8A3-4793-BA53EF9C64A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10960" y="4155480"/>
                <a:ext cx="314640" cy="23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61724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Abertura x Fechamento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rPr lang="pt-BR" dirty="0" err="1"/>
              <a:t>Idempotência</a:t>
            </a:r>
            <a:r>
              <a:rPr lang="pt-BR" dirty="0"/>
              <a:t> - diversas aplicações não mudam o </a:t>
            </a:r>
            <a:r>
              <a:rPr lang="pt-BR" dirty="0" err="1"/>
              <a:t>resutado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A Abertura e o Fechamento são operações duais relativamente à complementação e reflexão de conjuntos</a:t>
            </a:r>
            <a:endParaRPr lang="en-US" dirty="0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3933674"/>
              </p:ext>
            </p:extLst>
          </p:nvPr>
        </p:nvGraphicFramePr>
        <p:xfrm>
          <a:off x="2790676" y="5462041"/>
          <a:ext cx="336550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700" imgH="241300" progId="Equation.3">
                  <p:embed/>
                </p:oleObj>
              </mc:Choice>
              <mc:Fallback>
                <p:oleObj name="Equation" r:id="rId2" imgW="1155700" imgH="2413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676" y="5462041"/>
                        <a:ext cx="3365500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6614448"/>
              </p:ext>
            </p:extLst>
          </p:nvPr>
        </p:nvGraphicFramePr>
        <p:xfrm>
          <a:off x="2944390" y="2276872"/>
          <a:ext cx="2947395" cy="529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29810" imgH="203112" progId="Equation.3">
                  <p:embed/>
                </p:oleObj>
              </mc:Choice>
              <mc:Fallback>
                <p:oleObj name="Equation" r:id="rId4" imgW="1129810" imgH="203112" progId="Equation.3">
                  <p:embed/>
                  <p:pic>
                    <p:nvPicPr>
                      <p:cNvPr id="7" name="Objeto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4390" y="2276872"/>
                        <a:ext cx="2947395" cy="5292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0920678"/>
              </p:ext>
            </p:extLst>
          </p:nvPr>
        </p:nvGraphicFramePr>
        <p:xfrm>
          <a:off x="2915816" y="2971800"/>
          <a:ext cx="3013546" cy="529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55700" imgH="203200" progId="Equation.3">
                  <p:embed/>
                </p:oleObj>
              </mc:Choice>
              <mc:Fallback>
                <p:oleObj name="Equation" r:id="rId6" imgW="1155700" imgH="203200" progId="Equation.3">
                  <p:embed/>
                  <p:pic>
                    <p:nvPicPr>
                      <p:cNvPr id="8" name="Objeto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2971800"/>
                        <a:ext cx="3013546" cy="5292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7B55E7B8-611B-A797-5A49-C76C7916947F}"/>
                  </a:ext>
                </a:extLst>
              </p14:cNvPr>
              <p14:cNvContentPartPr/>
              <p14:nvPr/>
            </p14:nvContentPartPr>
            <p14:xfrm>
              <a:off x="7732440" y="4604760"/>
              <a:ext cx="360" cy="2304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7B55E7B8-611B-A797-5A49-C76C7916947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23080" y="4595400"/>
                <a:ext cx="19080" cy="4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34456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Exemplo</a:t>
            </a:r>
            <a:r>
              <a:rPr lang="en-US"/>
              <a:t>: </a:t>
            </a:r>
            <a:r>
              <a:rPr lang="en-US" err="1"/>
              <a:t>Filtro</a:t>
            </a:r>
            <a:r>
              <a:rPr lang="en-US"/>
              <a:t> </a:t>
            </a:r>
            <a:r>
              <a:rPr lang="en-US" err="1"/>
              <a:t>Morfológico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rPr lang="pt-BR"/>
              <a:t>Um filtro para ruídos isolados, pode ser realizado por meio de uma Abertura seguida de um Fechamento</a:t>
            </a:r>
            <a:endParaRPr lang="en-US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996952"/>
            <a:ext cx="7697788" cy="364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91363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Transformada Hit-</a:t>
            </a:r>
            <a:r>
              <a:rPr lang="pt-BR" err="1"/>
              <a:t>or</a:t>
            </a:r>
            <a:r>
              <a:rPr lang="pt-BR"/>
              <a:t>-Miss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/>
              <a:t>A transformada morfológica </a:t>
            </a:r>
            <a:r>
              <a:rPr lang="pt-BR" i="1"/>
              <a:t>hit-</a:t>
            </a:r>
            <a:r>
              <a:rPr lang="pt-BR" i="1" err="1"/>
              <a:t>or</a:t>
            </a:r>
            <a:r>
              <a:rPr lang="pt-BR" i="1"/>
              <a:t>-miss</a:t>
            </a:r>
            <a:r>
              <a:rPr lang="pt-BR"/>
              <a:t> é uma ferramenta básica para a detecção de formas em uma imagem</a:t>
            </a:r>
          </a:p>
          <a:p>
            <a:r>
              <a:rPr lang="pt-BR"/>
              <a:t>Essa transformada combina erosão e dilatação para produzir um operador capaz de indicar a posição onde um determinado padrão se encontra</a:t>
            </a:r>
          </a:p>
          <a:p>
            <a:pPr lvl="1"/>
            <a:r>
              <a:rPr lang="pt-BR"/>
              <a:t>O padrão procurado é o elemento estruturante </a:t>
            </a:r>
            <a:r>
              <a:rPr lang="pt-BR" i="1"/>
              <a:t>B</a:t>
            </a:r>
          </a:p>
          <a:p>
            <a:pPr lvl="1"/>
            <a:r>
              <a:rPr lang="pt-BR"/>
              <a:t>A transformada somente é capaz de encontrar elementos sem ruídos</a:t>
            </a:r>
          </a:p>
        </p:txBody>
      </p:sp>
    </p:spTree>
    <p:extLst>
      <p:ext uri="{BB962C8B-B14F-4D97-AF65-F5344CB8AC3E}">
        <p14:creationId xmlns:p14="http://schemas.microsoft.com/office/powerpoint/2010/main" val="23885461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Transformada Hit-</a:t>
            </a:r>
            <a:r>
              <a:rPr lang="pt-BR" err="1"/>
              <a:t>or</a:t>
            </a:r>
            <a:r>
              <a:rPr lang="pt-BR"/>
              <a:t>-Miss: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Exemplo</a:t>
            </a:r>
          </a:p>
          <a:p>
            <a:pPr lvl="1"/>
            <a:r>
              <a:rPr lang="pt-BR"/>
              <a:t>Seja </a:t>
            </a:r>
            <a:r>
              <a:rPr lang="pt-BR" i="1"/>
              <a:t>A</a:t>
            </a:r>
            <a:r>
              <a:rPr lang="pt-BR"/>
              <a:t> uma imagem que consiste de três padrões </a:t>
            </a:r>
            <a:r>
              <a:rPr lang="pt-BR" i="1"/>
              <a:t>X</a:t>
            </a:r>
            <a:r>
              <a:rPr lang="pt-BR"/>
              <a:t>, </a:t>
            </a:r>
            <a:r>
              <a:rPr lang="pt-BR" i="1"/>
              <a:t>Y</a:t>
            </a:r>
            <a:r>
              <a:rPr lang="pt-BR"/>
              <a:t> e </a:t>
            </a:r>
            <a:r>
              <a:rPr lang="pt-BR" i="1"/>
              <a:t>Z</a:t>
            </a:r>
            <a:r>
              <a:rPr lang="pt-BR"/>
              <a:t>. Nosso objetivo é localizar o padrão </a:t>
            </a:r>
            <a:r>
              <a:rPr lang="pt-BR" i="1"/>
              <a:t>Y</a:t>
            </a:r>
            <a:endParaRPr lang="pt-BR"/>
          </a:p>
          <a:p>
            <a:pPr lvl="2"/>
            <a:r>
              <a:rPr lang="pt-BR"/>
              <a:t>A origem de cada forma localizada em seu centro de gravidade</a:t>
            </a:r>
            <a:endParaRPr lang="pt-BR" i="1"/>
          </a:p>
          <a:p>
            <a:pPr lvl="1"/>
            <a:endParaRPr lang="pt-BR"/>
          </a:p>
        </p:txBody>
      </p:sp>
      <p:pic>
        <p:nvPicPr>
          <p:cNvPr id="8397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769" y="4154760"/>
            <a:ext cx="36576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72696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Transformada Hit-</a:t>
            </a:r>
            <a:r>
              <a:rPr lang="pt-BR" err="1"/>
              <a:t>or</a:t>
            </a:r>
            <a:r>
              <a:rPr lang="pt-BR"/>
              <a:t>-Miss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Itens necessários para a transformada</a:t>
            </a:r>
          </a:p>
          <a:p>
            <a:pPr lvl="1"/>
            <a:r>
              <a:rPr lang="pt-BR"/>
              <a:t>O complemento de </a:t>
            </a:r>
            <a:r>
              <a:rPr lang="pt-BR" i="1"/>
              <a:t>A:</a:t>
            </a:r>
            <a:r>
              <a:rPr lang="pt-BR"/>
              <a:t> </a:t>
            </a:r>
            <a:r>
              <a:rPr lang="pt-BR" i="1"/>
              <a:t>A</a:t>
            </a:r>
            <a:r>
              <a:rPr lang="pt-BR" i="1" baseline="30000"/>
              <a:t>c</a:t>
            </a:r>
            <a:endParaRPr lang="pt-BR"/>
          </a:p>
          <a:p>
            <a:pPr lvl="1"/>
            <a:r>
              <a:rPr lang="pt-BR"/>
              <a:t>Se circundarmos </a:t>
            </a:r>
            <a:r>
              <a:rPr lang="pt-BR" i="1"/>
              <a:t>Y</a:t>
            </a:r>
            <a:r>
              <a:rPr lang="pt-BR"/>
              <a:t> com uma pequena janela </a:t>
            </a:r>
            <a:r>
              <a:rPr lang="pt-BR" i="1"/>
              <a:t>W</a:t>
            </a:r>
            <a:r>
              <a:rPr lang="pt-BR"/>
              <a:t>, o “</a:t>
            </a:r>
            <a:r>
              <a:rPr lang="pt-BR" i="1"/>
              <a:t>fundo local</a:t>
            </a:r>
            <a:r>
              <a:rPr lang="pt-BR"/>
              <a:t>” de </a:t>
            </a:r>
            <a:r>
              <a:rPr lang="pt-BR" i="1"/>
              <a:t>Y</a:t>
            </a:r>
            <a:r>
              <a:rPr lang="pt-BR"/>
              <a:t> com respeito a </a:t>
            </a:r>
            <a:r>
              <a:rPr lang="pt-BR" i="1"/>
              <a:t>W</a:t>
            </a:r>
            <a:r>
              <a:rPr lang="pt-BR"/>
              <a:t> será o conjunto diferença (</a:t>
            </a:r>
            <a:r>
              <a:rPr lang="pt-BR" i="1"/>
              <a:t>W-Y</a:t>
            </a:r>
            <a:r>
              <a:rPr lang="pt-BR"/>
              <a:t>)</a:t>
            </a:r>
          </a:p>
          <a:p>
            <a:pPr lvl="1"/>
            <a:endParaRPr lang="pt-BR"/>
          </a:p>
        </p:txBody>
      </p:sp>
      <p:pic>
        <p:nvPicPr>
          <p:cNvPr id="849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4405114"/>
            <a:ext cx="2843213" cy="170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49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005064"/>
            <a:ext cx="3686175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197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743798"/>
            <a:ext cx="3508058" cy="2444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951" y="3429620"/>
            <a:ext cx="4378166" cy="3383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Transformada Hit-</a:t>
            </a:r>
            <a:r>
              <a:rPr lang="pt-BR" err="1"/>
              <a:t>or</a:t>
            </a:r>
            <a:r>
              <a:rPr lang="pt-BR"/>
              <a:t>-Miss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Ordem das operações</a:t>
            </a:r>
          </a:p>
          <a:p>
            <a:pPr lvl="1"/>
            <a:r>
              <a:rPr lang="pt-BR"/>
              <a:t>Primeiramente, aplicamos a Erosão de </a:t>
            </a:r>
            <a:r>
              <a:rPr lang="pt-BR" i="1"/>
              <a:t>A</a:t>
            </a:r>
            <a:r>
              <a:rPr lang="pt-BR"/>
              <a:t> por </a:t>
            </a:r>
            <a:r>
              <a:rPr lang="pt-BR" i="1"/>
              <a:t>Y</a:t>
            </a:r>
          </a:p>
          <a:p>
            <a:pPr lvl="1"/>
            <a:r>
              <a:rPr lang="pt-BR"/>
              <a:t>Em seguida, aplicamos a Erosão do complemento de </a:t>
            </a:r>
            <a:r>
              <a:rPr lang="pt-BR" i="1"/>
              <a:t>A </a:t>
            </a:r>
            <a:r>
              <a:rPr lang="pt-BR"/>
              <a:t>pelo conjunto fundo local </a:t>
            </a:r>
            <a:r>
              <a:rPr lang="pt-BR" i="1"/>
              <a:t>(W-Y)</a:t>
            </a:r>
          </a:p>
          <a:p>
            <a:pPr lvl="1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78284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Transformada Hit-</a:t>
            </a:r>
            <a:r>
              <a:rPr lang="pt-BR" err="1"/>
              <a:t>or</a:t>
            </a:r>
            <a:r>
              <a:rPr lang="pt-BR"/>
              <a:t>-Miss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Resultado</a:t>
            </a:r>
          </a:p>
          <a:p>
            <a:pPr lvl="1"/>
            <a:r>
              <a:rPr lang="pt-BR"/>
              <a:t>A interseção da erosão de </a:t>
            </a:r>
            <a:r>
              <a:rPr lang="pt-BR" i="1"/>
              <a:t>A</a:t>
            </a:r>
            <a:r>
              <a:rPr lang="pt-BR"/>
              <a:t> por </a:t>
            </a:r>
            <a:r>
              <a:rPr lang="pt-BR" i="1"/>
              <a:t>Y</a:t>
            </a:r>
            <a:r>
              <a:rPr lang="pt-BR"/>
              <a:t> e a erosão de </a:t>
            </a:r>
            <a:r>
              <a:rPr lang="pt-BR" i="1"/>
              <a:t>A</a:t>
            </a:r>
            <a:r>
              <a:rPr lang="pt-BR" i="1" baseline="30000"/>
              <a:t>c</a:t>
            </a:r>
            <a:r>
              <a:rPr lang="pt-BR"/>
              <a:t> por (</a:t>
            </a:r>
            <a:r>
              <a:rPr lang="pt-BR" i="1"/>
              <a:t>W-Y</a:t>
            </a:r>
            <a:r>
              <a:rPr lang="pt-BR"/>
              <a:t>) resulta na posição do objeto que se está buscando</a:t>
            </a:r>
          </a:p>
          <a:p>
            <a:pPr lvl="1"/>
            <a:endParaRPr lang="en-US"/>
          </a:p>
        </p:txBody>
      </p:sp>
      <p:grpSp>
        <p:nvGrpSpPr>
          <p:cNvPr id="9" name="Grupo 8"/>
          <p:cNvGrpSpPr/>
          <p:nvPr/>
        </p:nvGrpSpPr>
        <p:grpSpPr>
          <a:xfrm>
            <a:off x="2195736" y="3501950"/>
            <a:ext cx="5581650" cy="3248026"/>
            <a:chOff x="2195736" y="3501950"/>
            <a:chExt cx="5581650" cy="3248026"/>
          </a:xfrm>
        </p:grpSpPr>
        <p:pic>
          <p:nvPicPr>
            <p:cNvPr id="87045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5816" y="4221088"/>
              <a:ext cx="3743325" cy="2528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6" name="Conector de seta reta 5"/>
            <p:cNvCxnSpPr/>
            <p:nvPr/>
          </p:nvCxnSpPr>
          <p:spPr>
            <a:xfrm>
              <a:off x="2771800" y="4077072"/>
              <a:ext cx="1512168" cy="18002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" name="Objeto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9060821"/>
                </p:ext>
              </p:extLst>
            </p:nvPr>
          </p:nvGraphicFramePr>
          <p:xfrm>
            <a:off x="2195736" y="3501950"/>
            <a:ext cx="5581650" cy="719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3" imgW="1968480" imgH="253800" progId="Equation.3">
                    <p:embed/>
                  </p:oleObj>
                </mc:Choice>
                <mc:Fallback>
                  <p:oleObj name="Equação" r:id="rId3" imgW="1968480" imgH="253800" progId="Equation.3">
                    <p:embed/>
                    <p:pic>
                      <p:nvPicPr>
                        <p:cNvPr id="8" name="Objeto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5736" y="3501950"/>
                          <a:ext cx="5581650" cy="719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83523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Morfológicos</a:t>
            </a:r>
            <a:r>
              <a:rPr lang="en-US"/>
              <a:t> </a:t>
            </a:r>
            <a:r>
              <a:rPr lang="en-US" err="1"/>
              <a:t>Básicos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/>
              <a:t>No caso de imagens binárias, a principal aplicação de morfologia é a extração de componentes da imagem que sejam úteis na representação e na descrição de formas</a:t>
            </a:r>
          </a:p>
          <a:p>
            <a:r>
              <a:rPr lang="pt-BR"/>
              <a:t>Exemplos</a:t>
            </a:r>
          </a:p>
          <a:p>
            <a:pPr lvl="1"/>
            <a:r>
              <a:rPr lang="pt-BR"/>
              <a:t>Extração de fronteiras</a:t>
            </a:r>
          </a:p>
          <a:p>
            <a:pPr lvl="1"/>
            <a:r>
              <a:rPr lang="pt-BR"/>
              <a:t>Preenchimento de regiões</a:t>
            </a:r>
          </a:p>
          <a:p>
            <a:pPr lvl="1"/>
            <a:r>
              <a:rPr lang="pt-BR"/>
              <a:t>Componentes conectados</a:t>
            </a:r>
          </a:p>
          <a:p>
            <a:pPr lvl="1"/>
            <a:r>
              <a:rPr lang="pt-BR"/>
              <a:t>Afinamento/Espessamento</a:t>
            </a:r>
          </a:p>
          <a:p>
            <a:pPr lvl="1"/>
            <a:r>
              <a:rPr lang="pt-BR"/>
              <a:t>Esqueletização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3148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Morfológicos</a:t>
            </a:r>
            <a:r>
              <a:rPr lang="en-US"/>
              <a:t> </a:t>
            </a:r>
            <a:r>
              <a:rPr lang="en-US" err="1"/>
              <a:t>Básicos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Extração de fronteiras</a:t>
            </a:r>
          </a:p>
          <a:p>
            <a:pPr lvl="1"/>
            <a:r>
              <a:rPr lang="pt-BR"/>
              <a:t>A fronteira de uma imagem </a:t>
            </a:r>
            <a:r>
              <a:rPr lang="pt-BR" i="1"/>
              <a:t>A</a:t>
            </a:r>
            <a:r>
              <a:rPr lang="pt-BR"/>
              <a:t> é obtida por meio da erosão de </a:t>
            </a:r>
            <a:r>
              <a:rPr lang="pt-BR" i="1"/>
              <a:t>A </a:t>
            </a:r>
            <a:r>
              <a:rPr lang="pt-BR"/>
              <a:t>por</a:t>
            </a:r>
            <a:r>
              <a:rPr lang="pt-BR" i="1"/>
              <a:t> B</a:t>
            </a:r>
            <a:r>
              <a:rPr lang="pt-BR"/>
              <a:t>, e posterior subtração dessa erosão do próprio</a:t>
            </a:r>
            <a:r>
              <a:rPr lang="pt-BR" i="1"/>
              <a:t> A</a:t>
            </a:r>
            <a:endParaRPr lang="pt-BR"/>
          </a:p>
        </p:txBody>
      </p:sp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4136851"/>
            <a:ext cx="3981450" cy="267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Obje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8008894"/>
              </p:ext>
            </p:extLst>
          </p:nvPr>
        </p:nvGraphicFramePr>
        <p:xfrm>
          <a:off x="3347864" y="3546276"/>
          <a:ext cx="26416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67893" imgH="203112" progId="Equation.3">
                  <p:embed/>
                </p:oleObj>
              </mc:Choice>
              <mc:Fallback>
                <p:oleObj name="Equation" r:id="rId3" imgW="1167893" imgH="203112" progId="Equation.3">
                  <p:embed/>
                  <p:pic>
                    <p:nvPicPr>
                      <p:cNvPr id="9" name="Objeto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3546276"/>
                        <a:ext cx="26416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72343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Morfológicos</a:t>
            </a:r>
            <a:r>
              <a:rPr lang="en-US"/>
              <a:t> </a:t>
            </a:r>
            <a:r>
              <a:rPr lang="en-US" err="1"/>
              <a:t>Básicos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Extração de fronteiras: Exemplo</a:t>
            </a:r>
          </a:p>
          <a:p>
            <a:endParaRPr lang="en-US"/>
          </a:p>
        </p:txBody>
      </p:sp>
      <p:pic>
        <p:nvPicPr>
          <p:cNvPr id="890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350" y="2564904"/>
            <a:ext cx="6591300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72167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Morfológicos</a:t>
            </a:r>
            <a:r>
              <a:rPr lang="en-US"/>
              <a:t> </a:t>
            </a:r>
            <a:r>
              <a:rPr lang="en-US" err="1"/>
              <a:t>Básicos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Extração de fronteiras</a:t>
            </a:r>
          </a:p>
          <a:p>
            <a:pPr lvl="1"/>
            <a:r>
              <a:rPr lang="pt-BR"/>
              <a:t>Como utilizamos uma operação de erosão, temos as borda internas da forma. O mesmo pode ser feito com uma operação de dilatação</a:t>
            </a:r>
            <a:endParaRPr lang="pt-BR" i="1"/>
          </a:p>
          <a:p>
            <a:pPr lvl="1"/>
            <a:r>
              <a:rPr lang="pt-BR"/>
              <a:t>Bordas internas</a:t>
            </a:r>
          </a:p>
          <a:p>
            <a:pPr lvl="1"/>
            <a:endParaRPr lang="pt-BR"/>
          </a:p>
          <a:p>
            <a:pPr lvl="1"/>
            <a:endParaRPr lang="pt-BR"/>
          </a:p>
          <a:p>
            <a:pPr lvl="1"/>
            <a:r>
              <a:rPr lang="pt-BR"/>
              <a:t>Bordas externas</a:t>
            </a:r>
          </a:p>
        </p:txBody>
      </p:sp>
      <p:graphicFrame>
        <p:nvGraphicFramePr>
          <p:cNvPr id="9" name="Obje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8248830"/>
              </p:ext>
            </p:extLst>
          </p:nvPr>
        </p:nvGraphicFramePr>
        <p:xfrm>
          <a:off x="3347864" y="4122340"/>
          <a:ext cx="26416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67893" imgH="203112" progId="Equation.3">
                  <p:embed/>
                </p:oleObj>
              </mc:Choice>
              <mc:Fallback>
                <p:oleObj name="Equation" r:id="rId2" imgW="1167893" imgH="203112" progId="Equation.3">
                  <p:embed/>
                  <p:pic>
                    <p:nvPicPr>
                      <p:cNvPr id="9" name="Objeto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4122340"/>
                        <a:ext cx="26416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9531031"/>
              </p:ext>
            </p:extLst>
          </p:nvPr>
        </p:nvGraphicFramePr>
        <p:xfrm>
          <a:off x="3217863" y="5388322"/>
          <a:ext cx="29591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231560" imgH="203040" progId="Equation.3">
                  <p:embed/>
                </p:oleObj>
              </mc:Choice>
              <mc:Fallback>
                <p:oleObj name="Equação" r:id="rId4" imgW="1231560" imgH="20304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7863" y="5388322"/>
                        <a:ext cx="29591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46681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Morfológicos</a:t>
            </a:r>
            <a:r>
              <a:rPr lang="en-US"/>
              <a:t> </a:t>
            </a:r>
            <a:r>
              <a:rPr lang="en-US" err="1"/>
              <a:t>Básicos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err="1"/>
              <a:t>Preenchimento</a:t>
            </a:r>
            <a:r>
              <a:rPr lang="en-US"/>
              <a:t> de </a:t>
            </a:r>
            <a:r>
              <a:rPr lang="en-US" err="1"/>
              <a:t>Regiões</a:t>
            </a:r>
            <a:endParaRPr lang="en-US"/>
          </a:p>
          <a:p>
            <a:pPr lvl="1"/>
            <a:r>
              <a:rPr lang="pt-BR"/>
              <a:t>A partir de um ponto dentro da uma região definida por uma borda/fronteira, esse algoritmo busca preencher completamente a região até a borda</a:t>
            </a:r>
          </a:p>
          <a:p>
            <a:pPr lvl="1"/>
            <a:endParaRPr lang="en-US"/>
          </a:p>
        </p:txBody>
      </p:sp>
      <p:pic>
        <p:nvPicPr>
          <p:cNvPr id="901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769568"/>
            <a:ext cx="2386013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01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567" y="3818065"/>
            <a:ext cx="2300288" cy="288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99901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Morfológicos</a:t>
            </a:r>
            <a:r>
              <a:rPr lang="en-US"/>
              <a:t> </a:t>
            </a:r>
            <a:r>
              <a:rPr lang="en-US" err="1"/>
              <a:t>Básicos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r>
              <a:rPr lang="en-US" err="1"/>
              <a:t>Preenchimento</a:t>
            </a:r>
            <a:r>
              <a:rPr lang="en-US"/>
              <a:t> de </a:t>
            </a:r>
            <a:r>
              <a:rPr lang="en-US" err="1"/>
              <a:t>Regiões</a:t>
            </a:r>
            <a:endParaRPr lang="en-US"/>
          </a:p>
          <a:p>
            <a:endParaRPr lang="en-US"/>
          </a:p>
          <a:p>
            <a:pPr lvl="1"/>
            <a:r>
              <a:rPr lang="pt-BR"/>
              <a:t>Onde </a:t>
            </a:r>
          </a:p>
          <a:p>
            <a:pPr lvl="2"/>
            <a:r>
              <a:rPr lang="pt-BR" i="1"/>
              <a:t>X</a:t>
            </a:r>
            <a:r>
              <a:rPr lang="pt-BR" i="1" baseline="-25000"/>
              <a:t>0</a:t>
            </a:r>
            <a:r>
              <a:rPr lang="pt-BR"/>
              <a:t> é um ponto </a:t>
            </a:r>
            <a:r>
              <a:rPr lang="pt-BR" b="1"/>
              <a:t>dentro </a:t>
            </a:r>
            <a:r>
              <a:rPr lang="pt-BR"/>
              <a:t>da fronteira</a:t>
            </a:r>
          </a:p>
          <a:p>
            <a:pPr lvl="2"/>
            <a:r>
              <a:rPr lang="pt-BR" i="1"/>
              <a:t>B</a:t>
            </a:r>
            <a:r>
              <a:rPr lang="pt-BR"/>
              <a:t> é o elemento estruturante</a:t>
            </a:r>
          </a:p>
          <a:p>
            <a:pPr lvl="2"/>
            <a:r>
              <a:rPr lang="pt-BR" i="1"/>
              <a:t>A</a:t>
            </a:r>
            <a:r>
              <a:rPr lang="pt-BR" i="1" baseline="30000"/>
              <a:t>c</a:t>
            </a:r>
            <a:r>
              <a:rPr lang="pt-BR"/>
              <a:t> é o complemento de </a:t>
            </a:r>
            <a:r>
              <a:rPr lang="pt-BR" i="1"/>
              <a:t>A</a:t>
            </a:r>
          </a:p>
          <a:p>
            <a:pPr lvl="1"/>
            <a:r>
              <a:rPr lang="pt-BR"/>
              <a:t>Essa equação é aplicada repetidamente até que </a:t>
            </a:r>
            <a:r>
              <a:rPr lang="pt-BR" i="1" err="1"/>
              <a:t>X</a:t>
            </a:r>
            <a:r>
              <a:rPr lang="pt-BR" i="1" baseline="-25000" err="1"/>
              <a:t>k</a:t>
            </a:r>
            <a:r>
              <a:rPr lang="pt-BR"/>
              <a:t> seja igual a </a:t>
            </a:r>
            <a:r>
              <a:rPr lang="pt-BR" i="1"/>
              <a:t>X</a:t>
            </a:r>
            <a:r>
              <a:rPr lang="pt-BR" i="1" baseline="-25000"/>
              <a:t>k-1</a:t>
            </a:r>
          </a:p>
          <a:p>
            <a:pPr lvl="1"/>
            <a:r>
              <a:rPr lang="pt-BR"/>
              <a:t>Por fim, o resultado é unido com a fronteira original</a:t>
            </a:r>
            <a:endParaRPr lang="en-US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513065"/>
              </p:ext>
            </p:extLst>
          </p:nvPr>
        </p:nvGraphicFramePr>
        <p:xfrm>
          <a:off x="1826096" y="1990229"/>
          <a:ext cx="54102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55900" imgH="292100" progId="Equation.3">
                  <p:embed/>
                </p:oleObj>
              </mc:Choice>
              <mc:Fallback>
                <p:oleObj name="Equation" r:id="rId2" imgW="2755900" imgH="2921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6096" y="1990229"/>
                        <a:ext cx="54102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36093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Morfológicos</a:t>
            </a:r>
            <a:r>
              <a:rPr lang="en-US"/>
              <a:t> </a:t>
            </a:r>
            <a:r>
              <a:rPr lang="en-US" err="1"/>
              <a:t>Básicos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Preenchimento</a:t>
            </a:r>
            <a:r>
              <a:rPr lang="en-US"/>
              <a:t> de </a:t>
            </a:r>
            <a:r>
              <a:rPr lang="en-US" err="1"/>
              <a:t>Regiões</a:t>
            </a:r>
            <a:r>
              <a:rPr lang="en-US"/>
              <a:t>: </a:t>
            </a:r>
            <a:r>
              <a:rPr lang="en-US" err="1"/>
              <a:t>Exemplo</a:t>
            </a:r>
            <a:endParaRPr lang="en-US"/>
          </a:p>
        </p:txBody>
      </p:sp>
      <p:grpSp>
        <p:nvGrpSpPr>
          <p:cNvPr id="5" name="Grupo 4"/>
          <p:cNvGrpSpPr/>
          <p:nvPr/>
        </p:nvGrpSpPr>
        <p:grpSpPr>
          <a:xfrm>
            <a:off x="251520" y="2348880"/>
            <a:ext cx="8782000" cy="4381500"/>
            <a:chOff x="251520" y="2348880"/>
            <a:chExt cx="8782000" cy="4381500"/>
          </a:xfrm>
        </p:grpSpPr>
        <p:pic>
          <p:nvPicPr>
            <p:cNvPr id="92163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1920" y="2348880"/>
              <a:ext cx="5181600" cy="4381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2165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520" y="2564904"/>
              <a:ext cx="3276600" cy="2190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2166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8770" y="5013176"/>
              <a:ext cx="1562100" cy="1047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321290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Morfológicos</a:t>
            </a:r>
            <a:r>
              <a:rPr lang="en-US"/>
              <a:t> </a:t>
            </a:r>
            <a:r>
              <a:rPr lang="en-US" err="1"/>
              <a:t>Básicos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err="1"/>
              <a:t>Extração</a:t>
            </a:r>
            <a:r>
              <a:rPr lang="en-US"/>
              <a:t> de </a:t>
            </a:r>
            <a:r>
              <a:rPr lang="en-US" err="1"/>
              <a:t>Componentes</a:t>
            </a:r>
            <a:r>
              <a:rPr lang="en-US"/>
              <a:t> </a:t>
            </a:r>
            <a:r>
              <a:rPr lang="en-US" err="1"/>
              <a:t>Conectados</a:t>
            </a:r>
            <a:endParaRPr lang="en-US"/>
          </a:p>
          <a:p>
            <a:pPr lvl="1"/>
            <a:r>
              <a:rPr lang="pt-BR"/>
              <a:t>A partir de um ponto </a:t>
            </a:r>
            <a:r>
              <a:rPr lang="pt-BR" i="1"/>
              <a:t>p</a:t>
            </a:r>
            <a:r>
              <a:rPr lang="pt-BR"/>
              <a:t> dentro da um componente conectado </a:t>
            </a:r>
            <a:r>
              <a:rPr lang="pt-BR" i="1"/>
              <a:t>Y</a:t>
            </a:r>
            <a:r>
              <a:rPr lang="pt-BR"/>
              <a:t>, esse algoritmo encontra todos os elementos de </a:t>
            </a:r>
            <a:r>
              <a:rPr lang="pt-BR" i="1"/>
              <a:t>Y</a:t>
            </a:r>
            <a:endParaRPr lang="en-US"/>
          </a:p>
        </p:txBody>
      </p:sp>
      <p:grpSp>
        <p:nvGrpSpPr>
          <p:cNvPr id="4" name="Grupo 3"/>
          <p:cNvGrpSpPr/>
          <p:nvPr/>
        </p:nvGrpSpPr>
        <p:grpSpPr>
          <a:xfrm>
            <a:off x="1691680" y="3601169"/>
            <a:ext cx="5762625" cy="2924175"/>
            <a:chOff x="1979712" y="3435749"/>
            <a:chExt cx="5762625" cy="2924175"/>
          </a:xfrm>
        </p:grpSpPr>
        <p:pic>
          <p:nvPicPr>
            <p:cNvPr id="9523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9712" y="3435749"/>
              <a:ext cx="2876550" cy="2924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523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6262" y="3442855"/>
              <a:ext cx="2886075" cy="287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345743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Morfológicos</a:t>
            </a:r>
            <a:r>
              <a:rPr lang="en-US"/>
              <a:t> </a:t>
            </a:r>
            <a:r>
              <a:rPr lang="en-US" err="1"/>
              <a:t>Básicos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Extração</a:t>
            </a:r>
            <a:r>
              <a:rPr lang="en-US"/>
              <a:t> de </a:t>
            </a:r>
            <a:r>
              <a:rPr lang="en-US" err="1"/>
              <a:t>Componentes</a:t>
            </a:r>
            <a:r>
              <a:rPr lang="en-US"/>
              <a:t> </a:t>
            </a:r>
            <a:r>
              <a:rPr lang="en-US" err="1"/>
              <a:t>Conectados</a:t>
            </a:r>
            <a:endParaRPr lang="en-US"/>
          </a:p>
          <a:p>
            <a:endParaRPr lang="en-US"/>
          </a:p>
          <a:p>
            <a:pPr lvl="1"/>
            <a:r>
              <a:rPr lang="pt-BR"/>
              <a:t>Onde </a:t>
            </a:r>
          </a:p>
          <a:p>
            <a:pPr lvl="2"/>
            <a:r>
              <a:rPr lang="pt-BR" i="1"/>
              <a:t>X</a:t>
            </a:r>
            <a:r>
              <a:rPr lang="pt-BR" i="1" baseline="-25000"/>
              <a:t>0</a:t>
            </a:r>
            <a:r>
              <a:rPr lang="pt-BR"/>
              <a:t> é um ponto do componente conectado (</a:t>
            </a:r>
            <a:r>
              <a:rPr lang="pt-BR" i="1"/>
              <a:t>p</a:t>
            </a:r>
            <a:r>
              <a:rPr lang="pt-BR"/>
              <a:t>)</a:t>
            </a:r>
          </a:p>
          <a:p>
            <a:pPr lvl="2"/>
            <a:r>
              <a:rPr lang="pt-BR" i="1"/>
              <a:t>B</a:t>
            </a:r>
            <a:r>
              <a:rPr lang="pt-BR"/>
              <a:t> é o elemento estruturante</a:t>
            </a:r>
          </a:p>
          <a:p>
            <a:pPr lvl="2"/>
            <a:r>
              <a:rPr lang="pt-BR" i="1"/>
              <a:t>A</a:t>
            </a:r>
            <a:r>
              <a:rPr lang="pt-BR" i="1" baseline="30000"/>
              <a:t>c</a:t>
            </a:r>
            <a:r>
              <a:rPr lang="pt-BR"/>
              <a:t> é o complemento de </a:t>
            </a:r>
            <a:r>
              <a:rPr lang="pt-BR" i="1"/>
              <a:t>A</a:t>
            </a:r>
          </a:p>
          <a:p>
            <a:pPr lvl="1"/>
            <a:r>
              <a:rPr lang="pt-BR"/>
              <a:t>Essa equação é aplicada repetidamente até que </a:t>
            </a:r>
            <a:r>
              <a:rPr lang="pt-BR" i="1" err="1"/>
              <a:t>X</a:t>
            </a:r>
            <a:r>
              <a:rPr lang="pt-BR" i="1" baseline="-25000" err="1"/>
              <a:t>k</a:t>
            </a:r>
            <a:r>
              <a:rPr lang="pt-BR"/>
              <a:t> seja igual a </a:t>
            </a:r>
            <a:r>
              <a:rPr lang="pt-BR" i="1"/>
              <a:t>X</a:t>
            </a:r>
            <a:r>
              <a:rPr lang="pt-BR" i="1" baseline="-25000"/>
              <a:t>k-1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to 3"/>
              <p:cNvSpPr txBox="1"/>
              <p:nvPr/>
            </p:nvSpPr>
            <p:spPr bwMode="auto">
              <a:xfrm>
                <a:off x="1825625" y="2133600"/>
                <a:ext cx="5410200" cy="5746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pt-B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𝑝𝑎𝑟𝑎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=1,2,3,....</m:t>
                      </m:r>
                    </m:oMath>
                  </m:oMathPara>
                </a14:m>
                <a:endParaRPr lang="pt-BR"/>
              </a:p>
            </p:txBody>
          </p:sp>
        </mc:Choice>
        <mc:Fallback xmlns="">
          <p:sp>
            <p:nvSpPr>
              <p:cNvPr id="4" name="Obje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5625" y="2133600"/>
                <a:ext cx="5410200" cy="5746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11343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Morfológicos</a:t>
            </a:r>
            <a:r>
              <a:rPr lang="en-US"/>
              <a:t> </a:t>
            </a:r>
            <a:r>
              <a:rPr lang="en-US" err="1"/>
              <a:t>Básicos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err="1"/>
              <a:t>Extração</a:t>
            </a:r>
            <a:r>
              <a:rPr lang="en-US" sz="2400"/>
              <a:t> de </a:t>
            </a:r>
            <a:r>
              <a:rPr lang="en-US" sz="2400" err="1"/>
              <a:t>Componentes</a:t>
            </a:r>
            <a:r>
              <a:rPr lang="en-US" sz="2400"/>
              <a:t> </a:t>
            </a:r>
            <a:r>
              <a:rPr lang="en-US" sz="2400" err="1"/>
              <a:t>Conectados</a:t>
            </a:r>
            <a:r>
              <a:rPr lang="en-US" sz="2400"/>
              <a:t>: </a:t>
            </a:r>
            <a:r>
              <a:rPr lang="en-US" sz="2400" err="1"/>
              <a:t>Exemplo</a:t>
            </a:r>
            <a:endParaRPr lang="en-US" sz="2400"/>
          </a:p>
        </p:txBody>
      </p:sp>
      <p:grpSp>
        <p:nvGrpSpPr>
          <p:cNvPr id="4" name="Grupo 3"/>
          <p:cNvGrpSpPr/>
          <p:nvPr/>
        </p:nvGrpSpPr>
        <p:grpSpPr>
          <a:xfrm>
            <a:off x="1475656" y="2094024"/>
            <a:ext cx="5976664" cy="4608512"/>
            <a:chOff x="1979712" y="2135589"/>
            <a:chExt cx="5976664" cy="4608512"/>
          </a:xfrm>
        </p:grpSpPr>
        <p:pic>
          <p:nvPicPr>
            <p:cNvPr id="9625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8492" y="2135589"/>
              <a:ext cx="2257884" cy="2250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625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6281" y="4486217"/>
              <a:ext cx="2250408" cy="22578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755" y="2147879"/>
              <a:ext cx="2257885" cy="2295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65027" y="4486217"/>
              <a:ext cx="2265360" cy="22578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6260" name="Picture 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9712" y="4005064"/>
              <a:ext cx="1066800" cy="914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173368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Morfológicos</a:t>
            </a:r>
            <a:r>
              <a:rPr lang="en-US"/>
              <a:t> </a:t>
            </a:r>
            <a:r>
              <a:rPr lang="en-US" err="1"/>
              <a:t>Básicos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/>
              <a:t>Casco </a:t>
            </a:r>
            <a:r>
              <a:rPr lang="en-US" err="1"/>
              <a:t>convexo</a:t>
            </a:r>
            <a:r>
              <a:rPr lang="en-US"/>
              <a:t> (Convex Hull)</a:t>
            </a:r>
          </a:p>
          <a:p>
            <a:pPr lvl="1"/>
            <a:r>
              <a:rPr lang="pt-BR"/>
              <a:t>Define-se casco convexo </a:t>
            </a:r>
            <a:r>
              <a:rPr lang="pt-BR" i="1"/>
              <a:t>H</a:t>
            </a:r>
            <a:r>
              <a:rPr lang="pt-BR"/>
              <a:t> de um conjunto arbitrário </a:t>
            </a:r>
            <a:r>
              <a:rPr lang="pt-BR" i="1"/>
              <a:t>S</a:t>
            </a:r>
            <a:r>
              <a:rPr lang="pt-BR"/>
              <a:t> como o menor conjunto convexo que ainda contém </a:t>
            </a:r>
            <a:r>
              <a:rPr lang="pt-BR" i="1"/>
              <a:t>S</a:t>
            </a:r>
            <a:r>
              <a:rPr lang="pt-BR"/>
              <a:t> </a:t>
            </a:r>
          </a:p>
          <a:p>
            <a:pPr lvl="1"/>
            <a:r>
              <a:rPr lang="pt-BR"/>
              <a:t>Utiliza a transformada </a:t>
            </a:r>
            <a:r>
              <a:rPr lang="pt-BR" i="1"/>
              <a:t>hit-</a:t>
            </a:r>
            <a:r>
              <a:rPr lang="pt-BR" i="1" err="1"/>
              <a:t>or</a:t>
            </a:r>
            <a:r>
              <a:rPr lang="pt-BR" i="1"/>
              <a:t>-miss</a:t>
            </a:r>
          </a:p>
          <a:p>
            <a:pPr lvl="1"/>
            <a:endParaRPr lang="en-US"/>
          </a:p>
        </p:txBody>
      </p:sp>
      <p:grpSp>
        <p:nvGrpSpPr>
          <p:cNvPr id="4" name="Grupo 3"/>
          <p:cNvGrpSpPr/>
          <p:nvPr/>
        </p:nvGrpSpPr>
        <p:grpSpPr>
          <a:xfrm>
            <a:off x="1763688" y="3905401"/>
            <a:ext cx="5616624" cy="2763959"/>
            <a:chOff x="1763688" y="3617369"/>
            <a:chExt cx="5616624" cy="2763959"/>
          </a:xfrm>
        </p:grpSpPr>
        <p:pic>
          <p:nvPicPr>
            <p:cNvPr id="5" name="Picture 4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652"/>
            <a:stretch/>
          </p:blipFill>
          <p:spPr bwMode="auto">
            <a:xfrm>
              <a:off x="1763688" y="3655470"/>
              <a:ext cx="2694906" cy="26743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" name="Picture 6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3517"/>
            <a:stretch/>
          </p:blipFill>
          <p:spPr bwMode="auto">
            <a:xfrm>
              <a:off x="4644008" y="3617369"/>
              <a:ext cx="2736304" cy="27639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44121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Morfológicos</a:t>
            </a:r>
            <a:r>
              <a:rPr lang="en-US"/>
              <a:t> </a:t>
            </a:r>
            <a:r>
              <a:rPr lang="en-US" err="1"/>
              <a:t>Básicos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/>
              <a:t>Casco </a:t>
            </a:r>
            <a:r>
              <a:rPr lang="en-US" err="1"/>
              <a:t>convexo</a:t>
            </a:r>
            <a:r>
              <a:rPr lang="en-US"/>
              <a:t> (Convex Hull)</a:t>
            </a:r>
          </a:p>
          <a:p>
            <a:pPr lvl="1"/>
            <a:r>
              <a:rPr lang="en-US" err="1"/>
              <a:t>Utiliza</a:t>
            </a:r>
            <a:r>
              <a:rPr lang="en-US"/>
              <a:t> 4 </a:t>
            </a:r>
            <a:r>
              <a:rPr lang="en-US" err="1"/>
              <a:t>elementos</a:t>
            </a:r>
            <a:r>
              <a:rPr lang="en-US"/>
              <a:t> </a:t>
            </a:r>
            <a:r>
              <a:rPr lang="en-US" err="1"/>
              <a:t>estruturantes</a:t>
            </a:r>
            <a:r>
              <a:rPr lang="en-US"/>
              <a:t>: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r>
              <a:rPr lang="pt-BR"/>
              <a:t>Note que estes elementos possuem pontos indicados com X que significam uma condição “</a:t>
            </a:r>
            <a:r>
              <a:rPr lang="pt-BR" i="1" err="1"/>
              <a:t>don’t</a:t>
            </a:r>
            <a:r>
              <a:rPr lang="pt-BR" i="1"/>
              <a:t> </a:t>
            </a:r>
            <a:r>
              <a:rPr lang="pt-BR" i="1" err="1"/>
              <a:t>care</a:t>
            </a:r>
            <a:r>
              <a:rPr lang="pt-BR"/>
              <a:t>”</a:t>
            </a:r>
          </a:p>
          <a:p>
            <a:pPr lvl="2"/>
            <a:r>
              <a:rPr lang="pt-BR"/>
              <a:t>O pixel naquela posição pode ter valor 0 ou 1</a:t>
            </a:r>
            <a:endParaRPr lang="en-US"/>
          </a:p>
        </p:txBody>
      </p:sp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825" y="2708920"/>
            <a:ext cx="5086350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52163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Morfológicos</a:t>
            </a:r>
            <a:r>
              <a:rPr lang="en-US"/>
              <a:t> </a:t>
            </a:r>
            <a:r>
              <a:rPr lang="en-US" err="1"/>
              <a:t>Básicos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/>
              <a:t>Casco </a:t>
            </a:r>
            <a:r>
              <a:rPr lang="en-US" err="1"/>
              <a:t>convexo</a:t>
            </a:r>
            <a:r>
              <a:rPr lang="en-US"/>
              <a:t> (Convex Hull)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lvl="1"/>
            <a:r>
              <a:rPr lang="pt-BR"/>
              <a:t>Onde </a:t>
            </a:r>
          </a:p>
          <a:p>
            <a:pPr lvl="2"/>
            <a:r>
              <a:rPr lang="pt-BR" i="1"/>
              <a:t>B</a:t>
            </a:r>
            <a:r>
              <a:rPr lang="pt-BR" i="1" baseline="30000"/>
              <a:t>i</a:t>
            </a:r>
            <a:r>
              <a:rPr lang="pt-BR"/>
              <a:t> é um dos elementos estruturantes</a:t>
            </a:r>
          </a:p>
          <a:p>
            <a:pPr lvl="2"/>
            <a:r>
              <a:rPr lang="pt-BR" i="1" err="1"/>
              <a:t>X</a:t>
            </a:r>
            <a:r>
              <a:rPr lang="pt-BR" i="1" baseline="30000" err="1"/>
              <a:t>i</a:t>
            </a:r>
            <a:r>
              <a:rPr lang="pt-BR" i="1" baseline="-25000" err="1"/>
              <a:t>conv</a:t>
            </a:r>
            <a:r>
              <a:rPr lang="pt-BR" i="1" baseline="-25000"/>
              <a:t> </a:t>
            </a:r>
            <a:r>
              <a:rPr lang="pt-BR"/>
              <a:t>indica a convergência: </a:t>
            </a:r>
            <a:r>
              <a:rPr lang="pt-BR" i="1" err="1"/>
              <a:t>X</a:t>
            </a:r>
            <a:r>
              <a:rPr lang="pt-BR" i="1" baseline="-25000" err="1"/>
              <a:t>k</a:t>
            </a:r>
            <a:r>
              <a:rPr lang="pt-BR"/>
              <a:t> é igual a </a:t>
            </a:r>
            <a:r>
              <a:rPr lang="pt-BR" i="1"/>
              <a:t>X</a:t>
            </a:r>
            <a:r>
              <a:rPr lang="pt-BR" i="1" baseline="-25000"/>
              <a:t>k-1</a:t>
            </a:r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5385660"/>
              </p:ext>
            </p:extLst>
          </p:nvPr>
        </p:nvGraphicFramePr>
        <p:xfrm>
          <a:off x="990600" y="2060848"/>
          <a:ext cx="70866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67100" imgH="241300" progId="Equation.3">
                  <p:embed/>
                </p:oleObj>
              </mc:Choice>
              <mc:Fallback>
                <p:oleObj name="Equation" r:id="rId2" imgW="3467100" imgH="241300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060848"/>
                        <a:ext cx="70866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4592596"/>
              </p:ext>
            </p:extLst>
          </p:nvPr>
        </p:nvGraphicFramePr>
        <p:xfrm>
          <a:off x="990600" y="2562498"/>
          <a:ext cx="914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241195" progId="Equation.3">
                  <p:embed/>
                </p:oleObj>
              </mc:Choice>
              <mc:Fallback>
                <p:oleObj name="Equation" r:id="rId4" imgW="482391" imgH="241195" progId="Equation.3">
                  <p:embed/>
                  <p:pic>
                    <p:nvPicPr>
                      <p:cNvPr id="6" name="Obje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562498"/>
                        <a:ext cx="914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114286"/>
              </p:ext>
            </p:extLst>
          </p:nvPr>
        </p:nvGraphicFramePr>
        <p:xfrm>
          <a:off x="971600" y="3068960"/>
          <a:ext cx="12446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60113" imgH="241195" progId="Equation.3">
                  <p:embed/>
                </p:oleObj>
              </mc:Choice>
              <mc:Fallback>
                <p:oleObj name="Equation" r:id="rId6" imgW="660113" imgH="241195" progId="Equation.3">
                  <p:embed/>
                  <p:pic>
                    <p:nvPicPr>
                      <p:cNvPr id="7" name="Objeto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3068960"/>
                        <a:ext cx="12446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211075"/>
              </p:ext>
            </p:extLst>
          </p:nvPr>
        </p:nvGraphicFramePr>
        <p:xfrm>
          <a:off x="971600" y="3501008"/>
          <a:ext cx="141605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50531" imgH="431613" progId="Equation.3">
                  <p:embed/>
                </p:oleObj>
              </mc:Choice>
              <mc:Fallback>
                <p:oleObj name="Equation" r:id="rId8" imgW="850531" imgH="431613" progId="Equation.3">
                  <p:embed/>
                  <p:pic>
                    <p:nvPicPr>
                      <p:cNvPr id="8" name="Objeto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3501008"/>
                        <a:ext cx="1416050" cy="71913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79492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Morfológicos</a:t>
            </a:r>
            <a:r>
              <a:rPr lang="en-US"/>
              <a:t> </a:t>
            </a:r>
            <a:r>
              <a:rPr lang="en-US" err="1"/>
              <a:t>Básicos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/>
              <a:t>Casco </a:t>
            </a:r>
            <a:r>
              <a:rPr lang="en-US" err="1"/>
              <a:t>convexo</a:t>
            </a:r>
            <a:r>
              <a:rPr lang="en-US"/>
              <a:t> (Convex Hull): </a:t>
            </a:r>
            <a:r>
              <a:rPr lang="en-US" err="1"/>
              <a:t>Exemplo</a:t>
            </a:r>
            <a:endParaRPr lang="en-US"/>
          </a:p>
        </p:txBody>
      </p:sp>
      <p:grpSp>
        <p:nvGrpSpPr>
          <p:cNvPr id="4" name="Grupo 3"/>
          <p:cNvGrpSpPr/>
          <p:nvPr/>
        </p:nvGrpSpPr>
        <p:grpSpPr>
          <a:xfrm>
            <a:off x="457052" y="2492896"/>
            <a:ext cx="8147396" cy="3534219"/>
            <a:chOff x="395536" y="2775101"/>
            <a:chExt cx="8147396" cy="3534219"/>
          </a:xfrm>
        </p:grpSpPr>
        <p:pic>
          <p:nvPicPr>
            <p:cNvPr id="9" name="Picture 4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652"/>
            <a:stretch/>
          </p:blipFill>
          <p:spPr bwMode="auto">
            <a:xfrm>
              <a:off x="395536" y="2775101"/>
              <a:ext cx="3440241" cy="34140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5796" y="2780928"/>
              <a:ext cx="4567136" cy="35283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5" name="Picture 2">
            <a:extLst>
              <a:ext uri="{FF2B5EF4-FFF2-40B4-BE49-F238E27FC236}">
                <a16:creationId xmlns:a16="http://schemas.microsoft.com/office/drawing/2014/main" id="{BFFCAC55-3667-FA49-F539-7E880EC1B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6033581"/>
            <a:ext cx="3584537" cy="812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755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Morfológicos</a:t>
            </a:r>
            <a:r>
              <a:rPr lang="en-US"/>
              <a:t> </a:t>
            </a:r>
            <a:r>
              <a:rPr lang="en-US" err="1"/>
              <a:t>Básicos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Afinamento</a:t>
            </a:r>
            <a:r>
              <a:rPr lang="en-US"/>
              <a:t> (</a:t>
            </a:r>
            <a:r>
              <a:rPr lang="en-US" i="1"/>
              <a:t>Thinning</a:t>
            </a:r>
            <a:r>
              <a:rPr lang="en-US"/>
              <a:t>)</a:t>
            </a:r>
          </a:p>
          <a:p>
            <a:pPr lvl="1"/>
            <a:r>
              <a:rPr lang="pt-BR"/>
              <a:t>Consiste em se obter uma versão “emagrecida” da imagem </a:t>
            </a:r>
            <a:r>
              <a:rPr lang="pt-BR" i="1"/>
              <a:t>A</a:t>
            </a:r>
          </a:p>
          <a:p>
            <a:pPr lvl="1"/>
            <a:r>
              <a:rPr lang="pt-BR"/>
              <a:t>Utiliza a transformada </a:t>
            </a:r>
            <a:r>
              <a:rPr lang="pt-BR" i="1"/>
              <a:t>hit-</a:t>
            </a:r>
            <a:r>
              <a:rPr lang="pt-BR" i="1" err="1"/>
              <a:t>or</a:t>
            </a:r>
            <a:r>
              <a:rPr lang="pt-BR" i="1"/>
              <a:t>-miss</a:t>
            </a:r>
          </a:p>
          <a:p>
            <a:pPr lvl="1"/>
            <a:endParaRPr lang="en-US"/>
          </a:p>
        </p:txBody>
      </p:sp>
      <p:grpSp>
        <p:nvGrpSpPr>
          <p:cNvPr id="10" name="Grupo 9"/>
          <p:cNvGrpSpPr/>
          <p:nvPr/>
        </p:nvGrpSpPr>
        <p:grpSpPr>
          <a:xfrm>
            <a:off x="1303371" y="4005064"/>
            <a:ext cx="6653005" cy="1676400"/>
            <a:chOff x="1115616" y="4797152"/>
            <a:chExt cx="6653005" cy="1676400"/>
          </a:xfrm>
        </p:grpSpPr>
        <p:pic>
          <p:nvPicPr>
            <p:cNvPr id="10035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4797152"/>
              <a:ext cx="3181350" cy="1676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035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6796" y="4797152"/>
              <a:ext cx="3171825" cy="1466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338642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Morfológicos</a:t>
            </a:r>
            <a:r>
              <a:rPr lang="en-US"/>
              <a:t> </a:t>
            </a:r>
            <a:r>
              <a:rPr lang="en-US" err="1"/>
              <a:t>Básicos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Afinamento</a:t>
            </a:r>
            <a:r>
              <a:rPr lang="en-US"/>
              <a:t> (</a:t>
            </a:r>
            <a:r>
              <a:rPr lang="en-US" i="1"/>
              <a:t>Thinning</a:t>
            </a:r>
            <a:r>
              <a:rPr lang="en-US"/>
              <a:t>)</a:t>
            </a:r>
          </a:p>
          <a:p>
            <a:pPr lvl="1"/>
            <a:r>
              <a:rPr lang="en-US" err="1"/>
              <a:t>Utiliza</a:t>
            </a:r>
            <a:r>
              <a:rPr lang="en-US"/>
              <a:t> 8 </a:t>
            </a:r>
            <a:r>
              <a:rPr lang="en-US" err="1"/>
              <a:t>elementos</a:t>
            </a:r>
            <a:r>
              <a:rPr lang="en-US"/>
              <a:t> </a:t>
            </a:r>
            <a:r>
              <a:rPr lang="en-US" err="1"/>
              <a:t>estruturantes</a:t>
            </a:r>
            <a:r>
              <a:rPr lang="en-US"/>
              <a:t>:</a:t>
            </a:r>
          </a:p>
          <a:p>
            <a:pPr lvl="1"/>
            <a:endParaRPr lang="pt-BR"/>
          </a:p>
          <a:p>
            <a:pPr lvl="1"/>
            <a:endParaRPr lang="pt-BR"/>
          </a:p>
          <a:p>
            <a:pPr lvl="1"/>
            <a:endParaRPr lang="pt-BR"/>
          </a:p>
          <a:p>
            <a:pPr lvl="1"/>
            <a:r>
              <a:rPr lang="pt-BR"/>
              <a:t>Note que estes elementos possuem pontos indicados com X que significam uma condição “</a:t>
            </a:r>
            <a:r>
              <a:rPr lang="pt-BR" i="1" err="1"/>
              <a:t>don’t</a:t>
            </a:r>
            <a:r>
              <a:rPr lang="pt-BR" i="1"/>
              <a:t> </a:t>
            </a:r>
            <a:r>
              <a:rPr lang="pt-BR" i="1" err="1"/>
              <a:t>care</a:t>
            </a:r>
            <a:r>
              <a:rPr lang="pt-BR"/>
              <a:t>”</a:t>
            </a:r>
          </a:p>
          <a:p>
            <a:pPr lvl="2"/>
            <a:r>
              <a:rPr lang="pt-BR"/>
              <a:t>O pixel naquela posição pode ter valor 0 ou 1</a:t>
            </a:r>
            <a:endParaRPr lang="en-US"/>
          </a:p>
          <a:p>
            <a:pPr lvl="1"/>
            <a:endParaRPr lang="pt-BR" i="1"/>
          </a:p>
          <a:p>
            <a:pPr lvl="1"/>
            <a:endParaRPr lang="en-US"/>
          </a:p>
        </p:txBody>
      </p:sp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" y="2780928"/>
            <a:ext cx="87344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82237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Morfológicos</a:t>
            </a:r>
            <a:r>
              <a:rPr lang="en-US"/>
              <a:t> </a:t>
            </a:r>
            <a:r>
              <a:rPr lang="en-US" err="1"/>
              <a:t>Básicos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Afinamento</a:t>
            </a:r>
            <a:r>
              <a:rPr lang="en-US"/>
              <a:t> (</a:t>
            </a:r>
            <a:r>
              <a:rPr lang="en-US" i="1"/>
              <a:t>Thinning</a:t>
            </a:r>
            <a:r>
              <a:rPr lang="en-US"/>
              <a:t>)</a:t>
            </a:r>
          </a:p>
          <a:p>
            <a:endParaRPr lang="en-US"/>
          </a:p>
          <a:p>
            <a:endParaRPr lang="pt-BR"/>
          </a:p>
          <a:p>
            <a:endParaRPr lang="en-US"/>
          </a:p>
          <a:p>
            <a:pPr lvl="1"/>
            <a:r>
              <a:rPr lang="pt-BR"/>
              <a:t>Afinar a imagem </a:t>
            </a:r>
            <a:r>
              <a:rPr lang="pt-BR" i="1"/>
              <a:t>A</a:t>
            </a:r>
            <a:r>
              <a:rPr lang="pt-BR"/>
              <a:t> consiste em aplicar a equação com </a:t>
            </a:r>
            <a:r>
              <a:rPr lang="pt-BR" i="1"/>
              <a:t>B</a:t>
            </a:r>
            <a:r>
              <a:rPr lang="pt-BR" i="1" baseline="30000"/>
              <a:t>1</a:t>
            </a:r>
            <a:r>
              <a:rPr lang="pt-BR"/>
              <a:t>, depois com </a:t>
            </a:r>
            <a:r>
              <a:rPr lang="pt-BR" i="1"/>
              <a:t>B</a:t>
            </a:r>
            <a:r>
              <a:rPr lang="pt-BR" i="1" baseline="30000"/>
              <a:t>2</a:t>
            </a:r>
            <a:r>
              <a:rPr lang="pt-BR"/>
              <a:t>, até </a:t>
            </a:r>
            <a:r>
              <a:rPr lang="pt-BR" i="1" err="1"/>
              <a:t>B</a:t>
            </a:r>
            <a:r>
              <a:rPr lang="pt-BR" i="1" baseline="30000" err="1"/>
              <a:t>n</a:t>
            </a:r>
            <a:endParaRPr lang="pt-BR"/>
          </a:p>
          <a:p>
            <a:pPr lvl="2"/>
            <a:r>
              <a:rPr lang="pt-BR"/>
              <a:t>Repetir o processo até que não ocorram mais mudanças</a:t>
            </a:r>
          </a:p>
          <a:p>
            <a:pPr lvl="1"/>
            <a:r>
              <a:rPr lang="pt-BR"/>
              <a:t>Imagem afinada é convertida para conectividade-m, para eliminar caminhos múltiplos</a:t>
            </a:r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5085844"/>
              </p:ext>
            </p:extLst>
          </p:nvPr>
        </p:nvGraphicFramePr>
        <p:xfrm>
          <a:off x="725686" y="2187649"/>
          <a:ext cx="46101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09800" imgH="228600" progId="Equation.3">
                  <p:embed/>
                </p:oleObj>
              </mc:Choice>
              <mc:Fallback>
                <p:oleObj name="Equation" r:id="rId2" imgW="2209800" imgH="2286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686" y="2187649"/>
                        <a:ext cx="4610100" cy="4762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3589488"/>
              </p:ext>
            </p:extLst>
          </p:nvPr>
        </p:nvGraphicFramePr>
        <p:xfrm>
          <a:off x="725686" y="2763713"/>
          <a:ext cx="327025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700" imgH="228600" progId="Equation.3">
                  <p:embed/>
                </p:oleObj>
              </mc:Choice>
              <mc:Fallback>
                <p:oleObj name="Equation" r:id="rId4" imgW="1663700" imgH="228600" progId="Equation.3">
                  <p:embed/>
                  <p:pic>
                    <p:nvPicPr>
                      <p:cNvPr id="9" name="Objeto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686" y="2763713"/>
                        <a:ext cx="327025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34254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Morfológicos</a:t>
            </a:r>
            <a:r>
              <a:rPr lang="en-US"/>
              <a:t> </a:t>
            </a:r>
            <a:r>
              <a:rPr lang="en-US" err="1"/>
              <a:t>Básicos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Espessamento</a:t>
            </a:r>
            <a:r>
              <a:rPr lang="en-US"/>
              <a:t> (</a:t>
            </a:r>
            <a:r>
              <a:rPr lang="en-US" i="1"/>
              <a:t>Thickening</a:t>
            </a:r>
            <a:r>
              <a:rPr lang="en-US"/>
              <a:t>)</a:t>
            </a:r>
          </a:p>
          <a:p>
            <a:pPr lvl="1"/>
            <a:r>
              <a:rPr lang="pt-BR"/>
              <a:t>Consiste em se obter uma versão “engordada” da imagem </a:t>
            </a:r>
            <a:r>
              <a:rPr lang="pt-BR" i="1"/>
              <a:t>A</a:t>
            </a:r>
          </a:p>
          <a:p>
            <a:pPr lvl="1"/>
            <a:r>
              <a:rPr lang="pt-BR"/>
              <a:t>Utiliza a transformada </a:t>
            </a:r>
            <a:r>
              <a:rPr lang="pt-BR" i="1"/>
              <a:t>hit-</a:t>
            </a:r>
            <a:r>
              <a:rPr lang="pt-BR" i="1" err="1"/>
              <a:t>or</a:t>
            </a:r>
            <a:r>
              <a:rPr lang="pt-BR" i="1"/>
              <a:t>-miss</a:t>
            </a:r>
          </a:p>
          <a:p>
            <a:pPr lvl="2"/>
            <a:r>
              <a:rPr lang="pt-BR"/>
              <a:t>Utiliza os mesmos elementos estruturantes do afinamento, trocando os 0’s por 1’s</a:t>
            </a:r>
          </a:p>
          <a:p>
            <a:pPr lvl="1"/>
            <a:endParaRPr lang="en-US"/>
          </a:p>
        </p:txBody>
      </p:sp>
      <p:pic>
        <p:nvPicPr>
          <p:cNvPr id="1024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4544913"/>
            <a:ext cx="6915150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83403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Morfológicos</a:t>
            </a:r>
            <a:r>
              <a:rPr lang="en-US"/>
              <a:t> </a:t>
            </a:r>
            <a:r>
              <a:rPr lang="en-US" err="1"/>
              <a:t>Básicos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Espessamento</a:t>
            </a:r>
            <a:r>
              <a:rPr lang="en-US"/>
              <a:t> (</a:t>
            </a:r>
            <a:r>
              <a:rPr lang="en-US" i="1"/>
              <a:t>Thickening</a:t>
            </a:r>
            <a:r>
              <a:rPr lang="en-US"/>
              <a:t>)</a:t>
            </a:r>
          </a:p>
          <a:p>
            <a:pPr lvl="1"/>
            <a:endParaRPr lang="pt-BR"/>
          </a:p>
          <a:p>
            <a:pPr lvl="1"/>
            <a:endParaRPr lang="pt-BR"/>
          </a:p>
          <a:p>
            <a:pPr lvl="1"/>
            <a:r>
              <a:rPr lang="pt-BR"/>
              <a:t>Entretanto, um algoritmo separado para espessamento raramente é usado. O procedimento usual é </a:t>
            </a:r>
          </a:p>
          <a:p>
            <a:pPr lvl="2"/>
            <a:r>
              <a:rPr lang="pt-BR"/>
              <a:t>Afinar o fundo do conjunto </a:t>
            </a:r>
          </a:p>
          <a:p>
            <a:pPr lvl="2"/>
            <a:r>
              <a:rPr lang="pt-BR"/>
              <a:t>Complementar o resultado</a:t>
            </a:r>
            <a:endParaRPr 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407419"/>
            <a:ext cx="33274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04268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Morfológicos</a:t>
            </a:r>
            <a:r>
              <a:rPr lang="en-US"/>
              <a:t> </a:t>
            </a:r>
            <a:r>
              <a:rPr lang="en-US" err="1"/>
              <a:t>Básicos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err="1"/>
              <a:t>Espessamento</a:t>
            </a:r>
            <a:r>
              <a:rPr lang="en-US"/>
              <a:t> (</a:t>
            </a:r>
            <a:r>
              <a:rPr lang="en-US" i="1"/>
              <a:t>Thickening</a:t>
            </a:r>
            <a:r>
              <a:rPr lang="en-US"/>
              <a:t>): </a:t>
            </a:r>
            <a:r>
              <a:rPr lang="en-US" err="1"/>
              <a:t>Exemplo</a:t>
            </a:r>
            <a:endParaRPr lang="en-US"/>
          </a:p>
        </p:txBody>
      </p:sp>
      <p:grpSp>
        <p:nvGrpSpPr>
          <p:cNvPr id="4" name="Grupo 3"/>
          <p:cNvGrpSpPr/>
          <p:nvPr/>
        </p:nvGrpSpPr>
        <p:grpSpPr>
          <a:xfrm>
            <a:off x="1234281" y="2132856"/>
            <a:ext cx="6280150" cy="4508659"/>
            <a:chOff x="1234281" y="2132856"/>
            <a:chExt cx="6280150" cy="4508659"/>
          </a:xfrm>
        </p:grpSpPr>
        <p:pic>
          <p:nvPicPr>
            <p:cNvPr id="6" name="Picture 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4281" y="2474168"/>
              <a:ext cx="2955925" cy="1512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Text Box 9"/>
            <p:cNvSpPr txBox="1">
              <a:spLocks noChangeArrowheads="1"/>
            </p:cNvSpPr>
            <p:nvPr/>
          </p:nvSpPr>
          <p:spPr bwMode="auto">
            <a:xfrm>
              <a:off x="2555776" y="2180481"/>
              <a:ext cx="34015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pt-BR" sz="2000"/>
                <a:t>A</a:t>
              </a:r>
            </a:p>
          </p:txBody>
        </p:sp>
        <p:pic>
          <p:nvPicPr>
            <p:cNvPr id="8" name="Picture 1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0881" y="2474168"/>
              <a:ext cx="2897188" cy="1473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5772738" y="2132856"/>
              <a:ext cx="38343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pt-BR"/>
                <a:t>A</a:t>
              </a:r>
              <a:r>
                <a:rPr lang="pt-BR" baseline="30000"/>
                <a:t>c</a:t>
              </a:r>
              <a:endParaRPr lang="pt-BR"/>
            </a:p>
          </p:txBody>
        </p:sp>
        <p:pic>
          <p:nvPicPr>
            <p:cNvPr id="10" name="Picture 1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4281" y="4758680"/>
              <a:ext cx="2927350" cy="14938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Text Box 13"/>
            <p:cNvSpPr txBox="1">
              <a:spLocks noChangeArrowheads="1"/>
            </p:cNvSpPr>
            <p:nvPr/>
          </p:nvSpPr>
          <p:spPr bwMode="auto">
            <a:xfrm>
              <a:off x="1552639" y="4388793"/>
              <a:ext cx="2443297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pt-BR" sz="2000"/>
                <a:t>C = Afinamento de A</a:t>
              </a:r>
              <a:r>
                <a:rPr lang="pt-BR" sz="2000" baseline="30000"/>
                <a:t>c</a:t>
              </a:r>
              <a:endParaRPr lang="pt-BR" sz="2000"/>
            </a:p>
          </p:txBody>
        </p:sp>
        <p:pic>
          <p:nvPicPr>
            <p:cNvPr id="12" name="Picture 1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081" y="4758680"/>
              <a:ext cx="2927350" cy="1482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4677370" y="4149080"/>
              <a:ext cx="2774950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pt-BR" sz="2000" err="1"/>
                <a:t>C</a:t>
              </a:r>
              <a:r>
                <a:rPr lang="pt-BR" sz="2000" baseline="30000" err="1"/>
                <a:t>c</a:t>
              </a:r>
              <a:r>
                <a:rPr lang="pt-BR" sz="2000"/>
                <a:t> - e eliminação de pontos desconectados</a:t>
              </a:r>
            </a:p>
          </p:txBody>
        </p:sp>
        <p:sp>
          <p:nvSpPr>
            <p:cNvPr id="14" name="Text Box 16"/>
            <p:cNvSpPr txBox="1">
              <a:spLocks noChangeArrowheads="1"/>
            </p:cNvSpPr>
            <p:nvPr/>
          </p:nvSpPr>
          <p:spPr bwMode="auto">
            <a:xfrm>
              <a:off x="4990158" y="6241405"/>
              <a:ext cx="241791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pt-BR" sz="2000"/>
                <a:t>Espessamento de 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35372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Morfológicos</a:t>
            </a:r>
            <a:r>
              <a:rPr lang="en-US"/>
              <a:t> </a:t>
            </a:r>
            <a:r>
              <a:rPr lang="en-US" err="1"/>
              <a:t>Básicos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Os operadores de afinamento e espessamento são duais</a:t>
            </a:r>
          </a:p>
          <a:p>
            <a:pPr lvl="1"/>
            <a:r>
              <a:rPr lang="pt-BR"/>
              <a:t>A aplicação do espessamento (afinamento) sobre os pixels do objeto é equivalente à aplicação do afinamento (espessamento) sobre os pixels do fundo da imagem</a:t>
            </a:r>
          </a:p>
        </p:txBody>
      </p:sp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4509120"/>
            <a:ext cx="4875740" cy="922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39250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Operações Morfológicas em Tons de Cinza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/>
              <a:t>Considerações importantes</a:t>
            </a:r>
          </a:p>
          <a:p>
            <a:pPr lvl="1"/>
            <a:r>
              <a:rPr lang="pt-BR"/>
              <a:t>Um pixel pode agora ter qualquer valor inteiro</a:t>
            </a:r>
          </a:p>
          <a:p>
            <a:pPr lvl="1"/>
            <a:r>
              <a:rPr lang="pt-BR"/>
              <a:t>Operações lógicas simulam a conversão aritméticas</a:t>
            </a:r>
          </a:p>
          <a:p>
            <a:pPr lvl="2"/>
            <a:r>
              <a:rPr lang="pt-BR"/>
              <a:t>Uniões se tornam máximos </a:t>
            </a:r>
          </a:p>
          <a:p>
            <a:pPr lvl="2"/>
            <a:r>
              <a:rPr lang="pt-BR"/>
              <a:t>interseções se tornam mínimo </a:t>
            </a:r>
          </a:p>
          <a:p>
            <a:pPr lvl="2"/>
            <a:r>
              <a:rPr lang="pt-BR" err="1"/>
              <a:t>Etc</a:t>
            </a:r>
            <a:endParaRPr lang="pt-BR"/>
          </a:p>
          <a:p>
            <a:pPr lvl="1"/>
            <a:r>
              <a:rPr lang="pt-BR"/>
              <a:t>Notação</a:t>
            </a:r>
          </a:p>
          <a:p>
            <a:pPr lvl="2"/>
            <a:r>
              <a:rPr lang="pt-BR" i="1"/>
              <a:t>f(</a:t>
            </a:r>
            <a:r>
              <a:rPr lang="pt-BR" i="1" err="1"/>
              <a:t>x,y</a:t>
            </a:r>
            <a:r>
              <a:rPr lang="pt-BR" i="1"/>
              <a:t>)</a:t>
            </a:r>
            <a:r>
              <a:rPr lang="pt-BR"/>
              <a:t>: imagem de entrada</a:t>
            </a:r>
          </a:p>
          <a:p>
            <a:pPr lvl="2"/>
            <a:r>
              <a:rPr lang="pt-BR" i="1"/>
              <a:t>b(</a:t>
            </a:r>
            <a:r>
              <a:rPr lang="pt-BR" i="1" err="1"/>
              <a:t>x,y</a:t>
            </a:r>
            <a:r>
              <a:rPr lang="pt-BR" i="1"/>
              <a:t>)</a:t>
            </a:r>
            <a:r>
              <a:rPr lang="pt-BR"/>
              <a:t>: elemento estruturante, </a:t>
            </a:r>
            <a:r>
              <a:rPr lang="pt-BR" err="1"/>
              <a:t>subimagem</a:t>
            </a:r>
            <a:r>
              <a:rPr lang="pt-BR"/>
              <a:t> (função)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702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Operações Morfológicas em Tons de Cinza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/>
              <a:t>Dilatação em nível de cinza</a:t>
            </a:r>
          </a:p>
          <a:p>
            <a:endParaRPr lang="pt-BR"/>
          </a:p>
          <a:p>
            <a:pPr lvl="1"/>
            <a:endParaRPr lang="pt-BR"/>
          </a:p>
          <a:p>
            <a:pPr lvl="1"/>
            <a:r>
              <a:rPr lang="pt-BR"/>
              <a:t>Onde </a:t>
            </a:r>
          </a:p>
          <a:p>
            <a:pPr lvl="2"/>
            <a:r>
              <a:rPr lang="pt-BR" i="1" err="1"/>
              <a:t>D</a:t>
            </a:r>
            <a:r>
              <a:rPr lang="pt-BR" i="1" baseline="-25000" err="1"/>
              <a:t>f</a:t>
            </a:r>
            <a:r>
              <a:rPr lang="pt-BR"/>
              <a:t> = Domínio de </a:t>
            </a:r>
            <a:r>
              <a:rPr lang="pt-BR" i="1"/>
              <a:t>f</a:t>
            </a:r>
          </a:p>
          <a:p>
            <a:pPr lvl="2"/>
            <a:r>
              <a:rPr lang="pt-BR" i="1" err="1"/>
              <a:t>D</a:t>
            </a:r>
            <a:r>
              <a:rPr lang="pt-BR" i="1" baseline="-25000" err="1"/>
              <a:t>b</a:t>
            </a:r>
            <a:r>
              <a:rPr lang="pt-BR"/>
              <a:t> = Domínio de </a:t>
            </a:r>
            <a:r>
              <a:rPr lang="pt-BR" i="1"/>
              <a:t>b</a:t>
            </a:r>
          </a:p>
          <a:p>
            <a:pPr lvl="2"/>
            <a:endParaRPr lang="pt-BR" i="1"/>
          </a:p>
          <a:p>
            <a:pPr lvl="1"/>
            <a:r>
              <a:rPr lang="pt-BR"/>
              <a:t>Efeito geral na imagem (depende dos valores em </a:t>
            </a:r>
            <a:r>
              <a:rPr lang="pt-BR" i="1"/>
              <a:t>b</a:t>
            </a:r>
            <a:r>
              <a:rPr lang="pt-BR"/>
              <a:t>)</a:t>
            </a:r>
          </a:p>
          <a:p>
            <a:pPr lvl="2"/>
            <a:r>
              <a:rPr lang="pt-BR"/>
              <a:t>Imagem resultante tende a ser mais clara que a de entrada</a:t>
            </a:r>
          </a:p>
          <a:p>
            <a:pPr lvl="2"/>
            <a:r>
              <a:rPr lang="pt-BR"/>
              <a:t>Detalhes escuros são reduzidos ou eliminados</a:t>
            </a:r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305887"/>
              </p:ext>
            </p:extLst>
          </p:nvPr>
        </p:nvGraphicFramePr>
        <p:xfrm>
          <a:off x="190500" y="2276872"/>
          <a:ext cx="89535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95800" imgH="279400" progId="Equation.3">
                  <p:embed/>
                </p:oleObj>
              </mc:Choice>
              <mc:Fallback>
                <p:oleObj name="Equation" r:id="rId2" imgW="4495800" imgH="2794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" y="2276872"/>
                        <a:ext cx="8953500" cy="5572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68747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Operações Morfológicas em Tons de Cinza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/>
              <a:t>Dilatação em nível de cinza: Exemplo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1187624" y="2564904"/>
            <a:ext cx="6912768" cy="3118991"/>
            <a:chOff x="1371600" y="2708920"/>
            <a:chExt cx="6553200" cy="2974975"/>
          </a:xfrm>
        </p:grpSpPr>
        <p:pic>
          <p:nvPicPr>
            <p:cNvPr id="5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1600" y="2708920"/>
              <a:ext cx="2982913" cy="2974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0" y="2714476"/>
              <a:ext cx="2971800" cy="29638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8583978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Operações Morfológicas em Tons de Cinza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/>
              <a:t>Similar à </a:t>
            </a:r>
            <a:r>
              <a:rPr lang="pt-BR" err="1"/>
              <a:t>convolução</a:t>
            </a:r>
            <a:r>
              <a:rPr lang="pt-BR"/>
              <a:t> 2D</a:t>
            </a:r>
          </a:p>
          <a:p>
            <a:pPr lvl="1"/>
            <a:r>
              <a:rPr lang="pt-BR"/>
              <a:t>A operação </a:t>
            </a:r>
            <a:r>
              <a:rPr lang="pt-BR" i="1" err="1"/>
              <a:t>max</a:t>
            </a:r>
            <a:r>
              <a:rPr lang="pt-BR"/>
              <a:t> substitui as somas da </a:t>
            </a:r>
            <a:r>
              <a:rPr lang="pt-BR" err="1"/>
              <a:t>convolução</a:t>
            </a:r>
            <a:r>
              <a:rPr lang="pt-BR"/>
              <a:t> e a adição os produtos da </a:t>
            </a:r>
            <a:r>
              <a:rPr lang="pt-BR" err="1"/>
              <a:t>convolução</a:t>
            </a:r>
            <a:endParaRPr lang="pt-BR"/>
          </a:p>
          <a:p>
            <a:r>
              <a:rPr lang="pt-BR"/>
              <a:t>O elemento estruturante podem ser negativos. Normalizar os valores da imagem resultante</a:t>
            </a:r>
          </a:p>
          <a:p>
            <a:pPr lvl="1"/>
            <a:r>
              <a:rPr lang="pt-BR"/>
              <a:t>Valores negativos podem ser alterados para zero (</a:t>
            </a:r>
            <a:r>
              <a:rPr lang="pt-BR" err="1"/>
              <a:t>underflow</a:t>
            </a:r>
            <a:r>
              <a:rPr lang="pt-BR"/>
              <a:t>)</a:t>
            </a:r>
          </a:p>
          <a:p>
            <a:pPr lvl="1"/>
            <a:r>
              <a:rPr lang="pt-BR"/>
              <a:t>A imagem inteira poderia ter seus valores aumentados para que o menor valor de pixel fosse zero mantendo os valores relativos entre os pixels</a:t>
            </a:r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1402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Operações Morfológicas em Tons de Cinza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/>
              <a:t>Erosão em nível de cinza</a:t>
            </a:r>
          </a:p>
          <a:p>
            <a:endParaRPr lang="pt-BR"/>
          </a:p>
          <a:p>
            <a:pPr lvl="1"/>
            <a:endParaRPr lang="pt-BR"/>
          </a:p>
          <a:p>
            <a:pPr lvl="1"/>
            <a:r>
              <a:rPr lang="pt-BR"/>
              <a:t>Onde </a:t>
            </a:r>
          </a:p>
          <a:p>
            <a:pPr lvl="2"/>
            <a:r>
              <a:rPr lang="pt-BR" i="1" err="1"/>
              <a:t>D</a:t>
            </a:r>
            <a:r>
              <a:rPr lang="pt-BR" i="1" baseline="-25000" err="1"/>
              <a:t>f</a:t>
            </a:r>
            <a:r>
              <a:rPr lang="pt-BR"/>
              <a:t> = Domínio de </a:t>
            </a:r>
            <a:r>
              <a:rPr lang="pt-BR" i="1"/>
              <a:t>f</a:t>
            </a:r>
          </a:p>
          <a:p>
            <a:pPr lvl="2"/>
            <a:r>
              <a:rPr lang="pt-BR" i="1" err="1"/>
              <a:t>D</a:t>
            </a:r>
            <a:r>
              <a:rPr lang="pt-BR" i="1" baseline="-25000" err="1"/>
              <a:t>b</a:t>
            </a:r>
            <a:r>
              <a:rPr lang="pt-BR"/>
              <a:t> = Domínio de </a:t>
            </a:r>
            <a:r>
              <a:rPr lang="pt-BR" i="1"/>
              <a:t>b</a:t>
            </a:r>
          </a:p>
          <a:p>
            <a:pPr lvl="2"/>
            <a:endParaRPr lang="pt-BR" i="1"/>
          </a:p>
          <a:p>
            <a:pPr lvl="1"/>
            <a:r>
              <a:rPr lang="pt-BR"/>
              <a:t>Efeito geral na imagem (depende dos valores em </a:t>
            </a:r>
            <a:r>
              <a:rPr lang="pt-BR" i="1"/>
              <a:t>b</a:t>
            </a:r>
            <a:r>
              <a:rPr lang="pt-BR"/>
              <a:t>)</a:t>
            </a:r>
          </a:p>
          <a:p>
            <a:pPr lvl="2"/>
            <a:r>
              <a:rPr lang="pt-BR"/>
              <a:t>Imagem resultante tende a ser mais escura que a de entrada</a:t>
            </a:r>
          </a:p>
          <a:p>
            <a:pPr lvl="2"/>
            <a:r>
              <a:rPr lang="pt-BR"/>
              <a:t>Detalhes claros são reduzidos ou eliminados</a:t>
            </a:r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909482"/>
              </p:ext>
            </p:extLst>
          </p:nvPr>
        </p:nvGraphicFramePr>
        <p:xfrm>
          <a:off x="152400" y="2276872"/>
          <a:ext cx="875188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94200" imgH="279400" progId="Equation.3">
                  <p:embed/>
                </p:oleObj>
              </mc:Choice>
              <mc:Fallback>
                <p:oleObj name="Equation" r:id="rId2" imgW="4394200" imgH="279400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276872"/>
                        <a:ext cx="8751888" cy="5572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6259536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Operações Morfológicas em Tons de Cinza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/>
              <a:t>Erosão em nível de cinza: Exemplo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1115616" y="2708920"/>
            <a:ext cx="6934406" cy="3096344"/>
            <a:chOff x="1547663" y="2468798"/>
            <a:chExt cx="6624737" cy="2958071"/>
          </a:xfrm>
        </p:grpSpPr>
        <p:pic>
          <p:nvPicPr>
            <p:cNvPr id="8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9064" y="2468798"/>
              <a:ext cx="3043336" cy="29580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47663" y="2481916"/>
              <a:ext cx="2938393" cy="29318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974578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Operações Morfológicas em Tons de Cinza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/>
              <a:t>Outros operadores</a:t>
            </a:r>
          </a:p>
          <a:p>
            <a:pPr lvl="1"/>
            <a:r>
              <a:rPr lang="pt-BR"/>
              <a:t>Abertura </a:t>
            </a:r>
          </a:p>
          <a:p>
            <a:pPr lvl="1"/>
            <a:r>
              <a:rPr lang="pt-BR"/>
              <a:t>Fechamento</a:t>
            </a:r>
          </a:p>
          <a:p>
            <a:pPr lvl="1"/>
            <a:r>
              <a:rPr lang="pt-BR"/>
              <a:t>Suavização morfológica</a:t>
            </a:r>
          </a:p>
          <a:p>
            <a:pPr lvl="2"/>
            <a:r>
              <a:rPr lang="pt-BR"/>
              <a:t>Abertura morfológica seguida de fechamento</a:t>
            </a:r>
          </a:p>
          <a:p>
            <a:pPr lvl="2"/>
            <a:r>
              <a:rPr lang="pt-BR"/>
              <a:t>Remoção ou atenuação tanto de artefatos claros como escuros ou ruídos</a:t>
            </a:r>
          </a:p>
          <a:p>
            <a:pPr lvl="1"/>
            <a:r>
              <a:rPr lang="pt-BR"/>
              <a:t>Transformada top-</a:t>
            </a:r>
            <a:r>
              <a:rPr lang="pt-BR" err="1"/>
              <a:t>hat</a:t>
            </a:r>
            <a:endParaRPr lang="pt-BR"/>
          </a:p>
          <a:p>
            <a:pPr lvl="2"/>
            <a:r>
              <a:rPr lang="pt-BR"/>
              <a:t>Enfatiza o detalhe na presença de sombreamento</a:t>
            </a:r>
          </a:p>
          <a:p>
            <a:pPr lvl="1"/>
            <a:r>
              <a:rPr lang="pt-BR" err="1"/>
              <a:t>Etc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14982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B6610C1FC8AB48BA79369D9F0FA2AE" ma:contentTypeVersion="0" ma:contentTypeDescription="Crie um novo documento." ma:contentTypeScope="" ma:versionID="bb0d639e4679164d038a7d1ea4c9b26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F0EB14-A166-4C4B-9CF1-2C92D2A89507}">
  <ds:schemaRefs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37335F7-512E-45AD-AE54-1F1D99990C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4C55F4-449F-4004-881F-683BEAF315FB}"/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0</TotalTime>
  <Words>2530</Words>
  <Application>Microsoft Office PowerPoint</Application>
  <PresentationFormat>Apresentação na tela (4:3)</PresentationFormat>
  <Paragraphs>386</Paragraphs>
  <Slides>71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71</vt:i4>
      </vt:variant>
    </vt:vector>
  </HeadingPairs>
  <TitlesOfParts>
    <vt:vector size="81" baseType="lpstr">
      <vt:lpstr>Arial</vt:lpstr>
      <vt:lpstr>Calibri</vt:lpstr>
      <vt:lpstr>Cambria Math</vt:lpstr>
      <vt:lpstr>Times New Roman</vt:lpstr>
      <vt:lpstr>Tw Cen MT</vt:lpstr>
      <vt:lpstr>Wingdings</vt:lpstr>
      <vt:lpstr>Wingdings 2</vt:lpstr>
      <vt:lpstr>Mediano</vt:lpstr>
      <vt:lpstr>Equation</vt:lpstr>
      <vt:lpstr>Equação</vt:lpstr>
      <vt:lpstr>Morfologia Matemática</vt:lpstr>
      <vt:lpstr>Morfologia</vt:lpstr>
      <vt:lpstr>Definições Básicas</vt:lpstr>
      <vt:lpstr>Definições Básicas</vt:lpstr>
      <vt:lpstr>Definições Básicas</vt:lpstr>
      <vt:lpstr>Definições Básicas</vt:lpstr>
      <vt:lpstr>Definições Básicas</vt:lpstr>
      <vt:lpstr>Definições Básicas</vt:lpstr>
      <vt:lpstr>Definições Básicas</vt:lpstr>
      <vt:lpstr>Dilatação Binária</vt:lpstr>
      <vt:lpstr>Dilatação Binária</vt:lpstr>
      <vt:lpstr>Dilatação Binária</vt:lpstr>
      <vt:lpstr>Dilatação Binária</vt:lpstr>
      <vt:lpstr>Dilatação Binária</vt:lpstr>
      <vt:lpstr>Dilatação Binária</vt:lpstr>
      <vt:lpstr>Dilatação Binária</vt:lpstr>
      <vt:lpstr>Dilatação Binária</vt:lpstr>
      <vt:lpstr>Dilatação Binária</vt:lpstr>
      <vt:lpstr>Erosão Binária</vt:lpstr>
      <vt:lpstr>Erosão Binária</vt:lpstr>
      <vt:lpstr>Erosão Binária</vt:lpstr>
      <vt:lpstr>Erosão Binária</vt:lpstr>
      <vt:lpstr>Erosão Binária</vt:lpstr>
      <vt:lpstr>Erosão Binária</vt:lpstr>
      <vt:lpstr>Erosão Binária</vt:lpstr>
      <vt:lpstr>Erosão Binária</vt:lpstr>
      <vt:lpstr>Dilatação x Erosão</vt:lpstr>
      <vt:lpstr>Abertura</vt:lpstr>
      <vt:lpstr>Abertura</vt:lpstr>
      <vt:lpstr>Abertura</vt:lpstr>
      <vt:lpstr>Abertura</vt:lpstr>
      <vt:lpstr>Fechamento</vt:lpstr>
      <vt:lpstr>Fechamento</vt:lpstr>
      <vt:lpstr>Fechamento</vt:lpstr>
      <vt:lpstr>Fechamento</vt:lpstr>
      <vt:lpstr>Abertura x Fechamento</vt:lpstr>
      <vt:lpstr>Abertura x Fechamento</vt:lpstr>
      <vt:lpstr>Exemplo: Filtro Morfológico</vt:lpstr>
      <vt:lpstr>Transformada Hit-or-Miss</vt:lpstr>
      <vt:lpstr>Transformada Hit-or-Miss:</vt:lpstr>
      <vt:lpstr>Transformada Hit-or-Miss</vt:lpstr>
      <vt:lpstr>Transformada Hit-or-Miss</vt:lpstr>
      <vt:lpstr>Transformada Hit-or-Miss</vt:lpstr>
      <vt:lpstr>Algoritmos Morfológicos Básicos</vt:lpstr>
      <vt:lpstr>Algoritmos Morfológicos Básicos</vt:lpstr>
      <vt:lpstr>Algoritmos Morfológicos Básicos</vt:lpstr>
      <vt:lpstr>Algoritmos Morfológicos Básicos</vt:lpstr>
      <vt:lpstr>Algoritmos Morfológicos Básicos</vt:lpstr>
      <vt:lpstr>Algoritmos Morfológicos Básicos</vt:lpstr>
      <vt:lpstr>Algoritmos Morfológicos Básicos</vt:lpstr>
      <vt:lpstr>Algoritmos Morfológicos Básicos</vt:lpstr>
      <vt:lpstr>Algoritmos Morfológicos Básicos</vt:lpstr>
      <vt:lpstr>Algoritmos Morfológicos Básicos</vt:lpstr>
      <vt:lpstr>Algoritmos Morfológicos Básicos</vt:lpstr>
      <vt:lpstr>Algoritmos Morfológicos Básicos</vt:lpstr>
      <vt:lpstr>Algoritmos Morfológicos Básicos</vt:lpstr>
      <vt:lpstr>Algoritmos Morfológicos Básicos</vt:lpstr>
      <vt:lpstr>Algoritmos Morfológicos Básicos</vt:lpstr>
      <vt:lpstr>Algoritmos Morfológicos Básicos</vt:lpstr>
      <vt:lpstr>Algoritmos Morfológicos Básicos</vt:lpstr>
      <vt:lpstr>Algoritmos Morfológicos Básicos</vt:lpstr>
      <vt:lpstr>Algoritmos Morfológicos Básicos</vt:lpstr>
      <vt:lpstr>Algoritmos Morfológicos Básicos</vt:lpstr>
      <vt:lpstr>Algoritmos Morfológicos Básicos</vt:lpstr>
      <vt:lpstr>Operações Morfológicas em Tons de Cinza</vt:lpstr>
      <vt:lpstr>Operações Morfológicas em Tons de Cinza</vt:lpstr>
      <vt:lpstr>Operações Morfológicas em Tons de Cinza</vt:lpstr>
      <vt:lpstr>Operações Morfológicas em Tons de Cinza</vt:lpstr>
      <vt:lpstr>Operações Morfológicas em Tons de Cinza</vt:lpstr>
      <vt:lpstr>Operações Morfológicas em Tons de Cinza</vt:lpstr>
      <vt:lpstr>Operações Morfológicas em Tons de Cinza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Modelos de Cor</dc:title>
  <dc:creator>User</dc:creator>
  <cp:lastModifiedBy>Bruno Augusto Nassif Travencolo</cp:lastModifiedBy>
  <cp:revision>1</cp:revision>
  <dcterms:created xsi:type="dcterms:W3CDTF">2014-09-26T11:36:19Z</dcterms:created>
  <dcterms:modified xsi:type="dcterms:W3CDTF">2024-10-10T20:32:17Z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0x01010097B6610C1FC8AB48BA79369D9F0FA2AE</vt:lpwstr>
  </property>
  <property fmtid="{D5CDD505-2E9C-101B-9397-08002B2CF9AE}" pid="3" name="Order">
    <vt:r8>1000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</Properties>
</file>