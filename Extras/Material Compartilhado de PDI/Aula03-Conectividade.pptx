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4"/>
  </p:sldMasterIdLst>
  <p:notesMasterIdLst>
    <p:notesMasterId r:id="rId48"/>
  </p:notesMasterIdLst>
  <p:sldIdLst>
    <p:sldId id="257" r:id="rId5"/>
    <p:sldId id="350" r:id="rId6"/>
    <p:sldId id="352" r:id="rId7"/>
    <p:sldId id="353" r:id="rId8"/>
    <p:sldId id="354" r:id="rId9"/>
    <p:sldId id="416" r:id="rId10"/>
    <p:sldId id="355" r:id="rId11"/>
    <p:sldId id="417" r:id="rId12"/>
    <p:sldId id="357" r:id="rId13"/>
    <p:sldId id="356" r:id="rId14"/>
    <p:sldId id="359" r:id="rId15"/>
    <p:sldId id="360" r:id="rId16"/>
    <p:sldId id="358" r:id="rId17"/>
    <p:sldId id="394" r:id="rId18"/>
    <p:sldId id="395" r:id="rId19"/>
    <p:sldId id="396" r:id="rId20"/>
    <p:sldId id="365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8" r:id="rId32"/>
    <p:sldId id="409" r:id="rId33"/>
    <p:sldId id="377" r:id="rId34"/>
    <p:sldId id="378" r:id="rId35"/>
    <p:sldId id="410" r:id="rId36"/>
    <p:sldId id="411" r:id="rId37"/>
    <p:sldId id="381" r:id="rId38"/>
    <p:sldId id="382" r:id="rId39"/>
    <p:sldId id="383" r:id="rId40"/>
    <p:sldId id="384" r:id="rId41"/>
    <p:sldId id="412" r:id="rId42"/>
    <p:sldId id="418" r:id="rId43"/>
    <p:sldId id="413" r:id="rId44"/>
    <p:sldId id="414" r:id="rId45"/>
    <p:sldId id="415" r:id="rId46"/>
    <p:sldId id="389" r:id="rId47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9582276D-60B0-49F3-928F-3483E456A12D}"/>
    <pc:docChg chg="modSld">
      <pc:chgData name="Bruno Augusto Nassif Travencolo" userId="9765cb90-d5ec-451e-8c7b-af57428794a1" providerId="ADAL" clId="{9582276D-60B0-49F3-928F-3483E456A12D}" dt="2023-08-30T20:21:30.425" v="3" actId="20577"/>
      <pc:docMkLst>
        <pc:docMk/>
      </pc:docMkLst>
      <pc:sldChg chg="modSp mod">
        <pc:chgData name="Bruno Augusto Nassif Travencolo" userId="9765cb90-d5ec-451e-8c7b-af57428794a1" providerId="ADAL" clId="{9582276D-60B0-49F3-928F-3483E456A12D}" dt="2023-08-30T20:19:21.380" v="1" actId="20577"/>
        <pc:sldMkLst>
          <pc:docMk/>
          <pc:sldMk cId="3618232949" sldId="353"/>
        </pc:sldMkLst>
        <pc:spChg chg="mod">
          <ac:chgData name="Bruno Augusto Nassif Travencolo" userId="9765cb90-d5ec-451e-8c7b-af57428794a1" providerId="ADAL" clId="{9582276D-60B0-49F3-928F-3483E456A12D}" dt="2023-08-30T20:19:21.380" v="1" actId="20577"/>
          <ac:spMkLst>
            <pc:docMk/>
            <pc:sldMk cId="3618232949" sldId="353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9582276D-60B0-49F3-928F-3483E456A12D}" dt="2023-08-30T20:21:30.425" v="3" actId="20577"/>
        <pc:sldMkLst>
          <pc:docMk/>
          <pc:sldMk cId="0" sldId="410"/>
        </pc:sldMkLst>
        <pc:spChg chg="mod">
          <ac:chgData name="Bruno Augusto Nassif Travencolo" userId="9765cb90-d5ec-451e-8c7b-af57428794a1" providerId="ADAL" clId="{9582276D-60B0-49F3-928F-3483E456A12D}" dt="2023-08-30T20:21:30.425" v="3" actId="20577"/>
          <ac:spMkLst>
            <pc:docMk/>
            <pc:sldMk cId="0" sldId="410"/>
            <ac:spMk id="3" creationId="{00000000-0000-0000-0000-000000000000}"/>
          </ac:spMkLst>
        </pc:spChg>
      </pc:sldChg>
    </pc:docChg>
  </pc:docChgLst>
  <pc:docChgLst>
    <pc:chgData name="Bruno Augusto Nassif Travencolo" userId="9765cb90-d5ec-451e-8c7b-af57428794a1" providerId="ADAL" clId="{B43DAAA7-FFE1-4D30-947E-42390C86ABD4}"/>
    <pc:docChg chg="custSel modSld">
      <pc:chgData name="Bruno Augusto Nassif Travencolo" userId="9765cb90-d5ec-451e-8c7b-af57428794a1" providerId="ADAL" clId="{B43DAAA7-FFE1-4D30-947E-42390C86ABD4}" dt="2023-03-17T00:48:46.761" v="1" actId="478"/>
      <pc:docMkLst>
        <pc:docMk/>
      </pc:docMkLst>
      <pc:sldChg chg="addSp delSp mod">
        <pc:chgData name="Bruno Augusto Nassif Travencolo" userId="9765cb90-d5ec-451e-8c7b-af57428794a1" providerId="ADAL" clId="{B43DAAA7-FFE1-4D30-947E-42390C86ABD4}" dt="2023-03-17T00:48:46.761" v="1" actId="478"/>
        <pc:sldMkLst>
          <pc:docMk/>
          <pc:sldMk cId="894183553" sldId="354"/>
        </pc:sldMkLst>
        <pc:inkChg chg="add del">
          <ac:chgData name="Bruno Augusto Nassif Travencolo" userId="9765cb90-d5ec-451e-8c7b-af57428794a1" providerId="ADAL" clId="{B43DAAA7-FFE1-4D30-947E-42390C86ABD4}" dt="2023-03-17T00:48:46.761" v="1" actId="478"/>
          <ac:inkMkLst>
            <pc:docMk/>
            <pc:sldMk cId="894183553" sldId="354"/>
            <ac:inkMk id="4" creationId="{8B3EF0B7-FC85-A4B1-5E41-85CF1DBB0BB9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784A7-15BF-41A5-9A46-2129893363E5}" type="datetimeFigureOut">
              <a:rPr lang="pt-BR" smtClean="0"/>
              <a:pPr/>
              <a:t>30/08/2023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FCB49-5B18-444A-919F-3821E007D32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92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154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02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752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5806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053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84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113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52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6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131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442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827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45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169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397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29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398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457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632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188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6114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420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0498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7645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0292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010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5676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2697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034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7605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824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5683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4286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17731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3132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593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606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7001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7519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164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2004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800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FCB49-5B18-444A-919F-3821E007D32E}" type="slidenum">
              <a:rPr lang="pt-BR" smtClean="0"/>
              <a:pPr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0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501ADD0-0657-4092-9A2D-EE85B9A1FD5D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870103E-06A5-4DCA-AAAA-6DA0506143FA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8FB8F2-7B76-46FE-A853-A1B6C86F6490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085AD77-733E-4353-8CAE-D5415914E93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33F03C-1058-43F9-8C6E-476DC98BA039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BA19C71-F4D3-4329-BCBB-E601793A8C6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646DDC86-1373-4F83-901F-F9FBAA6851D2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4AAD9B0D-6ADD-49CD-9779-605D72A224C1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74BAD92F-A82E-4BD0-8603-08825CFF9832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0691FED7-9302-49F2-8506-7E5BA8234925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FAB2A9-CB0E-4702-BC43-7AC403084A74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EE5C0F9-9471-4B69-B3EE-101D9EFF6E88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3672D1-5288-449C-B923-1E7654052115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5EEC9BF-7D1A-41E4-8172-C489DBF2EBC7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71D290-85F8-4BCC-A0C9-74FBFC34BDBF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0D39D39-9E69-473B-AC44-E7523EB2081F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fld id="{BE125F13-AB7B-4FD0-8F67-DAB887CE8028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8D0863FF-316F-4026-9833-59B35D1F5804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C2E13A-A6B7-48B1-9334-750BF00D8649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8C7CEF-FA98-4C8F-A340-A8DEC2FAC50D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fld id="{D5D545E2-D480-4170-B110-B0079F34209A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6173BD0C-E416-4D81-8C6B-2F484C2C176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1DA9C34-0472-4537-9F89-916496BC2762}" type="datetimeFigureOut">
              <a:rPr lang="en-US" smtClean="0"/>
              <a:pPr>
                <a:defRPr/>
              </a:pPr>
              <a:t>8/30/2023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1FE9BF-32CC-4EDB-84A0-671840839F0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Topologia da imagem digital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22313" y="3684588"/>
            <a:ext cx="7772400" cy="1184275"/>
          </a:xfrm>
        </p:spPr>
        <p:txBody>
          <a:bodyPr>
            <a:normAutofit/>
          </a:bodyPr>
          <a:lstStyle/>
          <a:p>
            <a:pPr marR="0" algn="l">
              <a:lnSpc>
                <a:spcPct val="90000"/>
              </a:lnSpc>
            </a:pPr>
            <a:r>
              <a:rPr lang="en-US" sz="2200" dirty="0" err="1"/>
              <a:t>Faculdade</a:t>
            </a:r>
            <a:r>
              <a:rPr lang="en-US" sz="2200" dirty="0"/>
              <a:t> de </a:t>
            </a:r>
            <a:r>
              <a:rPr lang="en-US" sz="2200" dirty="0" err="1"/>
              <a:t>Computação</a:t>
            </a:r>
            <a:r>
              <a:rPr lang="en-US" sz="2200" dirty="0"/>
              <a:t> </a:t>
            </a:r>
          </a:p>
          <a:p>
            <a:pPr marR="0" algn="l">
              <a:lnSpc>
                <a:spcPct val="90000"/>
              </a:lnSpc>
            </a:pPr>
            <a:r>
              <a:rPr lang="en-US" sz="2200" dirty="0" err="1"/>
              <a:t>Universidade</a:t>
            </a:r>
            <a:r>
              <a:rPr lang="en-US" sz="2200" dirty="0"/>
              <a:t> Federal de </a:t>
            </a:r>
            <a:r>
              <a:rPr lang="en-US" sz="2200" dirty="0" err="1"/>
              <a:t>Uberlândia</a:t>
            </a:r>
            <a:endParaRPr lang="en-US" sz="2200" dirty="0"/>
          </a:p>
          <a:p>
            <a:pPr marR="0">
              <a:lnSpc>
                <a:spcPct val="90000"/>
              </a:lnSpc>
            </a:pPr>
            <a:endParaRPr lang="en-US" sz="2500" dirty="0"/>
          </a:p>
          <a:p>
            <a:pPr marR="0">
              <a:lnSpc>
                <a:spcPct val="90000"/>
              </a:lnSpc>
            </a:pP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Vizinhança de um pixel</a:t>
            </a:r>
          </a:p>
          <a:p>
            <a:r>
              <a:rPr lang="pt-BR" dirty="0"/>
              <a:t>O que é conectividade?</a:t>
            </a:r>
          </a:p>
          <a:p>
            <a:r>
              <a:rPr lang="pt-BR" dirty="0"/>
              <a:t>Algoritmo para rotular componentes conectadas</a:t>
            </a:r>
          </a:p>
          <a:p>
            <a:r>
              <a:rPr lang="pt-BR" dirty="0"/>
              <a:t>Relação de adjacência</a:t>
            </a:r>
          </a:p>
          <a:p>
            <a:r>
              <a:rPr lang="pt-BR" dirty="0"/>
              <a:t>Medidas de distância</a:t>
            </a:r>
          </a:p>
        </p:txBody>
      </p:sp>
    </p:spTree>
    <p:extLst>
      <p:ext uri="{BB962C8B-B14F-4D97-AF65-F5344CB8AC3E}">
        <p14:creationId xmlns:p14="http://schemas.microsoft.com/office/powerpoint/2010/main" val="299730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 de um pixel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Uma imagem é tratada como uma matriz de pixels</a:t>
            </a:r>
          </a:p>
          <a:p>
            <a:r>
              <a:rPr lang="pt-BR" dirty="0"/>
              <a:t>Um pixel </a:t>
            </a:r>
            <a:r>
              <a:rPr lang="pt-BR" i="1" dirty="0"/>
              <a:t>p</a:t>
            </a:r>
            <a:r>
              <a:rPr lang="pt-BR" dirty="0"/>
              <a:t> na coordenada (</a:t>
            </a:r>
            <a:r>
              <a:rPr lang="pt-BR" dirty="0" err="1"/>
              <a:t>x,y</a:t>
            </a:r>
            <a:r>
              <a:rPr lang="pt-BR" dirty="0"/>
              <a:t>) está associado a um valor de intensidade </a:t>
            </a:r>
            <a:r>
              <a:rPr lang="pt-BR" i="1" dirty="0"/>
              <a:t>V(p) </a:t>
            </a:r>
            <a:r>
              <a:rPr lang="pt-BR" dirty="0"/>
              <a:t>correspondente a </a:t>
            </a:r>
            <a:r>
              <a:rPr lang="pt-BR" i="1" dirty="0"/>
              <a:t>f(</a:t>
            </a:r>
            <a:r>
              <a:rPr lang="pt-BR" i="1" dirty="0" err="1"/>
              <a:t>x,y</a:t>
            </a:r>
            <a:r>
              <a:rPr lang="pt-BR" i="1" dirty="0"/>
              <a:t>)</a:t>
            </a:r>
          </a:p>
          <a:p>
            <a:pPr lvl="1"/>
            <a:r>
              <a:rPr lang="pt-BR" dirty="0"/>
              <a:t>Imagem de 8 bits: </a:t>
            </a:r>
            <a:r>
              <a:rPr lang="pt-BR" i="1" dirty="0"/>
              <a:t>V(p) = {k | 0 &lt;= k &lt;= 255}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25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Vizinhança</a:t>
            </a:r>
            <a:r>
              <a:rPr lang="en-US" dirty="0"/>
              <a:t> de um pixel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Vizinhança-4 de um pixel p (𝑁</a:t>
            </a:r>
            <a:r>
              <a:rPr lang="pt-BR" baseline="-25000" dirty="0"/>
              <a:t>4</a:t>
            </a:r>
            <a:r>
              <a:rPr lang="pt-BR" dirty="0"/>
              <a:t>(𝑝))</a:t>
            </a:r>
          </a:p>
          <a:p>
            <a:pPr lvl="1"/>
            <a:r>
              <a:rPr lang="pt-BR" dirty="0"/>
              <a:t>Um pixel 𝑝 na coordenada (𝑥,𝑦) tem 4 vizinhos cujas coordenadas são dadas por </a:t>
            </a:r>
          </a:p>
          <a:p>
            <a:pPr lvl="2"/>
            <a:r>
              <a:rPr lang="pt-BR" dirty="0"/>
              <a:t>𝑁</a:t>
            </a:r>
            <a:r>
              <a:rPr lang="pt-BR" baseline="-25000" dirty="0"/>
              <a:t>4</a:t>
            </a:r>
            <a:r>
              <a:rPr lang="pt-BR" dirty="0"/>
              <a:t>(𝑝) = {(𝑥+1, 𝑦), (𝑥−1, 𝑦), (𝑥, 𝑦+1), (𝑥, 𝑦−1)}</a:t>
            </a:r>
          </a:p>
          <a:p>
            <a:pPr lvl="1"/>
            <a:r>
              <a:rPr lang="pt-BR" dirty="0"/>
              <a:t>Se </a:t>
            </a:r>
            <a:r>
              <a:rPr lang="pt-BR" i="1" dirty="0"/>
              <a:t>p</a:t>
            </a:r>
            <a:r>
              <a:rPr lang="pt-BR" dirty="0"/>
              <a:t> é um pixel da borda, então ele terá um número menor de vizinhos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039658"/>
                  </p:ext>
                </p:extLst>
              </p:nvPr>
            </p:nvGraphicFramePr>
            <p:xfrm>
              <a:off x="3624066" y="4402792"/>
              <a:ext cx="1895868" cy="21945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1597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1999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i="1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i="1" dirty="0"/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pt-BR" i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039658"/>
                  </p:ext>
                </p:extLst>
              </p:nvPr>
            </p:nvGraphicFramePr>
            <p:xfrm>
              <a:off x="3624066" y="4402792"/>
              <a:ext cx="1895868" cy="21945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15978"/>
                    <a:gridCol w="315978"/>
                    <a:gridCol w="315978"/>
                    <a:gridCol w="315978"/>
                    <a:gridCol w="315978"/>
                    <a:gridCol w="31597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i="1" dirty="0" smtClean="0"/>
                            <a:t>x</a:t>
                          </a:r>
                          <a:endParaRPr lang="pt-BR" i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i="1" dirty="0" smtClean="0"/>
                            <a:t>y</a:t>
                          </a:r>
                          <a:endParaRPr lang="pt-BR" i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00000" t="-308333" r="-2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823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Vizinhança</a:t>
            </a:r>
            <a:r>
              <a:rPr lang="en-US" dirty="0"/>
              <a:t> de um pixel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847784" cy="4495800"/>
          </a:xfrm>
        </p:spPr>
        <p:txBody>
          <a:bodyPr>
            <a:normAutofit/>
          </a:bodyPr>
          <a:lstStyle/>
          <a:p>
            <a:r>
              <a:rPr lang="pt-BR" dirty="0"/>
              <a:t>Vizinhança diagonal  de um pixel p (𝑁</a:t>
            </a:r>
            <a:r>
              <a:rPr lang="pt-BR" baseline="-25000" dirty="0"/>
              <a:t>𝐷</a:t>
            </a:r>
            <a:r>
              <a:rPr lang="pt-BR" dirty="0"/>
              <a:t>(𝑝))</a:t>
            </a:r>
          </a:p>
          <a:p>
            <a:pPr lvl="1"/>
            <a:r>
              <a:rPr lang="pt-BR" dirty="0"/>
              <a:t>Um pixel </a:t>
            </a:r>
            <a:r>
              <a:rPr lang="pt-BR" i="1" dirty="0"/>
              <a:t>p</a:t>
            </a:r>
            <a:r>
              <a:rPr lang="pt-BR" dirty="0"/>
              <a:t> na coordenada (𝑥,𝑦) tem 4 vizinhos na diagonal cujas coordenadas são dadas por </a:t>
            </a:r>
          </a:p>
          <a:p>
            <a:pPr lvl="2"/>
            <a:r>
              <a:rPr lang="pt-BR" dirty="0"/>
              <a:t>𝑁</a:t>
            </a:r>
            <a:r>
              <a:rPr lang="pt-BR" baseline="-25000" dirty="0"/>
              <a:t>𝐷</a:t>
            </a:r>
            <a:r>
              <a:rPr lang="pt-BR" dirty="0"/>
              <a:t>(𝑝) = {(𝑥+1, 𝑦+1),(𝑥+1,𝑦−1),(𝑥−1,𝑦+1), (𝑥−1, 𝑦−1)}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980112"/>
              </p:ext>
            </p:extLst>
          </p:nvPr>
        </p:nvGraphicFramePr>
        <p:xfrm>
          <a:off x="3563888" y="4005064"/>
          <a:ext cx="189586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r>
                        <a:rPr lang="pt-BR" i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18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Vizinhança</a:t>
            </a:r>
            <a:r>
              <a:rPr lang="en-US" dirty="0"/>
              <a:t> de um pixel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19792" cy="4495800"/>
          </a:xfrm>
        </p:spPr>
        <p:txBody>
          <a:bodyPr>
            <a:normAutofit/>
          </a:bodyPr>
          <a:lstStyle/>
          <a:p>
            <a:r>
              <a:rPr lang="pt-BR" dirty="0"/>
              <a:t>Vizinhança-8 de um pixel p (𝑁</a:t>
            </a:r>
            <a:r>
              <a:rPr lang="pt-BR" baseline="-25000" dirty="0"/>
              <a:t>8</a:t>
            </a:r>
            <a:r>
              <a:rPr lang="pt-BR" dirty="0"/>
              <a:t>(𝑝))</a:t>
            </a:r>
          </a:p>
          <a:p>
            <a:pPr lvl="1"/>
            <a:r>
              <a:rPr lang="pt-BR" dirty="0"/>
              <a:t>Os 8-vizinhos de um pixel </a:t>
            </a:r>
            <a:r>
              <a:rPr lang="pt-BR" i="1" dirty="0"/>
              <a:t>p</a:t>
            </a:r>
            <a:r>
              <a:rPr lang="pt-BR" dirty="0"/>
              <a:t> é o conjuntos dos vizinhos 𝑁</a:t>
            </a:r>
            <a:r>
              <a:rPr lang="pt-BR" baseline="-25000" dirty="0"/>
              <a:t>4</a:t>
            </a:r>
            <a:r>
              <a:rPr lang="pt-BR" dirty="0"/>
              <a:t>(𝑝) e dos 𝑁</a:t>
            </a:r>
            <a:r>
              <a:rPr lang="pt-BR" baseline="-25000" dirty="0"/>
              <a:t>𝐷</a:t>
            </a:r>
            <a:r>
              <a:rPr lang="pt-BR" dirty="0"/>
              <a:t>(𝑝).</a:t>
            </a:r>
          </a:p>
          <a:p>
            <a:pPr lvl="2"/>
            <a:r>
              <a:rPr lang="pt-BR" dirty="0"/>
              <a:t>𝑁</a:t>
            </a:r>
            <a:r>
              <a:rPr lang="pt-BR" baseline="-25000" dirty="0"/>
              <a:t>8</a:t>
            </a:r>
            <a:r>
              <a:rPr lang="pt-BR" dirty="0"/>
              <a:t>(𝑝) = 𝑁</a:t>
            </a:r>
            <a:r>
              <a:rPr lang="pt-BR" baseline="-25000" dirty="0"/>
              <a:t>4</a:t>
            </a:r>
            <a:r>
              <a:rPr lang="pt-BR" dirty="0"/>
              <a:t>(𝑝) ∪ 𝑁</a:t>
            </a:r>
            <a:r>
              <a:rPr lang="pt-BR" baseline="-25000" dirty="0"/>
              <a:t>𝐷</a:t>
            </a:r>
            <a:r>
              <a:rPr lang="pt-BR" dirty="0"/>
              <a:t>(𝑝)</a:t>
            </a:r>
            <a:endParaRPr lang="en-US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98438"/>
              </p:ext>
            </p:extLst>
          </p:nvPr>
        </p:nvGraphicFramePr>
        <p:xfrm>
          <a:off x="3275856" y="3861048"/>
          <a:ext cx="189586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r>
                        <a:rPr lang="pt-BR" i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18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Adjacência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um conceito distinto de vizinhança</a:t>
            </a:r>
          </a:p>
          <a:p>
            <a:pPr lvl="1"/>
            <a:r>
              <a:rPr lang="pt-BR" dirty="0"/>
              <a:t>Serão observados, além da vizinhança, os valores dos pixels vizinhos</a:t>
            </a:r>
          </a:p>
          <a:p>
            <a:pPr lvl="1"/>
            <a:r>
              <a:rPr lang="pt-BR" dirty="0"/>
              <a:t>Estabelece limites de objetos e componentes de regiões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67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Adjacência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valores dos pixels vizinhos devem estar contidos dentro de um conjunto 𝑄 de valores de intensidades. </a:t>
            </a:r>
            <a:r>
              <a:rPr lang="pt-BR" dirty="0" err="1"/>
              <a:t>Ex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Imagens binárias: 𝑄 = {1}</a:t>
            </a:r>
          </a:p>
          <a:p>
            <a:pPr lvl="1"/>
            <a:r>
              <a:rPr lang="pt-BR" dirty="0"/>
              <a:t>Imagens tons de cinza: 𝑄 = {</a:t>
            </a:r>
            <a:r>
              <a:rPr lang="pt-BR" i="1" dirty="0"/>
              <a:t>v | v</a:t>
            </a:r>
            <a:r>
              <a:rPr lang="pt-BR" dirty="0"/>
              <a:t> &gt; 127} </a:t>
            </a:r>
          </a:p>
          <a:p>
            <a:pPr lvl="1"/>
            <a:r>
              <a:rPr lang="pt-BR" dirty="0"/>
              <a:t>Três tipos de adjacência</a:t>
            </a:r>
          </a:p>
          <a:p>
            <a:pPr lvl="2"/>
            <a:r>
              <a:rPr lang="pt-BR" dirty="0"/>
              <a:t>Adjacência-4</a:t>
            </a:r>
          </a:p>
          <a:p>
            <a:pPr lvl="2"/>
            <a:r>
              <a:rPr lang="pt-BR" dirty="0"/>
              <a:t>Adjacência-8</a:t>
            </a:r>
          </a:p>
          <a:p>
            <a:pPr lvl="2"/>
            <a:r>
              <a:rPr lang="pt-BR" dirty="0"/>
              <a:t>Adjacência-m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0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Adjacência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Adjacência-4  </a:t>
                </a:r>
                <a:r>
                  <a:rPr lang="pt-B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𝐴</m:t>
                    </m:r>
                    <m:r>
                      <a:rPr lang="pt-BR" i="1" baseline="-25000">
                        <a:latin typeface="Cambria Math"/>
                      </a:rPr>
                      <m:t>4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𝑝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O pixel </a:t>
                </a:r>
                <a:r>
                  <a:rPr lang="pt-BR" i="1" dirty="0"/>
                  <a:t>q</a:t>
                </a:r>
                <a:r>
                  <a:rPr lang="pt-BR" dirty="0"/>
                  <a:t> está na vizinhança-4 de </a:t>
                </a:r>
                <a:r>
                  <a:rPr lang="pt-BR" i="1" dirty="0"/>
                  <a:t>p</a:t>
                </a:r>
              </a:p>
              <a:p>
                <a:pPr lvl="2"/>
                <a:r>
                  <a:rPr lang="pt-BR" dirty="0"/>
                  <a:t>𝑞 ∈ 𝑁</a:t>
                </a:r>
                <a:r>
                  <a:rPr lang="pt-BR" baseline="-25000" dirty="0"/>
                  <a:t>4</a:t>
                </a:r>
                <a:r>
                  <a:rPr lang="pt-BR" dirty="0"/>
                  <a:t>(𝑝)</a:t>
                </a:r>
              </a:p>
              <a:p>
                <a:pPr lvl="1"/>
                <a:r>
                  <a:rPr lang="pt-BR" i="1" dirty="0"/>
                  <a:t>p</a:t>
                </a:r>
                <a:r>
                  <a:rPr lang="pt-BR" dirty="0"/>
                  <a:t> e </a:t>
                </a:r>
                <a:r>
                  <a:rPr lang="pt-BR" i="1" dirty="0"/>
                  <a:t>q</a:t>
                </a:r>
                <a:r>
                  <a:rPr lang="pt-BR" dirty="0"/>
                  <a:t> estão na mesma faixa de valores</a:t>
                </a:r>
              </a:p>
              <a:p>
                <a:pPr lvl="2"/>
                <a:r>
                  <a:rPr lang="pt-BR" dirty="0"/>
                  <a:t>𝑉(𝑝) ∈ 𝑄 𝑒 𝑉(𝑞) ∈ 𝑄</a:t>
                </a:r>
              </a:p>
              <a:p>
                <a:endParaRPr lang="pt-B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1158"/>
                  </p:ext>
                </p:extLst>
              </p:nvPr>
            </p:nvGraphicFramePr>
            <p:xfrm>
              <a:off x="2051720" y="4077072"/>
              <a:ext cx="1895868" cy="21945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1597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1597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1999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i="1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r>
                            <a:rPr lang="pt-BR" i="1" dirty="0"/>
                            <a:t>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b="0" i="1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pt-BR" i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99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641158"/>
                  </p:ext>
                </p:extLst>
              </p:nvPr>
            </p:nvGraphicFramePr>
            <p:xfrm>
              <a:off x="2051720" y="4077072"/>
              <a:ext cx="1895868" cy="21945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15978"/>
                    <a:gridCol w="315978"/>
                    <a:gridCol w="315978"/>
                    <a:gridCol w="315978"/>
                    <a:gridCol w="315978"/>
                    <a:gridCol w="315978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i="1" dirty="0" smtClean="0"/>
                            <a:t>x</a:t>
                          </a:r>
                          <a:endParaRPr lang="pt-BR" i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pt-BR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pt-BR" i="1" dirty="0" smtClean="0"/>
                            <a:t>y</a:t>
                          </a:r>
                          <a:endParaRPr lang="pt-BR" i="1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pt-BR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7843" t="-308333" r="-2039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pt-BR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pt-BR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4139952" y="4509120"/>
                <a:ext cx="351243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𝑄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pt-B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/>
                        </a:rPr>
                        <m:t>𝑝</m:t>
                      </m:r>
                      <m:r>
                        <a:rPr lang="pt-BR" i="1" dirty="0">
                          <a:latin typeface="Cambria Math"/>
                        </a:rPr>
                        <m:t>= (</m:t>
                      </m:r>
                      <m:r>
                        <a:rPr lang="pt-BR" i="1" dirty="0" err="1">
                          <a:latin typeface="Cambria Math"/>
                        </a:rPr>
                        <m:t>𝑥</m:t>
                      </m:r>
                      <m:r>
                        <a:rPr lang="pt-BR" i="1" dirty="0" err="1">
                          <a:latin typeface="Cambria Math"/>
                        </a:rPr>
                        <m:t>,</m:t>
                      </m:r>
                      <m:r>
                        <a:rPr lang="pt-BR" i="1" dirty="0" err="1">
                          <a:latin typeface="Cambria Math"/>
                        </a:rPr>
                        <m:t>𝑦</m:t>
                      </m:r>
                      <m:r>
                        <a:rPr lang="pt-BR" i="1" dirty="0">
                          <a:latin typeface="Cambria Math"/>
                        </a:rPr>
                        <m:t>), </m:t>
                      </m:r>
                      <m:r>
                        <a:rPr lang="pt-BR" i="1" dirty="0">
                          <a:latin typeface="Cambria Math"/>
                        </a:rPr>
                        <m:t>𝑉</m:t>
                      </m:r>
                      <m:r>
                        <a:rPr lang="pt-BR" i="1" dirty="0">
                          <a:latin typeface="Cambria Math"/>
                        </a:rPr>
                        <m:t>(</m:t>
                      </m:r>
                      <m:r>
                        <a:rPr lang="pt-BR" i="1" dirty="0">
                          <a:latin typeface="Cambria Math"/>
                        </a:rPr>
                        <m:t>𝑝</m:t>
                      </m:r>
                      <m:r>
                        <a:rPr lang="pt-BR" i="1" dirty="0">
                          <a:latin typeface="Cambria Math"/>
                        </a:rPr>
                        <m:t>) = 1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pt-BR" b="0" i="1" dirty="0" smtClean="0">
                          <a:latin typeface="Cambria Math"/>
                        </a:rPr>
                        <m:t>(</m:t>
                      </m:r>
                      <m:r>
                        <a:rPr lang="pt-BR" b="0" i="1" dirty="0" smtClean="0">
                          <a:latin typeface="Cambria Math"/>
                        </a:rPr>
                        <m:t>𝑝</m:t>
                      </m:r>
                      <m:r>
                        <a:rPr lang="pt-BR" b="0" i="1" dirty="0" smtClean="0">
                          <a:latin typeface="Cambria Math"/>
                        </a:rPr>
                        <m:t>) = {</m:t>
                      </m:r>
                      <m:d>
                        <m:d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𝑦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+1,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pt-BR" b="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509120"/>
                <a:ext cx="3512436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174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29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Adjacência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pt-BR" dirty="0"/>
                  <a:t>Adjacência-8  </a:t>
                </a:r>
                <a:r>
                  <a:rPr lang="pt-B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𝐴</m:t>
                    </m:r>
                    <m:r>
                      <a:rPr lang="pt-BR" b="0" i="1" baseline="-25000" smtClean="0">
                        <a:latin typeface="Cambria Math"/>
                      </a:rPr>
                      <m:t>8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𝑝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O pixel </a:t>
                </a:r>
                <a:r>
                  <a:rPr lang="pt-BR" i="1" dirty="0"/>
                  <a:t>q</a:t>
                </a:r>
                <a:r>
                  <a:rPr lang="pt-BR" dirty="0"/>
                  <a:t> está na vizinhança-8 de </a:t>
                </a:r>
                <a:r>
                  <a:rPr lang="pt-BR" i="1" dirty="0"/>
                  <a:t>p</a:t>
                </a:r>
              </a:p>
              <a:p>
                <a:pPr lvl="2"/>
                <a:r>
                  <a:rPr lang="pt-BR" dirty="0"/>
                  <a:t>𝑞 ∈ 𝑁</a:t>
                </a:r>
                <a:r>
                  <a:rPr lang="pt-BR" baseline="-25000" dirty="0"/>
                  <a:t>8</a:t>
                </a:r>
                <a:r>
                  <a:rPr lang="pt-BR" dirty="0"/>
                  <a:t>(𝑝)</a:t>
                </a:r>
              </a:p>
              <a:p>
                <a:pPr lvl="1"/>
                <a:r>
                  <a:rPr lang="pt-BR" i="1" dirty="0"/>
                  <a:t>p</a:t>
                </a:r>
                <a:r>
                  <a:rPr lang="pt-BR" dirty="0"/>
                  <a:t> e </a:t>
                </a:r>
                <a:r>
                  <a:rPr lang="pt-BR" i="1" dirty="0"/>
                  <a:t>q</a:t>
                </a:r>
                <a:r>
                  <a:rPr lang="pt-BR" dirty="0"/>
                  <a:t> estão na mesma faixa de valores</a:t>
                </a:r>
              </a:p>
              <a:p>
                <a:pPr lvl="2"/>
                <a:r>
                  <a:rPr lang="pt-BR" dirty="0"/>
                  <a:t>𝑉(𝑝) ∈ 𝑄 𝑒 𝑉(𝑞) ∈ 𝑄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11077"/>
              </p:ext>
            </p:extLst>
          </p:nvPr>
        </p:nvGraphicFramePr>
        <p:xfrm>
          <a:off x="1215212" y="3898736"/>
          <a:ext cx="189586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r>
                        <a:rPr lang="pt-BR" i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3231436" y="4330784"/>
                <a:ext cx="522899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𝑄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pt-B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/>
                        </a:rPr>
                        <m:t>𝑝</m:t>
                      </m:r>
                      <m:r>
                        <a:rPr lang="pt-BR" i="1" dirty="0">
                          <a:latin typeface="Cambria Math"/>
                        </a:rPr>
                        <m:t>= (</m:t>
                      </m:r>
                      <m:r>
                        <a:rPr lang="pt-BR" i="1" dirty="0" err="1">
                          <a:latin typeface="Cambria Math"/>
                        </a:rPr>
                        <m:t>𝑥</m:t>
                      </m:r>
                      <m:r>
                        <a:rPr lang="pt-BR" i="1" dirty="0" err="1">
                          <a:latin typeface="Cambria Math"/>
                        </a:rPr>
                        <m:t>,</m:t>
                      </m:r>
                      <m:r>
                        <a:rPr lang="pt-BR" i="1" dirty="0" err="1">
                          <a:latin typeface="Cambria Math"/>
                        </a:rPr>
                        <m:t>𝑦</m:t>
                      </m:r>
                      <m:r>
                        <a:rPr lang="pt-BR" i="1" dirty="0">
                          <a:latin typeface="Cambria Math"/>
                        </a:rPr>
                        <m:t>), </m:t>
                      </m:r>
                      <m:r>
                        <a:rPr lang="pt-BR" i="1" dirty="0">
                          <a:latin typeface="Cambria Math"/>
                        </a:rPr>
                        <m:t>𝑉</m:t>
                      </m:r>
                      <m:r>
                        <a:rPr lang="pt-BR" i="1" dirty="0">
                          <a:latin typeface="Cambria Math"/>
                        </a:rPr>
                        <m:t>(</m:t>
                      </m:r>
                      <m:r>
                        <a:rPr lang="pt-BR" i="1" dirty="0">
                          <a:latin typeface="Cambria Math"/>
                        </a:rPr>
                        <m:t>𝑝</m:t>
                      </m:r>
                      <m:r>
                        <a:rPr lang="pt-BR" i="1" dirty="0">
                          <a:latin typeface="Cambria Math"/>
                        </a:rPr>
                        <m:t>) = 1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/>
                            </a:rPr>
                            <m:t>8</m:t>
                          </m:r>
                        </m:sub>
                      </m:sSub>
                      <m:r>
                        <a:rPr lang="pt-BR" b="0" i="1" dirty="0" smtClean="0">
                          <a:latin typeface="Cambria Math"/>
                        </a:rPr>
                        <m:t>(</m:t>
                      </m:r>
                      <m:r>
                        <a:rPr lang="pt-BR" b="0" i="1" dirty="0" smtClean="0">
                          <a:latin typeface="Cambria Math"/>
                        </a:rPr>
                        <m:t>𝑝</m:t>
                      </m:r>
                      <m:r>
                        <a:rPr lang="pt-BR" b="0" i="1" dirty="0" smtClean="0">
                          <a:latin typeface="Cambria Math"/>
                        </a:rPr>
                        <m:t>) = {</m:t>
                      </m:r>
                      <m:d>
                        <m:d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−1,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𝑦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𝑦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+</m:t>
                          </m:r>
                          <m:r>
                            <a:rPr lang="pt-BR" i="1" dirty="0">
                              <a:latin typeface="Cambria Math"/>
                            </a:rPr>
                            <m:t>1,</m:t>
                          </m:r>
                          <m:r>
                            <a:rPr lang="pt-BR" i="1" dirty="0">
                              <a:latin typeface="Cambria Math"/>
                            </a:rPr>
                            <m:t>𝑦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+</m:t>
                          </m:r>
                          <m:r>
                            <a:rPr lang="pt-BR" i="1" dirty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pt-BR" b="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436" y="4330784"/>
                <a:ext cx="5228996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7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6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Adjacência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pt-BR" dirty="0"/>
                  <a:t>Adjacência-m  </a:t>
                </a:r>
                <a:r>
                  <a:rPr lang="pt-B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𝐴</m:t>
                    </m:r>
                    <m:r>
                      <a:rPr lang="pt-BR" i="1" baseline="-25000" dirty="0" err="1">
                        <a:latin typeface="Cambria Math"/>
                      </a:rPr>
                      <m:t>𝑚</m:t>
                    </m:r>
                    <m:r>
                      <a:rPr lang="pt-BR" i="1" dirty="0">
                        <a:latin typeface="Cambria Math"/>
                      </a:rPr>
                      <m:t>(</m:t>
                    </m:r>
                    <m:r>
                      <a:rPr lang="pt-BR" i="1" dirty="0">
                        <a:latin typeface="Cambria Math"/>
                      </a:rPr>
                      <m:t>𝑝</m:t>
                    </m:r>
                    <m:r>
                      <a:rPr lang="pt-BR" i="1" dirty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Conectividade mista</a:t>
                </a:r>
                <a:endParaRPr lang="pt-BR" i="1" dirty="0"/>
              </a:p>
              <a:p>
                <a:pPr lvl="2"/>
                <a:r>
                  <a:rPr lang="pt-BR" dirty="0"/>
                  <a:t>𝑞 ∈ 𝑁</a:t>
                </a:r>
                <a:r>
                  <a:rPr lang="pt-BR" baseline="-25000" dirty="0"/>
                  <a:t>4</a:t>
                </a:r>
                <a:r>
                  <a:rPr lang="pt-BR" dirty="0"/>
                  <a:t>(𝑝) ou</a:t>
                </a:r>
              </a:p>
              <a:p>
                <a:pPr lvl="2"/>
                <a:r>
                  <a:rPr lang="pt-BR" dirty="0"/>
                  <a:t>𝑞 ∈ 𝑁</a:t>
                </a:r>
                <a:r>
                  <a:rPr lang="pt-BR" baseline="-25000" dirty="0"/>
                  <a:t>8</a:t>
                </a:r>
                <a:r>
                  <a:rPr lang="pt-BR" dirty="0"/>
                  <a:t>(𝑝)  𝑒 𝑉(𝑁</a:t>
                </a:r>
                <a:r>
                  <a:rPr lang="pt-BR" baseline="-25000" dirty="0"/>
                  <a:t>4</a:t>
                </a:r>
                <a:r>
                  <a:rPr lang="pt-BR" dirty="0"/>
                  <a:t>(𝑝) ∩ 𝑁</a:t>
                </a:r>
                <a:r>
                  <a:rPr lang="pt-BR" baseline="-25000" dirty="0"/>
                  <a:t>4</a:t>
                </a:r>
                <a:r>
                  <a:rPr lang="pt-BR" dirty="0"/>
                  <a:t>(𝑞)) ∉ 𝑄 </a:t>
                </a:r>
              </a:p>
              <a:p>
                <a:pPr lvl="1"/>
                <a:r>
                  <a:rPr lang="pt-BR" i="1" dirty="0"/>
                  <a:t>p</a:t>
                </a:r>
                <a:r>
                  <a:rPr lang="pt-BR" dirty="0"/>
                  <a:t> e </a:t>
                </a:r>
                <a:r>
                  <a:rPr lang="pt-BR" i="1" dirty="0"/>
                  <a:t>q</a:t>
                </a:r>
                <a:r>
                  <a:rPr lang="pt-BR" dirty="0"/>
                  <a:t> estão na mesma faixa de valores</a:t>
                </a:r>
              </a:p>
              <a:p>
                <a:pPr lvl="2"/>
                <a:r>
                  <a:rPr lang="pt-BR" dirty="0"/>
                  <a:t>𝑉(𝑝) ∈ 𝑄 𝑒 𝑉(𝑞) ∈ 𝑄</a:t>
                </a:r>
              </a:p>
              <a:p>
                <a:pPr lvl="1"/>
                <a:endParaRPr lang="pt-B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174042"/>
              </p:ext>
            </p:extLst>
          </p:nvPr>
        </p:nvGraphicFramePr>
        <p:xfrm>
          <a:off x="1225024" y="4330784"/>
          <a:ext cx="189586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9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r>
                        <a:rPr lang="pt-BR" i="1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9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3241248" y="4762832"/>
                <a:ext cx="52911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𝑄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pt-B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dirty="0" smtClean="0">
                          <a:latin typeface="Cambria Math"/>
                        </a:rPr>
                        <m:t>𝑝</m:t>
                      </m:r>
                      <m:r>
                        <a:rPr lang="pt-BR" i="1" dirty="0" smtClean="0">
                          <a:latin typeface="Cambria Math"/>
                        </a:rPr>
                        <m:t>= (</m:t>
                      </m:r>
                      <m:r>
                        <a:rPr lang="pt-BR" i="1" dirty="0" err="1" smtClean="0">
                          <a:latin typeface="Cambria Math"/>
                        </a:rPr>
                        <m:t>𝑥</m:t>
                      </m:r>
                      <m:r>
                        <a:rPr lang="pt-BR" i="1" dirty="0" err="1" smtClean="0">
                          <a:latin typeface="Cambria Math"/>
                        </a:rPr>
                        <m:t>,</m:t>
                      </m:r>
                      <m:r>
                        <a:rPr lang="pt-BR" i="1" dirty="0" err="1" smtClean="0">
                          <a:latin typeface="Cambria Math"/>
                        </a:rPr>
                        <m:t>𝑦</m:t>
                      </m:r>
                      <m:r>
                        <a:rPr lang="pt-BR" i="1" dirty="0" smtClean="0">
                          <a:latin typeface="Cambria Math"/>
                        </a:rPr>
                        <m:t>), </m:t>
                      </m:r>
                      <m:r>
                        <a:rPr lang="pt-BR" i="1" dirty="0" smtClean="0">
                          <a:latin typeface="Cambria Math"/>
                        </a:rPr>
                        <m:t>𝑉</m:t>
                      </m:r>
                      <m:r>
                        <a:rPr lang="pt-BR" i="1" dirty="0" smtClean="0">
                          <a:latin typeface="Cambria Math"/>
                        </a:rPr>
                        <m:t>(</m:t>
                      </m:r>
                      <m:r>
                        <a:rPr lang="pt-BR" i="1" dirty="0" smtClean="0">
                          <a:latin typeface="Cambria Math"/>
                        </a:rPr>
                        <m:t>𝑝</m:t>
                      </m:r>
                      <m:r>
                        <a:rPr lang="pt-BR" i="1" dirty="0" smtClean="0">
                          <a:latin typeface="Cambria Math"/>
                        </a:rPr>
                        <m:t>) = 1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pt-BR" b="0" i="1" dirty="0" smtClean="0">
                          <a:latin typeface="Cambria Math"/>
                        </a:rPr>
                        <m:t>(</m:t>
                      </m:r>
                      <m:r>
                        <a:rPr lang="pt-BR" b="0" i="1" dirty="0" smtClean="0">
                          <a:latin typeface="Cambria Math"/>
                        </a:rPr>
                        <m:t>𝑝</m:t>
                      </m:r>
                      <m:r>
                        <a:rPr lang="pt-BR" b="0" i="1" dirty="0" smtClean="0">
                          <a:latin typeface="Cambria Math"/>
                        </a:rPr>
                        <m:t>) = {</m:t>
                      </m:r>
                      <m:d>
                        <m:dPr>
                          <m:ctrlPr>
                            <a:rPr lang="pt-BR" b="0" i="1" strike="sngStrike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trike="sngStrike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pt-BR" b="0" i="1" strike="sngStrike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pt-BR" b="0" i="1" strike="sngStrike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pt-BR" b="0" i="1" strike="sngStrike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𝑦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/>
                            </a:rPr>
                            <m:t>𝑥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+</m:t>
                          </m:r>
                          <m:r>
                            <a:rPr lang="pt-BR" i="1" dirty="0">
                              <a:latin typeface="Cambria Math"/>
                            </a:rPr>
                            <m:t>1,</m:t>
                          </m:r>
                          <m:r>
                            <a:rPr lang="pt-BR" i="1" dirty="0">
                              <a:latin typeface="Cambria Math"/>
                            </a:rPr>
                            <m:t>𝑦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+</m:t>
                          </m:r>
                          <m:r>
                            <a:rPr lang="pt-BR" i="1" dirty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pt-BR" b="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pt-BR" b="0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248" y="4762832"/>
                <a:ext cx="5291192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230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82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Adjacência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pt-BR" dirty="0"/>
                  <a:t>Adjacência-m  </a:t>
                </a:r>
                <a:r>
                  <a:rPr lang="pt-B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/>
                      </a:rPr>
                      <m:t>𝐴</m:t>
                    </m:r>
                    <m:r>
                      <a:rPr lang="pt-BR" i="1" baseline="-25000" dirty="0" err="1">
                        <a:latin typeface="Cambria Math"/>
                      </a:rPr>
                      <m:t>𝑚</m:t>
                    </m:r>
                    <m:r>
                      <a:rPr lang="pt-BR" i="1" dirty="0">
                        <a:latin typeface="Cambria Math"/>
                      </a:rPr>
                      <m:t>(</m:t>
                    </m:r>
                    <m:r>
                      <a:rPr lang="pt-BR" i="1" dirty="0">
                        <a:latin typeface="Cambria Math"/>
                      </a:rPr>
                      <m:t>𝑝</m:t>
                    </m:r>
                    <m:r>
                      <a:rPr lang="pt-BR" i="1" dirty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A adjacência mista é uma modificação adjacência-8;</a:t>
                </a:r>
              </a:p>
              <a:p>
                <a:pPr lvl="1"/>
                <a:r>
                  <a:rPr lang="pt-BR" dirty="0"/>
                  <a:t>Foi criada para eliminar ambiguidades que frequentemente ocorrem com adjacencia-8</a:t>
                </a:r>
              </a:p>
              <a:p>
                <a:pPr>
                  <a:buNone/>
                </a:pPr>
                <a:endParaRPr lang="pt-BR" dirty="0"/>
              </a:p>
              <a:p>
                <a:pPr>
                  <a:buNone/>
                </a:pPr>
                <a:endParaRPr lang="pt-B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/>
          <p:cNvSpPr txBox="1"/>
          <p:nvPr/>
        </p:nvSpPr>
        <p:spPr>
          <a:xfrm>
            <a:off x="1835696" y="5517232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r>
              <a:rPr lang="en-US" sz="2400" dirty="0"/>
              <a:t>(p)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990033"/>
            <a:ext cx="5759565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3923928" y="5526757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8</a:t>
            </a:r>
            <a:r>
              <a:rPr lang="en-US" sz="2400" dirty="0"/>
              <a:t>(p)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974060" y="5517232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m</a:t>
            </a:r>
            <a:r>
              <a:rPr lang="en-US" sz="2400" dirty="0"/>
              <a:t>(p)</a:t>
            </a:r>
          </a:p>
        </p:txBody>
      </p:sp>
    </p:spTree>
    <p:extLst>
      <p:ext uri="{BB962C8B-B14F-4D97-AF65-F5344CB8AC3E}">
        <p14:creationId xmlns:p14="http://schemas.microsoft.com/office/powerpoint/2010/main" val="778348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Relação</a:t>
            </a:r>
            <a:r>
              <a:rPr lang="en-US" dirty="0"/>
              <a:t> de </a:t>
            </a:r>
            <a:r>
              <a:rPr lang="en-US" dirty="0" err="1"/>
              <a:t>Adjacência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caminho digital do pixel </a:t>
            </a:r>
            <a:r>
              <a:rPr lang="pt-BR" i="1" dirty="0"/>
              <a:t>p(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ao pixel </a:t>
            </a:r>
            <a:r>
              <a:rPr lang="pt-BR" i="1" dirty="0"/>
              <a:t>p(</a:t>
            </a:r>
            <a:r>
              <a:rPr lang="pt-BR" i="1" dirty="0" err="1"/>
              <a:t>s,t</a:t>
            </a:r>
            <a:r>
              <a:rPr lang="pt-BR" i="1" dirty="0"/>
              <a:t>)</a:t>
            </a:r>
            <a:r>
              <a:rPr lang="pt-BR" dirty="0"/>
              <a:t> é uma sequência de pixels distintos (x</a:t>
            </a:r>
            <a:r>
              <a:rPr lang="pt-BR" baseline="-25000" dirty="0"/>
              <a:t>0</a:t>
            </a:r>
            <a:r>
              <a:rPr lang="pt-BR" dirty="0"/>
              <a:t>,y</a:t>
            </a:r>
            <a:r>
              <a:rPr lang="pt-BR" baseline="-25000" dirty="0"/>
              <a:t>0</a:t>
            </a:r>
            <a:r>
              <a:rPr lang="pt-BR" dirty="0"/>
              <a:t>), (x</a:t>
            </a:r>
            <a:r>
              <a:rPr lang="pt-BR" baseline="-25000" dirty="0"/>
              <a:t>1</a:t>
            </a:r>
            <a:r>
              <a:rPr lang="pt-BR" dirty="0"/>
              <a:t>,y</a:t>
            </a:r>
            <a:r>
              <a:rPr lang="pt-BR" baseline="-25000" dirty="0"/>
              <a:t>1</a:t>
            </a:r>
            <a:r>
              <a:rPr lang="pt-BR" dirty="0"/>
              <a:t>),…, (</a:t>
            </a:r>
            <a:r>
              <a:rPr lang="pt-BR" dirty="0" err="1"/>
              <a:t>x</a:t>
            </a:r>
            <a:r>
              <a:rPr lang="pt-BR" baseline="-25000" dirty="0" err="1"/>
              <a:t>n</a:t>
            </a:r>
            <a:r>
              <a:rPr lang="pt-BR" dirty="0" err="1"/>
              <a:t>,y</a:t>
            </a:r>
            <a:r>
              <a:rPr lang="pt-BR" baseline="-25000" dirty="0" err="1"/>
              <a:t>n</a:t>
            </a:r>
            <a:r>
              <a:rPr lang="pt-BR" dirty="0"/>
              <a:t>), em que </a:t>
            </a:r>
          </a:p>
          <a:p>
            <a:pPr lvl="1"/>
            <a:r>
              <a:rPr lang="pt-BR" dirty="0"/>
              <a:t>(x</a:t>
            </a:r>
            <a:r>
              <a:rPr lang="pt-BR" baseline="-25000" dirty="0"/>
              <a:t>0</a:t>
            </a:r>
            <a:r>
              <a:rPr lang="pt-BR" dirty="0"/>
              <a:t>,y</a:t>
            </a:r>
            <a:r>
              <a:rPr lang="pt-BR" baseline="-25000" dirty="0"/>
              <a:t>0</a:t>
            </a:r>
            <a:r>
              <a:rPr lang="pt-BR" dirty="0"/>
              <a:t>) = (</a:t>
            </a:r>
            <a:r>
              <a:rPr lang="pt-BR" dirty="0" err="1"/>
              <a:t>x,y</a:t>
            </a:r>
            <a:r>
              <a:rPr lang="pt-BR" dirty="0"/>
              <a:t>) e (</a:t>
            </a:r>
            <a:r>
              <a:rPr lang="pt-BR" dirty="0" err="1"/>
              <a:t>x</a:t>
            </a:r>
            <a:r>
              <a:rPr lang="pt-BR" baseline="-25000" dirty="0" err="1"/>
              <a:t>n</a:t>
            </a:r>
            <a:r>
              <a:rPr lang="pt-BR" dirty="0" err="1"/>
              <a:t>,y</a:t>
            </a:r>
            <a:r>
              <a:rPr lang="pt-BR" baseline="-25000" dirty="0" err="1"/>
              <a:t>n</a:t>
            </a:r>
            <a:r>
              <a:rPr lang="pt-BR" dirty="0"/>
              <a:t>) = (</a:t>
            </a:r>
            <a:r>
              <a:rPr lang="pt-BR" dirty="0" err="1"/>
              <a:t>s,t</a:t>
            </a:r>
            <a:r>
              <a:rPr lang="pt-BR" dirty="0"/>
              <a:t>);</a:t>
            </a:r>
          </a:p>
          <a:p>
            <a:pPr lvl="1"/>
            <a:r>
              <a:rPr lang="pt-BR" dirty="0"/>
              <a:t>os pixels (</a:t>
            </a:r>
            <a:r>
              <a:rPr lang="pt-BR" dirty="0" err="1"/>
              <a:t>x</a:t>
            </a:r>
            <a:r>
              <a:rPr lang="pt-BR" baseline="-25000" dirty="0" err="1"/>
              <a:t>i</a:t>
            </a:r>
            <a:r>
              <a:rPr lang="pt-BR" dirty="0" err="1"/>
              <a:t>,y</a:t>
            </a:r>
            <a:r>
              <a:rPr lang="pt-BR" baseline="-25000" dirty="0" err="1"/>
              <a:t>i</a:t>
            </a:r>
            <a:r>
              <a:rPr lang="pt-BR" dirty="0"/>
              <a:t>) e (x</a:t>
            </a:r>
            <a:r>
              <a:rPr lang="pt-BR" baseline="-25000" dirty="0"/>
              <a:t>i-1</a:t>
            </a:r>
            <a:r>
              <a:rPr lang="pt-BR" dirty="0"/>
              <a:t>,y</a:t>
            </a:r>
            <a:r>
              <a:rPr lang="pt-BR" baseline="-25000" dirty="0"/>
              <a:t>i-1</a:t>
            </a:r>
            <a:r>
              <a:rPr lang="pt-BR" dirty="0"/>
              <a:t>)  são adjacentes para </a:t>
            </a:r>
          </a:p>
          <a:p>
            <a:pPr marL="365760" lvl="1" indent="0">
              <a:buNone/>
            </a:pPr>
            <a:r>
              <a:rPr lang="pt-BR" dirty="0"/>
              <a:t>1 ≤ i ≤ n</a:t>
            </a:r>
          </a:p>
          <a:p>
            <a:pPr marL="365760" lvl="1" indent="0">
              <a:buNone/>
            </a:pPr>
            <a:endParaRPr lang="pt-BR" dirty="0"/>
          </a:p>
          <a:p>
            <a:r>
              <a:rPr lang="pt-BR" dirty="0"/>
              <a:t>Se (x</a:t>
            </a:r>
            <a:r>
              <a:rPr lang="pt-BR" baseline="-25000" dirty="0"/>
              <a:t>0</a:t>
            </a:r>
            <a:r>
              <a:rPr lang="pt-BR" dirty="0"/>
              <a:t>,y</a:t>
            </a:r>
            <a:r>
              <a:rPr lang="pt-BR" baseline="-25000" dirty="0"/>
              <a:t>0</a:t>
            </a:r>
            <a:r>
              <a:rPr lang="pt-BR" dirty="0"/>
              <a:t>) = (</a:t>
            </a:r>
            <a:r>
              <a:rPr lang="pt-BR" dirty="0" err="1"/>
              <a:t>x</a:t>
            </a:r>
            <a:r>
              <a:rPr lang="pt-BR" baseline="-25000" dirty="0" err="1"/>
              <a:t>n</a:t>
            </a:r>
            <a:r>
              <a:rPr lang="pt-BR" dirty="0"/>
              <a:t>,</a:t>
            </a:r>
            <a:r>
              <a:rPr lang="pt-BR" dirty="0" err="1"/>
              <a:t>y</a:t>
            </a:r>
            <a:r>
              <a:rPr lang="pt-BR" baseline="-25000" dirty="0" err="1"/>
              <a:t>n</a:t>
            </a:r>
            <a:r>
              <a:rPr lang="pt-BR" dirty="0"/>
              <a:t>)  então o caminho é fechado</a:t>
            </a:r>
          </a:p>
        </p:txBody>
      </p:sp>
    </p:spTree>
    <p:extLst>
      <p:ext uri="{BB962C8B-B14F-4D97-AF65-F5344CB8AC3E}">
        <p14:creationId xmlns:p14="http://schemas.microsoft.com/office/powerpoint/2010/main" val="1927723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Conectividade entre pixels é um conceito muito importante</a:t>
            </a:r>
          </a:p>
          <a:p>
            <a:r>
              <a:rPr lang="pt-BR" dirty="0"/>
              <a:t>É útil para</a:t>
            </a:r>
          </a:p>
          <a:p>
            <a:pPr lvl="1"/>
            <a:r>
              <a:rPr lang="pt-BR" dirty="0"/>
              <a:t>Estabelecer os limites dos objetos </a:t>
            </a:r>
          </a:p>
          <a:p>
            <a:pPr lvl="1"/>
            <a:r>
              <a:rPr lang="pt-BR" dirty="0"/>
              <a:t>Identificar as componentes de uma imagem</a:t>
            </a:r>
          </a:p>
          <a:p>
            <a:pPr lvl="2"/>
            <a:r>
              <a:rPr lang="pt-BR" dirty="0"/>
              <a:t>obtenção de propriedades especificas do objeto para processamento de mais alto nível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Precisamos identificar quais pixels pertencem a cada componente da imagem I</a:t>
            </a:r>
          </a:p>
          <a:p>
            <a:pPr lvl="1"/>
            <a:r>
              <a:rPr lang="pt-BR" dirty="0"/>
              <a:t>Para isto precisamos saber quais pixels são conexos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6372200" y="470808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Imagem</a:t>
            </a:r>
            <a:r>
              <a:rPr lang="en-US" dirty="0"/>
              <a:t> I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4204023"/>
            <a:ext cx="3096344" cy="208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ector de seta reta 5"/>
          <p:cNvCxnSpPr/>
          <p:nvPr/>
        </p:nvCxnSpPr>
        <p:spPr>
          <a:xfrm rot="10800000">
            <a:off x="1835696" y="4636072"/>
            <a:ext cx="1440160" cy="14401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rot="10800000" flipV="1">
            <a:off x="1907704" y="5428160"/>
            <a:ext cx="3312368" cy="28803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 flipV="1">
            <a:off x="5292080" y="4060008"/>
            <a:ext cx="1584176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55576" y="434804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Objeto</a:t>
            </a:r>
            <a:r>
              <a:rPr lang="en-US" dirty="0"/>
              <a:t> 1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55576" y="550016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Objeto</a:t>
            </a:r>
            <a:r>
              <a:rPr lang="en-US" dirty="0"/>
              <a:t> 2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948264" y="391599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67744" y="3915992"/>
            <a:ext cx="4104456" cy="25373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Dois pontos p e q ε S  são conexos se existe um caminho entre p e q tal que todos os pontos deste caminho também pertencem a 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Para qualquer pixel p em S, o conjunto de pixels conexos a ele em S é chamado de um componente conexo de S</a:t>
            </a:r>
          </a:p>
          <a:p>
            <a:endParaRPr lang="pt-BR" dirty="0"/>
          </a:p>
          <a:p>
            <a:r>
              <a:rPr lang="pt-BR" dirty="0"/>
              <a:t>Se existir apenas um componente conexo então S é dito ser um conjunto conexo</a:t>
            </a:r>
          </a:p>
          <a:p>
            <a:endParaRPr lang="pt-BR" dirty="0"/>
          </a:p>
        </p:txBody>
      </p:sp>
      <p:grpSp>
        <p:nvGrpSpPr>
          <p:cNvPr id="4" name="Grupo 8"/>
          <p:cNvGrpSpPr/>
          <p:nvPr/>
        </p:nvGrpSpPr>
        <p:grpSpPr>
          <a:xfrm>
            <a:off x="3428992" y="2643182"/>
            <a:ext cx="2088232" cy="1296144"/>
            <a:chOff x="3275856" y="4581128"/>
            <a:chExt cx="2088232" cy="1368152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35896" y="4653136"/>
              <a:ext cx="1512168" cy="115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Retângulo 5"/>
            <p:cNvSpPr/>
            <p:nvPr/>
          </p:nvSpPr>
          <p:spPr>
            <a:xfrm>
              <a:off x="3275856" y="4581128"/>
              <a:ext cx="2088232" cy="136815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4067944" y="4797152"/>
              <a:ext cx="6480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P</a:t>
              </a:r>
            </a:p>
            <a:p>
              <a:r>
                <a:rPr lang="en-US" dirty="0"/>
                <a:t>   .q     </a:t>
              </a:r>
            </a:p>
            <a:p>
              <a:endParaRPr lang="en-US" dirty="0"/>
            </a:p>
          </p:txBody>
        </p:sp>
        <p:cxnSp>
          <p:nvCxnSpPr>
            <p:cNvPr id="8" name="Conector reto 7"/>
            <p:cNvCxnSpPr/>
            <p:nvPr/>
          </p:nvCxnSpPr>
          <p:spPr>
            <a:xfrm rot="16200000" flipH="1">
              <a:off x="4175956" y="5049180"/>
              <a:ext cx="288032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aixaDeTexto 8"/>
          <p:cNvSpPr txBox="1"/>
          <p:nvPr/>
        </p:nvSpPr>
        <p:spPr>
          <a:xfrm>
            <a:off x="3789032" y="329125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Conectividade</a:t>
            </a:r>
            <a:endParaRPr lang="pt-BR" dirty="0"/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Seja R um subconjunto de pixels em uma imagem I</a:t>
            </a:r>
          </a:p>
          <a:p>
            <a:pPr lvl="1"/>
            <a:r>
              <a:rPr lang="pt-BR" dirty="0"/>
              <a:t>R é uma região de I se R for um conjunto conexo</a:t>
            </a:r>
          </a:p>
          <a:p>
            <a:pPr lvl="1"/>
            <a:r>
              <a:rPr lang="pt-BR" dirty="0"/>
              <a:t>Duas regiões R</a:t>
            </a:r>
            <a:r>
              <a:rPr lang="pt-BR" baseline="-25000" dirty="0"/>
              <a:t>i</a:t>
            </a:r>
            <a:r>
              <a:rPr lang="pt-BR" dirty="0"/>
              <a:t> e </a:t>
            </a:r>
            <a:r>
              <a:rPr lang="pt-BR" dirty="0" err="1"/>
              <a:t>R</a:t>
            </a:r>
            <a:r>
              <a:rPr lang="pt-BR" baseline="-25000" dirty="0" err="1"/>
              <a:t>j</a:t>
            </a:r>
            <a:r>
              <a:rPr lang="pt-BR" dirty="0"/>
              <a:t> são adjacentes se sua união formar um conjunto conexo</a:t>
            </a:r>
          </a:p>
          <a:p>
            <a:pPr lvl="1"/>
            <a:r>
              <a:rPr lang="pt-BR" dirty="0"/>
              <a:t>Para definir um conjunto conexo o tipo de adjacência utilizada precisa ser especificado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R1 U R2 formam uma região se a adjacência-8 for utilizada</a:t>
            </a:r>
          </a:p>
          <a:p>
            <a:pPr lvl="1"/>
            <a:r>
              <a:rPr lang="pt-BR" dirty="0"/>
              <a:t>Usando adjacência-4, R1 e R2 são duas regiões disjuntas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4214818"/>
            <a:ext cx="16668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Neste exemplo as regiões Si e </a:t>
            </a:r>
            <a:r>
              <a:rPr lang="pt-BR" dirty="0" err="1"/>
              <a:t>Sj</a:t>
            </a:r>
            <a:r>
              <a:rPr lang="pt-BR" dirty="0"/>
              <a:t> são disjuntas para qualquer adjacência (não existe caminho entre p e q)</a:t>
            </a:r>
          </a:p>
        </p:txBody>
      </p:sp>
      <p:grpSp>
        <p:nvGrpSpPr>
          <p:cNvPr id="5" name="Grupo 13"/>
          <p:cNvGrpSpPr/>
          <p:nvPr/>
        </p:nvGrpSpPr>
        <p:grpSpPr>
          <a:xfrm>
            <a:off x="2627784" y="4196578"/>
            <a:ext cx="3888432" cy="2304256"/>
            <a:chOff x="2123728" y="2996952"/>
            <a:chExt cx="3888432" cy="2304256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55776" y="3356992"/>
              <a:ext cx="2880320" cy="1937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" name="Conector reto 6"/>
            <p:cNvCxnSpPr/>
            <p:nvPr/>
          </p:nvCxnSpPr>
          <p:spPr>
            <a:xfrm>
              <a:off x="3131840" y="4077072"/>
              <a:ext cx="1656184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/>
            <p:cNvSpPr txBox="1"/>
            <p:nvPr/>
          </p:nvSpPr>
          <p:spPr>
            <a:xfrm>
              <a:off x="2843808" y="3212976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4716016" y="3717032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Sj</a:t>
              </a:r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2123728" y="2996952"/>
              <a:ext cx="3888432" cy="2304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Fronteira ou contorno de uma região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Seja R uma região</a:t>
            </a:r>
          </a:p>
          <a:p>
            <a:pPr lvl="1"/>
            <a:r>
              <a:rPr lang="pt-BR" dirty="0"/>
              <a:t>A fronteira de R é o conjunto de pixels adjacentes aos pixels do complemento de R</a:t>
            </a:r>
          </a:p>
          <a:p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2285984" y="3857628"/>
            <a:ext cx="2592288" cy="1872208"/>
            <a:chOff x="3275856" y="4581128"/>
            <a:chExt cx="2088232" cy="1368152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35896" y="4653136"/>
              <a:ext cx="1512168" cy="115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Retângulo 5"/>
            <p:cNvSpPr/>
            <p:nvPr/>
          </p:nvSpPr>
          <p:spPr>
            <a:xfrm>
              <a:off x="3275856" y="4581128"/>
              <a:ext cx="2088232" cy="1368152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3366104" y="45057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374216" y="407365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</a:t>
            </a:r>
            <a:r>
              <a:rPr lang="en-US" baseline="30000" dirty="0" err="1"/>
              <a:t>c</a:t>
            </a:r>
            <a:endParaRPr lang="en-US" baseline="30000" dirty="0"/>
          </a:p>
        </p:txBody>
      </p:sp>
      <p:cxnSp>
        <p:nvCxnSpPr>
          <p:cNvPr id="9" name="Conector de seta reta 8"/>
          <p:cNvCxnSpPr/>
          <p:nvPr/>
        </p:nvCxnSpPr>
        <p:spPr>
          <a:xfrm rot="10800000">
            <a:off x="4086184" y="4721724"/>
            <a:ext cx="1368152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5526344" y="500975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Ponto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fronteira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Rotular Componentes Conectadas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Atribui diferentes rótulos para regiões disjuntas em uma dada imagem</a:t>
            </a:r>
          </a:p>
          <a:p>
            <a:pPr lvl="1"/>
            <a:r>
              <a:rPr lang="pt-BR" dirty="0"/>
              <a:t>Rotular componentes conectadas é um passo fundamental para analise automática de imagens:</a:t>
            </a:r>
          </a:p>
          <a:p>
            <a:pPr lvl="2"/>
            <a:r>
              <a:rPr lang="pt-BR" dirty="0"/>
              <a:t>identificar forma, calcular área, definir fronteira da região</a:t>
            </a:r>
          </a:p>
          <a:p>
            <a:pPr lvl="2"/>
            <a:r>
              <a:rPr lang="pt-BR" dirty="0"/>
              <a:t>obter características de forma ou contorno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643446"/>
            <a:ext cx="7351977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Algoritmo para Rotular Componentes Conectadas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Considere que desejamos rotular componentes  4-conectadas </a:t>
            </a:r>
          </a:p>
          <a:p>
            <a:endParaRPr lang="pt-BR" dirty="0"/>
          </a:p>
          <a:p>
            <a:r>
              <a:rPr lang="pt-BR" dirty="0"/>
              <a:t>	</a:t>
            </a:r>
          </a:p>
          <a:p>
            <a:pPr lvl="1"/>
            <a:r>
              <a:rPr lang="pt-BR" dirty="0"/>
              <a:t>Seja p um pixel a ser analisado. A varredura se dá da esquerda para a direita, de cima para baixo. </a:t>
            </a:r>
          </a:p>
          <a:p>
            <a:pPr lvl="1"/>
            <a:r>
              <a:rPr lang="pt-BR" dirty="0"/>
              <a:t>Seja r e t o pixel de cima e a esquerda respectivamente.</a:t>
            </a:r>
          </a:p>
          <a:p>
            <a:pPr lvl="1"/>
            <a:r>
              <a:rPr lang="pt-BR" dirty="0"/>
              <a:t>Dada a natureza da varredura, r e t já foram rotulados se satisfizeram o critério de similaridade (</a:t>
            </a:r>
            <a:r>
              <a:rPr lang="pt-BR" dirty="0" err="1"/>
              <a:t>Cs</a:t>
            </a:r>
            <a:r>
              <a:rPr lang="pt-BR" dirty="0"/>
              <a:t>=1; considere que estamos tratando com uma imagem binária).</a:t>
            </a:r>
          </a:p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2214554"/>
            <a:ext cx="17621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Algoritmo para Rotular Componentes Conectadas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Procedimento:</a:t>
            </a:r>
          </a:p>
          <a:p>
            <a:pPr lvl="1"/>
            <a:r>
              <a:rPr lang="pt-BR" dirty="0"/>
              <a:t>Se p = 0 então verifica o próximo pixel;</a:t>
            </a:r>
          </a:p>
          <a:p>
            <a:pPr lvl="1"/>
            <a:r>
              <a:rPr lang="pt-BR" dirty="0"/>
              <a:t>Se p = 1, examinar r e t</a:t>
            </a:r>
          </a:p>
          <a:p>
            <a:pPr lvl="2"/>
            <a:r>
              <a:rPr lang="pt-BR" dirty="0"/>
              <a:t>Se (r == 0 e t == 0) então rotula p com novo rótulo;</a:t>
            </a:r>
          </a:p>
          <a:p>
            <a:pPr lvl="2"/>
            <a:r>
              <a:rPr lang="pt-BR" dirty="0"/>
              <a:t>Se (r == 1 e t == 0) ou (r == 0 e t == 1) rotula p com o rótulo de r ou de t;</a:t>
            </a:r>
          </a:p>
          <a:p>
            <a:pPr lvl="2"/>
            <a:r>
              <a:rPr lang="pt-BR" dirty="0"/>
              <a:t>Se (r == 1 e t == 1) e possuem o mesmo rótulo então rotula p com este rótulo;</a:t>
            </a:r>
          </a:p>
          <a:p>
            <a:pPr lvl="2"/>
            <a:r>
              <a:rPr lang="pt-BR" dirty="0"/>
              <a:t>Se (r == 1 e t == 1) e possuem rótulos diferentes então rotula p com um dos rótulos e indica equivalência de rótulos;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Algoritmo para Rotular Componentes Conectadas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 final do processo todos que satisfazem o critério de similaridade estarão rotulados, mas alguns com rótulos equivalentes</a:t>
            </a:r>
          </a:p>
          <a:p>
            <a:r>
              <a:rPr lang="pt-BR" dirty="0"/>
              <a:t>Neste caso:</a:t>
            </a:r>
          </a:p>
          <a:p>
            <a:pPr lvl="1"/>
            <a:r>
              <a:rPr lang="pt-BR" dirty="0"/>
              <a:t>transformar todos os pares de rótulos equivalentes em classes de equivalência, atribuindo um rótulo diferente para cada classe;</a:t>
            </a:r>
          </a:p>
          <a:p>
            <a:pPr lvl="1"/>
            <a:r>
              <a:rPr lang="pt-BR" dirty="0"/>
              <a:t>varrer novamente a imagem e substituir cada rótulo pelo rótulo atribuído a sua classe de equivalência.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Demonstração do algoritmo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0682" y="1600200"/>
            <a:ext cx="667758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Resultado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1062" y="1928812"/>
            <a:ext cx="507682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Rotular Componentes Conectadas - Exercício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0" y="1601788"/>
            <a:ext cx="66167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 sz="2000" dirty="0"/>
              <a:t>Considere </a:t>
            </a:r>
            <a:r>
              <a:rPr lang="pt-BR" sz="2000" dirty="0" err="1"/>
              <a:t>Sc</a:t>
            </a:r>
            <a:r>
              <a:rPr lang="pt-BR" sz="2000" dirty="0"/>
              <a:t>={1} e a imagem abaixo:</a:t>
            </a:r>
          </a:p>
          <a:p>
            <a:endParaRPr lang="pt-BR" sz="2000" dirty="0"/>
          </a:p>
          <a:p>
            <a:r>
              <a:rPr lang="pt-BR" sz="2000" dirty="0"/>
              <a:t>1	1	0	0	0	0	0	</a:t>
            </a:r>
          </a:p>
          <a:p>
            <a:r>
              <a:rPr lang="pt-BR" sz="2000" dirty="0"/>
              <a:t>0	1	1	0	0	0	0	</a:t>
            </a:r>
          </a:p>
          <a:p>
            <a:r>
              <a:rPr lang="pt-BR" sz="2000" dirty="0"/>
              <a:t>0	0	0	1	0	0	0	</a:t>
            </a:r>
          </a:p>
          <a:p>
            <a:r>
              <a:rPr lang="pt-BR" sz="2000" dirty="0"/>
              <a:t>0	0	0	1	1	0	1	</a:t>
            </a:r>
          </a:p>
          <a:p>
            <a:r>
              <a:rPr lang="pt-BR" sz="2000" dirty="0"/>
              <a:t>0	0	0	0	0	1	1	</a:t>
            </a:r>
          </a:p>
          <a:p>
            <a:r>
              <a:rPr lang="pt-BR" sz="2000" dirty="0"/>
              <a:t>0	0	0	0	0	1	1	</a:t>
            </a:r>
          </a:p>
          <a:p>
            <a:endParaRPr lang="pt-BR" sz="20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022986" y="2242976"/>
            <a:ext cx="2935318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pt-BR" dirty="0"/>
              <a:t>Os rótulos C e D são equivalentes. Temos, portanto,  3 componentes 4-conectadas.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967422" y="4800439"/>
            <a:ext cx="3133726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pt-BR" dirty="0"/>
              <a:t>Como o procedimento de rotular deve ser alterado para obtermos componentes 8-conectadas???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0" y="4365104"/>
            <a:ext cx="6804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Componentes 4-conectadas:</a:t>
            </a:r>
          </a:p>
          <a:p>
            <a:r>
              <a:rPr lang="pt-BR" dirty="0"/>
              <a:t>A	</a:t>
            </a:r>
            <a:r>
              <a:rPr lang="pt-BR" dirty="0" err="1"/>
              <a:t>A</a:t>
            </a:r>
            <a:r>
              <a:rPr lang="pt-BR" dirty="0"/>
              <a:t>	0	0	0	0	0	</a:t>
            </a:r>
          </a:p>
          <a:p>
            <a:r>
              <a:rPr lang="pt-BR" dirty="0"/>
              <a:t>0	A	</a:t>
            </a:r>
            <a:r>
              <a:rPr lang="pt-BR" dirty="0" err="1"/>
              <a:t>A</a:t>
            </a:r>
            <a:r>
              <a:rPr lang="pt-BR" dirty="0"/>
              <a:t>	0	0	0	0	</a:t>
            </a:r>
          </a:p>
          <a:p>
            <a:r>
              <a:rPr lang="pt-BR" dirty="0"/>
              <a:t>0	0	0	B	0	0	0	</a:t>
            </a:r>
          </a:p>
          <a:p>
            <a:r>
              <a:rPr lang="pt-BR" dirty="0"/>
              <a:t>0	0	0	B	</a:t>
            </a:r>
            <a:r>
              <a:rPr lang="pt-BR" dirty="0" err="1"/>
              <a:t>B</a:t>
            </a:r>
            <a:r>
              <a:rPr lang="pt-BR" dirty="0"/>
              <a:t>	0	C	</a:t>
            </a:r>
          </a:p>
          <a:p>
            <a:r>
              <a:rPr lang="pt-BR" dirty="0"/>
              <a:t>0	0	0	0	0	D	</a:t>
            </a:r>
            <a:r>
              <a:rPr lang="pt-BR" dirty="0" err="1"/>
              <a:t>D</a:t>
            </a:r>
            <a:r>
              <a:rPr lang="pt-BR" dirty="0"/>
              <a:t>	</a:t>
            </a:r>
          </a:p>
          <a:p>
            <a:r>
              <a:rPr lang="pt-BR" dirty="0"/>
              <a:t>0	0	0	0	0	D	</a:t>
            </a:r>
            <a:r>
              <a:rPr lang="pt-BR" dirty="0" err="1"/>
              <a:t>D</a:t>
            </a:r>
            <a:endParaRPr lang="pt-B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 de distância ou Métrica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Dados os pixels </a:t>
            </a:r>
            <a:r>
              <a:rPr lang="pt-BR" i="1" dirty="0"/>
              <a:t>p</a:t>
            </a:r>
            <a:r>
              <a:rPr lang="pt-BR" dirty="0"/>
              <a:t>, </a:t>
            </a:r>
            <a:r>
              <a:rPr lang="pt-BR" i="1" dirty="0"/>
              <a:t>q</a:t>
            </a:r>
            <a:r>
              <a:rPr lang="pt-BR" dirty="0"/>
              <a:t> e </a:t>
            </a:r>
            <a:r>
              <a:rPr lang="pt-BR" i="1" dirty="0"/>
              <a:t>z</a:t>
            </a:r>
            <a:r>
              <a:rPr lang="pt-BR" dirty="0"/>
              <a:t> com coordenadas </a:t>
            </a:r>
            <a:r>
              <a:rPr lang="pt-BR" i="1" dirty="0"/>
              <a:t>(x,y)</a:t>
            </a:r>
            <a:r>
              <a:rPr lang="pt-BR" dirty="0"/>
              <a:t>, </a:t>
            </a:r>
            <a:r>
              <a:rPr lang="pt-BR" i="1" dirty="0"/>
              <a:t>(s,t)</a:t>
            </a:r>
            <a:r>
              <a:rPr lang="pt-BR" dirty="0"/>
              <a:t> e </a:t>
            </a:r>
            <a:r>
              <a:rPr lang="pt-BR" i="1" dirty="0"/>
              <a:t>(u,v)</a:t>
            </a:r>
            <a:r>
              <a:rPr lang="pt-BR" dirty="0"/>
              <a:t>, respectivamente, </a:t>
            </a:r>
            <a:r>
              <a:rPr lang="pt-BR" i="1" dirty="0"/>
              <a:t>D</a:t>
            </a:r>
            <a:r>
              <a:rPr lang="pt-BR" dirty="0"/>
              <a:t> é uma função de distância se</a:t>
            </a:r>
          </a:p>
          <a:p>
            <a:pPr lvl="1"/>
            <a:r>
              <a:rPr lang="pt-BR" i="1" dirty="0"/>
              <a:t>D(p,q) = D(q,p)</a:t>
            </a:r>
            <a:r>
              <a:rPr lang="pt-BR" dirty="0"/>
              <a:t>, simetria</a:t>
            </a:r>
          </a:p>
          <a:p>
            <a:pPr lvl="1"/>
            <a:r>
              <a:rPr lang="pt-BR" i="1" dirty="0"/>
              <a:t>D(p,q) ≥ 0</a:t>
            </a:r>
            <a:r>
              <a:rPr lang="pt-BR" dirty="0"/>
              <a:t>, não negatividade</a:t>
            </a:r>
          </a:p>
          <a:p>
            <a:pPr lvl="1"/>
            <a:r>
              <a:rPr lang="pt-BR" i="1" dirty="0"/>
              <a:t>D(p,p) = 0</a:t>
            </a:r>
          </a:p>
          <a:p>
            <a:pPr lvl="1"/>
            <a:endParaRPr lang="pt-BR" i="1" dirty="0"/>
          </a:p>
          <a:p>
            <a:r>
              <a:rPr lang="pt-BR" dirty="0"/>
              <a:t>Além dessas 3 propriedades, também valem</a:t>
            </a:r>
          </a:p>
          <a:p>
            <a:pPr lvl="1"/>
            <a:r>
              <a:rPr lang="pt-BR" i="1" dirty="0"/>
              <a:t>D(p,q) = 0</a:t>
            </a:r>
            <a:r>
              <a:rPr lang="pt-BR" dirty="0"/>
              <a:t>, se e somente se </a:t>
            </a:r>
            <a:r>
              <a:rPr lang="pt-BR" i="1" dirty="0"/>
              <a:t>p = q</a:t>
            </a:r>
          </a:p>
          <a:p>
            <a:pPr lvl="1"/>
            <a:r>
              <a:rPr lang="pt-BR" i="1" dirty="0"/>
              <a:t>D(p,z) ≤ D(p,q) + D(q,z)</a:t>
            </a:r>
            <a:r>
              <a:rPr lang="pt-BR" dirty="0"/>
              <a:t>, também conhecida como desigualdade do triângulo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2119D8CF-8DEC-4D9F-84EE-ADF04DFF3391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906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 de distância ou Métrica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Desigualdade triangular</a:t>
            </a:r>
          </a:p>
        </p:txBody>
      </p:sp>
      <p:sp>
        <p:nvSpPr>
          <p:cNvPr id="4" name="Elipse 3"/>
          <p:cNvSpPr/>
          <p:nvPr/>
        </p:nvSpPr>
        <p:spPr>
          <a:xfrm>
            <a:off x="3189993" y="4712740"/>
            <a:ext cx="216024" cy="21602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940152" y="4712740"/>
            <a:ext cx="216024" cy="2160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189993" y="2852936"/>
            <a:ext cx="216024" cy="216024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6"/>
            <a:endCxn id="5" idx="2"/>
          </p:cNvCxnSpPr>
          <p:nvPr/>
        </p:nvCxnSpPr>
        <p:spPr>
          <a:xfrm>
            <a:off x="3406017" y="4820752"/>
            <a:ext cx="253413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543935" y="3212976"/>
            <a:ext cx="136815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00" i="1" dirty="0"/>
              <a:t>D(p,z)</a:t>
            </a:r>
          </a:p>
        </p:txBody>
      </p:sp>
      <p:cxnSp>
        <p:nvCxnSpPr>
          <p:cNvPr id="11" name="Conector reto 10"/>
          <p:cNvCxnSpPr>
            <a:stCxn id="6" idx="4"/>
            <a:endCxn id="4" idx="0"/>
          </p:cNvCxnSpPr>
          <p:nvPr/>
        </p:nvCxnSpPr>
        <p:spPr>
          <a:xfrm>
            <a:off x="3298005" y="3068960"/>
            <a:ext cx="0" cy="164378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5"/>
            <a:endCxn id="5" idx="1"/>
          </p:cNvCxnSpPr>
          <p:nvPr/>
        </p:nvCxnSpPr>
        <p:spPr>
          <a:xfrm>
            <a:off x="3374381" y="3037324"/>
            <a:ext cx="2597407" cy="170705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4012259" y="4928764"/>
            <a:ext cx="136815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00" i="1" dirty="0"/>
              <a:t>D(p,q)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1821841" y="3506535"/>
            <a:ext cx="136815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00" i="1" dirty="0"/>
              <a:t>D(q,z)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145695" y="2314327"/>
            <a:ext cx="49020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00" dirty="0"/>
              <a:t>z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145695" y="4797152"/>
            <a:ext cx="49020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00" dirty="0"/>
              <a:t>q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868144" y="4797152"/>
            <a:ext cx="49020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900" dirty="0"/>
              <a:t>p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2119D8CF-8DEC-4D9F-84EE-ADF04DFF3391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63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3"/>
            <a:stretch>
              <a:fillRect l="-593" t="-875"/>
            </a:stretch>
          </a:blipFill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2483768" y="2708920"/>
          <a:ext cx="3840090" cy="3112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4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40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1212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</a:t>
                      </a:r>
                      <a:r>
                        <a:rPr lang="en-US" sz="1400" b="0" dirty="0"/>
                        <a:t>p</a:t>
                      </a:r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21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bg2">
                        <a:lumMod val="25000"/>
                        <a:alpha val="7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Elipse 4"/>
          <p:cNvSpPr/>
          <p:nvPr/>
        </p:nvSpPr>
        <p:spPr>
          <a:xfrm>
            <a:off x="3347864" y="3212976"/>
            <a:ext cx="1728192" cy="18002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99792" y="5949280"/>
            <a:ext cx="5040560" cy="707886"/>
          </a:xfrm>
          <a:prstGeom prst="rect">
            <a:avLst/>
          </a:prstGeom>
          <a:blipFill rotWithShape="1">
            <a:blip r:embed="rId4"/>
            <a:stretch>
              <a:fillRect l="-1088" t="-4310" b="-12931"/>
            </a:stretch>
          </a:blipFill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distância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129960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Distancia D</a:t>
            </a:r>
            <a:r>
              <a:rPr lang="pt-BR" baseline="-25000" dirty="0"/>
              <a:t>4</a:t>
            </a:r>
            <a:r>
              <a:rPr lang="pt-BR" dirty="0"/>
              <a:t> ou </a:t>
            </a:r>
            <a:r>
              <a:rPr lang="pt-BR" i="1" dirty="0" err="1"/>
              <a:t>City-block</a:t>
            </a:r>
            <a:r>
              <a:rPr lang="pt-BR" i="1" dirty="0"/>
              <a:t> </a:t>
            </a:r>
            <a:r>
              <a:rPr lang="pt-BR" i="1" dirty="0" err="1"/>
              <a:t>distance</a:t>
            </a:r>
            <a:r>
              <a:rPr lang="pt-BR" i="1" dirty="0"/>
              <a:t> ou distância de Manhattan</a:t>
            </a:r>
            <a:r>
              <a:rPr lang="pt-BR" dirty="0"/>
              <a:t>:</a:t>
            </a:r>
          </a:p>
          <a:p>
            <a:pPr lvl="1"/>
            <a:r>
              <a:rPr lang="pt-BR" i="1" dirty="0"/>
              <a:t>D</a:t>
            </a:r>
            <a:r>
              <a:rPr lang="pt-BR" i="1" baseline="-25000" dirty="0"/>
              <a:t>4</a:t>
            </a:r>
            <a:r>
              <a:rPr lang="pt-BR" i="1" dirty="0"/>
              <a:t>(p,q) = |x-s| + |y-t|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57158" y="5661248"/>
            <a:ext cx="36758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S = {q| D4(</a:t>
            </a:r>
            <a:r>
              <a:rPr lang="en-US" sz="2200" i="1" dirty="0" err="1"/>
              <a:t>p,q</a:t>
            </a:r>
            <a:r>
              <a:rPr lang="en-US" sz="2200" i="1" dirty="0"/>
              <a:t>) ≤ r}</a:t>
            </a:r>
            <a:r>
              <a:rPr lang="en-US" sz="2200" dirty="0"/>
              <a:t> forma um diamante </a:t>
            </a:r>
            <a:r>
              <a:rPr lang="en-US" sz="2200" dirty="0" err="1"/>
              <a:t>centrado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i="1" dirty="0"/>
              <a:t>p</a:t>
            </a:r>
          </a:p>
        </p:txBody>
      </p:sp>
      <p:pic>
        <p:nvPicPr>
          <p:cNvPr id="2050" name="Picture 2" descr="File:Manhattan distance.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2852936"/>
            <a:ext cx="2695575" cy="2695576"/>
          </a:xfrm>
          <a:prstGeom prst="rect">
            <a:avLst/>
          </a:prstGeom>
          <a:noFill/>
        </p:spPr>
      </p:pic>
      <p:sp>
        <p:nvSpPr>
          <p:cNvPr id="7" name="CaixaDeTexto 6"/>
          <p:cNvSpPr txBox="1"/>
          <p:nvPr/>
        </p:nvSpPr>
        <p:spPr>
          <a:xfrm>
            <a:off x="5500694" y="5643578"/>
            <a:ext cx="299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/>
              <a:t>Comparando</a:t>
            </a:r>
            <a:r>
              <a:rPr lang="en-US" sz="2200" dirty="0"/>
              <a:t> com a </a:t>
            </a:r>
            <a:r>
              <a:rPr lang="en-US" sz="2200" dirty="0" err="1"/>
              <a:t>distância</a:t>
            </a:r>
            <a:r>
              <a:rPr lang="en-US" sz="2200" dirty="0"/>
              <a:t> </a:t>
            </a:r>
            <a:r>
              <a:rPr lang="en-US" sz="2200" dirty="0" err="1"/>
              <a:t>Euclideana</a:t>
            </a:r>
            <a:endParaRPr lang="en-US" sz="2200" dirty="0"/>
          </a:p>
        </p:txBody>
      </p:sp>
      <p:pic>
        <p:nvPicPr>
          <p:cNvPr id="8" name="Imagem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34" y="2996305"/>
            <a:ext cx="3579717" cy="264727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distância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Distância </a:t>
            </a:r>
            <a:r>
              <a:rPr lang="pt-BR" i="1" dirty="0"/>
              <a:t>D</a:t>
            </a:r>
            <a:r>
              <a:rPr lang="pt-BR" i="1" baseline="-25000" dirty="0"/>
              <a:t>8</a:t>
            </a:r>
            <a:r>
              <a:rPr lang="pt-BR" dirty="0"/>
              <a:t> ou </a:t>
            </a:r>
            <a:r>
              <a:rPr lang="pt-BR" i="1" dirty="0" err="1"/>
              <a:t>Chessboard</a:t>
            </a:r>
            <a:r>
              <a:rPr lang="pt-BR" i="1" dirty="0"/>
              <a:t> </a:t>
            </a:r>
            <a:r>
              <a:rPr lang="pt-BR" i="1" dirty="0" err="1"/>
              <a:t>distance</a:t>
            </a:r>
            <a:r>
              <a:rPr lang="pt-BR" dirty="0"/>
              <a:t> ou </a:t>
            </a:r>
            <a:r>
              <a:rPr lang="pt-BR" i="1" dirty="0"/>
              <a:t>Distância de </a:t>
            </a:r>
            <a:r>
              <a:rPr lang="pt-BR" i="1" dirty="0" err="1"/>
              <a:t>Chebyshev</a:t>
            </a:r>
            <a:endParaRPr lang="pt-BR" i="1" dirty="0"/>
          </a:p>
          <a:p>
            <a:pPr lvl="1"/>
            <a:r>
              <a:rPr lang="pt-BR" i="1" dirty="0"/>
              <a:t>D</a:t>
            </a:r>
            <a:r>
              <a:rPr lang="pt-BR" i="1" baseline="-25000" dirty="0"/>
              <a:t>8</a:t>
            </a:r>
            <a:r>
              <a:rPr lang="pt-BR" i="1" dirty="0"/>
              <a:t>(p,q) = </a:t>
            </a:r>
            <a:r>
              <a:rPr lang="pt-BR" i="1" dirty="0" err="1"/>
              <a:t>max</a:t>
            </a:r>
            <a:r>
              <a:rPr lang="pt-BR" i="1" dirty="0"/>
              <a:t>(|x-s|, |y-t|)</a:t>
            </a:r>
          </a:p>
          <a:p>
            <a:pPr lvl="1"/>
            <a:r>
              <a:rPr lang="en-US" sz="2800" i="1" dirty="0"/>
              <a:t>S = {q | D</a:t>
            </a:r>
            <a:r>
              <a:rPr lang="en-US" sz="2800" i="1" baseline="-25000" dirty="0"/>
              <a:t>8</a:t>
            </a:r>
            <a:r>
              <a:rPr lang="en-US" sz="2800" i="1" dirty="0"/>
              <a:t>(</a:t>
            </a:r>
            <a:r>
              <a:rPr lang="en-US" sz="2800" i="1" dirty="0" err="1"/>
              <a:t>p,q</a:t>
            </a:r>
            <a:r>
              <a:rPr lang="en-US" sz="2800" i="1" dirty="0"/>
              <a:t>) ≤ r}</a:t>
            </a:r>
            <a:r>
              <a:rPr lang="en-US" sz="2800" dirty="0"/>
              <a:t> forma</a:t>
            </a:r>
            <a:r>
              <a:rPr lang="en-US" dirty="0"/>
              <a:t> um </a:t>
            </a:r>
            <a:r>
              <a:rPr lang="en-US" dirty="0" err="1"/>
              <a:t>quadrado</a:t>
            </a:r>
            <a:r>
              <a:rPr lang="en-US" dirty="0"/>
              <a:t> </a:t>
            </a:r>
            <a:r>
              <a:rPr lang="en-US" dirty="0" err="1"/>
              <a:t>centrado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i="1" dirty="0"/>
              <a:t>p</a:t>
            </a:r>
            <a:endParaRPr lang="pt-BR" i="1" dirty="0"/>
          </a:p>
          <a:p>
            <a:endParaRPr lang="pt-BR" dirty="0"/>
          </a:p>
        </p:txBody>
      </p:sp>
      <p:pic>
        <p:nvPicPr>
          <p:cNvPr id="4" name="Imagem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60" y="3929066"/>
            <a:ext cx="3746508" cy="28261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19513" r="14143"/>
          <a:stretch>
            <a:fillRect/>
          </a:stretch>
        </p:blipFill>
        <p:spPr bwMode="auto">
          <a:xfrm>
            <a:off x="6072198" y="2693496"/>
            <a:ext cx="2935328" cy="402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de distância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Distância de </a:t>
            </a:r>
            <a:r>
              <a:rPr lang="pt-BR" dirty="0" err="1"/>
              <a:t>Minkowiski</a:t>
            </a:r>
            <a:r>
              <a:rPr lang="pt-BR" dirty="0"/>
              <a:t>: é uma métrica do espaço </a:t>
            </a:r>
            <a:r>
              <a:rPr lang="pt-BR" dirty="0" err="1"/>
              <a:t>Euclideano</a:t>
            </a:r>
            <a:r>
              <a:rPr lang="pt-BR" dirty="0"/>
              <a:t> e generaliza as outras distâncias</a:t>
            </a:r>
          </a:p>
          <a:p>
            <a:pPr lvl="1"/>
            <a:r>
              <a:rPr lang="pt-BR" i="1" dirty="0"/>
              <a:t>D</a:t>
            </a:r>
            <a:r>
              <a:rPr lang="pt-BR" i="1" baseline="-25000" dirty="0"/>
              <a:t>M</a:t>
            </a:r>
            <a:r>
              <a:rPr lang="pt-BR" i="1" dirty="0"/>
              <a:t>(p,q) = [(x-s)</a:t>
            </a:r>
            <a:r>
              <a:rPr lang="pt-BR" i="1" baseline="30000" dirty="0"/>
              <a:t>p</a:t>
            </a:r>
            <a:r>
              <a:rPr lang="pt-BR" i="1" dirty="0"/>
              <a:t> + ( y-t)</a:t>
            </a:r>
            <a:r>
              <a:rPr lang="pt-BR" i="1" baseline="30000" dirty="0"/>
              <a:t>p</a:t>
            </a:r>
            <a:r>
              <a:rPr lang="pt-BR" i="1" dirty="0"/>
              <a:t>]</a:t>
            </a:r>
            <a:r>
              <a:rPr lang="pt-BR" i="1" baseline="30000" dirty="0"/>
              <a:t>1/p</a:t>
            </a:r>
          </a:p>
          <a:p>
            <a:pPr lvl="1"/>
            <a:endParaRPr lang="pt-BR" i="1" baseline="30000" dirty="0"/>
          </a:p>
          <a:p>
            <a:pPr lvl="1"/>
            <a:r>
              <a:rPr lang="pt-BR" dirty="0"/>
              <a:t>p = 1</a:t>
            </a:r>
            <a:r>
              <a:rPr lang="pt-BR" sz="2800" dirty="0">
                <a:sym typeface="Wingdings" pitchFamily="2" charset="2"/>
              </a:rPr>
              <a:t> </a:t>
            </a:r>
          </a:p>
          <a:p>
            <a:pPr lvl="2"/>
            <a:r>
              <a:rPr lang="pt-BR" dirty="0"/>
              <a:t>distância de Manhattan</a:t>
            </a:r>
          </a:p>
          <a:p>
            <a:pPr lvl="1"/>
            <a:r>
              <a:rPr lang="pt-BR" dirty="0"/>
              <a:t>p = 2</a:t>
            </a:r>
          </a:p>
          <a:p>
            <a:pPr lvl="2"/>
            <a:r>
              <a:rPr lang="pt-BR" dirty="0"/>
              <a:t>distância </a:t>
            </a:r>
            <a:r>
              <a:rPr lang="pt-BR" dirty="0" err="1"/>
              <a:t>Euclideana</a:t>
            </a:r>
            <a:endParaRPr lang="pt-BR" dirty="0"/>
          </a:p>
          <a:p>
            <a:pPr lvl="1"/>
            <a:r>
              <a:rPr lang="pt-BR" dirty="0"/>
              <a:t>p = ∞ </a:t>
            </a:r>
          </a:p>
          <a:p>
            <a:pPr lvl="2"/>
            <a:r>
              <a:rPr lang="pt-BR" dirty="0"/>
              <a:t>distância de </a:t>
            </a:r>
            <a:r>
              <a:rPr lang="pt-BR" dirty="0" err="1"/>
              <a:t>Chebyshev</a:t>
            </a:r>
            <a:endParaRPr lang="pt-B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467544" y="4537546"/>
            <a:ext cx="8229600" cy="142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2276872"/>
            <a:ext cx="73152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5705318" y="2143116"/>
            <a:ext cx="1224136" cy="1477328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aixaDeTexto 6"/>
          <p:cNvSpPr txBox="1"/>
          <p:nvPr/>
        </p:nvSpPr>
        <p:spPr>
          <a:xfrm>
            <a:off x="447646" y="4380564"/>
            <a:ext cx="1224136" cy="1477328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aixaDeTexto 7"/>
          <p:cNvSpPr txBox="1"/>
          <p:nvPr/>
        </p:nvSpPr>
        <p:spPr>
          <a:xfrm>
            <a:off x="7481908" y="4362748"/>
            <a:ext cx="1224136" cy="1477328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Distância de </a:t>
            </a:r>
            <a:r>
              <a:rPr lang="pt-BR" dirty="0" err="1"/>
              <a:t>Minkowski</a:t>
            </a:r>
            <a:r>
              <a:rPr lang="pt-BR" dirty="0"/>
              <a:t> para diferentes valores de 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Aplicações: </a:t>
            </a:r>
            <a:r>
              <a:rPr lang="pt-BR" dirty="0" err="1"/>
              <a:t>shape</a:t>
            </a:r>
            <a:r>
              <a:rPr lang="pt-BR" dirty="0"/>
              <a:t> </a:t>
            </a:r>
            <a:r>
              <a:rPr lang="pt-BR" dirty="0" err="1"/>
              <a:t>matching</a:t>
            </a:r>
            <a:endParaRPr lang="pt-BR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714488"/>
            <a:ext cx="747872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166180"/>
            <a:ext cx="7416824" cy="2481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obter o esqueleto da forma?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Imagine uma região cujo material pega fogo de forma uniforme</a:t>
            </a:r>
          </a:p>
          <a:p>
            <a:r>
              <a:rPr lang="pt-BR" dirty="0"/>
              <a:t>Coloque fogo simultaneamente em cada ponto do contorno e veja o fogo se alastrar para o interior da região;</a:t>
            </a:r>
          </a:p>
          <a:p>
            <a:r>
              <a:rPr lang="pt-BR" dirty="0"/>
              <a:t>Sempre que fogo se encontra vindo de pontos diferentes, ele apaga formando uma linha</a:t>
            </a:r>
          </a:p>
          <a:p>
            <a:r>
              <a:rPr lang="pt-BR" dirty="0"/>
              <a:t>Esta linha é o esqueleto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Esqueletonização</a:t>
            </a:r>
            <a:endParaRPr lang="pt-BR" dirty="0"/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esqueleto pode ser obtido via transformada de distância</a:t>
            </a:r>
          </a:p>
          <a:p>
            <a:r>
              <a:rPr lang="pt-BR" dirty="0"/>
              <a:t>Transformada de distância</a:t>
            </a:r>
          </a:p>
          <a:p>
            <a:pPr lvl="1"/>
            <a:r>
              <a:rPr lang="pt-BR" dirty="0"/>
              <a:t>Calcula um campo escalar (ou vetorial) que representa as distâncias mínimas entre o objeto e os pontos do espaço no qual ele está envolvido</a:t>
            </a:r>
          </a:p>
          <a:p>
            <a:pPr lvl="1"/>
            <a:r>
              <a:rPr lang="pt-BR" dirty="0"/>
              <a:t>A transformada de distância é normalmente utilizada em imagens binárias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distância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resultado da transformação é uma imagem similar à original, exceto que os níveis de cinza dentro da região são alterados para identificar a menor distância de cada ponto ao contorno da forma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66" y="3896174"/>
            <a:ext cx="6093321" cy="2818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7607A-25A4-4647-B894-1EDC9CFE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6F8CB-6685-47CD-9A1F-7D97C672DF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6168D1-5D90-42B6-83D2-F83BBC45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57" y="1916832"/>
            <a:ext cx="8069085" cy="348913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7C82A48-26C5-4B2C-B784-B5135494397F}"/>
              </a:ext>
            </a:extLst>
          </p:cNvPr>
          <p:cNvSpPr txBox="1"/>
          <p:nvPr/>
        </p:nvSpPr>
        <p:spPr>
          <a:xfrm>
            <a:off x="2771800" y="5920307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* Distância Euclidiana</a:t>
            </a:r>
          </a:p>
        </p:txBody>
      </p:sp>
    </p:spTree>
    <p:extLst>
      <p:ext uri="{BB962C8B-B14F-4D97-AF65-F5344CB8AC3E}">
        <p14:creationId xmlns:p14="http://schemas.microsoft.com/office/powerpoint/2010/main" val="2919289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distância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3949" y="2226716"/>
            <a:ext cx="6461323" cy="4345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Esqueletização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esqueleto ocorre nas regiões de singularidade da transformada (cristas e descontinuidade de curvatura)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3187326"/>
            <a:ext cx="7900306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Esqueletização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Outros exemplos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71604" y="2500306"/>
            <a:ext cx="6009863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Esqueletização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uso de diferentes métricas </a:t>
            </a:r>
            <a:r>
              <a:rPr lang="pt-BR" dirty="0">
                <a:sym typeface="Wingdings" pitchFamily="2" charset="2"/>
              </a:rPr>
              <a:t> diferentes esqueletos</a:t>
            </a:r>
          </a:p>
          <a:p>
            <a:r>
              <a:rPr lang="pt-BR" dirty="0">
                <a:sym typeface="Wingdings" pitchFamily="2" charset="2"/>
              </a:rPr>
              <a:t>O esqueleto é útil:</a:t>
            </a:r>
          </a:p>
          <a:p>
            <a:pPr lvl="1"/>
            <a:r>
              <a:rPr lang="pt-BR" dirty="0">
                <a:sym typeface="Wingdings" pitchFamily="2" charset="2"/>
              </a:rPr>
              <a:t>produz uma representação simples e compacta da forma;</a:t>
            </a:r>
          </a:p>
          <a:p>
            <a:pPr lvl="1"/>
            <a:r>
              <a:rPr lang="pt-BR" dirty="0">
                <a:sym typeface="Wingdings" pitchFamily="2" charset="2"/>
              </a:rPr>
              <a:t>preserva características topológicas e de tamanho da forma original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A5E622-3A26-448E-A156-E60CB09409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07FC1D-3304-45BE-BE52-BD6625B37406}"/>
</file>

<file path=customXml/itemProps3.xml><?xml version="1.0" encoding="utf-8"?>
<ds:datastoreItem xmlns:ds="http://schemas.openxmlformats.org/officeDocument/2006/customXml" ds:itemID="{12F99412-7332-4866-B083-5036883925E7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1973</TotalTime>
  <Words>2156</Words>
  <Application>Microsoft Office PowerPoint</Application>
  <PresentationFormat>Apresentação na tela (4:3)</PresentationFormat>
  <Paragraphs>333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Cambria Math</vt:lpstr>
      <vt:lpstr>Tw Cen MT</vt:lpstr>
      <vt:lpstr>Wingdings</vt:lpstr>
      <vt:lpstr>Wingdings 2</vt:lpstr>
      <vt:lpstr>Mediano</vt:lpstr>
      <vt:lpstr>Topologia da imagem digital</vt:lpstr>
      <vt:lpstr>Sumário </vt:lpstr>
      <vt:lpstr>Valor de um pixel</vt:lpstr>
      <vt:lpstr>Vizinhança de um pixel</vt:lpstr>
      <vt:lpstr>Vizinhança de um pixel</vt:lpstr>
      <vt:lpstr>Vizinhança de um pixel</vt:lpstr>
      <vt:lpstr>Adjacência</vt:lpstr>
      <vt:lpstr>Adjacência</vt:lpstr>
      <vt:lpstr>Adjacência</vt:lpstr>
      <vt:lpstr>Adjacência</vt:lpstr>
      <vt:lpstr>Adjacência</vt:lpstr>
      <vt:lpstr>Adjacência</vt:lpstr>
      <vt:lpstr>Relação de Adjacência</vt:lpstr>
      <vt:lpstr>Conectividade</vt:lpstr>
      <vt:lpstr>Conectividade</vt:lpstr>
      <vt:lpstr>Conectividade</vt:lpstr>
      <vt:lpstr>Conectividade</vt:lpstr>
      <vt:lpstr>Conectividade</vt:lpstr>
      <vt:lpstr>Conectividade</vt:lpstr>
      <vt:lpstr>Fronteira ou contorno de uma região</vt:lpstr>
      <vt:lpstr>Rotular Componentes Conectadas</vt:lpstr>
      <vt:lpstr>Algoritmo para Rotular Componentes Conectadas</vt:lpstr>
      <vt:lpstr>Algoritmo para Rotular Componentes Conectadas</vt:lpstr>
      <vt:lpstr>Algoritmo para Rotular Componentes Conectadas</vt:lpstr>
      <vt:lpstr>Demonstração do algoritmo</vt:lpstr>
      <vt:lpstr>Resultado</vt:lpstr>
      <vt:lpstr>Rotular Componentes Conectadas - Exercício</vt:lpstr>
      <vt:lpstr>Medida de distância ou Métrica</vt:lpstr>
      <vt:lpstr>Medida de distância ou Métrica</vt:lpstr>
      <vt:lpstr>Medidas de distância</vt:lpstr>
      <vt:lpstr>Medidas de distância</vt:lpstr>
      <vt:lpstr>Medidas de distância</vt:lpstr>
      <vt:lpstr>Medidas de distância</vt:lpstr>
      <vt:lpstr>Distância de Minkowski para diferentes valores de p</vt:lpstr>
      <vt:lpstr>Aplicações: shape matching</vt:lpstr>
      <vt:lpstr>Como obter o esqueleto da forma?</vt:lpstr>
      <vt:lpstr>Esqueletonização</vt:lpstr>
      <vt:lpstr>Transformada de distância</vt:lpstr>
      <vt:lpstr>Apresentação do PowerPoint</vt:lpstr>
      <vt:lpstr>Transformada de distância</vt:lpstr>
      <vt:lpstr>Esqueletização</vt:lpstr>
      <vt:lpstr>Esqueletização</vt:lpstr>
      <vt:lpstr>Esqueletização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Processamento Digital de Imagens</dc:title>
  <dc:creator>Usuário</dc:creator>
  <cp:lastModifiedBy>Bruno Augusto Nassif Travencolo</cp:lastModifiedBy>
  <cp:revision>135</cp:revision>
  <dcterms:created xsi:type="dcterms:W3CDTF">2011-02-28T19:25:40Z</dcterms:created>
  <dcterms:modified xsi:type="dcterms:W3CDTF">2023-08-30T20:21:35Z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_SourceUrl">
    <vt:lpwstr/>
  </property>
  <property fmtid="{D5CDD505-2E9C-101B-9397-08002B2CF9AE}" pid="11" name="_SharedFileIndex">
    <vt:lpwstr/>
  </property>
</Properties>
</file>