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84" r:id="rId2"/>
  </p:sldMasterIdLst>
  <p:notesMasterIdLst>
    <p:notesMasterId r:id="rId9"/>
  </p:notesMasterIdLst>
  <p:sldIdLst>
    <p:sldId id="256" r:id="rId3"/>
    <p:sldId id="257" r:id="rId4"/>
    <p:sldId id="263" r:id="rId5"/>
    <p:sldId id="264" r:id="rId6"/>
    <p:sldId id="260" r:id="rId7"/>
    <p:sldId id="262" r:id="rId8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18AB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74911" autoAdjust="0"/>
  </p:normalViewPr>
  <p:slideViewPr>
    <p:cSldViewPr snapToGrid="0">
      <p:cViewPr varScale="1">
        <p:scale>
          <a:sx n="66" d="100"/>
          <a:sy n="66" d="100"/>
        </p:scale>
        <p:origin x="58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viewProps" Target="viewProps.xml"/><Relationship Id="rId5" Type="http://schemas.openxmlformats.org/officeDocument/2006/relationships/slide" Target="slides/slide3.xml"/><Relationship Id="rId10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ED03497-8374-466E-85FA-95E1138D8F6E}" type="datetimeFigureOut">
              <a:rPr lang="pt-BR" smtClean="0"/>
              <a:t>05/08/2026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0F36A49-A1DD-40F8-B8AD-E6F5365256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070282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0609656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 fontAlgn="base">
              <a:buFont typeface="Arial" panose="020B0604020202020204" pitchFamily="34" charset="0"/>
              <a:buChar char="•"/>
            </a:pPr>
            <a:r>
              <a:rPr lang="en-US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Obtenção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do </a:t>
            </a:r>
            <a:r>
              <a:rPr lang="en-US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caractere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pelo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getch</a:t>
            </a:r>
            <a:endParaRPr lang="en-US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0;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&lt; 8;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++) {</a:t>
            </a:r>
          </a:p>
          <a:p>
            <a:pPr fontAlgn="base"/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// Get the hidden input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// using </a:t>
            </a:r>
            <a:r>
              <a:rPr lang="en-US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getch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 method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pwd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 =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getch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();</a:t>
            </a:r>
          </a:p>
          <a:p>
            <a:pPr fontAlgn="base"/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</a:t>
            </a:r>
            <a:r>
              <a:rPr lang="pt-BR" dirty="0" err="1"/>
              <a:t>conio.h</a:t>
            </a:r>
            <a:r>
              <a:rPr lang="pt-BR" dirty="0"/>
              <a:t> não é padrão da linguagem, funciona nativamente apenas em sistemas antigos MS-DOS ou Windows, e seu uso não é recomendado em projetos modernos.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402311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6C1DE5-178A-3E57-68D2-D30543490B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BD81CF9E-1346-FA51-5738-9938E853E0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287BFB6A-1332-8328-87A4-E0C5FE461F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3D852B8-57B6-1E8E-4673-A687AD3C6C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729917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122B53-787E-9302-A471-C597B938EE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6B847060-748E-B5B5-B8FF-E52F4365B3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47532CE1-C376-4771-1DF1-5043CA15B5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4379AB0-9E0A-8F42-6734-D1F5AEF2D6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2405995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760ACC-1DA3-8640-3555-396FE64DD2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445D55C7-719B-2F38-C974-3AE5AA3A4E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13882270-8552-29F7-4922-673C219A97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A478B46-6D8B-B89A-C518-EE1275DDD1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8826717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167C8E-04E0-3D97-2244-E307A94EEB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08B2CFF-39C0-1E08-726F-21B950BD47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B17BE71-732E-F29A-CB13-3459C39F50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359A918-B025-E0FC-E726-789C099B61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083198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F19B856-A0BC-D210-1737-D966320C0D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A33AAC6-2469-CA4A-EC71-9377AF26B7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4A0F87A-0C4B-6CED-A923-692979682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05/08/2026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FA1D701-1F2B-F9DB-3467-1E702506B6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2D3A131-BC6D-009A-1316-11C0D511C7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224424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D43BFD2-F256-47DF-B808-ACC0E3CF5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6B715E3-1B62-B718-0545-18D1860ED1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B0F8541-A06F-A96B-9C7B-7B6775D69F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05/08/2026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29E2F6F-2F51-FB58-B282-FF65529154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84CA48A-0835-7D5D-0C5C-4C7E737E17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8301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57B632-00A4-041E-134C-3945EC5FF7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9E8B5D6A-FCFF-76AF-3B41-CBCC1C30CE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FA63B6D-65C2-A8BA-7A75-E7BFF8AEE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05/08/2026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B2149EC-9298-99F7-4DF2-9F89752611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9D0D51F-3496-83FE-F993-6F3C5B119C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654939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9630C98-DF9F-EDDF-13FE-19484E4CE2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7DBEED7-86EF-7D00-9D5B-35BED814DF9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8C4CFBCA-7118-0084-2BFD-AB37CB71E8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6D1CCABC-FE63-8FD2-5554-56984A3CC5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05/08/2026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D78125A-07B7-CBA7-1A67-B800BA64CE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6673A3AF-1DE0-4AD3-272B-485CC6D87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433296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79E8815-ABA0-CB0F-583F-E97EB7B594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6E8AD69-3F40-C1E3-9580-6371DC13C5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A5D54DCD-A467-392C-7882-9A1F2699C5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91F29C69-1D15-E7B8-95EE-E358ABDD23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DDD9B3A3-CEB4-374A-3FA1-C3BD23A5E0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B9B6B5B5-5DE0-2665-4666-5A565F02F5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05/08/2026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7272278B-CB99-E2F9-7531-401CE1BF31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D50092DA-D538-B982-0833-39924176B4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511932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764F77-C07B-657B-DE18-927ED3DD6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B1F6EABF-1DF7-2F1B-A964-4AFF92830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05/08/2026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E9E70771-5A68-7380-1FAC-A7D89E013B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2358ABD1-E925-1590-6C8E-DFC75A7BF5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21185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4C0372F4-7179-777F-1E51-88AB1A64E5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05/08/2026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F77D26EF-C956-F4CD-8145-1C415DFC6D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53EA769-C25E-4FD8-7E9E-E604C8529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73358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2FA3AA1-798F-3AA2-B6BB-62D9B38249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E8C13AA-9014-6117-7A37-A036F09F89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184FAC68-54B7-EFCE-9620-BC6F674196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1F950BCB-3838-1B1C-112C-A644060F9E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05/08/2026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C8779FA-261C-A76B-DBC7-DB58B8C117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22B5AFCC-7631-7153-2CC4-B4689FB8C4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418124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DCE3E92-DCFD-D54F-EB9D-EF97B89816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DCA9DF57-38D6-FEBE-B65C-3AF4E429E9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117E586-D1EC-101C-F876-DEE5A2C81E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74655D0E-B1E7-844D-7A98-DA49B4EC7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05/08/2026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DB538A87-1978-7251-4706-04805D27D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B8910AE-1487-27DE-EE72-B1B0DB5394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23384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C4BC46-0BF2-E806-F16A-DB5D201D6D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69D14E5E-509B-F711-3B25-614C8C3BCE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281C6A8-9DA7-0C1F-372D-B2C9FD24F1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05/08/2026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AFE38E9-C9A5-2C3E-744D-E323F97B1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FD1C984-499C-C6BA-9715-0B7BEAC9BD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02431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CF40F235-1569-6ED0-A5F0-7DA4324528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F3DB6C81-CE19-AE0C-8D05-2FBC656790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AD43C4D-693E-5D37-DE0F-919B77DEF7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05/08/2026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1D2A9D6-4B21-E9D7-968B-F18C64697E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4010A06-B61B-8C4F-3894-CA75C019D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8048666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05/08/2026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9325751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05/08/2026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7835867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05/08/2026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3557266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05/08/2026</a:t>
            </a:fld>
            <a:endParaRPr lang="pt-BR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33681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05/08/2026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174895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05/08/2026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9932880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05/08/2026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799824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05/08/2026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67503" cy="320040"/>
          </a:xfrm>
        </p:spPr>
        <p:txBody>
          <a:bodyPr/>
          <a:lstStyle>
            <a:lvl1pPr>
              <a:defRPr>
                <a:solidFill>
                  <a:srgbClr val="FFFFFF">
                    <a:alpha val="69804"/>
                  </a:srgbClr>
                </a:solidFill>
              </a:defRPr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0805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tx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90000"/>
                  </a:srgbClr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A87E3B6E-8316-4A1C-BADA-DB7F3456EEF1}" type="datetimeFigureOut">
              <a:rPr lang="pt-BR" smtClean="0"/>
              <a:t>05/08/2026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8523" y="6236208"/>
            <a:ext cx="5103729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254498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05/08/2026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9499872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05/08/2026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399451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229C4ED7-C003-33C2-9CEB-2E97503196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730AEA1-DE82-52D0-65A9-766B9E2D2F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12E4FEE-859A-D6B3-CF41-EDFF0B1CDE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7E3B6E-8316-4A1C-BADA-DB7F3456EEF1}" type="datetimeFigureOut">
              <a:rPr lang="pt-BR" smtClean="0"/>
              <a:t>05/08/2026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519F3FAC-49A4-4E94-C84A-41786DC2CE9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5435549-C584-1997-7B0B-6DC079118A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669499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chemeClr val="bg1"/>
          </a:solidFill>
          <a:ln w="317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A87E3B6E-8316-4A1C-BADA-DB7F3456EEF1}" type="datetimeFigureOut">
              <a:rPr lang="pt-BR" smtClean="0"/>
              <a:t>05/08/2026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389191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2E9326E-3499-D287-DA5A-8AED2AD3A4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524919"/>
            <a:ext cx="12192000" cy="1808162"/>
          </a:xfrm>
          <a:ln>
            <a:noFill/>
          </a:ln>
        </p:spPr>
        <p:txBody>
          <a:bodyPr/>
          <a:lstStyle/>
          <a:p>
            <a:r>
              <a:rPr lang="pt-BR" dirty="0"/>
              <a:t>Atividades Práticas em c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F2C7C20-5716-4992-8451-F28A3F0EB9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5192" y="5207000"/>
            <a:ext cx="6801612" cy="1651000"/>
          </a:xfrm>
        </p:spPr>
        <p:txBody>
          <a:bodyPr/>
          <a:lstStyle/>
          <a:p>
            <a:r>
              <a:rPr lang="pt-BR" dirty="0"/>
              <a:t>Universidade de Uberaba</a:t>
            </a:r>
          </a:p>
          <a:p>
            <a:r>
              <a:rPr lang="pt-BR" dirty="0"/>
              <a:t>Marcio Salmazo Ramos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739C2285-BBDC-FB8D-BB73-A95AC19BC9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7048" y="447153"/>
            <a:ext cx="3517900" cy="972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214624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10CD15DF-178C-8225-DC27-A997E1995551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0CFDDE8-0849-DCD6-CFFE-909EF7246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Prática 1 - Notas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A38EF95E-E786-0234-E618-70938A65AA1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82D0CA3A-F61C-8D03-F516-3E04565AE7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9967"/>
            <a:ext cx="10149114" cy="5289176"/>
          </a:xfrm>
        </p:spPr>
        <p:txBody>
          <a:bodyPr/>
          <a:lstStyle/>
          <a:p>
            <a:r>
              <a:rPr lang="pt-BR" sz="2400" b="1" dirty="0"/>
              <a:t>Programa: </a:t>
            </a:r>
            <a:r>
              <a:rPr lang="pt-BR" sz="2400" b="1" dirty="0" err="1"/>
              <a:t>Hello</a:t>
            </a:r>
            <a:r>
              <a:rPr lang="pt-BR" sz="2400" b="1" dirty="0"/>
              <a:t> World</a:t>
            </a:r>
          </a:p>
          <a:p>
            <a:endParaRPr lang="pt-BR" sz="2400" dirty="0"/>
          </a:p>
          <a:p>
            <a:r>
              <a:rPr lang="pt-BR" sz="2400" dirty="0"/>
              <a:t>Função </a:t>
            </a:r>
            <a:r>
              <a:rPr lang="pt-BR" sz="2400" dirty="0" err="1"/>
              <a:t>getch</a:t>
            </a:r>
            <a:r>
              <a:rPr lang="pt-BR" sz="2400" dirty="0"/>
              <a:t>(): A princípio, esta função captura um caractere da entrada e retorna de modo oculto (Pode ser usada para a inserção de senhas). Contudo, é comumente usada para pausar o terminal</a:t>
            </a:r>
          </a:p>
          <a:p>
            <a:endParaRPr lang="pt-BR" sz="2400" dirty="0"/>
          </a:p>
          <a:p>
            <a:r>
              <a:rPr lang="pt-BR" sz="2400" dirty="0"/>
              <a:t>Normalmente, quando se faz um programa que só imprime algo no terminal, o Windows abre uma janela do cmd.exe, executa o programa e logo em seguida fecha a janela.</a:t>
            </a:r>
          </a:p>
          <a:p>
            <a:endParaRPr lang="pt-BR" sz="2400" dirty="0"/>
          </a:p>
          <a:p>
            <a:r>
              <a:rPr lang="pt-BR" sz="2400" dirty="0"/>
              <a:t>O </a:t>
            </a:r>
            <a:r>
              <a:rPr lang="pt-BR" sz="2400" i="1" dirty="0" err="1"/>
              <a:t>conio.h</a:t>
            </a:r>
            <a:r>
              <a:rPr lang="pt-BR" sz="2400" dirty="0"/>
              <a:t> é um arquivo de cabeçalho usado para controle de entrada e saída no console (funcional apenas no Windows e MS-DOS)</a:t>
            </a:r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99775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593742-E9D6-2509-AB5A-0253CF1923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77DA3C8A-A088-1554-29EF-51BCDBBF1A67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2AF1174-76FB-C1EF-061C-765DB6774B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Prática 2 - Notas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F87DD3E7-4408-7230-061F-0739D164DA2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78CE2E25-18C9-658F-01F2-FD746C1C09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22424"/>
            <a:ext cx="10515600" cy="5032375"/>
          </a:xfrm>
        </p:spPr>
        <p:txBody>
          <a:bodyPr/>
          <a:lstStyle/>
          <a:p>
            <a:r>
              <a:rPr lang="pt-BR" sz="2400" b="1" dirty="0"/>
              <a:t>Programa: Variáveis e constantes</a:t>
            </a:r>
          </a:p>
          <a:p>
            <a:endParaRPr lang="pt-BR" sz="2400" b="1" dirty="0"/>
          </a:p>
          <a:p>
            <a:r>
              <a:rPr lang="pt-BR" sz="2200" b="1" dirty="0" err="1"/>
              <a:t>signed</a:t>
            </a:r>
            <a:r>
              <a:rPr lang="pt-BR" sz="2200" b="1" dirty="0"/>
              <a:t> e </a:t>
            </a:r>
            <a:r>
              <a:rPr lang="pt-BR" sz="2200" b="1" dirty="0" err="1"/>
              <a:t>unsigned</a:t>
            </a:r>
            <a:r>
              <a:rPr lang="pt-BR" sz="2200" b="1" dirty="0"/>
              <a:t>: </a:t>
            </a:r>
            <a:r>
              <a:rPr lang="pt-BR" sz="2200" dirty="0"/>
              <a:t>Não funcionam com </a:t>
            </a:r>
            <a:r>
              <a:rPr lang="pt-BR" sz="2200" dirty="0" err="1"/>
              <a:t>float</a:t>
            </a:r>
            <a:r>
              <a:rPr lang="pt-BR" sz="2200" dirty="0"/>
              <a:t>. Esses modificadores servem apenas para tipos inteiros (</a:t>
            </a:r>
            <a:r>
              <a:rPr lang="pt-BR" sz="2200" dirty="0" err="1"/>
              <a:t>int</a:t>
            </a:r>
            <a:r>
              <a:rPr lang="pt-BR" sz="2200" dirty="0"/>
              <a:t>) e caracteres (char), pois definem a presença ou ausência de sinal matemático no armazenamento binário dos bits.</a:t>
            </a:r>
          </a:p>
          <a:p>
            <a:endParaRPr lang="pt-BR" sz="2200" dirty="0"/>
          </a:p>
          <a:p>
            <a:r>
              <a:rPr lang="pt-BR" sz="2200" dirty="0"/>
              <a:t>Os números </a:t>
            </a:r>
            <a:r>
              <a:rPr lang="pt-BR" sz="2200" dirty="0" err="1"/>
              <a:t>float</a:t>
            </a:r>
            <a:r>
              <a:rPr lang="pt-BR" sz="2200" dirty="0"/>
              <a:t> já possuem nativamente um bit dedicado ao sinal.</a:t>
            </a:r>
          </a:p>
          <a:p>
            <a:endParaRPr lang="pt-BR" sz="2200" dirty="0"/>
          </a:p>
          <a:p>
            <a:r>
              <a:rPr lang="pt-BR" sz="2200" dirty="0"/>
              <a:t> Não existe “</a:t>
            </a:r>
            <a:r>
              <a:rPr lang="pt-BR" sz="2200" i="1" dirty="0"/>
              <a:t>short </a:t>
            </a:r>
            <a:r>
              <a:rPr lang="pt-BR" sz="2200" i="1" dirty="0" err="1"/>
              <a:t>float</a:t>
            </a:r>
            <a:r>
              <a:rPr lang="pt-BR" sz="2200" i="1" dirty="0"/>
              <a:t>” </a:t>
            </a:r>
            <a:r>
              <a:rPr lang="pt-BR" sz="2200" dirty="0"/>
              <a:t>em C, mas a linguagem permite o uso de “</a:t>
            </a:r>
            <a:r>
              <a:rPr lang="pt-BR" sz="2200" i="1" dirty="0" err="1"/>
              <a:t>long</a:t>
            </a:r>
            <a:r>
              <a:rPr lang="pt-BR" sz="2200" i="1" dirty="0"/>
              <a:t> </a:t>
            </a:r>
            <a:r>
              <a:rPr lang="pt-BR" sz="2200" i="1" dirty="0" err="1"/>
              <a:t>double</a:t>
            </a:r>
            <a:r>
              <a:rPr lang="pt-BR" sz="2200" i="1" dirty="0"/>
              <a:t>” </a:t>
            </a:r>
            <a:r>
              <a:rPr lang="pt-BR" sz="2200" dirty="0"/>
              <a:t>para criar um tipo de ponto flutuante com precisão ainda maior que o “</a:t>
            </a:r>
            <a:r>
              <a:rPr lang="pt-BR" sz="2200" i="1" dirty="0" err="1"/>
              <a:t>double</a:t>
            </a:r>
            <a:r>
              <a:rPr lang="pt-BR" sz="2200" i="1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7013701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0D460E-AC35-2E6E-197D-4DAE6A7AF0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F1237934-8420-F3C3-00B3-B64B09245560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050FB70-0CDA-5D99-C426-33B4F3E40A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Prática 2 - Notas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3E632FAF-182B-4729-DEEE-0921A198414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6D514F02-E7EE-EEBD-406C-BEE1FC10FC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22424"/>
            <a:ext cx="10515600" cy="5032375"/>
          </a:xfrm>
        </p:spPr>
        <p:txBody>
          <a:bodyPr/>
          <a:lstStyle/>
          <a:p>
            <a:r>
              <a:rPr lang="pt-BR" sz="2400" b="1" dirty="0"/>
              <a:t>Programa: Variáveis e constantes</a:t>
            </a:r>
          </a:p>
          <a:p>
            <a:endParaRPr lang="pt-BR" sz="2400" b="1" dirty="0"/>
          </a:p>
          <a:p>
            <a:r>
              <a:rPr lang="pt-BR" sz="2200" dirty="0"/>
              <a:t>Especificadores de formato são códigos iniciados por % usados para indicar o tipo de dado que o programa vai ler ou mostrar na tela. São eles:</a:t>
            </a:r>
          </a:p>
          <a:p>
            <a:pPr lvl="1"/>
            <a:endParaRPr lang="pt-BR" sz="1800" dirty="0"/>
          </a:p>
          <a:p>
            <a:pPr lvl="1"/>
            <a:r>
              <a:rPr lang="pt-BR" sz="1800" b="1" dirty="0"/>
              <a:t>%d (ou %i) </a:t>
            </a:r>
            <a:r>
              <a:rPr lang="pt-BR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pt-BR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pt-BR" sz="1800" dirty="0"/>
              <a:t>Número inteiro decimal</a:t>
            </a:r>
            <a:endParaRPr lang="pt-BR" sz="1800" b="1" dirty="0"/>
          </a:p>
          <a:p>
            <a:pPr lvl="1"/>
            <a:r>
              <a:rPr lang="pt-BR" sz="1800" b="1" dirty="0"/>
              <a:t>%f </a:t>
            </a:r>
            <a:r>
              <a:rPr lang="pt-BR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pt-BR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pt-BR" sz="1800" dirty="0"/>
              <a:t>Número real de ponto flutuante</a:t>
            </a:r>
            <a:endParaRPr lang="pt-BR" sz="1800" b="1" dirty="0"/>
          </a:p>
          <a:p>
            <a:pPr lvl="1"/>
            <a:r>
              <a:rPr lang="pt-BR" sz="1800" b="1" dirty="0"/>
              <a:t>%</a:t>
            </a:r>
            <a:r>
              <a:rPr lang="pt-BR" sz="1800" b="1" dirty="0" err="1"/>
              <a:t>lf</a:t>
            </a:r>
            <a:r>
              <a:rPr lang="pt-BR" sz="1800" b="1" dirty="0"/>
              <a:t> </a:t>
            </a:r>
            <a:r>
              <a:rPr lang="pt-BR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pt-BR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pt-BR" sz="1800" dirty="0"/>
              <a:t>Número real de dupla precisão (</a:t>
            </a:r>
            <a:r>
              <a:rPr lang="pt-BR" sz="1800" dirty="0" err="1"/>
              <a:t>double</a:t>
            </a:r>
            <a:r>
              <a:rPr lang="pt-BR" sz="1800" dirty="0"/>
              <a:t>)</a:t>
            </a:r>
            <a:endParaRPr lang="pt-BR" sz="1800" b="1" dirty="0"/>
          </a:p>
          <a:p>
            <a:pPr lvl="1"/>
            <a:r>
              <a:rPr lang="pt-BR" sz="1800" b="1" dirty="0"/>
              <a:t>%c </a:t>
            </a:r>
            <a:r>
              <a:rPr lang="pt-BR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pt-BR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pt-BR" sz="1800" dirty="0"/>
              <a:t>Um único caractere</a:t>
            </a:r>
            <a:endParaRPr lang="pt-BR" sz="1800" b="1" dirty="0"/>
          </a:p>
          <a:p>
            <a:pPr lvl="1"/>
            <a:r>
              <a:rPr lang="pt-BR" sz="1800" b="1" dirty="0"/>
              <a:t>%s </a:t>
            </a:r>
            <a:r>
              <a:rPr lang="pt-BR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pt-BR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pt-BR" sz="1800" dirty="0"/>
              <a:t>Cadeia de caracteres</a:t>
            </a:r>
            <a:endParaRPr lang="pt-BR" sz="1800" b="1" dirty="0"/>
          </a:p>
          <a:p>
            <a:pPr lvl="1"/>
            <a:r>
              <a:rPr lang="pt-BR" sz="1800" b="1" dirty="0"/>
              <a:t>%u </a:t>
            </a:r>
            <a:r>
              <a:rPr lang="pt-BR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pt-BR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pt-BR" sz="1800" dirty="0"/>
              <a:t>Número decimal sem sinal</a:t>
            </a:r>
            <a:endParaRPr lang="pt-BR" sz="1800" b="1" dirty="0"/>
          </a:p>
          <a:p>
            <a:pPr lvl="1"/>
            <a:r>
              <a:rPr lang="pt-BR" sz="1800" b="1" dirty="0"/>
              <a:t>%o </a:t>
            </a:r>
            <a:r>
              <a:rPr lang="pt-BR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pt-BR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pt-BR" sz="1800" dirty="0"/>
              <a:t>Número em formato octal</a:t>
            </a:r>
            <a:endParaRPr lang="pt-BR" sz="1800" b="1" dirty="0"/>
          </a:p>
          <a:p>
            <a:pPr lvl="1"/>
            <a:r>
              <a:rPr lang="pt-BR" sz="1800" b="1" dirty="0"/>
              <a:t>%x </a:t>
            </a:r>
            <a:r>
              <a:rPr lang="pt-BR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pt-BR" sz="1800" dirty="0"/>
              <a:t>Número em formato hexadecimal</a:t>
            </a:r>
          </a:p>
          <a:p>
            <a:pPr lvl="1"/>
            <a:r>
              <a:rPr lang="pt-BR" sz="1800" b="1" dirty="0"/>
              <a:t>%p </a:t>
            </a:r>
            <a:r>
              <a:rPr lang="pt-BR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pt-BR" sz="1800" dirty="0"/>
              <a:t>Endereço de memória de um ponteiro</a:t>
            </a:r>
          </a:p>
          <a:p>
            <a:endParaRPr lang="pt-BR" sz="2200" dirty="0"/>
          </a:p>
        </p:txBody>
      </p:sp>
    </p:spTree>
    <p:extLst>
      <p:ext uri="{BB962C8B-B14F-4D97-AF65-F5344CB8AC3E}">
        <p14:creationId xmlns:p14="http://schemas.microsoft.com/office/powerpoint/2010/main" val="26021796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702B85-CCB7-83DB-847E-8BE4E87BC5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B5A63D23-1400-9E10-73BA-4C4AA5685A70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D2D5E03-AFF2-0395-533D-4135C0943F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Prática 3 - Notas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DF9988B0-40E1-F865-96F2-D35B3B0AE75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64A43058-3ABB-B629-21F7-D154C2DFB2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22424"/>
            <a:ext cx="10515600" cy="5032375"/>
          </a:xfrm>
        </p:spPr>
        <p:txBody>
          <a:bodyPr/>
          <a:lstStyle/>
          <a:p>
            <a:r>
              <a:rPr lang="pt-BR" sz="2400" b="1" dirty="0"/>
              <a:t>Programa: Operadores aritméticos </a:t>
            </a:r>
          </a:p>
          <a:p>
            <a:endParaRPr lang="pt-BR" sz="2400" dirty="0"/>
          </a:p>
          <a:p>
            <a:r>
              <a:rPr lang="pt-BR" sz="2400" dirty="0"/>
              <a:t>#include &lt;</a:t>
            </a:r>
            <a:r>
              <a:rPr lang="pt-BR" sz="2400" dirty="0" err="1"/>
              <a:t>locale.h</a:t>
            </a:r>
            <a:r>
              <a:rPr lang="pt-BR" sz="2400" dirty="0"/>
              <a:t>&gt;: serve para configurar a localização e o idioma de um programa.</a:t>
            </a:r>
          </a:p>
          <a:p>
            <a:endParaRPr lang="pt-BR" sz="2400" dirty="0"/>
          </a:p>
          <a:p>
            <a:pPr lvl="1"/>
            <a:r>
              <a:rPr lang="pt-BR" sz="2200" b="1" dirty="0" err="1"/>
              <a:t>setlocale</a:t>
            </a:r>
            <a:r>
              <a:rPr lang="pt-BR" sz="2200" b="1" dirty="0"/>
              <a:t>(): </a:t>
            </a:r>
            <a:r>
              <a:rPr lang="pt-BR" sz="2200" dirty="0"/>
              <a:t>Altera ou consulta a categoria de idioma do programa. O uso mais comum para o português é </a:t>
            </a:r>
            <a:r>
              <a:rPr lang="pt-BR" sz="2200" i="1" dirty="0" err="1"/>
              <a:t>setlocale</a:t>
            </a:r>
            <a:r>
              <a:rPr lang="pt-BR" sz="2200" i="1" dirty="0"/>
              <a:t>(LC_ALL, "</a:t>
            </a:r>
            <a:r>
              <a:rPr lang="pt-BR" sz="2200" i="1" dirty="0" err="1"/>
              <a:t>Portuguese</a:t>
            </a:r>
            <a:r>
              <a:rPr lang="pt-BR" sz="2200" i="1" dirty="0"/>
              <a:t>")</a:t>
            </a:r>
            <a:r>
              <a:rPr lang="pt-BR" sz="2200" dirty="0"/>
              <a:t>; ou </a:t>
            </a:r>
            <a:r>
              <a:rPr lang="pt-BR" sz="2200" i="1" dirty="0" err="1"/>
              <a:t>setlocale</a:t>
            </a:r>
            <a:r>
              <a:rPr lang="pt-BR" sz="2200" i="1" dirty="0"/>
              <a:t>(LC_ALL, "")</a:t>
            </a:r>
            <a:r>
              <a:rPr lang="pt-BR" sz="2200" dirty="0"/>
              <a:t>; para adotar o padrão do sistema operacional.</a:t>
            </a:r>
          </a:p>
          <a:p>
            <a:pPr marL="457200" lvl="1" indent="0">
              <a:buNone/>
            </a:pPr>
            <a:endParaRPr lang="pt-BR" sz="2200" dirty="0"/>
          </a:p>
          <a:p>
            <a:pPr lvl="1"/>
            <a:r>
              <a:rPr lang="pt-BR" sz="2200" b="1" dirty="0"/>
              <a:t>LC_ALL: </a:t>
            </a:r>
            <a:r>
              <a:rPr lang="pt-BR" sz="2200" dirty="0"/>
              <a:t>Macro usada na </a:t>
            </a:r>
            <a:r>
              <a:rPr lang="pt-BR" sz="2200" i="1" dirty="0"/>
              <a:t>função </a:t>
            </a:r>
            <a:r>
              <a:rPr lang="pt-BR" sz="2200" i="1" dirty="0" err="1"/>
              <a:t>setlocale</a:t>
            </a:r>
            <a:r>
              <a:rPr lang="pt-BR" sz="2200" i="1" dirty="0"/>
              <a:t>(...)</a:t>
            </a:r>
            <a:r>
              <a:rPr lang="pt-BR" sz="2200" dirty="0"/>
              <a:t> para aplicar a configuração a todas as categorias de localização do programa.</a:t>
            </a:r>
          </a:p>
        </p:txBody>
      </p:sp>
    </p:spTree>
    <p:extLst>
      <p:ext uri="{BB962C8B-B14F-4D97-AF65-F5344CB8AC3E}">
        <p14:creationId xmlns:p14="http://schemas.microsoft.com/office/powerpoint/2010/main" val="25653143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B963D6-70D2-9744-780F-7606DE0D8F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C5A4CE7-9D79-FEF1-546C-F17EAAA6A8D0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992D316-2E91-7425-A8D7-CDAB660482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Prática 3 - Notas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E3D79C31-312B-FB6A-7E5F-3D27CC04AC0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72B664D9-A6DA-E78E-D112-1837198B28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22424"/>
            <a:ext cx="10515600" cy="5032375"/>
          </a:xfrm>
        </p:spPr>
        <p:txBody>
          <a:bodyPr/>
          <a:lstStyle/>
          <a:p>
            <a:r>
              <a:rPr lang="pt-BR" sz="2400" b="1" dirty="0"/>
              <a:t>Programa: Operadores aritméticos </a:t>
            </a:r>
          </a:p>
          <a:p>
            <a:endParaRPr lang="pt-BR" sz="2400" dirty="0"/>
          </a:p>
          <a:p>
            <a:r>
              <a:rPr lang="pt-BR" sz="2200" dirty="0"/>
              <a:t>\n: serve para fazer uma quebra de linha (ou nova linha). Trata-se de uma sequência de escape usada dentro de textos para mandar o cursor ir para o início da linha de baixo.</a:t>
            </a:r>
          </a:p>
          <a:p>
            <a:endParaRPr lang="pt-BR" sz="2400" dirty="0"/>
          </a:p>
          <a:p>
            <a:r>
              <a:rPr lang="pt-BR" sz="2200" dirty="0"/>
              <a:t>Sequência de escape: Começa com uma barra invertida (\) para indicar um comando especial que não pode ser escrito de modo normal no teclado.</a:t>
            </a:r>
          </a:p>
        </p:txBody>
      </p:sp>
    </p:spTree>
    <p:extLst>
      <p:ext uri="{BB962C8B-B14F-4D97-AF65-F5344CB8AC3E}">
        <p14:creationId xmlns:p14="http://schemas.microsoft.com/office/powerpoint/2010/main" val="351358604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Pacote">
  <a:themeElements>
    <a:clrScheme name="Pacote">
      <a:dk1>
        <a:srgbClr val="000000"/>
      </a:dk1>
      <a:lt1>
        <a:sysClr val="window" lastClr="FFFFFF"/>
      </a:lt1>
      <a:dk2>
        <a:srgbClr val="5E5E5E"/>
      </a:dk2>
      <a:lt2>
        <a:srgbClr val="DDDDDD"/>
      </a:lt2>
      <a:accent1>
        <a:srgbClr val="A6B727"/>
      </a:accent1>
      <a:accent2>
        <a:srgbClr val="418AB3"/>
      </a:accent2>
      <a:accent3>
        <a:srgbClr val="F69200"/>
      </a:accent3>
      <a:accent4>
        <a:srgbClr val="838383"/>
      </a:accent4>
      <a:accent5>
        <a:srgbClr val="FEC306"/>
      </a:accent5>
      <a:accent6>
        <a:srgbClr val="DF5327"/>
      </a:accent6>
      <a:hlink>
        <a:srgbClr val="F59E00"/>
      </a:hlink>
      <a:folHlink>
        <a:srgbClr val="B2B2B2"/>
      </a:folHlink>
    </a:clrScheme>
    <a:fontScheme name="Pacote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cote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A425FB89-E954-4A2A-81DC-D90804A94DB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965</TotalTime>
  <Words>563</Words>
  <Application>Microsoft Office PowerPoint</Application>
  <PresentationFormat>Widescreen</PresentationFormat>
  <Paragraphs>61</Paragraphs>
  <Slides>6</Slides>
  <Notes>6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6</vt:i4>
      </vt:variant>
    </vt:vector>
  </HeadingPairs>
  <TitlesOfParts>
    <vt:vector size="12" baseType="lpstr">
      <vt:lpstr>Arial</vt:lpstr>
      <vt:lpstr>Calibri</vt:lpstr>
      <vt:lpstr>Calibri Light</vt:lpstr>
      <vt:lpstr>Gill Sans MT</vt:lpstr>
      <vt:lpstr>Tema do Office</vt:lpstr>
      <vt:lpstr>Pacote</vt:lpstr>
      <vt:lpstr>Atividades Práticas em c</vt:lpstr>
      <vt:lpstr>Prática 1 - Notas</vt:lpstr>
      <vt:lpstr>Prática 2 - Notas</vt:lpstr>
      <vt:lpstr>Prática 2 - Notas</vt:lpstr>
      <vt:lpstr>Prática 3 - Notas</vt:lpstr>
      <vt:lpstr>Prática 3 - Notas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Marcio Salmazo Ramos</dc:creator>
  <cp:lastModifiedBy>Marcio Salmazo Ramos</cp:lastModifiedBy>
  <cp:revision>70</cp:revision>
  <dcterms:created xsi:type="dcterms:W3CDTF">2026-07-26T12:48:37Z</dcterms:created>
  <dcterms:modified xsi:type="dcterms:W3CDTF">2026-08-05T20:28:42Z</dcterms:modified>
</cp:coreProperties>
</file>