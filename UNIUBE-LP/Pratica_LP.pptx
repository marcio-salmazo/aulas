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0"/>
  </p:notesMasterIdLst>
  <p:sldIdLst>
    <p:sldId id="256" r:id="rId3"/>
    <p:sldId id="257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911" autoAdjust="0"/>
  </p:normalViewPr>
  <p:slideViewPr>
    <p:cSldViewPr snapToGrid="0">
      <p:cViewPr varScale="1">
        <p:scale>
          <a:sx n="66" d="100"/>
          <a:sy n="66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Obtenção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caractere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pelo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getch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8;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Get the hidden input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using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getch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method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dirty="0" err="1"/>
              <a:t>conio.h</a:t>
            </a:r>
            <a:r>
              <a:rPr lang="pt-BR" dirty="0"/>
              <a:t> não é padrão da linguagem, funciona nativamente apenas em sistemas antigos MS-DOS ou Windows, e seu uso não é recomendado em projetos modernos.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23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5A15-C07B-24C5-3F27-D602623D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178E37-7E79-EE05-5571-FEC5BBECF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F16E796-A975-3669-4AAD-F48448C51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242019-2F01-2BC8-1022-688E0CC0E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3127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1DE5-178A-3E57-68D2-D30543490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D81CF9E-1346-FA51-5738-9938E853E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87BFB6A-1332-8328-87A4-E0C5FE461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D852B8-57B6-1E8E-4673-A687AD3C6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2991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60ACC-1DA3-8640-3555-396FE64D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5D55C7-719B-2F38-C974-3AE5AA3A4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3882270-8552-29F7-4922-673C219A9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478B46-6D8B-B89A-C518-EE1275DDD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267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56C6-DA53-1CCD-EE3C-2DA465BEA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E90D32-32BC-7128-3AC8-1DE94C189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0370FF-605D-DAD8-090F-C33ECB39D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A5E8FF-8FDE-9763-9DD0-2CFEC62B4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943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67C8E-04E0-3D97-2244-E307A94EE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8B2CFF-39C0-1E08-726F-21B950BD4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17BE71-732E-F29A-CB13-3459C39F5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59A918-B025-E0FC-E726-789C099B6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31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Atividades Práticas em 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0CD15DF-178C-8225-DC27-A997E19955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CFDDE8-0849-DCD6-CFFE-909EF724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Prática 1 - Notas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38EF95E-E786-0234-E618-70938A65AA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D0CA3A-F61C-8D03-F516-3E04565AE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967"/>
            <a:ext cx="10149114" cy="5289176"/>
          </a:xfrm>
        </p:spPr>
        <p:txBody>
          <a:bodyPr/>
          <a:lstStyle/>
          <a:p>
            <a:r>
              <a:rPr lang="pt-BR" sz="2400" b="1" dirty="0"/>
              <a:t>Programa: </a:t>
            </a:r>
            <a:r>
              <a:rPr lang="pt-BR" sz="2400" b="1" dirty="0" err="1"/>
              <a:t>Hello</a:t>
            </a:r>
            <a:r>
              <a:rPr lang="pt-BR" sz="2400" b="1" dirty="0"/>
              <a:t> World</a:t>
            </a:r>
          </a:p>
          <a:p>
            <a:endParaRPr lang="pt-BR" sz="2400" dirty="0"/>
          </a:p>
          <a:p>
            <a:r>
              <a:rPr lang="pt-BR" sz="2400" dirty="0"/>
              <a:t>Função </a:t>
            </a:r>
            <a:r>
              <a:rPr lang="pt-BR" sz="2400" dirty="0" err="1"/>
              <a:t>getch</a:t>
            </a:r>
            <a:r>
              <a:rPr lang="pt-BR" sz="2400" dirty="0"/>
              <a:t>(): A princípio, esta função captura um caractere da entrada e retorna de modo oculto (Pode ser usada para a inserção de senhas). Contudo, é comumente usada para pausar o terminal</a:t>
            </a:r>
          </a:p>
          <a:p>
            <a:endParaRPr lang="pt-BR" sz="2400" dirty="0"/>
          </a:p>
          <a:p>
            <a:r>
              <a:rPr lang="pt-BR" sz="2400" dirty="0"/>
              <a:t>Normalmente, quando se faz um programa que só imprime algo no terminal, o Windows abre uma janela do cmd.exe, executa o programa e logo em seguida fecha a janela.</a:t>
            </a:r>
          </a:p>
          <a:p>
            <a:endParaRPr lang="pt-BR" sz="2400" dirty="0"/>
          </a:p>
          <a:p>
            <a:r>
              <a:rPr lang="pt-BR" sz="2400" dirty="0"/>
              <a:t>O </a:t>
            </a:r>
            <a:r>
              <a:rPr lang="pt-BR" sz="2400" i="1" dirty="0" err="1"/>
              <a:t>conio.h</a:t>
            </a:r>
            <a:r>
              <a:rPr lang="pt-BR" sz="2400" dirty="0"/>
              <a:t> é um arquivo de cabeçalho usado para controle de entrada e saída no console (funcional apenas no Windows e MS-DOS)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97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2F58-1128-558F-DCB1-7CF05670E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6DF6645-7FCB-940C-5293-F3BFFAEFF09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8ADE5A-73D6-C583-50B8-F1890292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Prática 1 - Notas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6852B17-015C-E123-FC08-09AFB87146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32ABCF-04C7-B53F-E1BF-EC3FAE107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b="1" dirty="0"/>
              <a:t>Programa: </a:t>
            </a:r>
            <a:r>
              <a:rPr lang="pt-BR" sz="2400" b="1" dirty="0" err="1"/>
              <a:t>Hello</a:t>
            </a:r>
            <a:r>
              <a:rPr lang="pt-BR" sz="2400" b="1" dirty="0"/>
              <a:t> World</a:t>
            </a:r>
          </a:p>
          <a:p>
            <a:endParaRPr lang="pt-BR" sz="2400" dirty="0"/>
          </a:p>
          <a:p>
            <a:r>
              <a:rPr lang="pt-BR" sz="2400" dirty="0"/>
              <a:t>As palavras reservadas em C são termos com funções fixas na linguagem, como </a:t>
            </a:r>
            <a:r>
              <a:rPr lang="pt-BR" sz="2400" b="1" dirty="0" err="1"/>
              <a:t>int</a:t>
            </a:r>
            <a:r>
              <a:rPr lang="pt-BR" sz="2400" dirty="0"/>
              <a:t>, </a:t>
            </a:r>
            <a:r>
              <a:rPr lang="pt-BR" sz="2400" b="1" dirty="0" err="1"/>
              <a:t>if</a:t>
            </a:r>
            <a:r>
              <a:rPr lang="pt-BR" sz="2400" dirty="0"/>
              <a:t> e </a:t>
            </a:r>
            <a:r>
              <a:rPr lang="pt-BR" sz="2400" b="1" dirty="0" err="1"/>
              <a:t>return</a:t>
            </a:r>
            <a:r>
              <a:rPr lang="pt-BR" sz="2400" dirty="0"/>
              <a:t>. Elas somam 32 no padrão original e não podem ser usadas para dar nomes a variáveis ou funções.</a:t>
            </a:r>
            <a:endParaRPr lang="en-US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EAA4320-0DEB-C5C5-FFEB-5747E6763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044" y="4081463"/>
            <a:ext cx="6687911" cy="265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0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3742-E9D6-2509-AB5A-0253CF19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7DA3C8A-A088-1554-29EF-51BCDBBF1A6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AF1174-76FB-C1EF-061C-765DB6774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Prática 2 - Notas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87DD3E7-4408-7230-061F-0739D164DA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CE2E25-18C9-658F-01F2-FD746C1C0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424"/>
            <a:ext cx="10515600" cy="5032375"/>
          </a:xfrm>
        </p:spPr>
        <p:txBody>
          <a:bodyPr/>
          <a:lstStyle/>
          <a:p>
            <a:r>
              <a:rPr lang="pt-BR" sz="2400" b="1" dirty="0"/>
              <a:t>Programa: Variáveis e constantes</a:t>
            </a:r>
          </a:p>
          <a:p>
            <a:endParaRPr lang="pt-BR" sz="2400" b="1" dirty="0"/>
          </a:p>
          <a:p>
            <a:r>
              <a:rPr lang="pt-BR" sz="2200" b="1" dirty="0" err="1"/>
              <a:t>signed</a:t>
            </a:r>
            <a:r>
              <a:rPr lang="pt-BR" sz="2200" b="1" dirty="0"/>
              <a:t> e </a:t>
            </a:r>
            <a:r>
              <a:rPr lang="pt-BR" sz="2200" b="1" dirty="0" err="1"/>
              <a:t>unsigned</a:t>
            </a:r>
            <a:r>
              <a:rPr lang="pt-BR" sz="2200" b="1" dirty="0"/>
              <a:t>: </a:t>
            </a:r>
            <a:r>
              <a:rPr lang="pt-BR" sz="2200" dirty="0"/>
              <a:t>Não funcionam com </a:t>
            </a:r>
            <a:r>
              <a:rPr lang="pt-BR" sz="2200" dirty="0" err="1"/>
              <a:t>float</a:t>
            </a:r>
            <a:r>
              <a:rPr lang="pt-BR" sz="2200" dirty="0"/>
              <a:t>. Esses modificadores servem apenas para tipos inteiros (</a:t>
            </a:r>
            <a:r>
              <a:rPr lang="pt-BR" sz="2200" dirty="0" err="1"/>
              <a:t>int</a:t>
            </a:r>
            <a:r>
              <a:rPr lang="pt-BR" sz="2200" dirty="0"/>
              <a:t>) e caracteres (char), pois definem a presença ou ausência de sinal matemático no armazenamento binário dos bits.</a:t>
            </a:r>
          </a:p>
          <a:p>
            <a:endParaRPr lang="pt-BR" sz="2200" dirty="0"/>
          </a:p>
          <a:p>
            <a:r>
              <a:rPr lang="pt-BR" sz="2200" dirty="0"/>
              <a:t>Os números </a:t>
            </a:r>
            <a:r>
              <a:rPr lang="pt-BR" sz="2200" dirty="0" err="1"/>
              <a:t>float</a:t>
            </a:r>
            <a:r>
              <a:rPr lang="pt-BR" sz="2200" dirty="0"/>
              <a:t> já possuem nativamente um bit dedicado ao sinal.</a:t>
            </a:r>
          </a:p>
          <a:p>
            <a:endParaRPr lang="pt-BR" sz="2200" dirty="0"/>
          </a:p>
          <a:p>
            <a:r>
              <a:rPr lang="pt-BR" sz="2200" dirty="0"/>
              <a:t> Não existe “</a:t>
            </a:r>
            <a:r>
              <a:rPr lang="pt-BR" sz="2200" i="1" dirty="0"/>
              <a:t>short </a:t>
            </a:r>
            <a:r>
              <a:rPr lang="pt-BR" sz="2200" i="1" dirty="0" err="1"/>
              <a:t>float</a:t>
            </a:r>
            <a:r>
              <a:rPr lang="pt-BR" sz="2200" i="1" dirty="0"/>
              <a:t>” </a:t>
            </a:r>
            <a:r>
              <a:rPr lang="pt-BR" sz="2200" dirty="0"/>
              <a:t>em C, mas a linguagem permite o uso de “</a:t>
            </a:r>
            <a:r>
              <a:rPr lang="pt-BR" sz="2200" i="1" dirty="0" err="1"/>
              <a:t>long</a:t>
            </a:r>
            <a:r>
              <a:rPr lang="pt-BR" sz="2200" i="1" dirty="0"/>
              <a:t> </a:t>
            </a:r>
            <a:r>
              <a:rPr lang="pt-BR" sz="2200" i="1" dirty="0" err="1"/>
              <a:t>double</a:t>
            </a:r>
            <a:r>
              <a:rPr lang="pt-BR" sz="2200" i="1" dirty="0"/>
              <a:t>” </a:t>
            </a:r>
            <a:r>
              <a:rPr lang="pt-BR" sz="2200" dirty="0"/>
              <a:t>para criar um tipo de ponto flutuante com precisão ainda maior que o “</a:t>
            </a:r>
            <a:r>
              <a:rPr lang="pt-BR" sz="2200" i="1" dirty="0" err="1"/>
              <a:t>double</a:t>
            </a:r>
            <a:r>
              <a:rPr lang="pt-BR" sz="2200" i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1370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2B85-CCB7-83DB-847E-8BE4E87B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5A63D23-1400-9E10-73BA-4C4AA5685A7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2D5E03-AFF2-0395-533D-4135C0943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Prática 3 - Notas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F9988B0-40E1-F865-96F2-D35B3B0AE7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A43058-3ABB-B629-21F7-D154C2DFB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424"/>
            <a:ext cx="10515600" cy="5032375"/>
          </a:xfrm>
        </p:spPr>
        <p:txBody>
          <a:bodyPr/>
          <a:lstStyle/>
          <a:p>
            <a:r>
              <a:rPr lang="pt-BR" sz="2400" b="1" dirty="0"/>
              <a:t>Programa: Operadores aritméticos </a:t>
            </a:r>
          </a:p>
          <a:p>
            <a:endParaRPr lang="pt-BR" sz="2400" dirty="0"/>
          </a:p>
          <a:p>
            <a:r>
              <a:rPr lang="pt-BR" sz="2400" dirty="0"/>
              <a:t>#include &lt;</a:t>
            </a:r>
            <a:r>
              <a:rPr lang="pt-BR" sz="2400" dirty="0" err="1"/>
              <a:t>locale.h</a:t>
            </a:r>
            <a:r>
              <a:rPr lang="pt-BR" sz="2400" dirty="0"/>
              <a:t>&gt;: serve para configurar a localização e o idioma de um programa.</a:t>
            </a:r>
          </a:p>
          <a:p>
            <a:endParaRPr lang="pt-BR" sz="2400" dirty="0"/>
          </a:p>
          <a:p>
            <a:pPr lvl="1"/>
            <a:r>
              <a:rPr lang="pt-BR" sz="2200" b="1" dirty="0" err="1"/>
              <a:t>setlocale</a:t>
            </a:r>
            <a:r>
              <a:rPr lang="pt-BR" sz="2200" b="1" dirty="0"/>
              <a:t>(): </a:t>
            </a:r>
            <a:r>
              <a:rPr lang="pt-BR" sz="2200" dirty="0"/>
              <a:t>Altera ou consulta a categoria de idioma do programa. O uso mais comum para o português é </a:t>
            </a:r>
            <a:r>
              <a:rPr lang="pt-BR" sz="2200" i="1" dirty="0" err="1"/>
              <a:t>setlocale</a:t>
            </a:r>
            <a:r>
              <a:rPr lang="pt-BR" sz="2200" i="1" dirty="0"/>
              <a:t>(LC_ALL, "</a:t>
            </a:r>
            <a:r>
              <a:rPr lang="pt-BR" sz="2200" i="1" dirty="0" err="1"/>
              <a:t>Portuguese</a:t>
            </a:r>
            <a:r>
              <a:rPr lang="pt-BR" sz="2200" i="1" dirty="0"/>
              <a:t>")</a:t>
            </a:r>
            <a:r>
              <a:rPr lang="pt-BR" sz="2200" dirty="0"/>
              <a:t>; ou </a:t>
            </a:r>
            <a:r>
              <a:rPr lang="pt-BR" sz="2200" i="1" dirty="0" err="1"/>
              <a:t>setlocale</a:t>
            </a:r>
            <a:r>
              <a:rPr lang="pt-BR" sz="2200" i="1" dirty="0"/>
              <a:t>(LC_ALL, "")</a:t>
            </a:r>
            <a:r>
              <a:rPr lang="pt-BR" sz="2200" dirty="0"/>
              <a:t>; para adotar o padrão do sistema operacional.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b="1" dirty="0"/>
              <a:t>LC_ALL: </a:t>
            </a:r>
            <a:r>
              <a:rPr lang="pt-BR" sz="2200" dirty="0"/>
              <a:t>Macro usada na </a:t>
            </a:r>
            <a:r>
              <a:rPr lang="pt-BR" sz="2200" i="1" dirty="0"/>
              <a:t>função </a:t>
            </a:r>
            <a:r>
              <a:rPr lang="pt-BR" sz="2200" i="1" dirty="0" err="1"/>
              <a:t>setlocale</a:t>
            </a:r>
            <a:r>
              <a:rPr lang="pt-BR" sz="2200" i="1" dirty="0"/>
              <a:t>(...)</a:t>
            </a:r>
            <a:r>
              <a:rPr lang="pt-BR" sz="2200" dirty="0"/>
              <a:t> para aplicar a configuração a todas as categorias de localização do programa.</a:t>
            </a:r>
          </a:p>
        </p:txBody>
      </p:sp>
    </p:spTree>
    <p:extLst>
      <p:ext uri="{BB962C8B-B14F-4D97-AF65-F5344CB8AC3E}">
        <p14:creationId xmlns:p14="http://schemas.microsoft.com/office/powerpoint/2010/main" val="2565314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E91F0-2674-868E-FFA4-64084888B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0A0ACDA-A859-AA78-DED9-B4571B1C18E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307541-C1F5-FF3B-76EF-55C16BA44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Prática 3 - Notas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577B007-5427-4BC5-AC9A-220DABF796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B0E50A-ADBD-69F2-8EEE-3C0CEEC4C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424"/>
            <a:ext cx="10515600" cy="5032375"/>
          </a:xfrm>
        </p:spPr>
        <p:txBody>
          <a:bodyPr/>
          <a:lstStyle/>
          <a:p>
            <a:r>
              <a:rPr lang="pt-BR" sz="2400" b="1" dirty="0"/>
              <a:t>Programa: Operadores aritméticos </a:t>
            </a:r>
          </a:p>
          <a:p>
            <a:endParaRPr lang="pt-BR" sz="2400" dirty="0"/>
          </a:p>
          <a:p>
            <a:r>
              <a:rPr lang="pt-BR" sz="2400" dirty="0"/>
              <a:t>#include &lt;</a:t>
            </a:r>
            <a:r>
              <a:rPr lang="pt-BR" sz="2400" dirty="0" err="1"/>
              <a:t>locale.h</a:t>
            </a:r>
            <a:r>
              <a:rPr lang="pt-BR" sz="2400" dirty="0"/>
              <a:t>&gt;: serve para configurar a localização e o idioma de um programa.</a:t>
            </a:r>
          </a:p>
          <a:p>
            <a:endParaRPr lang="pt-BR" sz="2400" dirty="0"/>
          </a:p>
          <a:p>
            <a:pPr lvl="1"/>
            <a:r>
              <a:rPr lang="pt-BR" sz="2200" b="1" dirty="0" err="1"/>
              <a:t>setlocale</a:t>
            </a:r>
            <a:r>
              <a:rPr lang="pt-BR" sz="2200" b="1" dirty="0"/>
              <a:t>(): </a:t>
            </a:r>
            <a:r>
              <a:rPr lang="pt-BR" sz="2200" dirty="0"/>
              <a:t>Altera ou consulta a categoria de idioma do programa. O uso mais comum para o português é </a:t>
            </a:r>
            <a:r>
              <a:rPr lang="pt-BR" sz="2200" i="1" dirty="0" err="1"/>
              <a:t>setlocale</a:t>
            </a:r>
            <a:r>
              <a:rPr lang="pt-BR" sz="2200" i="1" dirty="0"/>
              <a:t>(LC_ALL, "</a:t>
            </a:r>
            <a:r>
              <a:rPr lang="pt-BR" sz="2200" i="1" dirty="0" err="1"/>
              <a:t>Portuguese</a:t>
            </a:r>
            <a:r>
              <a:rPr lang="pt-BR" sz="2200" i="1" dirty="0"/>
              <a:t>")</a:t>
            </a:r>
            <a:r>
              <a:rPr lang="pt-BR" sz="2200" dirty="0"/>
              <a:t>; ou </a:t>
            </a:r>
            <a:r>
              <a:rPr lang="pt-BR" sz="2200" i="1" dirty="0" err="1"/>
              <a:t>setlocale</a:t>
            </a:r>
            <a:r>
              <a:rPr lang="pt-BR" sz="2200" i="1" dirty="0"/>
              <a:t>(LC_ALL, "")</a:t>
            </a:r>
            <a:r>
              <a:rPr lang="pt-BR" sz="2200" dirty="0"/>
              <a:t>; para adotar o padrão do sistema operacional.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b="1" dirty="0"/>
              <a:t>LC_ALL: </a:t>
            </a:r>
            <a:r>
              <a:rPr lang="pt-BR" sz="2200" dirty="0"/>
              <a:t>Macro usada na </a:t>
            </a:r>
            <a:r>
              <a:rPr lang="pt-BR" sz="2200" i="1" dirty="0"/>
              <a:t>função </a:t>
            </a:r>
            <a:r>
              <a:rPr lang="pt-BR" sz="2200" i="1" dirty="0" err="1"/>
              <a:t>setlocale</a:t>
            </a:r>
            <a:r>
              <a:rPr lang="pt-BR" sz="2200" i="1" dirty="0"/>
              <a:t>(...)</a:t>
            </a:r>
            <a:r>
              <a:rPr lang="pt-BR" sz="2200" dirty="0"/>
              <a:t> para aplicar a configuração a todas as categorias de localização do programa.</a:t>
            </a:r>
          </a:p>
        </p:txBody>
      </p:sp>
    </p:spTree>
    <p:extLst>
      <p:ext uri="{BB962C8B-B14F-4D97-AF65-F5344CB8AC3E}">
        <p14:creationId xmlns:p14="http://schemas.microsoft.com/office/powerpoint/2010/main" val="2034901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963D6-70D2-9744-780F-7606DE0D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C5A4CE7-9D79-FEF1-546C-F17EAAA6A8D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92D316-2E91-7425-A8D7-CDAB66048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Prática 3 - Notas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3D79C31-312B-FB6A-7E5F-3D27CC04AC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B664D9-A6DA-E78E-D112-1837198B2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424"/>
            <a:ext cx="10515600" cy="5032375"/>
          </a:xfrm>
        </p:spPr>
        <p:txBody>
          <a:bodyPr/>
          <a:lstStyle/>
          <a:p>
            <a:r>
              <a:rPr lang="pt-BR" sz="2400" b="1" dirty="0"/>
              <a:t>Programa: Operadores aritméticos </a:t>
            </a:r>
          </a:p>
          <a:p>
            <a:endParaRPr lang="pt-BR" sz="2400" dirty="0"/>
          </a:p>
          <a:p>
            <a:r>
              <a:rPr lang="pt-BR" sz="2200" dirty="0"/>
              <a:t>\n: serve para fazer uma quebra de linha (ou nova linha). Trata-se de uma sequência de escape usada dentro de textos para mandar o cursor ir para o início da linha de baixo.</a:t>
            </a:r>
          </a:p>
          <a:p>
            <a:endParaRPr lang="pt-BR" sz="2400" dirty="0"/>
          </a:p>
          <a:p>
            <a:r>
              <a:rPr lang="pt-BR" sz="2200" dirty="0"/>
              <a:t>Sequência de escape: Começa com uma barra invertida (\) para indicar um comando especial que não pode ser escrito de modo normal no teclado.</a:t>
            </a:r>
          </a:p>
        </p:txBody>
      </p:sp>
    </p:spTree>
    <p:extLst>
      <p:ext uri="{BB962C8B-B14F-4D97-AF65-F5344CB8AC3E}">
        <p14:creationId xmlns:p14="http://schemas.microsoft.com/office/powerpoint/2010/main" val="35135860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597</Words>
  <Application>Microsoft Office PowerPoint</Application>
  <PresentationFormat>Widescreen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Gill Sans MT</vt:lpstr>
      <vt:lpstr>Tema do Office</vt:lpstr>
      <vt:lpstr>Pacote</vt:lpstr>
      <vt:lpstr>Atividades Práticas em c</vt:lpstr>
      <vt:lpstr>Prática 1 - Notas</vt:lpstr>
      <vt:lpstr>Prática 1 - Notas</vt:lpstr>
      <vt:lpstr>Prática 2 - Notas</vt:lpstr>
      <vt:lpstr>Prática 3 - Notas</vt:lpstr>
      <vt:lpstr>Prática 3 - Notas</vt:lpstr>
      <vt:lpstr>Prática 3 - Notas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66</cp:revision>
  <dcterms:created xsi:type="dcterms:W3CDTF">2026-07-26T12:48:37Z</dcterms:created>
  <dcterms:modified xsi:type="dcterms:W3CDTF">2026-08-04T20:50:37Z</dcterms:modified>
</cp:coreProperties>
</file>