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20"/>
  </p:notesMasterIdLst>
  <p:sldIdLst>
    <p:sldId id="307" r:id="rId3"/>
    <p:sldId id="309" r:id="rId4"/>
    <p:sldId id="310" r:id="rId5"/>
    <p:sldId id="312" r:id="rId6"/>
    <p:sldId id="313" r:id="rId7"/>
    <p:sldId id="314" r:id="rId8"/>
    <p:sldId id="316" r:id="rId9"/>
    <p:sldId id="318" r:id="rId10"/>
    <p:sldId id="317" r:id="rId11"/>
    <p:sldId id="319" r:id="rId12"/>
    <p:sldId id="321" r:id="rId13"/>
    <p:sldId id="322" r:id="rId14"/>
    <p:sldId id="323" r:id="rId15"/>
    <p:sldId id="324" r:id="rId16"/>
    <p:sldId id="325" r:id="rId17"/>
    <p:sldId id="326" r:id="rId18"/>
    <p:sldId id="327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8AB3"/>
    <a:srgbClr val="4472C4"/>
    <a:srgbClr val="FFFFFF"/>
    <a:srgbClr val="172C51"/>
    <a:srgbClr val="7DA7D8"/>
    <a:srgbClr val="2F8D46"/>
    <a:srgbClr val="E1F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35" autoAdjust="0"/>
    <p:restoredTop sz="76568" autoAdjust="0"/>
  </p:normalViewPr>
  <p:slideViewPr>
    <p:cSldViewPr snapToGrid="0">
      <p:cViewPr>
        <p:scale>
          <a:sx n="75" d="100"/>
          <a:sy n="75" d="100"/>
        </p:scale>
        <p:origin x="150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6A6C-4C26-65C3-6FE4-78F80AC2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80B0AB-DAAD-0F0C-64A5-30C4C6D8D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683D4E3-B254-14E5-FB80-B6DE54586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0CF4A9-8229-54B0-3693-37332ED09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033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1C2E-94E3-7482-176C-D69BDF11D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656EE1E-4302-38C8-2279-7E52990E5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52CAF94-55F7-E776-8F1C-F208ECA0B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34EAAC-BD88-A18F-96CF-DA1B58DB8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1832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AA91B-2716-B917-3029-540070B5B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8F3822A-66F0-FE2C-2589-7FAED6BBF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1272477-BF65-B87A-676E-495CFE4EF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E67BBB6-FD17-0AA8-398C-6E0B85B6F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1387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1ABFF-C7FE-78C3-24B0-8FF998EAB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8C1293F-A537-8D6B-730B-6D6EF9B30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48E8719-44AB-DFA5-0299-D39A4CCDB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pt-BR" dirty="0"/>
              <a:t>Macros em C são regras de substituição de texto processadas antes da compilação do programa (por meio da diretiva #define).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Obs2: Diretivas </a:t>
            </a:r>
            <a:r>
              <a:rPr lang="pt-BR" dirty="0"/>
              <a:t>orientam o compilador como modificar o código-fonte para a compilação.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7B50CA-9B97-01B6-FC58-8DC5FFCADB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1888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0C927-D024-B478-0700-9A4530B62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3EB81BF-C233-9090-CD1D-0249830EC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CDF2AA3-2812-6A1B-05F4-F003646DC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4B56FA-EFCC-8E0D-CD05-E0D7D87DF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0139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23FC4-DCC1-BC2E-A11E-4D415843F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E1448B-A8E9-4ED8-B5AC-98C25DE58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3354E04-C913-0E42-4317-A34F61489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B84651-7817-9692-E988-54B7CE41A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1268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66D95-4015-67E5-4702-CDB9F141F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3A8AC96-14C2-0E8D-F4F9-8DDB891F2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B9C0710-7448-66BA-F487-93205F5F4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É possível definir uma função como ‘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 caso ela </a:t>
            </a:r>
            <a:r>
              <a:rPr lang="pt-BR" dirty="0"/>
              <a:t>sirva apenas como auxiliar interna e não deva ser acessada pelo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main.c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 2:  Notações mais modernas utilizam </a:t>
            </a:r>
            <a:r>
              <a:rPr lang="pt-BR" dirty="0"/>
              <a:t>#pragma </a:t>
            </a:r>
            <a:r>
              <a:rPr lang="pt-BR" dirty="0" err="1"/>
              <a:t>once</a:t>
            </a:r>
            <a:r>
              <a:rPr lang="pt-BR" dirty="0"/>
              <a:t> no lugar do dos </a:t>
            </a:r>
            <a:r>
              <a:rPr lang="pt-BR" dirty="0" err="1"/>
              <a:t>headers</a:t>
            </a:r>
            <a:r>
              <a:rPr lang="pt-BR" dirty="0"/>
              <a:t> </a:t>
            </a:r>
            <a:r>
              <a:rPr lang="pt-BR" dirty="0" err="1"/>
              <a:t>guards</a:t>
            </a:r>
            <a:r>
              <a:rPr lang="pt-BR" dirty="0"/>
              <a:t> apresentados.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212B1C-1CF4-B4D4-9445-D2F24A1AD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8867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B9A2E-6FCE-8C61-2D31-0D28CE091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7C449A5-B502-EAF8-6A0F-707C8D285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0BF0573-580A-8A56-BFAB-C22A8631B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caso de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libs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prontas, como o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arquivo fonte de implementação delas depende do sistema operacional.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Linux</a:t>
            </a:r>
            <a:r>
              <a:rPr lang="pt-BR" dirty="0"/>
              <a:t>, por exemplo, a implementação fica em uma em uma biblioteca compartilhada como a ‘</a:t>
            </a:r>
            <a:r>
              <a:rPr lang="pt-BR" dirty="0" err="1"/>
              <a:t>glibc</a:t>
            </a:r>
            <a:r>
              <a:rPr lang="pt-BR" dirty="0"/>
              <a:t>’.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No Windows,  o compilador/</a:t>
            </a:r>
            <a:r>
              <a:rPr lang="pt-BR" dirty="0" err="1"/>
              <a:t>runtime</a:t>
            </a:r>
            <a:r>
              <a:rPr lang="pt-BR" dirty="0"/>
              <a:t> utilizado pode fornecer essas funções através de diferentes </a:t>
            </a:r>
            <a:r>
              <a:rPr lang="pt-BR" dirty="0" err="1"/>
              <a:t>DLLs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6F32B9-0388-0CF8-C181-D81E9177D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962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98955-0227-5959-A35A-9371A1A05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AFC7486-5938-6A21-54B7-7F7DA9BD3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822B9E8-9C2D-D062-C22B-B0366D03D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-Catch</a:t>
            </a:r>
            <a:r>
              <a:rPr lang="pt-BR" dirty="0"/>
              <a:t>: É uma estrutura de tratamento de erros para situações anormais ou imprevistas, diferente do </a:t>
            </a:r>
            <a:r>
              <a:rPr lang="pt-BR" dirty="0" err="1"/>
              <a:t>if-else</a:t>
            </a:r>
            <a:r>
              <a:rPr lang="pt-BR" dirty="0"/>
              <a:t> que adota um comportamento de acordo com fluxos condicionais esperados.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F7D9B2-A28F-4C30-283A-7AF99C104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152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EB9A8-8837-ED9D-F118-AC837250C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AE850DC-5BBC-A8D6-40CB-BE232200F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1791F1-54F1-A601-4D9C-34F3317C6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EF65D5-099C-3672-8A72-DFE81DCBF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354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CF21A-C71D-DEF5-4FCB-E508F7060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F9B709-0FDA-F88C-D42C-B99EA2BB1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8B6E612-67CF-BC4A-4C71-474299B48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FE1A4F-4CEF-F378-E747-A1184F0CC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5034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80765-80CB-DC1B-52C1-4441F0C96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8CCFF27-6F58-45C0-460E-A8D89117A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06792E6-1C78-F870-C84D-2D5C7A8F0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código de retorno também pode ser definido como:</a:t>
            </a:r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dirty="0"/>
              <a:t>#define SUCESSO 0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#define ERRO_DIVISAO_ZERO 1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#define ERRO_ARGUMENTO_INVALIDO 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 é um ‘apelido’ para o tipo enum, especificando sua função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282E14-EF95-7E63-2084-C0F731AD4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1795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F4675-8DA6-DD7B-4044-655A7C53A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82B1630-752B-3351-093D-4E0C1949B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8954BA6-4CB2-F135-C0E9-C2320EBC8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Strerror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pt-BR" sz="1200" dirty="0"/>
              <a:t>Permite obter uma descrição textual do erro apresentado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Algumas funções trazem um valor pronto para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errno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Como exemplo: a implementação de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fopen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define um valor para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errno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 caso de falha de execução.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197254-4491-6B7A-1B42-85B52B2DF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7514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7524D-A797-EA07-464C-DF0694AF9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811941F-FB84-0166-24B8-1CE21EBDB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081EE90-9353-2BCA-14F1-A7114B969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D7F833-1614-9DED-9235-1625E1C04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62530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30A3C-A06E-303C-FF82-58081F798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5ADC898-7F2F-7A89-027B-621929055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963E35E-3858-9011-F3A0-D08E81ED0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85F5E6-2C6C-5B6D-B94D-8B8AA526BB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089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2FD76-F19C-3B8C-0470-C7D142601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2B873-06AF-C3DE-2B4B-567D739D1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MÓDULO 6 (parte 1) – Modularização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B3AE6F-2432-A013-F69D-065ABFAD0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393744B-665F-C7B8-E211-4FDD9DDA5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744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7E4C-5AD4-C29D-16D9-8F1B01DEE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0C5335F-DD51-6910-390A-D7E780E8D7D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5FD6E1-4085-8019-7523-D504C8D8E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Objetivos da Aula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EAD2AB3-FC19-84DD-2107-4EB1CBD799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675DCFF3-AB50-1B87-6E88-FBE2EF735A07}"/>
              </a:ext>
            </a:extLst>
          </p:cNvPr>
          <p:cNvSpPr txBox="1">
            <a:spLocks/>
          </p:cNvSpPr>
          <p:nvPr/>
        </p:nvSpPr>
        <p:spPr>
          <a:xfrm>
            <a:off x="2656775" y="2019300"/>
            <a:ext cx="6878450" cy="4495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/>
              <a:t>Modularização: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Compreender como dividir um programa C em partes independentes, reutilizáveis e organizadas.</a:t>
            </a:r>
            <a:endParaRPr lang="pt-BR" sz="2200" dirty="0"/>
          </a:p>
          <a:p>
            <a:endParaRPr lang="pt-BR" sz="2400" b="1" dirty="0"/>
          </a:p>
          <a:p>
            <a:r>
              <a:rPr lang="pt-BR" sz="2400" b="1" dirty="0"/>
              <a:t>Tratamento de Erros:</a:t>
            </a:r>
          </a:p>
          <a:p>
            <a:pPr marL="0" indent="0">
              <a:buNone/>
            </a:pPr>
            <a:endParaRPr lang="pt-BR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Permitir a comunicação falhas dos módulos ao restante do programa de maneira controlada.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0571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1CC3-9BA8-7310-3693-3FE3B6078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CF8A39C-8193-041B-6269-838CD12AEAC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C1AB9B-A4D9-5EE0-D8F5-743A1C936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Modularização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0B79348-7DED-6048-118A-31A34CC2BD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D1E0140C-9C45-BF01-567F-08817F8DB198}"/>
              </a:ext>
            </a:extLst>
          </p:cNvPr>
          <p:cNvSpPr txBox="1">
            <a:spLocks/>
          </p:cNvSpPr>
          <p:nvPr/>
        </p:nvSpPr>
        <p:spPr>
          <a:xfrm>
            <a:off x="1098736" y="1647825"/>
            <a:ext cx="9994527" cy="890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/>
              <a:t>Modularização:</a:t>
            </a:r>
            <a:r>
              <a:rPr lang="pt-BR" sz="2400" dirty="0"/>
              <a:t> consiste em dividir um programa em módulos menores, cada um responsável por uma funcionalidade específica.</a:t>
            </a:r>
            <a:endParaRPr lang="pt-BR" sz="2400" b="1" dirty="0"/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endParaRPr lang="pt-BR" sz="2400" b="1" dirty="0"/>
          </a:p>
          <a:p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2BC14AC-A899-867A-EC87-7DB0A8F2CE72}"/>
              </a:ext>
            </a:extLst>
          </p:cNvPr>
          <p:cNvSpPr txBox="1"/>
          <p:nvPr/>
        </p:nvSpPr>
        <p:spPr>
          <a:xfrm>
            <a:off x="1193800" y="3330942"/>
            <a:ext cx="47497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b="1" dirty="0"/>
              <a:t>Problema principal </a:t>
            </a:r>
            <a:r>
              <a:rPr lang="pt-BR" sz="2200" dirty="0">
                <a:sym typeface="Wingdings" panose="05000000000000000000" pitchFamily="2" charset="2"/>
              </a:rPr>
              <a:t></a:t>
            </a:r>
            <a:r>
              <a:rPr lang="pt-BR" sz="2200" dirty="0"/>
              <a:t> Vamos imaginar um sistema de cadastros em C: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92DD09-6C28-D87F-FA42-62605AB38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050" y="2957864"/>
            <a:ext cx="2977161" cy="3602934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F01DBAE8-51BB-18BF-ED1A-097BE76C7C50}"/>
              </a:ext>
            </a:extLst>
          </p:cNvPr>
          <p:cNvSpPr txBox="1"/>
          <p:nvPr/>
        </p:nvSpPr>
        <p:spPr>
          <a:xfrm>
            <a:off x="1193800" y="4548455"/>
            <a:ext cx="474979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/>
              <a:t>A princípio, não existem problemas muito expressivos.</a:t>
            </a:r>
          </a:p>
          <a:p>
            <a:pPr algn="just"/>
            <a:endParaRPr lang="pt-BR" sz="22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912865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92697-5615-2C1C-068F-659779039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13B5C39-83F9-A21C-5E62-C3328D06612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5C27FE-94C0-AAB8-71D9-2FA78E42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Modularização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E728787-0F66-1F24-CB39-74E8232D1A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3F5D84AA-2FE2-65EA-E607-7B779303B49F}"/>
              </a:ext>
            </a:extLst>
          </p:cNvPr>
          <p:cNvSpPr txBox="1">
            <a:spLocks/>
          </p:cNvSpPr>
          <p:nvPr/>
        </p:nvSpPr>
        <p:spPr>
          <a:xfrm>
            <a:off x="629490" y="2033447"/>
            <a:ext cx="10933019" cy="890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Conforme o sistema cresce, a implementação das funcionalidades se torna inviável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endParaRPr lang="pt-BR" sz="2400" b="1" dirty="0"/>
          </a:p>
          <a:p>
            <a:endParaRPr lang="pt-BR" sz="2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AED15F3-8EE8-FEBB-5F03-45F4E55D7255}"/>
              </a:ext>
            </a:extLst>
          </p:cNvPr>
          <p:cNvSpPr txBox="1"/>
          <p:nvPr/>
        </p:nvSpPr>
        <p:spPr>
          <a:xfrm>
            <a:off x="1545314" y="3075057"/>
            <a:ext cx="3821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Imagine a quantidade de funções necessárias para o sistema: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1F8FC83-489C-6768-EDB8-6AF5D4ED8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14" y="3961730"/>
            <a:ext cx="3821431" cy="2497667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466895CB-69B4-C5E2-9F7A-A3F40F5B94A3}"/>
              </a:ext>
            </a:extLst>
          </p:cNvPr>
          <p:cNvSpPr txBox="1"/>
          <p:nvPr/>
        </p:nvSpPr>
        <p:spPr>
          <a:xfrm>
            <a:off x="7093697" y="3581400"/>
            <a:ext cx="474008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/>
              <a:t>Criar tudo em um mesmo script iria acarretar em problemas relacionados à: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2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200" dirty="0"/>
              <a:t>Organização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200" dirty="0"/>
              <a:t>Manutenção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200" dirty="0"/>
              <a:t>Reutilização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200" dirty="0"/>
              <a:t>Dependências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200" dirty="0"/>
              <a:t>Etc.</a:t>
            </a:r>
          </a:p>
          <a:p>
            <a:pPr algn="just"/>
            <a:endParaRPr lang="pt-BR" sz="2000" dirty="0"/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F7CAAEB6-7113-196B-82F5-2F47F011AC23}"/>
              </a:ext>
            </a:extLst>
          </p:cNvPr>
          <p:cNvSpPr/>
          <p:nvPr/>
        </p:nvSpPr>
        <p:spPr>
          <a:xfrm>
            <a:off x="5967754" y="4713851"/>
            <a:ext cx="694267" cy="4967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5336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84CB7-5C2F-6958-8418-1A76DB6AD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C0EF661-60E7-A9AD-21AE-D96059EE404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E0BDDC-019C-4DC0-4C7E-3EA4A9A39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Modularização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C036A51-1135-C248-10A5-58FB7C3A35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F8DAC166-5565-A66F-AB08-D37419501EF8}"/>
              </a:ext>
            </a:extLst>
          </p:cNvPr>
          <p:cNvSpPr txBox="1">
            <a:spLocks/>
          </p:cNvSpPr>
          <p:nvPr/>
        </p:nvSpPr>
        <p:spPr>
          <a:xfrm>
            <a:off x="304538" y="2535727"/>
            <a:ext cx="7086862" cy="3264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400" dirty="0"/>
              <a:t>Para modularizar um programa em C, utilizamos:</a:t>
            </a:r>
          </a:p>
          <a:p>
            <a:pPr algn="just"/>
            <a:endParaRPr lang="pt-BR" sz="2400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b="1" dirty="0"/>
              <a:t>Arquivos de cabeçalho (.h) </a:t>
            </a:r>
            <a:r>
              <a:rPr lang="pt-BR" sz="2200" b="1" dirty="0">
                <a:sym typeface="Wingdings" panose="05000000000000000000" pitchFamily="2" charset="2"/>
              </a:rPr>
              <a:t> </a:t>
            </a:r>
            <a:r>
              <a:rPr lang="pt-BR" sz="2200" dirty="0"/>
              <a:t>contêm declarações de funções e macros compartilhados entre vários código-fonte.</a:t>
            </a:r>
            <a:endParaRPr lang="pt-BR" sz="2200" b="1" dirty="0">
              <a:sym typeface="Wingdings" panose="05000000000000000000" pitchFamily="2" charset="2"/>
            </a:endParaRPr>
          </a:p>
          <a:p>
            <a:pPr marL="457200" lvl="1" indent="0" algn="just">
              <a:buNone/>
            </a:pPr>
            <a:endParaRPr lang="pt-BR" sz="2200" b="1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b="1" dirty="0"/>
              <a:t>Arquivos fonte (.c) </a:t>
            </a:r>
            <a:r>
              <a:rPr lang="pt-BR" sz="2200" b="1" dirty="0">
                <a:sym typeface="Wingdings" panose="05000000000000000000" pitchFamily="2" charset="2"/>
              </a:rPr>
              <a:t> </a:t>
            </a:r>
            <a:r>
              <a:rPr lang="pt-BR" sz="2200" dirty="0"/>
              <a:t>contêm o código-fonte para uma determinada aplicação.</a:t>
            </a:r>
            <a:endParaRPr lang="pt-BR" sz="2200" b="1" dirty="0"/>
          </a:p>
          <a:p>
            <a:endParaRPr lang="pt-BR" sz="2400" b="1" dirty="0"/>
          </a:p>
          <a:p>
            <a:endParaRPr lang="pt-BR" sz="24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1BCA40E-0189-E81F-C72F-8766531E1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463" y="2082496"/>
            <a:ext cx="4093999" cy="4258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602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C0A39-102C-2A1E-4B37-816EE234F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6937B57-E12B-8121-2EB4-F1DC2C5640A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CC9CBC-483C-8B33-964A-B1B90D92C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Headers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D0A32D0-38D5-6216-EA10-FC22E02C58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EC31A441-A5C4-CC12-D834-DB946D4D740B}"/>
              </a:ext>
            </a:extLst>
          </p:cNvPr>
          <p:cNvSpPr txBox="1">
            <a:spLocks/>
          </p:cNvSpPr>
          <p:nvPr/>
        </p:nvSpPr>
        <p:spPr>
          <a:xfrm>
            <a:off x="1778746" y="1676167"/>
            <a:ext cx="9289938" cy="3264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O arquivo </a:t>
            </a:r>
            <a:r>
              <a:rPr lang="pt-BR" sz="2400" b="1" u="sng" dirty="0"/>
              <a:t>.h</a:t>
            </a:r>
            <a:r>
              <a:rPr lang="pt-BR" sz="2400" dirty="0"/>
              <a:t> funciona como uma interface pública do módulo.</a:t>
            </a:r>
          </a:p>
          <a:p>
            <a:endParaRPr lang="pt-BR" sz="2400" dirty="0"/>
          </a:p>
          <a:p>
            <a:r>
              <a:rPr lang="pt-BR" sz="2400" dirty="0"/>
              <a:t>Ao utilizar um módulo, é necessário conhecer suas funções, os parâmetros de entrada e o tipo de retorno, mas não a implementação.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62DF3782-617D-3B91-7C28-F7C1E3B42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82748"/>
            <a:ext cx="3557492" cy="212794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399039CF-5488-66E7-0409-D0CC4C774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4532" y="3882748"/>
            <a:ext cx="3487468" cy="2127947"/>
          </a:xfrm>
          <a:prstGeom prst="rect">
            <a:avLst/>
          </a:prstGeom>
        </p:spPr>
      </p:pic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1EA246B5-167E-AEAE-E32A-B4CFFE67E767}"/>
              </a:ext>
            </a:extLst>
          </p:cNvPr>
          <p:cNvSpPr/>
          <p:nvPr/>
        </p:nvSpPr>
        <p:spPr>
          <a:xfrm>
            <a:off x="7897321" y="4940671"/>
            <a:ext cx="609600" cy="374579"/>
          </a:xfrm>
          <a:prstGeom prst="rightArrow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5802BF86-0D19-33B3-904C-8A7E9FD88E76}"/>
              </a:ext>
            </a:extLst>
          </p:cNvPr>
          <p:cNvSpPr/>
          <p:nvPr/>
        </p:nvSpPr>
        <p:spPr>
          <a:xfrm flipH="1">
            <a:off x="3738668" y="4873960"/>
            <a:ext cx="600187" cy="374579"/>
          </a:xfrm>
          <a:prstGeom prst="rightArrow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B1A2C8D1-FCD0-98AD-6854-1435F5153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0031" y="4254163"/>
            <a:ext cx="3179679" cy="161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915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101D3-1A28-C5F4-4C11-F210FB74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F57565F-8FE0-24A4-E8D1-F799E14B7D5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496216-1248-6CCE-5B0D-2E166A1A3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Header </a:t>
            </a:r>
            <a:r>
              <a:rPr lang="pt-BR" dirty="0" err="1">
                <a:solidFill>
                  <a:schemeClr val="bg1"/>
                </a:solidFill>
              </a:rPr>
              <a:t>Guards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3AF1F00-CA35-E462-6D38-377616469B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053552BE-E65C-9558-8300-8CA06B94B0BF}"/>
              </a:ext>
            </a:extLst>
          </p:cNvPr>
          <p:cNvSpPr txBox="1">
            <a:spLocks/>
          </p:cNvSpPr>
          <p:nvPr/>
        </p:nvSpPr>
        <p:spPr>
          <a:xfrm>
            <a:off x="2056604" y="2250403"/>
            <a:ext cx="8078789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Estruturas usadas em </a:t>
            </a:r>
            <a:r>
              <a:rPr lang="pt-BR" dirty="0"/>
              <a:t>C</a:t>
            </a:r>
            <a:r>
              <a:rPr lang="pt-BR" sz="2400" dirty="0"/>
              <a:t> para evitar o problema da dupla inclusão de arquivos de cabeçalho durante a compilação</a:t>
            </a:r>
          </a:p>
          <a:p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8AC126-3387-6154-BBC6-74D7A2D92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63" y="3765030"/>
            <a:ext cx="11144273" cy="181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917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2F07F-75A7-7234-0F5E-36E36C4C7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8328D56-F089-FBDD-3DBD-64E409E1C94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E03244-4E4C-F8CB-449F-1A4394AC5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Header </a:t>
            </a:r>
            <a:r>
              <a:rPr lang="pt-BR" dirty="0" err="1">
                <a:solidFill>
                  <a:schemeClr val="bg1"/>
                </a:solidFill>
              </a:rPr>
              <a:t>Guards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6B9B7F6-340A-638E-D67E-F34E92AA5B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91449285-4FC4-08B1-2D49-CBE8D1D2AF63}"/>
              </a:ext>
            </a:extLst>
          </p:cNvPr>
          <p:cNvSpPr txBox="1">
            <a:spLocks/>
          </p:cNvSpPr>
          <p:nvPr/>
        </p:nvSpPr>
        <p:spPr>
          <a:xfrm>
            <a:off x="669823" y="2561164"/>
            <a:ext cx="6414295" cy="3052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/>
              <a:t>#ifndef: </a:t>
            </a:r>
            <a:r>
              <a:rPr lang="pt-BR" sz="2400" dirty="0"/>
              <a:t>Verifica se a macro ainda não foi definida </a:t>
            </a:r>
            <a:r>
              <a:rPr lang="pt-BR" sz="2400" i="1" dirty="0"/>
              <a:t>(</a:t>
            </a:r>
            <a:r>
              <a:rPr lang="pt-BR" sz="2400" i="1" dirty="0" err="1"/>
              <a:t>if</a:t>
            </a:r>
            <a:r>
              <a:rPr lang="pt-BR" sz="2400" i="1" dirty="0"/>
              <a:t> </a:t>
            </a:r>
            <a:r>
              <a:rPr lang="pt-BR" sz="2400" i="1" dirty="0" err="1"/>
              <a:t>not</a:t>
            </a:r>
            <a:r>
              <a:rPr lang="pt-BR" sz="2400" i="1" dirty="0"/>
              <a:t> </a:t>
            </a:r>
            <a:r>
              <a:rPr lang="pt-BR" sz="2400" i="1" dirty="0" err="1"/>
              <a:t>defined</a:t>
            </a:r>
            <a:r>
              <a:rPr lang="pt-BR" sz="2400" i="1" dirty="0"/>
              <a:t>).</a:t>
            </a:r>
          </a:p>
          <a:p>
            <a:endParaRPr lang="pt-BR" sz="2400" b="1" dirty="0"/>
          </a:p>
          <a:p>
            <a:r>
              <a:rPr lang="pt-BR" sz="2400" b="1" dirty="0"/>
              <a:t>#define: </a:t>
            </a:r>
            <a:r>
              <a:rPr lang="pt-BR" sz="2400" dirty="0"/>
              <a:t>Na primeira vez que o arquivo é lido, a macro é imediatamente definida.</a:t>
            </a:r>
          </a:p>
          <a:p>
            <a:endParaRPr lang="pt-BR" sz="2400" b="1" dirty="0"/>
          </a:p>
          <a:p>
            <a:r>
              <a:rPr lang="pt-BR" sz="2400" b="1" dirty="0"/>
              <a:t>#endif: </a:t>
            </a:r>
            <a:r>
              <a:rPr lang="pt-BR" sz="2400" dirty="0"/>
              <a:t>Encerra a condicional</a:t>
            </a:r>
          </a:p>
          <a:p>
            <a:pPr marL="0" indent="0">
              <a:buNone/>
            </a:pPr>
            <a:endParaRPr lang="pt-BR" sz="24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F2E221C-6BFE-F9D9-2DE3-067A06F6F890}"/>
              </a:ext>
            </a:extLst>
          </p:cNvPr>
          <p:cNvSpPr/>
          <p:nvPr/>
        </p:nvSpPr>
        <p:spPr>
          <a:xfrm>
            <a:off x="7675042" y="4742917"/>
            <a:ext cx="4148658" cy="1574800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2000" b="1" dirty="0"/>
              <a:t>Lembrete: </a:t>
            </a:r>
            <a:r>
              <a:rPr lang="pt-BR" sz="2000" dirty="0"/>
              <a:t>Macros são regras para substituição de texto processadas antes da compilação do programa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4ADD0CB-6F9A-7F22-064C-AE2B729DD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042" y="1981200"/>
            <a:ext cx="4148658" cy="210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659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1B684-DD65-4CB9-3EDA-AE7F48DC6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9636D00-D5D0-2282-E25B-704F8D39A71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357B32-251C-1372-EC88-1EE211AE8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Fluxo de chamada do módulo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A1C410E-9F04-ED8B-469C-475BB29730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B83B3E3-184B-AD51-583B-AD71E7252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5348"/>
            <a:ext cx="3557492" cy="212794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FDC6F3A-3293-780F-64A8-02C6ADAF2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4532" y="1825348"/>
            <a:ext cx="3487468" cy="2127947"/>
          </a:xfrm>
          <a:prstGeom prst="rect">
            <a:avLst/>
          </a:prstGeom>
        </p:spPr>
      </p:pic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F5046DF4-2CE4-5541-7A6B-1B7FE1278D10}"/>
              </a:ext>
            </a:extLst>
          </p:cNvPr>
          <p:cNvSpPr/>
          <p:nvPr/>
        </p:nvSpPr>
        <p:spPr>
          <a:xfrm>
            <a:off x="7897321" y="3111871"/>
            <a:ext cx="609600" cy="374579"/>
          </a:xfrm>
          <a:prstGeom prst="rightArrow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641FE20A-F65D-700A-6A4A-F6D649C511CB}"/>
              </a:ext>
            </a:extLst>
          </p:cNvPr>
          <p:cNvSpPr/>
          <p:nvPr/>
        </p:nvSpPr>
        <p:spPr>
          <a:xfrm flipH="1">
            <a:off x="3738668" y="3045160"/>
            <a:ext cx="600187" cy="374579"/>
          </a:xfrm>
          <a:prstGeom prst="rightArrow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B615F2B6-2565-13A4-4EBE-F7BED23B00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0031" y="2196763"/>
            <a:ext cx="3179679" cy="1614174"/>
          </a:xfrm>
          <a:prstGeom prst="rect">
            <a:avLst/>
          </a:prstGeom>
        </p:spPr>
      </p:pic>
      <p:sp>
        <p:nvSpPr>
          <p:cNvPr id="16" name="Espaço Reservado para Conteúdo 5">
            <a:extLst>
              <a:ext uri="{FF2B5EF4-FFF2-40B4-BE49-F238E27FC236}">
                <a16:creationId xmlns:a16="http://schemas.microsoft.com/office/drawing/2014/main" id="{864FD3D5-31AD-4B48-8A9A-3A878A5ABDAF}"/>
              </a:ext>
            </a:extLst>
          </p:cNvPr>
          <p:cNvSpPr txBox="1">
            <a:spLocks/>
          </p:cNvSpPr>
          <p:nvPr/>
        </p:nvSpPr>
        <p:spPr>
          <a:xfrm>
            <a:off x="1020158" y="4428293"/>
            <a:ext cx="10151684" cy="2315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pt-BR" sz="2200" dirty="0"/>
              <a:t>Cada arquivo </a:t>
            </a:r>
            <a:r>
              <a:rPr lang="pt-BR" sz="2200" i="1" dirty="0"/>
              <a:t>.c</a:t>
            </a:r>
            <a:r>
              <a:rPr lang="pt-BR" sz="2200" dirty="0"/>
              <a:t> é compilado individualmente.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200" i="1" dirty="0" err="1"/>
              <a:t>main.c</a:t>
            </a:r>
            <a:r>
              <a:rPr lang="pt-BR" sz="2200" dirty="0"/>
              <a:t> precisa incluir </a:t>
            </a:r>
            <a:r>
              <a:rPr lang="pt-BR" sz="2200" i="1" dirty="0" err="1"/>
              <a:t>calculadora.h</a:t>
            </a:r>
            <a:r>
              <a:rPr lang="pt-BR" sz="2200" i="1" dirty="0"/>
              <a:t> para </a:t>
            </a:r>
            <a:r>
              <a:rPr lang="pt-BR" sz="2200" dirty="0"/>
              <a:t>conhecer os elementos de outro módulo.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200" i="1" dirty="0" err="1"/>
              <a:t>calculadora.c</a:t>
            </a:r>
            <a:r>
              <a:rPr lang="pt-BR" sz="2200" i="1" dirty="0"/>
              <a:t> </a:t>
            </a:r>
            <a:r>
              <a:rPr lang="pt-BR" sz="2200" dirty="0"/>
              <a:t>precisa incluir </a:t>
            </a:r>
            <a:r>
              <a:rPr lang="pt-BR" sz="2200" i="1" dirty="0" err="1"/>
              <a:t>calculadora.h</a:t>
            </a:r>
            <a:r>
              <a:rPr lang="pt-BR" sz="2200" i="1" dirty="0"/>
              <a:t> </a:t>
            </a:r>
            <a:r>
              <a:rPr lang="pt-BR" sz="2200" dirty="0"/>
              <a:t>para que a implementação seja verificada de acordo com declaração.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200" dirty="0"/>
              <a:t>O </a:t>
            </a:r>
            <a:r>
              <a:rPr lang="pt-BR" sz="2200" dirty="0" err="1"/>
              <a:t>linker</a:t>
            </a:r>
            <a:r>
              <a:rPr lang="pt-BR" sz="2200" dirty="0"/>
              <a:t> conecta a chamada à implementação durante o processo de linguagem.</a:t>
            </a:r>
          </a:p>
          <a:p>
            <a:pPr marL="0" indent="0">
              <a:buNone/>
            </a:pPr>
            <a:endParaRPr lang="pt-BR" sz="2400" b="1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94051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54313-6B3E-9EEC-A143-14954F74B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4B2291-54CF-C111-552F-5F2E1F422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MÓDULO 6 (parte 2) – tratamento de erros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123271-A70B-C6BA-B94C-D5F950B4A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3AEEC74-5326-7B30-9B17-21C26456D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6820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A21EC-C379-0388-15F3-51F63AECB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7DB9FD9-606B-E8E2-C42B-941FF1FCCD1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8689C4-6279-9D8C-63C4-3AED60CB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Tratamento de Erros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5149923-0C25-ADC3-E2A6-F7D29A3545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104AD140-45E6-760F-4EE2-1941E9AF2F66}"/>
              </a:ext>
            </a:extLst>
          </p:cNvPr>
          <p:cNvSpPr txBox="1">
            <a:spLocks/>
          </p:cNvSpPr>
          <p:nvPr/>
        </p:nvSpPr>
        <p:spPr>
          <a:xfrm>
            <a:off x="1849484" y="2201410"/>
            <a:ext cx="8493032" cy="339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O tratamento de erro em C é feito principalmente por meio de códigos de retorno e variáveis globais.</a:t>
            </a:r>
          </a:p>
          <a:p>
            <a:endParaRPr lang="pt-BR" sz="2400" dirty="0"/>
          </a:p>
          <a:p>
            <a:r>
              <a:rPr lang="pt-BR" sz="2400" dirty="0"/>
              <a:t>A linguagem não possui suporte nativo a blocos</a:t>
            </a:r>
            <a:r>
              <a:rPr lang="pt-BR" sz="2400" i="1" dirty="0"/>
              <a:t> </a:t>
            </a:r>
            <a:r>
              <a:rPr lang="pt-BR" i="1" dirty="0" err="1"/>
              <a:t>try</a:t>
            </a:r>
            <a:r>
              <a:rPr lang="pt-BR" i="1" dirty="0"/>
              <a:t>/catch</a:t>
            </a:r>
            <a:r>
              <a:rPr lang="pt-BR" sz="2400" i="1" dirty="0"/>
              <a:t>.</a:t>
            </a:r>
          </a:p>
          <a:p>
            <a:endParaRPr lang="pt-BR" sz="2400" dirty="0"/>
          </a:p>
          <a:p>
            <a:r>
              <a:rPr lang="pt-BR" sz="2400" dirty="0"/>
              <a:t>Importante destacar que um erro não é necessariamente uma mensagem, ele pode ser representado como dados de retorno.</a:t>
            </a:r>
            <a:endParaRPr lang="pt-BR" sz="2200" dirty="0"/>
          </a:p>
          <a:p>
            <a:endParaRPr lang="pt-BR" sz="2400" b="1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28843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EE94F-DFF1-153C-ADF2-A88D2E996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CA1F330-BAB5-F275-E348-119C9A48355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477444-92DD-F778-D48E-A4DAD88A1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Exemplo de Abordagem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3BBF5EF-8A50-6C3F-E796-9670710647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0AAF32FE-8153-C811-9C19-B3A5F8453483}"/>
              </a:ext>
            </a:extLst>
          </p:cNvPr>
          <p:cNvSpPr txBox="1">
            <a:spLocks/>
          </p:cNvSpPr>
          <p:nvPr/>
        </p:nvSpPr>
        <p:spPr>
          <a:xfrm>
            <a:off x="664047" y="2342640"/>
            <a:ext cx="5898777" cy="4080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A seguinte abordagem não é considerada ideal, por ir contra a filosofia da linguagem.</a:t>
            </a:r>
          </a:p>
          <a:p>
            <a:endParaRPr lang="pt-BR" sz="2400" dirty="0"/>
          </a:p>
          <a:p>
            <a:r>
              <a:rPr lang="pt-BR" sz="2400" dirty="0"/>
              <a:t>Por mais que ela possa funcionar, a função está acumulando responsabilidades:</a:t>
            </a:r>
          </a:p>
          <a:p>
            <a:endParaRPr lang="pt-BR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Calculo da divisão.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Decisão sobre como alertar um erro.</a:t>
            </a:r>
          </a:p>
          <a:p>
            <a:endParaRPr lang="pt-BR" sz="24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9BEADB9-0DB4-BEFD-37D6-8D64A206A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049" y="2928937"/>
            <a:ext cx="5009951" cy="201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509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7E49B-2E31-E9AB-5CAC-37B46F7C3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D20DB6D-258F-4EE5-26E5-6B223ECDD1D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18AC84-87AC-4EE3-39FF-7A77A83CB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Tratamento do Erro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F852EFC-A6E4-CE3F-C852-493CB9EE6F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F80F6A02-F798-D0CA-B42C-628304FCA710}"/>
              </a:ext>
            </a:extLst>
          </p:cNvPr>
          <p:cNvSpPr txBox="1">
            <a:spLocks/>
          </p:cNvSpPr>
          <p:nvPr/>
        </p:nvSpPr>
        <p:spPr>
          <a:xfrm>
            <a:off x="609601" y="1615744"/>
            <a:ext cx="6197600" cy="5128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dirty="0"/>
              <a:t>A abordagem ideal para o tratamento de erros consiste no uso do retorno  da função.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A função </a:t>
            </a:r>
            <a:r>
              <a:rPr lang="pt-BR" sz="2200" i="1" dirty="0" err="1"/>
              <a:t>main</a:t>
            </a:r>
            <a:r>
              <a:rPr lang="pt-BR" sz="2200" i="1" dirty="0"/>
              <a:t>() </a:t>
            </a:r>
            <a:r>
              <a:rPr lang="pt-BR" sz="2200" dirty="0"/>
              <a:t>decide a forma de informar o erro. A função da divisão fica exclusiva para o cálculo.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É possível estabelecer uma convenção para o código de retorno, por exemplo:</a:t>
            </a:r>
          </a:p>
          <a:p>
            <a:endParaRPr lang="pt-BR" sz="2200" i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i="1" dirty="0"/>
              <a:t>0 → sucesso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i="1" dirty="0"/>
              <a:t>1 → divisão por zero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i="1" dirty="0"/>
              <a:t>(...)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i="1" dirty="0"/>
              <a:t>n → </a:t>
            </a:r>
            <a:r>
              <a:rPr lang="pt-BR" sz="2200" i="1" dirty="0" err="1"/>
              <a:t>etc</a:t>
            </a:r>
            <a:endParaRPr lang="pt-BR" sz="2200" i="1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EF3C69B-842B-56D8-CA23-A34FFB751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852" y="1926934"/>
            <a:ext cx="4924124" cy="188948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6DDE54F-377E-71CA-BB7E-6952F4A18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852" y="4352162"/>
            <a:ext cx="4924124" cy="1952877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D8B9E2F4-B12F-765B-58FF-AA62B372F168}"/>
              </a:ext>
            </a:extLst>
          </p:cNvPr>
          <p:cNvSpPr txBox="1"/>
          <p:nvPr/>
        </p:nvSpPr>
        <p:spPr>
          <a:xfrm>
            <a:off x="8657531" y="1526276"/>
            <a:ext cx="190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Módulo da função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A6849BF-8F7A-E560-EC10-64841A6184C9}"/>
              </a:ext>
            </a:extLst>
          </p:cNvPr>
          <p:cNvSpPr txBox="1"/>
          <p:nvPr/>
        </p:nvSpPr>
        <p:spPr>
          <a:xfrm>
            <a:off x="8715078" y="3899626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Módulo principal</a:t>
            </a:r>
          </a:p>
        </p:txBody>
      </p:sp>
    </p:spTree>
    <p:extLst>
      <p:ext uri="{BB962C8B-B14F-4D97-AF65-F5344CB8AC3E}">
        <p14:creationId xmlns:p14="http://schemas.microsoft.com/office/powerpoint/2010/main" val="1737118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F7ED4-6A7B-4B7F-951E-FE28B0235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4D87F9D-5015-831E-0D14-AFDDE44F091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60AD46-FE88-1E76-D027-F47C70C25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Padronização dos erros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DA6789B-1270-C6B3-74CA-F9B3032850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25D022CD-2CDE-EF69-E575-3596524B700F}"/>
              </a:ext>
            </a:extLst>
          </p:cNvPr>
          <p:cNvSpPr txBox="1">
            <a:spLocks/>
          </p:cNvSpPr>
          <p:nvPr/>
        </p:nvSpPr>
        <p:spPr>
          <a:xfrm>
            <a:off x="2986911" y="1672743"/>
            <a:ext cx="6919939" cy="1191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400" dirty="0"/>
              <a:t>Pode ser criado um módulo dedicado à organização padronizada dos códigos de erro: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D389191-764D-72DD-91DB-5382A20C7D5F}"/>
              </a:ext>
            </a:extLst>
          </p:cNvPr>
          <p:cNvSpPr txBox="1"/>
          <p:nvPr/>
        </p:nvSpPr>
        <p:spPr>
          <a:xfrm>
            <a:off x="521789" y="3808655"/>
            <a:ext cx="2948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Arquivo de Cabeçalho </a:t>
            </a:r>
            <a:r>
              <a:rPr lang="pt-BR" dirty="0" err="1"/>
              <a:t>erros.h</a:t>
            </a:r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CDDBEA4-BCB9-FF68-CBD1-A97F904B718B}"/>
              </a:ext>
            </a:extLst>
          </p:cNvPr>
          <p:cNvSpPr txBox="1"/>
          <p:nvPr/>
        </p:nvSpPr>
        <p:spPr>
          <a:xfrm>
            <a:off x="4547336" y="2936151"/>
            <a:ext cx="3434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Arquivo de implementação </a:t>
            </a:r>
            <a:r>
              <a:rPr lang="pt-BR" dirty="0" err="1"/>
              <a:t>erros.c</a:t>
            </a:r>
            <a:endParaRPr lang="pt-BR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B5D901A-F5B7-E48E-6319-38101E005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22" y="4202858"/>
            <a:ext cx="3484298" cy="2268171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0A7D767F-118A-9285-4919-AFCCAC3BF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6031" y="3379361"/>
            <a:ext cx="4979214" cy="3091668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84215119-959D-8183-2580-9D141101A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5779" y="4202858"/>
            <a:ext cx="3289299" cy="2268171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9A378192-86DE-59FD-0D2B-EA7887F73074}"/>
              </a:ext>
            </a:extLst>
          </p:cNvPr>
          <p:cNvSpPr txBox="1"/>
          <p:nvPr/>
        </p:nvSpPr>
        <p:spPr>
          <a:xfrm>
            <a:off x="9217438" y="3833525"/>
            <a:ext cx="2458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Arquivo principal </a:t>
            </a:r>
            <a:r>
              <a:rPr lang="pt-BR" dirty="0" err="1"/>
              <a:t>main.c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8099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DE988-EFC6-A324-2D0F-5D6743C92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7604A57-223B-35D2-7210-FBEDB5B8CC1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4D2284-F41C-BF73-005D-0DA72240E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Ferramenta &lt;</a:t>
            </a:r>
            <a:r>
              <a:rPr lang="pt-BR" dirty="0" err="1">
                <a:solidFill>
                  <a:schemeClr val="bg1"/>
                </a:solidFill>
              </a:rPr>
              <a:t>errno.h</a:t>
            </a:r>
            <a:r>
              <a:rPr lang="pt-BR" dirty="0">
                <a:solidFill>
                  <a:schemeClr val="bg1"/>
                </a:solidFill>
              </a:rPr>
              <a:t>&gt;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0E78662-50BA-E998-97A5-60D1ACD15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41F8F00F-6E2B-F412-82EA-C9FB520BFA1B}"/>
              </a:ext>
            </a:extLst>
          </p:cNvPr>
          <p:cNvSpPr txBox="1">
            <a:spLocks/>
          </p:cNvSpPr>
          <p:nvPr/>
        </p:nvSpPr>
        <p:spPr>
          <a:xfrm>
            <a:off x="1206500" y="1455640"/>
            <a:ext cx="10413999" cy="2125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400" b="1" i="1" dirty="0" err="1"/>
              <a:t>errno</a:t>
            </a:r>
            <a:r>
              <a:rPr lang="pt-BR" sz="2400" dirty="0"/>
              <a:t> é um mecanismo definido pela biblioteca padrão C que determinadas funções podem utilizar para indicar informações adicionais sobre erros. 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O programador também pode utilizar </a:t>
            </a:r>
            <a:r>
              <a:rPr lang="pt-BR" sz="2400" b="1" i="1" dirty="0" err="1"/>
              <a:t>errno</a:t>
            </a:r>
            <a:r>
              <a:rPr lang="pt-BR" sz="2400" dirty="0"/>
              <a:t> em uma função própria, desde que estabeleça uma convenção apropriada.</a:t>
            </a:r>
            <a:endParaRPr lang="pt-BR" sz="22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B80E6D8-A244-84CC-8692-2CBA9CA1C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522" y="3934026"/>
            <a:ext cx="4151503" cy="294348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902EB85-B47B-B9BB-C8C9-AEE141F3A30E}"/>
              </a:ext>
            </a:extLst>
          </p:cNvPr>
          <p:cNvSpPr txBox="1"/>
          <p:nvPr/>
        </p:nvSpPr>
        <p:spPr>
          <a:xfrm>
            <a:off x="6790571" y="3850418"/>
            <a:ext cx="4151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problema é que valores numéricos não são muito informativos para o usuário.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299BF35-DC01-C47C-5361-593692C1EF72}"/>
              </a:ext>
            </a:extLst>
          </p:cNvPr>
          <p:cNvSpPr txBox="1"/>
          <p:nvPr/>
        </p:nvSpPr>
        <p:spPr>
          <a:xfrm>
            <a:off x="6790571" y="4911669"/>
            <a:ext cx="4151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Existem mecanismos para transformar o código de </a:t>
            </a:r>
            <a:r>
              <a:rPr lang="pt-BR" i="1" dirty="0" err="1"/>
              <a:t>errno</a:t>
            </a:r>
            <a:r>
              <a:rPr lang="pt-BR" dirty="0"/>
              <a:t> em mensagens explicitas.</a:t>
            </a: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3CAC143E-C942-1A7F-6C1B-9E3430FE97AE}"/>
              </a:ext>
            </a:extLst>
          </p:cNvPr>
          <p:cNvSpPr/>
          <p:nvPr/>
        </p:nvSpPr>
        <p:spPr>
          <a:xfrm>
            <a:off x="5943600" y="4014833"/>
            <a:ext cx="511443" cy="317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FD54541D-689D-6B40-A996-8016CB3A54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782" t="37253" r="4162" b="28320"/>
          <a:stretch>
            <a:fillRect/>
          </a:stretch>
        </p:blipFill>
        <p:spPr>
          <a:xfrm>
            <a:off x="6790571" y="5807509"/>
            <a:ext cx="3480821" cy="1050491"/>
          </a:xfrm>
          <a:prstGeom prst="rect">
            <a:avLst/>
          </a:prstGeom>
        </p:spPr>
      </p:pic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5D325F9A-0D14-1288-D2B6-F7D865AE23F8}"/>
              </a:ext>
            </a:extLst>
          </p:cNvPr>
          <p:cNvSpPr/>
          <p:nvPr/>
        </p:nvSpPr>
        <p:spPr>
          <a:xfrm>
            <a:off x="5943600" y="5076084"/>
            <a:ext cx="511443" cy="317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0226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A7662-40E1-22CF-8FCC-E16FF357D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D0851E2-C7A4-1C61-C923-A633A99EF8E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F13D41-ADB5-E8EA-38C8-63FA2837B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Modelo de tratamento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B5FBC1A-B12B-C913-B439-BB6425F8CE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2FCF7842-BBC6-9F98-A0D6-1C6CA2A29F4F}"/>
              </a:ext>
            </a:extLst>
          </p:cNvPr>
          <p:cNvSpPr txBox="1">
            <a:spLocks/>
          </p:cNvSpPr>
          <p:nvPr/>
        </p:nvSpPr>
        <p:spPr>
          <a:xfrm>
            <a:off x="2571749" y="1813598"/>
            <a:ext cx="7048501" cy="4813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pt-BR" sz="2400" dirty="0"/>
          </a:p>
          <a:p>
            <a:pPr algn="just"/>
            <a:r>
              <a:rPr lang="pt-BR" sz="2400" dirty="0"/>
              <a:t>Observação: </a:t>
            </a:r>
            <a:r>
              <a:rPr lang="pt-BR" sz="2400" i="1" dirty="0" err="1"/>
              <a:t>errno</a:t>
            </a:r>
            <a:r>
              <a:rPr lang="pt-BR" sz="2400" dirty="0"/>
              <a:t> não é um sistema completo de tratamento de erros (C não possui exceções nativas).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O modelo tradicional de C é manual, baseado em:</a:t>
            </a:r>
          </a:p>
          <a:p>
            <a:pPr marL="514350" indent="-514350" algn="just">
              <a:buFont typeface="+mj-lt"/>
              <a:buAutoNum type="romanUcPeriod"/>
            </a:pPr>
            <a:endParaRPr lang="pt-BR" sz="2200" dirty="0"/>
          </a:p>
          <a:p>
            <a:pPr marL="971550" lvl="1" indent="-514350" algn="just">
              <a:buFont typeface="+mj-lt"/>
              <a:buAutoNum type="romanUcPeriod"/>
            </a:pPr>
            <a:r>
              <a:rPr lang="pt-BR" sz="2200" dirty="0"/>
              <a:t>Retorno da função.</a:t>
            </a:r>
          </a:p>
          <a:p>
            <a:pPr marL="971550" lvl="1" indent="-514350" algn="just">
              <a:buFont typeface="+mj-lt"/>
              <a:buAutoNum type="romanUcPeriod"/>
            </a:pPr>
            <a:r>
              <a:rPr lang="pt-BR" sz="2200" dirty="0"/>
              <a:t>Informação adicional.</a:t>
            </a:r>
          </a:p>
          <a:p>
            <a:pPr marL="971550" lvl="1" indent="-514350" algn="just">
              <a:buFont typeface="+mj-lt"/>
              <a:buAutoNum type="romanUcPeriod"/>
            </a:pPr>
            <a:r>
              <a:rPr lang="pt-BR" sz="2200" i="1" dirty="0" err="1"/>
              <a:t>errno</a:t>
            </a:r>
            <a:r>
              <a:rPr lang="pt-BR" sz="2200" dirty="0"/>
              <a:t>, quando aplicável.</a:t>
            </a:r>
          </a:p>
        </p:txBody>
      </p:sp>
    </p:spTree>
    <p:extLst>
      <p:ext uri="{BB962C8B-B14F-4D97-AF65-F5344CB8AC3E}">
        <p14:creationId xmlns:p14="http://schemas.microsoft.com/office/powerpoint/2010/main" val="886105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02EF5-A58D-E287-1C68-944DB4D6E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909DF9B-2DC1-1C9D-06C6-6F4C6CF9946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676A8F-2FBC-956F-017C-512EE781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Observação: Biblioteca padrão em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5857CBE-0F71-C711-0A84-C063B9C624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FBB7085E-82E2-3F94-0DAF-40469EDF517C}"/>
              </a:ext>
            </a:extLst>
          </p:cNvPr>
          <p:cNvSpPr txBox="1">
            <a:spLocks/>
          </p:cNvSpPr>
          <p:nvPr/>
        </p:nvSpPr>
        <p:spPr>
          <a:xfrm>
            <a:off x="2038350" y="1552243"/>
            <a:ext cx="8115300" cy="987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400" dirty="0"/>
              <a:t>A biblioteca padrão é um conjunto oficial de funções e macros que realizam tarefas essenciais e comuns na linguagem C</a:t>
            </a:r>
          </a:p>
          <a:p>
            <a:pPr marL="0" indent="0" algn="just">
              <a:buNone/>
            </a:pPr>
            <a:endParaRPr lang="pt-BR" sz="24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BA4E84F3-5D2D-33B2-29E8-A613E485B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780" y="3193963"/>
            <a:ext cx="4388220" cy="3030712"/>
          </a:xfrm>
          <a:prstGeom prst="rect">
            <a:avLst/>
          </a:prstGeom>
        </p:spPr>
      </p:pic>
      <p:sp>
        <p:nvSpPr>
          <p:cNvPr id="4" name="Espaço Reservado para Conteúdo 5">
            <a:extLst>
              <a:ext uri="{FF2B5EF4-FFF2-40B4-BE49-F238E27FC236}">
                <a16:creationId xmlns:a16="http://schemas.microsoft.com/office/drawing/2014/main" id="{D06CDC54-7261-1DF8-8787-4603A2657658}"/>
              </a:ext>
            </a:extLst>
          </p:cNvPr>
          <p:cNvSpPr txBox="1">
            <a:spLocks/>
          </p:cNvSpPr>
          <p:nvPr/>
        </p:nvSpPr>
        <p:spPr>
          <a:xfrm>
            <a:off x="158750" y="3007289"/>
            <a:ext cx="7346580" cy="3791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dirty="0"/>
              <a:t>A biblioteca padrão está </a:t>
            </a:r>
            <a:r>
              <a:rPr lang="pt-BR" sz="2200" dirty="0" err="1"/>
              <a:t>sub-dividida</a:t>
            </a:r>
            <a:r>
              <a:rPr lang="pt-BR" sz="2200" dirty="0"/>
              <a:t> em:</a:t>
            </a:r>
          </a:p>
          <a:p>
            <a:pPr algn="just"/>
            <a:endParaRPr lang="pt-BR" sz="2000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b="1" dirty="0" err="1"/>
              <a:t>stdio.h</a:t>
            </a:r>
            <a:r>
              <a:rPr lang="pt-BR" sz="2200" b="1" dirty="0"/>
              <a:t>:</a:t>
            </a:r>
            <a:r>
              <a:rPr lang="pt-BR" sz="2200" dirty="0"/>
              <a:t> Controle sobre a entrada e saída de dados.</a:t>
            </a:r>
            <a:endParaRPr lang="pt-BR" sz="2200" b="1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b="1" dirty="0" err="1"/>
              <a:t>string.h</a:t>
            </a:r>
            <a:r>
              <a:rPr lang="pt-BR" sz="2200" b="1" dirty="0"/>
              <a:t>:</a:t>
            </a:r>
            <a:r>
              <a:rPr lang="pt-BR" sz="2200" dirty="0"/>
              <a:t> Manipulação de </a:t>
            </a:r>
            <a:r>
              <a:rPr lang="pt-BR" sz="2200" i="1" dirty="0" err="1"/>
              <a:t>strings</a:t>
            </a:r>
            <a:r>
              <a:rPr lang="pt-BR" sz="2200" dirty="0"/>
              <a:t> e textos.</a:t>
            </a:r>
            <a:endParaRPr lang="pt-BR" sz="2200" b="1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b="1" dirty="0" err="1"/>
              <a:t>math.h</a:t>
            </a:r>
            <a:r>
              <a:rPr lang="pt-BR" sz="2200" b="1" dirty="0"/>
              <a:t>: </a:t>
            </a:r>
            <a:r>
              <a:rPr lang="pt-BR" sz="2200" dirty="0"/>
              <a:t>Realização de cálculos matemáticos avançados.</a:t>
            </a:r>
            <a:endParaRPr lang="pt-BR" sz="2200" b="1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b="1" dirty="0" err="1"/>
              <a:t>time.h</a:t>
            </a:r>
            <a:r>
              <a:rPr lang="pt-BR" sz="2200" b="1" dirty="0"/>
              <a:t>:</a:t>
            </a:r>
            <a:r>
              <a:rPr lang="pt-BR" sz="2200" dirty="0"/>
              <a:t> Gerenciamento de funções de data e hora.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b="1" dirty="0" err="1"/>
              <a:t>stdlib.h</a:t>
            </a:r>
            <a:r>
              <a:rPr lang="pt-BR" sz="2200" b="1" dirty="0"/>
              <a:t>: </a:t>
            </a:r>
            <a:r>
              <a:rPr lang="pt-BR" sz="2200" dirty="0"/>
              <a:t>Gerenciamento da alocação de memória, conversões e números aleatórios 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dirty="0"/>
              <a:t>etc</a:t>
            </a:r>
            <a:r>
              <a:rPr lang="pt-BR" sz="2200" b="1" dirty="0"/>
              <a:t>.</a:t>
            </a:r>
          </a:p>
          <a:p>
            <a:pPr lvl="1" algn="just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marL="0" indent="0" algn="just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7707704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Paco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2643</TotalTime>
  <Words>1057</Words>
  <Application>Microsoft Office PowerPoint</Application>
  <PresentationFormat>Widescreen</PresentationFormat>
  <Paragraphs>140</Paragraphs>
  <Slides>17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Gill Sans MT</vt:lpstr>
      <vt:lpstr>Wingdings</vt:lpstr>
      <vt:lpstr>Tema do Office</vt:lpstr>
      <vt:lpstr>Pacote</vt:lpstr>
      <vt:lpstr>MÓDULO 6 (parte 1) – Modularização</vt:lpstr>
      <vt:lpstr>Objetivos da Aula</vt:lpstr>
      <vt:lpstr>Modularização</vt:lpstr>
      <vt:lpstr>Modularização</vt:lpstr>
      <vt:lpstr>Modularização</vt:lpstr>
      <vt:lpstr>Headers</vt:lpstr>
      <vt:lpstr>Header Guards</vt:lpstr>
      <vt:lpstr>Header Guards</vt:lpstr>
      <vt:lpstr>Fluxo de chamada do módulo</vt:lpstr>
      <vt:lpstr>MÓDULO 6 (parte 2) – tratamento de erros</vt:lpstr>
      <vt:lpstr>Tratamento de Erros</vt:lpstr>
      <vt:lpstr>Exemplo de Abordagem</vt:lpstr>
      <vt:lpstr>Tratamento do Erro</vt:lpstr>
      <vt:lpstr>Padronização dos erros</vt:lpstr>
      <vt:lpstr>Ferramenta &lt;errno.h&gt;</vt:lpstr>
      <vt:lpstr>Modelo de tratamento</vt:lpstr>
      <vt:lpstr>Observação: Biblioteca padrão em 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138</cp:revision>
  <dcterms:created xsi:type="dcterms:W3CDTF">2026-07-26T12:48:37Z</dcterms:created>
  <dcterms:modified xsi:type="dcterms:W3CDTF">2026-09-07T20:36:07Z</dcterms:modified>
</cp:coreProperties>
</file>