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4" r:id="rId2"/>
  </p:sldMasterIdLst>
  <p:notesMasterIdLst>
    <p:notesMasterId r:id="rId16"/>
  </p:notesMasterIdLst>
  <p:sldIdLst>
    <p:sldId id="307" r:id="rId3"/>
    <p:sldId id="309" r:id="rId4"/>
    <p:sldId id="310" r:id="rId5"/>
    <p:sldId id="311" r:id="rId6"/>
    <p:sldId id="318" r:id="rId7"/>
    <p:sldId id="317" r:id="rId8"/>
    <p:sldId id="313" r:id="rId9"/>
    <p:sldId id="314" r:id="rId10"/>
    <p:sldId id="315" r:id="rId11"/>
    <p:sldId id="316" r:id="rId12"/>
    <p:sldId id="319" r:id="rId13"/>
    <p:sldId id="320" r:id="rId14"/>
    <p:sldId id="321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72C4"/>
    <a:srgbClr val="FFFFFF"/>
    <a:srgbClr val="172C51"/>
    <a:srgbClr val="7DA7D8"/>
    <a:srgbClr val="2F8D46"/>
    <a:srgbClr val="E1FFE7"/>
    <a:srgbClr val="418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9374" autoAdjust="0"/>
  </p:normalViewPr>
  <p:slideViewPr>
    <p:cSldViewPr snapToGrid="0">
      <p:cViewPr varScale="1">
        <p:scale>
          <a:sx n="101" d="100"/>
          <a:sy n="101" d="100"/>
        </p:scale>
        <p:origin x="93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03497-8374-466E-85FA-95E1138D8F6E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36A49-A1DD-40F8-B8AD-E6F5365256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028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E6A6C-4C26-65C3-6FE4-78F80AC27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280B0AB-DAAD-0F0C-64A5-30C4C6D8D6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683D4E3-B254-14E5-FB80-B6DE545867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F0CF4A9-8229-54B0-3693-37332ED098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80332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55AA4-15C9-4392-2C36-5537FC4FA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185CE4C-176F-E9D6-8F8E-3C424615BE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275CE0D-D610-3DB9-36A8-0D09C87C7C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2059507-A1C4-74B4-07DB-7D263601A0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66839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E370E-0AF5-597F-325E-2CB673B69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C89A2B6-4B88-54BE-1B78-A9129796D6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CFA35D1-0C36-5009-343E-65C3BAD069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5A241A9-B91A-143E-8FC7-551F57024A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8520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C2630-8D6C-A078-00FD-AE00DA6CE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454EEF3-0193-48BC-9DAC-26D4049FCA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899F6C6-2553-6FE1-2769-71C5655DB4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A7EDF79-0E60-C31C-0F58-853809784C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1658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DC719-D8E7-BEC3-45B8-090058C88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52A08B2-94ED-CB66-03CD-7F7376E218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FE3B54D-28DD-4A81-1010-1589ADE29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9A23485-9B6E-E06F-360A-04C72C03D9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4947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F87BB-B809-6513-771C-C1B2A0CE7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15A4034-38BF-4723-B20E-16EF4F97C9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BC52574-53A4-8330-CE9E-6FECAEBCD2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FA32CB9-CA76-08A7-51FE-49E564499E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86311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AFA22-BB34-C32C-7CDB-0C0BB84FB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9A9155C-94C0-CA05-DE36-93006F3734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A275341-4720-4E07-8CC6-A826E0A849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8C23607-0A2D-61AD-0E98-61EC17F8AF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29552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0B49D-A621-FA1A-AB8A-FC308DAA9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461E9CB-CC5B-379B-6E29-36A2FA383D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CDAF66E-087E-0119-4DB9-42E5914F04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834A62B-96E7-F41C-CDBB-B113F264F3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55470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4C6C1-40A4-496F-1C01-D2A3BC009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13F927E-DED1-6577-B619-3AAE64C34B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F4B22BF-0000-E622-CA9F-7E006F4984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27BDE3A-5752-5A3E-2515-E8B086E551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11617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8D6CE-ACDE-025D-8B50-52D9DA525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1471D3C-0573-01B3-1E01-70736E478E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6ED4FE7-45AE-09A5-8EC0-E34B902897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427C7A6-062E-8BCD-3C33-5BD6300B17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71252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27A3-5FA9-B39B-5B4E-B1EDC2F48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7C76195-3611-8659-165C-C33B21E315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9CC1D02-DCF6-563B-179A-3902E6DE82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82090A1-0798-F9AF-F056-E405534A34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59873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C8612-8EA9-CE69-E204-0CB4A2881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79A9D82-9E5F-ACBD-F8EA-81D9EAD220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9D34913-744B-1418-1370-44BC352526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70BA993-0462-549A-1B19-A9E4448497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7888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9B856-A0BC-D210-1737-D966320C0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33AAC6-2469-CA4A-EC71-9377AF26B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A0F87A-0C4B-6CED-A923-69297968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A1D701-1F2B-F9DB-3467-1E702506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D3A131-BC6D-009A-1316-11C0D511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44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3BFD2-F256-47DF-B808-ACC0E3CF5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B715E3-1B62-B718-0545-18D1860ED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0F8541-A06F-A96B-9C7B-7B6775D69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9E2F6F-2F51-FB58-B282-FF6552915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4CA48A-0835-7D5D-0C5C-4C7E737E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7B632-00A4-041E-134C-3945EC5F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8B5D6A-FCFF-76AF-3B41-CBCC1C30C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A63B6D-65C2-A8BA-7A75-E7BFF8AEE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2149EC-9298-99F7-4DF2-9F897526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D0D51F-3496-83FE-F993-6F3C5B11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549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630C98-DF9F-EDDF-13FE-19484E4CE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DBEED7-86EF-7D00-9D5B-35BED814DF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4CFBCA-7118-0084-2BFD-AB37CB71E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1CCABC-FE63-8FD2-5554-56984A3C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8125A-07B7-CBA7-1A67-B800BA64C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3A3AF-1DE0-4AD3-272B-485CC6D8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3329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E8815-ABA0-CB0F-583F-E97EB7B59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E8AD69-3F40-C1E3-9580-6371DC13C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5D54DCD-A467-392C-7882-9A1F2699C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1F29C69-1D15-E7B8-95EE-E358ABDD2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DD9B3A3-CEB4-374A-3FA1-C3BD23A5E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B6B5B5-5DE0-2665-4666-5A565F02F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272278B-CB99-E2F9-7531-401CE1BF3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50092DA-D538-B982-0833-39924176B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19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64F77-C07B-657B-DE18-927ED3DD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1F6EABF-1DF7-2F1B-A964-4AFF92830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9E70771-5A68-7380-1FAC-A7D89E01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58ABD1-E925-1590-6C8E-DFC75A7B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11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C0372F4-7179-777F-1E51-88AB1A64E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7D26EF-C956-F4CD-8145-1C415DFC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3EA769-C25E-4FD8-7E9E-E604C8529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733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A3AA1-798F-3AA2-B6BB-62D9B3824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8C13AA-9014-6117-7A37-A036F09F8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84FAC68-54B7-EFCE-9620-BC6F67419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950BCB-3838-1B1C-112C-A644060F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8779FA-261C-A76B-DBC7-DB58B8C1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B5AFCC-7631-7153-2CC4-B4689FB8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81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E3E92-DCFD-D54F-EB9D-EF97B8981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CA9DF57-38D6-FEBE-B65C-3AF4E429E9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17E586-D1EC-101C-F876-DEE5A2C81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655D0E-B1E7-844D-7A98-DA49B4EC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538A87-1978-7251-4706-04805D27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8910AE-1487-27DE-EE72-B1B0DB53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33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4BC46-0BF2-E806-F16A-DB5D201D6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D14E5E-509B-F711-3B25-614C8C3BC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81C6A8-9DA7-0C1F-372D-B2C9FD24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FE38E9-C9A5-2C3E-744D-E323F97B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D1C984-499C-C6BA-9715-0B7BEAC9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243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40F235-1569-6ED0-A5F0-7DA432452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DB6C81-CE19-AE0C-8D05-2FBC65679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D43C4D-693E-5D37-DE0F-919B77DE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D2A9D6-4B21-E9D7-968B-F18C6469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010A06-B61B-8C4F-3894-CA75C019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0486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257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8358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55726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68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748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93288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79982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8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2544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998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945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29C4ED7-C003-33C2-9CEB-2E975031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30AEA1-DE82-52D0-65A9-766B9E2D2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2E4FEE-859A-D6B3-CF41-EDFF0B1CDE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9F3FAC-49A4-4E94-C84A-41786DC2C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435549-C584-1997-7B0B-6DC079118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694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31/08/2026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919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2FD76-F19C-3B8C-0470-C7D142601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2B873-06AF-C3DE-2B4B-567D739D1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4919"/>
            <a:ext cx="12192000" cy="1808162"/>
          </a:xfrm>
          <a:ln>
            <a:noFill/>
          </a:ln>
        </p:spPr>
        <p:txBody>
          <a:bodyPr/>
          <a:lstStyle/>
          <a:p>
            <a:r>
              <a:rPr lang="pt-BR" dirty="0"/>
              <a:t>MÓDULO 5 – Vetores unidimensionais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B3AE6F-2432-A013-F69D-065ABFAD09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2" y="5207000"/>
            <a:ext cx="6801612" cy="1651000"/>
          </a:xfrm>
        </p:spPr>
        <p:txBody>
          <a:bodyPr/>
          <a:lstStyle/>
          <a:p>
            <a:r>
              <a:rPr lang="pt-BR" dirty="0"/>
              <a:t>Universidade de Uberaba</a:t>
            </a:r>
          </a:p>
          <a:p>
            <a:r>
              <a:rPr lang="pt-BR" dirty="0"/>
              <a:t>Marcio Salmazo Ramos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0393744B-665F-C7B8-E211-4FDD9DDA5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48" y="447153"/>
            <a:ext cx="3517900" cy="9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6744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27E4C-5AD4-C29D-16D9-8F1B01DEE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C0C5335F-DD51-6910-390A-D7E780E8D7DC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15FD6E1-4085-8019-7523-D504C8D8E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Vetores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7EAD2AB3-FC19-84DD-2107-4EB1CBD799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675DCFF3-AB50-1B87-6E88-FBE2EF735A07}"/>
              </a:ext>
            </a:extLst>
          </p:cNvPr>
          <p:cNvSpPr txBox="1">
            <a:spLocks/>
          </p:cNvSpPr>
          <p:nvPr/>
        </p:nvSpPr>
        <p:spPr>
          <a:xfrm>
            <a:off x="2408424" y="1631243"/>
            <a:ext cx="7375151" cy="4769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b="1" dirty="0"/>
              <a:t>Definição:</a:t>
            </a:r>
          </a:p>
          <a:p>
            <a:endParaRPr lang="pt-BR" sz="2400" b="1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000" dirty="0"/>
              <a:t>É uma estrutura de dados que guarda vários valores do mesmo tipo em posições de memória seguidas.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pt-BR" sz="2000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000" dirty="0"/>
              <a:t>Os vetores resolvem a inconveniência de declarar múltiplas variáveis do mesmo tipo em um mesmo contexto:</a:t>
            </a:r>
          </a:p>
          <a:p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endParaRPr lang="pt-BR" sz="2400" dirty="0"/>
          </a:p>
          <a:p>
            <a:endParaRPr lang="pt-BR" sz="2400" dirty="0"/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BE75A203-3E93-5AEF-E729-F413C36C5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9024" y="4881478"/>
            <a:ext cx="7706801" cy="1209844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D4D7550D-8E20-F424-F787-5E5DAF1F89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174" y="4367056"/>
            <a:ext cx="3658111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718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E76DA-6081-CC0F-2329-08DFC6672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9BCCB953-1CA8-1347-0B58-97852583B8E0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A4D9687-6657-39C8-0F69-2C90A84CC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Declaração de Vetores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58A73395-A188-26D6-E6BB-473913822F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F0BE6696-43E0-9A17-B1D4-DBBC72491283}"/>
              </a:ext>
            </a:extLst>
          </p:cNvPr>
          <p:cNvSpPr txBox="1">
            <a:spLocks/>
          </p:cNvSpPr>
          <p:nvPr/>
        </p:nvSpPr>
        <p:spPr>
          <a:xfrm>
            <a:off x="2827524" y="2172142"/>
            <a:ext cx="7375151" cy="38762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b="1" dirty="0"/>
              <a:t>Sintaxe básica:</a:t>
            </a:r>
          </a:p>
          <a:p>
            <a:endParaRPr lang="pt-BR" sz="2400" b="1" dirty="0"/>
          </a:p>
          <a:p>
            <a:pPr lvl="1">
              <a:buFont typeface="Courier New" panose="02070309020205020404" pitchFamily="49" charset="0"/>
              <a:buChar char="o"/>
            </a:pPr>
            <a:r>
              <a:rPr lang="pt-BR" sz="2000" dirty="0">
                <a:solidFill>
                  <a:srgbClr val="0070C0"/>
                </a:solidFill>
              </a:rPr>
              <a:t>Tipo</a:t>
            </a:r>
            <a:r>
              <a:rPr lang="pt-BR" sz="2000" dirty="0"/>
              <a:t> </a:t>
            </a:r>
            <a:r>
              <a:rPr lang="pt-BR" sz="2000" dirty="0">
                <a:solidFill>
                  <a:srgbClr val="00B050"/>
                </a:solidFill>
              </a:rPr>
              <a:t>nome</a:t>
            </a:r>
            <a:r>
              <a:rPr lang="pt-BR" sz="2000" dirty="0"/>
              <a:t>[</a:t>
            </a:r>
            <a:r>
              <a:rPr lang="pt-BR" sz="2000" dirty="0" err="1">
                <a:solidFill>
                  <a:srgbClr val="FF0000"/>
                </a:solidFill>
              </a:rPr>
              <a:t>quantidade_de_valores</a:t>
            </a:r>
            <a:r>
              <a:rPr lang="pt-BR" sz="2000" dirty="0"/>
              <a:t>];</a:t>
            </a:r>
          </a:p>
          <a:p>
            <a:pPr marL="457200" lvl="1" indent="0">
              <a:buNone/>
            </a:pPr>
            <a:endParaRPr lang="pt-BR" sz="2000" dirty="0"/>
          </a:p>
          <a:p>
            <a:pPr marL="457200" lvl="1" indent="0">
              <a:buNone/>
            </a:pPr>
            <a:r>
              <a:rPr lang="pt-BR" sz="2000" dirty="0"/>
              <a:t>Exemplos:</a:t>
            </a:r>
          </a:p>
          <a:p>
            <a:pPr lvl="1"/>
            <a:endParaRPr lang="pt-BR" sz="2000" dirty="0"/>
          </a:p>
          <a:p>
            <a:pPr lvl="2"/>
            <a:r>
              <a:rPr lang="pt-BR" dirty="0" err="1"/>
              <a:t>int</a:t>
            </a:r>
            <a:r>
              <a:rPr lang="pt-BR" dirty="0"/>
              <a:t> </a:t>
            </a:r>
            <a:r>
              <a:rPr lang="pt-BR" dirty="0" err="1"/>
              <a:t>numeros</a:t>
            </a:r>
            <a:r>
              <a:rPr lang="pt-BR" dirty="0"/>
              <a:t>[10];</a:t>
            </a:r>
          </a:p>
          <a:p>
            <a:pPr lvl="2"/>
            <a:r>
              <a:rPr lang="pt-BR" dirty="0" err="1"/>
              <a:t>float</a:t>
            </a:r>
            <a:r>
              <a:rPr lang="pt-BR" dirty="0"/>
              <a:t> notas[5];</a:t>
            </a:r>
          </a:p>
          <a:p>
            <a:pPr lvl="2"/>
            <a:r>
              <a:rPr lang="pt-BR" dirty="0"/>
              <a:t>char letras[26]; </a:t>
            </a:r>
            <a:r>
              <a:rPr lang="pt-BR" dirty="0">
                <a:sym typeface="Wingdings" panose="05000000000000000000" pitchFamily="2" charset="2"/>
              </a:rPr>
              <a:t> </a:t>
            </a:r>
            <a:r>
              <a:rPr lang="pt-BR" dirty="0" err="1">
                <a:sym typeface="Wingdings" panose="05000000000000000000" pitchFamily="2" charset="2"/>
              </a:rPr>
              <a:t>String</a:t>
            </a:r>
            <a:r>
              <a:rPr lang="pt-BR" dirty="0">
                <a:sym typeface="Wingdings" panose="05000000000000000000" pitchFamily="2" charset="2"/>
              </a:rPr>
              <a:t> (Serão vistos futuramente)</a:t>
            </a:r>
            <a:endParaRPr lang="pt-BR" dirty="0"/>
          </a:p>
          <a:p>
            <a:pPr lvl="2"/>
            <a:r>
              <a:rPr lang="pt-BR" dirty="0" err="1"/>
              <a:t>double</a:t>
            </a:r>
            <a:r>
              <a:rPr lang="pt-BR" dirty="0"/>
              <a:t> valores[100];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2400" dirty="0"/>
          </a:p>
          <a:p>
            <a:endParaRPr lang="pt-BR" sz="2400" dirty="0"/>
          </a:p>
        </p:txBody>
      </p:sp>
      <p:sp>
        <p:nvSpPr>
          <p:cNvPr id="4" name="AutoShape 2" descr="Manipulando Vetores - Linguagem C: Resumo e Exercícios | Responde Aí">
            <a:extLst>
              <a:ext uri="{FF2B5EF4-FFF2-40B4-BE49-F238E27FC236}">
                <a16:creationId xmlns:a16="http://schemas.microsoft.com/office/drawing/2014/main" id="{98D35F82-13B7-E5B5-5C70-E1563F73348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9914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5E2CF-278E-A1FA-8156-C65A1AC0C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28ABDDC8-4A59-B5D3-A39C-05684D4DE88F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8C22BE3-64B1-A4B1-3713-1D7C92F94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Índice dos Vetores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8D1FA942-B82D-F234-F754-AE705EFA468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5">
                <a:extLst>
                  <a:ext uri="{FF2B5EF4-FFF2-40B4-BE49-F238E27FC236}">
                    <a16:creationId xmlns:a16="http://schemas.microsoft.com/office/drawing/2014/main" id="{13718546-5958-4D49-1EAE-C56F24C1DEB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60824" y="1955093"/>
                <a:ext cx="7375151" cy="476955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pt-BR" sz="2400" dirty="0"/>
                  <a:t>Indicam a posição dos elementos dentro do vetor.</a:t>
                </a:r>
              </a:p>
              <a:p>
                <a:r>
                  <a:rPr lang="pt-BR" sz="2400" dirty="0"/>
                  <a:t>Os índices começam sempre no zero, logo:</a:t>
                </a:r>
              </a:p>
              <a:p>
                <a:endParaRPr lang="pt-BR" sz="240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pt-BR" sz="2000" dirty="0"/>
                  <a:t>Primeiro elemento: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𝑣𝑒𝑡𝑜𝑟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[0]</m:t>
                    </m:r>
                  </m:oMath>
                </a14:m>
                <a:endParaRPr lang="pt-BR" sz="200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pt-BR" sz="2000" dirty="0"/>
                  <a:t>Elemento na posição i: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𝑣𝑒𝑡𝑜𝑟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pt-BR" sz="2000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pt-BR" sz="2000" dirty="0"/>
                  <a:t>Último elemento (para tamanho N): </a:t>
                </a:r>
                <a14:m>
                  <m:oMath xmlns:m="http://schemas.openxmlformats.org/officeDocument/2006/math"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𝑣𝑒𝑡𝑜𝑟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sz="2000" i="1" dirty="0" smtClean="0">
                        <a:latin typeface="Cambria Math" panose="02040503050406030204" pitchFamily="18" charset="0"/>
                      </a:rPr>
                      <m:t> − 1]</m:t>
                    </m:r>
                  </m:oMath>
                </a14:m>
                <a:endParaRPr lang="pt-BR" sz="2000" dirty="0"/>
              </a:p>
              <a:p>
                <a:endParaRPr lang="pt-BR" sz="2400" dirty="0"/>
              </a:p>
              <a:p>
                <a:pPr marL="457200" lvl="1" indent="0">
                  <a:buNone/>
                </a:pPr>
                <a:endParaRPr lang="pt-BR" sz="20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pt-BR" sz="2400" dirty="0"/>
              </a:p>
              <a:p>
                <a:endParaRPr lang="pt-BR" sz="2400" dirty="0"/>
              </a:p>
            </p:txBody>
          </p:sp>
        </mc:Choice>
        <mc:Fallback xmlns="">
          <p:sp>
            <p:nvSpPr>
              <p:cNvPr id="3" name="Espaço Reservado para Conteúdo 5">
                <a:extLst>
                  <a:ext uri="{FF2B5EF4-FFF2-40B4-BE49-F238E27FC236}">
                    <a16:creationId xmlns:a16="http://schemas.microsoft.com/office/drawing/2014/main" id="{13718546-5958-4D49-1EAE-C56F24C1DE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0824" y="1955093"/>
                <a:ext cx="7375151" cy="4769555"/>
              </a:xfrm>
              <a:prstGeom prst="rect">
                <a:avLst/>
              </a:prstGeom>
              <a:blipFill>
                <a:blip r:embed="rId3"/>
                <a:stretch>
                  <a:fillRect l="-1074" t="-179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utoShape 2" descr="Manipulando Vetores - Linguagem C: Resumo e Exercícios | Responde Aí">
            <a:extLst>
              <a:ext uri="{FF2B5EF4-FFF2-40B4-BE49-F238E27FC236}">
                <a16:creationId xmlns:a16="http://schemas.microsoft.com/office/drawing/2014/main" id="{6EF31897-00B7-D3CF-1332-2AB7E5E97E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9766164-FCAE-0BD1-3A4F-D99F17B8DC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9641"/>
          <a:stretch>
            <a:fillRect/>
          </a:stretch>
        </p:blipFill>
        <p:spPr>
          <a:xfrm>
            <a:off x="2290062" y="4562475"/>
            <a:ext cx="7307075" cy="229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199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49ABF-AAD6-8AED-5CA0-A791D7453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6D93A51D-4D42-B297-442F-9395A8849678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0829B62-9111-E156-9C7E-BD9D538BF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Acesso de elementos</a:t>
            </a:r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9E4243EC-D53D-D560-FC33-027C60F31FDF}"/>
              </a:ext>
            </a:extLst>
          </p:cNvPr>
          <p:cNvSpPr txBox="1">
            <a:spLocks/>
          </p:cNvSpPr>
          <p:nvPr/>
        </p:nvSpPr>
        <p:spPr>
          <a:xfrm>
            <a:off x="1228025" y="1999094"/>
            <a:ext cx="9735950" cy="696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dirty="0"/>
              <a:t>O acesso ao elemento de um vetor é feito através de seu </a:t>
            </a:r>
            <a:r>
              <a:rPr lang="pt-BR" sz="2400" b="1" dirty="0"/>
              <a:t>índice</a:t>
            </a:r>
            <a:r>
              <a:rPr lang="pt-BR" sz="2400" dirty="0"/>
              <a:t>. </a:t>
            </a:r>
            <a:endParaRPr lang="pt-BR" sz="2000" dirty="0"/>
          </a:p>
          <a:p>
            <a:pPr marL="0" indent="0">
              <a:buFont typeface="Arial" panose="020B0604020202020204" pitchFamily="34" charset="0"/>
              <a:buNone/>
            </a:pPr>
            <a:endParaRPr lang="pt-BR" sz="2400" dirty="0"/>
          </a:p>
          <a:p>
            <a:endParaRPr lang="pt-BR" sz="2400" dirty="0"/>
          </a:p>
        </p:txBody>
      </p:sp>
      <p:sp>
        <p:nvSpPr>
          <p:cNvPr id="4" name="AutoShape 2" descr="Manipulando Vetores - Linguagem C: Resumo e Exercícios | Responde Aí">
            <a:extLst>
              <a:ext uri="{FF2B5EF4-FFF2-40B4-BE49-F238E27FC236}">
                <a16:creationId xmlns:a16="http://schemas.microsoft.com/office/drawing/2014/main" id="{FBFF0195-0385-F6C8-D56B-FB120CDF27B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DC3FF71-BEE1-750E-F527-4BE658159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0521" y="2992008"/>
            <a:ext cx="5295757" cy="2781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3618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05F1E-984B-F338-335A-F57892517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633315D6-2B29-0736-445F-B0325B77F825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F4DFF9A-D8FB-B432-A860-CAFE9485A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Acesso de elementos</a:t>
            </a:r>
          </a:p>
        </p:txBody>
      </p:sp>
      <p:sp>
        <p:nvSpPr>
          <p:cNvPr id="4" name="AutoShape 2" descr="Manipulando Vetores - Linguagem C: Resumo e Exercícios | Responde Aí">
            <a:extLst>
              <a:ext uri="{FF2B5EF4-FFF2-40B4-BE49-F238E27FC236}">
                <a16:creationId xmlns:a16="http://schemas.microsoft.com/office/drawing/2014/main" id="{E14D1953-E6DE-EDB3-5D31-9840291F76A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8" name="Espaço Reservado para Conteúdo 5">
            <a:extLst>
              <a:ext uri="{FF2B5EF4-FFF2-40B4-BE49-F238E27FC236}">
                <a16:creationId xmlns:a16="http://schemas.microsoft.com/office/drawing/2014/main" id="{4E392C3A-4B0B-A15A-E469-427A93D7F1F0}"/>
              </a:ext>
            </a:extLst>
          </p:cNvPr>
          <p:cNvSpPr txBox="1">
            <a:spLocks/>
          </p:cNvSpPr>
          <p:nvPr/>
        </p:nvSpPr>
        <p:spPr>
          <a:xfrm>
            <a:off x="266658" y="2655197"/>
            <a:ext cx="6443663" cy="2419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/>
              <a:t>Dependendo do contexto, o acesso específico via índice pode não ser o mais eficiente.</a:t>
            </a:r>
          </a:p>
          <a:p>
            <a:endParaRPr lang="pt-BR" sz="2400" dirty="0"/>
          </a:p>
          <a:p>
            <a:r>
              <a:rPr lang="pt-BR" sz="2400" dirty="0"/>
              <a:t>Geralmente, o acesso aos elementos de um vetor estão associados à estruturas de repetição.</a:t>
            </a:r>
          </a:p>
          <a:p>
            <a:pPr algn="ctr"/>
            <a:endParaRPr lang="pt-BR" sz="2000" dirty="0"/>
          </a:p>
          <a:p>
            <a:pPr marL="0" indent="0">
              <a:buFont typeface="Arial" panose="020B0604020202020204" pitchFamily="34" charset="0"/>
              <a:buNone/>
            </a:pPr>
            <a:endParaRPr lang="pt-BR" sz="2400" dirty="0"/>
          </a:p>
          <a:p>
            <a:endParaRPr lang="pt-BR" sz="240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37D4F054-D036-F17A-8089-6E08B63A2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775" y="2066922"/>
            <a:ext cx="4962567" cy="359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0562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A882B-65F7-347D-BE3F-30D6182BC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F8986D7-A81B-C72E-C1CC-C906F7F107E3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23BAE72-AA9D-3617-5C24-2C4A16F21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Inicialização dos Vetores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610BB827-EAF2-BCCF-F3BB-0772AA6AC0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21BB6437-AE87-E71D-2E3A-D00BC4E855FE}"/>
              </a:ext>
            </a:extLst>
          </p:cNvPr>
          <p:cNvSpPr txBox="1">
            <a:spLocks/>
          </p:cNvSpPr>
          <p:nvPr/>
        </p:nvSpPr>
        <p:spPr>
          <a:xfrm>
            <a:off x="2408424" y="1962150"/>
            <a:ext cx="7375151" cy="4597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/>
              <a:t>Durante a declaração do Vetor, seus valores podem ser inicializados entre chaves:</a:t>
            </a:r>
            <a:endParaRPr lang="pt-BR" sz="2000" dirty="0"/>
          </a:p>
          <a:p>
            <a:endParaRPr lang="pt-BR" sz="2400" dirty="0"/>
          </a:p>
          <a:p>
            <a:pPr marL="457200" lvl="1" indent="0">
              <a:buNone/>
            </a:pPr>
            <a:endParaRPr lang="pt-BR" sz="2000" dirty="0"/>
          </a:p>
          <a:p>
            <a:pPr marL="0" indent="0">
              <a:buFont typeface="Arial" panose="020B0604020202020204" pitchFamily="34" charset="0"/>
              <a:buNone/>
            </a:pPr>
            <a:endParaRPr lang="pt-BR" sz="2400" dirty="0"/>
          </a:p>
          <a:p>
            <a:endParaRPr lang="pt-BR" sz="2400" dirty="0"/>
          </a:p>
        </p:txBody>
      </p:sp>
      <p:sp>
        <p:nvSpPr>
          <p:cNvPr id="4" name="AutoShape 2" descr="Manipulando Vetores - Linguagem C: Resumo e Exercícios | Responde Aí">
            <a:extLst>
              <a:ext uri="{FF2B5EF4-FFF2-40B4-BE49-F238E27FC236}">
                <a16:creationId xmlns:a16="http://schemas.microsoft.com/office/drawing/2014/main" id="{A3E42C94-E1CF-8F60-1AE2-E3A04C15AE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5D1AE9C-8EC3-2B6D-6852-A4E7230D4C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3581"/>
          <a:stretch>
            <a:fillRect/>
          </a:stretch>
        </p:blipFill>
        <p:spPr>
          <a:xfrm>
            <a:off x="2067862" y="3242072"/>
            <a:ext cx="8056274" cy="2934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00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388D9-B42C-B0B5-5FE7-19FC4EA57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6B93A43-AACF-199B-029A-1B511EEA038B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2CAA8CC-692A-F4D6-2BAF-12CBF9C43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Inicialização dos Vetores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572C2E20-FFE6-344A-A1D7-CF75B147EA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18F3F1F4-F222-BC39-8D91-B6A4E3C75F7E}"/>
              </a:ext>
            </a:extLst>
          </p:cNvPr>
          <p:cNvSpPr txBox="1">
            <a:spLocks/>
          </p:cNvSpPr>
          <p:nvPr/>
        </p:nvSpPr>
        <p:spPr>
          <a:xfrm>
            <a:off x="2408424" y="1962150"/>
            <a:ext cx="7375151" cy="4597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/>
              <a:t>A inicialização também pode ser feita de modo parcial.</a:t>
            </a:r>
          </a:p>
          <a:p>
            <a:r>
              <a:rPr lang="pt-BR" sz="2400" dirty="0"/>
              <a:t>Nesse caso, os valores são inseridos em ordem.</a:t>
            </a:r>
          </a:p>
          <a:p>
            <a:r>
              <a:rPr lang="pt-BR" sz="2400" dirty="0"/>
              <a:t>Os valores indefinidos são inicializados como zero.</a:t>
            </a:r>
            <a:endParaRPr lang="pt-BR" sz="2000" dirty="0"/>
          </a:p>
          <a:p>
            <a:endParaRPr lang="pt-BR" sz="2400" dirty="0"/>
          </a:p>
          <a:p>
            <a:pPr marL="457200" lvl="1" indent="0">
              <a:buNone/>
            </a:pPr>
            <a:endParaRPr lang="pt-BR" sz="2000" dirty="0"/>
          </a:p>
          <a:p>
            <a:pPr marL="0" indent="0">
              <a:buFont typeface="Arial" panose="020B0604020202020204" pitchFamily="34" charset="0"/>
              <a:buNone/>
            </a:pPr>
            <a:endParaRPr lang="pt-BR" sz="2400" dirty="0"/>
          </a:p>
          <a:p>
            <a:endParaRPr lang="pt-BR" sz="2400" dirty="0"/>
          </a:p>
        </p:txBody>
      </p:sp>
      <p:sp>
        <p:nvSpPr>
          <p:cNvPr id="4" name="AutoShape 2" descr="Manipulando Vetores - Linguagem C: Resumo e Exercícios | Responde Aí">
            <a:extLst>
              <a:ext uri="{FF2B5EF4-FFF2-40B4-BE49-F238E27FC236}">
                <a16:creationId xmlns:a16="http://schemas.microsoft.com/office/drawing/2014/main" id="{0C95B82C-1FEC-7DBD-7FE3-98A3529978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B990727-2B52-CF74-C1AC-3DBC05872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38" y="3906599"/>
            <a:ext cx="6904925" cy="2514757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9280A222-B778-493B-D41D-30EA0A3E53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75" t="2301" r="3899" b="10902"/>
          <a:stretch>
            <a:fillRect/>
          </a:stretch>
        </p:blipFill>
        <p:spPr>
          <a:xfrm>
            <a:off x="8410576" y="4638377"/>
            <a:ext cx="3467100" cy="1051203"/>
          </a:xfrm>
          <a:prstGeom prst="rect">
            <a:avLst/>
          </a:prstGeom>
        </p:spPr>
      </p:pic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763C4E19-E1F7-D635-1BA4-81401EFEF209}"/>
              </a:ext>
            </a:extLst>
          </p:cNvPr>
          <p:cNvSpPr/>
          <p:nvPr/>
        </p:nvSpPr>
        <p:spPr>
          <a:xfrm>
            <a:off x="7692489" y="5038725"/>
            <a:ext cx="438150" cy="3429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6618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16A4E-D105-85B5-3B28-B98101DEC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3316BF5-4CDD-0B15-0D7E-82D6E80DFA24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ED98137-EED8-451C-53A5-7068479D1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Inicialização dos Vetores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74B52325-8F30-E139-BB30-F5DEB65599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84D9BFBD-448B-61D4-44F7-F5C722F90FA6}"/>
              </a:ext>
            </a:extLst>
          </p:cNvPr>
          <p:cNvSpPr txBox="1">
            <a:spLocks/>
          </p:cNvSpPr>
          <p:nvPr/>
        </p:nvSpPr>
        <p:spPr>
          <a:xfrm>
            <a:off x="2408424" y="1962150"/>
            <a:ext cx="7375151" cy="4597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dirty="0"/>
              <a:t>A inicialização também pode ser feita manualmente, especificando os índices do vetor</a:t>
            </a:r>
            <a:endParaRPr lang="pt-BR" sz="2000" dirty="0"/>
          </a:p>
          <a:p>
            <a:endParaRPr lang="pt-BR" sz="2400" dirty="0"/>
          </a:p>
          <a:p>
            <a:pPr marL="457200" lvl="1" indent="0">
              <a:buNone/>
            </a:pPr>
            <a:endParaRPr lang="pt-BR" sz="2000" dirty="0"/>
          </a:p>
          <a:p>
            <a:pPr marL="0" indent="0">
              <a:buFont typeface="Arial" panose="020B0604020202020204" pitchFamily="34" charset="0"/>
              <a:buNone/>
            </a:pPr>
            <a:endParaRPr lang="pt-BR" sz="2400" dirty="0"/>
          </a:p>
          <a:p>
            <a:endParaRPr lang="pt-BR" sz="2400" dirty="0"/>
          </a:p>
        </p:txBody>
      </p:sp>
      <p:sp>
        <p:nvSpPr>
          <p:cNvPr id="4" name="AutoShape 2" descr="Manipulando Vetores - Linguagem C: Resumo e Exercícios | Responde Aí">
            <a:extLst>
              <a:ext uri="{FF2B5EF4-FFF2-40B4-BE49-F238E27FC236}">
                <a16:creationId xmlns:a16="http://schemas.microsoft.com/office/drawing/2014/main" id="{2DF935B6-CF2B-A42E-E319-BEC833D625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A3A35BDA-75FB-0690-747E-C11B32041B1B}"/>
              </a:ext>
            </a:extLst>
          </p:cNvPr>
          <p:cNvSpPr/>
          <p:nvPr/>
        </p:nvSpPr>
        <p:spPr>
          <a:xfrm>
            <a:off x="7326228" y="4537869"/>
            <a:ext cx="438150" cy="3429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3961A1E-93D7-5182-451D-9CB6F0397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761" y="3456301"/>
            <a:ext cx="6349286" cy="2506036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7D14632D-E015-80EE-D55F-8B4C9A9914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5606" y="4133056"/>
            <a:ext cx="3554632" cy="115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792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450B6-82D9-CEB2-F2B5-8ADEB8942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B80C58D-BE9B-81C2-2CB7-7F3B78B8FEDD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A7E073A-1660-131C-12FB-6D39BF032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Inicialização dos Vetores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AA220492-0EA0-6EEC-8707-A291E8125D6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2056629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FD5E7605-ED99-9723-23A0-517DBAF8C118}"/>
              </a:ext>
            </a:extLst>
          </p:cNvPr>
          <p:cNvSpPr txBox="1">
            <a:spLocks/>
          </p:cNvSpPr>
          <p:nvPr/>
        </p:nvSpPr>
        <p:spPr>
          <a:xfrm>
            <a:off x="2204337" y="1730770"/>
            <a:ext cx="7478525" cy="2048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400" dirty="0"/>
              <a:t>Caso o vetor não seja inicializado pelo o usuário, o valor de cada índice é definido como ‘zero’.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Isso depende da IDE e do compilador.</a:t>
            </a:r>
          </a:p>
          <a:p>
            <a:pPr marL="457200" lvl="1" indent="0">
              <a:buNone/>
            </a:pPr>
            <a:endParaRPr lang="pt-BR" sz="2000" dirty="0"/>
          </a:p>
          <a:p>
            <a:pPr marL="0" indent="0">
              <a:buFont typeface="Arial" panose="020B0604020202020204" pitchFamily="34" charset="0"/>
              <a:buNone/>
            </a:pPr>
            <a:endParaRPr lang="pt-BR" sz="2400" dirty="0"/>
          </a:p>
          <a:p>
            <a:endParaRPr lang="pt-BR" sz="2400" dirty="0"/>
          </a:p>
        </p:txBody>
      </p:sp>
      <p:sp>
        <p:nvSpPr>
          <p:cNvPr id="4" name="AutoShape 2" descr="Manipulando Vetores - Linguagem C: Resumo e Exercícios | Responde Aí">
            <a:extLst>
              <a:ext uri="{FF2B5EF4-FFF2-40B4-BE49-F238E27FC236}">
                <a16:creationId xmlns:a16="http://schemas.microsoft.com/office/drawing/2014/main" id="{993EE29A-BF67-D55A-9F2B-51300FAA6D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8E8C9CE-46A0-6D86-9CE8-134DB8859F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4378"/>
          <a:stretch>
            <a:fillRect/>
          </a:stretch>
        </p:blipFill>
        <p:spPr>
          <a:xfrm>
            <a:off x="735022" y="4027488"/>
            <a:ext cx="6220693" cy="240030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195410BC-A1A8-33ED-E071-32F997F8D1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" t="58050" r="45175" b="141"/>
          <a:stretch>
            <a:fillRect/>
          </a:stretch>
        </p:blipFill>
        <p:spPr>
          <a:xfrm>
            <a:off x="7826158" y="4325541"/>
            <a:ext cx="3406618" cy="1804194"/>
          </a:xfrm>
          <a:prstGeom prst="rect">
            <a:avLst/>
          </a:prstGeom>
        </p:spPr>
      </p:pic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5D26A2D1-64C9-7A23-DB4D-41C801851DEC}"/>
              </a:ext>
            </a:extLst>
          </p:cNvPr>
          <p:cNvSpPr/>
          <p:nvPr/>
        </p:nvSpPr>
        <p:spPr>
          <a:xfrm>
            <a:off x="7171861" y="5056188"/>
            <a:ext cx="438150" cy="3429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2565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BAB8C-669C-A2AC-F515-A22A407C5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52643CC-8274-BAB6-32FF-33991C281DAB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9FEEEF7-B393-430A-E993-78A2858D6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Atribuição de valores aos Vetores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E934524C-7AFF-AB81-FD6A-393098619F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E1848586-8BB5-8D5D-5ED7-CDE25425E9F6}"/>
              </a:ext>
            </a:extLst>
          </p:cNvPr>
          <p:cNvSpPr txBox="1">
            <a:spLocks/>
          </p:cNvSpPr>
          <p:nvPr/>
        </p:nvSpPr>
        <p:spPr>
          <a:xfrm>
            <a:off x="457199" y="1987598"/>
            <a:ext cx="5638801" cy="4247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400" dirty="0"/>
              <a:t>A atribuição pode ser feita de modo análogo ao que é aplicado à uma variável.</a:t>
            </a:r>
          </a:p>
          <a:p>
            <a:pPr algn="just"/>
            <a:endParaRPr lang="pt-BR" sz="2400" dirty="0"/>
          </a:p>
          <a:p>
            <a:pPr algn="just"/>
            <a:r>
              <a:rPr lang="pt-BR" sz="2400" dirty="0"/>
              <a:t>É necessário especificar o índice.</a:t>
            </a:r>
            <a:endParaRPr lang="pt-BR" sz="2000" dirty="0"/>
          </a:p>
          <a:p>
            <a:pPr marL="0" indent="0">
              <a:buFont typeface="Arial" panose="020B0604020202020204" pitchFamily="34" charset="0"/>
              <a:buNone/>
            </a:pPr>
            <a:endParaRPr lang="pt-BR" sz="2400" dirty="0"/>
          </a:p>
          <a:p>
            <a:endParaRPr lang="pt-BR" sz="2400" dirty="0"/>
          </a:p>
        </p:txBody>
      </p:sp>
      <p:sp>
        <p:nvSpPr>
          <p:cNvPr id="4" name="AutoShape 2" descr="Manipulando Vetores - Linguagem C: Resumo e Exercícios | Responde Aí">
            <a:extLst>
              <a:ext uri="{FF2B5EF4-FFF2-40B4-BE49-F238E27FC236}">
                <a16:creationId xmlns:a16="http://schemas.microsoft.com/office/drawing/2014/main" id="{CDD6A25A-FC1C-EBA8-7F80-61945AEA6C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621232EE-5513-AB82-1AAF-4E880F7E6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433" y="1987598"/>
            <a:ext cx="5185983" cy="4577062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BF9091F3-28B3-9B51-A3D7-F722AC322B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3891"/>
          <a:stretch>
            <a:fillRect/>
          </a:stretch>
        </p:blipFill>
        <p:spPr>
          <a:xfrm>
            <a:off x="1642833" y="4135785"/>
            <a:ext cx="3267531" cy="2428875"/>
          </a:xfrm>
          <a:prstGeom prst="rect">
            <a:avLst/>
          </a:prstGeom>
        </p:spPr>
      </p:pic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061D0BF5-DC25-508F-53C8-9EE197611CC1}"/>
              </a:ext>
            </a:extLst>
          </p:cNvPr>
          <p:cNvSpPr/>
          <p:nvPr/>
        </p:nvSpPr>
        <p:spPr>
          <a:xfrm flipH="1">
            <a:off x="5496389" y="5532438"/>
            <a:ext cx="752011" cy="3429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6189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06C55-EF85-E619-7779-BFE7DAF43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8B223CB2-2E85-C531-AFD0-D8A9DE535584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90C5921-1CFA-4CBF-142E-3A05DD6E0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Atribuição de valores aos Vetores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D47D1C4C-9F05-3C35-F0CC-93B15C669A9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71C83409-1028-CF63-1919-69EAB99DE76B}"/>
              </a:ext>
            </a:extLst>
          </p:cNvPr>
          <p:cNvSpPr txBox="1">
            <a:spLocks/>
          </p:cNvSpPr>
          <p:nvPr/>
        </p:nvSpPr>
        <p:spPr>
          <a:xfrm>
            <a:off x="440081" y="2170830"/>
            <a:ext cx="5638801" cy="42472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sz="2400" dirty="0"/>
              <a:t>A atribuição de valores também pode ser feita de maneira direta pelo </a:t>
            </a:r>
            <a:r>
              <a:rPr lang="pt-BR" sz="2400" i="1" dirty="0" err="1"/>
              <a:t>scanf</a:t>
            </a:r>
            <a:r>
              <a:rPr lang="pt-BR" sz="2400" dirty="0"/>
              <a:t>.</a:t>
            </a:r>
            <a:endParaRPr lang="pt-BR" sz="2000" dirty="0"/>
          </a:p>
          <a:p>
            <a:pPr marL="0" indent="0">
              <a:buFont typeface="Arial" panose="020B0604020202020204" pitchFamily="34" charset="0"/>
              <a:buNone/>
            </a:pPr>
            <a:endParaRPr lang="pt-BR" sz="2400" dirty="0"/>
          </a:p>
          <a:p>
            <a:endParaRPr lang="pt-BR" sz="2400" dirty="0"/>
          </a:p>
        </p:txBody>
      </p:sp>
      <p:sp>
        <p:nvSpPr>
          <p:cNvPr id="4" name="AutoShape 2" descr="Manipulando Vetores - Linguagem C: Resumo e Exercícios | Responde Aí">
            <a:extLst>
              <a:ext uri="{FF2B5EF4-FFF2-40B4-BE49-F238E27FC236}">
                <a16:creationId xmlns:a16="http://schemas.microsoft.com/office/drawing/2014/main" id="{B182DB5D-6201-4940-E7F0-D1AE0F7063C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4" name="Seta: para a Direita 13">
            <a:extLst>
              <a:ext uri="{FF2B5EF4-FFF2-40B4-BE49-F238E27FC236}">
                <a16:creationId xmlns:a16="http://schemas.microsoft.com/office/drawing/2014/main" id="{A451AA85-F5A5-A00A-4DF0-43000A90B3C8}"/>
              </a:ext>
            </a:extLst>
          </p:cNvPr>
          <p:cNvSpPr/>
          <p:nvPr/>
        </p:nvSpPr>
        <p:spPr>
          <a:xfrm flipH="1">
            <a:off x="5081907" y="4896431"/>
            <a:ext cx="752011" cy="3429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1EC0BE2-590C-BA3A-405E-7D98C9904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846" y="2751680"/>
            <a:ext cx="5410955" cy="3610479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02A3894-D10F-B9E1-52EB-8858BEA801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30"/>
          <a:stretch>
            <a:fillRect/>
          </a:stretch>
        </p:blipFill>
        <p:spPr>
          <a:xfrm>
            <a:off x="1314450" y="3900906"/>
            <a:ext cx="3237892" cy="23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087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9DBE8-138D-C5F6-8C77-355E128F9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23D3C04-DD64-2CE3-121E-C2A9ED698166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F387265-E9FD-5244-5F42-34C5DC02C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Exercícios para fixação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E1010D2F-F2A8-F0DA-7764-35BF7E84CF8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F09E1DCB-14FC-90A8-3625-59C5B34C4DFE}"/>
              </a:ext>
            </a:extLst>
          </p:cNvPr>
          <p:cNvSpPr txBox="1">
            <a:spLocks/>
          </p:cNvSpPr>
          <p:nvPr/>
        </p:nvSpPr>
        <p:spPr>
          <a:xfrm>
            <a:off x="2262187" y="1818405"/>
            <a:ext cx="7667626" cy="46395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Font typeface="+mj-lt"/>
              <a:buAutoNum type="arabicPeriod"/>
            </a:pPr>
            <a:r>
              <a:rPr lang="pt-BR" sz="2400" dirty="0"/>
              <a:t>Crie um programa que leia 10 números inteiros e depois mostre todos os números digitados.</a:t>
            </a:r>
          </a:p>
          <a:p>
            <a:pPr marL="457200" indent="-457200" algn="just">
              <a:buFont typeface="+mj-lt"/>
              <a:buAutoNum type="arabicPeriod"/>
            </a:pPr>
            <a:endParaRPr lang="pt-BR" sz="2400" dirty="0"/>
          </a:p>
          <a:p>
            <a:pPr marL="457200" indent="-457200" algn="just">
              <a:buFont typeface="+mj-lt"/>
              <a:buAutoNum type="arabicPeriod"/>
            </a:pPr>
            <a:r>
              <a:rPr lang="pt-BR" sz="2400" dirty="0"/>
              <a:t>Crie um programa que leia 5 números inteiros e depois mostre a média aritmética dos valores do vetor.</a:t>
            </a:r>
          </a:p>
          <a:p>
            <a:pPr marL="457200" indent="-457200" algn="just">
              <a:buFont typeface="+mj-lt"/>
              <a:buAutoNum type="arabicPeriod"/>
            </a:pPr>
            <a:endParaRPr lang="pt-BR" sz="2400" dirty="0"/>
          </a:p>
          <a:p>
            <a:pPr marL="457200" indent="-457200" algn="just">
              <a:buFont typeface="+mj-lt"/>
              <a:buAutoNum type="arabicPeriod"/>
            </a:pPr>
            <a:r>
              <a:rPr lang="pt-BR" sz="2400" dirty="0"/>
              <a:t>Crie um programa que leia 6 números inteiros e depois mostre encontre o maior valor inserido.</a:t>
            </a:r>
          </a:p>
          <a:p>
            <a:pPr marL="457200" indent="-457200" algn="just">
              <a:buFont typeface="+mj-lt"/>
              <a:buAutoNum type="arabicPeriod"/>
            </a:pPr>
            <a:endParaRPr lang="pt-BR" sz="2400" dirty="0"/>
          </a:p>
          <a:p>
            <a:pPr marL="457200" indent="-457200" algn="just">
              <a:buFont typeface="+mj-lt"/>
              <a:buAutoNum type="arabicPeriod"/>
            </a:pPr>
            <a:r>
              <a:rPr lang="pt-BR" sz="2400" dirty="0"/>
              <a:t>Crie um programa que leia 7 números inteiros e depois verifique se um número X existe no vetor.</a:t>
            </a:r>
          </a:p>
          <a:p>
            <a:pPr marL="457200" indent="-457200" algn="just">
              <a:buFont typeface="+mj-lt"/>
              <a:buAutoNum type="arabicPeriod"/>
            </a:pPr>
            <a:endParaRPr lang="pt-BR" sz="2400" dirty="0"/>
          </a:p>
          <a:p>
            <a:pPr marL="457200" indent="-457200" algn="just">
              <a:buFont typeface="+mj-lt"/>
              <a:buAutoNum type="arabicPeriod"/>
            </a:pPr>
            <a:endParaRPr lang="pt-BR" sz="2400" dirty="0"/>
          </a:p>
          <a:p>
            <a:pPr marL="457200" indent="-457200" algn="just">
              <a:buFont typeface="+mj-lt"/>
              <a:buAutoNum type="arabicPeriod"/>
            </a:pPr>
            <a:endParaRPr lang="pt-BR" sz="2400" dirty="0"/>
          </a:p>
          <a:p>
            <a:endParaRPr lang="pt-BR" sz="2400" dirty="0"/>
          </a:p>
        </p:txBody>
      </p:sp>
      <p:sp>
        <p:nvSpPr>
          <p:cNvPr id="4" name="AutoShape 2" descr="Manipulando Vetores - Linguagem C: Resumo e Exercícios | Responde Aí">
            <a:extLst>
              <a:ext uri="{FF2B5EF4-FFF2-40B4-BE49-F238E27FC236}">
                <a16:creationId xmlns:a16="http://schemas.microsoft.com/office/drawing/2014/main" id="{D1433130-8163-40A3-CFFE-E7FD3DE5786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03130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cote">
  <a:themeElements>
    <a:clrScheme name="Pacot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2338</TotalTime>
  <Words>423</Words>
  <Application>Microsoft Office PowerPoint</Application>
  <PresentationFormat>Widescreen</PresentationFormat>
  <Paragraphs>84</Paragraphs>
  <Slides>13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13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Courier New</vt:lpstr>
      <vt:lpstr>Gill Sans MT</vt:lpstr>
      <vt:lpstr>Wingdings</vt:lpstr>
      <vt:lpstr>Tema do Office</vt:lpstr>
      <vt:lpstr>Pacote</vt:lpstr>
      <vt:lpstr>MÓDULO 5 – Vetores unidimensionais</vt:lpstr>
      <vt:lpstr>Vetores</vt:lpstr>
      <vt:lpstr>Declaração de Vetores</vt:lpstr>
      <vt:lpstr>Índice dos Vetores</vt:lpstr>
      <vt:lpstr>Acesso de elementos</vt:lpstr>
      <vt:lpstr>Acesso de elementos</vt:lpstr>
      <vt:lpstr>Inicialização dos Vetores</vt:lpstr>
      <vt:lpstr>Inicialização dos Vetores</vt:lpstr>
      <vt:lpstr>Inicialização dos Vetores</vt:lpstr>
      <vt:lpstr>Inicialização dos Vetores</vt:lpstr>
      <vt:lpstr>Atribuição de valores aos Vetores</vt:lpstr>
      <vt:lpstr>Atribuição de valores aos Vetores</vt:lpstr>
      <vt:lpstr>Exercícios para fixação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Marcio Salmazo Ramos</dc:creator>
  <cp:lastModifiedBy>Marcio Salmazo Ramos</cp:lastModifiedBy>
  <cp:revision>123</cp:revision>
  <dcterms:created xsi:type="dcterms:W3CDTF">2026-07-26T12:48:37Z</dcterms:created>
  <dcterms:modified xsi:type="dcterms:W3CDTF">2026-08-31T15:19:58Z</dcterms:modified>
</cp:coreProperties>
</file>