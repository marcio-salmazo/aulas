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84" r:id="rId2"/>
  </p:sldMasterIdLst>
  <p:notesMasterIdLst>
    <p:notesMasterId r:id="rId13"/>
  </p:notesMasterIdLst>
  <p:sldIdLst>
    <p:sldId id="256" r:id="rId3"/>
    <p:sldId id="257" r:id="rId4"/>
    <p:sldId id="261" r:id="rId5"/>
    <p:sldId id="259" r:id="rId6"/>
    <p:sldId id="262" r:id="rId7"/>
    <p:sldId id="264" r:id="rId8"/>
    <p:sldId id="265" r:id="rId9"/>
    <p:sldId id="267" r:id="rId10"/>
    <p:sldId id="273" r:id="rId11"/>
    <p:sldId id="268" r:id="rId12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7DA7D8"/>
    <a:srgbClr val="2F8D46"/>
    <a:srgbClr val="E1FFE7"/>
    <a:srgbClr val="418AB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987" autoAdjust="0"/>
    <p:restoredTop sz="74911" autoAdjust="0"/>
  </p:normalViewPr>
  <p:slideViewPr>
    <p:cSldViewPr snapToGrid="0">
      <p:cViewPr varScale="1">
        <p:scale>
          <a:sx n="85" d="100"/>
          <a:sy n="85" d="100"/>
        </p:scale>
        <p:origin x="1536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5" Type="http://schemas.openxmlformats.org/officeDocument/2006/relationships/slide" Target="slides/slide3.xml"/><Relationship Id="rId15" Type="http://schemas.openxmlformats.org/officeDocument/2006/relationships/viewProps" Target="viewProps.xml"/><Relationship Id="rId10" Type="http://schemas.openxmlformats.org/officeDocument/2006/relationships/slide" Target="slides/slide8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D03497-8374-466E-85FA-95E1138D8F6E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F36A49-A1DD-40F8-B8AD-E6F5365256C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070282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609656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2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40231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6EB011-7176-5A7D-A2EA-0C754678F9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C2828F5C-42D4-B833-940B-876A1289937E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945B40F1-CB45-2F7C-EB01-737BEE44EED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537E7EA-4D4D-166C-DE43-EB39174807E6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3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072862982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A04B0-2E89-3816-3360-6ADA1DCB9F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A2B9E0E2-6219-B231-EADA-A20DB241032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AFAB21D2-4C73-FDAF-5D02-C01B9D51D7B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900B2917-E3D1-8BFF-51B4-AC63697CFEB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4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70521986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C74700-726A-9632-5874-091B11DE76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8CE332DC-1D60-D749-F5A3-1D96DC7020D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8781068E-3166-81EA-0EDD-EA5406B2D5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78096CAF-7A2F-FD92-931F-55454068949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5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85171955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9EB377-559E-8593-32F4-69B1B87A27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6B9343CE-6DBE-D912-4E15-15583EEAAF2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5DDD4AA0-3B61-D158-399C-06F757EF84C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Sistemas Embarcados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Controle direto de microcontroladores em eletrodomésticos e automóveis.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Desempenho Crítico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Otimização extrema de partes de código em sistemas operacionais ou drivers de dispositivos.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Estudo de Hardware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: Ajuda a compreender profundamente como a CPU executa instruções e gerencia a memória.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05C5D-FB7F-167A-C57D-BFD232655AEB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6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39035042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E2B2D9-6146-7106-DBA4-40073748A3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144BB465-009B-BDC8-D694-CAA715C172B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5D45F14-6F12-7068-0C5F-A405B1E25FF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dirty="0" err="1"/>
              <a:t>Speedcoding</a:t>
            </a:r>
            <a:r>
              <a:rPr lang="pt-BR" dirty="0"/>
              <a:t> ou </a:t>
            </a:r>
            <a:r>
              <a:rPr lang="pt-BR" dirty="0" err="1"/>
              <a:t>Speedcode</a:t>
            </a:r>
            <a:r>
              <a:rPr lang="pt-BR" dirty="0"/>
              <a:t> foi a primeira linguagens de programação de alto nível criada para um computador IBM. </a:t>
            </a:r>
          </a:p>
          <a:p>
            <a:r>
              <a:rPr lang="pt-BR" dirty="0"/>
              <a:t>A linguagem foi desenvolvida por John </a:t>
            </a:r>
            <a:r>
              <a:rPr lang="pt-BR" dirty="0" err="1"/>
              <a:t>Backus</a:t>
            </a:r>
            <a:r>
              <a:rPr lang="pt-BR" dirty="0"/>
              <a:t> em 1953 para o IBM 701. </a:t>
            </a:r>
          </a:p>
          <a:p>
            <a:r>
              <a:rPr lang="pt-BR" dirty="0"/>
              <a:t>A ideia surgiu da dificuldade de programação da máquina IBM SSEC, quando </a:t>
            </a:r>
            <a:r>
              <a:rPr lang="pt-BR" dirty="0" err="1"/>
              <a:t>Backus</a:t>
            </a:r>
            <a:r>
              <a:rPr lang="pt-BR" dirty="0"/>
              <a:t> foi contratado para calcular posições astronômicas no início dos anos 1950.</a:t>
            </a:r>
          </a:p>
          <a:p>
            <a:r>
              <a:rPr lang="pt-BR" dirty="0"/>
              <a:t>Em sequência, veio o Fortran em 1957 </a:t>
            </a:r>
            <a:r>
              <a:rPr lang="pt-BR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uma linguagem de programação voltada para computação científica e técnica, especialmente projetada para executar cálculos complexos com eficiência numa ampla variedade de </a:t>
            </a:r>
            <a:r>
              <a:rPr lang="pt-BR" sz="1200" b="0" i="0" u="none" strike="noStrike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processadores.</a:t>
            </a:r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F99CAB7A-E1AF-74E8-7503-53AE44956C1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7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6836358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CE740-9816-ADD0-2F6E-6B0C1CCB23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0AEC6E79-8DEE-9C98-C309-452A8B193C1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6817813F-4315-97F3-57D4-0F5D6E8207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lê o código-fonte inteiro de uma só vez.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Ele procura por erros de sintaxe na estrutura geral do programa e, se estiver tudo correto, </a:t>
            </a:r>
          </a:p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traduz o código inteiro para uma linguagem de baixo nível ou linguagem de máquina, criando um arquivo binário autônomo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código já foi traduzido previamente, o que torna a execução muito mais rápida e otimizada.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programa compilado pode ser distribuído e executado sem a necessidade do compilador original ou do código-fonte.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alta Performance: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Como o código já está traduzido e otimizado para o hardware antes da execução, os programas rodam muito mais rápido.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Detecção de Erros: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 compilador checa todo o código em busca de erros de sintaxe e estrutura antes de gerar o arquivo final, impedindo que o programa seja criado caso haja falhas críticas.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Menor Portabilidade: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Um arquivo compilado costuma ser específico para um sistema operacional ou arquitetura de processador (um executável do Windows não roda nativamente no Linux, por exemplo). 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Desvantagens: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processo de compilação pode demorar, e caso o código precise ser alterado, o programa inteiro (ou parte dele) precisa ser compilado novamente.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O arquivo binário gerado depende da arquitetura do sistema operacional (um executável de Windows não roda nativamente no Mac).</a:t>
            </a: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FF3F0FB-B732-D6AC-D3CC-5BE62E14877F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8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0951317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8F065B-D111-684E-D90B-0BBB70ABAE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D70CCC18-33EB-50D6-AA19-32A3AD9881C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B5B5E38F-3B61-3341-584A-BF17E3BE3A4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A API de um sistema operacional </a:t>
            </a:r>
            <a:r>
              <a:rPr lang="pt-BR" dirty="0"/>
              <a:t>é um conjunto de regras e ferramentas que permite aos programas conversarem com o sistema. </a:t>
            </a:r>
          </a:p>
          <a:p>
            <a:r>
              <a:rPr lang="pt-BR" dirty="0"/>
              <a:t>Ela funciona como uma ponte ou um tradutor, facilitando o acesso a recursos essenciais como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gerenciamento de arquivos</a:t>
            </a:r>
            <a:r>
              <a:rPr lang="pt-BR" dirty="0"/>
              <a:t>,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uso de memória</a:t>
            </a:r>
            <a:r>
              <a:rPr lang="pt-BR" dirty="0"/>
              <a:t> e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controle de hardware.</a:t>
            </a:r>
          </a:p>
          <a:p>
            <a:endParaRPr lang="pt-BR" sz="1200" b="1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dirty="0"/>
              <a:t>Algumas linguagens modernas combinam os dois métodos.  No Java, o código é primeiro compilado para uma linguagem intermediária chamada </a:t>
            </a:r>
          </a:p>
          <a:p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(que não é o código de máquina final).  Durante a execução do programa, um interpretador do sistema (JVM) </a:t>
            </a:r>
          </a:p>
          <a:p>
            <a:r>
              <a:rPr lang="pt-BR" dirty="0"/>
              <a:t>lê esse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dirty="0"/>
              <a:t> e usa um compilador </a:t>
            </a: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JIT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Um compilador JIT (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Just-In-Time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"em tempo de execução") é uma tecnologia que traduz código de programa </a:t>
            </a:r>
          </a:p>
          <a:p>
            <a:pPr rtl="0"/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ou código intermediário) em instruções nativas de máquina diretamente durante a execução do software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Java: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Compila para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bytecode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e roda na Máquina Virtual Java (JVM).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C#: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Transforma o código em 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IL (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Intermediate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</a:t>
            </a:r>
            <a:r>
              <a:rPr lang="pt-BR" sz="1200" b="0" i="1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Language</a:t>
            </a:r>
            <a:r>
              <a:rPr lang="pt-BR" sz="1200" b="0" i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para rodar no ambiente do .NET.</a:t>
            </a:r>
          </a:p>
          <a:p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Python: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Traduz o arquivo de texto para arquivos binários intermediários (.</a:t>
            </a:r>
            <a:r>
              <a:rPr lang="pt-BR" sz="1200" b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pyc</a:t>
            </a:r>
            <a:r>
              <a:rPr lang="pt-BR" sz="1200" b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) antes da execução interna.</a:t>
            </a:r>
          </a:p>
          <a:p>
            <a:pPr rtl="0"/>
            <a:endParaRPr lang="pt-BR" sz="1200" b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pt-BR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DCF0F6C3-1900-E55A-CAAA-8B9CE43FE862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9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189082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18DA5AE-B6FC-9E91-1FF3-9E087156929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Imagem de Slide 1">
            <a:extLst>
              <a:ext uri="{FF2B5EF4-FFF2-40B4-BE49-F238E27FC236}">
                <a16:creationId xmlns:a16="http://schemas.microsoft.com/office/drawing/2014/main" id="{7333E8A7-46A9-7BC4-94A6-692C1C422C4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ço Reservado para Anotações 2">
            <a:extLst>
              <a:ext uri="{FF2B5EF4-FFF2-40B4-BE49-F238E27FC236}">
                <a16:creationId xmlns:a16="http://schemas.microsoft.com/office/drawing/2014/main" id="{032339BF-A92E-7256-92D4-48F1307C5D5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pt-BR" b="0" dirty="0"/>
              <a:t>Os paradigmas Imperativo e Declarativo são os dois grandes paradigmas fundamentais.</a:t>
            </a:r>
          </a:p>
          <a:p>
            <a:endParaRPr lang="pt-BR" b="0" dirty="0"/>
          </a:p>
          <a:p>
            <a:r>
              <a:rPr lang="pt-BR" b="1" dirty="0"/>
              <a:t>Imperativo: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É o paradigma mais tradicional.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 é uma sequência de instruções que altera o estado da memória passo a passo.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descreve </a:t>
            </a:r>
            <a:r>
              <a:rPr lang="pt-BR" b="1" dirty="0"/>
              <a:t>como</a:t>
            </a:r>
            <a:r>
              <a:rPr lang="pt-BR" dirty="0"/>
              <a:t> resolver o problema.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exemplo mais puro é o Assembly</a:t>
            </a:r>
          </a:p>
          <a:p>
            <a:endParaRPr lang="pt-BR" b="1" dirty="0"/>
          </a:p>
          <a:p>
            <a:r>
              <a:rPr lang="pt-BR" b="1" dirty="0"/>
              <a:t>Declarativo: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programador diz </a:t>
            </a:r>
            <a:r>
              <a:rPr lang="pt-BR" b="1" dirty="0"/>
              <a:t>o que</a:t>
            </a:r>
            <a:r>
              <a:rPr lang="pt-BR" dirty="0"/>
              <a:t> deseja, sem especificar exatamente como fazer.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Um bom exemplo (por mais que não seja necessariamente uma LP) é a linguagem SQL</a:t>
            </a:r>
          </a:p>
          <a:p>
            <a:endParaRPr lang="pt-BR" b="0" dirty="0"/>
          </a:p>
          <a:p>
            <a:r>
              <a:rPr lang="pt-BR" b="1" dirty="0"/>
              <a:t>Procedural: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evolução do imperativo que foca em dividir o código em blocos menores chamados de procedimentos, sub-rotinas ou funções.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Foco:</a:t>
            </a:r>
            <a:r>
              <a:rPr lang="pt-BR" dirty="0"/>
              <a:t> Reutilizar pedaços de código chamando esses blocos sempre que precisar.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Orientado a Objetos: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Organiza o programa em </a:t>
            </a:r>
            <a:r>
              <a:rPr lang="pt-BR" b="1" dirty="0"/>
              <a:t>objetos</a:t>
            </a:r>
            <a:r>
              <a:rPr lang="pt-BR" dirty="0"/>
              <a:t>,  que possuem atributos (dados) e métodos (comportamentos) associados.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b="0" dirty="0"/>
              <a:t>Os objetos simulam elementos do mundo real e podem interagir entre si.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Pilares principais:</a:t>
            </a:r>
            <a:r>
              <a:rPr lang="pt-BR" dirty="0"/>
              <a:t> Encapsulamento, herança, polimorfismo e abstração.</a:t>
            </a:r>
            <a:endParaRPr lang="pt-BR" b="0" dirty="0"/>
          </a:p>
          <a:p>
            <a:endParaRPr lang="pt-BR" b="1" dirty="0"/>
          </a:p>
          <a:p>
            <a:r>
              <a:rPr lang="pt-BR" b="1" dirty="0"/>
              <a:t>Lógica: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em regras e fatos. 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O sistema utiliza inferência lógica para encontrar respostas.</a:t>
            </a:r>
            <a:endParaRPr lang="pt-BR" b="1" dirty="0"/>
          </a:p>
          <a:p>
            <a:endParaRPr lang="pt-BR" b="1" dirty="0"/>
          </a:p>
          <a:p>
            <a:r>
              <a:rPr lang="pt-BR" b="1" dirty="0"/>
              <a:t>Funcional: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Baseia-se na logica de funções matemáticas.</a:t>
            </a:r>
          </a:p>
          <a:p>
            <a:pPr marL="0" indent="0">
              <a:buFont typeface="Arial" panose="020B0604020202020204" pitchFamily="34" charset="0"/>
              <a:buNone/>
            </a:pPr>
            <a:endParaRPr lang="pt-BR" dirty="0"/>
          </a:p>
          <a:p>
            <a:pPr marL="0" indent="0">
              <a:buFont typeface="Arial" panose="020B0604020202020204" pitchFamily="34" charset="0"/>
              <a:buNone/>
            </a:pPr>
            <a:r>
              <a:rPr lang="pt-BR" dirty="0"/>
              <a:t>Uma função pura possui duas características: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Para a mesma entrada, sempre produz a mesma saída. </a:t>
            </a:r>
          </a:p>
          <a:p>
            <a:pPr marL="228600" indent="-228600">
              <a:buFont typeface="+mj-lt"/>
              <a:buAutoNum type="arabicPeriod"/>
            </a:pPr>
            <a:r>
              <a:rPr lang="pt-BR" dirty="0"/>
              <a:t>Não modifica nada fora dela (não altera variáveis globais, arquivos, banco de dados, etc.).</a:t>
            </a:r>
          </a:p>
          <a:p>
            <a:endParaRPr lang="pt-BR" dirty="0"/>
          </a:p>
          <a:p>
            <a:r>
              <a:rPr lang="pt-BR" dirty="0"/>
              <a:t>Exemplo:</a:t>
            </a:r>
          </a:p>
          <a:p>
            <a:r>
              <a:rPr lang="pt-BR" dirty="0"/>
              <a:t>x = 10 -&gt; Em C essa variável pode ser alterado, em </a:t>
            </a:r>
            <a:r>
              <a:rPr lang="pt-BR" dirty="0" err="1"/>
              <a:t>Haskell</a:t>
            </a:r>
            <a:r>
              <a:rPr lang="pt-BR" dirty="0"/>
              <a:t>, intuitivamente não.</a:t>
            </a:r>
          </a:p>
          <a:p>
            <a:endParaRPr lang="pt-BR" dirty="0"/>
          </a:p>
          <a:p>
            <a:pPr marL="171450" indent="-171450">
              <a:buFont typeface="Arial" panose="020B0604020202020204" pitchFamily="34" charset="0"/>
              <a:buChar char="•"/>
            </a:pPr>
            <a:r>
              <a:rPr lang="pt-BR" dirty="0"/>
              <a:t>Uma boa analogia é a seguinte:</a:t>
            </a:r>
          </a:p>
          <a:p>
            <a:pPr marL="171450" indent="-171450">
              <a:buFont typeface="Arial" panose="020B0604020202020204" pitchFamily="34" charset="0"/>
              <a:buChar char="•"/>
            </a:pPr>
            <a:endParaRPr lang="pt-BR" dirty="0"/>
          </a:p>
          <a:p>
            <a:r>
              <a:rPr lang="pt-BR" b="1" dirty="0"/>
              <a:t>Programação imperativa: </a:t>
            </a:r>
            <a:r>
              <a:rPr lang="pt-BR" b="0" dirty="0"/>
              <a:t>você escreve uma receita de bolo dizendo passo a passo o que fazer. </a:t>
            </a:r>
          </a:p>
          <a:p>
            <a:r>
              <a:rPr lang="pt-BR" b="1" dirty="0"/>
              <a:t>Programação funcional: </a:t>
            </a:r>
            <a:r>
              <a:rPr lang="pt-BR" dirty="0"/>
              <a:t>você enxerga cada etapa da receita como uma função que recebe um ingrediente e devolve outro. </a:t>
            </a:r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  <a:p>
            <a:endParaRPr lang="pt-BR" b="0" dirty="0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228D884E-938F-A20D-7BA9-9135DC271FF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F36A49-A1DD-40F8-B8AD-E6F5365256CB}" type="slidenum">
              <a:rPr lang="pt-BR" smtClean="0"/>
              <a:t>10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9387673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F19B856-A0BC-D210-1737-D966320C0DA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A33AAC6-2469-CA4A-EC71-9377AF26B7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4A0F87A-0C4B-6CED-A923-692979682F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FA1D701-1F2B-F9DB-3467-1E702506B6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82D3A131-BC6D-009A-1316-11C0D511C78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2244240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7D43BFD2-F256-47DF-B808-ACC0E3CF5B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E6B715E3-1B62-B718-0545-18D1860ED1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B0F8541-A06F-A96B-9C7B-7B6775D69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A29E2F6F-2F51-FB58-B282-FF65529154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84CA48A-0835-7D5D-0C5C-4C7E737E1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3014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B57B632-00A4-041E-134C-3945EC5FF7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E8B5D6A-FCFF-76AF-3B41-CBCC1C30CEA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FA63B6D-65C2-A8BA-7A75-E7BFF8AEEEF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B2149EC-9298-99F7-4DF2-9F89752611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9D0D51F-3496-83FE-F993-6F3C5B119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3654939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630C98-DF9F-EDDF-13FE-19484E4CE2C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77DBEED7-86EF-7D00-9D5B-35BED814DF9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8C4CFBCA-7118-0084-2BFD-AB37CB71E8D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D1CCABC-FE63-8FD2-5554-56984A3CC5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8125A-07B7-CBA7-1A67-B800BA64CEF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6673A3AF-1DE0-4AD3-272B-485CC6D87F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43329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79E8815-ABA0-CB0F-583F-E97EB7B5945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6E8AD69-3F40-C1E3-9580-6371DC13C51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A5D54DCD-A467-392C-7882-9A1F2699C57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91F29C69-1D15-E7B8-95EE-E358ABDD231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DDD9B3A3-CEB4-374A-3FA1-C3BD23A5E07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9B6B5B5-5DE0-2665-4666-5A565F02F5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272278B-CB99-E2F9-7531-401CE1BF31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D50092DA-D538-B982-0833-39924176B4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511932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C764F77-C07B-657B-DE18-927ED3DD6D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B1F6EABF-1DF7-2F1B-A964-4AFF928307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E9E70771-5A68-7380-1FAC-A7D89E013B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2358ABD1-E925-1590-6C8E-DFC75A7BF5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21185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C0372F4-7179-777F-1E51-88AB1A64E5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F77D26EF-C956-F4CD-8145-1C415DFC6D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B53EA769-C25E-4FD8-7E9E-E604C85295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0173358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2FA3AA1-798F-3AA2-B6BB-62D9B38249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4E8C13AA-9014-6117-7A37-A036F09F89D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184FAC68-54B7-EFCE-9620-BC6F6741961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1F950BCB-3838-1B1C-112C-A644060F9E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C8779FA-261C-A76B-DBC7-DB58B8C117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22B5AFCC-7631-7153-2CC4-B4689FB8C4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4418124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CE3E92-DCFD-D54F-EB9D-EF97B89816B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DCA9DF57-38D6-FEBE-B65C-3AF4E429E9F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D117E586-D1EC-101C-F876-DEE5A2C81E9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74655D0E-B1E7-844D-7A98-DA49B4EC76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DB538A87-1978-7251-4706-04805D27D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AB8910AE-1487-27DE-EE72-B1B0DB5394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2338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6C4BC46-0BF2-E806-F16A-DB5D201D6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69D14E5E-509B-F711-3B25-614C8C3BCE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9281C6A8-9DA7-0C1F-372D-B2C9FD24F1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AFE38E9-C9A5-2C3E-744D-E323F97B15F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FD1C984-499C-C6BA-9715-0B7BEAC9BD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302431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CF40F235-1569-6ED0-A5F0-7DA4324528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F3DB6C81-CE19-AE0C-8D05-2FBC6567904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D43C4D-693E-5D37-DE0F-919B77DEF7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1D2A9D6-4B21-E9D7-968B-F18C64697E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14010A06-B61B-8C4F-3894-CA75C019DA8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28048666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325751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7835867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3557266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9336811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/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174895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9932880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967998243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67503" cy="320040"/>
          </a:xfrm>
        </p:spPr>
        <p:txBody>
          <a:bodyPr/>
          <a:lstStyle>
            <a:lvl1pPr>
              <a:defRPr>
                <a:solidFill>
                  <a:srgbClr val="FFFFFF">
                    <a:alpha val="69804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7808052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tx1"/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>
                    <a:alpha val="90000"/>
                  </a:srgbClr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808523" y="6236208"/>
            <a:ext cx="5103729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pt-BR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12544984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9499872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399451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229C4ED7-C003-33C2-9CEB-2E975031965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4730AEA1-DE82-52D0-65A9-766B9E2D2FD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F12E4FEE-859A-D6B3-CF41-EDFF0B1CDE7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19F3FAC-49A4-4E94-C84A-41786DC2CE9A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5435549-C584-1997-7B0B-6DC079118A0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669499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  <a:prstGeom prst="rect">
            <a:avLst/>
          </a:prstGeom>
          <a:solidFill>
            <a:schemeClr val="bg1"/>
          </a:solidFill>
          <a:ln w="31750" cap="sq">
            <a:solidFill>
              <a:schemeClr val="tx1">
                <a:lumMod val="75000"/>
                <a:lumOff val="25000"/>
              </a:schemeClr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A87E3B6E-8316-4A1C-BADA-DB7F3456EEF1}" type="datetimeFigureOut">
              <a:rPr lang="pt-BR" smtClean="0"/>
              <a:t>22/08/2026</a:t>
            </a:fld>
            <a:endParaRPr lang="pt-BR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9749C53C-5575-41D6-9732-E4B434B9E1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89191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gi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2E9326E-3499-D287-DA5A-8AED2AD3A4D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0" y="2524919"/>
            <a:ext cx="12192000" cy="1808162"/>
          </a:xfrm>
          <a:ln>
            <a:noFill/>
          </a:ln>
        </p:spPr>
        <p:txBody>
          <a:bodyPr/>
          <a:lstStyle/>
          <a:p>
            <a:r>
              <a:rPr lang="pt-BR" dirty="0"/>
              <a:t>módulo 1 - Introdução à </a:t>
            </a:r>
            <a:r>
              <a:rPr lang="pt-BR" dirty="0" err="1"/>
              <a:t>lp</a:t>
            </a:r>
            <a:endParaRPr lang="pt-BR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7F2C7C20-5716-4992-8451-F28A3F0EB9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695192" y="5207000"/>
            <a:ext cx="6801612" cy="1651000"/>
          </a:xfrm>
        </p:spPr>
        <p:txBody>
          <a:bodyPr/>
          <a:lstStyle/>
          <a:p>
            <a:r>
              <a:rPr lang="pt-BR" dirty="0"/>
              <a:t>Universidade de Uberaba</a:t>
            </a:r>
          </a:p>
          <a:p>
            <a:r>
              <a:rPr lang="pt-BR" dirty="0"/>
              <a:t>Marcio Salmazo Ramos</a:t>
            </a:r>
          </a:p>
        </p:txBody>
      </p:sp>
      <p:pic>
        <p:nvPicPr>
          <p:cNvPr id="8194" name="Picture 2">
            <a:extLst>
              <a:ext uri="{FF2B5EF4-FFF2-40B4-BE49-F238E27FC236}">
                <a16:creationId xmlns:a16="http://schemas.microsoft.com/office/drawing/2014/main" id="{739C2285-BBDC-FB8D-BB73-A95AC19BC9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337048" y="447153"/>
            <a:ext cx="3517900" cy="97291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52146243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10CD15DF-178C-8225-DC27-A997E199555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20CFDDE8-0849-DCD6-CFFE-909EF72466E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Conceitos Introdutórios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A38EF95E-E786-0234-E618-70938A65AA12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0B58FF2C-8CDD-0E09-7F6D-242B2C7C03E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3720" y="2172494"/>
            <a:ext cx="6019558" cy="3657600"/>
          </a:xfrm>
        </p:spPr>
        <p:txBody>
          <a:bodyPr/>
          <a:lstStyle/>
          <a:p>
            <a:r>
              <a:rPr lang="pt-BR" sz="2400" dirty="0"/>
              <a:t>A linguagem de programação é o meio formal de comunicação com o computador</a:t>
            </a:r>
          </a:p>
          <a:p>
            <a:endParaRPr lang="pt-BR" sz="2400" dirty="0"/>
          </a:p>
          <a:p>
            <a:r>
              <a:rPr lang="pt-BR" sz="2400" dirty="0"/>
              <a:t>As diferentes linguagens buscam atender à alguma necessidade em específico</a:t>
            </a:r>
          </a:p>
          <a:p>
            <a:endParaRPr lang="pt-BR" sz="2400" dirty="0"/>
          </a:p>
          <a:p>
            <a:r>
              <a:rPr lang="pt-BR" sz="2400" dirty="0"/>
              <a:t>Cada uma possui um conjunto formal de regras sintáticas e semânticas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1026" name="Picture 2" descr="Nenhuma descrição de foto disponível.">
            <a:extLst>
              <a:ext uri="{FF2B5EF4-FFF2-40B4-BE49-F238E27FC236}">
                <a16:creationId xmlns:a16="http://schemas.microsoft.com/office/drawing/2014/main" id="{767076CD-9084-F479-B0B8-384F0E2B5407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647" b="4352"/>
          <a:stretch>
            <a:fillRect/>
          </a:stretch>
        </p:blipFill>
        <p:spPr bwMode="auto">
          <a:xfrm>
            <a:off x="6667378" y="2172494"/>
            <a:ext cx="5143500" cy="3657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499775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1E17AB-793B-33ED-F53D-DFF1D00E91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9B5381A2-21D3-988B-6C4F-1A5A0E3E4792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D8FE61A-0CEC-FC31-6387-C133DC1882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LP X Algoritmo X </a:t>
            </a:r>
            <a:r>
              <a:rPr lang="pt-BR" dirty="0" err="1">
                <a:solidFill>
                  <a:schemeClr val="bg1"/>
                </a:solidFill>
              </a:rPr>
              <a:t>Pseudo-código</a:t>
            </a:r>
            <a:endParaRPr lang="pt-BR" dirty="0">
              <a:solidFill>
                <a:schemeClr val="bg1"/>
              </a:solidFill>
            </a:endParaRP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F0C2298D-D8FC-A002-D482-14EA1BD148C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03F71DD-09FA-DB12-8FA3-33D5EC43D2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76952" y="1987298"/>
            <a:ext cx="6413216" cy="4494524"/>
          </a:xfrm>
        </p:spPr>
        <p:txBody>
          <a:bodyPr>
            <a:normAutofit/>
          </a:bodyPr>
          <a:lstStyle/>
          <a:p>
            <a:r>
              <a:rPr lang="pt-BR" sz="2400" b="1" dirty="0"/>
              <a:t>O </a:t>
            </a:r>
            <a:r>
              <a:rPr lang="pt-BR" sz="2400" b="1" dirty="0" err="1"/>
              <a:t>pseudo-código</a:t>
            </a:r>
            <a:r>
              <a:rPr lang="pt-BR" sz="2400" b="1" dirty="0"/>
              <a:t> </a:t>
            </a:r>
            <a:r>
              <a:rPr lang="pt-BR" sz="2400" dirty="0"/>
              <a:t>é a forma simples e direta de escrever a lógica de um programa usando a língua nativa</a:t>
            </a:r>
          </a:p>
          <a:p>
            <a:endParaRPr lang="pt-BR" sz="2400" dirty="0"/>
          </a:p>
          <a:p>
            <a:r>
              <a:rPr lang="pt-BR" sz="2400" b="1" dirty="0"/>
              <a:t>O algoritmo</a:t>
            </a:r>
            <a:r>
              <a:rPr lang="pt-BR" sz="2400" dirty="0"/>
              <a:t> é uma sequência de instruções ou regras bem definidas para realizar uma tarefa.</a:t>
            </a:r>
          </a:p>
          <a:p>
            <a:endParaRPr lang="pt-BR" sz="2400" dirty="0"/>
          </a:p>
          <a:p>
            <a:r>
              <a:rPr lang="pt-BR" sz="2400" b="1" dirty="0"/>
              <a:t>A LP </a:t>
            </a:r>
            <a:r>
              <a:rPr lang="pt-BR" sz="2400" dirty="0"/>
              <a:t>é um conjunto de regras sintáticas e semânticas para comunicação com a máquina.</a:t>
            </a:r>
          </a:p>
          <a:p>
            <a:endParaRPr lang="pt-BR" dirty="0"/>
          </a:p>
        </p:txBody>
      </p:sp>
      <p:pic>
        <p:nvPicPr>
          <p:cNvPr id="3074" name="Picture 2" descr="Sobre pseudocódigo, leia as alternativas e assinale a opção correta: I - O  pseudocódigo é uma linguagem - brainly.com.br">
            <a:extLst>
              <a:ext uri="{FF2B5EF4-FFF2-40B4-BE49-F238E27FC236}">
                <a16:creationId xmlns:a16="http://schemas.microsoft.com/office/drawing/2014/main" id="{519457E3-8DE1-752D-1393-96E1E3708608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46" r="2476" b="4286"/>
          <a:stretch>
            <a:fillRect/>
          </a:stretch>
        </p:blipFill>
        <p:spPr bwMode="auto">
          <a:xfrm>
            <a:off x="6690168" y="1896499"/>
            <a:ext cx="5429470" cy="40315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1427215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429E4F4-2171-A611-20A4-E0BEBA08C2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E3F869F-C534-FD4D-1148-C594EFCBA68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AB1BBAC-EA12-CF1A-4608-33143810324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Níveis de Linguagem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73A2E345-1650-BAC8-2E96-616F1C30B02D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C7B0C34-EF3C-0168-9FC4-0838347B5D9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2" y="1825625"/>
            <a:ext cx="6019558" cy="4351338"/>
          </a:xfrm>
        </p:spPr>
        <p:txBody>
          <a:bodyPr/>
          <a:lstStyle/>
          <a:p>
            <a:r>
              <a:rPr lang="pt-BR" sz="2400" dirty="0"/>
              <a:t>As linguagens são </a:t>
            </a:r>
            <a:r>
              <a:rPr lang="pt-BR" sz="2400"/>
              <a:t>subdivididas em 3 </a:t>
            </a:r>
            <a:r>
              <a:rPr lang="pt-BR" sz="2400" dirty="0"/>
              <a:t>categorias distintas:</a:t>
            </a:r>
          </a:p>
          <a:p>
            <a:pPr lvl="1"/>
            <a:endParaRPr lang="pt-BR" sz="2000" dirty="0"/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Máquina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Assembly</a:t>
            </a:r>
          </a:p>
          <a:p>
            <a:pPr marL="914400" lvl="1" indent="-457200">
              <a:buFont typeface="+mj-lt"/>
              <a:buAutoNum type="arabicPeriod"/>
            </a:pPr>
            <a:r>
              <a:rPr lang="pt-BR" sz="2000" dirty="0"/>
              <a:t>Linguagem de Alto Nível</a:t>
            </a:r>
          </a:p>
          <a:p>
            <a:endParaRPr lang="pt-BR" sz="2400" dirty="0"/>
          </a:p>
          <a:p>
            <a:endParaRPr lang="pt-BR" dirty="0"/>
          </a:p>
        </p:txBody>
      </p:sp>
      <p:pic>
        <p:nvPicPr>
          <p:cNvPr id="2050" name="Picture 2" descr="Linguagens de Programação">
            <a:extLst>
              <a:ext uri="{FF2B5EF4-FFF2-40B4-BE49-F238E27FC236}">
                <a16:creationId xmlns:a16="http://schemas.microsoft.com/office/drawing/2014/main" id="{54F43681-4BA0-DF66-CBC8-A717009398E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072425" y="3429000"/>
            <a:ext cx="6677025" cy="27146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048787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9BD736-CEF0-B6C0-28BC-774DA5F6E1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717F9DE4-EB99-5874-7C93-C50756B60B56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ECB663B-29B6-EF3E-539D-7287CF4F62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de Máquina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3965B379-0BB9-05F4-129D-B28D07BD1AC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B400FDEC-E1C9-8037-38E3-62ED4ADC7A3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42377" y="1640958"/>
            <a:ext cx="5527874" cy="4887691"/>
          </a:xfrm>
        </p:spPr>
        <p:txBody>
          <a:bodyPr>
            <a:normAutofit/>
          </a:bodyPr>
          <a:lstStyle/>
          <a:p>
            <a:r>
              <a:rPr lang="pt-BR" sz="2400" dirty="0"/>
              <a:t>Forma básica de instrução compreendida pelo computador</a:t>
            </a:r>
            <a:endParaRPr lang="pt-BR" sz="2000" dirty="0"/>
          </a:p>
          <a:p>
            <a:pPr marL="0" indent="0">
              <a:buNone/>
            </a:pPr>
            <a:endParaRPr lang="pt-BR" sz="2000" dirty="0"/>
          </a:p>
          <a:p>
            <a:r>
              <a:rPr lang="pt-BR" sz="2400" dirty="0"/>
              <a:t>Caracterizada por ser uma sequências de 0 e 1, ou de valores Hexadecimais </a:t>
            </a:r>
          </a:p>
          <a:p>
            <a:endParaRPr lang="pt-BR" sz="2400" dirty="0"/>
          </a:p>
          <a:p>
            <a:r>
              <a:rPr lang="pt-BR" sz="2400" dirty="0"/>
              <a:t>Cada arquitetura compreende sua própria linguagem de máquina</a:t>
            </a:r>
          </a:p>
          <a:p>
            <a:endParaRPr lang="pt-BR" sz="2400" dirty="0"/>
          </a:p>
          <a:p>
            <a:r>
              <a:rPr lang="pt-BR" sz="2400" dirty="0"/>
              <a:t>Opera de acordo com o projeto de Hardware do processador</a:t>
            </a:r>
            <a:endParaRPr lang="pt-BR" dirty="0"/>
          </a:p>
          <a:p>
            <a:endParaRPr lang="pt-BR" sz="2400" dirty="0"/>
          </a:p>
        </p:txBody>
      </p:sp>
      <p:pic>
        <p:nvPicPr>
          <p:cNvPr id="4098" name="Picture 2" descr="Importância da linguem de Programação de Baixo Nível">
            <a:extLst>
              <a:ext uri="{FF2B5EF4-FFF2-40B4-BE49-F238E27FC236}">
                <a16:creationId xmlns:a16="http://schemas.microsoft.com/office/drawing/2014/main" id="{36D343F2-A8DE-A76F-F763-075091475246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0928" r="1050" b="68373"/>
          <a:stretch>
            <a:fillRect/>
          </a:stretch>
        </p:blipFill>
        <p:spPr bwMode="auto">
          <a:xfrm>
            <a:off x="7909790" y="1814843"/>
            <a:ext cx="3067291" cy="127727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100" name="Picture 4" descr="Organization of Computer Systems: ISA, Machine Language, Number Systems">
            <a:extLst>
              <a:ext uri="{FF2B5EF4-FFF2-40B4-BE49-F238E27FC236}">
                <a16:creationId xmlns:a16="http://schemas.microsoft.com/office/drawing/2014/main" id="{103232D8-49E8-B066-4C6A-8F3AF74E372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49863" y="3339436"/>
            <a:ext cx="4962525" cy="30289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3B9E8019-D6C5-3D11-235D-94FE651B5926}"/>
              </a:ext>
            </a:extLst>
          </p:cNvPr>
          <p:cNvSpPr txBox="1"/>
          <p:nvPr/>
        </p:nvSpPr>
        <p:spPr>
          <a:xfrm>
            <a:off x="7498054" y="6343983"/>
            <a:ext cx="346614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Instruction</a:t>
            </a:r>
            <a:r>
              <a:rPr lang="pt-BR" dirty="0"/>
              <a:t> Set </a:t>
            </a:r>
            <a:r>
              <a:rPr lang="pt-BR" dirty="0" err="1"/>
              <a:t>Architecture</a:t>
            </a:r>
            <a:r>
              <a:rPr lang="pt-BR" dirty="0"/>
              <a:t> – MIPS</a:t>
            </a:r>
          </a:p>
        </p:txBody>
      </p:sp>
    </p:spTree>
    <p:extLst>
      <p:ext uri="{BB962C8B-B14F-4D97-AF65-F5344CB8AC3E}">
        <p14:creationId xmlns:p14="http://schemas.microsoft.com/office/powerpoint/2010/main" val="410210152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25C57C-4AC3-DF5A-D004-04DB875A0EE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3FC9A9B-8E88-FEA5-7D07-53A05DB749B3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B7226DD1-2C9F-E5DD-5255-F8955046DC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Linguagem Assembly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58CD5F2B-3F4B-1170-1A3A-4C958128A9FC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4E9CDBE0-1F00-547B-C4DA-F12EE272140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0861" y="1640492"/>
            <a:ext cx="7338349" cy="4413067"/>
          </a:xfrm>
        </p:spPr>
        <p:txBody>
          <a:bodyPr>
            <a:normAutofit/>
          </a:bodyPr>
          <a:lstStyle/>
          <a:p>
            <a:r>
              <a:rPr lang="pt-BR" sz="2400" dirty="0"/>
              <a:t>Uso de abreviações textuais que representam instruções de código de máquina – Mnemônicos.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Dependem de programas tradutores (</a:t>
            </a:r>
            <a:r>
              <a:rPr lang="pt-BR" sz="2400" dirty="0" err="1"/>
              <a:t>assemblers</a:t>
            </a:r>
            <a:r>
              <a:rPr lang="pt-BR" sz="2400" dirty="0"/>
              <a:t>) para converter o código para linguagem de máquina.</a:t>
            </a:r>
          </a:p>
          <a:p>
            <a:endParaRPr lang="pt-BR" sz="2400" dirty="0"/>
          </a:p>
          <a:p>
            <a:r>
              <a:rPr lang="pt-BR" sz="2400" dirty="0"/>
              <a:t>Seu uso ainda se justifica em casos onde o desempenho é critico ou sistemas embarcados</a:t>
            </a:r>
          </a:p>
          <a:p>
            <a:endParaRPr lang="pt-BR" sz="2400" dirty="0"/>
          </a:p>
          <a:p>
            <a:r>
              <a:rPr lang="pt-BR" sz="2400" dirty="0"/>
              <a:t>A conversão de suas instruções é  ‘1 pra 1’</a:t>
            </a:r>
            <a:endParaRPr lang="pt-BR" dirty="0"/>
          </a:p>
          <a:p>
            <a:endParaRPr lang="pt-BR" sz="2400" dirty="0"/>
          </a:p>
        </p:txBody>
      </p:sp>
      <p:pic>
        <p:nvPicPr>
          <p:cNvPr id="5122" name="Picture 2" descr="Importância da linguem de Programação de Baixo Nível">
            <a:extLst>
              <a:ext uri="{FF2B5EF4-FFF2-40B4-BE49-F238E27FC236}">
                <a16:creationId xmlns:a16="http://schemas.microsoft.com/office/drawing/2014/main" id="{EADFA9B8-4F3A-682A-1578-30B5339E88A2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30" r="58769" b="57292"/>
          <a:stretch>
            <a:fillRect/>
          </a:stretch>
        </p:blipFill>
        <p:spPr bwMode="auto">
          <a:xfrm>
            <a:off x="8588188" y="1842207"/>
            <a:ext cx="2990126" cy="24390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Imagem 9">
            <a:extLst>
              <a:ext uri="{FF2B5EF4-FFF2-40B4-BE49-F238E27FC236}">
                <a16:creationId xmlns:a16="http://schemas.microsoft.com/office/drawing/2014/main" id="{EAF9DFF1-4300-C177-C5B9-0FE8BD01CBE9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5742"/>
          <a:stretch>
            <a:fillRect/>
          </a:stretch>
        </p:blipFill>
        <p:spPr>
          <a:xfrm>
            <a:off x="7967428" y="4281211"/>
            <a:ext cx="4224572" cy="17723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521338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ACF2CA-646F-A51B-B8DE-0DFCB330174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861DE212-0D89-D41F-7CA0-11865FFE7931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DA0709C0-24AC-5BB1-9932-E41B1C3C387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Linguagens de Alto Nível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8314CDC7-5B3B-0DFD-59D5-5142BB8A853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2A0ED64-1BC3-1627-470A-DB92ADD5D1B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7765080" cy="4413067"/>
          </a:xfrm>
        </p:spPr>
        <p:txBody>
          <a:bodyPr>
            <a:normAutofit/>
          </a:bodyPr>
          <a:lstStyle/>
          <a:p>
            <a:r>
              <a:rPr lang="pt-BR" sz="2400" dirty="0"/>
              <a:t>Possui uma leitura mais próxima da linguagem humana</a:t>
            </a:r>
            <a:endParaRPr lang="pt-BR" sz="2000" dirty="0"/>
          </a:p>
          <a:p>
            <a:endParaRPr lang="pt-BR" sz="2400" dirty="0"/>
          </a:p>
          <a:p>
            <a:r>
              <a:rPr lang="pt-BR" sz="2400" dirty="0"/>
              <a:t>O próprio computador faz o trabalho duro de traduzir o código para a máquina (Compiladores ou Interpretadores).</a:t>
            </a:r>
          </a:p>
          <a:p>
            <a:endParaRPr lang="pt-BR" sz="2400" dirty="0"/>
          </a:p>
          <a:p>
            <a:r>
              <a:rPr lang="pt-BR" sz="2400" dirty="0"/>
              <a:t>Introduz a portabilidade, podendo ser executado em diferentes arquiteturas. </a:t>
            </a:r>
          </a:p>
          <a:p>
            <a:endParaRPr lang="pt-BR" sz="2400" dirty="0"/>
          </a:p>
        </p:txBody>
      </p:sp>
      <p:pic>
        <p:nvPicPr>
          <p:cNvPr id="6146" name="Picture 2" descr="PPT - MIPS Assembly Language PowerPoint Presentation, free download -  ID:144403">
            <a:extLst>
              <a:ext uri="{FF2B5EF4-FFF2-40B4-BE49-F238E27FC236}">
                <a16:creationId xmlns:a16="http://schemas.microsoft.com/office/drawing/2014/main" id="{C5D593F8-7C4C-0C3A-F2E3-D18ACE26910C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853" t="29874" r="10702" b="10042"/>
          <a:stretch>
            <a:fillRect/>
          </a:stretch>
        </p:blipFill>
        <p:spPr bwMode="auto">
          <a:xfrm>
            <a:off x="7307483" y="4251469"/>
            <a:ext cx="4884517" cy="26065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Imagem 2">
            <a:extLst>
              <a:ext uri="{FF2B5EF4-FFF2-40B4-BE49-F238E27FC236}">
                <a16:creationId xmlns:a16="http://schemas.microsoft.com/office/drawing/2014/main" id="{0B46C71D-772A-A08A-3F6B-202564571EFA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21265" t="20112" r="40751" b="50000"/>
          <a:stretch>
            <a:fillRect/>
          </a:stretch>
        </p:blipFill>
        <p:spPr>
          <a:xfrm>
            <a:off x="2406584" y="5381764"/>
            <a:ext cx="3556860" cy="1476236"/>
          </a:xfrm>
          <a:prstGeom prst="rect">
            <a:avLst/>
          </a:prstGeom>
        </p:spPr>
      </p:pic>
      <p:sp>
        <p:nvSpPr>
          <p:cNvPr id="4" name="CaixaDeTexto 3">
            <a:extLst>
              <a:ext uri="{FF2B5EF4-FFF2-40B4-BE49-F238E27FC236}">
                <a16:creationId xmlns:a16="http://schemas.microsoft.com/office/drawing/2014/main" id="{7CC8EC65-FBA8-A4F1-283D-3A1379045304}"/>
              </a:ext>
            </a:extLst>
          </p:cNvPr>
          <p:cNvSpPr txBox="1"/>
          <p:nvPr/>
        </p:nvSpPr>
        <p:spPr>
          <a:xfrm>
            <a:off x="2827302" y="5012432"/>
            <a:ext cx="27154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Linguagem C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D10F9228-07B1-731A-9990-D3A20EC7A3C4}"/>
              </a:ext>
            </a:extLst>
          </p:cNvPr>
          <p:cNvSpPr txBox="1"/>
          <p:nvPr/>
        </p:nvSpPr>
        <p:spPr>
          <a:xfrm>
            <a:off x="8392029" y="3731768"/>
            <a:ext cx="294176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dirty="0" err="1"/>
              <a:t>Hello</a:t>
            </a:r>
            <a:r>
              <a:rPr lang="pt-BR" dirty="0"/>
              <a:t> World – Assembly MIPS</a:t>
            </a:r>
          </a:p>
        </p:txBody>
      </p:sp>
    </p:spTree>
    <p:extLst>
      <p:ext uri="{BB962C8B-B14F-4D97-AF65-F5344CB8AC3E}">
        <p14:creationId xmlns:p14="http://schemas.microsoft.com/office/powerpoint/2010/main" val="318846398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161A393-562A-D38D-3A66-DFE4E0368F3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E8190D0D-CA3E-D15D-4D00-A1096CC5EE58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2B6E970-839C-6C5D-119D-0592249D3AE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622A0E1D-F25B-D357-14BD-AC24AF147287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C49D0839-B4EA-C211-5150-2BC91CB530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2474" y="1640492"/>
            <a:ext cx="8585494" cy="4711540"/>
          </a:xfrm>
        </p:spPr>
        <p:txBody>
          <a:bodyPr>
            <a:normAutofit/>
          </a:bodyPr>
          <a:lstStyle/>
          <a:p>
            <a:r>
              <a:rPr lang="pt-BR" sz="2400" b="1" dirty="0"/>
              <a:t>Compilador 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traduz todo o código-fonte para linguagem de máquina antes da execução.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O resultado da compilação é um arquivo executável independente. (</a:t>
            </a:r>
            <a:r>
              <a:rPr lang="pt-BR" sz="2000" dirty="0"/>
              <a:t>Dispensa a necessidade do compilador original ou do código-fonte.</a:t>
            </a:r>
            <a:r>
              <a:rPr lang="pt-BR" sz="2200" dirty="0"/>
              <a:t>)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A tradução prévia da compilação permite uma execução mais otimizada, mas a compilação em si pode ser demorado.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Exemplo: C, C++, Swift, Delphi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C6D5AA5D-DDBE-45EA-302E-9A838F85278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702375" y="1468337"/>
            <a:ext cx="1530401" cy="52175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518579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BC98AB-9FE9-6F23-E8DD-5918288BBAA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DC60625C-76BF-117E-9D77-44541679F3C7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E6E38D8-A826-6E2A-88B7-58CE6D56E1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Compiladores X Interpretadores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971EC516-EE04-2521-BF07-71312E65BFA9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71189A5-4D8C-810B-1954-668AFE0BA0F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14488" y="1439002"/>
            <a:ext cx="8017437" cy="5289176"/>
          </a:xfrm>
        </p:spPr>
        <p:txBody>
          <a:bodyPr>
            <a:normAutofit/>
          </a:bodyPr>
          <a:lstStyle/>
          <a:p>
            <a:r>
              <a:rPr lang="pt-BR" sz="2400" b="1" dirty="0"/>
              <a:t>Interpretador</a:t>
            </a:r>
          </a:p>
          <a:p>
            <a:pPr lvl="1"/>
            <a:endParaRPr lang="pt-BR" sz="2000" dirty="0"/>
          </a:p>
          <a:p>
            <a:pPr lvl="1"/>
            <a:r>
              <a:rPr lang="pt-BR" sz="2200" dirty="0"/>
              <a:t>Lê o código-fonte linha a linha e o executa imediatamente, utilizando a API do S.O para comunicar com o hardware</a:t>
            </a:r>
          </a:p>
          <a:p>
            <a:pPr marL="457200" lvl="1" indent="0">
              <a:buNone/>
            </a:pPr>
            <a:endParaRPr lang="pt-BR" sz="2200" dirty="0"/>
          </a:p>
          <a:p>
            <a:pPr lvl="1"/>
            <a:r>
              <a:rPr lang="pt-BR" sz="2200" dirty="0"/>
              <a:t>Permite um desenvolvimento mais interativo e facilita o processo de detecção de erros.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Apresenta maior portabilidade em sistemas operacionais (Requisitando apenas a instalação do interpretador)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A tradução e execução simultânea (em tempo de execução) degrada o desempenho</a:t>
            </a:r>
          </a:p>
          <a:p>
            <a:pPr lvl="1"/>
            <a:endParaRPr lang="pt-BR" sz="2200" dirty="0"/>
          </a:p>
          <a:p>
            <a:pPr lvl="1"/>
            <a:r>
              <a:rPr lang="pt-BR" sz="2200" dirty="0"/>
              <a:t>Exemplos: JS, Ruby, PHP</a:t>
            </a:r>
          </a:p>
          <a:p>
            <a:endParaRPr lang="pt-BR" sz="2400" dirty="0"/>
          </a:p>
          <a:p>
            <a:endParaRPr lang="pt-BR" sz="2400" dirty="0"/>
          </a:p>
        </p:txBody>
      </p:sp>
      <p:pic>
        <p:nvPicPr>
          <p:cNvPr id="3" name="Imagem 2">
            <a:extLst>
              <a:ext uri="{FF2B5EF4-FFF2-40B4-BE49-F238E27FC236}">
                <a16:creationId xmlns:a16="http://schemas.microsoft.com/office/drawing/2014/main" id="{109D98C0-138A-AB5B-2A74-6D120957C105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3891" r="6959"/>
          <a:stretch>
            <a:fillRect/>
          </a:stretch>
        </p:blipFill>
        <p:spPr>
          <a:xfrm>
            <a:off x="8319911" y="2626692"/>
            <a:ext cx="3657601" cy="302904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87399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3087AC-5D75-90DD-6E28-D5F1BDDF30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 4">
            <a:extLst>
              <a:ext uri="{FF2B5EF4-FFF2-40B4-BE49-F238E27FC236}">
                <a16:creationId xmlns:a16="http://schemas.microsoft.com/office/drawing/2014/main" id="{569B5857-8044-CD22-9F41-F40D6B63243F}"/>
              </a:ext>
            </a:extLst>
          </p:cNvPr>
          <p:cNvSpPr/>
          <p:nvPr/>
        </p:nvSpPr>
        <p:spPr>
          <a:xfrm>
            <a:off x="0" y="-2"/>
            <a:ext cx="12192000" cy="1325563"/>
          </a:xfrm>
          <a:prstGeom prst="rect">
            <a:avLst/>
          </a:prstGeom>
          <a:solidFill>
            <a:srgbClr val="418AB3"/>
          </a:solidFill>
          <a:ln>
            <a:solidFill>
              <a:srgbClr val="418AB3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6E3EE325-983A-9EEC-F3DD-F8CDD53972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1"/>
            <a:ext cx="12192000" cy="1325563"/>
          </a:xfrm>
        </p:spPr>
        <p:txBody>
          <a:bodyPr/>
          <a:lstStyle/>
          <a:p>
            <a:pPr algn="ctr"/>
            <a:r>
              <a:rPr lang="pt-BR" dirty="0">
                <a:solidFill>
                  <a:schemeClr val="bg1"/>
                </a:solidFill>
              </a:rPr>
              <a:t>Paradigmas de Programação</a:t>
            </a:r>
          </a:p>
        </p:txBody>
      </p:sp>
      <p:sp>
        <p:nvSpPr>
          <p:cNvPr id="12" name="AutoShape 6" descr="Lógica Proposicional x Lógica de Argumento ⋆ Colaborae">
            <a:extLst>
              <a:ext uri="{FF2B5EF4-FFF2-40B4-BE49-F238E27FC236}">
                <a16:creationId xmlns:a16="http://schemas.microsoft.com/office/drawing/2014/main" id="{05923519-D03D-8947-37A2-4092664C4E28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5943600" y="-1707776"/>
            <a:ext cx="5289176" cy="528917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pt-BR"/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A70955A0-658B-3903-F6CC-53E115C3F1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95458" y="1817511"/>
            <a:ext cx="10443386" cy="3764537"/>
          </a:xfrm>
        </p:spPr>
        <p:txBody>
          <a:bodyPr>
            <a:normAutofit/>
          </a:bodyPr>
          <a:lstStyle/>
          <a:p>
            <a:r>
              <a:rPr lang="pt-BR" sz="2400" dirty="0"/>
              <a:t>Refere-se as formas de pensar e organizar a escrita de programas</a:t>
            </a:r>
            <a:endParaRPr lang="pt-BR" sz="2200" dirty="0"/>
          </a:p>
          <a:p>
            <a:r>
              <a:rPr lang="pt-BR" sz="2400" dirty="0"/>
              <a:t>Linguagens modernas costumam dar suporte a mais de um paradigma.</a:t>
            </a:r>
          </a:p>
          <a:p>
            <a:r>
              <a:rPr lang="pt-BR" sz="2400" dirty="0"/>
              <a:t>O paradigma de uma linguagem não é determinado pelo que </a:t>
            </a:r>
            <a:r>
              <a:rPr lang="pt-BR" sz="2400" b="1" dirty="0"/>
              <a:t>é possível fazer</a:t>
            </a:r>
            <a:r>
              <a:rPr lang="pt-BR" sz="2400" dirty="0"/>
              <a:t>, mas pelo que a linguagem </a:t>
            </a:r>
            <a:r>
              <a:rPr lang="pt-BR" sz="2400" b="1" dirty="0"/>
              <a:t>incentiva e oferece como modelo principal</a:t>
            </a:r>
            <a:r>
              <a:rPr lang="pt-BR" sz="2400" dirty="0"/>
              <a:t>.</a:t>
            </a:r>
            <a:endParaRPr lang="pt-BR" sz="2200" dirty="0"/>
          </a:p>
          <a:p>
            <a:pPr marL="0" indent="0">
              <a:buNone/>
            </a:pPr>
            <a:endParaRPr lang="pt-BR" sz="2400" dirty="0"/>
          </a:p>
        </p:txBody>
      </p:sp>
      <p:pic>
        <p:nvPicPr>
          <p:cNvPr id="2050" name="Picture 2" descr="template">
            <a:extLst>
              <a:ext uri="{FF2B5EF4-FFF2-40B4-BE49-F238E27FC236}">
                <a16:creationId xmlns:a16="http://schemas.microsoft.com/office/drawing/2014/main" id="{3F7081EE-C977-259E-2B4B-F5F29A58B7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08525" y="3751662"/>
            <a:ext cx="7470150" cy="310633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010342899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Pacote">
  <a:themeElements>
    <a:clrScheme name="Pacote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A6B727"/>
      </a:accent1>
      <a:accent2>
        <a:srgbClr val="418AB3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Pacote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cote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A425FB89-E954-4A2A-81DC-D90804A94DBA}"/>
    </a:ext>
  </a:extLst>
</a:theme>
</file>

<file path=ppt/theme/theme3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1153</TotalTime>
  <Words>1340</Words>
  <Application>Microsoft Office PowerPoint</Application>
  <PresentationFormat>Widescreen</PresentationFormat>
  <Paragraphs>157</Paragraphs>
  <Slides>10</Slides>
  <Notes>10</Notes>
  <HiddenSlides>0</HiddenSlides>
  <MMClips>0</MMClips>
  <ScaleCrop>false</ScaleCrop>
  <HeadingPairs>
    <vt:vector size="6" baseType="variant">
      <vt:variant>
        <vt:lpstr>Fontes usadas</vt:lpstr>
      </vt:variant>
      <vt:variant>
        <vt:i4>4</vt:i4>
      </vt:variant>
      <vt:variant>
        <vt:lpstr>Tema</vt:lpstr>
      </vt:variant>
      <vt:variant>
        <vt:i4>2</vt:i4>
      </vt:variant>
      <vt:variant>
        <vt:lpstr>Títulos de slides</vt:lpstr>
      </vt:variant>
      <vt:variant>
        <vt:i4>10</vt:i4>
      </vt:variant>
    </vt:vector>
  </HeadingPairs>
  <TitlesOfParts>
    <vt:vector size="16" baseType="lpstr">
      <vt:lpstr>Arial</vt:lpstr>
      <vt:lpstr>Calibri</vt:lpstr>
      <vt:lpstr>Calibri Light</vt:lpstr>
      <vt:lpstr>Gill Sans MT</vt:lpstr>
      <vt:lpstr>Tema do Office</vt:lpstr>
      <vt:lpstr>Pacote</vt:lpstr>
      <vt:lpstr>módulo 1 - Introdução à lp</vt:lpstr>
      <vt:lpstr>Conceitos Introdutórios</vt:lpstr>
      <vt:lpstr>LP X Algoritmo X Pseudo-código</vt:lpstr>
      <vt:lpstr>Níveis de Linguagem</vt:lpstr>
      <vt:lpstr>Linguagem de Máquina</vt:lpstr>
      <vt:lpstr>Linguagem Assembly</vt:lpstr>
      <vt:lpstr>Linguagens de Alto Nível</vt:lpstr>
      <vt:lpstr>Compiladores X Interpretadores</vt:lpstr>
      <vt:lpstr>Compiladores X Interpretadores</vt:lpstr>
      <vt:lpstr>Paradigmas de Programação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Marcio Salmazo Ramos</dc:creator>
  <cp:lastModifiedBy>Marcio Salmazo Ramos</cp:lastModifiedBy>
  <cp:revision>100</cp:revision>
  <dcterms:created xsi:type="dcterms:W3CDTF">2026-07-26T12:48:37Z</dcterms:created>
  <dcterms:modified xsi:type="dcterms:W3CDTF">2026-08-22T19:12:56Z</dcterms:modified>
</cp:coreProperties>
</file>