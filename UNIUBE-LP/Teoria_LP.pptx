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46"/>
  </p:notesMasterIdLst>
  <p:sldIdLst>
    <p:sldId id="276" r:id="rId3"/>
    <p:sldId id="277" r:id="rId4"/>
    <p:sldId id="278" r:id="rId5"/>
    <p:sldId id="279" r:id="rId6"/>
    <p:sldId id="256" r:id="rId7"/>
    <p:sldId id="257" r:id="rId8"/>
    <p:sldId id="261" r:id="rId9"/>
    <p:sldId id="259" r:id="rId10"/>
    <p:sldId id="262" r:id="rId11"/>
    <p:sldId id="264" r:id="rId12"/>
    <p:sldId id="265" r:id="rId13"/>
    <p:sldId id="267" r:id="rId14"/>
    <p:sldId id="273" r:id="rId15"/>
    <p:sldId id="268" r:id="rId16"/>
    <p:sldId id="275" r:id="rId17"/>
    <p:sldId id="269" r:id="rId18"/>
    <p:sldId id="270" r:id="rId19"/>
    <p:sldId id="271" r:id="rId20"/>
    <p:sldId id="280" r:id="rId21"/>
    <p:sldId id="281" r:id="rId22"/>
    <p:sldId id="282" r:id="rId23"/>
    <p:sldId id="283" r:id="rId24"/>
    <p:sldId id="285" r:id="rId25"/>
    <p:sldId id="286" r:id="rId26"/>
    <p:sldId id="287" r:id="rId27"/>
    <p:sldId id="288" r:id="rId28"/>
    <p:sldId id="289" r:id="rId29"/>
    <p:sldId id="290" r:id="rId30"/>
    <p:sldId id="294" r:id="rId31"/>
    <p:sldId id="292" r:id="rId32"/>
    <p:sldId id="293" r:id="rId33"/>
    <p:sldId id="291" r:id="rId34"/>
    <p:sldId id="298" r:id="rId35"/>
    <p:sldId id="296" r:id="rId36"/>
    <p:sldId id="295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4911" autoAdjust="0"/>
  </p:normalViewPr>
  <p:slideViewPr>
    <p:cSldViewPr snapToGrid="0">
      <p:cViewPr varScale="1">
        <p:scale>
          <a:sx n="80" d="100"/>
          <a:sy n="80" d="100"/>
        </p:scale>
        <p:origin x="120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71A39-F6AA-E07D-1DE7-88B3686AF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2C1B8A8-4E05-2EF9-A649-DFF004BCFD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2B0F470-7202-A201-1AD1-9C1760C1C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30E76AC-5DA0-6118-D4F3-63E6EC0DC1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0450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A7B2A-BF0C-6DE5-D7D4-EB437BE82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4C9A454-78DF-0441-D12F-F57B1DCF9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BADED7D-9228-27C3-F085-8AD77D9937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F76711-7864-16B2-2D1A-140BF30DEF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5703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2EBE6-8028-CFB1-9724-36EFE5A09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069B76E-CD7C-F176-E30C-1FF6CBC78B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DF1F636-8DE6-4496-60E4-309D236B1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E5E1AEC-CF40-C324-4374-28168748E2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2613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84A9F-4876-629F-891A-6D247B74D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7E3B4A7-5916-5A37-F86B-2CA224A7B4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0CF73BD-08A0-6C5A-90F2-844EAE078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FF1830E-CA2A-22E0-725D-2C8E1FF19F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703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0965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4023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EB011-7176-5A7D-A2EA-0C754678F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2828F5C-42D4-B833-940B-876A12899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45B40F1-CB45-2F7C-EB01-737BEE44EE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537E7EA-4D4D-166C-DE43-EB39174807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2862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A04B0-2E89-3816-3360-6ADA1DCB9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2B9E0E2-6219-B231-EADA-A20DB24103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FAB21D2-4C73-FDAF-5D02-C01B9D51D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0B2917-E3D1-8BFF-51B4-AC63697CFE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05219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74700-726A-9632-5874-091B11DE7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CE332DC-1D60-D749-F5A3-1D96DC7020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781068E-3166-81EA-0EDD-EA5406B2D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8096CAF-7A2F-FD92-931F-5545406894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1719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EB377-559E-8593-32F4-69B1B87A2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B9343CE-6DBE-D912-4E15-15583EEAAF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DDD4AA0-3B61-D158-399C-06F757EF8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Sistemas Embarcados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Controle direto de microcontroladores em eletrodomésticos e automóveis.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Desempenho Crítico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Otimização extrema de partes de código em sistemas operacionais ou drivers de dispositivos.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Estudo de Hardware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Ajuda a compreender profundamente como a CPU executa instruções e gerencia a memória.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F05C5D-FB7F-167A-C57D-BFD232655A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03504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2B2D9-6146-7106-DBA4-40073748A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44BB465-009B-BDC8-D694-CAA715C172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5D45F14-6F12-7068-0C5F-A405B1E25F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Speedcoding</a:t>
            </a:r>
            <a:r>
              <a:rPr lang="pt-BR" dirty="0"/>
              <a:t> ou </a:t>
            </a:r>
            <a:r>
              <a:rPr lang="pt-BR" dirty="0" err="1"/>
              <a:t>Speedcode</a:t>
            </a:r>
            <a:r>
              <a:rPr lang="pt-BR" dirty="0"/>
              <a:t> foi a primeira linguagens de programação de alto nível criada para um computador IBM. </a:t>
            </a:r>
          </a:p>
          <a:p>
            <a:r>
              <a:rPr lang="pt-BR" dirty="0"/>
              <a:t>A linguagem foi desenvolvida por John </a:t>
            </a:r>
            <a:r>
              <a:rPr lang="pt-BR" dirty="0" err="1"/>
              <a:t>Backus</a:t>
            </a:r>
            <a:r>
              <a:rPr lang="pt-BR" dirty="0"/>
              <a:t> em 1953 para o IBM 701. </a:t>
            </a:r>
          </a:p>
          <a:p>
            <a:r>
              <a:rPr lang="pt-BR" dirty="0"/>
              <a:t>A ideia surgiu da dificuldade de programação da máquina IBM SSEC, quando </a:t>
            </a:r>
            <a:r>
              <a:rPr lang="pt-BR" dirty="0" err="1"/>
              <a:t>Backus</a:t>
            </a:r>
            <a:r>
              <a:rPr lang="pt-BR" dirty="0"/>
              <a:t> foi contratado para calcular posições astronômicas no início dos anos 1950.</a:t>
            </a:r>
          </a:p>
          <a:p>
            <a:r>
              <a:rPr lang="pt-BR" dirty="0"/>
              <a:t>Em sequência, veio o Fortran em 1957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 linguagem de programação voltada para computação científica e técnica, especialmente projetada para executar cálculos complexos com eficiência numa ampla variedade de </a:t>
            </a:r>
            <a:r>
              <a:rPr lang="pt-B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processadores.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99CAB7A-E1AF-74E8-7503-53AE44956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83635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CE740-9816-ADD0-2F6E-6B0C1CCB2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AEC6E79-8DEE-9C98-C309-452A8B193C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817813F-4315-97F3-57D4-0F5D6E8207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 compilador lê o código-fonte inteiro de uma só vez. 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 procura por erros de sintaxe na estrutura geral do programa e, se estiver tudo correto, 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traduz o código inteiro para uma linguagem de baixo nível ou linguagem de máquina, criando um arquivo binário autônomo</a:t>
            </a:r>
          </a:p>
          <a:p>
            <a:endParaRPr lang="pt-B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Vantagens: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código já foi traduzido previamente, o que torna a execução muito mais rápida e otimizada.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programa compilado pode ser distribuído e executado sem a necessidade do compilador original ou do código-fonte.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alta Performance: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Como o código já está traduzido e otimizado para o hardware antes da execução, os programas rodam muito mais rápido.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Detecção de Erros: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compilador checa todo o código em busca de erros de sintaxe e estrutura antes de gerar o arquivo final, impedindo que o programa seja criado caso haja falhas críticas.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Menor Portabilidade: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Um arquivo compilado costuma ser específico para um sistema operacional ou arquitetura de processador (um executável do Windows não roda nativamente no Linux, por exemplo). </a:t>
            </a:r>
          </a:p>
          <a:p>
            <a:endParaRPr lang="pt-B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Desvantagens: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processo de compilação pode demorar, e caso o código precise ser alterado, o programa inteiro (ou parte dele) precisa ser compilado novamente.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arquivo binário gerado depende da arquitetura do sistema operacional (um executável de Windows não roda nativamente no Mac).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F3F0FB-B732-D6AC-D3CC-5BE62E1487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95131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F065B-D111-684E-D90B-0BBB70ABA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70CCC18-33EB-50D6-AA19-32A3AD988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5B5E38F-3B61-3341-584A-BF17E3BE3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API de um sistema operacional </a:t>
            </a:r>
            <a:r>
              <a:rPr lang="pt-BR" dirty="0"/>
              <a:t>é um conjunto de regras e ferramentas que permite aos programas conversarem com o sistema. </a:t>
            </a:r>
          </a:p>
          <a:p>
            <a:r>
              <a:rPr lang="pt-BR" dirty="0"/>
              <a:t>Ela funciona como uma ponte ou um tradutor, facilitando o acesso a recursos essenciais como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gerenciamento de arquivos</a:t>
            </a:r>
            <a:r>
              <a:rPr lang="pt-BR" dirty="0"/>
              <a:t>,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uso de memória</a:t>
            </a:r>
            <a:r>
              <a:rPr lang="pt-BR" dirty="0"/>
              <a:t> e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controle de hardware.</a:t>
            </a:r>
          </a:p>
          <a:p>
            <a:endParaRPr lang="pt-B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dirty="0"/>
              <a:t>Algumas linguagens modernas combinam os dois métodos.  No Java, o código é primeiro compilado para uma linguagem intermediária chamada </a:t>
            </a:r>
          </a:p>
          <a:p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bytecode</a:t>
            </a:r>
            <a:r>
              <a:rPr lang="pt-BR" dirty="0"/>
              <a:t> (que não é o código de máquina final).  Durante a execução do programa, um interpretador do sistema (JVM) </a:t>
            </a:r>
          </a:p>
          <a:p>
            <a:r>
              <a:rPr lang="pt-BR" dirty="0"/>
              <a:t>lê esse 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bytecode</a:t>
            </a:r>
            <a:r>
              <a:rPr lang="pt-BR" dirty="0"/>
              <a:t> e usa um compilador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JIT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Just-In-Time</a:t>
            </a:r>
          </a:p>
          <a:p>
            <a:pPr rtl="0"/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 compilador JIT (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Just-In-Time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 "em tempo de execução") é uma tecnologia que traduz código de programa </a:t>
            </a:r>
          </a:p>
          <a:p>
            <a:pPr rtl="0"/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bytecode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 código intermediário) em instruções nativas de máquina diretamente durante a execução do software</a:t>
            </a:r>
          </a:p>
          <a:p>
            <a:pPr rtl="0"/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Compila para 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bytecode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roda na Máquina Virtual Java (JVM).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C#: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Transforma o código em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 (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Intermediate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Language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rodar no ambiente do .NET.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Traduz o arquivo de texto para arquivos binários intermediários (.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pyc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antes da execução interna.</a:t>
            </a:r>
          </a:p>
          <a:p>
            <a:pPr rtl="0"/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CF0F6C3-1900-E55A-CAAA-8B9CE43FE8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89082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DA5AE-B6FC-9E91-1FF3-9E0871569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333E8A7-46A9-7BC4-94A6-692C1C422C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32339BF-A92E-7256-92D4-48F1307C5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/>
              <a:t>Os paradigmas Imperativo e Declarativo são os dois grandes paradigmas fundamentais.</a:t>
            </a:r>
          </a:p>
          <a:p>
            <a:endParaRPr lang="pt-BR" b="0" dirty="0"/>
          </a:p>
          <a:p>
            <a:r>
              <a:rPr lang="pt-BR" b="1" dirty="0"/>
              <a:t>Imperativo: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É o paradigma mais tradicional.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O programa é uma sequência de instruções que altera o estado da memória passo a passo.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O programador descreve </a:t>
            </a:r>
            <a:r>
              <a:rPr lang="pt-BR" b="1" dirty="0"/>
              <a:t>como</a:t>
            </a:r>
            <a:r>
              <a:rPr lang="pt-BR" dirty="0"/>
              <a:t> resolver o problema.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O exemplo mais puro é o Assembly</a:t>
            </a:r>
          </a:p>
          <a:p>
            <a:endParaRPr lang="pt-BR" b="1" dirty="0"/>
          </a:p>
          <a:p>
            <a:r>
              <a:rPr lang="pt-BR" b="1" dirty="0"/>
              <a:t>Declarativo: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O programador diz </a:t>
            </a:r>
            <a:r>
              <a:rPr lang="pt-BR" b="1" dirty="0"/>
              <a:t>o que</a:t>
            </a:r>
            <a:r>
              <a:rPr lang="pt-BR" dirty="0"/>
              <a:t> deseja, sem especificar exatamente como fazer.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Um bom exemplo (por mais que não seja necessariamente uma LP) é a linguagem SQL</a:t>
            </a:r>
          </a:p>
          <a:p>
            <a:endParaRPr lang="pt-BR" b="0" dirty="0"/>
          </a:p>
          <a:p>
            <a:r>
              <a:rPr lang="pt-BR" b="1" dirty="0"/>
              <a:t>Procedural: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Uma evolução do imperativo que foca em dividir o código em blocos menores chamados de procedimentos, sub-rotinas ou funções.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Foco:</a:t>
            </a:r>
            <a:r>
              <a:rPr lang="pt-BR" dirty="0"/>
              <a:t> Reutilizar pedaços de código chamando esses blocos sempre que precisar.</a:t>
            </a:r>
            <a:endParaRPr lang="pt-BR" b="1" dirty="0"/>
          </a:p>
          <a:p>
            <a:endParaRPr lang="pt-BR" b="1" dirty="0"/>
          </a:p>
          <a:p>
            <a:r>
              <a:rPr lang="pt-BR" b="1" dirty="0"/>
              <a:t>Orientado a Objetos: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Organiza o programa em </a:t>
            </a:r>
            <a:r>
              <a:rPr lang="pt-BR" b="1" dirty="0"/>
              <a:t>objetos</a:t>
            </a:r>
            <a:r>
              <a:rPr lang="pt-BR" dirty="0"/>
              <a:t>,  que possuem atributos (dados) e métodos (comportamentos) associados.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Os objetos simulam elementos do mundo real e podem interagir entre si.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Pilares principais:</a:t>
            </a:r>
            <a:r>
              <a:rPr lang="pt-BR" dirty="0"/>
              <a:t> Encapsulamento, herança, polimorfismo e abstração.</a:t>
            </a:r>
            <a:endParaRPr lang="pt-BR" b="0" dirty="0"/>
          </a:p>
          <a:p>
            <a:endParaRPr lang="pt-BR" b="1" dirty="0"/>
          </a:p>
          <a:p>
            <a:r>
              <a:rPr lang="pt-BR" b="1" dirty="0"/>
              <a:t>Lógica: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Baseia-se em regras e fatos.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O sistema utiliza inferência lógica para encontrar respostas.</a:t>
            </a:r>
            <a:endParaRPr lang="pt-BR" b="1" dirty="0"/>
          </a:p>
          <a:p>
            <a:endParaRPr lang="pt-BR" b="1" dirty="0"/>
          </a:p>
          <a:p>
            <a:r>
              <a:rPr lang="pt-BR" b="1" dirty="0"/>
              <a:t>Funcional: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Baseia-se na logica de funções matemáticas.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dirty="0"/>
              <a:t>Uma função pura possui duas características:</a:t>
            </a:r>
          </a:p>
          <a:p>
            <a:pPr marL="228600" indent="-228600">
              <a:buFont typeface="+mj-lt"/>
              <a:buAutoNum type="arabicPeriod"/>
            </a:pPr>
            <a:r>
              <a:rPr lang="pt-BR" dirty="0"/>
              <a:t>Para a mesma entrada, sempre produz a mesma saída. </a:t>
            </a:r>
          </a:p>
          <a:p>
            <a:pPr marL="228600" indent="-228600">
              <a:buFont typeface="+mj-lt"/>
              <a:buAutoNum type="arabicPeriod"/>
            </a:pPr>
            <a:r>
              <a:rPr lang="pt-BR" dirty="0"/>
              <a:t>Não modifica nada fora dela (não altera variáveis globais, arquivos, banco de dados, etc.).</a:t>
            </a:r>
          </a:p>
          <a:p>
            <a:endParaRPr lang="pt-BR" dirty="0"/>
          </a:p>
          <a:p>
            <a:r>
              <a:rPr lang="pt-BR" dirty="0"/>
              <a:t>Exemplo:</a:t>
            </a:r>
          </a:p>
          <a:p>
            <a:r>
              <a:rPr lang="pt-BR" dirty="0"/>
              <a:t>x = 10 -&gt; Em C essa variável pode ser alterado, em </a:t>
            </a:r>
            <a:r>
              <a:rPr lang="pt-BR" dirty="0" err="1"/>
              <a:t>Haskell</a:t>
            </a:r>
            <a:r>
              <a:rPr lang="pt-BR" dirty="0"/>
              <a:t>, intuitivamente não.</a:t>
            </a:r>
          </a:p>
          <a:p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Uma boa analogia é a seguinte: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b="1" dirty="0"/>
              <a:t>Programação imperativa: </a:t>
            </a:r>
            <a:r>
              <a:rPr lang="pt-BR" b="0" dirty="0"/>
              <a:t>você escreve uma receita de bolo dizendo passo a passo o que fazer. </a:t>
            </a:r>
          </a:p>
          <a:p>
            <a:r>
              <a:rPr lang="pt-BR" b="1" dirty="0"/>
              <a:t>Programação funcional: </a:t>
            </a:r>
            <a:r>
              <a:rPr lang="pt-BR" dirty="0"/>
              <a:t>você enxerga cada etapa da receita como uma função que recebe um ingrediente e devolve outro. </a:t>
            </a:r>
            <a:endParaRPr lang="pt-BR" b="0" dirty="0"/>
          </a:p>
          <a:p>
            <a:endParaRPr lang="pt-BR" b="0" dirty="0"/>
          </a:p>
          <a:p>
            <a:endParaRPr lang="pt-BR" b="0" dirty="0"/>
          </a:p>
          <a:p>
            <a:endParaRPr lang="pt-BR" b="0" dirty="0"/>
          </a:p>
          <a:p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28D884E-938F-A20D-7BA9-9135DC271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38767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D2F84-E928-43B8-2EDF-5C415DB35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B69E100-C250-9AB3-A4FE-46F4947061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073F178-91AC-6404-52C2-B1C21DBB77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Antes do Unix, os sistemas operacionais eram escritos em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Assembly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 que significava que um sistema feito para um computador específico não funcionava em nenhum outro.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resolver isso, Dennis Ritchie criou a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linguagem de programação C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a equipe reescreveu o Unix nela em 1973, sendo o primeiro sistema operacional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portátil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história.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maioria dos dispositivos eletrônicos atuais roda um sistema que é filho ou "clone" do Unix:</a:t>
            </a:r>
          </a:p>
          <a:p>
            <a:pPr rtl="0"/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Linux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Criado por Linus Torvalds como um clone gratuito e de código aberto baseado nos princípios do Unix. </a:t>
            </a:r>
          </a:p>
          <a:p>
            <a:pPr marL="0" indent="0">
              <a:buFontTx/>
              <a:buNone/>
            </a:pPr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macOS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iOS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Os sistemas da Apple são derivados diretos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uma ramificação do Unix. (BSD) 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dirty="0"/>
              <a:t>O Unix não foi apenas mais um sistema operacional; ele estabeleceu os padrões de engenharia de software e design de sistemas que usamos até hoje. </a:t>
            </a:r>
          </a:p>
          <a:p>
            <a:r>
              <a:rPr lang="pt-BR" dirty="0"/>
              <a:t>Dentre eles: 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Modularidade e </a:t>
            </a:r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Pipes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pt-BR" dirty="0"/>
              <a:t> O Unix introduziu o conceito de conectar a saída de um programa diretamente na entrada de outro.  Isso permite combinar ferramentas simples para resolver problemas gigantescos e altamente complexos.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Faça uma coisa e faça bem feita:</a:t>
            </a:r>
            <a:r>
              <a:rPr lang="pt-BR" dirty="0"/>
              <a:t> Em vez de construir softwares gigantescos e complexos, o Unix  promove a criação de pequenos programas especializados.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6E27146-5F08-F5A4-D45F-B6DF4C229D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66287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9EAF0-70FD-5618-EF51-8C35ED950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D9CE23F-8DD2-2D99-0B73-979E512E3C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8A77FC-AC23-0919-2C9E-C8A966045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Entender esse processo ajuda muito a compreender por que a linguagem C é tão utilizada em sistemas operacionais, embarcados e compiladores.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A68243-78A1-01BA-9A97-C09CCB9083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16683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6B098-E41A-0CFF-9AEC-9A76E366C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1F5F18F-B749-0440-24F0-605393BC6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F188324-D245-863A-B034-CEA8F5222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diretiva 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instrui o compilador a ler e compilar um arquivo-fonte. </a:t>
            </a:r>
          </a:p>
          <a:p>
            <a:pPr rtl="0"/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 forma geral o 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determina o nome do arquivo que será processado. Por exemplo:</a:t>
            </a:r>
          </a:p>
          <a:p>
            <a:pPr rtl="0"/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 &lt;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stdio.h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 &lt;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stdlib.h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printf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Hello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world!\n");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return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0;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Ao processar o arquivo, a diretiva 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instrui o compilador a ler e compilar o arquivo 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stdio.h</a:t>
            </a:r>
            <a:endParaRPr lang="pt-BR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 &lt;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stdio.h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#include “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stdio.h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Ao utilizar os símbolos de “maior e menor” instruímos o compilador a procurar o arquivo nos diretórios do sistema, neste caso, definido pelo compilador. </a:t>
            </a: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Já na outra abordagem, o arquivo é procurado no diretório do código-fonte (diretório de trabalho).</a:t>
            </a:r>
          </a:p>
          <a:p>
            <a:endParaRPr lang="pt-BR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sz="1200" b="0" i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3F7F706-AF9F-4DDF-27E3-183E66354D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55789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B9B95-68CC-C91A-65F7-98BF58A5A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8502B9E-A937-18B6-AB67-D79805A298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52D46F3-3BC8-7457-5E2C-D70BDC2D6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Análise Léxica (</a:t>
            </a:r>
            <a:r>
              <a:rPr lang="pt-BR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Scanning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Lê o código-fonte caractere por caractere.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Agrupa os caracteres em unidades menores chamadas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tokens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(como palavras-chave, identificadores, números e símbolos).</a:t>
            </a:r>
          </a:p>
          <a:p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Descarta espaços em branco e comentários. </a:t>
            </a:r>
          </a:p>
          <a:p>
            <a:endParaRPr lang="pt-B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Análise Sintática (</a:t>
            </a:r>
            <a:r>
              <a:rPr lang="pt-BR" sz="1200" b="1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Parsing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Recebe a sequência de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tokens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analisador léxico.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Organiza os elementos em uma estrutura em árvore (árvore sintática ou de derivação) com base nas regras gramaticais da linguagem C.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Aponta erros de sintaxe (como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ponto e vírgula faltando 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 chaves abertas incorretamente). </a:t>
            </a:r>
          </a:p>
          <a:p>
            <a:endParaRPr lang="pt-B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Análise Semântica: 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Verifica o significado do código estruturado na árvore.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Realiza a checagem de tipos (por exemplo, se você está somando um ponteiro com um tipo incompatível ou atribuindo valores errados a uma variável).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Usa e atualiza a tabela de símbolos para garantir que variáveis e funções foram declaradas antes do uso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Exemplo: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vara = 1.234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DD2FE32-3A29-5FAD-3750-D774BA87D3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06617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4B105-1226-1398-F6AD-1F06713F2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0CF8240-B6D2-0378-86F8-20AF06D43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5D790A5-B43E-0416-E236-0BB416789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Separar a compilação em arquivos objeto traz ganhos importantes:</a:t>
            </a:r>
          </a:p>
          <a:p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1" dirty="0"/>
              <a:t>Compilação incremental:</a:t>
            </a:r>
            <a:r>
              <a:rPr lang="pt-BR" dirty="0"/>
              <a:t> se você alterar apenas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matematica.c</a:t>
            </a:r>
            <a:r>
              <a:rPr lang="pt-BR" dirty="0"/>
              <a:t>, não é necessário recompilar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main.c</a:t>
            </a:r>
            <a:r>
              <a:rPr lang="pt-BR" dirty="0"/>
              <a:t>; apenas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matematica.o</a:t>
            </a:r>
            <a:r>
              <a:rPr lang="pt-BR" dirty="0"/>
              <a:t> é reconstruído e o </a:t>
            </a:r>
            <a:r>
              <a:rPr lang="pt-BR" dirty="0" err="1"/>
              <a:t>linker</a:t>
            </a:r>
            <a:r>
              <a:rPr lang="pt-BR" dirty="0"/>
              <a:t> gera um novo executável.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1" dirty="0"/>
              <a:t>Modularidade:</a:t>
            </a:r>
            <a:r>
              <a:rPr lang="pt-BR" dirty="0"/>
              <a:t> equipes diferentes podem desenvolver módulos independentes (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rede.c</a:t>
            </a:r>
            <a:r>
              <a:rPr lang="pt-BR" dirty="0"/>
              <a:t>,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banco.c</a:t>
            </a:r>
            <a:r>
              <a:rPr lang="pt-BR" dirty="0"/>
              <a:t>,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interface.c</a:t>
            </a:r>
            <a:r>
              <a:rPr lang="pt-BR" dirty="0"/>
              <a:t>), compilando-os separadamente.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1" dirty="0"/>
              <a:t>Reutilização:</a:t>
            </a:r>
            <a:r>
              <a:rPr lang="pt-BR" dirty="0"/>
              <a:t> um mesmo arquivo objeto ou biblioteca pode ser ligado a vários programas diferentes.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1" dirty="0"/>
              <a:t>Escalabilidade:</a:t>
            </a:r>
            <a:r>
              <a:rPr lang="pt-BR" dirty="0"/>
              <a:t> projetos grandes com centenas de arquivos permanecem organizados e têm tempos de compilação muito menores do que se todo o código precisasse ser recompilado a cada alteração.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dirty="0"/>
              <a:t>As bibliotecas normalmente não permanecem como arquivos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.o</a:t>
            </a:r>
            <a:r>
              <a:rPr lang="pt-BR" dirty="0"/>
              <a:t>. </a:t>
            </a:r>
          </a:p>
          <a:p>
            <a:r>
              <a:rPr lang="pt-BR" dirty="0"/>
              <a:t>Elas são distribuídas em formatos específicos (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.a</a:t>
            </a:r>
            <a:r>
              <a:rPr lang="pt-BR" dirty="0"/>
              <a:t>,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lib</a:t>
            </a:r>
            <a:r>
              <a:rPr lang="pt-BR" dirty="0"/>
              <a:t>,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</a:t>
            </a:r>
            <a:r>
              <a:rPr lang="pt-BR" dirty="0"/>
              <a:t>,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dll</a:t>
            </a:r>
            <a:r>
              <a:rPr lang="pt-BR" dirty="0"/>
              <a:t>, etc.), embora internamente muitas delas sejam compostas por arquivos objeto.</a:t>
            </a:r>
          </a:p>
          <a:p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Uma biblioteca estática é, internamente, um conjunto de arquivos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.o</a:t>
            </a:r>
            <a:r>
              <a:rPr lang="pt-BR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 biblioteca dinâmica  por outro lado,</a:t>
            </a:r>
            <a:r>
              <a:rPr lang="pt-BR" dirty="0"/>
              <a:t> são praticamente "mini executáveis" (embora não tenham uma função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pt-BR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Arquivo Objeto (.o – Linux, .</a:t>
            </a:r>
            <a:r>
              <a:rPr lang="pt-BR" dirty="0" err="1"/>
              <a:t>obj</a:t>
            </a:r>
            <a:r>
              <a:rPr lang="pt-BR" dirty="0"/>
              <a:t> </a:t>
            </a:r>
            <a:r>
              <a:rPr lang="pt-BR" dirty="0" err="1"/>
              <a:t>windows</a:t>
            </a:r>
            <a:r>
              <a:rPr lang="pt-BR" dirty="0"/>
              <a:t>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dirty="0"/>
              <a:t>biblioteca estática (.a – Linux, .</a:t>
            </a:r>
            <a:r>
              <a:rPr lang="pt-BR" dirty="0" err="1"/>
              <a:t>lib</a:t>
            </a:r>
            <a:r>
              <a:rPr lang="pt-BR" dirty="0"/>
              <a:t> </a:t>
            </a:r>
            <a:r>
              <a:rPr lang="pt-BR" dirty="0" err="1"/>
              <a:t>windows</a:t>
            </a:r>
            <a:r>
              <a:rPr lang="pt-BR" dirty="0"/>
              <a:t>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BR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biblioteca dinâmica </a:t>
            </a:r>
            <a:r>
              <a:rPr lang="pt-BR" dirty="0"/>
              <a:t> (.</a:t>
            </a:r>
            <a:r>
              <a:rPr lang="pt-BR" dirty="0" err="1"/>
              <a:t>so</a:t>
            </a:r>
            <a:r>
              <a:rPr lang="pt-BR" dirty="0"/>
              <a:t> – Linux, .</a:t>
            </a:r>
            <a:r>
              <a:rPr lang="pt-BR" dirty="0" err="1"/>
              <a:t>dll</a:t>
            </a:r>
            <a:r>
              <a:rPr lang="pt-BR" dirty="0"/>
              <a:t> </a:t>
            </a:r>
            <a:r>
              <a:rPr lang="pt-BR" dirty="0" err="1"/>
              <a:t>windows</a:t>
            </a:r>
            <a:r>
              <a:rPr lang="pt-BR" dirty="0"/>
              <a:t>)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4313824-0C68-65B1-171B-D86D29DEB3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70487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00412-35DC-924F-D011-8618C4558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FD06F49-9540-433C-B4B3-B9AEC28B8C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01AA368-2BC2-BECD-B4C7-472F9C6C6D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Exemplo: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matematica.c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:;</a:t>
            </a:r>
          </a:p>
          <a:p>
            <a:r>
              <a:rPr lang="en-US" dirty="0"/>
              <a:t>int soma(int </a:t>
            </a:r>
            <a:r>
              <a:rPr lang="en-US" dirty="0" err="1"/>
              <a:t>a,int</a:t>
            </a:r>
            <a:r>
              <a:rPr lang="en-US" dirty="0"/>
              <a:t> b) { return </a:t>
            </a:r>
            <a:r>
              <a:rPr lang="en-US" dirty="0" err="1"/>
              <a:t>a+b</a:t>
            </a:r>
            <a:r>
              <a:rPr lang="en-US" dirty="0"/>
              <a:t>; }</a:t>
            </a:r>
          </a:p>
          <a:p>
            <a:endParaRPr lang="en-US" sz="1200" b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main.c</a:t>
            </a:r>
            <a:r>
              <a:rPr lang="en-US" sz="1200" b="1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lang="pt-BR" dirty="0"/>
              <a:t>#include &lt;</a:t>
            </a:r>
            <a:r>
              <a:rPr lang="pt-BR" dirty="0" err="1"/>
              <a:t>stdio.h</a:t>
            </a:r>
            <a:r>
              <a:rPr lang="pt-BR" dirty="0"/>
              <a:t>&gt; </a:t>
            </a:r>
          </a:p>
          <a:p>
            <a:r>
              <a:rPr lang="pt-BR" dirty="0"/>
              <a:t>#include "</a:t>
            </a:r>
            <a:r>
              <a:rPr lang="pt-BR" dirty="0" err="1"/>
              <a:t>matematica.h</a:t>
            </a:r>
            <a:r>
              <a:rPr lang="pt-BR" dirty="0"/>
              <a:t>" </a:t>
            </a:r>
          </a:p>
          <a:p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() { </a:t>
            </a:r>
            <a:r>
              <a:rPr lang="pt-BR" dirty="0" err="1"/>
              <a:t>printf</a:t>
            </a:r>
            <a:r>
              <a:rPr lang="pt-BR" dirty="0"/>
              <a:t>("%d", soma(2,3)); }</a:t>
            </a:r>
          </a:p>
          <a:p>
            <a:endParaRPr lang="pt-BR" sz="1200" b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Após a geração dos arquivos objetos:</a:t>
            </a:r>
          </a:p>
          <a:p>
            <a:endParaRPr lang="pt-BR" sz="1200" b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baseline="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main.o</a:t>
            </a:r>
            <a:r>
              <a:rPr lang="pt-BR" sz="1200" b="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-&gt; </a:t>
            </a:r>
            <a:r>
              <a:rPr lang="pt-BR" dirty="0"/>
              <a:t>precisa da função soma</a:t>
            </a:r>
            <a:endParaRPr lang="pt-BR" sz="1200" b="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 err="1"/>
              <a:t>matematica.o</a:t>
            </a:r>
            <a:r>
              <a:rPr lang="pt-BR" dirty="0"/>
              <a:t> </a:t>
            </a:r>
          </a:p>
          <a:p>
            <a:endParaRPr lang="pt-BR" dirty="0"/>
          </a:p>
          <a:p>
            <a:r>
              <a:rPr lang="pt-BR" dirty="0"/>
              <a:t>O </a:t>
            </a:r>
            <a:r>
              <a:rPr lang="pt-BR" dirty="0" err="1"/>
              <a:t>linker</a:t>
            </a:r>
            <a:r>
              <a:rPr lang="pt-BR" dirty="0"/>
              <a:t> dá a referência exata para </a:t>
            </a:r>
            <a:r>
              <a:rPr lang="pt-BR" dirty="0" err="1"/>
              <a:t>para</a:t>
            </a:r>
            <a:r>
              <a:rPr lang="pt-BR" dirty="0"/>
              <a:t> a função. </a:t>
            </a:r>
          </a:p>
          <a:p>
            <a:r>
              <a:rPr lang="pt-BR" dirty="0"/>
              <a:t>(Antes havia apenas o pedido pela referência.)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6DA9D6A-8B8F-1ABD-4001-F8E0581A58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51155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3696B-1A4F-0C40-CD3A-F272886E1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736CBBC-DC3F-E1D3-3E6A-03773A7DE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0D895AC-C387-4905-734C-C5A6022F4D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8E7DA0F-7126-D7C3-D31D-193DF24664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44974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1B473-122E-995A-83E2-BDB231A12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988D6B2-0E22-53E3-CC33-49A57DD44A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CC835B0-0135-4B95-B8D8-42F017963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09672D-1493-7167-FA89-8510A830A4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61529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0840D-E6FE-461F-F8BA-7E58F75FC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34985E4-AFBA-EA68-E1B3-AA537FEEE4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Anotações 2">
                <a:extLst>
                  <a:ext uri="{FF2B5EF4-FFF2-40B4-BE49-F238E27FC236}">
                    <a16:creationId xmlns:a16="http://schemas.microsoft.com/office/drawing/2014/main" id="{EAEB9BA6-59A4-4814-BED5-57D68184030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Macros em C são </a:t>
                </a:r>
                <a:r>
                  <a:rPr lang="pt-BR" dirty="0"/>
                  <a:t>regras de substituição de texto tratadas pelo </a:t>
                </a:r>
                <a:r>
                  <a:rPr lang="pt-BR" dirty="0" err="1"/>
                  <a:t>pré</a:t>
                </a:r>
                <a:r>
                  <a:rPr lang="pt-BR" dirty="0"/>
                  <a:t>-processador antes da compilação do código. </a:t>
                </a:r>
              </a:p>
              <a:p>
                <a:r>
                  <a:rPr lang="pt-BR" dirty="0"/>
                  <a:t>Elas são criadas usando a diretiva </a:t>
                </a:r>
                <a:r>
                  <a:rPr lang="pt-BR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#define</a:t>
                </a:r>
                <a:r>
                  <a:rPr lang="pt-BR" dirty="0"/>
                  <a:t> e dividem-se em dois tipos principais: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Macros de Objeto (Constantes):</a:t>
                </a:r>
                <a:r>
                  <a:rPr lang="pt-BR" dirty="0"/>
                  <a:t> Substituem um nome por um valor fixo - #define PI 3.1415.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pt-BR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Macros de Função:</a:t>
                </a:r>
                <a:r>
                  <a:rPr lang="pt-BR" dirty="0"/>
                  <a:t> Aceitam parâmetros e executam pequenas operações de forma rápida, sem o custo de uma chamada de função real - </a:t>
                </a:r>
                <a14:m>
                  <m:oMath xmlns:m="http://schemas.openxmlformats.org/officeDocument/2006/math">
                    <m:r>
                      <a:rPr lang="it-IT" sz="1200" i="1" dirty="0" smtClean="0">
                        <a:latin typeface="Cambria Math" panose="02040503050406030204" pitchFamily="18" charset="0"/>
                      </a:rPr>
                      <m:t>#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𝑑𝑒𝑓𝑖𝑛𝑒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𝑄𝑈𝐴𝐷𝑅𝐴𝐷𝑂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) ((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) ∗ (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it-IT" sz="1200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pt-BR" sz="120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pt-BR" sz="1200" b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3" name="Espaço Reservado para Anotações 2">
                <a:extLst>
                  <a:ext uri="{FF2B5EF4-FFF2-40B4-BE49-F238E27FC236}">
                    <a16:creationId xmlns:a16="http://schemas.microsoft.com/office/drawing/2014/main" id="{EAEB9BA6-59A4-4814-BED5-57D68184030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Macros em C são </a:t>
                </a:r>
                <a:r>
                  <a:rPr lang="pt-BR" dirty="0"/>
                  <a:t>regras de substituição de texto tratadas pelo </a:t>
                </a:r>
                <a:r>
                  <a:rPr lang="pt-BR" dirty="0" err="1"/>
                  <a:t>pré</a:t>
                </a:r>
                <a:r>
                  <a:rPr lang="pt-BR" dirty="0"/>
                  <a:t>-processador antes da compilação do código. </a:t>
                </a:r>
              </a:p>
              <a:p>
                <a:r>
                  <a:rPr lang="pt-BR" dirty="0"/>
                  <a:t>Elas são criadas usando a diretiva </a:t>
                </a:r>
                <a:r>
                  <a:rPr lang="pt-BR" sz="1200" b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#define</a:t>
                </a:r>
                <a:r>
                  <a:rPr lang="pt-BR" dirty="0"/>
                  <a:t> e dividem-se em dois tipos principais: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endParaRPr lang="pt-BR" dirty="0"/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pt-BR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Macros de Objeto (Constantes):</a:t>
                </a:r>
                <a:r>
                  <a:rPr lang="pt-BR" dirty="0"/>
                  <a:t> Substituem um nome por um valor fixo - #define PI 3.1415.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lang="pt-BR" sz="1200" b="1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Macros de Função:</a:t>
                </a:r>
                <a:r>
                  <a:rPr lang="pt-BR" dirty="0"/>
                  <a:t> Aceitam parâmetros e executam pequenas operações de forma rápida, sem o custo de uma chamada de função real - </a:t>
                </a:r>
                <a:r>
                  <a:rPr lang="it-IT" sz="1200" i="0" dirty="0">
                    <a:latin typeface="Cambria Math" panose="02040503050406030204" pitchFamily="18" charset="0"/>
                  </a:rPr>
                  <a:t>#𝑑𝑒𝑓𝑖𝑛𝑒 𝑄𝑈𝐴𝐷𝑅𝐴𝐷𝑂(𝑥) ((𝑥) ∗ (𝑥))</a:t>
                </a:r>
                <a:endParaRPr lang="pt-BR" sz="1200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pt-BR" sz="1200" b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</p:txBody>
          </p:sp>
        </mc:Fallback>
      </mc:AlternateContent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0A8A88-48CA-1B58-25FD-A0E9EE52D8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29659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9996E-7337-A5E8-933B-25CAC402C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8AB6FD3-7254-70C3-8E6A-EEDC71F7D2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185DCD3-C5EA-3056-CB71-829B12205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</a:t>
            </a:r>
            <a:r>
              <a:rPr lang="pt-BR" dirty="0"/>
              <a:t> (estrutura) em C é um tipo de dado personalizado que agrupa várias variáveis, que podem ser de tipos diferentes, sob um único nome. </a:t>
            </a:r>
          </a:p>
          <a:p>
            <a:r>
              <a:rPr lang="pt-BR" dirty="0"/>
              <a:t>Ela funciona como um registro para organizar informações relacionadas, como os dados de uma pessoa ou de um aluno.</a:t>
            </a:r>
          </a:p>
          <a:p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typedef</a:t>
            </a:r>
            <a:r>
              <a:rPr lang="pt-BR" dirty="0"/>
              <a:t> em C serve para criar um novo nome (um apelido ou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alias</a:t>
            </a:r>
            <a:r>
              <a:rPr lang="pt-BR" dirty="0"/>
              <a:t>) para um tipo de dado que já existe. </a:t>
            </a:r>
          </a:p>
          <a:p>
            <a:r>
              <a:rPr lang="pt-BR" dirty="0"/>
              <a:t>Ele ajuda a deixar o código mais limpo, curto e fácil de ler, sendo muito usado com tipos básicos, ponteiros e estruturas (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</a:t>
            </a:r>
            <a:r>
              <a:rPr lang="pt-BR" dirty="0"/>
              <a:t>).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4BF5AA9-4D8D-605B-C5B3-2239F72391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55405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12E78-5D2E-A485-8D0A-59198BBB6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91EB849-809B-A6A9-67FE-FE44F13BB3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C2D807B-D19F-11A9-2A10-CFDC1FF6C4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Quando o protótipo é obrigatório</a:t>
            </a:r>
          </a:p>
          <a:p>
            <a:endParaRPr lang="pt-B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Ordem invertida: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a função for chamada antes de ter o seu corpo definido no código (por exemplo, a 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fica no topo e as outras funções embaixo), o protótipo se torna obrigatório para o compilador não gerar erro. 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Múltiplos arquivos: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Quando o projeto cresce e usa vários arquivos de código, os protótipos em arquivos de cabeçalho (.h) são essenciais para um arquivo enxergar as funções do outro. 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Segurança de tipos: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protótipo ajuda o compilador a avisar você se passar o número errado de argumentos ou tipos incorretos na chamada da função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943CA1E-8BFD-77BB-B57E-7EB7B5A0F9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53665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1B067-8B75-53C6-354D-C19F4B36C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124C0D1-D8A1-05DF-92E2-E790828F08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37FEF35-4E7A-4FC0-6FDE-608BC7D33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As variáveis declaradas dentro dela só existem durante sua execução.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única exceção do retorno da função, é para o caso dela ser do tipo VOID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8C5D177-2C8C-2480-9763-228CFBFAAE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99580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9D291-2B68-E341-9F50-CC9BA68BF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247DB21-D531-1BA0-937E-7F06F50A07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B1E6FD4-CD44-C461-9F47-55CA701E5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Tecnicamente, alguns compiladores aceitam void </a:t>
            </a:r>
            <a:r>
              <a:rPr lang="pt-BR" dirty="0" err="1"/>
              <a:t>main</a:t>
            </a:r>
            <a:r>
              <a:rPr lang="pt-BR" dirty="0"/>
              <a:t>() {...} Mas isso </a:t>
            </a:r>
            <a:r>
              <a:rPr lang="pt-BR" b="1" dirty="0"/>
              <a:t>não está de acordo com o padrão da linguagem C</a:t>
            </a:r>
            <a:r>
              <a:rPr lang="pt-BR" dirty="0"/>
              <a:t>. 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0 → sucesso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1 → erro genérico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2 → arquivo não encontrado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3 → acesso negado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4 → parâmetro inválido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88BBF2A-4358-C6C9-18FE-7D3ED89CEA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16373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2C6F1-CAF6-BC25-B510-9CC2118E1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66BA548-668B-12DF-C146-C62146B3C6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56D6CB5-2E32-07C7-3791-C5071EAC5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Tecnicamente, alguns compiladores aceitam void </a:t>
            </a:r>
            <a:r>
              <a:rPr lang="pt-BR" dirty="0" err="1"/>
              <a:t>main</a:t>
            </a:r>
            <a:r>
              <a:rPr lang="pt-BR" dirty="0"/>
              <a:t>() {...} Mas isso </a:t>
            </a:r>
            <a:r>
              <a:rPr lang="pt-BR" b="1" dirty="0"/>
              <a:t>não está de acordo com o padrão da linguagem C</a:t>
            </a:r>
            <a:r>
              <a:rPr lang="pt-BR" dirty="0"/>
              <a:t>. 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0 → sucesso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1 → erro genérico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2 → arquivo não encontrado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3 → acesso negado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4 → parâmetro inválido</a:t>
            </a: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AAA837C-3A1D-9FCD-5441-A2EBE65177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39468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7CB19-366C-C2F9-42FB-8DE172F1D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C87C84D-FCB4-1B22-0B4A-6CC9E7B8A1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999CFD9-237E-404F-B40D-D55B8D2EBE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56F7382-9A20-2174-84F6-08F5827047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47674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C8082-8D0C-BAC1-1261-B9B529470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9FFCFAC-0B65-614E-D3F0-625E467C1A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F0049B0-15DA-6048-F6A6-82B40E15E6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08EFFEB-2038-F2F7-7B84-1FB4CE6BEC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977149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A6C64-E4C9-7C6D-E8C4-B61CCE066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1493C10-113D-A3F1-3EC7-F0A01EBFE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7AC869A-2086-77AC-02DC-5FEB3B8B72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CB20590-96E8-331A-DB6C-AB67473F55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87962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21956-1F83-B933-D38B-FA178F7C6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2C1A5B2-020A-06F2-82C3-9D7DD8C98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6030C79-DDBA-4923-770E-FFBB8CDDB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85588B7-D4CC-3C65-C878-57F9ADC8FF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167341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A93E1-ED2C-075C-7580-0F69FEAC6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58999D1-E6BD-5F75-1873-EA30E5F47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1066D26-94BF-2DBA-9E7C-4FD31F676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219EED2-7E88-6703-72A2-2790FE66C8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62249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2A26A-E1EC-7BA8-F11E-D68176410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6DAD396-78B8-C19E-2771-99AF124525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A7D803B-134A-A29D-C37A-66A520EDB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C93B4FF-3702-514A-C6FB-8D4BCBC8B7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5325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256BA-C5A3-1799-D720-EBC4F5A59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BBA047B-578A-A874-8237-A143BBEE6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30F5932-7B0F-7D26-8B85-FCE4F0AAF1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 </a:t>
            </a:r>
            <a:r>
              <a:rPr lang="pt-BR" sz="1200" dirty="0"/>
              <a:t>5 % 2=1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porque 2*2=4 (sobrando 1)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DC23C5B-674E-1C19-8365-8AFF71652D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32852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C02BE-D910-B8A8-A058-5A66E2AE4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BC3467B-310C-B537-222C-4C9E39EF2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7478E45-E72A-749F-7CB8-B5F1434D14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 </a:t>
            </a:r>
            <a:r>
              <a:rPr lang="pt-BR" sz="1200" dirty="0"/>
              <a:t>5 % 2=1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porque 2*2=4 (sobrando 1)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8F66280-2125-5BA7-EA97-29678F739D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38375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06AFB-5D4D-7CD3-90A8-7AC2BEED1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0794325-E27A-B527-E4B9-3991D965F8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2F990B5-69F1-5DAD-88A0-9A536B9063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 </a:t>
            </a:r>
            <a:r>
              <a:rPr lang="pt-BR" sz="1200" dirty="0"/>
              <a:t>5 % 2=1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porque 2*2=4 (sobrando 1)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2E1438F-3131-4B35-D5E4-C9F5402006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715893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81513-B6A9-22DA-4BA6-BF4BB0E80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CC0801F-FA1D-1BCE-6BB9-DE0879B83E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E95E809-61CA-FB1C-293D-0320EE1C6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 </a:t>
            </a:r>
            <a:r>
              <a:rPr lang="pt-BR" sz="1200" dirty="0"/>
              <a:t>5 % 2=1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porque 2*2=4 (sobrando 1)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3E03FE0-AE59-2D35-0D89-D7DFADF1D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068056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4546F-84EC-BA81-343F-A0D65A059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685F275-0715-9607-4057-ACFED84B07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0E086BD-6607-E317-185A-733A5466D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 </a:t>
            </a:r>
            <a:r>
              <a:rPr lang="pt-BR" sz="1200" dirty="0"/>
              <a:t>5 % 2=1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porque 2*2=4 (sobrando 1)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4D1206-9D76-2A3F-EE3D-FAA5C2B2F3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43405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F6D5B-C604-48CE-EAF6-E8B1F8977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92E5A7A-58BF-81C0-DD45-031FD4AE04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4889764-EA45-E98B-5463-43138806AE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 </a:t>
            </a:r>
            <a:r>
              <a:rPr lang="pt-BR" sz="1200" dirty="0"/>
              <a:t>5 % 2=1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porque 2*2=4 (sobrando 1)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F63CE1F-C1A0-B097-B8DB-4DE1B92FDE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321847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55423-0113-8D5E-C00E-8C7F7D62E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DAB3E46-6C04-BCE2-2A96-A0CFFE2E1F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8B24443-DF7D-F8E3-21F6-85F1CD5ED1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 </a:t>
            </a:r>
            <a:r>
              <a:rPr lang="pt-BR" sz="1200" dirty="0"/>
              <a:t>5 % 2=1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porque 2*2=4 (sobrando 1)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9B642EE-78AC-00A2-A2AE-E06C149660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440111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71822-E6F3-CB98-20B3-46D7E2C99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B76AA77-D69E-FEDA-D42C-EAEF5310C9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249F503-7E4F-783E-7286-EC109F5FC2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Observação:  </a:t>
            </a:r>
            <a:r>
              <a:rPr lang="pt-BR" sz="1200" dirty="0"/>
              <a:t>5 % 2=1</a:t>
            </a:r>
            <a:r>
              <a:rPr lang="pt-BR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porque 2*2=4 (sobrando 1)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DEEFA7-F13B-C573-F06E-6C7828847C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5557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05/08/2026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6A538-0ED9-B233-81F6-495BFBCB6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7C6E84-14A0-D43A-A22B-DC45B1CD8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/>
              <a:t>plano DE ENSINO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0DBD6D9-B141-9711-5103-EE62F47F9F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70C721EB-FF62-0C37-62FF-575B79432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4189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B1F24-3A37-BE5E-87E6-8DFD228F4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0E9C820-C403-81DA-4458-0F826AB9D6E5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7DBEF96-5BB9-10F9-BA9C-FDE0A19F6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Sistema de avaliação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6D3F682-1904-6B9C-FB31-DC217F584E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6728EE4-B88D-A8C9-80CD-CA18D0C7F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0860" y="2245646"/>
            <a:ext cx="8670280" cy="3657600"/>
          </a:xfrm>
        </p:spPr>
        <p:txBody>
          <a:bodyPr/>
          <a:lstStyle/>
          <a:p>
            <a:r>
              <a:rPr lang="pt-BR" sz="2400" dirty="0"/>
              <a:t>Pontuação semestral total do componente curricular, no valor de 100 (cem pontos).</a:t>
            </a:r>
          </a:p>
          <a:p>
            <a:endParaRPr lang="pt-BR" sz="2400" dirty="0"/>
          </a:p>
          <a:p>
            <a:r>
              <a:rPr lang="pt-BR" sz="2400" dirty="0"/>
              <a:t>Pontuação necessária para aprovação: 60% (sessenta por cento) da pontuação semestral do componente.</a:t>
            </a:r>
          </a:p>
          <a:p>
            <a:endParaRPr lang="pt-BR" sz="2400" dirty="0"/>
          </a:p>
          <a:p>
            <a:r>
              <a:rPr lang="pt-BR" sz="2400" dirty="0"/>
              <a:t>Frequência necessária para aprovação: 75% (setenta e cinco por cento) no componente curricular.</a:t>
            </a:r>
          </a:p>
          <a:p>
            <a:endParaRPr lang="pt-BR" sz="2400" dirty="0"/>
          </a:p>
          <a:p>
            <a:endParaRPr lang="pt-BR" sz="24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95529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C6F12-CB60-EC12-334D-A843F4105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522B2D8-67D3-186B-9646-B4F2E93DCAD4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27AF45-4965-F2EA-4785-9BD925E69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Distribuição de Notas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F1C6C694-907B-4090-64BD-AEE83CCF19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EBA44CF-0249-2FC7-5D35-8CE4AAB5D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6540" y="1804575"/>
            <a:ext cx="8670280" cy="4746632"/>
          </a:xfrm>
        </p:spPr>
        <p:txBody>
          <a:bodyPr/>
          <a:lstStyle/>
          <a:p>
            <a:r>
              <a:rPr lang="pt-BR" sz="2400" dirty="0"/>
              <a:t>Atividades Complementares 1 – </a:t>
            </a:r>
            <a:r>
              <a:rPr lang="pt-BR" sz="2400" b="1" dirty="0"/>
              <a:t>5pts</a:t>
            </a:r>
          </a:p>
          <a:p>
            <a:r>
              <a:rPr lang="pt-BR" sz="2400" dirty="0" err="1"/>
              <a:t>Uniube</a:t>
            </a:r>
            <a:r>
              <a:rPr lang="pt-BR" sz="2400" dirty="0"/>
              <a:t>+ – </a:t>
            </a:r>
            <a:r>
              <a:rPr lang="pt-BR" sz="2400" b="1" dirty="0"/>
              <a:t>5pts</a:t>
            </a:r>
            <a:endParaRPr lang="pt-BR" sz="2400" dirty="0"/>
          </a:p>
          <a:p>
            <a:r>
              <a:rPr lang="pt-BR" sz="2400" dirty="0"/>
              <a:t>Avaliação 1 – </a:t>
            </a:r>
            <a:r>
              <a:rPr lang="pt-BR" sz="2400" b="1" dirty="0"/>
              <a:t>25pts</a:t>
            </a:r>
            <a:r>
              <a:rPr lang="pt-BR" sz="2400" dirty="0"/>
              <a:t> – Data prevista: </a:t>
            </a:r>
          </a:p>
          <a:p>
            <a:pPr marL="0" indent="0">
              <a:buNone/>
            </a:pPr>
            <a:endParaRPr lang="pt-BR" sz="2400" dirty="0"/>
          </a:p>
          <a:p>
            <a:r>
              <a:rPr lang="pt-BR" sz="2400" dirty="0"/>
              <a:t>Atividades Complementares 2 – </a:t>
            </a:r>
            <a:r>
              <a:rPr lang="pt-BR" sz="2400" b="1" dirty="0"/>
              <a:t>10pts</a:t>
            </a:r>
          </a:p>
          <a:p>
            <a:r>
              <a:rPr lang="pt-BR" sz="2400" dirty="0" err="1"/>
              <a:t>Uniube</a:t>
            </a:r>
            <a:r>
              <a:rPr lang="pt-BR" sz="2400" dirty="0"/>
              <a:t>+ – </a:t>
            </a:r>
            <a:r>
              <a:rPr lang="pt-BR" sz="2400" b="1" dirty="0"/>
              <a:t>10pts</a:t>
            </a:r>
            <a:endParaRPr lang="pt-BR" sz="2400" dirty="0"/>
          </a:p>
          <a:p>
            <a:r>
              <a:rPr lang="pt-BR" sz="2400" dirty="0"/>
              <a:t>Avaliação 2 – </a:t>
            </a:r>
            <a:r>
              <a:rPr lang="pt-BR" sz="2400" b="1" dirty="0"/>
              <a:t>30pts</a:t>
            </a:r>
            <a:r>
              <a:rPr lang="pt-BR" sz="2400" dirty="0"/>
              <a:t> – Data prevista: </a:t>
            </a:r>
          </a:p>
          <a:p>
            <a:endParaRPr lang="pt-BR" sz="2400" dirty="0"/>
          </a:p>
          <a:p>
            <a:r>
              <a:rPr lang="pt-BR" sz="2400" dirty="0"/>
              <a:t>Avaliação Institucional – </a:t>
            </a:r>
            <a:r>
              <a:rPr lang="pt-BR" sz="2400" b="1" dirty="0"/>
              <a:t>15pts</a:t>
            </a:r>
            <a:endParaRPr lang="pt-BR" sz="2400" dirty="0"/>
          </a:p>
          <a:p>
            <a:r>
              <a:rPr lang="pt-BR" sz="2400" dirty="0"/>
              <a:t>Soma total de pontos: </a:t>
            </a:r>
            <a:r>
              <a:rPr lang="pt-BR" sz="2400" b="1" dirty="0"/>
              <a:t>100pts</a:t>
            </a:r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endParaRPr lang="pt-BR" dirty="0"/>
          </a:p>
        </p:txBody>
      </p:sp>
      <p:pic>
        <p:nvPicPr>
          <p:cNvPr id="1026" name="Picture 2" descr="Teste - ícones de educação grátis">
            <a:extLst>
              <a:ext uri="{FF2B5EF4-FFF2-40B4-BE49-F238E27FC236}">
                <a16:creationId xmlns:a16="http://schemas.microsoft.com/office/drawing/2014/main" id="{5C4BB763-0221-5AB3-8665-67367B488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5126" y="2518544"/>
            <a:ext cx="3150736" cy="3150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0451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8EFC3-284D-D3E8-E50A-9E8782F14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1CC91A5-617B-F614-3886-EF59D2171B4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778D71A-5EF8-AADA-8ACC-9C2D89EE5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Bibliografia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ED9276FC-2835-8FCA-9E06-6FEFA248BD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0EE607F-D9F4-7951-D428-ABA18E81E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6540" y="1804575"/>
            <a:ext cx="8670280" cy="4746632"/>
          </a:xfrm>
        </p:spPr>
        <p:txBody>
          <a:bodyPr/>
          <a:lstStyle/>
          <a:p>
            <a:r>
              <a:rPr lang="pt-BR" sz="2400" b="1" dirty="0"/>
              <a:t>Básica</a:t>
            </a:r>
          </a:p>
          <a:p>
            <a:pPr lvl="1"/>
            <a:r>
              <a:rPr lang="pt-BR" sz="2000" dirty="0"/>
              <a:t>Lógica de Programação e algoritmos – Sandro de Araújo</a:t>
            </a:r>
          </a:p>
          <a:p>
            <a:pPr lvl="1"/>
            <a:r>
              <a:rPr lang="pt-BR" sz="2000" dirty="0"/>
              <a:t>Fundamentos da programação de computadores: algoritmos, pascal e C/C++ – Ana Fernanda </a:t>
            </a:r>
            <a:r>
              <a:rPr lang="pt-BR" sz="2000" dirty="0" err="1"/>
              <a:t>Ascenio</a:t>
            </a:r>
            <a:endParaRPr lang="pt-BR" sz="2000" dirty="0"/>
          </a:p>
          <a:p>
            <a:pPr lvl="1"/>
            <a:r>
              <a:rPr lang="pt-BR" dirty="0"/>
              <a:t>Treinamento em linguagem C – </a:t>
            </a:r>
            <a:r>
              <a:rPr lang="pt-BR" dirty="0" err="1"/>
              <a:t>Victorine</a:t>
            </a:r>
            <a:r>
              <a:rPr lang="pt-BR" dirty="0"/>
              <a:t> </a:t>
            </a:r>
            <a:r>
              <a:rPr lang="pt-BR" dirty="0" err="1"/>
              <a:t>Mizrahi</a:t>
            </a:r>
            <a:endParaRPr lang="pt-BR"/>
          </a:p>
          <a:p>
            <a:pPr marL="457200" lvl="1" indent="0">
              <a:buNone/>
            </a:pPr>
            <a:endParaRPr lang="pt-BR" sz="2400" dirty="0"/>
          </a:p>
          <a:p>
            <a:r>
              <a:rPr lang="pt-BR" sz="2400" b="1" dirty="0"/>
              <a:t>Complementar</a:t>
            </a:r>
          </a:p>
          <a:p>
            <a:pPr lvl="1"/>
            <a:r>
              <a:rPr lang="pt-BR" sz="2000" dirty="0"/>
              <a:t>Como programar em C – </a:t>
            </a:r>
            <a:r>
              <a:rPr lang="pt-BR" sz="2000" dirty="0" err="1"/>
              <a:t>Deitel</a:t>
            </a:r>
            <a:r>
              <a:rPr lang="pt-BR" sz="2000" dirty="0"/>
              <a:t> &amp; </a:t>
            </a:r>
            <a:r>
              <a:rPr lang="pt-BR" sz="2000" dirty="0" err="1"/>
              <a:t>Deitel</a:t>
            </a:r>
            <a:endParaRPr lang="pt-BR" sz="2000" dirty="0"/>
          </a:p>
          <a:p>
            <a:pPr lvl="1"/>
            <a:r>
              <a:rPr lang="pt-BR" sz="2000" dirty="0"/>
              <a:t>Conceitos de Linguagem de Programação – Robert </a:t>
            </a:r>
            <a:r>
              <a:rPr lang="pt-BR" sz="2000" dirty="0" err="1"/>
              <a:t>Sebesta</a:t>
            </a:r>
            <a:endParaRPr lang="pt-BR" sz="2000" dirty="0"/>
          </a:p>
          <a:p>
            <a:pPr lvl="1"/>
            <a:r>
              <a:rPr lang="pt-BR" sz="2000" dirty="0"/>
              <a:t>Linguagem C – </a:t>
            </a:r>
            <a:r>
              <a:rPr lang="pt-BR" sz="2000" dirty="0" err="1"/>
              <a:t>Luis</a:t>
            </a:r>
            <a:r>
              <a:rPr lang="pt-BR" sz="2000" dirty="0"/>
              <a:t> Damas</a:t>
            </a:r>
          </a:p>
          <a:p>
            <a:pPr marL="457200" lvl="1" indent="0">
              <a:buNone/>
            </a:pPr>
            <a:endParaRPr lang="pt-BR" sz="2000" dirty="0"/>
          </a:p>
          <a:p>
            <a:endParaRPr lang="pt-BR" sz="2400" dirty="0"/>
          </a:p>
          <a:p>
            <a:endParaRPr lang="pt-BR" sz="2400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94978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E9326E-3499-D287-DA5A-8AED2AD3A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/>
              <a:t>módulo 1 - Introdução à </a:t>
            </a:r>
            <a:r>
              <a:rPr lang="pt-BR" dirty="0" err="1"/>
              <a:t>lp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2C7C20-5716-4992-8451-F28A3F0EB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739C2285-BBDC-FB8D-BB73-A95AC19BC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1462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10CD15DF-178C-8225-DC27-A997E199555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0CFDDE8-0849-DCD6-CFFE-909EF7246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Conceitos Introdutórios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38EF95E-E786-0234-E618-70938A65AA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B58FF2C-8CDD-0E09-7F6D-242B2C7C0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720" y="2172494"/>
            <a:ext cx="6019558" cy="3657600"/>
          </a:xfrm>
        </p:spPr>
        <p:txBody>
          <a:bodyPr/>
          <a:lstStyle/>
          <a:p>
            <a:r>
              <a:rPr lang="pt-BR" sz="2400" dirty="0"/>
              <a:t>A linguagem de programação é o meio formal de comunicação com o computador</a:t>
            </a:r>
          </a:p>
          <a:p>
            <a:endParaRPr lang="pt-BR" sz="2400" dirty="0"/>
          </a:p>
          <a:p>
            <a:r>
              <a:rPr lang="pt-BR" sz="2400" dirty="0"/>
              <a:t>As diferentes linguagens buscam atender à alguma necessidade em específico</a:t>
            </a:r>
          </a:p>
          <a:p>
            <a:endParaRPr lang="pt-BR" sz="2400" dirty="0"/>
          </a:p>
          <a:p>
            <a:r>
              <a:rPr lang="pt-BR" sz="2400" dirty="0"/>
              <a:t>Cada uma possui um conjunto formal de regras sintáticas e semânticas</a:t>
            </a:r>
          </a:p>
          <a:p>
            <a:endParaRPr lang="pt-BR" sz="2400" dirty="0"/>
          </a:p>
          <a:p>
            <a:endParaRPr lang="pt-BR" dirty="0"/>
          </a:p>
        </p:txBody>
      </p:sp>
      <p:pic>
        <p:nvPicPr>
          <p:cNvPr id="1026" name="Picture 2" descr="Nenhuma descrição de foto disponível.">
            <a:extLst>
              <a:ext uri="{FF2B5EF4-FFF2-40B4-BE49-F238E27FC236}">
                <a16:creationId xmlns:a16="http://schemas.microsoft.com/office/drawing/2014/main" id="{767076CD-9084-F479-B0B8-384F0E2B54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47" b="4352"/>
          <a:stretch>
            <a:fillRect/>
          </a:stretch>
        </p:blipFill>
        <p:spPr bwMode="auto">
          <a:xfrm>
            <a:off x="6667378" y="2172494"/>
            <a:ext cx="51435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9977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E17AB-793B-33ED-F53D-DFF1D00E9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B5381A2-21D3-988B-6C4F-1A5A0E3E479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D8FE61A-0CEC-FC31-6387-C133DC188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LP X Algoritmo X </a:t>
            </a:r>
            <a:r>
              <a:rPr lang="pt-BR" dirty="0" err="1">
                <a:solidFill>
                  <a:schemeClr val="bg1"/>
                </a:solidFill>
              </a:rPr>
              <a:t>Pseudo-código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F0C2298D-D8FC-A002-D482-14EA1BD148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03F71DD-09FA-DB12-8FA3-33D5EC43D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952" y="1987298"/>
            <a:ext cx="6413216" cy="4494524"/>
          </a:xfrm>
        </p:spPr>
        <p:txBody>
          <a:bodyPr>
            <a:normAutofit/>
          </a:bodyPr>
          <a:lstStyle/>
          <a:p>
            <a:r>
              <a:rPr lang="pt-BR" sz="2400" b="1" dirty="0"/>
              <a:t>O </a:t>
            </a:r>
            <a:r>
              <a:rPr lang="pt-BR" sz="2400" b="1" dirty="0" err="1"/>
              <a:t>pseudo-código</a:t>
            </a:r>
            <a:r>
              <a:rPr lang="pt-BR" sz="2400" b="1" dirty="0"/>
              <a:t> </a:t>
            </a:r>
            <a:r>
              <a:rPr lang="pt-BR" sz="2400" dirty="0"/>
              <a:t>é a forma simples e direta de escrever a lógica de um programa usando a língua nativa</a:t>
            </a:r>
          </a:p>
          <a:p>
            <a:endParaRPr lang="pt-BR" sz="2400" dirty="0"/>
          </a:p>
          <a:p>
            <a:r>
              <a:rPr lang="pt-BR" sz="2400" b="1" dirty="0"/>
              <a:t>O algoritmo</a:t>
            </a:r>
            <a:r>
              <a:rPr lang="pt-BR" sz="2400" dirty="0"/>
              <a:t> é uma sequência de instruções ou regras bem definidas para realizar uma tarefa.</a:t>
            </a:r>
          </a:p>
          <a:p>
            <a:endParaRPr lang="pt-BR" sz="2400" dirty="0"/>
          </a:p>
          <a:p>
            <a:r>
              <a:rPr lang="pt-BR" sz="2400" b="1" dirty="0"/>
              <a:t>A LP </a:t>
            </a:r>
            <a:r>
              <a:rPr lang="pt-BR" sz="2400" dirty="0"/>
              <a:t>é um conjunto de regras sintáticas e semânticas para comunicação com a máquina.</a:t>
            </a:r>
          </a:p>
          <a:p>
            <a:endParaRPr lang="pt-BR" dirty="0"/>
          </a:p>
        </p:txBody>
      </p:sp>
      <p:pic>
        <p:nvPicPr>
          <p:cNvPr id="3074" name="Picture 2" descr="Sobre pseudocódigo, leia as alternativas e assinale a opção correta: I - O  pseudocódigo é uma linguagem - brainly.com.br">
            <a:extLst>
              <a:ext uri="{FF2B5EF4-FFF2-40B4-BE49-F238E27FC236}">
                <a16:creationId xmlns:a16="http://schemas.microsoft.com/office/drawing/2014/main" id="{519457E3-8DE1-752D-1393-96E1E37086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" r="2476" b="4286"/>
          <a:stretch>
            <a:fillRect/>
          </a:stretch>
        </p:blipFill>
        <p:spPr bwMode="auto">
          <a:xfrm>
            <a:off x="6690168" y="1896499"/>
            <a:ext cx="5429470" cy="403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2721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9E4F4-2171-A611-20A4-E0BEBA08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E3F869F-C534-FD4D-1148-C594EFCBA687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AB1BBAC-EA12-CF1A-4608-331438103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Níveis de Linguagem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73A2E345-1650-BAC8-2E96-616F1C30B0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C7B0C34-EF3C-0168-9FC4-0838347B5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825625"/>
            <a:ext cx="6019558" cy="4351338"/>
          </a:xfrm>
        </p:spPr>
        <p:txBody>
          <a:bodyPr/>
          <a:lstStyle/>
          <a:p>
            <a:r>
              <a:rPr lang="pt-BR" sz="2400" dirty="0"/>
              <a:t>As linguagens são </a:t>
            </a:r>
            <a:r>
              <a:rPr lang="pt-BR" sz="2400"/>
              <a:t>subdivididas em 3 </a:t>
            </a:r>
            <a:r>
              <a:rPr lang="pt-BR" sz="2400" dirty="0"/>
              <a:t>categorias distintas:</a:t>
            </a:r>
          </a:p>
          <a:p>
            <a:pPr lvl="1"/>
            <a:endParaRPr lang="pt-BR" sz="2000" dirty="0"/>
          </a:p>
          <a:p>
            <a:pPr marL="914400" lvl="1" indent="-457200">
              <a:buFont typeface="+mj-lt"/>
              <a:buAutoNum type="arabicPeriod"/>
            </a:pPr>
            <a:r>
              <a:rPr lang="pt-BR" sz="2000" dirty="0"/>
              <a:t>Linguagem de Máquina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000" dirty="0"/>
              <a:t>Linguagem Assembly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000" dirty="0"/>
              <a:t>Linguagem de Alto Nível</a:t>
            </a:r>
          </a:p>
          <a:p>
            <a:endParaRPr lang="pt-BR" sz="2400" dirty="0"/>
          </a:p>
          <a:p>
            <a:endParaRPr lang="pt-BR" dirty="0"/>
          </a:p>
        </p:txBody>
      </p:sp>
      <p:pic>
        <p:nvPicPr>
          <p:cNvPr id="2050" name="Picture 2" descr="Linguagens de Programação">
            <a:extLst>
              <a:ext uri="{FF2B5EF4-FFF2-40B4-BE49-F238E27FC236}">
                <a16:creationId xmlns:a16="http://schemas.microsoft.com/office/drawing/2014/main" id="{54F43681-4BA0-DF66-CBC8-A71700939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425" y="3429000"/>
            <a:ext cx="6677025" cy="2714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4878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BD736-CEF0-B6C0-28BC-774DA5F6E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17F9DE4-EB99-5874-7C93-C50756B60B5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ECB663B-29B6-EF3E-539D-7287CF4F6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Linguagem de Máquina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3965B379-0BB9-05F4-129D-B28D07BD1A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400FDEC-E1C9-8037-38E3-62ED4ADC7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377" y="1640958"/>
            <a:ext cx="5527874" cy="4887691"/>
          </a:xfrm>
        </p:spPr>
        <p:txBody>
          <a:bodyPr>
            <a:normAutofit/>
          </a:bodyPr>
          <a:lstStyle/>
          <a:p>
            <a:r>
              <a:rPr lang="pt-BR" sz="2400" dirty="0"/>
              <a:t>Forma básica de instrução compreendida pelo computador</a:t>
            </a:r>
            <a:endParaRPr lang="pt-BR" sz="2000" dirty="0"/>
          </a:p>
          <a:p>
            <a:pPr marL="0" indent="0">
              <a:buNone/>
            </a:pPr>
            <a:endParaRPr lang="pt-BR" sz="2000" dirty="0"/>
          </a:p>
          <a:p>
            <a:r>
              <a:rPr lang="pt-BR" sz="2400" dirty="0"/>
              <a:t>Caracterizada por ser uma sequências de 0 e 1, ou de valores Hexadecimais </a:t>
            </a:r>
          </a:p>
          <a:p>
            <a:endParaRPr lang="pt-BR" sz="2400" dirty="0"/>
          </a:p>
          <a:p>
            <a:r>
              <a:rPr lang="pt-BR" sz="2400" dirty="0"/>
              <a:t>Cada arquitetura compreende sua própria linguagem de máquina</a:t>
            </a:r>
          </a:p>
          <a:p>
            <a:endParaRPr lang="pt-BR" sz="2400" dirty="0"/>
          </a:p>
          <a:p>
            <a:r>
              <a:rPr lang="pt-BR" sz="2400" dirty="0"/>
              <a:t>Opera de acordo com o projeto de Hardware do processador</a:t>
            </a:r>
            <a:endParaRPr lang="pt-BR" dirty="0"/>
          </a:p>
          <a:p>
            <a:endParaRPr lang="pt-BR" sz="2400" dirty="0"/>
          </a:p>
        </p:txBody>
      </p:sp>
      <p:pic>
        <p:nvPicPr>
          <p:cNvPr id="4098" name="Picture 2" descr="Importância da linguem de Programação de Baixo Nível">
            <a:extLst>
              <a:ext uri="{FF2B5EF4-FFF2-40B4-BE49-F238E27FC236}">
                <a16:creationId xmlns:a16="http://schemas.microsoft.com/office/drawing/2014/main" id="{36D343F2-A8DE-A76F-F763-0750914752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28" r="1050" b="68373"/>
          <a:stretch>
            <a:fillRect/>
          </a:stretch>
        </p:blipFill>
        <p:spPr bwMode="auto">
          <a:xfrm>
            <a:off x="7909790" y="1814843"/>
            <a:ext cx="3067291" cy="1277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Organization of Computer Systems: ISA, Machine Language, Number Systems">
            <a:extLst>
              <a:ext uri="{FF2B5EF4-FFF2-40B4-BE49-F238E27FC236}">
                <a16:creationId xmlns:a16="http://schemas.microsoft.com/office/drawing/2014/main" id="{103232D8-49E8-B066-4C6A-8F3AF74E3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9863" y="3339436"/>
            <a:ext cx="4962525" cy="302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B9E8019-D6C5-3D11-235D-94FE651B5926}"/>
              </a:ext>
            </a:extLst>
          </p:cNvPr>
          <p:cNvSpPr txBox="1"/>
          <p:nvPr/>
        </p:nvSpPr>
        <p:spPr>
          <a:xfrm>
            <a:off x="7498054" y="6343983"/>
            <a:ext cx="3466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Instruction</a:t>
            </a:r>
            <a:r>
              <a:rPr lang="pt-BR" dirty="0"/>
              <a:t> Set </a:t>
            </a:r>
            <a:r>
              <a:rPr lang="pt-BR" dirty="0" err="1"/>
              <a:t>Architecture</a:t>
            </a:r>
            <a:r>
              <a:rPr lang="pt-BR" dirty="0"/>
              <a:t> – MIPS</a:t>
            </a:r>
          </a:p>
        </p:txBody>
      </p:sp>
    </p:spTree>
    <p:extLst>
      <p:ext uri="{BB962C8B-B14F-4D97-AF65-F5344CB8AC3E}">
        <p14:creationId xmlns:p14="http://schemas.microsoft.com/office/powerpoint/2010/main" val="4102101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5C57C-4AC3-DF5A-D004-04DB875A0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3FC9A9B-8E88-FEA5-7D07-53A05DB749B3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226DD1-2C9F-E5DD-5255-F8955046D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Linguagem Assembly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58CD5F2B-3F4B-1170-1A3A-4C958128A9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E9CDBE0-1F00-547B-C4DA-F12EE2721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861" y="1640492"/>
            <a:ext cx="7338349" cy="4413067"/>
          </a:xfrm>
        </p:spPr>
        <p:txBody>
          <a:bodyPr>
            <a:normAutofit/>
          </a:bodyPr>
          <a:lstStyle/>
          <a:p>
            <a:r>
              <a:rPr lang="pt-BR" sz="2400" dirty="0"/>
              <a:t>Uso de abreviações textuais que representam instruções de código de máquina – Mnemônicos.</a:t>
            </a:r>
            <a:endParaRPr lang="pt-BR" sz="2000" dirty="0"/>
          </a:p>
          <a:p>
            <a:endParaRPr lang="pt-BR" sz="2400" dirty="0"/>
          </a:p>
          <a:p>
            <a:r>
              <a:rPr lang="pt-BR" sz="2400" dirty="0"/>
              <a:t>Dependem de programas tradutores (</a:t>
            </a:r>
            <a:r>
              <a:rPr lang="pt-BR" sz="2400" dirty="0" err="1"/>
              <a:t>assemblers</a:t>
            </a:r>
            <a:r>
              <a:rPr lang="pt-BR" sz="2400" dirty="0"/>
              <a:t>) para converter o código para linguagem de máquina.</a:t>
            </a:r>
          </a:p>
          <a:p>
            <a:endParaRPr lang="pt-BR" sz="2400" dirty="0"/>
          </a:p>
          <a:p>
            <a:r>
              <a:rPr lang="pt-BR" sz="2400" dirty="0"/>
              <a:t>Seu uso ainda se justifica em casos onde o desempenho é critico ou sistemas embarcados</a:t>
            </a:r>
          </a:p>
          <a:p>
            <a:endParaRPr lang="pt-BR" sz="2400" dirty="0"/>
          </a:p>
          <a:p>
            <a:r>
              <a:rPr lang="pt-BR" sz="2400" dirty="0"/>
              <a:t>A conversão de suas instruções é  ‘1 pra 1’</a:t>
            </a:r>
            <a:endParaRPr lang="pt-BR" dirty="0"/>
          </a:p>
          <a:p>
            <a:endParaRPr lang="pt-BR" sz="2400" dirty="0"/>
          </a:p>
        </p:txBody>
      </p:sp>
      <p:pic>
        <p:nvPicPr>
          <p:cNvPr id="5122" name="Picture 2" descr="Importância da linguem de Programação de Baixo Nível">
            <a:extLst>
              <a:ext uri="{FF2B5EF4-FFF2-40B4-BE49-F238E27FC236}">
                <a16:creationId xmlns:a16="http://schemas.microsoft.com/office/drawing/2014/main" id="{EADFA9B8-4F3A-682A-1578-30B5339E88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0" r="58769" b="57292"/>
          <a:stretch>
            <a:fillRect/>
          </a:stretch>
        </p:blipFill>
        <p:spPr bwMode="auto">
          <a:xfrm>
            <a:off x="8588188" y="1842207"/>
            <a:ext cx="2990126" cy="2439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AF9DFF1-4300-C177-C5B9-0FE8BD01CB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2"/>
          <a:stretch>
            <a:fillRect/>
          </a:stretch>
        </p:blipFill>
        <p:spPr>
          <a:xfrm>
            <a:off x="7967428" y="4281211"/>
            <a:ext cx="4224572" cy="177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213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CF2CA-646F-A51B-B8DE-0DFCB3301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61DE212-0D89-D41F-7CA0-11865FFE793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0709C0-24AC-5BB1-9932-E41B1C3C3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Linguagens de Alto Nível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8314CDC7-5B3B-0DFD-59D5-5142BB8A85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2A0ED64-1BC3-1627-470A-DB92ADD5D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474" y="1640492"/>
            <a:ext cx="7765080" cy="4413067"/>
          </a:xfrm>
        </p:spPr>
        <p:txBody>
          <a:bodyPr>
            <a:normAutofit/>
          </a:bodyPr>
          <a:lstStyle/>
          <a:p>
            <a:r>
              <a:rPr lang="pt-BR" sz="2400" dirty="0"/>
              <a:t>Possui uma leitura mais próxima da linguagem humana</a:t>
            </a:r>
            <a:endParaRPr lang="pt-BR" sz="2000" dirty="0"/>
          </a:p>
          <a:p>
            <a:endParaRPr lang="pt-BR" sz="2400" dirty="0"/>
          </a:p>
          <a:p>
            <a:r>
              <a:rPr lang="pt-BR" sz="2400" dirty="0"/>
              <a:t>O próprio computador faz o trabalho duro de traduzir o código para a máquina (Compiladores ou Interpretadores).</a:t>
            </a:r>
          </a:p>
          <a:p>
            <a:endParaRPr lang="pt-BR" sz="2400" dirty="0"/>
          </a:p>
          <a:p>
            <a:r>
              <a:rPr lang="pt-BR" sz="2400" dirty="0"/>
              <a:t>Introduz a portabilidade, podendo ser executado em diferentes arquiteturas. </a:t>
            </a:r>
          </a:p>
          <a:p>
            <a:endParaRPr lang="pt-BR" sz="2400" dirty="0"/>
          </a:p>
        </p:txBody>
      </p:sp>
      <p:pic>
        <p:nvPicPr>
          <p:cNvPr id="6146" name="Picture 2" descr="PPT - MIPS Assembly Language PowerPoint Presentation, free download -  ID:144403">
            <a:extLst>
              <a:ext uri="{FF2B5EF4-FFF2-40B4-BE49-F238E27FC236}">
                <a16:creationId xmlns:a16="http://schemas.microsoft.com/office/drawing/2014/main" id="{C5D593F8-7C4C-0C3A-F2E3-D18ACE2691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3" t="29874" r="10702" b="10042"/>
          <a:stretch>
            <a:fillRect/>
          </a:stretch>
        </p:blipFill>
        <p:spPr bwMode="auto">
          <a:xfrm>
            <a:off x="7307483" y="4251469"/>
            <a:ext cx="4884517" cy="2606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B46C71D-772A-A08A-3F6B-202564571E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265" t="20112" r="40751" b="50000"/>
          <a:stretch>
            <a:fillRect/>
          </a:stretch>
        </p:blipFill>
        <p:spPr>
          <a:xfrm>
            <a:off x="2406584" y="5381764"/>
            <a:ext cx="3556860" cy="147623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CC8EC65-FBA8-A4F1-283D-3A1379045304}"/>
              </a:ext>
            </a:extLst>
          </p:cNvPr>
          <p:cNvSpPr txBox="1"/>
          <p:nvPr/>
        </p:nvSpPr>
        <p:spPr>
          <a:xfrm>
            <a:off x="2827302" y="5012432"/>
            <a:ext cx="2715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Hello</a:t>
            </a:r>
            <a:r>
              <a:rPr lang="pt-BR" dirty="0"/>
              <a:t> World – Linguagem C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10F9228-07B1-731A-9990-D3A20EC7A3C4}"/>
              </a:ext>
            </a:extLst>
          </p:cNvPr>
          <p:cNvSpPr txBox="1"/>
          <p:nvPr/>
        </p:nvSpPr>
        <p:spPr>
          <a:xfrm>
            <a:off x="8392029" y="3731768"/>
            <a:ext cx="2941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Hello</a:t>
            </a:r>
            <a:r>
              <a:rPr lang="pt-BR" dirty="0"/>
              <a:t> World – Assembly MIPS</a:t>
            </a:r>
          </a:p>
        </p:txBody>
      </p:sp>
    </p:spTree>
    <p:extLst>
      <p:ext uri="{BB962C8B-B14F-4D97-AF65-F5344CB8AC3E}">
        <p14:creationId xmlns:p14="http://schemas.microsoft.com/office/powerpoint/2010/main" val="3188463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1A393-562A-D38D-3A66-DFE4E0368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8190D0D-CA3E-D15D-4D00-A1096CC5EE5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2B6E970-839C-6C5D-119D-0592249D3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Compiladores X Interpretadores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622A0E1D-F25B-D357-14BD-AC24AF1472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49D0839-B4EA-C211-5150-2BC91CB53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474" y="1640492"/>
            <a:ext cx="8585494" cy="4711540"/>
          </a:xfrm>
        </p:spPr>
        <p:txBody>
          <a:bodyPr>
            <a:normAutofit/>
          </a:bodyPr>
          <a:lstStyle/>
          <a:p>
            <a:r>
              <a:rPr lang="pt-BR" sz="2400" b="1" dirty="0"/>
              <a:t>Compilador </a:t>
            </a:r>
          </a:p>
          <a:p>
            <a:pPr lvl="1"/>
            <a:endParaRPr lang="pt-BR" sz="2000" dirty="0"/>
          </a:p>
          <a:p>
            <a:pPr lvl="1"/>
            <a:r>
              <a:rPr lang="pt-BR" sz="2200" dirty="0"/>
              <a:t>traduz todo o código-fonte para linguagem de máquina antes da execução.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O resultado da compilação é um arquivo executável independente. (</a:t>
            </a:r>
            <a:r>
              <a:rPr lang="pt-BR" sz="2000" dirty="0"/>
              <a:t>Dispensa a necessidade do compilador original ou do código-fonte.</a:t>
            </a:r>
            <a:r>
              <a:rPr lang="pt-BR" sz="2200" dirty="0"/>
              <a:t>)</a:t>
            </a:r>
          </a:p>
          <a:p>
            <a:pPr marL="457200" lvl="1" indent="0">
              <a:buNone/>
            </a:pPr>
            <a:endParaRPr lang="pt-BR" sz="2200" dirty="0"/>
          </a:p>
          <a:p>
            <a:pPr lvl="1"/>
            <a:r>
              <a:rPr lang="pt-BR" sz="2200" dirty="0"/>
              <a:t>A tradução prévia da compilação permite uma execução mais otimizada, mas a compilação em si pode ser demorado.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Exemplo: C, C++, Swift, Delphi</a:t>
            </a:r>
          </a:p>
          <a:p>
            <a:endParaRPr lang="pt-BR" sz="2400" dirty="0"/>
          </a:p>
          <a:p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6D5AA5D-DDBE-45EA-302E-9A838F852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2375" y="1468337"/>
            <a:ext cx="1530401" cy="521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185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C98AB-9FE9-6F23-E8DD-5918288BB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C60625C-76BF-117E-9D77-44541679F3C7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6E38D8-A826-6E2A-88B7-58CE6D56E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Compiladores X Interpretadores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971EC516-EE04-2521-BF07-71312E65BF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1189A5-4D8C-810B-1954-668AFE0BA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488" y="1439002"/>
            <a:ext cx="8017437" cy="5289176"/>
          </a:xfrm>
        </p:spPr>
        <p:txBody>
          <a:bodyPr>
            <a:normAutofit/>
          </a:bodyPr>
          <a:lstStyle/>
          <a:p>
            <a:r>
              <a:rPr lang="pt-BR" sz="2400" b="1" dirty="0"/>
              <a:t>Interpretador</a:t>
            </a:r>
          </a:p>
          <a:p>
            <a:pPr lvl="1"/>
            <a:endParaRPr lang="pt-BR" sz="2000" dirty="0"/>
          </a:p>
          <a:p>
            <a:pPr lvl="1"/>
            <a:r>
              <a:rPr lang="pt-BR" sz="2200" dirty="0"/>
              <a:t>Lê o código-fonte linha a linha e o executa imediatamente, utilizando a API do S.O para comunicar com o hardware</a:t>
            </a:r>
          </a:p>
          <a:p>
            <a:pPr marL="457200" lvl="1" indent="0">
              <a:buNone/>
            </a:pPr>
            <a:endParaRPr lang="pt-BR" sz="2200" dirty="0"/>
          </a:p>
          <a:p>
            <a:pPr lvl="1"/>
            <a:r>
              <a:rPr lang="pt-BR" sz="2200" dirty="0"/>
              <a:t>Permite um desenvolvimento mais interativo e facilita o processo de detecção de erros.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Apresenta maior portabilidade em sistemas operacionais (Requisitando apenas a instalação do interpretador)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A tradução e execução simultânea (em tempo de execução) degrada o desempenho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Exemplos: JS, Ruby, PHP</a:t>
            </a:r>
          </a:p>
          <a:p>
            <a:endParaRPr lang="pt-BR" sz="2400" dirty="0"/>
          </a:p>
          <a:p>
            <a:endParaRPr lang="pt-BR" sz="2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09D98C0-138A-AB5B-2A74-6D120957C1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91" r="6959"/>
          <a:stretch>
            <a:fillRect/>
          </a:stretch>
        </p:blipFill>
        <p:spPr>
          <a:xfrm>
            <a:off x="8319911" y="2626692"/>
            <a:ext cx="3657601" cy="3029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739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087AC-5D75-90DD-6E28-D5F1BDDF3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69B5857-8044-CD22-9F41-F40D6B63243F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EE325-983A-9EEC-F3DD-F8CDD5397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Paradigmas de Programação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05923519-D03D-8947-37A2-4092664C4E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70955A0-658B-3903-F6CC-53E115C3F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5458" y="1817511"/>
            <a:ext cx="10443386" cy="3764537"/>
          </a:xfrm>
        </p:spPr>
        <p:txBody>
          <a:bodyPr>
            <a:normAutofit/>
          </a:bodyPr>
          <a:lstStyle/>
          <a:p>
            <a:r>
              <a:rPr lang="pt-BR" sz="2400" dirty="0"/>
              <a:t>Refere-se as formas de pensar e organizar a escrita de programas</a:t>
            </a:r>
            <a:endParaRPr lang="pt-BR" sz="2200" dirty="0"/>
          </a:p>
          <a:p>
            <a:r>
              <a:rPr lang="pt-BR" sz="2400" dirty="0"/>
              <a:t>Linguagens modernas costumam dar suporte a mais de um paradigma.</a:t>
            </a:r>
          </a:p>
          <a:p>
            <a:r>
              <a:rPr lang="pt-BR" sz="2400" dirty="0"/>
              <a:t>O paradigma de uma linguagem não é determinado pelo que </a:t>
            </a:r>
            <a:r>
              <a:rPr lang="pt-BR" sz="2400" b="1" dirty="0"/>
              <a:t>é possível fazer</a:t>
            </a:r>
            <a:r>
              <a:rPr lang="pt-BR" sz="2400" dirty="0"/>
              <a:t>, mas pelo que a linguagem </a:t>
            </a:r>
            <a:r>
              <a:rPr lang="pt-BR" sz="2400" b="1" dirty="0"/>
              <a:t>incentiva e oferece como modelo principal</a:t>
            </a:r>
            <a:r>
              <a:rPr lang="pt-BR" sz="2400" dirty="0"/>
              <a:t>.</a:t>
            </a:r>
            <a:endParaRPr lang="pt-BR" sz="2200" dirty="0"/>
          </a:p>
          <a:p>
            <a:pPr marL="0" indent="0">
              <a:buNone/>
            </a:pPr>
            <a:endParaRPr lang="pt-BR" sz="2400" dirty="0"/>
          </a:p>
        </p:txBody>
      </p:sp>
      <p:pic>
        <p:nvPicPr>
          <p:cNvPr id="2050" name="Picture 2" descr="template">
            <a:extLst>
              <a:ext uri="{FF2B5EF4-FFF2-40B4-BE49-F238E27FC236}">
                <a16:creationId xmlns:a16="http://schemas.microsoft.com/office/drawing/2014/main" id="{3F7081EE-C977-259E-2B4B-F5F29A58B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525" y="3751662"/>
            <a:ext cx="7470150" cy="3106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0342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0CB82-723B-0C3B-D314-76525C0E6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07F443-9C6C-C3AD-A4C9-76DC998E77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/>
              <a:t>MÓDULO 2 – LINGUAGEM C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1403F2-BA06-FE1B-0D3F-27A5A4B1F0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Sistemas Digitais / AOC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4C53B3E7-570B-AE27-7833-B17E767B9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0278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447D0-E7CB-ECFD-11B1-5794B1044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B1A28AC-DAAB-6C16-0CDC-88764D50CE14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DCF4B14-0EDE-6F69-47A5-0EE7B70E7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Linguagem C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A638FB8-5E7E-526A-56CD-F3D8A28800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C1732B-1561-6775-6787-B17743F1D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384" y="1529176"/>
            <a:ext cx="8147045" cy="5217508"/>
          </a:xfrm>
        </p:spPr>
        <p:txBody>
          <a:bodyPr>
            <a:normAutofit/>
          </a:bodyPr>
          <a:lstStyle/>
          <a:p>
            <a:r>
              <a:rPr lang="pt-BR" sz="2400" dirty="0"/>
              <a:t>Filosofia da Linguagem C:</a:t>
            </a:r>
          </a:p>
          <a:p>
            <a:pPr lvl="1"/>
            <a:endParaRPr lang="pt-BR" sz="2000" dirty="0"/>
          </a:p>
          <a:p>
            <a:pPr lvl="1"/>
            <a:r>
              <a:rPr lang="pt-BR" sz="2200" dirty="0"/>
              <a:t>Reflete a filosofia do sistema Unix, tendo como pilares a modularidade, a composição de módulos simples e clareza de código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Os módulos de um projeto devem ser implementados de maneira independente dos demais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É dado controle total ao usuário quanto à manipulação de memória e gerenciamento de recursos (inclusive recursos de segurança)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Menor abstração quanto à manipulação de memória e o controle direto de hardware</a:t>
            </a:r>
          </a:p>
          <a:p>
            <a:pPr lvl="1"/>
            <a:endParaRPr lang="pt-BR" sz="2000" dirty="0"/>
          </a:p>
          <a:p>
            <a:pPr lvl="1"/>
            <a:endParaRPr lang="pt-BR" sz="2000" dirty="0"/>
          </a:p>
        </p:txBody>
      </p:sp>
      <p:sp>
        <p:nvSpPr>
          <p:cNvPr id="3" name="Chave Direita 2">
            <a:extLst>
              <a:ext uri="{FF2B5EF4-FFF2-40B4-BE49-F238E27FC236}">
                <a16:creationId xmlns:a16="http://schemas.microsoft.com/office/drawing/2014/main" id="{4F885CEA-2EDF-F394-AF01-4C1EAEFC0CA0}"/>
              </a:ext>
            </a:extLst>
          </p:cNvPr>
          <p:cNvSpPr/>
          <p:nvPr/>
        </p:nvSpPr>
        <p:spPr>
          <a:xfrm>
            <a:off x="8183074" y="5017624"/>
            <a:ext cx="810228" cy="114589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840321C7-2521-5667-5968-A1F1EA6CE547}"/>
              </a:ext>
            </a:extLst>
          </p:cNvPr>
          <p:cNvSpPr txBox="1"/>
          <p:nvPr/>
        </p:nvSpPr>
        <p:spPr>
          <a:xfrm>
            <a:off x="9120595" y="5267405"/>
            <a:ext cx="2112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Consequente ganho </a:t>
            </a:r>
          </a:p>
          <a:p>
            <a:r>
              <a:rPr lang="pt-BR" dirty="0"/>
              <a:t>de desempenho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290CDC7-2759-A493-8D1E-2A4E7ADA7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5746" y="1640492"/>
            <a:ext cx="2100362" cy="232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889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DA483-0EB1-4BA4-064F-DB75EE304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077832A-09C2-3D0C-4D78-785FBE318CA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D87FCB2-CF17-3E9A-E7A3-5039A49F5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Ciclo de Desenvolvimento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1502EC9-884F-90B0-7A7C-6A10FF7BFF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30C4C2D-1A34-F14A-6A6B-35807246C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842" y="2057180"/>
            <a:ext cx="5994154" cy="4413067"/>
          </a:xfrm>
        </p:spPr>
        <p:txBody>
          <a:bodyPr>
            <a:normAutofit/>
          </a:bodyPr>
          <a:lstStyle/>
          <a:p>
            <a:r>
              <a:rPr lang="pt-BR" sz="2400" dirty="0"/>
              <a:t>O desenvolvimento de uma aplicação engloba quatro fases distintas:</a:t>
            </a:r>
          </a:p>
          <a:p>
            <a:pPr marL="800100" lvl="1" indent="-342900">
              <a:buFont typeface="+mj-lt"/>
              <a:buAutoNum type="arabicPeriod"/>
            </a:pPr>
            <a:endParaRPr lang="pt-BR" sz="2200" dirty="0"/>
          </a:p>
          <a:p>
            <a:pPr marL="800100" lvl="1" indent="-342900">
              <a:buFont typeface="+mj-lt"/>
              <a:buAutoNum type="arabicPeriod"/>
            </a:pPr>
            <a:r>
              <a:rPr lang="pt-BR" sz="2200" dirty="0"/>
              <a:t>Edição do código fonte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sz="2200" dirty="0"/>
              <a:t>Compilação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sz="2200" i="1" dirty="0" err="1"/>
              <a:t>Linkagem</a:t>
            </a:r>
            <a:r>
              <a:rPr lang="pt-BR" sz="2200" dirty="0"/>
              <a:t> de Objetos </a:t>
            </a:r>
          </a:p>
          <a:p>
            <a:pPr marL="800100" lvl="1" indent="-342900">
              <a:buFont typeface="+mj-lt"/>
              <a:buAutoNum type="arabicPeriod"/>
            </a:pPr>
            <a:r>
              <a:rPr lang="pt-BR" sz="2200" dirty="0"/>
              <a:t>Execução do Programa </a:t>
            </a:r>
          </a:p>
          <a:p>
            <a:pPr lvl="1"/>
            <a:endParaRPr lang="pt-BR" sz="2000" dirty="0"/>
          </a:p>
          <a:p>
            <a:pPr lvl="1"/>
            <a:endParaRPr lang="pt-BR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EBD0-0B15-E541-A879-F5006DFB7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223" y="1568824"/>
            <a:ext cx="5567553" cy="5289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626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9691F-7747-3F69-241C-252A7B03F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6495F23-8079-4345-C563-CBA4EE28A57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E54047F-7167-87E5-CD10-537C1CA9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 err="1">
                <a:solidFill>
                  <a:schemeClr val="bg1"/>
                </a:solidFill>
              </a:rPr>
              <a:t>Pré</a:t>
            </a:r>
            <a:r>
              <a:rPr lang="pt-BR" dirty="0">
                <a:solidFill>
                  <a:schemeClr val="bg1"/>
                </a:solidFill>
              </a:rPr>
              <a:t>-Processador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799A796F-5FF3-5CDB-BF0F-F846E7C23E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41C4F10-6EF3-F109-90A5-7490536A0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608" y="1501596"/>
            <a:ext cx="7465789" cy="5356404"/>
          </a:xfrm>
        </p:spPr>
        <p:txBody>
          <a:bodyPr>
            <a:normAutofit/>
          </a:bodyPr>
          <a:lstStyle/>
          <a:p>
            <a:r>
              <a:rPr lang="pt-BR" sz="2400" dirty="0"/>
              <a:t>Não executa nenhuma lógica da linguagem C em si, apenas manipula linhas de texto.</a:t>
            </a:r>
          </a:p>
          <a:p>
            <a:r>
              <a:rPr lang="pt-BR" sz="2400" dirty="0"/>
              <a:t>Ele executa diretivas que começam com </a:t>
            </a:r>
            <a:r>
              <a:rPr lang="pt-BR" dirty="0"/>
              <a:t>#</a:t>
            </a:r>
            <a:r>
              <a:rPr lang="pt-BR" sz="2400" dirty="0"/>
              <a:t>.</a:t>
            </a:r>
          </a:p>
          <a:p>
            <a:pPr marL="0" indent="0">
              <a:buNone/>
            </a:pPr>
            <a:endParaRPr lang="pt-BR" sz="2200" dirty="0"/>
          </a:p>
          <a:p>
            <a:pPr lvl="1"/>
            <a:r>
              <a:rPr lang="pt-BR" sz="2200" b="1" dirty="0"/>
              <a:t>#include:</a:t>
            </a:r>
            <a:r>
              <a:rPr lang="pt-BR" sz="2200" dirty="0"/>
              <a:t> Referencia o conteúdo de uma biblioteca ou arquivos </a:t>
            </a:r>
            <a:r>
              <a:rPr lang="pt-BR" sz="2200" dirty="0" err="1"/>
              <a:t>headers</a:t>
            </a:r>
            <a:r>
              <a:rPr lang="pt-BR" sz="2200" dirty="0"/>
              <a:t> diretamente no código.</a:t>
            </a:r>
          </a:p>
          <a:p>
            <a:pPr lvl="1"/>
            <a:endParaRPr lang="pt-BR" sz="2200" b="1" dirty="0"/>
          </a:p>
          <a:p>
            <a:pPr lvl="1"/>
            <a:r>
              <a:rPr lang="pt-BR" sz="2200" b="1" dirty="0"/>
              <a:t>#define: </a:t>
            </a:r>
            <a:r>
              <a:rPr lang="pt-BR" sz="2200" dirty="0"/>
              <a:t>Troca uma palavra por um valor ou pedaço de texto em todo o código (como criar constantes).</a:t>
            </a:r>
          </a:p>
          <a:p>
            <a:pPr lvl="1"/>
            <a:endParaRPr lang="pt-BR" sz="2200" b="1" dirty="0"/>
          </a:p>
          <a:p>
            <a:pPr lvl="1"/>
            <a:r>
              <a:rPr lang="pt-BR" sz="2200" b="1" dirty="0"/>
              <a:t>#ifdef / #ifndef / #if: </a:t>
            </a:r>
            <a:r>
              <a:rPr lang="pt-BR" sz="2200" dirty="0"/>
              <a:t>Controla se um trecho do código deve ou não ser compilado com base em certas condições.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32D4426D-A677-F92A-F0CB-9620612AD2C0}"/>
              </a:ext>
            </a:extLst>
          </p:cNvPr>
          <p:cNvGrpSpPr/>
          <p:nvPr/>
        </p:nvGrpSpPr>
        <p:grpSpPr>
          <a:xfrm>
            <a:off x="7857397" y="1826340"/>
            <a:ext cx="4334603" cy="4481137"/>
            <a:chOff x="7857397" y="1826340"/>
            <a:chExt cx="4334603" cy="4481137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4FCA36D8-B966-D57F-25D1-CE9B5AAA19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000" r="4669"/>
            <a:stretch>
              <a:fillRect/>
            </a:stretch>
          </p:blipFill>
          <p:spPr>
            <a:xfrm>
              <a:off x="7857397" y="1826340"/>
              <a:ext cx="4260878" cy="4481137"/>
            </a:xfrm>
            <a:prstGeom prst="rect">
              <a:avLst/>
            </a:prstGeom>
          </p:spPr>
        </p:pic>
        <p:sp>
          <p:nvSpPr>
            <p:cNvPr id="8" name="Retângulo 7">
              <a:extLst>
                <a:ext uri="{FF2B5EF4-FFF2-40B4-BE49-F238E27FC236}">
                  <a16:creationId xmlns:a16="http://schemas.microsoft.com/office/drawing/2014/main" id="{F5BC630C-654F-581A-D83B-6404D734046D}"/>
                </a:ext>
              </a:extLst>
            </p:cNvPr>
            <p:cNvSpPr/>
            <p:nvPr/>
          </p:nvSpPr>
          <p:spPr>
            <a:xfrm>
              <a:off x="11232776" y="3429000"/>
              <a:ext cx="552824" cy="2102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5FF9C38E-431C-7A2E-03E0-7F336DC241C7}"/>
                </a:ext>
              </a:extLst>
            </p:cNvPr>
            <p:cNvSpPr/>
            <p:nvPr/>
          </p:nvSpPr>
          <p:spPr>
            <a:xfrm>
              <a:off x="8816622" y="2686756"/>
              <a:ext cx="3375378" cy="7422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5678718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5A6C4-51DD-D63C-825B-015D388A8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312316B-0D8B-B72E-0206-F45F0856D61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CA22B9-DCB4-F57E-CEDD-BCF16F6FF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Compilador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275A5B7-FCB5-EBE2-9632-480EE15C5D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8F52281-2C6C-6073-343F-037D7D62D0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119" y="1501596"/>
            <a:ext cx="7860570" cy="5356404"/>
          </a:xfrm>
        </p:spPr>
        <p:txBody>
          <a:bodyPr>
            <a:normAutofit/>
          </a:bodyPr>
          <a:lstStyle/>
          <a:p>
            <a:r>
              <a:rPr lang="pt-BR" sz="2400" dirty="0"/>
              <a:t>O compilador aplica 3 etapas de análise ao código</a:t>
            </a:r>
          </a:p>
          <a:p>
            <a:pPr lvl="1"/>
            <a:endParaRPr lang="pt-BR" sz="2000" dirty="0"/>
          </a:p>
          <a:p>
            <a:pPr lvl="1"/>
            <a:r>
              <a:rPr lang="pt-BR" sz="2200" dirty="0"/>
              <a:t>Análise </a:t>
            </a:r>
            <a:r>
              <a:rPr lang="pt-BR" sz="2200" dirty="0" err="1"/>
              <a:t>Lexica</a:t>
            </a:r>
            <a:r>
              <a:rPr lang="pt-BR" sz="2200" dirty="0"/>
              <a:t>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sz="2200" dirty="0"/>
              <a:t>Lê o código-fonte caractere por caractere, gerando </a:t>
            </a:r>
            <a:r>
              <a:rPr lang="pt-BR" sz="2200" i="1" dirty="0"/>
              <a:t>tokens</a:t>
            </a:r>
            <a:r>
              <a:rPr lang="pt-BR" sz="2200" dirty="0"/>
              <a:t> (palavras-chave, identificadores, números e símbolos).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pt-BR" sz="2200" dirty="0"/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Análise Sintática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sz="2200" dirty="0"/>
              <a:t>Organiza os elementos em uma estrutura em árvore com base nas regras gramaticais da linguagem C.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Análise Semântica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sz="2200" dirty="0"/>
              <a:t>Verifica o significado do código estruturado na árvore.</a:t>
            </a:r>
          </a:p>
          <a:p>
            <a:pPr marL="457200" lvl="1" indent="0">
              <a:buNone/>
            </a:pPr>
            <a:endParaRPr lang="pt-BR" sz="2000" dirty="0"/>
          </a:p>
          <a:p>
            <a:r>
              <a:rPr lang="pt-BR" sz="2400" dirty="0"/>
              <a:t>Ao final, transforma o código C em Assembly.</a:t>
            </a:r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33BC98DC-6014-E26C-248E-4C1487A3DBA0}"/>
              </a:ext>
            </a:extLst>
          </p:cNvPr>
          <p:cNvGrpSpPr/>
          <p:nvPr/>
        </p:nvGrpSpPr>
        <p:grpSpPr>
          <a:xfrm>
            <a:off x="8037689" y="1873956"/>
            <a:ext cx="4080586" cy="4433521"/>
            <a:chOff x="7857397" y="1826340"/>
            <a:chExt cx="4260878" cy="4481137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67C27E5C-1E2C-DABC-FB5D-376A31C47D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000" r="4669"/>
            <a:stretch>
              <a:fillRect/>
            </a:stretch>
          </p:blipFill>
          <p:spPr>
            <a:xfrm>
              <a:off x="7857397" y="1826340"/>
              <a:ext cx="4260878" cy="4481137"/>
            </a:xfrm>
            <a:prstGeom prst="rect">
              <a:avLst/>
            </a:prstGeom>
          </p:spPr>
        </p:pic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E3B11935-4940-8135-6C08-53075B429380}"/>
                </a:ext>
              </a:extLst>
            </p:cNvPr>
            <p:cNvSpPr/>
            <p:nvPr/>
          </p:nvSpPr>
          <p:spPr>
            <a:xfrm>
              <a:off x="11232776" y="3429000"/>
              <a:ext cx="552824" cy="2102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E194846A-7FBC-0117-48E2-04F9A3585474}"/>
                </a:ext>
              </a:extLst>
            </p:cNvPr>
            <p:cNvSpPr/>
            <p:nvPr/>
          </p:nvSpPr>
          <p:spPr>
            <a:xfrm>
              <a:off x="9426221" y="3339934"/>
              <a:ext cx="1975557" cy="7422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31878205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6F4A4-69B4-EA4C-9E48-3BA823DC4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0CE5B28-DC28-8595-1E2C-940A68F68C9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12AA27B-F7FE-2BB6-D402-204517090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Montagem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3C61AF01-82D7-2F5F-93A3-7F5F36E940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E4BB6F0-773D-3CD3-827B-502B59A9F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119" y="1501596"/>
            <a:ext cx="7860570" cy="5356404"/>
          </a:xfrm>
        </p:spPr>
        <p:txBody>
          <a:bodyPr>
            <a:normAutofit/>
          </a:bodyPr>
          <a:lstStyle/>
          <a:p>
            <a:r>
              <a:rPr lang="pt-BR" sz="2400" dirty="0"/>
              <a:t>Converte o código Assembly gerado para o código binário</a:t>
            </a:r>
          </a:p>
          <a:p>
            <a:r>
              <a:rPr lang="pt-BR" sz="2400" dirty="0"/>
              <a:t>Gera o chamado ‘Arquivo Objeto (.o)’</a:t>
            </a:r>
          </a:p>
          <a:p>
            <a:r>
              <a:rPr lang="pt-BR" sz="2400" dirty="0"/>
              <a:t>Ele já contém instruções de máquina, mas ainda não é executável.</a:t>
            </a:r>
          </a:p>
          <a:p>
            <a:endParaRPr lang="pt-BR" sz="2400" dirty="0"/>
          </a:p>
          <a:p>
            <a:r>
              <a:rPr lang="pt-BR" sz="2400" dirty="0"/>
              <a:t>Estrutura do arquivo objeto:</a:t>
            </a:r>
          </a:p>
          <a:p>
            <a:endParaRPr lang="pt-BR" sz="2400" dirty="0"/>
          </a:p>
          <a:p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0510206D-6CD6-01F5-95B8-FA55FB11FA75}"/>
              </a:ext>
            </a:extLst>
          </p:cNvPr>
          <p:cNvGrpSpPr/>
          <p:nvPr/>
        </p:nvGrpSpPr>
        <p:grpSpPr>
          <a:xfrm>
            <a:off x="7846108" y="1865765"/>
            <a:ext cx="4260878" cy="4481137"/>
            <a:chOff x="7846108" y="1865765"/>
            <a:chExt cx="4260878" cy="4481137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222FB77B-4038-1AFA-F3CF-4D79E4AB0F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000" r="4669"/>
            <a:stretch>
              <a:fillRect/>
            </a:stretch>
          </p:blipFill>
          <p:spPr>
            <a:xfrm>
              <a:off x="7846108" y="1865765"/>
              <a:ext cx="4260878" cy="4481137"/>
            </a:xfrm>
            <a:prstGeom prst="rect">
              <a:avLst/>
            </a:prstGeom>
          </p:spPr>
        </p:pic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D401DBDA-4E98-3A03-3DAC-2D69AF7CA096}"/>
                </a:ext>
              </a:extLst>
            </p:cNvPr>
            <p:cNvSpPr/>
            <p:nvPr/>
          </p:nvSpPr>
          <p:spPr>
            <a:xfrm>
              <a:off x="11232776" y="3429000"/>
              <a:ext cx="552824" cy="2102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CE7EBA49-F354-1830-6E8E-2643BEC23BC2}"/>
                </a:ext>
              </a:extLst>
            </p:cNvPr>
            <p:cNvSpPr/>
            <p:nvPr/>
          </p:nvSpPr>
          <p:spPr>
            <a:xfrm>
              <a:off x="9505244" y="4106334"/>
              <a:ext cx="1941689" cy="7422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07E65DD6-F7E1-75A0-C180-79BA22654A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688538"/>
              </p:ext>
            </p:extLst>
          </p:nvPr>
        </p:nvGraphicFramePr>
        <p:xfrm>
          <a:off x="982133" y="4233254"/>
          <a:ext cx="2133600" cy="22463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386795610"/>
                    </a:ext>
                  </a:extLst>
                </a:gridCol>
              </a:tblGrid>
              <a:tr h="56157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Código Binário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1134584"/>
                  </a:ext>
                </a:extLst>
              </a:tr>
              <a:tr h="56157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Variáveis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9364681"/>
                  </a:ext>
                </a:extLst>
              </a:tr>
              <a:tr h="56157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Símbolos/Funções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7908791"/>
                  </a:ext>
                </a:extLst>
              </a:tr>
              <a:tr h="561575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Referências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4518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2627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D1A0E-682E-D5AA-2009-A143D81AF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A5283831-4E19-7C22-A7F3-EBFDAA46E28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2FA62D-8A7D-E0DE-37FE-02C05479B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 err="1">
                <a:solidFill>
                  <a:schemeClr val="bg1"/>
                </a:solidFill>
              </a:rPr>
              <a:t>Linkagem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BDFF28EE-7216-1735-724B-70C60E7BBF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A661621-9348-0B14-8EF3-A112CB6C1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119" y="1501596"/>
            <a:ext cx="7860570" cy="5356404"/>
          </a:xfrm>
        </p:spPr>
        <p:txBody>
          <a:bodyPr>
            <a:normAutofit/>
          </a:bodyPr>
          <a:lstStyle/>
          <a:p>
            <a:r>
              <a:rPr lang="pt-BR" sz="2400" dirty="0"/>
              <a:t>O </a:t>
            </a:r>
            <a:r>
              <a:rPr lang="pt-BR" sz="2400" i="1" dirty="0" err="1"/>
              <a:t>linker</a:t>
            </a:r>
            <a:r>
              <a:rPr lang="pt-BR" sz="2400" dirty="0"/>
              <a:t> recebe os vários arquivos objetos criados</a:t>
            </a:r>
          </a:p>
          <a:p>
            <a:r>
              <a:rPr lang="pt-BR" sz="2400" dirty="0"/>
              <a:t>Procura e conecta as referências no código</a:t>
            </a:r>
          </a:p>
          <a:p>
            <a:r>
              <a:rPr lang="pt-BR" sz="2400" dirty="0"/>
              <a:t>Gera o arquivo executável final</a:t>
            </a:r>
          </a:p>
          <a:p>
            <a:endParaRPr lang="pt-BR" sz="2400" dirty="0"/>
          </a:p>
          <a:p>
            <a:r>
              <a:rPr lang="pt-BR" sz="2400" dirty="0"/>
              <a:t>Exemplo:</a:t>
            </a:r>
          </a:p>
          <a:p>
            <a:endParaRPr lang="pt-BR" sz="2400" dirty="0"/>
          </a:p>
          <a:p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56DD666F-A40B-14AD-C626-FD88E59B0A91}"/>
              </a:ext>
            </a:extLst>
          </p:cNvPr>
          <p:cNvGrpSpPr/>
          <p:nvPr/>
        </p:nvGrpSpPr>
        <p:grpSpPr>
          <a:xfrm>
            <a:off x="7857397" y="1826340"/>
            <a:ext cx="4260878" cy="4481137"/>
            <a:chOff x="7857397" y="1826340"/>
            <a:chExt cx="4260878" cy="4481137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F61FA03D-ABCE-9CA0-56CE-40F6C5FF8E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000" r="4669"/>
            <a:stretch>
              <a:fillRect/>
            </a:stretch>
          </p:blipFill>
          <p:spPr>
            <a:xfrm>
              <a:off x="7857397" y="1826340"/>
              <a:ext cx="4260878" cy="4481137"/>
            </a:xfrm>
            <a:prstGeom prst="rect">
              <a:avLst/>
            </a:prstGeom>
          </p:spPr>
        </p:pic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BD702D28-AB8E-88ED-BEF3-891B112041F2}"/>
                </a:ext>
              </a:extLst>
            </p:cNvPr>
            <p:cNvSpPr/>
            <p:nvPr/>
          </p:nvSpPr>
          <p:spPr>
            <a:xfrm>
              <a:off x="11232776" y="3429000"/>
              <a:ext cx="552824" cy="2102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69981569-4CE3-2677-D452-54BC7402030C}"/>
                </a:ext>
              </a:extLst>
            </p:cNvPr>
            <p:cNvSpPr/>
            <p:nvPr/>
          </p:nvSpPr>
          <p:spPr>
            <a:xfrm>
              <a:off x="9275963" y="4806150"/>
              <a:ext cx="2509637" cy="7422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11" name="Imagem 10">
            <a:extLst>
              <a:ext uri="{FF2B5EF4-FFF2-40B4-BE49-F238E27FC236}">
                <a16:creationId xmlns:a16="http://schemas.microsoft.com/office/drawing/2014/main" id="{1AFA5B24-A560-8A52-FB65-F3B0845150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762022"/>
            <a:ext cx="4687956" cy="2343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8529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5EB05-87BC-2801-489E-06CD7B6AC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1590152-0B4E-94C8-24E4-DEA140458F87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80D7C3-D81F-565A-FAF8-BC3DA675F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 err="1">
                <a:solidFill>
                  <a:schemeClr val="bg1"/>
                </a:solidFill>
              </a:rPr>
              <a:t>Linkagem</a:t>
            </a:r>
            <a:r>
              <a:rPr lang="pt-BR" dirty="0">
                <a:solidFill>
                  <a:schemeClr val="bg1"/>
                </a:solidFill>
              </a:rPr>
              <a:t> (Observação)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7AB2C41F-A0BD-E83B-E52D-27DA8FCC26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0691A9A-EBF2-2E5D-FECE-AD1F7648D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119" y="1501596"/>
            <a:ext cx="7860570" cy="5356404"/>
          </a:xfrm>
        </p:spPr>
        <p:txBody>
          <a:bodyPr>
            <a:normAutofit/>
          </a:bodyPr>
          <a:lstStyle/>
          <a:p>
            <a:r>
              <a:rPr lang="pt-BR" sz="2400" dirty="0"/>
              <a:t>Existem dois tipos de </a:t>
            </a:r>
            <a:r>
              <a:rPr lang="pt-BR" sz="2400" i="1" dirty="0" err="1"/>
              <a:t>linkagem</a:t>
            </a:r>
            <a:r>
              <a:rPr lang="pt-BR" sz="2400" i="1" dirty="0"/>
              <a:t>:</a:t>
            </a:r>
          </a:p>
          <a:p>
            <a:endParaRPr lang="pt-BR" sz="2400" dirty="0"/>
          </a:p>
          <a:p>
            <a:r>
              <a:rPr lang="pt-BR" sz="2400" dirty="0" err="1"/>
              <a:t>Linkagem</a:t>
            </a:r>
            <a:r>
              <a:rPr lang="pt-BR" sz="2400" dirty="0"/>
              <a:t> Estática</a:t>
            </a:r>
            <a:endParaRPr lang="pt-BR" sz="2000" dirty="0"/>
          </a:p>
          <a:p>
            <a:pPr lvl="1"/>
            <a:r>
              <a:rPr lang="pt-BR" sz="2200" dirty="0"/>
              <a:t>Todo o código necessário é copiado para o executável.</a:t>
            </a:r>
          </a:p>
          <a:p>
            <a:pPr lvl="1"/>
            <a:r>
              <a:rPr lang="pt-BR" sz="2200" dirty="0"/>
              <a:t>O arquivo executável fica com um tamanho bem maior.</a:t>
            </a:r>
          </a:p>
          <a:p>
            <a:pPr lvl="1"/>
            <a:r>
              <a:rPr lang="pt-BR" sz="2200" dirty="0"/>
              <a:t>Funciona de forma independente.</a:t>
            </a:r>
          </a:p>
          <a:p>
            <a:pPr lvl="1"/>
            <a:endParaRPr lang="pt-BR" sz="2000" dirty="0"/>
          </a:p>
          <a:p>
            <a:r>
              <a:rPr lang="pt-BR" sz="2400" dirty="0" err="1"/>
              <a:t>Linkagem</a:t>
            </a:r>
            <a:r>
              <a:rPr lang="pt-BR" sz="2400" dirty="0"/>
              <a:t> Dinâmica</a:t>
            </a:r>
          </a:p>
          <a:p>
            <a:pPr lvl="1"/>
            <a:r>
              <a:rPr lang="pt-BR" sz="2200" dirty="0"/>
              <a:t>O executável guarda apenas referências ou endereços de arquivos externos</a:t>
            </a:r>
          </a:p>
          <a:p>
            <a:pPr lvl="1"/>
            <a:r>
              <a:rPr lang="pt-BR" sz="2200" dirty="0"/>
              <a:t>O arquivo executável do programa é menor</a:t>
            </a:r>
          </a:p>
          <a:p>
            <a:pPr lvl="1"/>
            <a:endParaRPr lang="pt-BR" sz="20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7F1ED11D-CA1E-1E49-4E82-57A8934D5991}"/>
              </a:ext>
            </a:extLst>
          </p:cNvPr>
          <p:cNvGrpSpPr/>
          <p:nvPr/>
        </p:nvGrpSpPr>
        <p:grpSpPr>
          <a:xfrm>
            <a:off x="7857397" y="1826340"/>
            <a:ext cx="4260878" cy="4481137"/>
            <a:chOff x="7857397" y="1826340"/>
            <a:chExt cx="4260878" cy="4481137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455AA25F-0192-42D4-C8E8-2D02755B27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000" r="4669"/>
            <a:stretch>
              <a:fillRect/>
            </a:stretch>
          </p:blipFill>
          <p:spPr>
            <a:xfrm>
              <a:off x="7857397" y="1826340"/>
              <a:ext cx="4260878" cy="4481137"/>
            </a:xfrm>
            <a:prstGeom prst="rect">
              <a:avLst/>
            </a:prstGeom>
          </p:spPr>
        </p:pic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961F242B-4E58-F21C-75E2-15CEF71B6AB1}"/>
                </a:ext>
              </a:extLst>
            </p:cNvPr>
            <p:cNvSpPr/>
            <p:nvPr/>
          </p:nvSpPr>
          <p:spPr>
            <a:xfrm>
              <a:off x="11232776" y="3429000"/>
              <a:ext cx="552824" cy="21025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18F375EA-FDBF-7397-7EAF-A651F6DA8635}"/>
                </a:ext>
              </a:extLst>
            </p:cNvPr>
            <p:cNvSpPr/>
            <p:nvPr/>
          </p:nvSpPr>
          <p:spPr>
            <a:xfrm>
              <a:off x="9275963" y="4806150"/>
              <a:ext cx="2509637" cy="74224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818200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5A3B4-6B0D-319A-42F2-E42148BDB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A9399F9-6B89-5C05-9A33-444D5094690C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BC45B6C-C877-6747-0EC5-242ED1672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Anatomia de um código C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05D29837-3C86-CEC6-2111-147292B3226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D6D7A37-75B3-03C4-CDE7-13742ED3F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224" y="1501596"/>
            <a:ext cx="7860570" cy="5356404"/>
          </a:xfrm>
        </p:spPr>
        <p:txBody>
          <a:bodyPr>
            <a:normAutofit/>
          </a:bodyPr>
          <a:lstStyle/>
          <a:p>
            <a:r>
              <a:rPr lang="pt-BR" sz="2400" dirty="0"/>
              <a:t>Todo programa em C, independentemente do tamanho, segue uma estrutura semelhante:</a:t>
            </a:r>
          </a:p>
          <a:p>
            <a:endParaRPr lang="pt-BR" sz="2200" dirty="0"/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Diretivas do </a:t>
            </a:r>
            <a:r>
              <a:rPr lang="pt-BR" sz="2200" dirty="0" err="1"/>
              <a:t>pré</a:t>
            </a:r>
            <a:r>
              <a:rPr lang="pt-BR" sz="2200" dirty="0"/>
              <a:t>-processador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Definições e macros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Declarações globais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Protótipos de funções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Definições das funções 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200" dirty="0"/>
              <a:t>Função principal (</a:t>
            </a:r>
            <a:r>
              <a:rPr lang="pt-BR" sz="2200" dirty="0" err="1"/>
              <a:t>main</a:t>
            </a:r>
            <a:r>
              <a:rPr lang="pt-BR" sz="2200" dirty="0"/>
              <a:t>) </a:t>
            </a:r>
          </a:p>
          <a:p>
            <a:pPr lvl="1"/>
            <a:endParaRPr lang="pt-BR" sz="2000" dirty="0"/>
          </a:p>
          <a:p>
            <a:endParaRPr lang="pt-BR" sz="2400" dirty="0"/>
          </a:p>
          <a:p>
            <a:endParaRPr lang="pt-BR" sz="2400" dirty="0"/>
          </a:p>
          <a:p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5489701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A323D-379A-7FB4-9047-7C66D35F2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4E57A08-EBB2-8EF4-CE50-F26AEEF188F5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C282666-8206-58E1-6FE6-8D99E54A0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Anatomia de um código C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8D3BA8A-5531-A18C-4643-532A34451E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CA67F5D9-F51B-A7D8-CAC1-E29844E1E0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349" y="1501596"/>
                <a:ext cx="7480559" cy="5356404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Diretivas do </a:t>
                </a:r>
                <a:r>
                  <a:rPr lang="pt-BR" sz="2400" dirty="0" err="1"/>
                  <a:t>pré</a:t>
                </a:r>
                <a:r>
                  <a:rPr lang="pt-BR" sz="2400" dirty="0"/>
                  <a:t>-processador</a:t>
                </a:r>
              </a:p>
              <a:p>
                <a:pPr lvl="1"/>
                <a:endParaRPr lang="pt-BR" sz="1600" dirty="0"/>
              </a:p>
              <a:p>
                <a:pPr lvl="1"/>
                <a:r>
                  <a:rPr lang="pt-BR" sz="2200" dirty="0"/>
                  <a:t>São todas as linhas que começam com #</a:t>
                </a:r>
              </a:p>
              <a:p>
                <a:pPr lvl="1"/>
                <a:r>
                  <a:rPr lang="pt-BR" sz="2200" dirty="0"/>
                  <a:t>Essas linhas não fazem parte da linguagem C propriamente dita. </a:t>
                </a:r>
              </a:p>
              <a:p>
                <a:pPr lvl="1"/>
                <a:r>
                  <a:rPr lang="pt-BR" sz="2200" dirty="0"/>
                  <a:t>Elas são processadas antes da compilação.</a:t>
                </a:r>
              </a:p>
              <a:p>
                <a:endParaRPr lang="pt-BR" sz="2400" dirty="0"/>
              </a:p>
              <a:p>
                <a:r>
                  <a:rPr lang="pt-BR" sz="2400" dirty="0"/>
                  <a:t>Definição de Macros</a:t>
                </a:r>
              </a:p>
              <a:p>
                <a:pPr lvl="1"/>
                <a:endParaRPr lang="pt-BR" sz="2000" dirty="0"/>
              </a:p>
              <a:p>
                <a:pPr lvl="1"/>
                <a:r>
                  <a:rPr lang="pt-BR" sz="2200" dirty="0"/>
                  <a:t>Isso cria constantes simbólicas</a:t>
                </a:r>
              </a:p>
              <a:p>
                <a:pPr lvl="1"/>
                <a:r>
                  <a:rPr lang="pt-BR" sz="2200" dirty="0"/>
                  <a:t>Também podemos criar macros com parâmetros.</a:t>
                </a:r>
              </a:p>
              <a:p>
                <a:pPr lvl="1"/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000" i="1" dirty="0" smtClean="0">
                          <a:latin typeface="Cambria Math" panose="02040503050406030204" pitchFamily="18" charset="0"/>
                        </a:rPr>
                        <m:t>#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𝑑𝑒𝑓𝑖𝑛𝑒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𝑄𝑈𝐴𝐷𝑅𝐴𝐷𝑂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) ((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) ∗ (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it-IT" sz="2000" i="1" dirty="0"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pt-BR" sz="2000" i="1" dirty="0">
                  <a:latin typeface="Cambria Math" panose="02040503050406030204" pitchFamily="18" charset="0"/>
                </a:endParaRPr>
              </a:p>
              <a:p>
                <a:endParaRPr lang="pt-BR" sz="2400" dirty="0"/>
              </a:p>
              <a:p>
                <a:endParaRPr lang="pt-BR" sz="2400" dirty="0"/>
              </a:p>
              <a:p>
                <a:pPr marL="0" indent="0">
                  <a:buNone/>
                </a:pPr>
                <a:endParaRPr lang="pt-BR" sz="24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CA67F5D9-F51B-A7D8-CAC1-E29844E1E0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349" y="1501596"/>
                <a:ext cx="7480559" cy="5356404"/>
              </a:xfrm>
              <a:blipFill>
                <a:blip r:embed="rId3"/>
                <a:stretch>
                  <a:fillRect l="-1059" t="-159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Imagem 3">
            <a:extLst>
              <a:ext uri="{FF2B5EF4-FFF2-40B4-BE49-F238E27FC236}">
                <a16:creationId xmlns:a16="http://schemas.microsoft.com/office/drawing/2014/main" id="{0DF0DB5F-DB2A-C2E3-046F-AC2F890B1B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1290" y="1614743"/>
            <a:ext cx="4397473" cy="428538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4957B044-68A2-8546-6F73-754629053BFA}"/>
              </a:ext>
            </a:extLst>
          </p:cNvPr>
          <p:cNvSpPr/>
          <p:nvPr/>
        </p:nvSpPr>
        <p:spPr>
          <a:xfrm>
            <a:off x="7530908" y="1501595"/>
            <a:ext cx="3408025" cy="7674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25042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CE2E0-8DCB-3F2B-DFFE-C402766A5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55CF461-D03A-76E2-3BA0-6572B1A2BA5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59A04E-EF20-7A20-5D73-B2370DD27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Anatomia de um código C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F3915B45-C497-8365-DE36-E6EAA6569F5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0C78FE2-2547-24D9-8684-2B93123DBB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50" y="1501596"/>
            <a:ext cx="6784954" cy="5356404"/>
          </a:xfrm>
        </p:spPr>
        <p:txBody>
          <a:bodyPr>
            <a:normAutofit/>
          </a:bodyPr>
          <a:lstStyle/>
          <a:p>
            <a:endParaRPr lang="pt-BR" sz="2400" dirty="0"/>
          </a:p>
          <a:p>
            <a:r>
              <a:rPr lang="pt-BR" sz="2400" dirty="0"/>
              <a:t>Declarações Globais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São elementos declarados fora das funções, validas em todo o escopo do script.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Variáveis globais existem durante toda a execução do programa.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Também podem ser definidas as estruturas e enumerações (Estruturas de Dados).</a:t>
            </a:r>
          </a:p>
          <a:p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44188C4-424D-96A8-3F0A-6C73EA7FED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1290" y="1614743"/>
            <a:ext cx="4397473" cy="428538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4C9B5CF8-2802-0481-0CD0-1135915F7C3C}"/>
              </a:ext>
            </a:extLst>
          </p:cNvPr>
          <p:cNvSpPr/>
          <p:nvPr/>
        </p:nvSpPr>
        <p:spPr>
          <a:xfrm>
            <a:off x="7395442" y="2196389"/>
            <a:ext cx="3408025" cy="76747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91840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F10EB-D5EB-8070-4858-727203E66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B40D8EB-9F09-3E80-5782-6626F39B8E1C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538A32D-319B-1C66-58AB-BDFFA1F29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Anatomia de um código C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3A3ABEDC-B2AC-055F-9981-3FA23C0095A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0BDE403-84D8-ED00-20DB-466D67B2B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21" y="1930400"/>
            <a:ext cx="8365067" cy="4927600"/>
          </a:xfrm>
        </p:spPr>
        <p:txBody>
          <a:bodyPr>
            <a:normAutofit/>
          </a:bodyPr>
          <a:lstStyle/>
          <a:p>
            <a:r>
              <a:rPr lang="pt-BR" sz="2400" dirty="0"/>
              <a:t>Protótipo de função</a:t>
            </a:r>
          </a:p>
          <a:p>
            <a:pPr lvl="1"/>
            <a:endParaRPr lang="pt-BR" sz="2000" dirty="0"/>
          </a:p>
          <a:p>
            <a:pPr lvl="1"/>
            <a:r>
              <a:rPr lang="pt-BR" sz="2200" dirty="0"/>
              <a:t>É uma descrição prévia da função, para conhecimento do compilador</a:t>
            </a:r>
          </a:p>
          <a:p>
            <a:pPr lvl="1"/>
            <a:r>
              <a:rPr lang="pt-BR" sz="2200" dirty="0"/>
              <a:t>É apenas uma “promessa” de que essa função será encontrada depois.</a:t>
            </a:r>
          </a:p>
          <a:p>
            <a:pPr lvl="2"/>
            <a:endParaRPr lang="pt-BR" dirty="0"/>
          </a:p>
          <a:p>
            <a:r>
              <a:rPr lang="pt-BR" sz="2400" dirty="0"/>
              <a:t>Se definirmos a função inteira </a:t>
            </a:r>
            <a:r>
              <a:rPr lang="pt-BR" sz="2400" b="1" dirty="0"/>
              <a:t>antes</a:t>
            </a:r>
            <a:r>
              <a:rPr lang="pt-BR" sz="2400" dirty="0"/>
              <a:t> de qualquer outra função que a chame (como a </a:t>
            </a:r>
            <a:r>
              <a:rPr lang="pt-BR" sz="2400" dirty="0" err="1"/>
              <a:t>main</a:t>
            </a:r>
            <a:r>
              <a:rPr lang="pt-BR" sz="2400" dirty="0"/>
              <a:t>), o compilador não exige o protótipo</a:t>
            </a:r>
          </a:p>
          <a:p>
            <a:endParaRPr lang="pt-BR" sz="2400" dirty="0"/>
          </a:p>
          <a:p>
            <a:pPr lvl="2"/>
            <a:endParaRPr lang="pt-BR" dirty="0"/>
          </a:p>
          <a:p>
            <a:pPr lvl="2"/>
            <a:endParaRPr lang="pt-BR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4E62871-404C-1969-1123-FF232F5F8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407" y="2095314"/>
            <a:ext cx="3191320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8744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9A3DA-2D1C-E99D-B57D-CA8BD68F2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0927638-C7A9-06AA-EEA1-E17EAE4B595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7BFDCD9-3A0D-B40C-892A-3632B6ACC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Anatomia de um código C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EC59C0E5-7C4C-BE00-B645-78CAD74EFF2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EA60323-66F5-5AED-EEAF-EE2CD32F2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21" y="1930400"/>
            <a:ext cx="8365067" cy="4927600"/>
          </a:xfrm>
        </p:spPr>
        <p:txBody>
          <a:bodyPr>
            <a:normAutofit/>
          </a:bodyPr>
          <a:lstStyle/>
          <a:p>
            <a:r>
              <a:rPr lang="pt-BR" sz="2400" dirty="0"/>
              <a:t>Definição de funções</a:t>
            </a:r>
          </a:p>
          <a:p>
            <a:pPr lvl="1"/>
            <a:endParaRPr lang="pt-BR" sz="2000" dirty="0"/>
          </a:p>
          <a:p>
            <a:pPr lvl="1"/>
            <a:r>
              <a:rPr lang="pt-BR" sz="2200" dirty="0"/>
              <a:t>Bloco de código reutilizável que realiza uma tarefa específica.</a:t>
            </a:r>
          </a:p>
          <a:p>
            <a:pPr lvl="1"/>
            <a:r>
              <a:rPr lang="pt-BR" sz="2200" dirty="0"/>
              <a:t>Cada função possui seu próprio escopo.</a:t>
            </a:r>
          </a:p>
          <a:p>
            <a:pPr marL="914400" lvl="2" indent="0">
              <a:buNone/>
            </a:pPr>
            <a:endParaRPr lang="pt-BR" dirty="0"/>
          </a:p>
          <a:p>
            <a:pPr marL="457200" lvl="1" indent="0">
              <a:buNone/>
            </a:pPr>
            <a:r>
              <a:rPr lang="pt-BR" i="1" dirty="0" err="1">
                <a:solidFill>
                  <a:srgbClr val="FF0000"/>
                </a:solidFill>
              </a:rPr>
              <a:t>tipo_de_retorno</a:t>
            </a:r>
            <a:r>
              <a:rPr lang="pt-BR" i="1" dirty="0">
                <a:solidFill>
                  <a:srgbClr val="FF0000"/>
                </a:solidFill>
              </a:rPr>
              <a:t> </a:t>
            </a:r>
            <a:r>
              <a:rPr lang="pt-BR" i="1" dirty="0" err="1">
                <a:solidFill>
                  <a:schemeClr val="accent6">
                    <a:lumMod val="75000"/>
                  </a:schemeClr>
                </a:solidFill>
              </a:rPr>
              <a:t>nome_da_funcao</a:t>
            </a:r>
            <a:r>
              <a:rPr lang="pt-BR" i="1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pt-BR" i="1" dirty="0" err="1">
                <a:solidFill>
                  <a:schemeClr val="accent1">
                    <a:lumMod val="75000"/>
                  </a:schemeClr>
                </a:solidFill>
              </a:rPr>
              <a:t>lista_de_parametros</a:t>
            </a:r>
            <a:r>
              <a:rPr lang="pt-BR" i="1" dirty="0">
                <a:solidFill>
                  <a:schemeClr val="accent1">
                    <a:lumMod val="75000"/>
                  </a:schemeClr>
                </a:solidFill>
              </a:rPr>
              <a:t>) </a:t>
            </a:r>
          </a:p>
          <a:p>
            <a:pPr marL="457200" lvl="1" indent="0">
              <a:buNone/>
            </a:pPr>
            <a:r>
              <a:rPr lang="pt-BR" i="1" dirty="0"/>
              <a:t>{</a:t>
            </a:r>
          </a:p>
          <a:p>
            <a:pPr marL="457200" lvl="1" indent="0">
              <a:buNone/>
            </a:pPr>
            <a:r>
              <a:rPr lang="pt-BR" i="1" dirty="0"/>
              <a:t>	Bloco de instruções;</a:t>
            </a:r>
          </a:p>
          <a:p>
            <a:pPr marL="457200" lvl="1" indent="0">
              <a:buNone/>
            </a:pPr>
            <a:r>
              <a:rPr lang="pt-BR" i="1" dirty="0"/>
              <a:t>	</a:t>
            </a:r>
            <a:r>
              <a:rPr lang="pt-BR" i="1" dirty="0" err="1">
                <a:solidFill>
                  <a:schemeClr val="accent2"/>
                </a:solidFill>
              </a:rPr>
              <a:t>return</a:t>
            </a:r>
            <a:r>
              <a:rPr lang="pt-BR" i="1" dirty="0"/>
              <a:t> valor; </a:t>
            </a:r>
          </a:p>
          <a:p>
            <a:pPr marL="457200" lvl="1" indent="0">
              <a:buNone/>
            </a:pPr>
            <a:r>
              <a:rPr lang="pt-BR" i="1" dirty="0"/>
              <a:t>}</a:t>
            </a:r>
          </a:p>
          <a:p>
            <a:pPr lvl="2"/>
            <a:endParaRPr lang="pt-BR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BC3F7AE-FC96-5A94-84E0-2AEC68A69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407" y="2095314"/>
            <a:ext cx="3191320" cy="2667372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06CAF8B-6565-B969-D701-89E2CEAC769C}"/>
              </a:ext>
            </a:extLst>
          </p:cNvPr>
          <p:cNvSpPr/>
          <p:nvPr/>
        </p:nvSpPr>
        <p:spPr>
          <a:xfrm>
            <a:off x="8693054" y="3788306"/>
            <a:ext cx="3408025" cy="11110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47421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978C4-5FB1-5153-E354-B5435E441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F3E5418-7784-C910-C7A4-A617ACF2C8DE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B9F3F47-5B0C-25CA-4CB1-4C9C5F197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Anatomia de um código C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9D9A5EA9-1AC4-333E-3FAA-1851D879E5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F481EB0-A9A2-B2BA-7891-861A74F62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21" y="1930400"/>
            <a:ext cx="7238835" cy="4927600"/>
          </a:xfrm>
        </p:spPr>
        <p:txBody>
          <a:bodyPr>
            <a:normAutofit/>
          </a:bodyPr>
          <a:lstStyle/>
          <a:p>
            <a:r>
              <a:rPr lang="pt-BR" sz="2400" dirty="0"/>
              <a:t>Função Principal </a:t>
            </a:r>
            <a:r>
              <a:rPr lang="pt-BR" sz="2400" i="1" dirty="0" err="1"/>
              <a:t>main</a:t>
            </a:r>
            <a:r>
              <a:rPr lang="pt-BR" sz="2400" i="1" dirty="0"/>
              <a:t>()</a:t>
            </a:r>
          </a:p>
          <a:p>
            <a:pPr lvl="1"/>
            <a:endParaRPr lang="pt-BR" dirty="0"/>
          </a:p>
          <a:p>
            <a:pPr lvl="1"/>
            <a:r>
              <a:rPr lang="pt-BR" sz="2200" dirty="0"/>
              <a:t>Todo programa em C começa pela função </a:t>
            </a:r>
            <a:r>
              <a:rPr lang="pt-BR" sz="2200" i="1" dirty="0" err="1"/>
              <a:t>main</a:t>
            </a:r>
            <a:r>
              <a:rPr lang="pt-BR" sz="2200" dirty="0"/>
              <a:t>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Quem chama </a:t>
            </a:r>
            <a:r>
              <a:rPr lang="pt-BR" sz="2200" i="1" dirty="0" err="1"/>
              <a:t>main</a:t>
            </a:r>
            <a:r>
              <a:rPr lang="pt-BR" sz="2200" dirty="0"/>
              <a:t> é o S.O, durante a execução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Ao retornar 0, o programa informa ao S.O que o a execução terminou corretamente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Na prática, muitos programas definem códigos específicos para diferentes situações.</a:t>
            </a:r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E7FD298-5484-2EFE-FB8E-0C68F4ECDE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>
            <a:fillRect/>
          </a:stretch>
        </p:blipFill>
        <p:spPr>
          <a:xfrm>
            <a:off x="7571406" y="2700867"/>
            <a:ext cx="4397473" cy="214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4806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9A104-DC23-2A54-0824-013B41F66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F040378-7861-DDD1-8B6B-71ABCAE4619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62153CB-A444-24C9-5CC9-1A61EF951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Palavras reservadas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2C4259A-9F2D-B996-873C-33EAF93216F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44D37B3-F763-AE46-E407-49AE69531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81" y="1621425"/>
            <a:ext cx="7238835" cy="4927600"/>
          </a:xfrm>
        </p:spPr>
        <p:txBody>
          <a:bodyPr>
            <a:normAutofit/>
          </a:bodyPr>
          <a:lstStyle/>
          <a:p>
            <a:r>
              <a:rPr lang="pt-BR" sz="2400" dirty="0"/>
              <a:t>São termos com funções fixas na linguagem, como </a:t>
            </a:r>
            <a:r>
              <a:rPr lang="pt-BR" sz="2400" b="1" dirty="0" err="1"/>
              <a:t>int</a:t>
            </a:r>
            <a:r>
              <a:rPr lang="pt-BR" sz="2400" dirty="0"/>
              <a:t>, </a:t>
            </a:r>
            <a:r>
              <a:rPr lang="pt-BR" sz="2400" b="1" dirty="0" err="1"/>
              <a:t>if</a:t>
            </a:r>
            <a:r>
              <a:rPr lang="pt-BR" sz="2400" dirty="0"/>
              <a:t> e </a:t>
            </a:r>
            <a:r>
              <a:rPr lang="pt-BR" sz="2400" b="1" dirty="0" err="1"/>
              <a:t>return</a:t>
            </a:r>
            <a:r>
              <a:rPr lang="pt-BR" sz="2400" dirty="0"/>
              <a:t>. </a:t>
            </a:r>
          </a:p>
          <a:p>
            <a:endParaRPr lang="pt-BR" sz="2400" dirty="0"/>
          </a:p>
          <a:p>
            <a:r>
              <a:rPr lang="pt-BR" sz="2400" dirty="0"/>
              <a:t>Elas somam 32 no padrão original e não podem ser usadas para dar nomes a variáveis ou funções.</a:t>
            </a:r>
            <a:endParaRPr lang="en-US" sz="2400" dirty="0"/>
          </a:p>
          <a:p>
            <a:pPr marL="0" indent="0">
              <a:buNone/>
            </a:pPr>
            <a:endParaRPr lang="pt-BR" sz="2400" dirty="0"/>
          </a:p>
          <a:p>
            <a:endParaRPr lang="pt-BR" sz="2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CCD40E8-653A-1363-8677-7FBD84510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044" y="3890374"/>
            <a:ext cx="6687911" cy="2658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3583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8E862-BC4A-1C62-D8CC-0579B7FDF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252457F-9AF5-0F64-D569-F29176AEC7E5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2A38A48-38C3-F7A4-EEF1-9F838AEB8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Constantes e Variáveis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14AA535C-5A76-4565-1E59-39DB71A80D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0EE1C5E-D427-6659-18DC-A460DF4B3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384" y="1325560"/>
            <a:ext cx="6490500" cy="553243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sz="2400" dirty="0"/>
          </a:p>
          <a:p>
            <a:r>
              <a:rPr lang="pt-BR" sz="2400" b="1" dirty="0"/>
              <a:t>Variáveis</a:t>
            </a:r>
            <a:r>
              <a:rPr lang="pt-BR" sz="2400" dirty="0"/>
              <a:t> são espaços na memória usados para o armazenamento de dados.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Durante a execução, as variáveis podem ter seu valor alterado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É necessário declarar o tipo da variável em C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O </a:t>
            </a:r>
            <a:r>
              <a:rPr lang="pt-BR" sz="2200" b="1" dirty="0"/>
              <a:t>tipo</a:t>
            </a:r>
            <a:r>
              <a:rPr lang="pt-BR" sz="2200" dirty="0"/>
              <a:t> da variável define o tamanho e o formato dos dados armazenados. 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Os tipos também indicam ao programa como ler e escrever os valores armazenados.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CCDADD6-A99F-9F56-169F-ABEF71CE26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/>
          <a:stretch>
            <a:fillRect/>
          </a:stretch>
        </p:blipFill>
        <p:spPr>
          <a:xfrm>
            <a:off x="7899268" y="4091779"/>
            <a:ext cx="3810000" cy="237172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B179B713-D6A1-8D20-4DD6-CA1DF15B0C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/>
          <a:stretch>
            <a:fillRect/>
          </a:stretch>
        </p:blipFill>
        <p:spPr>
          <a:xfrm>
            <a:off x="7899268" y="1464865"/>
            <a:ext cx="3810000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998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F44E7-B7FC-4147-F562-9FD89C06C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1262F2A-2B21-4B0A-7338-765F907E0C6A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F94A0AD-AA48-945A-FF85-7F6A2B97D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Constantes e Variáveis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D678FC8-2BCB-D09B-D2E2-7AB8D89783D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1CB1CE9-7FFC-AE7B-EE15-3267CB61A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468" y="1568824"/>
            <a:ext cx="7236458" cy="528917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pt-BR" sz="2400" dirty="0"/>
          </a:p>
          <a:p>
            <a:r>
              <a:rPr lang="pt-BR" sz="2400" b="1" dirty="0"/>
              <a:t>Constantes</a:t>
            </a:r>
            <a:r>
              <a:rPr lang="pt-BR" sz="2400" dirty="0"/>
              <a:t> guardam valores fixos que não podem ser alterados após a definição.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Tentar alterar uma constante leva a um erro pelo compilador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É uma boa prática escrever o nome das constantes com letras maiúsculas para diferenciá-las das variáveis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Podem ser criadas pela diretiva </a:t>
            </a:r>
            <a:r>
              <a:rPr lang="pt-BR" sz="2200" i="1" dirty="0"/>
              <a:t>#define </a:t>
            </a:r>
            <a:r>
              <a:rPr lang="pt-BR" sz="2200" dirty="0"/>
              <a:t>ou</a:t>
            </a:r>
            <a:r>
              <a:rPr lang="pt-BR" sz="2200" i="1" dirty="0"/>
              <a:t> </a:t>
            </a:r>
            <a:r>
              <a:rPr lang="pt-BR" sz="2200" dirty="0"/>
              <a:t>pela palavra chave </a:t>
            </a:r>
            <a:r>
              <a:rPr lang="pt-BR" sz="2200" i="1" u="sng" dirty="0" err="1"/>
              <a:t>const</a:t>
            </a:r>
            <a:r>
              <a:rPr lang="pt-BR" sz="2200" dirty="0"/>
              <a:t>  antes da definição do tipo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AB64FB5-AF6B-C1A5-1A3A-08A759AAE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3452" y="2490537"/>
            <a:ext cx="3441031" cy="344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5184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AAF02-56FE-5315-3653-51A857C79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74B052A-A3F6-B26A-8FF9-BC508287984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A29414F-13C8-01BB-E045-EE12BC605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Tipos Primitivos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CC0923BD-52A5-AEC7-A367-A2EDB7DACF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E57D41A-0914-7021-BB8D-413FF1518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418" y="1626351"/>
            <a:ext cx="11315163" cy="5231649"/>
          </a:xfrm>
        </p:spPr>
        <p:txBody>
          <a:bodyPr>
            <a:normAutofit/>
          </a:bodyPr>
          <a:lstStyle/>
          <a:p>
            <a:r>
              <a:rPr lang="pt-BR" sz="2600" dirty="0"/>
              <a:t>São as formas mais básicas de informação que a linguagem de programação consegue entender. Em C temos:</a:t>
            </a:r>
          </a:p>
          <a:p>
            <a:endParaRPr lang="pt-BR" sz="2400" dirty="0"/>
          </a:p>
          <a:p>
            <a:pPr lvl="1"/>
            <a:r>
              <a:rPr lang="pt-BR" sz="2200" b="1" i="1" u="sng" dirty="0" err="1"/>
              <a:t>int</a:t>
            </a:r>
            <a:r>
              <a:rPr lang="pt-BR" sz="2200" dirty="0"/>
              <a:t>: Armazena números inteiros (positivos e negativos)</a:t>
            </a:r>
          </a:p>
          <a:p>
            <a:pPr marL="457200" lvl="1" indent="0">
              <a:buNone/>
            </a:pPr>
            <a:endParaRPr lang="pt-BR" sz="2200" dirty="0"/>
          </a:p>
          <a:p>
            <a:pPr lvl="1"/>
            <a:r>
              <a:rPr lang="pt-BR" sz="2200" b="1" i="1" u="sng" dirty="0" err="1"/>
              <a:t>float</a:t>
            </a:r>
            <a:r>
              <a:rPr lang="pt-BR" sz="2200" dirty="0"/>
              <a:t>: Armazena números reais com casas decimais de precisão simples</a:t>
            </a:r>
          </a:p>
          <a:p>
            <a:pPr marL="457200" lvl="1" indent="0">
              <a:buNone/>
            </a:pPr>
            <a:endParaRPr lang="pt-BR" sz="2200" dirty="0"/>
          </a:p>
          <a:p>
            <a:pPr lvl="1"/>
            <a:r>
              <a:rPr lang="pt-BR" sz="2200" b="1" i="1" u="sng" dirty="0" err="1"/>
              <a:t>double</a:t>
            </a:r>
            <a:r>
              <a:rPr lang="pt-BR" sz="2200" dirty="0"/>
              <a:t>: Armazena números reais com maior precisão e capacidade que o </a:t>
            </a:r>
            <a:r>
              <a:rPr lang="pt-BR" sz="2200" b="1" i="1" dirty="0" err="1"/>
              <a:t>float</a:t>
            </a:r>
            <a:endParaRPr lang="pt-BR" sz="2200" b="1" i="1" dirty="0"/>
          </a:p>
          <a:p>
            <a:pPr lvl="1"/>
            <a:endParaRPr lang="pt-BR" sz="2200" dirty="0"/>
          </a:p>
          <a:p>
            <a:pPr lvl="1"/>
            <a:r>
              <a:rPr lang="pt-BR" sz="2200" b="1" i="1" u="sng" dirty="0"/>
              <a:t>char</a:t>
            </a:r>
            <a:r>
              <a:rPr lang="pt-BR" sz="2200" dirty="0"/>
              <a:t>: Armazena um único caractere, como 'a' ou 'Z', representado internamente por um valor numérico inteiro (de acordo com a tabela ASCII), mas não é restrito à caracteres.</a:t>
            </a:r>
          </a:p>
          <a:p>
            <a:pPr lvl="1"/>
            <a:endParaRPr lang="pt-BR" sz="2200" dirty="0"/>
          </a:p>
          <a:p>
            <a:pPr lvl="1"/>
            <a:r>
              <a:rPr lang="pt-BR" sz="2200" b="1" i="1" u="sng" dirty="0"/>
              <a:t>void</a:t>
            </a:r>
            <a:r>
              <a:rPr lang="pt-BR" sz="2200" dirty="0"/>
              <a:t>: Indica vazio ou ausência de tipo, muito usado em funções que não retornam valor.</a:t>
            </a:r>
          </a:p>
        </p:txBody>
      </p:sp>
    </p:spTree>
    <p:extLst>
      <p:ext uri="{BB962C8B-B14F-4D97-AF65-F5344CB8AC3E}">
        <p14:creationId xmlns:p14="http://schemas.microsoft.com/office/powerpoint/2010/main" val="7556405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AD397-2F65-DE74-9419-D57C75CCB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92359FF-8E24-92A3-8D7F-90485676ABF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A483743-DFC8-B5F7-1988-608CE8CFC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Modificadores de tipos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FB1F31EF-2CDE-350B-EACD-98A9EFA4EF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1B619E-85F9-6CF1-AFB1-546F401CD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418" y="1626351"/>
            <a:ext cx="9764361" cy="5231649"/>
          </a:xfrm>
        </p:spPr>
        <p:txBody>
          <a:bodyPr>
            <a:normAutofit/>
          </a:bodyPr>
          <a:lstStyle/>
          <a:p>
            <a:r>
              <a:rPr lang="pt-BR" sz="2600" dirty="0"/>
              <a:t>Permite alterações </a:t>
            </a:r>
            <a:r>
              <a:rPr lang="pt-BR" sz="2400" dirty="0"/>
              <a:t>no tamanho ou na capacidade de armazenamento dos tipos inteiros e de ponto flutuante:</a:t>
            </a:r>
            <a:endParaRPr lang="pt-BR" sz="2600" dirty="0"/>
          </a:p>
          <a:p>
            <a:endParaRPr lang="pt-BR" sz="2400" dirty="0"/>
          </a:p>
          <a:p>
            <a:pPr lvl="1"/>
            <a:r>
              <a:rPr lang="pt-BR" sz="2200" b="1" i="1" u="sng" dirty="0" err="1"/>
              <a:t>signed</a:t>
            </a:r>
            <a:r>
              <a:rPr lang="pt-BR" sz="2200" dirty="0"/>
              <a:t>: Permite valores positivos e negativos (padrão para </a:t>
            </a:r>
            <a:r>
              <a:rPr lang="pt-BR" sz="2200" dirty="0" err="1"/>
              <a:t>int</a:t>
            </a:r>
            <a:r>
              <a:rPr lang="pt-BR" sz="2200" dirty="0"/>
              <a:t>).</a:t>
            </a:r>
          </a:p>
          <a:p>
            <a:pPr lvl="1"/>
            <a:endParaRPr lang="pt-BR" sz="2200" dirty="0"/>
          </a:p>
          <a:p>
            <a:pPr lvl="1"/>
            <a:r>
              <a:rPr lang="pt-BR" sz="2200" b="1" i="1" u="sng" dirty="0" err="1"/>
              <a:t>unsigned</a:t>
            </a:r>
            <a:r>
              <a:rPr lang="pt-BR" sz="2200" dirty="0"/>
              <a:t>: Apenas valores positivos, dobrando o limite máximo positivo da faixa de armazenamento</a:t>
            </a:r>
          </a:p>
          <a:p>
            <a:pPr lvl="1"/>
            <a:endParaRPr lang="pt-BR" sz="2200" b="1" i="1" u="sng" dirty="0"/>
          </a:p>
          <a:p>
            <a:pPr lvl="1"/>
            <a:r>
              <a:rPr lang="pt-BR" sz="2200" b="1" i="1" u="sng" dirty="0"/>
              <a:t>short</a:t>
            </a:r>
            <a:r>
              <a:rPr lang="pt-BR" sz="2200" dirty="0"/>
              <a:t>: Reduz o espaço de armazenamento para números inteiros menores</a:t>
            </a:r>
          </a:p>
          <a:p>
            <a:pPr lvl="1"/>
            <a:endParaRPr lang="pt-BR" sz="2200" b="1" i="1" u="sng" dirty="0"/>
          </a:p>
          <a:p>
            <a:pPr lvl="1"/>
            <a:r>
              <a:rPr lang="pt-BR" sz="2200" b="1" i="1" u="sng" dirty="0" err="1"/>
              <a:t>long</a:t>
            </a:r>
            <a:r>
              <a:rPr lang="pt-BR" sz="2200" dirty="0"/>
              <a:t>: Aumenta o espaço de armazenamento para números inteiros ou reais maiores (</a:t>
            </a:r>
            <a:r>
              <a:rPr lang="pt-BR" sz="2200" dirty="0" err="1"/>
              <a:t>long</a:t>
            </a:r>
            <a:r>
              <a:rPr lang="pt-BR" sz="2200" dirty="0"/>
              <a:t> </a:t>
            </a:r>
            <a:r>
              <a:rPr lang="pt-BR" sz="2200" dirty="0" err="1"/>
              <a:t>double</a:t>
            </a:r>
            <a:r>
              <a:rPr lang="pt-BR" sz="2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008287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A690B-E8BF-5851-00C0-854E731E3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F6B7979-ECDF-D961-EBC5-9C2A63EF3715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9435752-6267-61E4-4139-D813C4633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Faixa de valores para os tipos de dados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42F2AB88-1306-9195-2B9F-2707AEE066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074" name="Picture 2" descr="Tipo de Dados de C :: Linguagens C e C++">
            <a:extLst>
              <a:ext uri="{FF2B5EF4-FFF2-40B4-BE49-F238E27FC236}">
                <a16:creationId xmlns:a16="http://schemas.microsoft.com/office/drawing/2014/main" id="{435FCCD6-3657-B92C-FF6E-F5CC7BBAE9C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829" y="1410039"/>
            <a:ext cx="6657541" cy="5351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67951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FA6E3-041D-B09A-01FD-D67190F3C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AB1AB49-13C9-DA56-AAD1-AE5EC7C6BCF7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151EAB-5A01-EB06-CDE7-EEEFC3FE0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Observação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14A9A68E-905C-184C-B292-B176EA5D34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93C7723-2E79-DDD7-FEE4-809DBC65B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418" y="1626351"/>
            <a:ext cx="11315163" cy="5231649"/>
          </a:xfrm>
        </p:spPr>
        <p:txBody>
          <a:bodyPr>
            <a:normAutofit/>
          </a:bodyPr>
          <a:lstStyle/>
          <a:p>
            <a:r>
              <a:rPr lang="pt-BR" sz="2600" b="1" i="1" dirty="0"/>
              <a:t>Precisão simples: 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Ocupa 4 bytes (32 bits). Oferece cerca de 6 a 7 dígitos decimais de precisão</a:t>
            </a:r>
          </a:p>
          <a:p>
            <a:pPr lvl="1"/>
            <a:r>
              <a:rPr lang="pt-BR" sz="2200" dirty="0"/>
              <a:t>Comumente utilizado para economizar memória em grandes vetores ou matrizes, ou quando a perda de precisão nas casas decimais não afeta o resultado da operação.</a:t>
            </a:r>
          </a:p>
          <a:p>
            <a:pPr lvl="1"/>
            <a:endParaRPr lang="pt-BR" sz="2200" dirty="0"/>
          </a:p>
          <a:p>
            <a:r>
              <a:rPr lang="pt-BR" sz="2600" b="1" i="1" dirty="0"/>
              <a:t>Precisão dupla:</a:t>
            </a:r>
          </a:p>
          <a:p>
            <a:endParaRPr lang="pt-BR" sz="2600" dirty="0"/>
          </a:p>
          <a:p>
            <a:pPr lvl="1"/>
            <a:r>
              <a:rPr lang="pt-BR" sz="2200" dirty="0"/>
              <a:t>Ocupa 8 bytes (64 bits). Oferece cerca de 15 a 17 dígitos decimais de precisão</a:t>
            </a:r>
          </a:p>
          <a:p>
            <a:pPr lvl="1"/>
            <a:r>
              <a:rPr lang="pt-BR" sz="2200" dirty="0"/>
              <a:t>Comumente utilizado  como padrão para cálculos científicos, financeiros ou gerais em C, pois ele evita erros cumulativos de arredondamento</a:t>
            </a:r>
          </a:p>
        </p:txBody>
      </p:sp>
    </p:spTree>
    <p:extLst>
      <p:ext uri="{BB962C8B-B14F-4D97-AF65-F5344CB8AC3E}">
        <p14:creationId xmlns:p14="http://schemas.microsoft.com/office/powerpoint/2010/main" val="2394775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186C5-19A3-B4B4-3F02-0CCBBA201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15A7E53-E396-0432-4EE1-A55B616E8343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1A1F473-F486-49AB-2551-9EADA4AA8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Operadores Aritméticos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6C1D408E-D98C-614D-D7C8-5E11D58CCB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EE6B605-1839-78FD-6BDE-FC60D0163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418" y="1494004"/>
            <a:ext cx="11315163" cy="5231649"/>
          </a:xfrm>
        </p:spPr>
        <p:txBody>
          <a:bodyPr>
            <a:normAutofit lnSpcReduction="10000"/>
          </a:bodyPr>
          <a:lstStyle/>
          <a:p>
            <a:r>
              <a:rPr lang="pt-BR" sz="2400" b="1" dirty="0"/>
              <a:t>Servem para fazer cálculos básicos com valores numéricos:</a:t>
            </a:r>
          </a:p>
          <a:p>
            <a:endParaRPr lang="pt-BR" sz="2400" b="1" dirty="0"/>
          </a:p>
          <a:p>
            <a:pPr lvl="1"/>
            <a:r>
              <a:rPr lang="pt-BR" sz="2200" dirty="0"/>
              <a:t> Soma (+)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6 + 6=12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Subtração (-)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5 - 12 = -7 (Se o valor não for </a:t>
            </a:r>
            <a:r>
              <a:rPr lang="pt-BR" sz="2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unsigned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Multiplicação (*)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4 * 5 = 20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Divisão (/)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dirty="0"/>
              <a:t>5  /  2</a:t>
            </a:r>
            <a:r>
              <a:rPr lang="pt-BR" sz="2000" dirty="0"/>
              <a:t> = </a:t>
            </a:r>
            <a:r>
              <a:rPr lang="pt-BR" dirty="0"/>
              <a:t>2 (Se a variável for inteira)</a:t>
            </a:r>
            <a:endParaRPr lang="pt-BR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Resto da divisão inteira (%)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sz="2200" dirty="0"/>
              <a:t>5  %  2 = 1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Incremento (++)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Análogo à x = x+1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Decremento (--)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Análogo à x = x-1</a:t>
            </a:r>
          </a:p>
          <a:p>
            <a:pPr lvl="1"/>
            <a:endParaRPr lang="pt-BR" sz="2200" dirty="0"/>
          </a:p>
          <a:p>
            <a:pPr lvl="1"/>
            <a:endParaRPr lang="pt-BR" sz="2200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54C368E-7C37-4892-1F45-ECFB21403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3253" y="2504865"/>
            <a:ext cx="3209925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5404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A8C59-0198-8BF0-50FB-B17CCA580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EB874EA-4A89-D2E8-D8CC-2A9A93E64379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7AB5FE-CC42-9B7C-3046-31F7430F0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Operadores Lógicos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F8E333AB-946A-F09A-1FB8-E1E63FC524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48AD6AF-025A-058F-230B-C12496B15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707"/>
            <a:ext cx="6985066" cy="4353344"/>
          </a:xfrm>
        </p:spPr>
        <p:txBody>
          <a:bodyPr>
            <a:normAutofit/>
          </a:bodyPr>
          <a:lstStyle/>
          <a:p>
            <a:r>
              <a:rPr lang="pt-BR" sz="2400" b="1" dirty="0"/>
              <a:t>Servem unir proposições (de acordo com a lógica proposicional)</a:t>
            </a:r>
          </a:p>
          <a:p>
            <a:endParaRPr lang="pt-BR" sz="2400" b="1" dirty="0"/>
          </a:p>
          <a:p>
            <a:pPr lvl="1"/>
            <a:r>
              <a:rPr lang="pt-BR" sz="2200" b="1" dirty="0"/>
              <a:t>E / AND (&amp;&amp;): </a:t>
            </a:r>
            <a:r>
              <a:rPr lang="pt-BR" sz="2200" dirty="0"/>
              <a:t>Retorna verdadeiro apenas se os dois lados forem verdadeiros</a:t>
            </a:r>
          </a:p>
          <a:p>
            <a:pPr lvl="1"/>
            <a:endParaRPr lang="pt-BR" sz="2200" dirty="0"/>
          </a:p>
          <a:p>
            <a:pPr lvl="1"/>
            <a:r>
              <a:rPr lang="pt-BR" sz="2200" b="1" dirty="0"/>
              <a:t>OU / OR (||): </a:t>
            </a:r>
            <a:r>
              <a:rPr lang="pt-BR" sz="2200" dirty="0"/>
              <a:t>Retorna verdadeiro se pelo menos um dos lados for verdadeiro</a:t>
            </a:r>
          </a:p>
          <a:p>
            <a:pPr lvl="1"/>
            <a:endParaRPr lang="pt-BR" sz="2200" dirty="0"/>
          </a:p>
          <a:p>
            <a:pPr lvl="1"/>
            <a:r>
              <a:rPr lang="pt-BR" sz="2200" b="1" dirty="0"/>
              <a:t>NÃO / NOT (!):</a:t>
            </a:r>
            <a:r>
              <a:rPr lang="pt-BR" sz="2200" dirty="0"/>
              <a:t> Inverte o valor do teste (o que é verdadeiro vira falso, e vice-versa)</a:t>
            </a:r>
          </a:p>
          <a:p>
            <a:pPr lvl="1"/>
            <a:endParaRPr lang="pt-BR" sz="22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808EA45-498D-67F8-8023-C9D16160F8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362" b="8359"/>
          <a:stretch>
            <a:fillRect/>
          </a:stretch>
        </p:blipFill>
        <p:spPr>
          <a:xfrm>
            <a:off x="8588188" y="2709497"/>
            <a:ext cx="3461084" cy="3083322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7791FD3-B489-7C89-2959-747A6D4491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3618" b="25670"/>
          <a:stretch>
            <a:fillRect/>
          </a:stretch>
        </p:blipFill>
        <p:spPr>
          <a:xfrm>
            <a:off x="7074397" y="2679032"/>
            <a:ext cx="1513791" cy="2646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5397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DA8C8-BCDE-3567-C977-E9CB262FE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DEC1879-36C3-847A-7DBB-1BF6762FE09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2EB4E15-419C-B189-CF8F-419848AAE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Operadores Relacionais (Comparadores)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182CA9A1-1EEA-1FF0-C2A8-87B07E5399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4BDDD11-391F-5052-1C48-67A648ABC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9224" y="1435443"/>
            <a:ext cx="8698832" cy="5345114"/>
          </a:xfrm>
        </p:spPr>
        <p:txBody>
          <a:bodyPr>
            <a:normAutofit/>
          </a:bodyPr>
          <a:lstStyle/>
          <a:p>
            <a:r>
              <a:rPr lang="pt-BR" sz="2400" b="1" dirty="0"/>
              <a:t>Servem para comparar valores, retornando “1” para verdadeiro e “0” para falso. São comumente utilizados em condicionais:</a:t>
            </a:r>
          </a:p>
          <a:p>
            <a:endParaRPr lang="pt-BR" sz="2400" b="1" dirty="0"/>
          </a:p>
          <a:p>
            <a:pPr lvl="1"/>
            <a:r>
              <a:rPr lang="pt-BR" sz="2100" b="1" dirty="0"/>
              <a:t>==</a:t>
            </a:r>
            <a:r>
              <a:rPr lang="pt-BR" sz="2100" dirty="0"/>
              <a:t> </a:t>
            </a:r>
            <a:r>
              <a:rPr lang="pt-B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sz="2100" dirty="0"/>
              <a:t> Igual a</a:t>
            </a:r>
          </a:p>
          <a:p>
            <a:pPr marL="457200" lvl="1" indent="0">
              <a:buNone/>
            </a:pPr>
            <a:endParaRPr lang="pt-BR" sz="2100" b="1" dirty="0"/>
          </a:p>
          <a:p>
            <a:pPr lvl="1"/>
            <a:r>
              <a:rPr lang="pt-BR" sz="2100" b="1" dirty="0"/>
              <a:t>!=</a:t>
            </a:r>
            <a:r>
              <a:rPr lang="pt-BR" sz="2100" dirty="0"/>
              <a:t> </a:t>
            </a:r>
            <a:r>
              <a:rPr lang="pt-B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sz="2100" dirty="0"/>
              <a:t> Diferente de</a:t>
            </a:r>
          </a:p>
          <a:p>
            <a:pPr lvl="1"/>
            <a:endParaRPr lang="pt-BR" sz="2100" b="1" dirty="0"/>
          </a:p>
          <a:p>
            <a:pPr lvl="1"/>
            <a:r>
              <a:rPr lang="pt-BR" sz="2100" b="1" dirty="0"/>
              <a:t>&gt;</a:t>
            </a:r>
            <a:r>
              <a:rPr lang="pt-BR" sz="2100" dirty="0"/>
              <a:t> </a:t>
            </a:r>
            <a:r>
              <a:rPr lang="pt-B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sz="2100" dirty="0"/>
              <a:t> Maior que</a:t>
            </a:r>
          </a:p>
          <a:p>
            <a:pPr lvl="1"/>
            <a:endParaRPr lang="pt-BR" sz="2100" b="1" dirty="0"/>
          </a:p>
          <a:p>
            <a:pPr lvl="1"/>
            <a:r>
              <a:rPr lang="pt-BR" sz="2100" b="1" dirty="0"/>
              <a:t>&lt;</a:t>
            </a:r>
            <a:r>
              <a:rPr lang="pt-BR" sz="2100" dirty="0"/>
              <a:t> </a:t>
            </a:r>
            <a:r>
              <a:rPr lang="pt-B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sz="2100" dirty="0"/>
              <a:t> Menor que</a:t>
            </a:r>
          </a:p>
          <a:p>
            <a:pPr lvl="1"/>
            <a:endParaRPr lang="pt-BR" sz="2100" b="1" dirty="0"/>
          </a:p>
          <a:p>
            <a:pPr lvl="1"/>
            <a:r>
              <a:rPr lang="pt-BR" sz="2100" b="1" dirty="0"/>
              <a:t>&gt;=</a:t>
            </a:r>
            <a:r>
              <a:rPr lang="pt-BR" sz="2100" dirty="0"/>
              <a:t> </a:t>
            </a:r>
            <a:r>
              <a:rPr lang="pt-B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sz="2100" dirty="0"/>
              <a:t> Maior ou igual a</a:t>
            </a:r>
          </a:p>
          <a:p>
            <a:pPr lvl="1"/>
            <a:endParaRPr lang="pt-BR" sz="2100" b="1" dirty="0"/>
          </a:p>
          <a:p>
            <a:pPr lvl="1"/>
            <a:r>
              <a:rPr lang="pt-BR" sz="2100" b="1" dirty="0"/>
              <a:t>&lt;=</a:t>
            </a:r>
            <a:r>
              <a:rPr lang="pt-BR" sz="2100" dirty="0"/>
              <a:t> </a:t>
            </a:r>
            <a:r>
              <a:rPr lang="pt-BR" sz="2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sz="2100" dirty="0"/>
              <a:t> Menor ou igual a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6218045-6185-5E77-AA39-5D1E58AA3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230" y="3691281"/>
            <a:ext cx="6825916" cy="1709489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4B20583E-B890-F281-3E24-0443B060D6EB}"/>
              </a:ext>
            </a:extLst>
          </p:cNvPr>
          <p:cNvSpPr txBox="1"/>
          <p:nvPr/>
        </p:nvSpPr>
        <p:spPr>
          <a:xfrm>
            <a:off x="5175231" y="3396733"/>
            <a:ext cx="6825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Exemplos:</a:t>
            </a:r>
          </a:p>
        </p:txBody>
      </p:sp>
    </p:spTree>
    <p:extLst>
      <p:ext uri="{BB962C8B-B14F-4D97-AF65-F5344CB8AC3E}">
        <p14:creationId xmlns:p14="http://schemas.microsoft.com/office/powerpoint/2010/main" val="16603730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4A5F4-CEBA-9290-32C3-26A9D48AF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016FC4CB-4375-E203-508B-2130FF2610A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6FD98CE-BD7F-3841-4F6F-7DA2F45A7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Conversão de Tipos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09851253-B82B-0176-2AF9-0CC3BFA75FD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AE5D1ED6-03F0-830E-1A45-131AEA8111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46584" y="1552074"/>
                <a:ext cx="8698832" cy="5173578"/>
              </a:xfrm>
            </p:spPr>
            <p:txBody>
              <a:bodyPr>
                <a:normAutofit/>
              </a:bodyPr>
              <a:lstStyle/>
              <a:p>
                <a:r>
                  <a:rPr lang="pt-BR" sz="2400" dirty="0"/>
                  <a:t>A operação de </a:t>
                </a:r>
                <a:r>
                  <a:rPr lang="pt-BR" sz="2400" i="1" dirty="0"/>
                  <a:t>casting </a:t>
                </a:r>
                <a:r>
                  <a:rPr lang="pt-BR" sz="2400" dirty="0"/>
                  <a:t>forçar o computador a mudar o tipo de dado de uma variável ou valor.</a:t>
                </a:r>
              </a:p>
              <a:p>
                <a:pPr marL="0" indent="0">
                  <a:buNone/>
                </a:pPr>
                <a:endParaRPr lang="pt-BR" sz="2400" dirty="0"/>
              </a:p>
              <a:p>
                <a:r>
                  <a:rPr lang="pt-BR" sz="2400" dirty="0"/>
                  <a:t>A operação é feita colocando o novo tipo entre parênteses </a:t>
                </a:r>
                <a:r>
                  <a:rPr lang="pt-BR" b="1" i="1" u="sng" dirty="0"/>
                  <a:t>(</a:t>
                </a:r>
                <a:r>
                  <a:rPr lang="pt-BR" sz="2400" b="1" i="1" u="sng" dirty="0"/>
                  <a:t>tipo</a:t>
                </a:r>
                <a:r>
                  <a:rPr lang="pt-BR" b="1" i="1" u="sng" dirty="0"/>
                  <a:t>)</a:t>
                </a:r>
                <a:r>
                  <a:rPr lang="pt-BR" sz="2400" b="1" i="1" u="sng" dirty="0"/>
                  <a:t> </a:t>
                </a:r>
                <a:r>
                  <a:rPr lang="pt-BR" sz="2400" dirty="0"/>
                  <a:t>logo antes do valor, por exemplo:</a:t>
                </a:r>
              </a:p>
              <a:p>
                <a:endParaRPr lang="pt-BR" sz="24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𝑛𝑡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 = 5;</m:t>
                    </m:r>
                  </m:oMath>
                </a14:m>
                <a:endParaRPr lang="pt-BR" sz="2000" b="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𝑖𝑛𝑡</m:t>
                    </m:r>
                    <m:r>
                      <a:rPr lang="pt-BR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 = 2;</m:t>
                    </m:r>
                  </m:oMath>
                </a14:m>
                <a:endParaRPr lang="pt-BR" sz="2000" i="1" dirty="0">
                  <a:latin typeface="Cambria Math" panose="02040503050406030204" pitchFamily="18" charset="0"/>
                </a:endParaRPr>
              </a:p>
              <a:p>
                <a:pPr lvl="1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pt-BR" sz="2000" i="1">
                        <a:latin typeface="Cambria Math" panose="02040503050406030204" pitchFamily="18" charset="0"/>
                      </a:rPr>
                      <m:t>𝑓𝑙𝑜𝑎𝑡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𝑟𝑒𝑠𝑢𝑙𝑡𝑎𝑑𝑜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 = (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𝑓𝑙𝑜𝑎𝑡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) 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 / 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000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endParaRPr lang="pt-BR" sz="20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000" dirty="0"/>
                  <a:t>“</a:t>
                </a:r>
                <a:r>
                  <a:rPr lang="pt-BR" sz="2000" dirty="0">
                    <a:solidFill>
                      <a:srgbClr val="FF0000"/>
                    </a:solidFill>
                  </a:rPr>
                  <a:t>resultado” armazena o valor 2.5, ao invés de 2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endParaRPr lang="pt-BR" sz="2000" dirty="0"/>
              </a:p>
              <a:p>
                <a:r>
                  <a:rPr lang="pt-BR" sz="2400" b="1" dirty="0"/>
                  <a:t>Observação: </a:t>
                </a:r>
                <a:r>
                  <a:rPr lang="pt-BR" sz="2400" dirty="0"/>
                  <a:t>A conversão  de </a:t>
                </a:r>
                <a:r>
                  <a:rPr lang="pt-BR" sz="2400" b="1" i="1" dirty="0" err="1"/>
                  <a:t>float</a:t>
                </a:r>
                <a:r>
                  <a:rPr lang="pt-BR" sz="2400" dirty="0"/>
                  <a:t> para </a:t>
                </a:r>
                <a:r>
                  <a:rPr lang="pt-BR" sz="2400" b="1" i="1" dirty="0" err="1"/>
                  <a:t>int</a:t>
                </a:r>
                <a:r>
                  <a:rPr lang="pt-BR" sz="2400" dirty="0"/>
                  <a:t> resulta na perda de todas as casas decimais.</a:t>
                </a:r>
              </a:p>
              <a:p>
                <a:endParaRPr lang="pt-BR" sz="2400" b="1" i="1" u="sng" dirty="0"/>
              </a:p>
              <a:p>
                <a:pPr marL="457200" lvl="1" indent="0">
                  <a:buNone/>
                </a:pPr>
                <a:endParaRPr lang="pt-BR" sz="2100" b="1" dirty="0"/>
              </a:p>
            </p:txBody>
          </p:sp>
        </mc:Choice>
        <mc:Fallback>
          <p:sp>
            <p:nvSpPr>
              <p:cNvPr id="6" name="Espaço Reservado para Conteúdo 5">
                <a:extLst>
                  <a:ext uri="{FF2B5EF4-FFF2-40B4-BE49-F238E27FC236}">
                    <a16:creationId xmlns:a16="http://schemas.microsoft.com/office/drawing/2014/main" id="{AE5D1ED6-03F0-830E-1A45-131AEA8111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46584" y="1552074"/>
                <a:ext cx="8698832" cy="5173578"/>
              </a:xfrm>
              <a:blipFill>
                <a:blip r:embed="rId3"/>
                <a:stretch>
                  <a:fillRect l="-982" t="-165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0856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44B57-9809-B8EF-0C7F-AE6472120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6077B58-1486-08CA-BCC5-A2E484F1859C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95C159-1A8A-6D6A-5F80-5E350E840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Conversão de Tipos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495727F2-01D1-9623-4246-E33ECC52CC6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8A7C7E3-4743-59FF-8FE8-886B0E6DA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01" y="1576135"/>
            <a:ext cx="10475997" cy="513223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sz="2400" dirty="0"/>
              <a:t>É possível fazer o casting entre os tipos primitivos, como: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0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Entre Inteiros e Reais (vice-versa)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Entre Inteiros de Tamanhos Diferentes (</a:t>
            </a:r>
            <a:r>
              <a:rPr lang="pt-BR" sz="2200" b="1" i="1" dirty="0"/>
              <a:t>short/</a:t>
            </a:r>
            <a:r>
              <a:rPr lang="pt-BR" sz="2200" b="1" i="1" dirty="0" err="1"/>
              <a:t>long</a:t>
            </a:r>
            <a:r>
              <a:rPr lang="pt-BR" sz="2200" dirty="0"/>
              <a:t>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dirty="0"/>
              <a:t>Caracteres e Números (</a:t>
            </a:r>
            <a:r>
              <a:rPr lang="pt-BR" sz="2200" b="1" i="1" dirty="0"/>
              <a:t>char</a:t>
            </a:r>
            <a:r>
              <a:rPr lang="pt-BR" sz="2200" dirty="0"/>
              <a:t> pode passar para </a:t>
            </a:r>
            <a:r>
              <a:rPr lang="pt-BR" sz="2200" b="1" i="1" dirty="0" err="1"/>
              <a:t>int</a:t>
            </a:r>
            <a:r>
              <a:rPr lang="pt-BR" sz="2200" dirty="0"/>
              <a:t> usando o valor da tabela ASCII)</a:t>
            </a:r>
          </a:p>
          <a:p>
            <a:pPr marL="800100" lvl="1" indent="-342900">
              <a:buFont typeface="+mj-lt"/>
              <a:buAutoNum type="arabicPeriod"/>
            </a:pPr>
            <a:endParaRPr lang="pt-BR" sz="2200" dirty="0"/>
          </a:p>
          <a:p>
            <a:pPr marL="342900" indent="-342900">
              <a:buFont typeface="+mj-lt"/>
              <a:buAutoNum type="arabicPeriod"/>
            </a:pPr>
            <a:r>
              <a:rPr lang="pt-BR" sz="2600" dirty="0"/>
              <a:t>Também é permitido fazer casting entre </a:t>
            </a:r>
            <a:r>
              <a:rPr lang="pt-BR" sz="2400" dirty="0"/>
              <a:t>Ponteiros como: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200" i="1" dirty="0" err="1"/>
              <a:t>int</a:t>
            </a:r>
            <a:r>
              <a:rPr lang="pt-BR" sz="2200" i="1" dirty="0"/>
              <a:t>*</a:t>
            </a:r>
            <a:r>
              <a:rPr lang="pt-BR" sz="2200" dirty="0"/>
              <a:t> para </a:t>
            </a:r>
            <a:r>
              <a:rPr lang="pt-BR" sz="2200" i="1" dirty="0"/>
              <a:t>char*</a:t>
            </a:r>
            <a:r>
              <a:rPr lang="pt-BR" sz="2200" dirty="0"/>
              <a:t>  (</a:t>
            </a:r>
            <a:r>
              <a:rPr lang="pt-BR" sz="2200" dirty="0" err="1"/>
              <a:t>exije</a:t>
            </a:r>
            <a:r>
              <a:rPr lang="pt-BR" sz="2200" dirty="0"/>
              <a:t> cuidado para evitar erros de acesso à memória)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200" dirty="0"/>
          </a:p>
          <a:p>
            <a:pPr marL="514350" indent="-514350">
              <a:buFont typeface="+mj-lt"/>
              <a:buAutoNum type="arabicPeriod"/>
            </a:pPr>
            <a:r>
              <a:rPr lang="pt-BR" sz="2600" dirty="0"/>
              <a:t>Não é permitido o casting entre tipos primitivos e tipos complexos (como o </a:t>
            </a:r>
            <a:r>
              <a:rPr lang="pt-BR" sz="2600" dirty="0" err="1"/>
              <a:t>struct</a:t>
            </a:r>
            <a:r>
              <a:rPr lang="pt-BR" sz="2600" dirty="0"/>
              <a:t>), nem a conversão de </a:t>
            </a:r>
            <a:r>
              <a:rPr lang="pt-BR" sz="2600" dirty="0" err="1"/>
              <a:t>strings</a:t>
            </a:r>
            <a:r>
              <a:rPr lang="pt-BR" sz="2600" dirty="0"/>
              <a:t>  para valores numéricos </a:t>
            </a:r>
          </a:p>
          <a:p>
            <a:pPr marL="800100" lvl="1" indent="-342900">
              <a:buFont typeface="+mj-lt"/>
              <a:buAutoNum type="arabicPeriod"/>
            </a:pPr>
            <a:endParaRPr lang="pt-BR" sz="1700" b="1" dirty="0"/>
          </a:p>
        </p:txBody>
      </p:sp>
    </p:spTree>
    <p:extLst>
      <p:ext uri="{BB962C8B-B14F-4D97-AF65-F5344CB8AC3E}">
        <p14:creationId xmlns:p14="http://schemas.microsoft.com/office/powerpoint/2010/main" val="31656394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1E60E-ABD9-D32E-5264-751299B3A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077D9FB-4DD9-3E7A-4A5C-8F654CD64D2A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A44C01A-1C31-EE76-5753-99FB3CE59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Operações de Entrada e Saída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872043A7-9CC2-8022-2E96-1F1463062CD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C9319CF-7399-E27E-5AC4-1D6548DC1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01" y="1744579"/>
            <a:ext cx="10547936" cy="4963787"/>
          </a:xfrm>
        </p:spPr>
        <p:txBody>
          <a:bodyPr>
            <a:normAutofit/>
          </a:bodyPr>
          <a:lstStyle/>
          <a:p>
            <a:r>
              <a:rPr lang="pt-BR" sz="2400" dirty="0"/>
              <a:t>As operações de entrada e saída (E/S) em C utilizam a biblioteca padrão &lt;</a:t>
            </a:r>
            <a:r>
              <a:rPr lang="pt-BR" sz="2400" dirty="0" err="1"/>
              <a:t>stdio.h</a:t>
            </a:r>
            <a:r>
              <a:rPr lang="pt-BR" sz="2400" dirty="0"/>
              <a:t>&gt;</a:t>
            </a:r>
          </a:p>
          <a:p>
            <a:r>
              <a:rPr lang="pt-BR" sz="2400" dirty="0"/>
              <a:t>A saída de dados na tela é feita com a função </a:t>
            </a:r>
            <a:r>
              <a:rPr lang="pt-BR" sz="2400" b="1" i="1" dirty="0" err="1"/>
              <a:t>printf</a:t>
            </a:r>
            <a:r>
              <a:rPr lang="pt-BR" sz="2400" b="1" i="1" dirty="0"/>
              <a:t>():</a:t>
            </a:r>
          </a:p>
          <a:p>
            <a:endParaRPr lang="pt-BR" sz="2400" b="1" i="1" dirty="0"/>
          </a:p>
          <a:p>
            <a:endParaRPr lang="pt-BR" sz="2400" b="1" i="1" dirty="0"/>
          </a:p>
          <a:p>
            <a:endParaRPr lang="pt-BR" sz="2400" b="1" i="1" dirty="0"/>
          </a:p>
          <a:p>
            <a:endParaRPr lang="pt-BR" sz="2400" b="1" i="1" dirty="0"/>
          </a:p>
          <a:p>
            <a:endParaRPr lang="pt-BR" sz="2400" b="1" i="1" dirty="0"/>
          </a:p>
          <a:p>
            <a:endParaRPr lang="pt-BR" sz="2400" dirty="0"/>
          </a:p>
          <a:p>
            <a:r>
              <a:rPr lang="pt-BR" sz="2400" dirty="0"/>
              <a:t>Especificadores de formato são utilizados na função para definir onde o valor de uma variável deve ser inserido e como essa variável será exibida em uma </a:t>
            </a:r>
            <a:r>
              <a:rPr lang="pt-BR" sz="2400" b="1" dirty="0" err="1"/>
              <a:t>String</a:t>
            </a:r>
            <a:r>
              <a:rPr lang="pt-BR" sz="2400" dirty="0"/>
              <a:t> (de acordo com o tipo)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lvl="1"/>
            <a:endParaRPr lang="pt-BR" sz="2000" b="1" i="1" dirty="0"/>
          </a:p>
          <a:p>
            <a:pPr lvl="1"/>
            <a:endParaRPr lang="pt-BR" sz="2000" b="1" i="1" dirty="0"/>
          </a:p>
          <a:p>
            <a:pPr lvl="1"/>
            <a:endParaRPr lang="pt-BR" sz="1800" b="1" i="1" dirty="0"/>
          </a:p>
          <a:p>
            <a:pPr lvl="1"/>
            <a:endParaRPr lang="pt-BR" sz="1800" b="1" i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6CF86BA-CD15-4345-C3F4-FA6E2ED3F9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454" b="31625"/>
          <a:stretch>
            <a:fillRect/>
          </a:stretch>
        </p:blipFill>
        <p:spPr>
          <a:xfrm>
            <a:off x="1397418" y="3128127"/>
            <a:ext cx="5541324" cy="1744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5225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72A8DB-5FF5-3D71-5511-7B7F6B99C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FA23D10D-F0FE-961D-EC87-23B3F963DA6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C33DA47-FB95-ECBD-3DD7-D5CD0D5F5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Operações de Entrada e Saída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5F934E71-5F6F-BD04-A7A3-C169F9464C4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512E6CA-54CC-049C-CCB8-A961DE780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01" y="1744579"/>
            <a:ext cx="10547936" cy="4963787"/>
          </a:xfrm>
        </p:spPr>
        <p:txBody>
          <a:bodyPr>
            <a:normAutofit/>
          </a:bodyPr>
          <a:lstStyle/>
          <a:p>
            <a:r>
              <a:rPr lang="pt-BR" sz="2400" b="1" dirty="0"/>
              <a:t>Especificadores de formato: </a:t>
            </a:r>
            <a:r>
              <a:rPr lang="pt-BR" sz="2400" dirty="0"/>
              <a:t>são códigos iniciados por % usados para indicar o tipo de dado que o programa vai ler ou mostrar na tela. São eles:</a:t>
            </a:r>
          </a:p>
          <a:p>
            <a:endParaRPr lang="pt-BR" sz="2200" b="1" i="1" dirty="0"/>
          </a:p>
          <a:p>
            <a:pPr lvl="1"/>
            <a:r>
              <a:rPr lang="pt-BR" sz="2200" b="1" dirty="0"/>
              <a:t>%d (ou %i)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200" dirty="0"/>
              <a:t>Número inteiro decimal</a:t>
            </a:r>
            <a:endParaRPr lang="pt-BR" sz="2200" b="1" dirty="0"/>
          </a:p>
          <a:p>
            <a:pPr lvl="1"/>
            <a:r>
              <a:rPr lang="pt-BR" sz="2200" b="1" dirty="0"/>
              <a:t>%f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200" dirty="0"/>
              <a:t>Número real de ponto flutuante</a:t>
            </a:r>
            <a:endParaRPr lang="pt-BR" sz="2200" b="1" dirty="0"/>
          </a:p>
          <a:p>
            <a:pPr lvl="1"/>
            <a:r>
              <a:rPr lang="pt-BR" sz="2200" b="1" dirty="0"/>
              <a:t>%</a:t>
            </a:r>
            <a:r>
              <a:rPr lang="pt-BR" sz="2200" b="1" dirty="0" err="1"/>
              <a:t>lf</a:t>
            </a:r>
            <a:r>
              <a:rPr lang="pt-BR" sz="2200" b="1" dirty="0"/>
              <a:t>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200" dirty="0"/>
              <a:t>Número real de dupla precisão (</a:t>
            </a:r>
            <a:r>
              <a:rPr lang="pt-BR" sz="2200" dirty="0" err="1"/>
              <a:t>double</a:t>
            </a:r>
            <a:r>
              <a:rPr lang="pt-BR" sz="2200" dirty="0"/>
              <a:t>)</a:t>
            </a:r>
            <a:endParaRPr lang="pt-BR" sz="2200" b="1" dirty="0"/>
          </a:p>
          <a:p>
            <a:pPr lvl="1"/>
            <a:r>
              <a:rPr lang="pt-BR" sz="2200" b="1" dirty="0"/>
              <a:t>%c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200" dirty="0"/>
              <a:t>Um único caractere</a:t>
            </a:r>
            <a:endParaRPr lang="pt-BR" sz="2200" b="1" dirty="0"/>
          </a:p>
          <a:p>
            <a:pPr lvl="1"/>
            <a:r>
              <a:rPr lang="pt-BR" sz="2200" b="1" dirty="0"/>
              <a:t>%s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200" dirty="0"/>
              <a:t>Cadeia de caracteres</a:t>
            </a:r>
            <a:endParaRPr lang="pt-BR" sz="2200" b="1" dirty="0"/>
          </a:p>
          <a:p>
            <a:pPr lvl="1"/>
            <a:r>
              <a:rPr lang="pt-BR" sz="2200" b="1" dirty="0"/>
              <a:t>%u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200" dirty="0"/>
              <a:t>Número decimal sem sinal</a:t>
            </a:r>
            <a:endParaRPr lang="pt-BR" sz="2200" b="1" dirty="0"/>
          </a:p>
          <a:p>
            <a:pPr lvl="1"/>
            <a:r>
              <a:rPr lang="pt-BR" sz="2200" b="1" dirty="0"/>
              <a:t>%o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</a:t>
            </a:r>
            <a:r>
              <a:rPr lang="pt-BR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t-BR" sz="2200" dirty="0"/>
              <a:t>Número em formato octal</a:t>
            </a:r>
            <a:endParaRPr lang="pt-BR" sz="2200" b="1" dirty="0"/>
          </a:p>
          <a:p>
            <a:pPr lvl="1"/>
            <a:r>
              <a:rPr lang="pt-BR" sz="2200" b="1" dirty="0"/>
              <a:t>%x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sz="2200" dirty="0"/>
              <a:t>Número em formato hexadecimal</a:t>
            </a:r>
          </a:p>
          <a:p>
            <a:pPr lvl="1"/>
            <a:r>
              <a:rPr lang="pt-BR" sz="2200" b="1" dirty="0"/>
              <a:t>%p </a:t>
            </a:r>
            <a:r>
              <a:rPr lang="pt-BR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→ </a:t>
            </a:r>
            <a:r>
              <a:rPr lang="pt-BR" sz="2200" dirty="0"/>
              <a:t>Endereço de memória de um ponteiro</a:t>
            </a:r>
          </a:p>
          <a:p>
            <a:pPr lvl="1"/>
            <a:endParaRPr lang="pt-BR" sz="2000" b="1" i="1" dirty="0"/>
          </a:p>
          <a:p>
            <a:endParaRPr lang="pt-BR" sz="2400" b="1" i="1" dirty="0"/>
          </a:p>
          <a:p>
            <a:endParaRPr lang="pt-BR" sz="2400" b="1" i="1" dirty="0"/>
          </a:p>
          <a:p>
            <a:endParaRPr lang="pt-BR" sz="2400" b="1" i="1" dirty="0"/>
          </a:p>
          <a:p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lvl="1"/>
            <a:endParaRPr lang="pt-BR" sz="2000" b="1" i="1" dirty="0"/>
          </a:p>
          <a:p>
            <a:pPr lvl="1"/>
            <a:endParaRPr lang="pt-BR" sz="2000" b="1" i="1" dirty="0"/>
          </a:p>
          <a:p>
            <a:pPr lvl="1"/>
            <a:endParaRPr lang="pt-BR" sz="1800" b="1" i="1" dirty="0"/>
          </a:p>
          <a:p>
            <a:pPr lvl="1"/>
            <a:endParaRPr lang="pt-BR" sz="1800" b="1" i="1" dirty="0"/>
          </a:p>
        </p:txBody>
      </p:sp>
    </p:spTree>
    <p:extLst>
      <p:ext uri="{BB962C8B-B14F-4D97-AF65-F5344CB8AC3E}">
        <p14:creationId xmlns:p14="http://schemas.microsoft.com/office/powerpoint/2010/main" val="55426446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BAEB4-E3B3-8F6F-F6ED-9AD32EA31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3AC75E49-528F-F290-E926-463B8EE07549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A072A52-DADE-14B4-BE31-BFEEC72E9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Operações de Entrada e Saída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26B6617B-8F7B-A04E-715D-B35CB3F60B7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66640E8-C00D-FF14-9248-9BFAE8561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01" y="1744579"/>
            <a:ext cx="10547936" cy="4963787"/>
          </a:xfrm>
        </p:spPr>
        <p:txBody>
          <a:bodyPr>
            <a:normAutofit/>
          </a:bodyPr>
          <a:lstStyle/>
          <a:p>
            <a:r>
              <a:rPr lang="pt-BR" sz="2400" dirty="0"/>
              <a:t>A entrada de dados no teclado é feita com a função </a:t>
            </a:r>
            <a:r>
              <a:rPr lang="pt-BR" sz="2400" b="1" i="1" dirty="0" err="1"/>
              <a:t>scanf</a:t>
            </a:r>
            <a:r>
              <a:rPr lang="pt-BR" sz="2400" b="1" i="1" dirty="0"/>
              <a:t>():</a:t>
            </a:r>
          </a:p>
          <a:p>
            <a:endParaRPr lang="pt-BR" sz="2400" b="1" i="1" dirty="0"/>
          </a:p>
          <a:p>
            <a:endParaRPr lang="pt-BR" sz="2400" b="1" i="1" dirty="0"/>
          </a:p>
          <a:p>
            <a:endParaRPr lang="pt-BR" sz="2400" b="1" i="1" dirty="0"/>
          </a:p>
          <a:p>
            <a:endParaRPr lang="pt-BR" sz="2400" b="1" i="1" dirty="0"/>
          </a:p>
          <a:p>
            <a:endParaRPr lang="pt-BR" sz="2400" b="1" i="1" dirty="0"/>
          </a:p>
          <a:p>
            <a:endParaRPr lang="pt-BR" sz="2400" dirty="0"/>
          </a:p>
          <a:p>
            <a:r>
              <a:rPr lang="pt-BR" sz="2400" dirty="0"/>
              <a:t>A função utiliza o especificador de formato para definir como tratar o valor de entrada.</a:t>
            </a:r>
          </a:p>
          <a:p>
            <a:r>
              <a:rPr lang="pt-BR" sz="2400" dirty="0"/>
              <a:t>Em sequencia, a função armazena a entrada na variável definida, utilizando a referência ao </a:t>
            </a:r>
            <a:r>
              <a:rPr lang="pt-BR" sz="2400" b="1" dirty="0"/>
              <a:t>endereço de memória </a:t>
            </a:r>
            <a:r>
              <a:rPr lang="pt-BR" sz="2400" dirty="0"/>
              <a:t>associado à variável (&amp;a).</a:t>
            </a:r>
            <a:endParaRPr lang="pt-BR" sz="2400" b="1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lvl="1"/>
            <a:endParaRPr lang="pt-BR" sz="2000" b="1" i="1" dirty="0"/>
          </a:p>
          <a:p>
            <a:pPr lvl="1"/>
            <a:endParaRPr lang="pt-BR" sz="2000" b="1" i="1" dirty="0"/>
          </a:p>
          <a:p>
            <a:pPr lvl="1"/>
            <a:endParaRPr lang="pt-BR" sz="1800" b="1" i="1" dirty="0"/>
          </a:p>
          <a:p>
            <a:pPr lvl="1"/>
            <a:endParaRPr lang="pt-BR" sz="1800" b="1" i="1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767E36F-01FF-4000-BBB2-1DA0DE9AE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5636" y="2649956"/>
            <a:ext cx="523875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0930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Pacot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990</TotalTime>
  <Words>4677</Words>
  <Application>Microsoft Office PowerPoint</Application>
  <PresentationFormat>Widescreen</PresentationFormat>
  <Paragraphs>658</Paragraphs>
  <Slides>43</Slides>
  <Notes>42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43</vt:i4>
      </vt:variant>
    </vt:vector>
  </HeadingPairs>
  <TitlesOfParts>
    <vt:vector size="51" baseType="lpstr">
      <vt:lpstr>Arial</vt:lpstr>
      <vt:lpstr>Calibri</vt:lpstr>
      <vt:lpstr>Calibri Light</vt:lpstr>
      <vt:lpstr>Cambria Math</vt:lpstr>
      <vt:lpstr>Courier New</vt:lpstr>
      <vt:lpstr>Gill Sans MT</vt:lpstr>
      <vt:lpstr>Tema do Office</vt:lpstr>
      <vt:lpstr>Pacote</vt:lpstr>
      <vt:lpstr>plano DE ENSINO</vt:lpstr>
      <vt:lpstr>Sistema de avaliação</vt:lpstr>
      <vt:lpstr>Distribuição de Notas</vt:lpstr>
      <vt:lpstr>Bibliografia</vt:lpstr>
      <vt:lpstr>módulo 1 - Introdução à lp</vt:lpstr>
      <vt:lpstr>Conceitos Introdutórios</vt:lpstr>
      <vt:lpstr>LP X Algoritmo X Pseudo-código</vt:lpstr>
      <vt:lpstr>Níveis de Linguagem</vt:lpstr>
      <vt:lpstr>Linguagem de Máquina</vt:lpstr>
      <vt:lpstr>Linguagem Assembly</vt:lpstr>
      <vt:lpstr>Linguagens de Alto Nível</vt:lpstr>
      <vt:lpstr>Compiladores X Interpretadores</vt:lpstr>
      <vt:lpstr>Compiladores X Interpretadores</vt:lpstr>
      <vt:lpstr>Paradigmas de Programação</vt:lpstr>
      <vt:lpstr>MÓDULO 2 – LINGUAGEM C </vt:lpstr>
      <vt:lpstr>Linguagem C</vt:lpstr>
      <vt:lpstr>Ciclo de Desenvolvimento</vt:lpstr>
      <vt:lpstr>Pré-Processador</vt:lpstr>
      <vt:lpstr>Compilador</vt:lpstr>
      <vt:lpstr>Montagem</vt:lpstr>
      <vt:lpstr>Linkagem</vt:lpstr>
      <vt:lpstr>Linkagem (Observação)</vt:lpstr>
      <vt:lpstr>Anatomia de um código C</vt:lpstr>
      <vt:lpstr>Anatomia de um código C</vt:lpstr>
      <vt:lpstr>Anatomia de um código C</vt:lpstr>
      <vt:lpstr>Anatomia de um código C</vt:lpstr>
      <vt:lpstr>Anatomia de um código C</vt:lpstr>
      <vt:lpstr>Anatomia de um código C</vt:lpstr>
      <vt:lpstr>Palavras reservadas</vt:lpstr>
      <vt:lpstr>Constantes e Variáveis</vt:lpstr>
      <vt:lpstr>Constantes e Variáveis</vt:lpstr>
      <vt:lpstr>Tipos Primitivos</vt:lpstr>
      <vt:lpstr>Modificadores de tipos</vt:lpstr>
      <vt:lpstr>Faixa de valores para os tipos de dados</vt:lpstr>
      <vt:lpstr>Observação</vt:lpstr>
      <vt:lpstr>Operadores Aritméticos</vt:lpstr>
      <vt:lpstr>Operadores Lógicos</vt:lpstr>
      <vt:lpstr>Operadores Relacionais (Comparadores)</vt:lpstr>
      <vt:lpstr>Conversão de Tipos</vt:lpstr>
      <vt:lpstr>Conversão de Tipos</vt:lpstr>
      <vt:lpstr>Operações de Entrada e Saída</vt:lpstr>
      <vt:lpstr>Operações de Entrada e Saída</vt:lpstr>
      <vt:lpstr>Operações de Entrada e Saída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81</cp:revision>
  <dcterms:created xsi:type="dcterms:W3CDTF">2026-07-26T12:48:37Z</dcterms:created>
  <dcterms:modified xsi:type="dcterms:W3CDTF">2026-08-05T20:28:19Z</dcterms:modified>
</cp:coreProperties>
</file>