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56"/>
  </p:notesMasterIdLst>
  <p:sldIdLst>
    <p:sldId id="256" r:id="rId3"/>
    <p:sldId id="257" r:id="rId4"/>
    <p:sldId id="261" r:id="rId5"/>
    <p:sldId id="259" r:id="rId6"/>
    <p:sldId id="262" r:id="rId7"/>
    <p:sldId id="264" r:id="rId8"/>
    <p:sldId id="265" r:id="rId9"/>
    <p:sldId id="267" r:id="rId10"/>
    <p:sldId id="273" r:id="rId11"/>
    <p:sldId id="268" r:id="rId12"/>
    <p:sldId id="275" r:id="rId13"/>
    <p:sldId id="269" r:id="rId14"/>
    <p:sldId id="270" r:id="rId15"/>
    <p:sldId id="271" r:id="rId16"/>
    <p:sldId id="280" r:id="rId17"/>
    <p:sldId id="281" r:id="rId18"/>
    <p:sldId id="282" r:id="rId19"/>
    <p:sldId id="283" r:id="rId20"/>
    <p:sldId id="285" r:id="rId21"/>
    <p:sldId id="286" r:id="rId22"/>
    <p:sldId id="287" r:id="rId23"/>
    <p:sldId id="288" r:id="rId24"/>
    <p:sldId id="289" r:id="rId25"/>
    <p:sldId id="290" r:id="rId26"/>
    <p:sldId id="294" r:id="rId27"/>
    <p:sldId id="292" r:id="rId28"/>
    <p:sldId id="293" r:id="rId29"/>
    <p:sldId id="291" r:id="rId30"/>
    <p:sldId id="298" r:id="rId31"/>
    <p:sldId id="296" r:id="rId32"/>
    <p:sldId id="295" r:id="rId33"/>
    <p:sldId id="299" r:id="rId34"/>
    <p:sldId id="302" r:id="rId35"/>
    <p:sldId id="303" r:id="rId36"/>
    <p:sldId id="304" r:id="rId37"/>
    <p:sldId id="305" r:id="rId38"/>
    <p:sldId id="306" r:id="rId39"/>
    <p:sldId id="307" r:id="rId40"/>
    <p:sldId id="308" r:id="rId41"/>
    <p:sldId id="300" r:id="rId42"/>
    <p:sldId id="301" r:id="rId43"/>
    <p:sldId id="309" r:id="rId44"/>
    <p:sldId id="310" r:id="rId45"/>
    <p:sldId id="311" r:id="rId46"/>
    <p:sldId id="312" r:id="rId47"/>
    <p:sldId id="313" r:id="rId48"/>
    <p:sldId id="316" r:id="rId49"/>
    <p:sldId id="315" r:id="rId50"/>
    <p:sldId id="319" r:id="rId51"/>
    <p:sldId id="317" r:id="rId52"/>
    <p:sldId id="320" r:id="rId53"/>
    <p:sldId id="318" r:id="rId54"/>
    <p:sldId id="321" r:id="rId5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DA7D8"/>
    <a:srgbClr val="2F8D46"/>
    <a:srgbClr val="E1FFE7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4911" autoAdjust="0"/>
  </p:normalViewPr>
  <p:slideViewPr>
    <p:cSldViewPr snapToGrid="0">
      <p:cViewPr varScale="1">
        <p:scale>
          <a:sx n="85" d="100"/>
          <a:sy n="85" d="100"/>
        </p:scale>
        <p:origin x="15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viewProps" Target="viewProp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presProps" Target="pres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B011-7176-5A7D-A2EA-0C754678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2828F5C-42D4-B833-940B-876A1289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5B40F1-CB45-2F7C-EB01-737BEE44E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37E7EA-4D4D-166C-DE43-EB3917480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6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A04B0-2E89-3816-3360-6ADA1DCB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E0E2-6219-B231-EADA-A20DB241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AB21D2-4C73-FDAF-5D02-C01B9D51D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B2917-E3D1-8BFF-51B4-AC63697CF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5219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4700-726A-9632-5874-091B11DE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E332DC-1D60-D749-F5A3-1D96DC702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81068E-3166-81EA-0EDD-EA5406B2D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096CAF-7A2F-FD92-931F-554540689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71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377-559E-8593-32F4-69B1B87A2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9343CE-6DBE-D912-4E15-15583EEAA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DD4AA0-3B61-D158-399C-06F757EF8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Sistemas Embarcados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Controle direto de microcontroladores em eletrodomésticos e automóveis.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Desempenho Crítico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Otimização extrema de partes de código em sistemas operacionais ou drivers de dispositivos.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Estudo de Hardware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Ajuda a compreender profundamente como a CPU executa instruções e gerencia a memória.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05C5D-FB7F-167A-C57D-BFD23265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350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B2D9-6146-7106-DBA4-40073748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4BB465-009B-BDC8-D694-CAA715C1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5D45F14-6F12-7068-0C5F-A405B1E25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Speedcoding</a:t>
            </a:r>
            <a:r>
              <a:rPr lang="pt-BR" dirty="0"/>
              <a:t> ou </a:t>
            </a:r>
            <a:r>
              <a:rPr lang="pt-BR" dirty="0" err="1"/>
              <a:t>Speedcode</a:t>
            </a:r>
            <a:r>
              <a:rPr lang="pt-BR" dirty="0"/>
              <a:t> foi a primeira linguagens de programação de alto nível criada para um computador IBM. </a:t>
            </a:r>
          </a:p>
          <a:p>
            <a:r>
              <a:rPr lang="pt-BR" dirty="0"/>
              <a:t>A linguagem foi desenvolvida por John </a:t>
            </a:r>
            <a:r>
              <a:rPr lang="pt-BR" dirty="0" err="1"/>
              <a:t>Backus</a:t>
            </a:r>
            <a:r>
              <a:rPr lang="pt-BR" dirty="0"/>
              <a:t> em 1953 para o IBM 701. </a:t>
            </a:r>
          </a:p>
          <a:p>
            <a:r>
              <a:rPr lang="pt-BR" dirty="0"/>
              <a:t>A ideia surgiu da dificuldade de programação da máquina IBM SSEC, quando </a:t>
            </a:r>
            <a:r>
              <a:rPr lang="pt-BR" dirty="0" err="1"/>
              <a:t>Backus</a:t>
            </a:r>
            <a:r>
              <a:rPr lang="pt-BR" dirty="0"/>
              <a:t> foi contratado para calcular posições astronômicas no início dos anos 1950.</a:t>
            </a:r>
          </a:p>
          <a:p>
            <a:r>
              <a:rPr lang="pt-BR" dirty="0"/>
              <a:t>Em sequência, veio o Fortran em 1957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linguagem de programação voltada para computação científica e técnica, especialmente projetada para executar cálculos complexos com eficiência numa ampla variedade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processadores.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99CAB7A-E1AF-74E8-7503-53AE4495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363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740-9816-ADD0-2F6E-6B0C1C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C6E79-8DEE-9C98-C309-452A8B193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17813F-4315-97F3-57D4-0F5D6E82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lê o código-fonte inteiro de uma só vez.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procura por erros de sintaxe na estrutura geral do programa e, se estiver tudo correto,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traduz o código inteiro para uma linguagem de baixo nível ou linguagem de máquina, criando um arquivo binário autônomo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código já foi traduzido previamente, o que torna a execução muito mais rápida e otimizada.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programa compilado pode ser distribuído e executado sem a necessidade do compilador original ou do código-fonte.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alta Performance: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o código já está traduzido e otimizado para o hardware antes da execução, os programas rodam muito mais rápido.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Detecção de Erros: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compilador checa todo o código em busca de erros de sintaxe e estrutura antes de gerar o arquivo final, impedindo que o programa seja criado caso haja falhas críticas.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Menor Portabilidade: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arquivo compilado costuma ser específico para um sistema operacional ou arquitetura de processador (um executável do Windows não roda nativamente no Linux, por exemplo).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processo de compilação pode demorar, e caso o código precise ser alterado, o programa inteiro (ou parte dele) precisa ser compilado novamente.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arquivo binário gerado depende da arquitetura do sistema operacional (um executável de Windows não roda nativamente no Mac).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3F0FB-B732-D6AC-D3CC-5BE62E14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13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65B-D111-684E-D90B-0BBB70AB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0CCC18-33EB-50D6-AA19-32A3AD988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B5E38F-3B61-3341-584A-BF17E3BE3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API de um sistema operacional </a:t>
            </a:r>
            <a:r>
              <a:rPr lang="pt-BR" dirty="0"/>
              <a:t>é um conjunto de regras e ferramentas que permite aos programas conversarem com o sistema. </a:t>
            </a:r>
          </a:p>
          <a:p>
            <a:r>
              <a:rPr lang="pt-BR" dirty="0"/>
              <a:t>Ela funciona como uma ponte ou um tradutor, facilitando o acesso a recursos essenciais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gerenciamento de arquivos</a:t>
            </a:r>
            <a:r>
              <a:rPr lang="pt-BR" dirty="0"/>
              <a:t>,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 de memória</a:t>
            </a:r>
            <a:r>
              <a:rPr lang="pt-BR" dirty="0"/>
              <a:t> 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controle de hardware.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Algumas linguagens modernas combinam os dois métodos.  No Java, o código é primeiro compilado para uma linguagem intermediária chamada </a:t>
            </a:r>
          </a:p>
          <a:p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(que não é o código de máquina final).  Durante a execução do programa, um interpretador do sistema (JVM) </a:t>
            </a:r>
          </a:p>
          <a:p>
            <a:r>
              <a:rPr lang="pt-BR" dirty="0"/>
              <a:t>lê esse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e usa um compilador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JIT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JIT (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"em tempo de execução") é uma tecnologia que traduz código de programa </a:t>
            </a: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código intermediário) em instruções nativas de máquina diretamente durante a execução do software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Compila para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roda na Máquina Virtual Java (JVM).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 o código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Intermediate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rodar no ambiente do .NET.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Traduz o arquivo de texto para arquivos binários intermediários (.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antes da execução interna.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F0F6C3-1900-E55A-CAAA-8B9CE43FE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908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A5AE-B6FC-9E91-1FF3-9E087156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33E8A7-46A9-7BC4-94A6-692C1C422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2339BF-A92E-7256-92D4-48F1307C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Os paradigmas Imperativo e Declarativo são os dois grandes paradigmas fundamentais.</a:t>
            </a:r>
          </a:p>
          <a:p>
            <a:endParaRPr lang="pt-BR" b="0" dirty="0"/>
          </a:p>
          <a:p>
            <a:r>
              <a:rPr lang="pt-BR" b="1" dirty="0"/>
              <a:t>Imperativo: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É o paradigma mais tradicional.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 é uma sequência de instruções que altera o estado da memória passo a passo.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descreve </a:t>
            </a:r>
            <a:r>
              <a:rPr lang="pt-BR" b="1" dirty="0"/>
              <a:t>como</a:t>
            </a:r>
            <a:r>
              <a:rPr lang="pt-BR" dirty="0"/>
              <a:t> resolver o problema.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exemplo mais puro é o Assembly</a:t>
            </a:r>
          </a:p>
          <a:p>
            <a:endParaRPr lang="pt-BR" b="1" dirty="0"/>
          </a:p>
          <a:p>
            <a:r>
              <a:rPr lang="pt-BR" b="1" dirty="0"/>
              <a:t>Declarativo: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diz </a:t>
            </a:r>
            <a:r>
              <a:rPr lang="pt-BR" b="1" dirty="0"/>
              <a:t>o que</a:t>
            </a:r>
            <a:r>
              <a:rPr lang="pt-BR" dirty="0"/>
              <a:t> deseja, sem especificar exatamente como fazer.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Um bom exemplo (por mais que não seja necessariamente uma LP) é a linguagem SQL</a:t>
            </a:r>
          </a:p>
          <a:p>
            <a:endParaRPr lang="pt-BR" b="0" dirty="0"/>
          </a:p>
          <a:p>
            <a:r>
              <a:rPr lang="pt-BR" b="1" dirty="0"/>
              <a:t>Procedural: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evolução do imperativo que foca em dividir o código em blocos menores chamados de procedimentos, sub-rotinas ou funções.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Foco:</a:t>
            </a:r>
            <a:r>
              <a:rPr lang="pt-BR" dirty="0"/>
              <a:t> Reutilizar pedaços de código chamando esses blocos sempre que precisar.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Orientado a Objetos: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Organiza o programa em </a:t>
            </a:r>
            <a:r>
              <a:rPr lang="pt-BR" b="1" dirty="0"/>
              <a:t>objetos</a:t>
            </a:r>
            <a:r>
              <a:rPr lang="pt-BR" dirty="0"/>
              <a:t>,  que possuem atributos (dados) e métodos (comportamentos) associados.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Os objetos simulam elementos do mundo real e podem interagir entre si.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Pilares principais:</a:t>
            </a:r>
            <a:r>
              <a:rPr lang="pt-BR" dirty="0"/>
              <a:t> Encapsulamento, herança, polimorfismo e abstração.</a:t>
            </a:r>
            <a:endParaRPr lang="pt-BR" b="0" dirty="0"/>
          </a:p>
          <a:p>
            <a:endParaRPr lang="pt-BR" b="1" dirty="0"/>
          </a:p>
          <a:p>
            <a:r>
              <a:rPr lang="pt-BR" b="1" dirty="0"/>
              <a:t>Lógica: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em regras e fatos.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sistema utiliza inferência lógica para encontrar respostas.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Funcional: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na logica de funções matemáticas.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dirty="0"/>
              <a:t>Uma função pura possui duas características: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Para a mesma entrada, sempre produz a mesma saída. 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Não modifica nada fora dela (não altera variáveis globais, arquivos, banco de dados, etc.).</a:t>
            </a:r>
          </a:p>
          <a:p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x = 10 -&gt; Em C essa variável pode ser alterado, em </a:t>
            </a:r>
            <a:r>
              <a:rPr lang="pt-BR" dirty="0" err="1"/>
              <a:t>Haskell</a:t>
            </a:r>
            <a:r>
              <a:rPr lang="pt-BR" dirty="0"/>
              <a:t>, intuitivamente não.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boa analogia é a seguinte: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Programação imperativa: </a:t>
            </a:r>
            <a:r>
              <a:rPr lang="pt-BR" b="0" dirty="0"/>
              <a:t>você escreve uma receita de bolo dizendo passo a passo o que fazer. </a:t>
            </a:r>
          </a:p>
          <a:p>
            <a:r>
              <a:rPr lang="pt-BR" b="1" dirty="0"/>
              <a:t>Programação funcional: </a:t>
            </a:r>
            <a:r>
              <a:rPr lang="pt-BR" dirty="0"/>
              <a:t>você enxerga cada etapa da receita como uma função que recebe um ingrediente e devolve outro. </a:t>
            </a:r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D884E-938F-A20D-7BA9-9135DC271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767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D2F84-E928-43B8-2EDF-5C415DB3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69E100-C250-9AB3-A4FE-46F494706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73F178-91AC-6404-52C2-B1C21DBB7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do Unix, os sistemas operacionais eram escritos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Assembly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que significava que um sistema feito para um computador específico não funcionava em nenhum outro.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resolver isso, Dennis Ritchie criou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linguagem de programação 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 equipe reescreveu o Unix nela em 1973, sendo o primeiro sistema operacional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portátil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história.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maioria dos dispositivos eletrônicos atuais roda um sistema que é filho ou "clone" do Unix: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Criado por Linus Torvalds como um clone gratuito e de código aberto baseado nos princípios do Unix. </a:t>
            </a:r>
          </a:p>
          <a:p>
            <a:pPr marL="0" indent="0">
              <a:buFontTx/>
              <a:buNone/>
            </a:pP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macOS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Os sistemas da Apple são derivados diretos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ramificação do Unix. (BSD)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Unix não foi apenas mais um sistema operacional; ele estabeleceu os padrões de engenharia de software e design de sistemas que usamos até hoje. </a:t>
            </a:r>
          </a:p>
          <a:p>
            <a:r>
              <a:rPr lang="pt-BR" dirty="0"/>
              <a:t>Dentre eles: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Modularidade e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pt-BR" dirty="0"/>
              <a:t> O Unix introduziu o conceito de conectar a saída de um programa diretamente na entrada de outro.  Isso permite combinar ferramentas simples para resolver problemas gigantescos e altamente complexos.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Faça uma coisa e faça bem feita:</a:t>
            </a:r>
            <a:r>
              <a:rPr lang="pt-BR" dirty="0"/>
              <a:t> Em vez de construir softwares gigantescos e complexos, o Unix  promove a criação de pequenos programas especializados.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E27146-5F08-F5A4-D45F-B6DF4C229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628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EAF0-70FD-5618-EF51-8C35ED95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D9CE23F-8DD2-2D99-0B73-979E512E3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8A77FC-AC23-0919-2C9E-C8A966045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Entender esse processo ajuda muito a compreender por que a linguagem C é tão utilizada em sistemas operacionais, embarcados e compiladores.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68243-78A1-01BA-9A97-C09CCB908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668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B098-E41A-0CFF-9AEC-9A76E366C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5F18F-B749-0440-24F0-605393BC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188324-D245-863A-B034-CEA8F522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um arquivo-fonte. </a:t>
            </a:r>
          </a:p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forma geral o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determina o nome do arquivo que será processado. Por exemplo:</a:t>
            </a:r>
          </a:p>
          <a:p>
            <a:pPr rtl="0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stdlib.h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world!\n");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processar o arquivo, 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o arquivo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“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utilizar os símbolos de “maior e menor” instruímos o compilador a procurar o arquivo nos diretórios do sistema, neste caso, definido pelo compilador.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outra abordagem, o arquivo é procurado no diretório do código-fonte (diretório de trabalho).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F7F706-AF9F-4DDF-27E3-183E66354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5578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9B95-68CC-C91A-65F7-98BF58A5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502B9E-A937-18B6-AB67-D79805A29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2D46F3-3BC8-7457-5E2C-D70BDC2D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Léxica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 o código-fonte caractere por caractere.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Agrupa os caracteres em unidades menores chamadas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(como palavras-chave, identificadores, números e símbolos).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Descarta espaços em branco e comentários.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Sintática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 a sequência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analisador léxico.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 os elementos em uma estrutura em árvore (árvore sintática ou de derivação) com base nas regras gramaticais da linguagem C.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Aponta erros de sintaxe (como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e vírgula faltando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chaves abertas incorretamente).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Semântica: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 o significado do código estruturado na árvore.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 a checagem de tipos (por exemplo, se você está somando um ponteiro com um tipo incompatível ou atribuindo valores errados a uma variável).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Usa e atualiza a tabela de símbolos para garantir que variáveis e funções foram declaradas antes do uso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vara = 1.234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D2FE32-3A29-5FAD-3750-D774BA87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6617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105-1226-1398-F6AD-1F06713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CF8240-B6D2-0378-86F8-20AF06D43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5D790A5-B43E-0416-E236-0BB416789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Separar a compilação em arquivos objeto traz ganhos importantes: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Compilação incremental:</a:t>
            </a:r>
            <a:r>
              <a:rPr lang="pt-BR" dirty="0"/>
              <a:t> se você alterar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matematica.c</a:t>
            </a:r>
            <a:r>
              <a:rPr lang="pt-BR" dirty="0"/>
              <a:t>, não é necessário recompilar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pt-BR" dirty="0"/>
              <a:t>;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matematica.o</a:t>
            </a:r>
            <a:r>
              <a:rPr lang="pt-BR" dirty="0"/>
              <a:t> é reconstruído e o </a:t>
            </a:r>
            <a:r>
              <a:rPr lang="pt-BR" dirty="0" err="1"/>
              <a:t>linker</a:t>
            </a:r>
            <a:r>
              <a:rPr lang="pt-BR" dirty="0"/>
              <a:t> gera um novo executável.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Modularidade:</a:t>
            </a:r>
            <a:r>
              <a:rPr lang="pt-BR" dirty="0"/>
              <a:t> equipes diferentes podem desenvolver módulos independentes (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rede.c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banco.c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interface.c</a:t>
            </a:r>
            <a:r>
              <a:rPr lang="pt-BR" dirty="0"/>
              <a:t>), compilando-os separadamente.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Reutilização:</a:t>
            </a:r>
            <a:r>
              <a:rPr lang="pt-BR" dirty="0"/>
              <a:t> um mesmo arquivo objeto ou biblioteca pode ser ligado a vários programas diferentes.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Escalabilidade:</a:t>
            </a:r>
            <a:r>
              <a:rPr lang="pt-BR" dirty="0"/>
              <a:t> projetos grandes com centenas de arquivos permanecem organizados e têm tempos de compilação muito menores do que se todo o código precisasse ser recompilado a cada alteração.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As bibliotecas normalmente não permanecem como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 </a:t>
            </a:r>
          </a:p>
          <a:p>
            <a:r>
              <a:rPr lang="pt-BR" dirty="0"/>
              <a:t>Elas são distribuídas em formatos específicos (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pt-BR" dirty="0"/>
              <a:t>, etc.), embora internamente muitas delas sejam compostas por arquivos objeto.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biblioteca estática é, internamente, um conjunto de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biblioteca dinâmica  por outro lado,</a:t>
            </a:r>
            <a:r>
              <a:rPr lang="pt-BR" dirty="0"/>
              <a:t> são praticamente "mini executáveis" (embora não tenham uma função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Arquivo Objeto (.o – Linux, .</a:t>
            </a:r>
            <a:r>
              <a:rPr lang="pt-BR" dirty="0" err="1"/>
              <a:t>obj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biblioteca estática (.a – Linux, .</a:t>
            </a:r>
            <a:r>
              <a:rPr lang="pt-BR" dirty="0" err="1"/>
              <a:t>lib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biblioteca dinâmica </a:t>
            </a:r>
            <a:r>
              <a:rPr lang="pt-BR" dirty="0"/>
              <a:t> (.</a:t>
            </a:r>
            <a:r>
              <a:rPr lang="pt-BR" dirty="0" err="1"/>
              <a:t>so</a:t>
            </a:r>
            <a:r>
              <a:rPr lang="pt-BR" dirty="0"/>
              <a:t> – Linux, .</a:t>
            </a:r>
            <a:r>
              <a:rPr lang="pt-BR" dirty="0" err="1"/>
              <a:t>dll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313824-0C68-65B1-171B-D86D29DEB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0487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412-35DC-924F-D011-8618C455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D06F49-9540-433C-B4B3-B9AEC28B8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1AA368-2BC2-BECD-B4C7-472F9C6C6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matematica.c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:;</a:t>
            </a:r>
          </a:p>
          <a:p>
            <a:r>
              <a:rPr lang="en-US" dirty="0"/>
              <a:t>int soma(int </a:t>
            </a:r>
            <a:r>
              <a:rPr lang="en-US" dirty="0" err="1"/>
              <a:t>a,int</a:t>
            </a:r>
            <a:r>
              <a:rPr lang="en-US" dirty="0"/>
              <a:t> b) { return </a:t>
            </a:r>
            <a:r>
              <a:rPr lang="en-US" dirty="0" err="1"/>
              <a:t>a+b</a:t>
            </a:r>
            <a:r>
              <a:rPr lang="en-US" dirty="0"/>
              <a:t>; }</a:t>
            </a:r>
          </a:p>
          <a:p>
            <a:endParaRPr lang="en-US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main.c</a:t>
            </a:r>
            <a:r>
              <a:rPr lang="en-US" sz="1200" b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pt-BR" dirty="0"/>
              <a:t>#include &lt;</a:t>
            </a:r>
            <a:r>
              <a:rPr lang="pt-BR" dirty="0" err="1"/>
              <a:t>stdio.h</a:t>
            </a:r>
            <a:r>
              <a:rPr lang="pt-BR" dirty="0"/>
              <a:t>&gt; </a:t>
            </a:r>
          </a:p>
          <a:p>
            <a:r>
              <a:rPr lang="pt-BR" dirty="0"/>
              <a:t>#include "</a:t>
            </a:r>
            <a:r>
              <a:rPr lang="pt-BR" dirty="0" err="1"/>
              <a:t>matematica.h</a:t>
            </a:r>
            <a:r>
              <a:rPr lang="pt-BR" dirty="0"/>
              <a:t>" </a:t>
            </a:r>
          </a:p>
          <a:p>
            <a:r>
              <a:rPr lang="pt-BR" dirty="0" err="1"/>
              <a:t>int</a:t>
            </a:r>
            <a:r>
              <a:rPr lang="pt-BR" dirty="0"/>
              <a:t> </a:t>
            </a:r>
            <a:r>
              <a:rPr lang="pt-BR" dirty="0" err="1"/>
              <a:t>main</a:t>
            </a:r>
            <a:r>
              <a:rPr lang="pt-BR" dirty="0"/>
              <a:t>() { </a:t>
            </a:r>
            <a:r>
              <a:rPr lang="pt-BR" dirty="0" err="1"/>
              <a:t>printf</a:t>
            </a:r>
            <a:r>
              <a:rPr lang="pt-BR" dirty="0"/>
              <a:t>("%d", soma(2,3)); }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 a geração dos arquivos objetos: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main.o</a:t>
            </a: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pt-BR" dirty="0"/>
              <a:t>precisa da função soma</a:t>
            </a: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err="1"/>
              <a:t>matematica.o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linker</a:t>
            </a:r>
            <a:r>
              <a:rPr lang="pt-BR" dirty="0"/>
              <a:t> dá a referência exata para </a:t>
            </a:r>
            <a:r>
              <a:rPr lang="pt-BR" dirty="0" err="1"/>
              <a:t>para</a:t>
            </a:r>
            <a:r>
              <a:rPr lang="pt-BR" dirty="0"/>
              <a:t> a função. </a:t>
            </a:r>
          </a:p>
          <a:p>
            <a:r>
              <a:rPr lang="pt-BR" dirty="0"/>
              <a:t>(Antes havia apenas o pedido pela referência.)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DA9D6A-8B8F-1ABD-4001-F8E0581A5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1155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696B-1A4F-0C40-CD3A-F272886E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36CBBC-DC3F-E1D3-3E6A-03773A7DE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895AC-C387-4905-734C-C5A6022F4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E7DA0F-7126-D7C3-D31D-193DF2466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4974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B473-122E-995A-83E2-BDB231A1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88D6B2-0E22-53E3-CC33-49A57DD44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C835B0-0135-4B95-B8D8-42F01796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09672D-1493-7167-FA89-8510A830A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152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840D-E6FE-461F-F8BA-7E58F75F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4985E4-AFBA-EA68-E1B3-AA537FEEE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latin typeface="Cambria Math" panose="02040503050406030204" pitchFamily="18" charset="0"/>
                      </a:rPr>
                      <m:t>#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𝑑𝑒𝑓𝑖𝑛𝑒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𝑄𝑈𝐴𝐷𝑅𝐴𝐷𝑂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((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∗ 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:r>
                  <a:rPr lang="it-IT" sz="1200" i="0" dirty="0">
                    <a:latin typeface="Cambria Math" panose="02040503050406030204" pitchFamily="18" charset="0"/>
                  </a:rPr>
                  <a:t>#𝑑𝑒𝑓𝑖𝑛𝑒 𝑄𝑈𝐴𝐷𝑅𝐴𝐷𝑂(𝑥) ((𝑥) ∗ (𝑥))</a:t>
                </a:r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0A8A88-48CA-1B58-25FD-A0E9EE52D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9659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996E-7337-A5E8-933B-25CAC402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AB6FD3-7254-70C3-8E6A-EEDC71F7D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85DCD3-C5EA-3056-CB71-829B1220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 (estrutura) em C é um tipo de dado personalizado que agrupa várias variáveis, que podem ser de tipos diferentes, sob um único nome. </a:t>
            </a:r>
          </a:p>
          <a:p>
            <a:r>
              <a:rPr lang="pt-BR" dirty="0"/>
              <a:t>Ela funciona como um registro para organizar informações relacionadas, como os dados de uma pessoa ou de um aluno.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typedef</a:t>
            </a:r>
            <a:r>
              <a:rPr lang="pt-BR" dirty="0"/>
              <a:t> em C serve para criar um novo nome (um apelido ou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alias</a:t>
            </a:r>
            <a:r>
              <a:rPr lang="pt-BR" dirty="0"/>
              <a:t>) para um tipo de dado que já existe. </a:t>
            </a:r>
          </a:p>
          <a:p>
            <a:r>
              <a:rPr lang="pt-BR" dirty="0"/>
              <a:t>Ele ajuda a deixar o código mais limpo, curto e fácil de ler, sendo muito usado com tipos básicos, ponteiros e estruturas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).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BF5AA9-4D8D-605B-C5B3-2239F7239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540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2E78-5D2E-A485-8D0A-59198BB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1EB849-809B-A6A9-67FE-FE44F13B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2D807B-D19F-11A9-2A10-CFDC1FF6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protótipo é obrigatório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Ordem invertida: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a função for chamada antes de ter o seu corpo definido no código (por exemplo, 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fica no topo e as outras funções embaixo), o protótipo se torna obrigatório para o compilador não gerar erro.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Múltiplos arquivos: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projeto cresce e usa vários arquivos de código, os protótipos em arquivos de cabeçalho (.h) são essenciais para um arquivo enxergar as funções do outro.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 de tipos: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protótipo ajuda o compilador a avisar você se passar o número errado de argumentos ou tipos incorretos na chamada da função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43CA1E-8BFD-77BB-B57E-7EB7B5A0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366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B067-8B75-53C6-354D-C19F4B3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24C0D1-D8A1-05DF-92E2-E790828F0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37FEF35-4E7A-4FC0-6FDE-608BC7D33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As variáveis declaradas dentro dela só existem durante sua execução.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única exceção do retorno da função, é para o caso dela ser do tipo VOID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C5D177-2C8C-2480-9763-228CFBFAA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58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D291-2B68-E341-9F50-CC9BA68B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47DB21-D531-1BA0-937E-7F06F50A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E6FD4-CD44-C461-9F47-55CA701E5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8BBF2A-4358-C6C9-18FE-7D3ED89CE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6373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2C6F1-CAF6-BC25-B510-9CC2118E1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66BA548-668B-12DF-C146-C62146B3C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6D6CB5-2E32-07C7-3791-C5071EAC5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AA837C-3A1D-9FCD-5441-A2EBE65177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9468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7CB19-366C-C2F9-42FB-8DE172F1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87C84D-FCB4-1B22-0B4A-6CC9E7B8A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999CFD9-237E-404F-B40D-D55B8D2E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6F7382-9A20-2174-84F6-08F582704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7674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C8082-8D0C-BAC1-1261-B9B52947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9FFCFAC-0B65-614E-D3F0-625E467C1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F0049B0-15DA-6048-F6A6-82B40E15E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08EFFEB-2038-F2F7-7B84-1FB4CE6BE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97714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A6C64-E4C9-7C6D-E8C4-B61CCE06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1493C10-113D-A3F1-3EC7-F0A01EB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C869A-2086-77AC-02DC-5FEB3B8B7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20590-96E8-331A-DB6C-AB67473F55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87962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21956-1F83-B933-D38B-FA178F7C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C1A5B2-020A-06F2-82C3-9D7DD8C98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030C79-DDBA-4923-770E-FFBB8CDDB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85588B7-D4CC-3C65-C878-57F9ADC8F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16734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93E1-ED2C-075C-7580-0F69FEAC6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8999D1-E6BD-5F75-1873-EA30E5F47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066D26-94BF-2DBA-9E7C-4FD31F676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19EED2-7E88-6703-72A2-2790FE66C8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62249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A26A-E1EC-7BA8-F11E-D6817641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6DAD396-78B8-C19E-2771-99AF12452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7D803B-134A-A29D-C37A-66A520EDB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C93B4FF-3702-514A-C6FB-8D4BCBC8B7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32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256BA-C5A3-1799-D720-EBC4F5A5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BA047B-578A-A874-8237-A143BBEE6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0F5932-7B0F-7D26-8B85-FCE4F0AAF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DC23C5B-674E-1C19-8365-8AFF71652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32852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81513-B6A9-22DA-4BA6-BF4BB0E80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C0801F-FA1D-1BCE-6BB9-DE0879B83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95E809-61CA-FB1C-293D-0320EE1C6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E03FE0-AE59-2D35-0D89-D7DFADF1D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6805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546F-84EC-BA81-343F-A0D65A05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85F275-0715-9607-4057-ACFED84B0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E086BD-6607-E317-185A-733A5466D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4D1206-9D76-2A3F-EE3D-FAA5C2B2F3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4340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F6D5B-C604-48CE-EAF6-E8B1F897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92E5A7A-58BF-81C0-DD45-031FD4AE0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889764-EA45-E98B-5463-43138806AE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F63CE1F-C1A0-B097-B8DB-4DE1B92FD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32184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5423-0113-8D5E-C00E-8C7F7D62E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AB3E46-6C04-BCE2-2A96-A0CFFE2E1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B24443-DF7D-F8E3-21F6-85F1CD5ED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B642EE-78AC-00A2-A2AE-E06C14966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44011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71822-E6F3-CB98-20B3-46D7E2C99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B76AA77-D69E-FEDA-D42C-EAEF5310C9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49F503-7E4F-783E-7286-EC109F5F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DEEFA7-F13B-C573-F06E-6C7828847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55576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5ED0-C878-4D2B-CBE7-AD500DB4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0516B6-0788-3837-F4FA-297AD5D54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44D301-05E9-E46E-22A7-192CB3CA4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0F876B6-8223-D98C-47E1-BB507BE53E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33346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02BE-D910-B8A8-A058-5A66E2AE4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BC3467B-310C-B537-222C-4C9E39EF2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78E45-E72A-749F-7CB8-B5F1434D1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F66280-2125-5BA7-EA97-29678F739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8375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06AFB-5D4D-7CD3-90A8-7AC2BEED1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0794325-E27A-B527-E4B9-3991D965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F990B5-69F1-5DAD-88A0-9A536B906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1438F-3131-4B35-D5E4-C9F540200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1589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4A51E-DC23-833C-62DF-71132690C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48E10A-F3F4-450D-C07C-7B13E432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0AFF88-24D3-FCA3-71FB-008CC78C4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07BFD8-6B49-7509-EC25-F7AAB763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5695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9F6FB-0229-C266-A39F-161DE64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6365E6-F903-B819-E441-8788246D18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44A397A-2526-2239-E9A3-96AB6CEF4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DAB22E2-8689-3F4B-0002-E7B9EDEE0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01689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E09E6-A208-0AAA-C334-A81C9533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203732-7E79-CB07-BF2C-7FED9F1109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1BC1B2A-10ED-EEE6-5D09-19540B5C5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8940C8-CCC5-C8D3-E8BE-9E87AB393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748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5191-609F-A31E-463D-1F3ACF5F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C99654F-F2C3-1BE0-12AB-E494E8878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82ABB6E-919E-8C01-1068-9397D982B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7F0F2A-698E-FA41-BFA3-4CC23BC84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71921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5D978-E0E2-5129-3B2C-00F642E08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C9136D-B019-A3E0-08A9-94FBF03545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7E8443-5F4C-1D9E-7A7F-0A423A80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4B6B0EA-40B0-FF90-C02D-5E051AB55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91903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30CC8-F9B8-18E0-2642-7E207157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0E087B-7D1B-C395-CA2D-009A68B95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C77745-D4E6-6F09-EB25-6377322B3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BD07E05-B604-E734-5D7F-0A7990D03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830962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3713-BEB3-EB5F-B29B-7F3D303D2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6BDF38-586D-DFCB-2569-B2CDA605A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1400C3-0C35-893B-EC4A-4ABB4196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2274CE-C191-9167-189F-CB45F11C5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693831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3DC37-533B-9EE9-95E2-C9EAC4F75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25E8B5-EFD5-B5A3-937E-320FD1786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BA9B39-8EF5-976A-BCEF-6710D024E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AFD2C9-0225-EE32-DC19-BD6AA88C71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3000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8F8C-97F1-7AED-8A57-472645AED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0B117-7F59-6C44-85A5-7966D2C65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BD7748-5A2B-DC59-9DF6-042270550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BCFF8C-8A47-9811-CA0E-4FA438712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5024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E513E-2B81-48E5-AD93-5FBA5C2E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002FD15-ED4B-8A4B-77A0-07E09B201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F03CCAE-E479-E18B-C26A-62DE05508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Inicialização: i=10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Condição de parada: i&gt;=10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Passo de decremento: i--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FBB05D6-9F41-4702-E3E9-53063DD918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52263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5E35E-2986-D614-CECC-AF822E07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1350AA-D13B-DF5F-6E8C-F1C21DE65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92FFAD-E062-FAD1-AC55-8018975DC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D68EF2-B252-E46A-BCC6-E13C77019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1194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1 - Introdução à </a:t>
            </a:r>
            <a:r>
              <a:rPr lang="pt-BR" dirty="0" err="1"/>
              <a:t>lp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Conceitos Introdutórios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B58FF2C-8CDD-0E09-7F6D-242B2C7C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720" y="2172494"/>
            <a:ext cx="6019558" cy="3657600"/>
          </a:xfrm>
        </p:spPr>
        <p:txBody>
          <a:bodyPr/>
          <a:lstStyle/>
          <a:p>
            <a:r>
              <a:rPr lang="pt-BR" sz="2400" dirty="0"/>
              <a:t>A linguagem de programação é o meio formal de comunicação com o computador</a:t>
            </a:r>
          </a:p>
          <a:p>
            <a:endParaRPr lang="pt-BR" sz="2400" dirty="0"/>
          </a:p>
          <a:p>
            <a:r>
              <a:rPr lang="pt-BR" sz="2400" dirty="0"/>
              <a:t>As diferentes linguagens buscam atender à alguma necessidade em específico</a:t>
            </a:r>
          </a:p>
          <a:p>
            <a:endParaRPr lang="pt-BR" sz="2400" dirty="0"/>
          </a:p>
          <a:p>
            <a:r>
              <a:rPr lang="pt-BR" sz="2400" dirty="0"/>
              <a:t>Cada uma possui um conjunto formal de regras sintáticas e semânticas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Nenhuma descrição de foto disponível.">
            <a:extLst>
              <a:ext uri="{FF2B5EF4-FFF2-40B4-BE49-F238E27FC236}">
                <a16:creationId xmlns:a16="http://schemas.microsoft.com/office/drawing/2014/main" id="{767076CD-9084-F479-B0B8-384F0E2B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7" b="4352"/>
          <a:stretch>
            <a:fillRect/>
          </a:stretch>
        </p:blipFill>
        <p:spPr bwMode="auto">
          <a:xfrm>
            <a:off x="6667378" y="2172494"/>
            <a:ext cx="51435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17AB-793B-33ED-F53D-DFF1D00E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5381A2-21D3-988B-6C4F-1A5A0E3E479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FE61A-0CEC-FC31-6387-C133DC18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LP X Algoritmo X </a:t>
            </a:r>
            <a:r>
              <a:rPr lang="pt-BR" dirty="0" err="1">
                <a:solidFill>
                  <a:schemeClr val="bg1"/>
                </a:solidFill>
              </a:rPr>
              <a:t>Pseudo-código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0C2298D-D8FC-A002-D482-14EA1BD148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3F71DD-09FA-DB12-8FA3-33D5EC43D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952" y="1987298"/>
            <a:ext cx="6413216" cy="4494524"/>
          </a:xfrm>
        </p:spPr>
        <p:txBody>
          <a:bodyPr>
            <a:normAutofit/>
          </a:bodyPr>
          <a:lstStyle/>
          <a:p>
            <a:r>
              <a:rPr lang="pt-BR" sz="2400" b="1" dirty="0"/>
              <a:t>O </a:t>
            </a:r>
            <a:r>
              <a:rPr lang="pt-BR" sz="2400" b="1" dirty="0" err="1"/>
              <a:t>pseudo-código</a:t>
            </a:r>
            <a:r>
              <a:rPr lang="pt-BR" sz="2400" b="1" dirty="0"/>
              <a:t> </a:t>
            </a:r>
            <a:r>
              <a:rPr lang="pt-BR" sz="2400" dirty="0"/>
              <a:t>é a forma simples e direta de escrever a lógica de um programa usando a língua nativa</a:t>
            </a:r>
          </a:p>
          <a:p>
            <a:endParaRPr lang="pt-BR" sz="2400" dirty="0"/>
          </a:p>
          <a:p>
            <a:r>
              <a:rPr lang="pt-BR" sz="2400" b="1" dirty="0"/>
              <a:t>O algoritmo</a:t>
            </a:r>
            <a:r>
              <a:rPr lang="pt-BR" sz="2400" dirty="0"/>
              <a:t> é uma sequência de instruções ou regras bem definidas para realizar uma tarefa.</a:t>
            </a:r>
          </a:p>
          <a:p>
            <a:endParaRPr lang="pt-BR" sz="2400" dirty="0"/>
          </a:p>
          <a:p>
            <a:r>
              <a:rPr lang="pt-BR" sz="2400" b="1" dirty="0"/>
              <a:t>A LP </a:t>
            </a:r>
            <a:r>
              <a:rPr lang="pt-BR" sz="2400" dirty="0"/>
              <a:t>é um conjunto de regras sintáticas e semânticas para comunicação com a máquina.</a:t>
            </a:r>
          </a:p>
          <a:p>
            <a:endParaRPr lang="pt-BR" dirty="0"/>
          </a:p>
        </p:txBody>
      </p:sp>
      <p:pic>
        <p:nvPicPr>
          <p:cNvPr id="3074" name="Picture 2" descr="Sobre pseudocódigo, leia as alternativas e assinale a opção correta: I - O  pseudocódigo é uma linguagem - brainly.com.br">
            <a:extLst>
              <a:ext uri="{FF2B5EF4-FFF2-40B4-BE49-F238E27FC236}">
                <a16:creationId xmlns:a16="http://schemas.microsoft.com/office/drawing/2014/main" id="{519457E3-8DE1-752D-1393-96E1E37086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" r="2476" b="4286"/>
          <a:stretch>
            <a:fillRect/>
          </a:stretch>
        </p:blipFill>
        <p:spPr bwMode="auto">
          <a:xfrm>
            <a:off x="6690168" y="1896499"/>
            <a:ext cx="5429470" cy="403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721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E4F4-2171-A611-20A4-E0BEBA0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E3F869F-C534-FD4D-1148-C594EFCBA6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B1BBAC-EA12-CF1A-4608-331438103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Níveis de Linguagem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A2E345-1650-BAC8-2E96-616F1C30B0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7B0C34-EF3C-0168-9FC4-0838347B5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6019558" cy="4351338"/>
          </a:xfrm>
        </p:spPr>
        <p:txBody>
          <a:bodyPr/>
          <a:lstStyle/>
          <a:p>
            <a:r>
              <a:rPr lang="pt-BR" sz="2400" dirty="0"/>
              <a:t>As linguagens são </a:t>
            </a:r>
            <a:r>
              <a:rPr lang="pt-BR" sz="2400"/>
              <a:t>subdivididas em 3 </a:t>
            </a:r>
            <a:r>
              <a:rPr lang="pt-BR" sz="2400" dirty="0"/>
              <a:t>categorias distintas: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Máquina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Assembly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Alto Nível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2050" name="Picture 2" descr="Linguagens de Programação">
            <a:extLst>
              <a:ext uri="{FF2B5EF4-FFF2-40B4-BE49-F238E27FC236}">
                <a16:creationId xmlns:a16="http://schemas.microsoft.com/office/drawing/2014/main" id="{54F43681-4BA0-DF66-CBC8-A7170093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425" y="3429000"/>
            <a:ext cx="66770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87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BD736-CEF0-B6C0-28BC-774DA5F6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F9DE4-EB99-5874-7C93-C50756B60B5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CB663B-29B6-EF3E-539D-7287CF4F6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de Máquina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965B379-0BB9-05F4-129D-B28D07BD1A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00FDEC-E1C9-8037-38E3-62ED4ADC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377" y="1640958"/>
            <a:ext cx="5527874" cy="4887691"/>
          </a:xfrm>
        </p:spPr>
        <p:txBody>
          <a:bodyPr>
            <a:normAutofit/>
          </a:bodyPr>
          <a:lstStyle/>
          <a:p>
            <a:r>
              <a:rPr lang="pt-BR" sz="2400" dirty="0"/>
              <a:t>Forma básica de instrução compreendida pelo computador</a:t>
            </a: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r>
              <a:rPr lang="pt-BR" sz="2400" dirty="0"/>
              <a:t>Caracterizada por ser uma sequências de 0 e 1, ou de valores Hexadecimais </a:t>
            </a:r>
          </a:p>
          <a:p>
            <a:endParaRPr lang="pt-BR" sz="2400" dirty="0"/>
          </a:p>
          <a:p>
            <a:r>
              <a:rPr lang="pt-BR" sz="2400" dirty="0"/>
              <a:t>Cada arquitetura compreende sua própria linguagem de máquina</a:t>
            </a:r>
          </a:p>
          <a:p>
            <a:endParaRPr lang="pt-BR" sz="2400" dirty="0"/>
          </a:p>
          <a:p>
            <a:r>
              <a:rPr lang="pt-BR" sz="2400" dirty="0"/>
              <a:t>Opera de acordo com o projeto de Hardware do processador</a:t>
            </a:r>
            <a:endParaRPr lang="pt-BR" dirty="0"/>
          </a:p>
          <a:p>
            <a:endParaRPr lang="pt-BR" sz="2400" dirty="0"/>
          </a:p>
        </p:txBody>
      </p:sp>
      <p:pic>
        <p:nvPicPr>
          <p:cNvPr id="4098" name="Picture 2" descr="Importância da linguem de Programação de Baixo Nível">
            <a:extLst>
              <a:ext uri="{FF2B5EF4-FFF2-40B4-BE49-F238E27FC236}">
                <a16:creationId xmlns:a16="http://schemas.microsoft.com/office/drawing/2014/main" id="{36D343F2-A8DE-A76F-F763-075091475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28" r="1050" b="68373"/>
          <a:stretch>
            <a:fillRect/>
          </a:stretch>
        </p:blipFill>
        <p:spPr bwMode="auto">
          <a:xfrm>
            <a:off x="7909790" y="1814843"/>
            <a:ext cx="3067291" cy="12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rganization of Computer Systems: ISA, Machine Language, Number Systems">
            <a:extLst>
              <a:ext uri="{FF2B5EF4-FFF2-40B4-BE49-F238E27FC236}">
                <a16:creationId xmlns:a16="http://schemas.microsoft.com/office/drawing/2014/main" id="{103232D8-49E8-B066-4C6A-8F3AF74E3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863" y="3339436"/>
            <a:ext cx="496252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B9E8019-D6C5-3D11-235D-94FE651B5926}"/>
              </a:ext>
            </a:extLst>
          </p:cNvPr>
          <p:cNvSpPr txBox="1"/>
          <p:nvPr/>
        </p:nvSpPr>
        <p:spPr>
          <a:xfrm>
            <a:off x="7498054" y="6343983"/>
            <a:ext cx="346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Instruction</a:t>
            </a:r>
            <a:r>
              <a:rPr lang="pt-BR" dirty="0"/>
              <a:t> Set </a:t>
            </a:r>
            <a:r>
              <a:rPr lang="pt-BR" dirty="0" err="1"/>
              <a:t>Architecture</a:t>
            </a:r>
            <a:r>
              <a:rPr lang="pt-BR" dirty="0"/>
              <a:t> – MIPS</a:t>
            </a:r>
          </a:p>
        </p:txBody>
      </p:sp>
    </p:spTree>
    <p:extLst>
      <p:ext uri="{BB962C8B-B14F-4D97-AF65-F5344CB8AC3E}">
        <p14:creationId xmlns:p14="http://schemas.microsoft.com/office/powerpoint/2010/main" val="4102101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C57C-4AC3-DF5A-D004-04DB875A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3FC9A9B-8E88-FEA5-7D07-53A05DB749B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226DD1-2C9F-E5DD-5255-F8955046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Assembly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CD5F2B-3F4B-1170-1A3A-4C958128A9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E9CDBE0-1F00-547B-C4DA-F12EE272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1" y="1640492"/>
            <a:ext cx="7338349" cy="4413067"/>
          </a:xfrm>
        </p:spPr>
        <p:txBody>
          <a:bodyPr>
            <a:normAutofit/>
          </a:bodyPr>
          <a:lstStyle/>
          <a:p>
            <a:r>
              <a:rPr lang="pt-BR" sz="2400" dirty="0"/>
              <a:t>Uso de abreviações textuais que representam instruções de código de máquina – Mnemônicos.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Dependem de programas tradutores (</a:t>
            </a:r>
            <a:r>
              <a:rPr lang="pt-BR" sz="2400" dirty="0" err="1"/>
              <a:t>assemblers</a:t>
            </a:r>
            <a:r>
              <a:rPr lang="pt-BR" sz="2400" dirty="0"/>
              <a:t>) para converter o código para linguagem de máquina.</a:t>
            </a:r>
          </a:p>
          <a:p>
            <a:endParaRPr lang="pt-BR" sz="2400" dirty="0"/>
          </a:p>
          <a:p>
            <a:r>
              <a:rPr lang="pt-BR" sz="2400" dirty="0"/>
              <a:t>Seu uso ainda se justifica em casos onde o desempenho é critico ou sistemas embarcados</a:t>
            </a:r>
          </a:p>
          <a:p>
            <a:endParaRPr lang="pt-BR" sz="2400" dirty="0"/>
          </a:p>
          <a:p>
            <a:r>
              <a:rPr lang="pt-BR" sz="2400" dirty="0"/>
              <a:t>A conversão de suas instruções é  ‘1 pra 1’</a:t>
            </a:r>
            <a:endParaRPr lang="pt-BR" dirty="0"/>
          </a:p>
          <a:p>
            <a:endParaRPr lang="pt-BR" sz="2400" dirty="0"/>
          </a:p>
        </p:txBody>
      </p:sp>
      <p:pic>
        <p:nvPicPr>
          <p:cNvPr id="5122" name="Picture 2" descr="Importância da linguem de Programação de Baixo Nível">
            <a:extLst>
              <a:ext uri="{FF2B5EF4-FFF2-40B4-BE49-F238E27FC236}">
                <a16:creationId xmlns:a16="http://schemas.microsoft.com/office/drawing/2014/main" id="{EADFA9B8-4F3A-682A-1578-30B5339E8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0" r="58769" b="57292"/>
          <a:stretch>
            <a:fillRect/>
          </a:stretch>
        </p:blipFill>
        <p:spPr bwMode="auto">
          <a:xfrm>
            <a:off x="8588188" y="1842207"/>
            <a:ext cx="2990126" cy="243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F9DFF1-4300-C177-C5B9-0FE8BD01C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2"/>
          <a:stretch>
            <a:fillRect/>
          </a:stretch>
        </p:blipFill>
        <p:spPr>
          <a:xfrm>
            <a:off x="7967428" y="4281211"/>
            <a:ext cx="4224572" cy="177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1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F2CA-646F-A51B-B8DE-0DFCB330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1DE212-0D89-D41F-7CA0-11865FFE79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709C0-24AC-5BB1-9932-E41B1C3C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Linguagens de Alto Nível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314CDC7-5B3B-0DFD-59D5-5142BB8A85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A0ED64-1BC3-1627-470A-DB92ADD5D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7765080" cy="4413067"/>
          </a:xfrm>
        </p:spPr>
        <p:txBody>
          <a:bodyPr>
            <a:normAutofit/>
          </a:bodyPr>
          <a:lstStyle/>
          <a:p>
            <a:r>
              <a:rPr lang="pt-BR" sz="2400" dirty="0"/>
              <a:t>Possui uma leitura mais próxima da linguagem humana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O próprio computador faz o trabalho duro de traduzir o código para a máquina (Compiladores ou Interpretadores).</a:t>
            </a:r>
          </a:p>
          <a:p>
            <a:endParaRPr lang="pt-BR" sz="2400" dirty="0"/>
          </a:p>
          <a:p>
            <a:r>
              <a:rPr lang="pt-BR" sz="2400" dirty="0"/>
              <a:t>Introduz a portabilidade, podendo ser executado em diferentes arquiteturas. </a:t>
            </a:r>
          </a:p>
          <a:p>
            <a:endParaRPr lang="pt-BR" sz="2400" dirty="0"/>
          </a:p>
        </p:txBody>
      </p:sp>
      <p:pic>
        <p:nvPicPr>
          <p:cNvPr id="6146" name="Picture 2" descr="PPT - MIPS Assembly Language PowerPoint Presentation, free download -  ID:144403">
            <a:extLst>
              <a:ext uri="{FF2B5EF4-FFF2-40B4-BE49-F238E27FC236}">
                <a16:creationId xmlns:a16="http://schemas.microsoft.com/office/drawing/2014/main" id="{C5D593F8-7C4C-0C3A-F2E3-D18ACE269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3" t="29874" r="10702" b="10042"/>
          <a:stretch>
            <a:fillRect/>
          </a:stretch>
        </p:blipFill>
        <p:spPr bwMode="auto">
          <a:xfrm>
            <a:off x="7307483" y="4251469"/>
            <a:ext cx="4884517" cy="2606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B46C71D-772A-A08A-3F6B-202564571E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65" t="20112" r="40751" b="50000"/>
          <a:stretch>
            <a:fillRect/>
          </a:stretch>
        </p:blipFill>
        <p:spPr>
          <a:xfrm>
            <a:off x="2406584" y="5381764"/>
            <a:ext cx="3556860" cy="14762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CC8EC65-FBA8-A4F1-283D-3A1379045304}"/>
              </a:ext>
            </a:extLst>
          </p:cNvPr>
          <p:cNvSpPr txBox="1"/>
          <p:nvPr/>
        </p:nvSpPr>
        <p:spPr>
          <a:xfrm>
            <a:off x="2827302" y="5012432"/>
            <a:ext cx="2715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Linguagem C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0F9228-07B1-731A-9990-D3A20EC7A3C4}"/>
              </a:ext>
            </a:extLst>
          </p:cNvPr>
          <p:cNvSpPr txBox="1"/>
          <p:nvPr/>
        </p:nvSpPr>
        <p:spPr>
          <a:xfrm>
            <a:off x="8392029" y="3731768"/>
            <a:ext cx="294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Assembly MIPS</a:t>
            </a:r>
          </a:p>
        </p:txBody>
      </p:sp>
    </p:spTree>
    <p:extLst>
      <p:ext uri="{BB962C8B-B14F-4D97-AF65-F5344CB8AC3E}">
        <p14:creationId xmlns:p14="http://schemas.microsoft.com/office/powerpoint/2010/main" val="3188463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1A393-562A-D38D-3A66-DFE4E036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8190D0D-CA3E-D15D-4D00-A1096CC5E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B6E970-839C-6C5D-119D-0592249D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22A0E1D-F25B-D357-14BD-AC24AF1472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9D0839-B4EA-C211-5150-2BC91CB53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8585494" cy="4711540"/>
          </a:xfrm>
        </p:spPr>
        <p:txBody>
          <a:bodyPr>
            <a:normAutofit/>
          </a:bodyPr>
          <a:lstStyle/>
          <a:p>
            <a:r>
              <a:rPr lang="pt-BR" sz="2400" b="1" dirty="0"/>
              <a:t>Compilador 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traduz todo o código-fonte para linguagem de máquina antes da execução.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resultado da compilação é um arquivo executável independente. (</a:t>
            </a:r>
            <a:r>
              <a:rPr lang="pt-BR" sz="2000" dirty="0"/>
              <a:t>Dispensa a necessidade do compilador original ou do código-fonte.</a:t>
            </a:r>
            <a:r>
              <a:rPr lang="pt-BR" sz="2200" dirty="0"/>
              <a:t>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 tradução prévia da compilação permite uma execução mais otimizada, mas a compilação em si pode ser demorado.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Exemplo: C, C++, Swift, Delphi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6D5AA5D-DDBE-45EA-302E-9A838F85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375" y="1468337"/>
            <a:ext cx="1530401" cy="521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85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C98AB-9FE9-6F23-E8DD-5918288B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60625C-76BF-117E-9D77-44541679F3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6E38D8-A826-6E2A-88B7-58CE6D56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1EC516-EE04-2521-BF07-71312E65BF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71189A5-4D8C-810B-1954-668AFE0B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488" y="1439002"/>
            <a:ext cx="8017437" cy="5289176"/>
          </a:xfrm>
        </p:spPr>
        <p:txBody>
          <a:bodyPr>
            <a:normAutofit/>
          </a:bodyPr>
          <a:lstStyle/>
          <a:p>
            <a:r>
              <a:rPr lang="pt-BR" sz="2400" b="1" dirty="0"/>
              <a:t>Interpretador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Lê o código-fonte linha a linha e o executa imediatamente, utilizando a API do S.O para comunicar com o hardware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Permite um desenvolvimento mais interativo e facilita o processo de detecção de erros.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Apresenta maior portabilidade em sistemas operacionais (Requisitando apenas a instalação do interpretador)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 tradução e execução simultânea (em tempo de execução) degrada o desempenho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Exemplos: JS, Ruby, PHP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9D98C0-138A-AB5B-2A74-6D120957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91" r="6959"/>
          <a:stretch>
            <a:fillRect/>
          </a:stretch>
        </p:blipFill>
        <p:spPr>
          <a:xfrm>
            <a:off x="8319911" y="2626692"/>
            <a:ext cx="3657601" cy="302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39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7AC-5D75-90DD-6E28-D5F1BDDF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69B5857-8044-CD22-9F41-F40D6B63243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EE325-983A-9EEC-F3DD-F8CDD539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Paradigmas de Programação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923519-D03D-8947-37A2-4092664C4E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0955A0-658B-3903-F6CC-53E115C3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8" y="1817511"/>
            <a:ext cx="10443386" cy="3764537"/>
          </a:xfrm>
        </p:spPr>
        <p:txBody>
          <a:bodyPr>
            <a:normAutofit/>
          </a:bodyPr>
          <a:lstStyle/>
          <a:p>
            <a:r>
              <a:rPr lang="pt-BR" sz="2400" dirty="0"/>
              <a:t>Refere-se as formas de pensar e organizar a escrita de programas</a:t>
            </a:r>
            <a:endParaRPr lang="pt-BR" sz="2200" dirty="0"/>
          </a:p>
          <a:p>
            <a:r>
              <a:rPr lang="pt-BR" sz="2400" dirty="0"/>
              <a:t>Linguagens modernas costumam dar suporte a mais de um paradigma.</a:t>
            </a:r>
          </a:p>
          <a:p>
            <a:r>
              <a:rPr lang="pt-BR" sz="2400" dirty="0"/>
              <a:t>O paradigma de uma linguagem não é determinado pelo que </a:t>
            </a:r>
            <a:r>
              <a:rPr lang="pt-BR" sz="2400" b="1" dirty="0"/>
              <a:t>é possível fazer</a:t>
            </a:r>
            <a:r>
              <a:rPr lang="pt-BR" sz="2400" dirty="0"/>
              <a:t>, mas pelo que a linguagem </a:t>
            </a:r>
            <a:r>
              <a:rPr lang="pt-BR" sz="2400" b="1" dirty="0"/>
              <a:t>incentiva e oferece como modelo principal</a:t>
            </a:r>
            <a:r>
              <a:rPr lang="pt-BR" sz="2400" dirty="0"/>
              <a:t>.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2050" name="Picture 2" descr="template">
            <a:extLst>
              <a:ext uri="{FF2B5EF4-FFF2-40B4-BE49-F238E27FC236}">
                <a16:creationId xmlns:a16="http://schemas.microsoft.com/office/drawing/2014/main" id="{3F7081EE-C977-259E-2B4B-F5F29A58B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525" y="3751662"/>
            <a:ext cx="7470150" cy="31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42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0CB82-723B-0C3B-D314-76525C0E6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7F443-9C6C-C3AD-A4C9-76DC998E7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2 – LINGUAGEM C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1403F2-BA06-FE1B-0D3F-27A5A4B1F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C53B3E7-570B-AE27-7833-B17E767B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278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447D0-E7CB-ECFD-11B1-5794B104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1A28AC-DAAB-6C16-0CDC-88764D50CE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CF4B14-0EDE-6F69-47A5-0EE7B70E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638FB8-5E7E-526A-56CD-F3D8A28800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C1732B-1561-6775-6787-B17743F1D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384" y="1529176"/>
            <a:ext cx="8147045" cy="5217508"/>
          </a:xfrm>
        </p:spPr>
        <p:txBody>
          <a:bodyPr>
            <a:normAutofit/>
          </a:bodyPr>
          <a:lstStyle/>
          <a:p>
            <a:r>
              <a:rPr lang="pt-BR" sz="2400" dirty="0"/>
              <a:t>Filosofia da Linguagem C: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Reflete a filosofia do sistema Unix, tendo como pilares a modularidade, a composição de módulos simples e clareza de código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módulos de um projeto devem ser implementados de maneira independente dos demais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dado controle total ao usuário quanto à manipulação de memória e gerenciamento de recursos (inclusive recursos de segurança)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Menor abstração quanto à manipulação de memória e o controle direto de hardware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sp>
        <p:nvSpPr>
          <p:cNvPr id="3" name="Chave Direita 2">
            <a:extLst>
              <a:ext uri="{FF2B5EF4-FFF2-40B4-BE49-F238E27FC236}">
                <a16:creationId xmlns:a16="http://schemas.microsoft.com/office/drawing/2014/main" id="{4F885CEA-2EDF-F394-AF01-4C1EAEFC0CA0}"/>
              </a:ext>
            </a:extLst>
          </p:cNvPr>
          <p:cNvSpPr/>
          <p:nvPr/>
        </p:nvSpPr>
        <p:spPr>
          <a:xfrm>
            <a:off x="8183074" y="5017624"/>
            <a:ext cx="810228" cy="114589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40321C7-2521-5667-5968-A1F1EA6CE547}"/>
              </a:ext>
            </a:extLst>
          </p:cNvPr>
          <p:cNvSpPr txBox="1"/>
          <p:nvPr/>
        </p:nvSpPr>
        <p:spPr>
          <a:xfrm>
            <a:off x="9120595" y="5267405"/>
            <a:ext cx="2112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Consequente ganho </a:t>
            </a:r>
          </a:p>
          <a:p>
            <a:r>
              <a:rPr lang="pt-BR" dirty="0"/>
              <a:t>de desempenho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290CDC7-2759-A493-8D1E-2A4E7ADA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5746" y="1640492"/>
            <a:ext cx="2100362" cy="23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89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A483-0EB1-4BA4-064F-DB75EE30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77832A-09C2-3D0C-4D78-785FBE318CA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7FCB2-CF17-3E9A-E7A3-5039A49F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Ciclo de Desenvolvimento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502EC9-884F-90B0-7A7C-6A10FF7BF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30C4C2D-1A34-F14A-6A6B-35807246C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42" y="2057180"/>
            <a:ext cx="5994154" cy="4413067"/>
          </a:xfrm>
        </p:spPr>
        <p:txBody>
          <a:bodyPr>
            <a:normAutofit/>
          </a:bodyPr>
          <a:lstStyle/>
          <a:p>
            <a:r>
              <a:rPr lang="pt-BR" sz="2400" dirty="0"/>
              <a:t>O desenvolvimento de uma aplicação engloba quatro fases distintas: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Edição do código fonte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Compilação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i="1" dirty="0" err="1"/>
              <a:t>Linkagem</a:t>
            </a:r>
            <a:r>
              <a:rPr lang="pt-BR" sz="2200" dirty="0"/>
              <a:t> de Objetos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Execução do Programa 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EBD0-0B15-E541-A879-F5006DFB7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223" y="1568824"/>
            <a:ext cx="5567553" cy="528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26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691F-7747-3F69-241C-252A7B03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495F23-8079-4345-C563-CBA4EE28A5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54047F-7167-87E5-CD10-537C1CA9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Pré</a:t>
            </a:r>
            <a:r>
              <a:rPr lang="pt-BR" dirty="0">
                <a:solidFill>
                  <a:schemeClr val="bg1"/>
                </a:solidFill>
              </a:rPr>
              <a:t>-Processador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99A796F-5FF3-5CDB-BF0F-F846E7C23E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1C4F10-6EF3-F109-90A5-7490536A0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608" y="1501596"/>
            <a:ext cx="7465789" cy="5356404"/>
          </a:xfrm>
        </p:spPr>
        <p:txBody>
          <a:bodyPr>
            <a:normAutofit/>
          </a:bodyPr>
          <a:lstStyle/>
          <a:p>
            <a:r>
              <a:rPr lang="pt-BR" sz="2400" dirty="0"/>
              <a:t>Não executa nenhuma lógica da linguagem C em si, apenas manipula linhas de texto.</a:t>
            </a:r>
          </a:p>
          <a:p>
            <a:r>
              <a:rPr lang="pt-BR" sz="2400" dirty="0"/>
              <a:t>Ele executa diretivas que começam com </a:t>
            </a:r>
            <a:r>
              <a:rPr lang="pt-BR" dirty="0"/>
              <a:t>#</a:t>
            </a:r>
            <a:r>
              <a:rPr lang="pt-BR" sz="2400" dirty="0"/>
              <a:t>.</a:t>
            </a:r>
          </a:p>
          <a:p>
            <a:pPr marL="0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#include:</a:t>
            </a:r>
            <a:r>
              <a:rPr lang="pt-BR" sz="2200" dirty="0"/>
              <a:t> Referencia o conteúdo de uma biblioteca ou arquivos </a:t>
            </a:r>
            <a:r>
              <a:rPr lang="pt-BR" sz="2200" dirty="0" err="1"/>
              <a:t>headers</a:t>
            </a:r>
            <a:r>
              <a:rPr lang="pt-BR" sz="2200" dirty="0"/>
              <a:t> diretamente no código.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#define: </a:t>
            </a:r>
            <a:r>
              <a:rPr lang="pt-BR" sz="2200" dirty="0"/>
              <a:t>Troca uma palavra por um valor ou pedaço de texto em todo o código (como criar constantes).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#ifdef / #ifndef / #if: </a:t>
            </a:r>
            <a:r>
              <a:rPr lang="pt-BR" sz="2200" dirty="0"/>
              <a:t>Controla se um trecho do código deve ou não ser compilado com base em certas condições.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2D4426D-A677-F92A-F0CB-9620612AD2C0}"/>
              </a:ext>
            </a:extLst>
          </p:cNvPr>
          <p:cNvGrpSpPr/>
          <p:nvPr/>
        </p:nvGrpSpPr>
        <p:grpSpPr>
          <a:xfrm>
            <a:off x="7857397" y="1826340"/>
            <a:ext cx="4334603" cy="4481137"/>
            <a:chOff x="7857397" y="1826340"/>
            <a:chExt cx="4334603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FCA36D8-B966-D57F-25D1-CE9B5AA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5BC630C-654F-581A-D83B-6404D734046D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FF9C38E-431C-7A2E-03E0-7F336DC241C7}"/>
                </a:ext>
              </a:extLst>
            </p:cNvPr>
            <p:cNvSpPr/>
            <p:nvPr/>
          </p:nvSpPr>
          <p:spPr>
            <a:xfrm>
              <a:off x="8816622" y="2686756"/>
              <a:ext cx="3375378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567871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A6C4-51DD-D63C-825B-015D388A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312316B-0D8B-B72E-0206-F45F0856D61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CA22B9-DCB4-F57E-CEDD-BCF16F6FF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75A5B7-FCB5-EBE2-9632-480EE15C5D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52281-2C6C-6073-343F-037D7D62D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compilador aplica 3 etapas de análise ao código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Análise </a:t>
            </a:r>
            <a:r>
              <a:rPr lang="pt-BR" sz="2200" dirty="0" err="1"/>
              <a:t>Lexica</a:t>
            </a:r>
            <a:r>
              <a:rPr lang="pt-BR" sz="2200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Lê o código-fonte caractere por caractere, gerando </a:t>
            </a:r>
            <a:r>
              <a:rPr lang="pt-BR" sz="2200" i="1" dirty="0"/>
              <a:t>tokens</a:t>
            </a:r>
            <a:r>
              <a:rPr lang="pt-BR" sz="2200" dirty="0"/>
              <a:t> (palavras-chave, identificadores, números e símbolos).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2200" dirty="0"/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Sintática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Organiza os elementos em uma estrutura em árvore com base nas regras gramaticais da linguagem C.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Semântica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Verifica o significado do código estruturado na árvore.</a:t>
            </a:r>
          </a:p>
          <a:p>
            <a:pPr marL="457200" lvl="1" indent="0">
              <a:buNone/>
            </a:pPr>
            <a:endParaRPr lang="pt-BR" sz="2000" dirty="0"/>
          </a:p>
          <a:p>
            <a:r>
              <a:rPr lang="pt-BR" sz="2400" dirty="0"/>
              <a:t>Ao final, transforma o código C em Assembly.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3BC98DC-6014-E26C-248E-4C1487A3DBA0}"/>
              </a:ext>
            </a:extLst>
          </p:cNvPr>
          <p:cNvGrpSpPr/>
          <p:nvPr/>
        </p:nvGrpSpPr>
        <p:grpSpPr>
          <a:xfrm>
            <a:off x="8037689" y="1873956"/>
            <a:ext cx="4080586" cy="4433521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7C27E5C-1E2C-DABC-FB5D-376A31C47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E3B11935-4940-8135-6C08-53075B429380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194846A-7FBC-0117-48E2-04F9A3585474}"/>
                </a:ext>
              </a:extLst>
            </p:cNvPr>
            <p:cNvSpPr/>
            <p:nvPr/>
          </p:nvSpPr>
          <p:spPr>
            <a:xfrm>
              <a:off x="9426221" y="3339934"/>
              <a:ext cx="197555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820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F4A4-69B4-EA4C-9E48-3BA823DC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CE5B28-DC28-8595-1E2C-940A68F68C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2AA27B-F7FE-2BB6-D402-20451709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Montagem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61AF01-82D7-2F5F-93A3-7F5F36E94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E4BB6F0-773D-3CD3-827B-502B59A9F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Converte o código Assembly gerado para o código binário</a:t>
            </a:r>
          </a:p>
          <a:p>
            <a:r>
              <a:rPr lang="pt-BR" sz="2400" dirty="0"/>
              <a:t>Gera o chamado ‘Arquivo Objeto (.o)’</a:t>
            </a:r>
          </a:p>
          <a:p>
            <a:r>
              <a:rPr lang="pt-BR" sz="2400" dirty="0"/>
              <a:t>Ele já contém instruções de máquina, mas ainda não é executável.</a:t>
            </a:r>
          </a:p>
          <a:p>
            <a:endParaRPr lang="pt-BR" sz="2400" dirty="0"/>
          </a:p>
          <a:p>
            <a:r>
              <a:rPr lang="pt-BR" sz="2400" dirty="0"/>
              <a:t>Estrutura do arquivo objeto: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510206D-6CD6-01F5-95B8-FA55FB11FA75}"/>
              </a:ext>
            </a:extLst>
          </p:cNvPr>
          <p:cNvGrpSpPr/>
          <p:nvPr/>
        </p:nvGrpSpPr>
        <p:grpSpPr>
          <a:xfrm>
            <a:off x="7846108" y="1865765"/>
            <a:ext cx="4260878" cy="4481137"/>
            <a:chOff x="7846108" y="1865765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222FB77B-4038-1AFA-F3CF-4D79E4AB0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46108" y="1865765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D401DBDA-4E98-3A03-3DAC-2D69AF7CA096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E7EBA49-F354-1830-6E8E-2643BEC23BC2}"/>
                </a:ext>
              </a:extLst>
            </p:cNvPr>
            <p:cNvSpPr/>
            <p:nvPr/>
          </p:nvSpPr>
          <p:spPr>
            <a:xfrm>
              <a:off x="9505244" y="4106334"/>
              <a:ext cx="1941689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7E65DD6-F7E1-75A0-C180-79BA22654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688538"/>
              </p:ext>
            </p:extLst>
          </p:nvPr>
        </p:nvGraphicFramePr>
        <p:xfrm>
          <a:off x="982133" y="4233254"/>
          <a:ext cx="2133600" cy="22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795610"/>
                    </a:ext>
                  </a:extLst>
                </a:gridCol>
              </a:tblGrid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 Binário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1134584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Variáveis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936468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Símbolos/Funções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790879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Referências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5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62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1A0E-682E-D5AA-2009-A143D81A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5283831-4E19-7C22-A7F3-EBFDAA46E2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2FA62D-8A7D-E0DE-37FE-02C0547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DFF28EE-7216-1735-724B-70C60E7BBF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A661621-9348-0B14-8EF3-A112CB6C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</a:t>
            </a:r>
            <a:r>
              <a:rPr lang="pt-BR" sz="2400" i="1" dirty="0" err="1"/>
              <a:t>linker</a:t>
            </a:r>
            <a:r>
              <a:rPr lang="pt-BR" sz="2400" dirty="0"/>
              <a:t> recebe os vários arquivos objetos criados</a:t>
            </a:r>
          </a:p>
          <a:p>
            <a:r>
              <a:rPr lang="pt-BR" sz="2400" dirty="0"/>
              <a:t>Procura e conecta as referências no código</a:t>
            </a:r>
          </a:p>
          <a:p>
            <a:r>
              <a:rPr lang="pt-BR" sz="2400" dirty="0"/>
              <a:t>Gera o arquivo executável final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56DD666F-A40B-14AD-C626-FD88E59B0A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F61FA03D-ABCE-9CA0-56CE-40F6C5FF8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D702D28-AB8E-88ED-BEF3-891B112041F2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9981569-4CE3-2677-D452-54BC7402030C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FA5B24-A560-8A52-FB65-F3B08451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2022"/>
            <a:ext cx="4687956" cy="23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52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EB05-87BC-2801-489E-06CD7B6A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590152-0B4E-94C8-24E4-DEA140458F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80D7C3-D81F-565A-FAF8-BC3DA675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r>
              <a:rPr lang="pt-BR" dirty="0">
                <a:solidFill>
                  <a:schemeClr val="bg1"/>
                </a:solidFill>
              </a:rPr>
              <a:t> (Observação)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AB2C41F-A0BD-E83B-E52D-27DA8FCC26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691A9A-EBF2-2E5D-FECE-AD1F7648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Existem dois tipos de </a:t>
            </a:r>
            <a:r>
              <a:rPr lang="pt-BR" sz="2400" i="1" dirty="0" err="1"/>
              <a:t>linkagem</a:t>
            </a:r>
            <a:r>
              <a:rPr lang="pt-BR" sz="2400" i="1" dirty="0"/>
              <a:t>:</a:t>
            </a:r>
          </a:p>
          <a:p>
            <a:endParaRPr lang="pt-BR" sz="2400" dirty="0"/>
          </a:p>
          <a:p>
            <a:r>
              <a:rPr lang="pt-BR" sz="2400" dirty="0" err="1"/>
              <a:t>Linkagem</a:t>
            </a:r>
            <a:r>
              <a:rPr lang="pt-BR" sz="2400" dirty="0"/>
              <a:t> Estática</a:t>
            </a:r>
            <a:endParaRPr lang="pt-BR" sz="2000" dirty="0"/>
          </a:p>
          <a:p>
            <a:pPr lvl="1"/>
            <a:r>
              <a:rPr lang="pt-BR" sz="2200" dirty="0"/>
              <a:t>Todo o código necessário é copiado para o executável.</a:t>
            </a:r>
          </a:p>
          <a:p>
            <a:pPr lvl="1"/>
            <a:r>
              <a:rPr lang="pt-BR" sz="2200" dirty="0"/>
              <a:t>O arquivo executável fica com um tamanho bem maior.</a:t>
            </a:r>
          </a:p>
          <a:p>
            <a:pPr lvl="1"/>
            <a:r>
              <a:rPr lang="pt-BR" sz="2200" dirty="0"/>
              <a:t>Funciona de forma independente.</a:t>
            </a:r>
          </a:p>
          <a:p>
            <a:pPr lvl="1"/>
            <a:endParaRPr lang="pt-BR" sz="2000" dirty="0"/>
          </a:p>
          <a:p>
            <a:r>
              <a:rPr lang="pt-BR" sz="2400" dirty="0" err="1"/>
              <a:t>Linkagem</a:t>
            </a:r>
            <a:r>
              <a:rPr lang="pt-BR" sz="2400" dirty="0"/>
              <a:t> Dinâmica</a:t>
            </a:r>
          </a:p>
          <a:p>
            <a:pPr lvl="1"/>
            <a:r>
              <a:rPr lang="pt-BR" sz="2200" dirty="0"/>
              <a:t>O executável guarda apenas referências ou endereços de arquivos externos</a:t>
            </a:r>
          </a:p>
          <a:p>
            <a:pPr lvl="1"/>
            <a:r>
              <a:rPr lang="pt-BR" sz="2200" dirty="0"/>
              <a:t>O arquivo executável do programa é menor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F1ED11D-CA1E-1E49-4E82-57A8934D59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55AA25F-0192-42D4-C8E8-2D02755B2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61F242B-4E58-F21C-75E2-15CEF71B6AB1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8F375EA-FDBF-7397-7EAF-A651F6DA8635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1820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3B4-6B0D-319A-42F2-E42148BD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A9399F9-6B89-5C05-9A33-444D509469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45B6C-C877-6747-0EC5-242ED167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D29837-3C86-CEC6-2111-147292B32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D7A37-75B3-03C4-CDE7-13742ED3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Todo programa em C, independentemente do tamanho, segue uma estrutura semelhante:</a:t>
            </a:r>
          </a:p>
          <a:p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Diretivas do </a:t>
            </a:r>
            <a:r>
              <a:rPr lang="pt-BR" sz="2200" dirty="0" err="1"/>
              <a:t>pré</a:t>
            </a:r>
            <a:r>
              <a:rPr lang="pt-BR" sz="2200" dirty="0"/>
              <a:t>-processador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e macros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Declarações globais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Protótipos de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das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Função principal (</a:t>
            </a:r>
            <a:r>
              <a:rPr lang="pt-BR" sz="2200" dirty="0" err="1"/>
              <a:t>main</a:t>
            </a:r>
            <a:r>
              <a:rPr lang="pt-BR" sz="2200" dirty="0"/>
              <a:t>) 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48970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323D-379A-7FB4-9047-7C66D35F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4E57A08-EBB2-8EF4-CE50-F26AEEF188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282666-8206-58E1-6FE6-8D99E54A0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8D3BA8A-5531-A18C-4643-532A34451E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Diretivas do </a:t>
                </a:r>
                <a:r>
                  <a:rPr lang="pt-BR" sz="2400" dirty="0" err="1"/>
                  <a:t>pré</a:t>
                </a:r>
                <a:r>
                  <a:rPr lang="pt-BR" sz="2400" dirty="0"/>
                  <a:t>-processador</a:t>
                </a:r>
              </a:p>
              <a:p>
                <a:pPr lvl="1"/>
                <a:endParaRPr lang="pt-BR" sz="1600" dirty="0"/>
              </a:p>
              <a:p>
                <a:pPr lvl="1"/>
                <a:r>
                  <a:rPr lang="pt-BR" sz="2200" dirty="0"/>
                  <a:t>São todas as linhas que começam com #</a:t>
                </a:r>
              </a:p>
              <a:p>
                <a:pPr lvl="1"/>
                <a:r>
                  <a:rPr lang="pt-BR" sz="2200" dirty="0"/>
                  <a:t>Essas linhas não fazem parte da linguagem C propriamente dita. </a:t>
                </a:r>
              </a:p>
              <a:p>
                <a:pPr lvl="1"/>
                <a:r>
                  <a:rPr lang="pt-BR" sz="2200" dirty="0"/>
                  <a:t>Elas são processadas antes da compilação.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Definição de Macros</a:t>
                </a:r>
              </a:p>
              <a:p>
                <a:pPr lvl="1"/>
                <a:endParaRPr lang="pt-BR" sz="2000" dirty="0"/>
              </a:p>
              <a:p>
                <a:pPr lvl="1"/>
                <a:r>
                  <a:rPr lang="pt-BR" sz="2200" dirty="0"/>
                  <a:t>Isso cria constantes simbólicas</a:t>
                </a:r>
              </a:p>
              <a:p>
                <a:pPr lvl="1"/>
                <a:r>
                  <a:rPr lang="pt-BR" sz="2200" dirty="0"/>
                  <a:t>Também podemos criar macros com parâmetros.</a:t>
                </a:r>
              </a:p>
              <a:p>
                <a:pPr lvl="1"/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dirty="0" smtClean="0">
                          <a:latin typeface="Cambria Math" panose="02040503050406030204" pitchFamily="18" charset="0"/>
                        </a:rPr>
                        <m:t>#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𝑑𝑒𝑓𝑖𝑛𝑒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𝑄𝑈𝐴𝐷𝑅𝐴𝐷𝑂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((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∗ 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  <a:blipFill>
                <a:blip r:embed="rId3"/>
                <a:stretch>
                  <a:fillRect l="-1059" t="-1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DF0DB5F-DB2A-C2E3-046F-AC2F890B1B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957B044-68A2-8546-6F73-754629053BFA}"/>
              </a:ext>
            </a:extLst>
          </p:cNvPr>
          <p:cNvSpPr/>
          <p:nvPr/>
        </p:nvSpPr>
        <p:spPr>
          <a:xfrm>
            <a:off x="7530908" y="1501595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2504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E2E0-8DCB-3F2B-DFFE-C402766A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CF461-D03A-76E2-3BA0-6572B1A2BA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59A04E-EF20-7A20-5D73-B2370DD2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915B45-C497-8365-DE36-E6EAA6569F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C78FE2-2547-24D9-8684-2B93123D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0" y="1501596"/>
            <a:ext cx="6784954" cy="535640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Declarações Globais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São elementos declarados fora das funções, validas em todo o escopo do script.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Variáveis globais existem durante toda a execução do programa.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Também podem ser definidas as estruturas e enumerações (Estruturas de Dados).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44188C4-424D-96A8-3F0A-6C73EA7FE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C9B5CF8-2802-0481-0CD0-1135915F7C3C}"/>
              </a:ext>
            </a:extLst>
          </p:cNvPr>
          <p:cNvSpPr/>
          <p:nvPr/>
        </p:nvSpPr>
        <p:spPr>
          <a:xfrm>
            <a:off x="7395442" y="2196389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9184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10EB-D5EB-8070-4858-727203E6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40D8EB-9F09-3E80-5782-6626F39B8E1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38A32D-319B-1C66-58AB-BDFFA1F2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A3ABEDC-B2AC-055F-9981-3FA23C0095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BDE403-84D8-ED00-20DB-466D67B2B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Protótipo de função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É uma descrição prévia da função, para conhecimento do compilador</a:t>
            </a:r>
          </a:p>
          <a:p>
            <a:pPr lvl="1"/>
            <a:r>
              <a:rPr lang="pt-BR" sz="2200" dirty="0"/>
              <a:t>É apenas uma “promessa” de que essa função será encontrada depois.</a:t>
            </a:r>
          </a:p>
          <a:p>
            <a:pPr lvl="2"/>
            <a:endParaRPr lang="pt-BR" dirty="0"/>
          </a:p>
          <a:p>
            <a:r>
              <a:rPr lang="pt-BR" sz="2400" dirty="0"/>
              <a:t>Se definirmos a função inteira </a:t>
            </a:r>
            <a:r>
              <a:rPr lang="pt-BR" sz="2400" b="1" dirty="0"/>
              <a:t>antes</a:t>
            </a:r>
            <a:r>
              <a:rPr lang="pt-BR" sz="2400" dirty="0"/>
              <a:t> de qualquer outra função que a chame (como a </a:t>
            </a:r>
            <a:r>
              <a:rPr lang="pt-BR" sz="2400" dirty="0" err="1"/>
              <a:t>main</a:t>
            </a:r>
            <a:r>
              <a:rPr lang="pt-BR" sz="2400" dirty="0"/>
              <a:t>), o compilador não exige o protótipo</a:t>
            </a:r>
          </a:p>
          <a:p>
            <a:endParaRPr lang="pt-BR" sz="2400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4E62871-404C-1969-1123-FF232F5F8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874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A3DA-2D1C-E99D-B57D-CA8BD68F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0927638-C7A9-06AA-EEA1-E17EAE4B59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BFDCD9-3A0D-B40C-892A-3632B6ACC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59C0E5-7C4C-BE00-B645-78CAD74EFF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EA60323-66F5-5AED-EEAF-EE2CD32F2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Definição de funções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Bloco de código reutilizável que realiza uma tarefa específica.</a:t>
            </a:r>
          </a:p>
          <a:p>
            <a:pPr lvl="1"/>
            <a:r>
              <a:rPr lang="pt-BR" sz="2200" dirty="0"/>
              <a:t>Cada função possui seu próprio escopo.</a:t>
            </a:r>
          </a:p>
          <a:p>
            <a:pPr marL="914400" lvl="2" indent="0">
              <a:buNone/>
            </a:pPr>
            <a:endParaRPr lang="pt-BR" dirty="0"/>
          </a:p>
          <a:p>
            <a:pPr marL="457200" lvl="1" indent="0">
              <a:buNone/>
            </a:pPr>
            <a:r>
              <a:rPr lang="pt-BR" i="1" dirty="0" err="1">
                <a:solidFill>
                  <a:srgbClr val="FF0000"/>
                </a:solidFill>
              </a:rPr>
              <a:t>tipo_de_retorno</a:t>
            </a:r>
            <a:r>
              <a:rPr lang="pt-BR" i="1" dirty="0">
                <a:solidFill>
                  <a:srgbClr val="FF0000"/>
                </a:solidFill>
              </a:rPr>
              <a:t> </a:t>
            </a:r>
            <a:r>
              <a:rPr lang="pt-BR" i="1" dirty="0" err="1">
                <a:solidFill>
                  <a:schemeClr val="accent6">
                    <a:lumMod val="75000"/>
                  </a:schemeClr>
                </a:solidFill>
              </a:rPr>
              <a:t>nome_da_funcao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t-BR" i="1" dirty="0" err="1">
                <a:solidFill>
                  <a:schemeClr val="accent1">
                    <a:lumMod val="75000"/>
                  </a:schemeClr>
                </a:solidFill>
              </a:rPr>
              <a:t>lista_de_parametros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457200" lvl="1" indent="0">
              <a:buNone/>
            </a:pPr>
            <a:r>
              <a:rPr lang="pt-BR" i="1" dirty="0"/>
              <a:t>{</a:t>
            </a:r>
          </a:p>
          <a:p>
            <a:pPr marL="457200" lvl="1" indent="0">
              <a:buNone/>
            </a:pPr>
            <a:r>
              <a:rPr lang="pt-BR" i="1" dirty="0"/>
              <a:t>	Bloco de instruções;</a:t>
            </a:r>
          </a:p>
          <a:p>
            <a:pPr marL="457200" lvl="1" indent="0">
              <a:buNone/>
            </a:pPr>
            <a:r>
              <a:rPr lang="pt-BR" i="1" dirty="0"/>
              <a:t>	</a:t>
            </a:r>
            <a:r>
              <a:rPr lang="pt-BR" i="1" dirty="0" err="1">
                <a:solidFill>
                  <a:schemeClr val="accent2"/>
                </a:solidFill>
              </a:rPr>
              <a:t>return</a:t>
            </a:r>
            <a:r>
              <a:rPr lang="pt-BR" i="1" dirty="0"/>
              <a:t> valor; </a:t>
            </a:r>
          </a:p>
          <a:p>
            <a:pPr marL="457200" lvl="1" indent="0">
              <a:buNone/>
            </a:pPr>
            <a:r>
              <a:rPr lang="pt-BR" i="1" dirty="0"/>
              <a:t>}</a:t>
            </a:r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3F7AE-FC96-5A94-84E0-2AEC68A69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06CAF8B-6565-B969-D701-89E2CEAC769C}"/>
              </a:ext>
            </a:extLst>
          </p:cNvPr>
          <p:cNvSpPr/>
          <p:nvPr/>
        </p:nvSpPr>
        <p:spPr>
          <a:xfrm>
            <a:off x="8693054" y="3788306"/>
            <a:ext cx="3408025" cy="11110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742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78C4-5FB1-5153-E354-B5435E44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3E5418-7784-C910-C7A4-A617ACF2C8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9F3F47-5B0C-25CA-4CB1-4C9C5F197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D9A5EA9-1AC4-333E-3FAA-1851D879E5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481EB0-A9A2-B2BA-7891-861A74F62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Função Principal </a:t>
            </a:r>
            <a:r>
              <a:rPr lang="pt-BR" sz="2400" i="1" dirty="0" err="1"/>
              <a:t>main</a:t>
            </a:r>
            <a:r>
              <a:rPr lang="pt-BR" sz="2400" i="1" dirty="0"/>
              <a:t>()</a:t>
            </a:r>
          </a:p>
          <a:p>
            <a:pPr lvl="1"/>
            <a:endParaRPr lang="pt-BR" dirty="0"/>
          </a:p>
          <a:p>
            <a:pPr lvl="1"/>
            <a:r>
              <a:rPr lang="pt-BR" sz="2200" dirty="0"/>
              <a:t>Todo programa em C começa pela função </a:t>
            </a:r>
            <a:r>
              <a:rPr lang="pt-BR" sz="2200" i="1" dirty="0" err="1"/>
              <a:t>main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Quem chama </a:t>
            </a:r>
            <a:r>
              <a:rPr lang="pt-BR" sz="2200" i="1" dirty="0" err="1"/>
              <a:t>main</a:t>
            </a:r>
            <a:r>
              <a:rPr lang="pt-BR" sz="2200" dirty="0"/>
              <a:t> é o S.O, durante a execução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Ao retornar 0, o programa informa ao S.O que o a execução terminou corretamente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Na prática, muitos programas definem códigos específicos para diferentes situações.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7FD298-5484-2EFE-FB8E-0C68F4ECD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71406" y="2700867"/>
            <a:ext cx="4397473" cy="214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80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9A104-DC23-2A54-0824-013B41F66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F040378-7861-DDD1-8B6B-71ABCAE461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62153CB-A444-24C9-5CC9-1A61EF951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Palavras reservadas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C4259A-9F2D-B996-873C-33EAF9321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D37B3-F763-AE46-E407-49AE69531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81" y="1621425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São termos com funções fixas na linguagem, como </a:t>
            </a:r>
            <a:r>
              <a:rPr lang="pt-BR" sz="2400" b="1" dirty="0" err="1"/>
              <a:t>int</a:t>
            </a:r>
            <a:r>
              <a:rPr lang="pt-BR" sz="2400" dirty="0"/>
              <a:t>, </a:t>
            </a:r>
            <a:r>
              <a:rPr lang="pt-BR" sz="2400" b="1" dirty="0" err="1"/>
              <a:t>if</a:t>
            </a:r>
            <a:r>
              <a:rPr lang="pt-BR" sz="2400" dirty="0"/>
              <a:t> e </a:t>
            </a:r>
            <a:r>
              <a:rPr lang="pt-BR" sz="2400" b="1" dirty="0" err="1"/>
              <a:t>return</a:t>
            </a:r>
            <a:r>
              <a:rPr lang="pt-BR" sz="2400" dirty="0"/>
              <a:t>. </a:t>
            </a:r>
          </a:p>
          <a:p>
            <a:endParaRPr lang="pt-BR" sz="2400" dirty="0"/>
          </a:p>
          <a:p>
            <a:r>
              <a:rPr lang="pt-BR" sz="2400" dirty="0"/>
              <a:t>Elas somam 32 no padrão original e não podem ser usadas para dar nomes a variáveis ou funções.</a:t>
            </a:r>
            <a:endParaRPr lang="en-US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CCD40E8-653A-1363-8677-7FBD84510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044" y="3890374"/>
            <a:ext cx="6687911" cy="2658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35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8E862-BC4A-1C62-D8CC-0579B7FD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252457F-9AF5-0F64-D569-F29176AEC7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A38A48-38C3-F7A4-EEF1-9F838AEB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A535C-5A76-4565-1E59-39DB71A80D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EE1C5E-D427-6659-18DC-A460DF4B3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384" y="1325560"/>
            <a:ext cx="6490500" cy="553243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Variáveis</a:t>
            </a:r>
            <a:r>
              <a:rPr lang="pt-BR" sz="2400" dirty="0"/>
              <a:t> são espaços na memória usados para o armazenamento de dados.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Durante a execução, as variáveis podem ter seu valor alterado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necessário declarar o tipo da variável em C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</a:t>
            </a:r>
            <a:r>
              <a:rPr lang="pt-BR" sz="2200" b="1" dirty="0"/>
              <a:t>tipo</a:t>
            </a:r>
            <a:r>
              <a:rPr lang="pt-BR" sz="2200" dirty="0"/>
              <a:t> da variável define o tamanho e o formato dos dados armazenados.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tipos também indicam ao programa como ler e escrever os valores armazenados.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CCDADD6-A99F-9F56-169F-ABEF71CE26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7899268" y="4091779"/>
            <a:ext cx="3810000" cy="237172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179B713-D6A1-8D20-4DD6-CA1DF15B0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7899268" y="1464865"/>
            <a:ext cx="38100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998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44E7-B7FC-4147-F562-9FD89C06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262F2A-2B21-4B0A-7338-765F907E0C6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94A0AD-AA48-945A-FF85-7F6A2B97D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D678FC8-2BCB-D09B-D2E2-7AB8D89783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1CB1CE9-7FFC-AE7B-EE15-3267CB61A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468" y="1568824"/>
            <a:ext cx="7236458" cy="528917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Constantes</a:t>
            </a:r>
            <a:r>
              <a:rPr lang="pt-BR" sz="2400" dirty="0"/>
              <a:t> guardam valores fixos que não podem ser alterados após a definição.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Tentar alterar uma constante leva a um erro pelo compilador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uma boa prática escrever o nome das constantes com letras maiúsculas para diferenciá-las das variáveis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Podem ser criadas pela diretiva </a:t>
            </a:r>
            <a:r>
              <a:rPr lang="pt-BR" sz="2200" i="1" dirty="0"/>
              <a:t>#define </a:t>
            </a:r>
            <a:r>
              <a:rPr lang="pt-BR" sz="2200" dirty="0"/>
              <a:t>ou</a:t>
            </a:r>
            <a:r>
              <a:rPr lang="pt-BR" sz="2200" i="1" dirty="0"/>
              <a:t> </a:t>
            </a:r>
            <a:r>
              <a:rPr lang="pt-BR" sz="2200" dirty="0"/>
              <a:t>pela palavra chave </a:t>
            </a:r>
            <a:r>
              <a:rPr lang="pt-BR" sz="2200" i="1" u="sng" dirty="0" err="1"/>
              <a:t>const</a:t>
            </a:r>
            <a:r>
              <a:rPr lang="pt-BR" sz="2200" dirty="0"/>
              <a:t>  antes da definição do tipo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AB64FB5-AF6B-C1A5-1A3A-08A759AAE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452" y="2490537"/>
            <a:ext cx="3441031" cy="344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5184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AAF02-56FE-5315-3653-51A857C7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4B052A-A3F6-B26A-8FF9-BC508287984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29414F-13C8-01BB-E045-EE12BC60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Primitivos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0923BD-52A5-AEC7-A367-A2EDB7DACF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57D41A-0914-7021-BB8D-413FF1518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dirty="0"/>
              <a:t>São as formas mais básicas de informação que a linguagem de programação consegue entender. Em C temos:</a:t>
            </a:r>
          </a:p>
          <a:p>
            <a:endParaRPr lang="pt-BR" sz="2400" dirty="0"/>
          </a:p>
          <a:p>
            <a:pPr lvl="1"/>
            <a:r>
              <a:rPr lang="pt-BR" sz="2200" b="1" i="1" u="sng" dirty="0" err="1"/>
              <a:t>int</a:t>
            </a:r>
            <a:r>
              <a:rPr lang="pt-BR" sz="2200" dirty="0"/>
              <a:t>: Armazena números inteiros (positivos e negativos)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float</a:t>
            </a:r>
            <a:r>
              <a:rPr lang="pt-BR" sz="2200" dirty="0"/>
              <a:t>: Armazena números reais com casas decimais de precisão simples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double</a:t>
            </a:r>
            <a:r>
              <a:rPr lang="pt-BR" sz="2200" dirty="0"/>
              <a:t>: Armazena números reais com maior precisão e capacidade que o </a:t>
            </a:r>
            <a:r>
              <a:rPr lang="pt-BR" sz="2200" b="1" i="1" dirty="0" err="1"/>
              <a:t>float</a:t>
            </a:r>
            <a:endParaRPr lang="pt-BR" sz="2200" b="1" i="1" dirty="0"/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char</a:t>
            </a:r>
            <a:r>
              <a:rPr lang="pt-BR" sz="2200" dirty="0"/>
              <a:t>: Armazena um único caractere, como 'a' ou 'Z', representado internamente por um valor numérico inteiro (de acordo com a tabela ASCII), mas não é restrito à caracteres.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void</a:t>
            </a:r>
            <a:r>
              <a:rPr lang="pt-BR" sz="2200" dirty="0"/>
              <a:t>: Indica vazio ou ausência de tipo, muito usado em funções que não retornam valor.</a:t>
            </a:r>
          </a:p>
        </p:txBody>
      </p:sp>
    </p:spTree>
    <p:extLst>
      <p:ext uri="{BB962C8B-B14F-4D97-AF65-F5344CB8AC3E}">
        <p14:creationId xmlns:p14="http://schemas.microsoft.com/office/powerpoint/2010/main" val="755640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AD397-2F65-DE74-9419-D57C75CC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92359FF-8E24-92A3-8D7F-90485676ABF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483743-DFC8-B5F7-1988-608CE8CFC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Modificadores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B1F31EF-2CDE-350B-EACD-98A9EFA4E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C1B619E-85F9-6CF1-AFB1-546F401CD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9764361" cy="5231649"/>
          </a:xfrm>
        </p:spPr>
        <p:txBody>
          <a:bodyPr>
            <a:normAutofit/>
          </a:bodyPr>
          <a:lstStyle/>
          <a:p>
            <a:r>
              <a:rPr lang="pt-BR" sz="2600" dirty="0"/>
              <a:t>Permite alterações </a:t>
            </a:r>
            <a:r>
              <a:rPr lang="pt-BR" sz="2400" dirty="0"/>
              <a:t>no tamanho ou na capacidade de armazenamento dos tipos inteiros e de ponto flutuante:</a:t>
            </a:r>
            <a:endParaRPr lang="pt-BR" sz="2600" dirty="0"/>
          </a:p>
          <a:p>
            <a:endParaRPr lang="pt-BR" sz="2400" dirty="0"/>
          </a:p>
          <a:p>
            <a:pPr lvl="1"/>
            <a:r>
              <a:rPr lang="pt-BR" sz="2200" b="1" i="1" u="sng" dirty="0" err="1"/>
              <a:t>signed</a:t>
            </a:r>
            <a:r>
              <a:rPr lang="pt-BR" sz="2200" dirty="0"/>
              <a:t>: Permite valores positivos e negativos (padrão para </a:t>
            </a:r>
            <a:r>
              <a:rPr lang="pt-BR" sz="2200" dirty="0" err="1"/>
              <a:t>int</a:t>
            </a:r>
            <a:r>
              <a:rPr lang="pt-BR" sz="2200" dirty="0"/>
              <a:t>).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 err="1"/>
              <a:t>unsigned</a:t>
            </a:r>
            <a:r>
              <a:rPr lang="pt-BR" sz="2200" dirty="0"/>
              <a:t>: Apenas valores positivos, dobrando o limite máximo positivo da faixa de armazenamento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/>
              <a:t>short</a:t>
            </a:r>
            <a:r>
              <a:rPr lang="pt-BR" sz="2200" dirty="0"/>
              <a:t>: Reduz o espaço de armazenamento para números inteiros menores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 err="1"/>
              <a:t>long</a:t>
            </a:r>
            <a:r>
              <a:rPr lang="pt-BR" sz="2200" dirty="0"/>
              <a:t>: Aumenta o espaço de armazenamento para números inteiros ou reais maiores (</a:t>
            </a:r>
            <a:r>
              <a:rPr lang="pt-BR" sz="2200" dirty="0" err="1"/>
              <a:t>long</a:t>
            </a:r>
            <a:r>
              <a:rPr lang="pt-BR" sz="2200" dirty="0"/>
              <a:t> 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0828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A690B-E8BF-5851-00C0-854E731E3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F6B7979-ECDF-D961-EBC5-9C2A63EF371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435752-6267-61E4-4139-D813C4633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Faixa de valores para os tipos de dados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2F2AB88-1306-9195-2B9F-2707AEE066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074" name="Picture 2" descr="Tipo de Dados de C :: Linguagens C e C++">
            <a:extLst>
              <a:ext uri="{FF2B5EF4-FFF2-40B4-BE49-F238E27FC236}">
                <a16:creationId xmlns:a16="http://schemas.microsoft.com/office/drawing/2014/main" id="{435FCCD6-3657-B92C-FF6E-F5CC7BBAE9C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829" y="1410039"/>
            <a:ext cx="6657541" cy="5351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5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A6E3-041D-B09A-01FD-D67190F3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1AB49-13C9-DA56-AAD1-AE5EC7C6BCF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151EAB-5A01-EB06-CDE7-EEEFC3FE0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Observação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9A68E-905C-184C-B292-B176EA5D3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93C7723-2E79-DDD7-FEE4-809DBC65B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b="1" i="1" dirty="0"/>
              <a:t>Precisão simples: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Ocupa 4 bytes (32 bits). Oferece cerca de 6 a 7 dígitos decimais de precisão</a:t>
            </a:r>
          </a:p>
          <a:p>
            <a:pPr lvl="1"/>
            <a:r>
              <a:rPr lang="pt-BR" sz="2200" dirty="0"/>
              <a:t>Comumente utilizado para economizar memória em grandes vetores ou matrizes, ou quando a perda de precisão nas casas decimais não afeta o resultado da operação.</a:t>
            </a:r>
          </a:p>
          <a:p>
            <a:pPr lvl="1"/>
            <a:endParaRPr lang="pt-BR" sz="2200" dirty="0"/>
          </a:p>
          <a:p>
            <a:r>
              <a:rPr lang="pt-BR" sz="2600" b="1" i="1" dirty="0"/>
              <a:t>Precisão dupla:</a:t>
            </a:r>
          </a:p>
          <a:p>
            <a:endParaRPr lang="pt-BR" sz="2600" dirty="0"/>
          </a:p>
          <a:p>
            <a:pPr lvl="1"/>
            <a:r>
              <a:rPr lang="pt-BR" sz="2200" dirty="0"/>
              <a:t>Ocupa 8 bytes (64 bits). Oferece cerca de 15 a 17 dígitos decimais de precisão</a:t>
            </a:r>
          </a:p>
          <a:p>
            <a:pPr lvl="1"/>
            <a:r>
              <a:rPr lang="pt-BR" sz="2200" dirty="0"/>
              <a:t>Comumente utilizado  como padrão para cálculos científicos, financeiros ou gerais em C, pois ele evita erros cumulativos de arredondamento</a:t>
            </a:r>
          </a:p>
        </p:txBody>
      </p:sp>
    </p:spTree>
    <p:extLst>
      <p:ext uri="{BB962C8B-B14F-4D97-AF65-F5344CB8AC3E}">
        <p14:creationId xmlns:p14="http://schemas.microsoft.com/office/powerpoint/2010/main" val="2394775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86C5-19A3-B4B4-3F02-0CCBBA201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5A7E53-E396-0432-4EE1-A55B616E83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A1F473-F486-49AB-2551-9EADA4AA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Aritméticos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C1D408E-D98C-614D-D7C8-5E11D58CCB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E6B605-1839-78FD-6BDE-FC60D0163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494004"/>
            <a:ext cx="11315163" cy="5231649"/>
          </a:xfrm>
        </p:spPr>
        <p:txBody>
          <a:bodyPr>
            <a:normAutofit lnSpcReduction="10000"/>
          </a:bodyPr>
          <a:lstStyle/>
          <a:p>
            <a:r>
              <a:rPr lang="pt-BR" sz="2400" b="1" dirty="0"/>
              <a:t>Servem para fazer cálculos básicos com valores numéricos:</a:t>
            </a:r>
          </a:p>
          <a:p>
            <a:endParaRPr lang="pt-BR" sz="2400" b="1" dirty="0"/>
          </a:p>
          <a:p>
            <a:pPr lvl="1"/>
            <a:r>
              <a:rPr lang="pt-BR" sz="2200" dirty="0"/>
              <a:t> Soma (+)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6 + 6=12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Subtração (-)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5 - 12 = -7 (Se o valor não for </a:t>
            </a:r>
            <a:r>
              <a:rPr lang="pt-BR" sz="2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unsigned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Multiplicação (*)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4 * 5 = 20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Divisão (/)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5  /  2</a:t>
            </a:r>
            <a:r>
              <a:rPr lang="pt-BR" sz="2000" dirty="0"/>
              <a:t> = </a:t>
            </a:r>
            <a:r>
              <a:rPr lang="pt-BR" dirty="0"/>
              <a:t>2 (Se a variável for inteira)</a:t>
            </a: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Resto da divisão inteira (%)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5  %  2 = 1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Incremento (++)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x+1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Decremento (--)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x-1</a:t>
            </a:r>
          </a:p>
          <a:p>
            <a:pPr lvl="1"/>
            <a:endParaRPr lang="pt-BR" sz="2200" dirty="0"/>
          </a:p>
          <a:p>
            <a:pPr lvl="1"/>
            <a:endParaRPr lang="pt-BR" sz="22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54C368E-7C37-4892-1F45-ECFB21403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253" y="2504865"/>
            <a:ext cx="3209925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40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A5F4-CEBA-9290-32C3-26A9D48A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16FC4CB-4375-E203-508B-2130FF2610A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FD98CE-BD7F-3841-4F6F-7DA2F45A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9851253-B82B-0176-2AF9-0CC3BFA75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operação de </a:t>
                </a:r>
                <a:r>
                  <a:rPr lang="pt-BR" sz="2400" i="1" dirty="0"/>
                  <a:t>casting </a:t>
                </a:r>
                <a:r>
                  <a:rPr lang="pt-BR" sz="2400" dirty="0"/>
                  <a:t>forçar o computador a mudar o tipo de dado de uma variável ou valor.</a:t>
                </a:r>
              </a:p>
              <a:p>
                <a:pPr marL="0" indent="0">
                  <a:buNone/>
                </a:pPr>
                <a:endParaRPr lang="pt-BR" sz="2400" dirty="0"/>
              </a:p>
              <a:p>
                <a:r>
                  <a:rPr lang="pt-BR" sz="2400" dirty="0"/>
                  <a:t>A operação é feita colocando o novo tipo entre parênteses </a:t>
                </a:r>
                <a:r>
                  <a:rPr lang="pt-BR" b="1" i="1" u="sng" dirty="0"/>
                  <a:t>(</a:t>
                </a:r>
                <a:r>
                  <a:rPr lang="pt-BR" sz="2400" b="1" i="1" u="sng" dirty="0"/>
                  <a:t>tipo</a:t>
                </a:r>
                <a:r>
                  <a:rPr lang="pt-BR" b="1" i="1" u="sng" dirty="0"/>
                  <a:t>)</a:t>
                </a:r>
                <a:r>
                  <a:rPr lang="pt-BR" sz="2400" b="1" i="1" u="sng" dirty="0"/>
                  <a:t> </a:t>
                </a:r>
                <a:r>
                  <a:rPr lang="pt-BR" sz="2400" dirty="0"/>
                  <a:t>logo antes do valor, por exemplo: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𝑛𝑡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5;</m:t>
                    </m:r>
                  </m:oMath>
                </a14:m>
                <a:endParaRPr lang="pt-BR" sz="2000" b="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2;</m:t>
                    </m:r>
                  </m:oMath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𝑟𝑒𝑠𝑢𝑙𝑡𝑎𝑑𝑜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)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/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“</a:t>
                </a:r>
                <a:r>
                  <a:rPr lang="pt-BR" sz="2000" dirty="0">
                    <a:solidFill>
                      <a:srgbClr val="FF0000"/>
                    </a:solidFill>
                  </a:rPr>
                  <a:t>resultado” armazena o valor 2.5, ao invés de 2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/>
              </a:p>
              <a:p>
                <a:r>
                  <a:rPr lang="pt-BR" sz="2400" b="1" dirty="0"/>
                  <a:t>Observação: </a:t>
                </a:r>
                <a:r>
                  <a:rPr lang="pt-BR" sz="2400" dirty="0"/>
                  <a:t>A conversão  de </a:t>
                </a:r>
                <a:r>
                  <a:rPr lang="pt-BR" sz="2400" b="1" i="1" dirty="0" err="1"/>
                  <a:t>float</a:t>
                </a:r>
                <a:r>
                  <a:rPr lang="pt-BR" sz="2400" dirty="0"/>
                  <a:t> para </a:t>
                </a:r>
                <a:r>
                  <a:rPr lang="pt-BR" sz="2400" b="1" i="1" dirty="0" err="1"/>
                  <a:t>int</a:t>
                </a:r>
                <a:r>
                  <a:rPr lang="pt-BR" sz="2400" dirty="0"/>
                  <a:t> resulta na perda de todas as casas decimais.</a:t>
                </a:r>
              </a:p>
              <a:p>
                <a:endParaRPr lang="pt-BR" sz="2400" b="1" i="1" u="sng" dirty="0"/>
              </a:p>
              <a:p>
                <a:pPr marL="457200" lvl="1" indent="0">
                  <a:buNone/>
                </a:pPr>
                <a:endParaRPr lang="pt-BR" sz="2100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  <a:blipFill>
                <a:blip r:embed="rId3"/>
                <a:stretch>
                  <a:fillRect l="-982" t="-16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085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4B57-9809-B8EF-0C7F-AE647212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6077B58-1486-08CA-BCC5-A2E484F1859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95C159-1A8A-6D6A-5F80-5E350E840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5727F2-01D1-9623-4246-E33ECC52CC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A7C7E3-4743-59FF-8FE8-886B0E6DA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576135"/>
            <a:ext cx="10475997" cy="513223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dirty="0"/>
              <a:t>É possível fazer o casting entre os tipos primitivos,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e Reais (vice-versa)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de Tamanhos Diferentes (</a:t>
            </a:r>
            <a:r>
              <a:rPr lang="pt-BR" sz="2200" b="1" i="1" dirty="0"/>
              <a:t>short/</a:t>
            </a:r>
            <a:r>
              <a:rPr lang="pt-BR" sz="2200" b="1" i="1" dirty="0" err="1"/>
              <a:t>long</a:t>
            </a:r>
            <a:r>
              <a:rPr lang="pt-BR" sz="2200" dirty="0"/>
              <a:t>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Caracteres e Números (</a:t>
            </a:r>
            <a:r>
              <a:rPr lang="pt-BR" sz="2200" b="1" i="1" dirty="0"/>
              <a:t>char</a:t>
            </a:r>
            <a:r>
              <a:rPr lang="pt-BR" sz="2200" dirty="0"/>
              <a:t> pode passar para </a:t>
            </a:r>
            <a:r>
              <a:rPr lang="pt-BR" sz="2200" b="1" i="1" dirty="0" err="1"/>
              <a:t>int</a:t>
            </a:r>
            <a:r>
              <a:rPr lang="pt-BR" sz="2200" dirty="0"/>
              <a:t> usando o valor da tabela ASCII)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342900" indent="-342900">
              <a:buFont typeface="+mj-lt"/>
              <a:buAutoNum type="arabicPeriod"/>
            </a:pPr>
            <a:r>
              <a:rPr lang="pt-BR" sz="2400" dirty="0"/>
              <a:t>Também é permitido fazer casting entre Ponteiros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i="1" dirty="0" err="1"/>
              <a:t>int</a:t>
            </a:r>
            <a:r>
              <a:rPr lang="pt-BR" sz="2200" i="1" dirty="0"/>
              <a:t>*</a:t>
            </a:r>
            <a:r>
              <a:rPr lang="pt-BR" sz="2200" dirty="0"/>
              <a:t> para </a:t>
            </a:r>
            <a:r>
              <a:rPr lang="pt-BR" sz="2200" i="1" dirty="0"/>
              <a:t>char*</a:t>
            </a:r>
            <a:r>
              <a:rPr lang="pt-BR" sz="2200" dirty="0"/>
              <a:t>  (exige cuidado para evitar erros de acesso à memória)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marL="514350" indent="-514350">
              <a:buFont typeface="+mj-lt"/>
              <a:buAutoNum type="arabicPeriod"/>
            </a:pPr>
            <a:r>
              <a:rPr lang="pt-BR" sz="2400" dirty="0"/>
              <a:t>Não é permitido o casting entre tipos primitivos e tipos complexos (como o </a:t>
            </a:r>
            <a:r>
              <a:rPr lang="pt-BR" sz="2400" dirty="0" err="1"/>
              <a:t>struct</a:t>
            </a:r>
            <a:r>
              <a:rPr lang="pt-BR" sz="2400" dirty="0"/>
              <a:t>), nem a conversão de </a:t>
            </a:r>
            <a:r>
              <a:rPr lang="pt-BR" sz="2400" dirty="0" err="1"/>
              <a:t>strings</a:t>
            </a:r>
            <a:r>
              <a:rPr lang="pt-BR" sz="2400" dirty="0"/>
              <a:t>  para valores numéricos </a:t>
            </a:r>
          </a:p>
          <a:p>
            <a:pPr marL="800100" lvl="1" indent="-342900">
              <a:buFont typeface="+mj-lt"/>
              <a:buAutoNum type="arabicPeriod"/>
            </a:pPr>
            <a:endParaRPr lang="pt-BR" sz="1700" b="1" dirty="0"/>
          </a:p>
        </p:txBody>
      </p:sp>
    </p:spTree>
    <p:extLst>
      <p:ext uri="{BB962C8B-B14F-4D97-AF65-F5344CB8AC3E}">
        <p14:creationId xmlns:p14="http://schemas.microsoft.com/office/powerpoint/2010/main" val="3165639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1E60E-ABD9-D32E-5264-751299B3A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77D9FB-4DD9-3E7A-4A5C-8F654CD64D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A44C01A-1C31-EE76-5753-99FB3CE59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72043A7-9CC2-8022-2E96-1F1463062C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C9319CF-7399-E27E-5AC4-1D6548DC1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As operações de entrada e saída (E/S) em C utilizam a biblioteca padrão &lt;</a:t>
            </a:r>
            <a:r>
              <a:rPr lang="pt-BR" sz="2400" dirty="0" err="1"/>
              <a:t>stdio.h</a:t>
            </a:r>
            <a:r>
              <a:rPr lang="pt-BR" sz="2400" dirty="0"/>
              <a:t>&gt;</a:t>
            </a:r>
          </a:p>
          <a:p>
            <a:r>
              <a:rPr lang="pt-BR" sz="2400" dirty="0"/>
              <a:t>A saída de dados na tela é feita com a função </a:t>
            </a:r>
            <a:r>
              <a:rPr lang="pt-BR" sz="2400" b="1" i="1" dirty="0" err="1"/>
              <a:t>printf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Especificadores de formato são utilizados na função para definir onde o valor de uma variável deve ser inserido e como essa variável será exibida em uma </a:t>
            </a:r>
            <a:r>
              <a:rPr lang="pt-BR" sz="2400" b="1" dirty="0" err="1"/>
              <a:t>String</a:t>
            </a:r>
            <a:r>
              <a:rPr lang="pt-BR" sz="2400" dirty="0"/>
              <a:t> (de acordo com o tipo)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6CF86BA-CD15-4345-C3F4-FA6E2ED3F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454" b="31625"/>
          <a:stretch>
            <a:fillRect/>
          </a:stretch>
        </p:blipFill>
        <p:spPr>
          <a:xfrm>
            <a:off x="1397418" y="3128127"/>
            <a:ext cx="5541324" cy="174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22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A8DB-5FF5-3D71-5511-7B7F6B99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A23D10D-F0FE-961D-EC87-23B3F963DA6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33DA47-FB95-ECBD-3DD7-D5CD0D5F5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F934E71-5F6F-BD04-A7A3-C169F9464C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12E6CA-54CC-049C-CCB8-A961DE78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b="1" dirty="0"/>
              <a:t>Especificadores de formato: </a:t>
            </a:r>
            <a:r>
              <a:rPr lang="pt-BR" sz="2400" dirty="0"/>
              <a:t>são códigos iniciados por % usados para indicar o tipo de dado que o programa vai ler ou mostrar na tela. São eles:</a:t>
            </a:r>
          </a:p>
          <a:p>
            <a:endParaRPr lang="pt-BR" sz="2200" b="1" i="1" dirty="0"/>
          </a:p>
          <a:p>
            <a:pPr lvl="1"/>
            <a:r>
              <a:rPr lang="pt-BR" sz="2200" b="1" dirty="0"/>
              <a:t>%d (ou %i)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inteiro decimal</a:t>
            </a:r>
            <a:endParaRPr lang="pt-BR" sz="2200" b="1" dirty="0"/>
          </a:p>
          <a:p>
            <a:pPr lvl="1"/>
            <a:r>
              <a:rPr lang="pt-BR" sz="2200" b="1" dirty="0"/>
              <a:t>%f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ponto flutuante</a:t>
            </a:r>
            <a:endParaRPr lang="pt-BR" sz="2200" b="1" dirty="0"/>
          </a:p>
          <a:p>
            <a:pPr lvl="1"/>
            <a:r>
              <a:rPr lang="pt-BR" sz="2200" b="1" dirty="0"/>
              <a:t>%</a:t>
            </a:r>
            <a:r>
              <a:rPr lang="pt-BR" sz="2200" b="1" dirty="0" err="1"/>
              <a:t>lf</a:t>
            </a:r>
            <a:r>
              <a:rPr lang="pt-BR" sz="2200" b="1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dupla precisão (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  <a:endParaRPr lang="pt-BR" sz="2200" b="1" dirty="0"/>
          </a:p>
          <a:p>
            <a:pPr lvl="1"/>
            <a:r>
              <a:rPr lang="pt-BR" sz="2200" b="1" dirty="0"/>
              <a:t>%c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Um único caractere</a:t>
            </a:r>
            <a:endParaRPr lang="pt-BR" sz="2200" b="1" dirty="0"/>
          </a:p>
          <a:p>
            <a:pPr lvl="1"/>
            <a:r>
              <a:rPr lang="pt-BR" sz="2200" b="1" dirty="0"/>
              <a:t>%s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Cadeia de caracteres</a:t>
            </a:r>
            <a:endParaRPr lang="pt-BR" sz="2200" b="1" dirty="0"/>
          </a:p>
          <a:p>
            <a:pPr lvl="1"/>
            <a:r>
              <a:rPr lang="pt-BR" sz="2200" b="1" dirty="0"/>
              <a:t>%u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decimal sem sinal</a:t>
            </a:r>
            <a:endParaRPr lang="pt-BR" sz="2200" b="1" dirty="0"/>
          </a:p>
          <a:p>
            <a:pPr lvl="1"/>
            <a:r>
              <a:rPr lang="pt-BR" sz="2200" b="1" dirty="0"/>
              <a:t>%o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em formato octal</a:t>
            </a:r>
            <a:endParaRPr lang="pt-BR" sz="2200" b="1" dirty="0"/>
          </a:p>
          <a:p>
            <a:pPr lvl="1"/>
            <a:r>
              <a:rPr lang="pt-BR" sz="2200" b="1" dirty="0"/>
              <a:t>%x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Número em formato hexadecimal</a:t>
            </a:r>
          </a:p>
          <a:p>
            <a:pPr lvl="1"/>
            <a:r>
              <a:rPr lang="pt-BR" sz="2200" b="1" dirty="0"/>
              <a:t>%p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Endereço de memória de um ponteiro</a:t>
            </a:r>
          </a:p>
          <a:p>
            <a:pPr lvl="1"/>
            <a:endParaRPr lang="pt-BR" sz="20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</p:spTree>
    <p:extLst>
      <p:ext uri="{BB962C8B-B14F-4D97-AF65-F5344CB8AC3E}">
        <p14:creationId xmlns:p14="http://schemas.microsoft.com/office/powerpoint/2010/main" val="5542644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BAEB4-E3B3-8F6F-F6ED-9AD32EA31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AC75E49-528F-F290-E926-463B8EE0754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A072A52-DADE-14B4-BE31-BFEEC72E9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6B6617B-8F7B-A04E-715D-B35CB3F60B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66640E8-C00D-FF14-9248-9BFAE856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 entrada de dados no teclado é feita com a função </a:t>
            </a:r>
            <a:r>
              <a:rPr lang="pt-BR" sz="2400" b="1" i="1" dirty="0" err="1"/>
              <a:t>scanf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A função utiliza o especificador de formato para definir como tratar o valor de entrada.</a:t>
            </a:r>
          </a:p>
          <a:p>
            <a:r>
              <a:rPr lang="pt-BR" sz="2400" dirty="0"/>
              <a:t>Em sequencia, a função armazena a entrada na variável definida, utilizando a referência ao </a:t>
            </a:r>
            <a:r>
              <a:rPr lang="pt-BR" sz="2400" b="1" dirty="0"/>
              <a:t>endereço de memória </a:t>
            </a:r>
            <a:r>
              <a:rPr lang="pt-BR" sz="2400" dirty="0"/>
              <a:t>associado à variável (&amp;a).</a:t>
            </a:r>
            <a:endParaRPr lang="pt-BR" sz="2400" b="1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767E36F-01FF-4000-BBB2-1DA0DE9AE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636" y="2649956"/>
            <a:ext cx="52387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093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2FD76-F19C-3B8C-0470-C7D142601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2B873-06AF-C3DE-2B4B-567D739D1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3 – Estruturas condicionais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B3AE6F-2432-A013-F69D-065ABFAD09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393744B-665F-C7B8-E211-4FDD9DDA5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67444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0400B-65E3-E25D-ABD2-12B4F79E0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F054EFB-C10C-741B-57CD-1E4CFB2C80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1260E7-291E-61D4-4697-E3FD7C4D6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Estrutura Condicional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327E38E-B16F-465E-BB5B-3E26E290F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975DD52-A52C-9FD5-40D4-8C74DEC48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8387599" cy="4963787"/>
          </a:xfrm>
        </p:spPr>
        <p:txBody>
          <a:bodyPr>
            <a:normAutofit/>
          </a:bodyPr>
          <a:lstStyle/>
          <a:p>
            <a:r>
              <a:rPr lang="pt-BR" sz="2400" dirty="0"/>
              <a:t> As estruturas condicionais permitem a tomada de decisões e alterações no fluxo de execução com base em </a:t>
            </a:r>
            <a:r>
              <a:rPr lang="pt-BR" sz="2400" b="1" dirty="0"/>
              <a:t>testes lógicos</a:t>
            </a:r>
            <a:r>
              <a:rPr lang="pt-BR" sz="2400" dirty="0"/>
              <a:t>.</a:t>
            </a:r>
          </a:p>
          <a:p>
            <a:endParaRPr lang="pt-BR" sz="2200" dirty="0"/>
          </a:p>
          <a:p>
            <a:r>
              <a:rPr lang="pt-BR" sz="2400" dirty="0"/>
              <a:t>As principais estruturas condicionais no C são:</a:t>
            </a:r>
          </a:p>
          <a:p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if</a:t>
            </a:r>
            <a:r>
              <a:rPr lang="pt-BR" sz="2200" b="1" dirty="0"/>
              <a:t> (simples)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If-else</a:t>
            </a:r>
            <a:r>
              <a:rPr lang="pt-BR" sz="2200" dirty="0"/>
              <a:t> (composto)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Encadeamento </a:t>
            </a:r>
            <a:r>
              <a:rPr lang="pt-BR" sz="2200" b="1" dirty="0" err="1"/>
              <a:t>else-if</a:t>
            </a: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Switch-case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b="1" dirty="0"/>
          </a:p>
          <a:p>
            <a:r>
              <a:rPr lang="pt-BR" sz="2400" dirty="0"/>
              <a:t>Para as condicionais, são utilizados</a:t>
            </a:r>
          </a:p>
          <a:p>
            <a:pPr marL="0" indent="0">
              <a:buNone/>
            </a:pPr>
            <a:r>
              <a:rPr lang="pt-BR" sz="2400" dirty="0"/>
              <a:t>   operadores Lógicos e Relacionais.</a:t>
            </a:r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1026" name="Picture 2" descr="Aula - Estrutura Condicional">
            <a:extLst>
              <a:ext uri="{FF2B5EF4-FFF2-40B4-BE49-F238E27FC236}">
                <a16:creationId xmlns:a16="http://schemas.microsoft.com/office/drawing/2014/main" id="{7DE6470D-F79C-12AE-5169-A3FDF9597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0561" y="2279241"/>
            <a:ext cx="22669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CB09BFF-A144-E87F-4319-F61BBDEDF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711673"/>
            <a:ext cx="3328541" cy="299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062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A8C59-0198-8BF0-50FB-B17CCA58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EB874EA-4A89-D2E8-D8CC-2A9A93E6437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A7AB5FE-CC42-9B7C-3046-31F7430F0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8E333AB-946A-F09A-1FB8-E1E63FC524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8AD6AF-025A-058F-230B-C12496B15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706"/>
            <a:ext cx="6985066" cy="4676693"/>
          </a:xfrm>
        </p:spPr>
        <p:txBody>
          <a:bodyPr>
            <a:normAutofit/>
          </a:bodyPr>
          <a:lstStyle/>
          <a:p>
            <a:r>
              <a:rPr lang="pt-BR" sz="2400" dirty="0"/>
              <a:t>Servem unir proposições (de acordo com a lógica proposicional). São mais utilizados em condicionais (porém não são exclusivos)</a:t>
            </a:r>
          </a:p>
          <a:p>
            <a:endParaRPr lang="pt-BR" sz="2400" b="1" dirty="0"/>
          </a:p>
          <a:p>
            <a:pPr lvl="1"/>
            <a:r>
              <a:rPr lang="pt-BR" sz="2200" b="1" dirty="0"/>
              <a:t>E / AND (&amp;&amp;): </a:t>
            </a:r>
            <a:r>
              <a:rPr lang="pt-BR" sz="2200" dirty="0"/>
              <a:t>Retorna verdadeiro apenas se os dois lados forem verdadeiros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OU / OR (||): </a:t>
            </a:r>
            <a:r>
              <a:rPr lang="pt-BR" sz="2200" dirty="0"/>
              <a:t>Retorna verdadeiro se pelo menos um dos lados for verdadeiro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NÃO / NOT (!):</a:t>
            </a:r>
            <a:r>
              <a:rPr lang="pt-BR" sz="2200" dirty="0"/>
              <a:t> Inverte o valor do teste (o que é verdadeiro vira falso, e vice-versa)</a:t>
            </a:r>
          </a:p>
          <a:p>
            <a:pPr lvl="1"/>
            <a:endParaRPr lang="pt-BR" sz="22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808EA45-498D-67F8-8023-C9D16160F8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362" b="8359"/>
          <a:stretch>
            <a:fillRect/>
          </a:stretch>
        </p:blipFill>
        <p:spPr>
          <a:xfrm>
            <a:off x="8588188" y="2709497"/>
            <a:ext cx="3461084" cy="308332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C7791FD3-B489-7C89-2959-747A6D449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618" b="25670"/>
          <a:stretch>
            <a:fillRect/>
          </a:stretch>
        </p:blipFill>
        <p:spPr>
          <a:xfrm>
            <a:off x="7074397" y="2679032"/>
            <a:ext cx="1513791" cy="264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5397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DA8C8-BCDE-3567-C977-E9CB262F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EC1879-36C3-847A-7DBB-1BF6762FE09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EB4E15-419C-B189-CF8F-419848AA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Relacionais (Comparadores)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82CA9A1-1EEA-1FF0-C2A8-87B07E5399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BDDD11-391F-5052-1C48-67A648ABC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14311"/>
            <a:ext cx="8698832" cy="5166246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Servem para comparar valores, retornando “1” para verdadeiro e “0” para falso. São mais utilizados em condicionais (porém não são exclusivos)</a:t>
            </a:r>
          </a:p>
          <a:p>
            <a:endParaRPr lang="pt-BR" sz="2400" b="1" dirty="0"/>
          </a:p>
          <a:p>
            <a:pPr lvl="1"/>
            <a:r>
              <a:rPr lang="pt-BR" sz="2100" b="1" dirty="0"/>
              <a:t>==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Igual a</a:t>
            </a:r>
          </a:p>
          <a:p>
            <a:pPr marL="457200" lvl="1" indent="0">
              <a:buNone/>
            </a:pPr>
            <a:endParaRPr lang="pt-BR" sz="2100" b="1" dirty="0"/>
          </a:p>
          <a:p>
            <a:pPr lvl="1"/>
            <a:r>
              <a:rPr lang="pt-BR" sz="2100" b="1" dirty="0"/>
              <a:t>!=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Diferente de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ou igual a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ou igual 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6218045-6185-5E77-AA39-5D1E58AA3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230" y="3691281"/>
            <a:ext cx="6825916" cy="1709489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20583E-B890-F281-3E24-0443B060D6EB}"/>
              </a:ext>
            </a:extLst>
          </p:cNvPr>
          <p:cNvSpPr txBox="1"/>
          <p:nvPr/>
        </p:nvSpPr>
        <p:spPr>
          <a:xfrm>
            <a:off x="5175231" y="3396733"/>
            <a:ext cx="682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660373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DBA1A-E7DE-DCE8-8D32-FB204AD7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2FE5F80-0663-17EC-7837-7A881B78C6B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3C31E1-35A3-86DE-DFD8-14F703B6B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IF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159D656-2840-EA4B-0E8A-4DDE322FEA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77D6796-5BC6-76EA-C684-B51E7AF25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2363" y="1552668"/>
            <a:ext cx="9664259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Análogo ao SE-ENTÃO do Visual G.</a:t>
            </a:r>
          </a:p>
          <a:p>
            <a:r>
              <a:rPr lang="pt-BR" sz="2400" dirty="0"/>
              <a:t>A execução de um determinado bloco de comando é executada somente se uma condição for satisfeita.</a:t>
            </a:r>
          </a:p>
          <a:p>
            <a:r>
              <a:rPr lang="pt-BR" sz="2400" dirty="0"/>
              <a:t>Caso a condição não seja satisfeita, o programa apenas segue a execução.</a:t>
            </a:r>
          </a:p>
          <a:p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39EE381-F776-2E97-C4A7-32D478A0A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754" y="3580955"/>
            <a:ext cx="4541460" cy="316260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3AFEDF7-068B-2AC1-E2DA-8F030D42F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786" y="3279597"/>
            <a:ext cx="3414314" cy="3578403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B328CE5F-6CEE-1B61-6D4E-990534E16CE0}"/>
              </a:ext>
            </a:extLst>
          </p:cNvPr>
          <p:cNvSpPr/>
          <p:nvPr/>
        </p:nvSpPr>
        <p:spPr>
          <a:xfrm>
            <a:off x="2490788" y="5743575"/>
            <a:ext cx="1219200" cy="319088"/>
          </a:xfrm>
          <a:prstGeom prst="rect">
            <a:avLst/>
          </a:prstGeom>
          <a:solidFill>
            <a:srgbClr val="E1FF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>
                <a:solidFill>
                  <a:srgbClr val="2F8D46"/>
                </a:solidFill>
              </a:rPr>
              <a:t>Code</a:t>
            </a:r>
            <a:endParaRPr lang="pt-BR" sz="1400" dirty="0">
              <a:solidFill>
                <a:srgbClr val="2F8D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64150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7B07D-253A-B492-7955-BB4EA577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8006973-9CD7-636B-BA5A-9B261D751CE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3886CE-0979-308F-9F37-898342D85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IF-ELSE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2BC447-8B62-E543-73E1-E0ABD3E82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2F2442-8B72-6182-8933-F74EC8724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2363" y="1552668"/>
            <a:ext cx="10014215" cy="5305332"/>
          </a:xfrm>
        </p:spPr>
        <p:txBody>
          <a:bodyPr>
            <a:normAutofit/>
          </a:bodyPr>
          <a:lstStyle/>
          <a:p>
            <a:r>
              <a:rPr lang="pt-BR" sz="2400" dirty="0"/>
              <a:t>Análogo ao SE-ENTÃO-SENÃO do Visual G.</a:t>
            </a:r>
          </a:p>
          <a:p>
            <a:r>
              <a:rPr lang="pt-BR" sz="2400" dirty="0"/>
              <a:t>A execução de um determinado trecho é executada somente se a condição for satisfeita.</a:t>
            </a:r>
          </a:p>
          <a:p>
            <a:r>
              <a:rPr lang="pt-BR" sz="2400" dirty="0"/>
              <a:t>Caso a condição não seja satisfeita, um outro bloco de comando é executado.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8DCCD08-AE7D-C0FC-C117-533B198ED3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619" y="3581400"/>
            <a:ext cx="3850481" cy="310337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3244BE0-763F-2D6E-6265-077359D6D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0882" y="3418586"/>
            <a:ext cx="36542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2103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28FE-F3F8-FE45-8EEC-EE7C8F079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EDD5088-C9C5-13E1-844E-D2C11F19A4E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1C990E-F17E-234B-2CEA-27AC6623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Encadeamento de IF-ELSE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126417-D231-757E-FF95-64ABF61A2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1F72C18-3515-7C50-83DD-9052A8D919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896755"/>
            <a:ext cx="5655778" cy="4413955"/>
          </a:xfrm>
        </p:spPr>
        <p:txBody>
          <a:bodyPr>
            <a:normAutofit/>
          </a:bodyPr>
          <a:lstStyle/>
          <a:p>
            <a:r>
              <a:rPr lang="pt-BR" sz="2400" dirty="0"/>
              <a:t>Caso existam múltiplas condições à serem analisadas, os operadores de </a:t>
            </a:r>
            <a:r>
              <a:rPr lang="pt-BR" sz="2400" b="1" i="1" dirty="0" err="1"/>
              <a:t>if</a:t>
            </a:r>
            <a:r>
              <a:rPr lang="pt-BR" sz="2400" dirty="0"/>
              <a:t> e </a:t>
            </a:r>
            <a:r>
              <a:rPr lang="pt-BR" sz="2400" b="1" i="1" dirty="0" err="1"/>
              <a:t>else</a:t>
            </a:r>
            <a:r>
              <a:rPr lang="pt-BR" sz="2400" dirty="0"/>
              <a:t> podem ser encadeados sequencialmente.</a:t>
            </a:r>
          </a:p>
          <a:p>
            <a:endParaRPr lang="pt-BR" sz="2400" dirty="0"/>
          </a:p>
          <a:p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32AAEF5-AEDA-5984-A95D-1EA112776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473" y="1451066"/>
            <a:ext cx="4135580" cy="5305332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F019E79-9DE9-561B-3CF0-648C2E8C0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695" y="3176672"/>
            <a:ext cx="5124835" cy="353876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77F2AE48-E24F-1212-3A7D-959C2235010C}"/>
              </a:ext>
            </a:extLst>
          </p:cNvPr>
          <p:cNvSpPr/>
          <p:nvPr/>
        </p:nvSpPr>
        <p:spPr>
          <a:xfrm>
            <a:off x="4380089" y="3228622"/>
            <a:ext cx="1896533" cy="530578"/>
          </a:xfrm>
          <a:prstGeom prst="rect">
            <a:avLst/>
          </a:prstGeom>
          <a:solidFill>
            <a:srgbClr val="7DA7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0573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E0A4-CF52-9F7D-52FB-68CDC32F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FBC46A-0083-95C0-A532-6F1CDD38313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B654ED3-7D21-1207-AC85-A0D72BA93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SWITCH-CASE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A99285A-7853-BB94-8C3D-42B22AE63C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9FFD411-2B88-035E-E9B4-45EFB226D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11" y="1604345"/>
            <a:ext cx="7231199" cy="5253655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Busca simplificar o encadeamento de código do </a:t>
            </a:r>
            <a:r>
              <a:rPr lang="pt-BR" sz="2400" b="1" i="1" dirty="0" err="1"/>
              <a:t>if-else</a:t>
            </a:r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Testa o valor de uma variável e o compara com constantes inteiras ou caracteres em vários blocos</a:t>
            </a:r>
          </a:p>
          <a:p>
            <a:endParaRPr lang="pt-BR" sz="2400" dirty="0"/>
          </a:p>
          <a:p>
            <a:r>
              <a:rPr lang="pt-BR" sz="2400" dirty="0"/>
              <a:t>Se nenhum dos casos for satisfeito, o bloco </a:t>
            </a:r>
            <a:r>
              <a:rPr lang="pt-BR" sz="2400" b="1" i="1" dirty="0"/>
              <a:t>default</a:t>
            </a:r>
            <a:r>
              <a:rPr lang="pt-BR" sz="2400" dirty="0"/>
              <a:t> é executado</a:t>
            </a:r>
          </a:p>
          <a:p>
            <a:endParaRPr lang="pt-BR" sz="2400" b="1" i="1" dirty="0"/>
          </a:p>
          <a:p>
            <a:r>
              <a:rPr lang="pt-BR" sz="2400" b="1" i="1" dirty="0"/>
              <a:t>Break</a:t>
            </a:r>
            <a:r>
              <a:rPr lang="pt-BR" sz="2400" dirty="0"/>
              <a:t> sai imediatamente do switch, continuando a execução do código</a:t>
            </a:r>
          </a:p>
          <a:p>
            <a:endParaRPr lang="pt-BR" sz="2400" dirty="0"/>
          </a:p>
          <a:p>
            <a:r>
              <a:rPr lang="pt-BR" sz="2400" dirty="0"/>
              <a:t>O último caso (default) não precisa de break, por estar no fim.</a:t>
            </a:r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48250D8-190C-332F-05ED-80D1E413D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1485097"/>
            <a:ext cx="3949700" cy="52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386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09A80-CA2B-7F6F-AA59-054735CDA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532836-2167-B792-D928-B311C6D96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4 – Estruturas de repetição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57BD9D9-FDBC-EB10-A84B-1C2036075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C09D286-A5BF-06DE-A75D-05AB29C7B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26486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B916D-AFEF-56FB-B1B1-75234E6A8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25665CD-6E47-85BF-7C89-6A98F55CF95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54C767C-C83C-95B0-15B2-380633B6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Estruturas de Repetição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A20438E-E6FC-6265-EF74-0F6D9D3F41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DE2573-CA4C-571D-37EE-DFE3AD367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189496"/>
            <a:ext cx="7035800" cy="4389113"/>
          </a:xfrm>
        </p:spPr>
        <p:txBody>
          <a:bodyPr>
            <a:normAutofit/>
          </a:bodyPr>
          <a:lstStyle/>
          <a:p>
            <a:r>
              <a:rPr lang="pt-BR" sz="2400" dirty="0"/>
              <a:t>Tem como função repetir um bloco de código várias vezes enquanto uma condição for verdadeira. </a:t>
            </a:r>
            <a:endParaRPr lang="pt-BR" sz="2200" dirty="0"/>
          </a:p>
          <a:p>
            <a:endParaRPr lang="pt-BR" sz="2400" dirty="0"/>
          </a:p>
          <a:p>
            <a:r>
              <a:rPr lang="pt-BR" sz="2400" dirty="0"/>
              <a:t>As principais estruturas de repetição no C são:</a:t>
            </a:r>
          </a:p>
          <a:p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While</a:t>
            </a:r>
            <a:r>
              <a:rPr lang="pt-BR" sz="2200" b="1" dirty="0"/>
              <a:t> </a:t>
            </a:r>
            <a:r>
              <a:rPr lang="pt-BR" sz="2200" dirty="0"/>
              <a:t>(Enquanto)</a:t>
            </a: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do-</a:t>
            </a:r>
            <a:r>
              <a:rPr lang="pt-BR" sz="2200" b="1" dirty="0" err="1"/>
              <a:t>while</a:t>
            </a:r>
            <a:r>
              <a:rPr lang="pt-BR" sz="2200" b="1" dirty="0"/>
              <a:t> </a:t>
            </a:r>
            <a:r>
              <a:rPr lang="pt-BR" sz="2200" dirty="0"/>
              <a:t>(Faça-Enquanto)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 </a:t>
            </a:r>
            <a:r>
              <a:rPr lang="pt-BR" sz="2200" dirty="0"/>
              <a:t>(Laço)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>
              <a:buFont typeface="Courier New" panose="02070309020205020404" pitchFamily="49" charset="0"/>
              <a:buChar char="o"/>
            </a:pPr>
            <a:endParaRPr lang="pt-BR" sz="2600" b="1" dirty="0"/>
          </a:p>
          <a:p>
            <a:pPr marL="457200" lvl="1" indent="0">
              <a:buNone/>
            </a:pPr>
            <a:endParaRPr lang="pt-BR" sz="2000" b="1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FA9869E-7D26-DBD0-CE03-D2801CEB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779" t="17280" r="2999" b="9577"/>
          <a:stretch>
            <a:fillRect/>
          </a:stretch>
        </p:blipFill>
        <p:spPr>
          <a:xfrm>
            <a:off x="7607301" y="2189496"/>
            <a:ext cx="4296426" cy="410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2626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5E73-D25A-787E-0CFA-49A50B74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D6FF417-AF79-D099-D644-F0AFA1BD30C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9223594-A9D3-D072-B93A-208297D9B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8800EFD-3C43-B9B2-D28B-CB257DD6FD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3E9191D-651F-B249-AC9B-4E51136C6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511" y="1790700"/>
            <a:ext cx="7186789" cy="4876800"/>
          </a:xfrm>
        </p:spPr>
        <p:txBody>
          <a:bodyPr>
            <a:normAutofit/>
          </a:bodyPr>
          <a:lstStyle/>
          <a:p>
            <a:r>
              <a:rPr lang="pt-BR" sz="2400" dirty="0"/>
              <a:t>O comando </a:t>
            </a:r>
            <a:r>
              <a:rPr lang="pt-BR" sz="2400" b="1" i="1" dirty="0" err="1"/>
              <a:t>while</a:t>
            </a:r>
            <a:r>
              <a:rPr lang="pt-BR" sz="2400" dirty="0"/>
              <a:t> em C serve para repetir um bloco de código enquanto uma condição for verdadeira.</a:t>
            </a:r>
          </a:p>
          <a:p>
            <a:endParaRPr lang="pt-BR" sz="2400" dirty="0"/>
          </a:p>
          <a:p>
            <a:r>
              <a:rPr lang="pt-BR" sz="2400" dirty="0"/>
              <a:t>A condição é testada antes de executar o bloco, se começar falsa, o código dentro não roda nenhuma vez.</a:t>
            </a:r>
          </a:p>
          <a:p>
            <a:endParaRPr lang="pt-BR" sz="2400" dirty="0"/>
          </a:p>
          <a:p>
            <a:r>
              <a:rPr lang="pt-BR" sz="2400" dirty="0"/>
              <a:t>É importante avaliar o comportamento da variável de controle para evitar um loop infinito.</a:t>
            </a:r>
          </a:p>
          <a:p>
            <a:endParaRPr lang="pt-BR" sz="2400" dirty="0"/>
          </a:p>
          <a:p>
            <a:r>
              <a:rPr lang="pt-BR" sz="2400" dirty="0"/>
              <a:t>Estrutura usada em casos onde a quantidade total de repetições não é definida.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9A077CB-B1B5-CC9A-3E79-91E24C159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1689097"/>
            <a:ext cx="4711699" cy="4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5014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EDBBA-07AE-8BFE-2904-06A5F129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293AA67-D501-B974-E7A4-44370381B4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F0C48E0-F262-48BF-558F-3ED89BA7A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E6388B1-C1B6-CC28-0FA4-B95A7161F3E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372D191-1AF4-F81B-5994-393CCCC35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3280" y="1623210"/>
            <a:ext cx="4811335" cy="550861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sintaxe: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6337D16-C5EE-224A-CEFC-AD63B69C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224" y="2174071"/>
            <a:ext cx="4817231" cy="4700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5370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5DAC8-114B-5A07-4098-3C737E0CE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3EF00A2-4C70-7D1E-C90D-B4EBF174477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EBE342-3ADE-8978-D737-FA181DC0F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DO-WHILE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FE2BA8D-095F-46B4-5B16-F974B30B62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E39CE30-AD33-65C1-6D98-84B2B2B4B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717" y="2220911"/>
            <a:ext cx="7374301" cy="4254499"/>
          </a:xfrm>
        </p:spPr>
        <p:txBody>
          <a:bodyPr>
            <a:normAutofit/>
          </a:bodyPr>
          <a:lstStyle/>
          <a:p>
            <a:r>
              <a:rPr lang="pt-BR" sz="2400" dirty="0"/>
              <a:t>O comando </a:t>
            </a:r>
            <a:r>
              <a:rPr lang="pt-BR" sz="2400" b="1" dirty="0"/>
              <a:t>do-</a:t>
            </a:r>
            <a:r>
              <a:rPr lang="pt-BR" sz="2400" b="1" i="1" dirty="0" err="1"/>
              <a:t>while</a:t>
            </a:r>
            <a:r>
              <a:rPr lang="pt-BR" sz="2400" dirty="0"/>
              <a:t> executa o bloco de código pelo menos uma vez. A condição de controle é testada apenas no final do bloco.</a:t>
            </a:r>
          </a:p>
          <a:p>
            <a:endParaRPr lang="pt-BR" sz="2400" dirty="0"/>
          </a:p>
          <a:p>
            <a:r>
              <a:rPr lang="pt-BR" sz="2400" dirty="0"/>
              <a:t>Se a condição for verdadeira, o loop se repete; se for falsa, o programa continua. </a:t>
            </a:r>
          </a:p>
          <a:p>
            <a:endParaRPr lang="pt-BR" sz="2400" dirty="0"/>
          </a:p>
          <a:p>
            <a:r>
              <a:rPr lang="pt-BR" sz="2400" dirty="0"/>
              <a:t>Assim como o </a:t>
            </a:r>
            <a:r>
              <a:rPr lang="pt-BR" sz="2400" dirty="0" err="1"/>
              <a:t>while</a:t>
            </a:r>
            <a:r>
              <a:rPr lang="pt-BR" sz="2400" dirty="0"/>
              <a:t>, o do-</a:t>
            </a:r>
            <a:r>
              <a:rPr lang="pt-BR" sz="2400" dirty="0" err="1"/>
              <a:t>while</a:t>
            </a:r>
            <a:r>
              <a:rPr lang="pt-BR" sz="2400" dirty="0"/>
              <a:t> é usado em situações  na qual o número total de loops não é definido.</a:t>
            </a:r>
          </a:p>
          <a:p>
            <a:endParaRPr lang="pt-BR" sz="2400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1D0D904-C550-89E3-1EBC-C37B46873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018" y="1600199"/>
            <a:ext cx="4526982" cy="4875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5251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4C17B-706A-6AE0-F91C-EF915BA5D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D196D72-6BBA-200A-40FF-04E7C490E5E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B8C27F-E62B-4C54-0DA4-7D50138FF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DO-WHILE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F66DC9-B0D8-A8DB-9619-3B81963F60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E02AF1-DCC5-343D-0674-BD74933C3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4576" y="2143487"/>
            <a:ext cx="4532489" cy="482600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3F74A9A-F221-12C4-6959-A35519EBC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76" y="2626088"/>
            <a:ext cx="4898047" cy="423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434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0F933-B1B8-BCAF-9B40-9673E8DD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A2FEEE-B4FB-85E5-AE5D-BB47AB7DB94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C427A1-99E4-3670-85F8-980CFB4F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FOR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5F36D9-7087-BBE3-65F1-178FA8A3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EEFB847-5A92-548F-DE1A-B88E4AA59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511" y="2070100"/>
            <a:ext cx="7186789" cy="3619500"/>
          </a:xfrm>
        </p:spPr>
        <p:txBody>
          <a:bodyPr>
            <a:normAutofit/>
          </a:bodyPr>
          <a:lstStyle/>
          <a:p>
            <a:r>
              <a:rPr lang="pt-BR" sz="2400" dirty="0"/>
              <a:t>O laço for repete um bloco de código por uma quantidade pré-definida de loops.</a:t>
            </a:r>
          </a:p>
          <a:p>
            <a:endParaRPr lang="pt-BR" sz="2400" b="1" i="1" dirty="0"/>
          </a:p>
          <a:p>
            <a:r>
              <a:rPr lang="pt-BR" sz="2400" dirty="0"/>
              <a:t>Sua estrutura junta a inicialização da variável, a condição de parada e o passo de incremento.</a:t>
            </a:r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B3679EE-C2EB-3BAF-5ADA-C3B2F6CA6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300" y="1335432"/>
            <a:ext cx="4584700" cy="552256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FE7DAC0-A819-2231-1C10-AB4807E592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418" t="44444" r="2882" b="21852"/>
          <a:stretch>
            <a:fillRect/>
          </a:stretch>
        </p:blipFill>
        <p:spPr>
          <a:xfrm>
            <a:off x="1282699" y="4633192"/>
            <a:ext cx="4057583" cy="1412008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FC1522FF-0610-CFCC-D9CB-6708BB3CDE1B}"/>
              </a:ext>
            </a:extLst>
          </p:cNvPr>
          <p:cNvSpPr/>
          <p:nvPr/>
        </p:nvSpPr>
        <p:spPr>
          <a:xfrm>
            <a:off x="1282699" y="4633192"/>
            <a:ext cx="4057583" cy="141200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01367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58801-0F4D-2B0A-3727-334EE4805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629BBB5-F0BC-80ED-AB4E-583FA877F8F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99A5611-1446-2E7C-14A1-E8FA3295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FOR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A9560BB-616C-E762-5A34-B2B3C114BC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BB3BA3-A7D0-E3BF-4D28-7764DE93B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412" y="2631035"/>
            <a:ext cx="5289176" cy="491731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sintaxe: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61FB9E8-4C3C-587E-B065-F62AA285D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412" y="3160867"/>
            <a:ext cx="5289176" cy="369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9829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1090</TotalTime>
  <Words>5144</Words>
  <Application>Microsoft Office PowerPoint</Application>
  <PresentationFormat>Widescreen</PresentationFormat>
  <Paragraphs>746</Paragraphs>
  <Slides>53</Slides>
  <Notes>50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Courier New</vt:lpstr>
      <vt:lpstr>Gill Sans MT</vt:lpstr>
      <vt:lpstr>Tema do Office</vt:lpstr>
      <vt:lpstr>Pacote</vt:lpstr>
      <vt:lpstr>módulo 1 - Introdução à lp</vt:lpstr>
      <vt:lpstr>Conceitos Introdutórios</vt:lpstr>
      <vt:lpstr>LP X Algoritmo X Pseudo-código</vt:lpstr>
      <vt:lpstr>Níveis de Linguagem</vt:lpstr>
      <vt:lpstr>Linguagem de Máquina</vt:lpstr>
      <vt:lpstr>Linguagem Assembly</vt:lpstr>
      <vt:lpstr>Linguagens de Alto Nível</vt:lpstr>
      <vt:lpstr>Compiladores X Interpretadores</vt:lpstr>
      <vt:lpstr>Compiladores X Interpretadores</vt:lpstr>
      <vt:lpstr>Paradigmas de Programação</vt:lpstr>
      <vt:lpstr>MÓDULO 2 – LINGUAGEM C </vt:lpstr>
      <vt:lpstr>Linguagem C</vt:lpstr>
      <vt:lpstr>Ciclo de Desenvolvimento</vt:lpstr>
      <vt:lpstr>Pré-Processador</vt:lpstr>
      <vt:lpstr>Compilador</vt:lpstr>
      <vt:lpstr>Montagem</vt:lpstr>
      <vt:lpstr>Linkagem</vt:lpstr>
      <vt:lpstr>Linkagem (Observação)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Palavras reservadas</vt:lpstr>
      <vt:lpstr>Constantes e Variáveis</vt:lpstr>
      <vt:lpstr>Constantes e Variáveis</vt:lpstr>
      <vt:lpstr>Tipos Primitivos</vt:lpstr>
      <vt:lpstr>Modificadores de tipos</vt:lpstr>
      <vt:lpstr>Faixa de valores para os tipos de dados</vt:lpstr>
      <vt:lpstr>Observação</vt:lpstr>
      <vt:lpstr>Operadores Aritméticos</vt:lpstr>
      <vt:lpstr>Conversão de Tipos</vt:lpstr>
      <vt:lpstr>Conversão de Tipos</vt:lpstr>
      <vt:lpstr>Operações de Entrada e Saída</vt:lpstr>
      <vt:lpstr>Operações de Entrada e Saída</vt:lpstr>
      <vt:lpstr>Operações de Entrada e Saída</vt:lpstr>
      <vt:lpstr>MÓDULO 3 – Estruturas condicionais </vt:lpstr>
      <vt:lpstr>Estrutura Condicional</vt:lpstr>
      <vt:lpstr>Operadores Lógicos</vt:lpstr>
      <vt:lpstr>Operadores Relacionais (Comparadores)</vt:lpstr>
      <vt:lpstr>Comando IF</vt:lpstr>
      <vt:lpstr>Comando IF-ELSE</vt:lpstr>
      <vt:lpstr>Encadeamento de IF-ELSE</vt:lpstr>
      <vt:lpstr>Comando SWITCH-CASE</vt:lpstr>
      <vt:lpstr>MÓDULO 4 – Estruturas de repetição </vt:lpstr>
      <vt:lpstr>Estruturas de Repetição</vt:lpstr>
      <vt:lpstr>Comando WHILE</vt:lpstr>
      <vt:lpstr>Comando WHILE</vt:lpstr>
      <vt:lpstr>Comando DO-WHILE</vt:lpstr>
      <vt:lpstr>Comando DO-WHILE</vt:lpstr>
      <vt:lpstr>Comando FOR</vt:lpstr>
      <vt:lpstr>Comando FOR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98</cp:revision>
  <dcterms:created xsi:type="dcterms:W3CDTF">2026-07-26T12:48:37Z</dcterms:created>
  <dcterms:modified xsi:type="dcterms:W3CDTF">2026-08-13T20:18:14Z</dcterms:modified>
</cp:coreProperties>
</file>