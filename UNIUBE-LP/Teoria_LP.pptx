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42"/>
  </p:notesMasterIdLst>
  <p:sldIdLst>
    <p:sldId id="256" r:id="rId3"/>
    <p:sldId id="257" r:id="rId4"/>
    <p:sldId id="261" r:id="rId5"/>
    <p:sldId id="259" r:id="rId6"/>
    <p:sldId id="262" r:id="rId7"/>
    <p:sldId id="264" r:id="rId8"/>
    <p:sldId id="265" r:id="rId9"/>
    <p:sldId id="267" r:id="rId10"/>
    <p:sldId id="273" r:id="rId11"/>
    <p:sldId id="268" r:id="rId12"/>
    <p:sldId id="275" r:id="rId13"/>
    <p:sldId id="269" r:id="rId14"/>
    <p:sldId id="270" r:id="rId15"/>
    <p:sldId id="271" r:id="rId16"/>
    <p:sldId id="280" r:id="rId17"/>
    <p:sldId id="281" r:id="rId18"/>
    <p:sldId id="282" r:id="rId19"/>
    <p:sldId id="283" r:id="rId20"/>
    <p:sldId id="285" r:id="rId21"/>
    <p:sldId id="286" r:id="rId22"/>
    <p:sldId id="287" r:id="rId23"/>
    <p:sldId id="288" r:id="rId24"/>
    <p:sldId id="289" r:id="rId25"/>
    <p:sldId id="290" r:id="rId26"/>
    <p:sldId id="294" r:id="rId27"/>
    <p:sldId id="292" r:id="rId28"/>
    <p:sldId id="293" r:id="rId29"/>
    <p:sldId id="291" r:id="rId30"/>
    <p:sldId id="298" r:id="rId31"/>
    <p:sldId id="296" r:id="rId32"/>
    <p:sldId id="295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 varScale="1">
        <p:scale>
          <a:sx n="79" d="100"/>
          <a:sy n="7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2C6F1-CAF6-BC25-B510-9CC2118E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66BA548-668B-12DF-C146-C62146B3C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6D6CB5-2E32-07C7-3791-C5071EAC5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AA837C-3A1D-9FCD-5441-A2EBE6517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946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CB19-366C-C2F9-42FB-8DE172F1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87C84D-FCB4-1B22-0B4A-6CC9E7B8A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99CFD9-237E-404F-B40D-D55B8D2E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6F7382-9A20-2174-84F6-08F582704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767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C8082-8D0C-BAC1-1261-B9B52947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9FFCFAC-0B65-614E-D3F0-625E467C1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F0049B0-15DA-6048-F6A6-82B40E15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8EFFEB-2038-F2F7-7B84-1FB4CE6B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97714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A6C64-E4C9-7C6D-E8C4-B61CCE06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493C10-113D-A3F1-3EC7-F0A01EB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C869A-2086-77AC-02DC-5FEB3B8B7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20590-96E8-331A-DB6C-AB67473F5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7962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21956-1F83-B933-D38B-FA178F7C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C1A5B2-020A-06F2-82C3-9D7DD8C98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030C79-DDBA-4923-770E-FFBB8CDDB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85588B7-D4CC-3C65-C878-57F9ADC8F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6734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93E1-ED2C-075C-7580-0F69FEAC6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8999D1-E6BD-5F75-1873-EA30E5F4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066D26-94BF-2DBA-9E7C-4FD31F676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19EED2-7E88-6703-72A2-2790FE66C8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62249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A26A-E1EC-7BA8-F11E-D6817641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DAD396-78B8-C19E-2771-99AF12452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7D803B-134A-A29D-C37A-66A520EDB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93B4FF-3702-514A-C6FB-8D4BCBC8B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32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56BA-C5A3-1799-D720-EBC4F5A5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BA047B-578A-A874-8237-A143BBEE6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0F5932-7B0F-7D26-8B85-FCE4F0AA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DC23C5B-674E-1C19-8365-8AFF71652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285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02BE-D910-B8A8-A058-5A66E2AE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BC3467B-310C-B537-222C-4C9E39EF2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78E45-E72A-749F-7CB8-B5F1434D1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F66280-2125-5BA7-EA97-29678F739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8375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06AFB-5D4D-7CD3-90A8-7AC2BEED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794325-E27A-B527-E4B9-3991D965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F990B5-69F1-5DAD-88A0-9A536B9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1438F-3131-4B35-D5E4-C9F540200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1589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81513-B6A9-22DA-4BA6-BF4BB0E8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C0801F-FA1D-1BCE-6BB9-DE0879B83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95E809-61CA-FB1C-293D-0320EE1C6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E03FE0-AE59-2D35-0D89-D7DFADF1D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6805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546F-84EC-BA81-343F-A0D65A05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5F275-0715-9607-4057-ACFED84B0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E086BD-6607-E317-185A-733A5466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4D1206-9D76-2A3F-EE3D-FAA5C2B2F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4340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D5B-C604-48CE-EAF6-E8B1F89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2E5A7A-58BF-81C0-DD45-031FD4AE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889764-EA45-E98B-5463-43138806A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63CE1F-C1A0-B097-B8DB-4DE1B92FD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2184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5423-0113-8D5E-C00E-8C7F7D62E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AB3E46-6C04-BCE2-2A96-A0CFFE2E1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B24443-DF7D-F8E3-21F6-85F1CD5ED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B642EE-78AC-00A2-A2AE-E06C14966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44011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71822-E6F3-CB98-20B3-46D7E2C99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B76AA77-D69E-FEDA-D42C-EAEF5310C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49F503-7E4F-783E-7286-EC109F5F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DEEFA7-F13B-C573-F06E-6C7828847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557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Sistemas Digitais / AOC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A104-DC23-2A54-0824-013B41F6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F040378-7861-DDD1-8B6B-71ABCAE461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2153CB-A444-24C9-5CC9-1A61EF951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Palavras reservadas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C4259A-9F2D-B996-873C-33EAF9321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D37B3-F763-AE46-E407-49AE69531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81" y="1621425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São termos com funções fixas na linguagem, como </a:t>
            </a:r>
            <a:r>
              <a:rPr lang="pt-BR" sz="2400" b="1" dirty="0" err="1"/>
              <a:t>int</a:t>
            </a:r>
            <a:r>
              <a:rPr lang="pt-BR" sz="2400" dirty="0"/>
              <a:t>, </a:t>
            </a:r>
            <a:r>
              <a:rPr lang="pt-BR" sz="2400" b="1" dirty="0" err="1"/>
              <a:t>if</a:t>
            </a:r>
            <a:r>
              <a:rPr lang="pt-BR" sz="2400" dirty="0"/>
              <a:t> e </a:t>
            </a:r>
            <a:r>
              <a:rPr lang="pt-BR" sz="2400" b="1" dirty="0" err="1"/>
              <a:t>return</a:t>
            </a:r>
            <a:r>
              <a:rPr lang="pt-BR" sz="2400" dirty="0"/>
              <a:t>. </a:t>
            </a:r>
          </a:p>
          <a:p>
            <a:endParaRPr lang="pt-BR" sz="2400" dirty="0"/>
          </a:p>
          <a:p>
            <a:r>
              <a:rPr lang="pt-BR" sz="2400" dirty="0"/>
              <a:t>Elas somam 32 no padrão original e não podem ser usadas para dar nomes a variáveis ou funções.</a:t>
            </a:r>
            <a:endParaRPr lang="en-US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CD40E8-653A-1363-8677-7FBD8451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044" y="3890374"/>
            <a:ext cx="6687911" cy="265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5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8E862-BC4A-1C62-D8CC-0579B7FD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52457F-9AF5-0F64-D569-F29176AEC7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A38A48-38C3-F7A4-EEF1-9F838AEB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A535C-5A76-4565-1E59-39DB71A8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EE1C5E-D427-6659-18DC-A460DF4B3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4" y="1325560"/>
            <a:ext cx="6490500" cy="55324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Variáveis</a:t>
            </a:r>
            <a:r>
              <a:rPr lang="pt-BR" sz="2400" dirty="0"/>
              <a:t> são espaços na memória usados para o armazenamento de dados.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Durante a execução, as variáveis podem ter seu valor alterado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necessário declarar o tipo da variável em C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</a:t>
            </a:r>
            <a:r>
              <a:rPr lang="pt-BR" sz="2200" b="1" dirty="0"/>
              <a:t>tipo</a:t>
            </a:r>
            <a:r>
              <a:rPr lang="pt-BR" sz="2200" dirty="0"/>
              <a:t> da variável define o tamanho e o formato dos dados armazenados.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tipos também indicam ao programa como ler e escrever os valores armazenados.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CDADD6-A99F-9F56-169F-ABEF71CE2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7899268" y="4091779"/>
            <a:ext cx="3810000" cy="23717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179B713-D6A1-8D20-4DD6-CA1DF15B0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7899268" y="1464865"/>
            <a:ext cx="38100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99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44E7-B7FC-4147-F562-9FD89C06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262F2A-2B21-4B0A-7338-765F907E0C6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4A0AD-AA48-945A-FF85-7F6A2B97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D678FC8-2BCB-D09B-D2E2-7AB8D89783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1CB1CE9-7FFC-AE7B-EE15-3267CB61A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468" y="1568824"/>
            <a:ext cx="7236458" cy="52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Constantes</a:t>
            </a:r>
            <a:r>
              <a:rPr lang="pt-BR" sz="2400" dirty="0"/>
              <a:t> guardam valores fixos que não podem ser alterados após a definição.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Tentar alterar uma constante leva a um erro pelo compilador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uma boa prática escrever o nome das constantes com letras maiúsculas para diferenciá-las das variáveis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Podem ser criadas pela diretiva </a:t>
            </a:r>
            <a:r>
              <a:rPr lang="pt-BR" sz="2200" i="1" dirty="0"/>
              <a:t>#define </a:t>
            </a:r>
            <a:r>
              <a:rPr lang="pt-BR" sz="2200" dirty="0"/>
              <a:t>ou</a:t>
            </a:r>
            <a:r>
              <a:rPr lang="pt-BR" sz="2200" i="1" dirty="0"/>
              <a:t> </a:t>
            </a:r>
            <a:r>
              <a:rPr lang="pt-BR" sz="2200" dirty="0"/>
              <a:t>pela palavra chave </a:t>
            </a:r>
            <a:r>
              <a:rPr lang="pt-BR" sz="2200" i="1" u="sng" dirty="0" err="1"/>
              <a:t>const</a:t>
            </a:r>
            <a:r>
              <a:rPr lang="pt-BR" sz="2200" dirty="0"/>
              <a:t>  antes da definição do tipo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B64FB5-AF6B-C1A5-1A3A-08A759AA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52" y="2490537"/>
            <a:ext cx="3441031" cy="344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5184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AF02-56FE-5315-3653-51A857C7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4B052A-A3F6-B26A-8FF9-BC508287984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29414F-13C8-01BB-E045-EE12BC60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Primitivos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0923BD-52A5-AEC7-A367-A2EDB7DACF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57D41A-0914-7021-BB8D-413FF1518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dirty="0"/>
              <a:t>São as formas mais básicas de informação que a linguagem de programação consegue entender. Em C temos:</a:t>
            </a:r>
          </a:p>
          <a:p>
            <a:endParaRPr lang="pt-BR" sz="2400" dirty="0"/>
          </a:p>
          <a:p>
            <a:pPr lvl="1"/>
            <a:r>
              <a:rPr lang="pt-BR" sz="2200" b="1" i="1" u="sng" dirty="0" err="1"/>
              <a:t>int</a:t>
            </a:r>
            <a:r>
              <a:rPr lang="pt-BR" sz="2200" dirty="0"/>
              <a:t>: Armazena números inteiros (positivos e negativos)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float</a:t>
            </a:r>
            <a:r>
              <a:rPr lang="pt-BR" sz="2200" dirty="0"/>
              <a:t>: Armazena números reais com casas decimais de precisão simples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double</a:t>
            </a:r>
            <a:r>
              <a:rPr lang="pt-BR" sz="2200" dirty="0"/>
              <a:t>: Armazena números reais com maior precisão e capacidade que o </a:t>
            </a:r>
            <a:r>
              <a:rPr lang="pt-BR" sz="2200" b="1" i="1" dirty="0" err="1"/>
              <a:t>float</a:t>
            </a:r>
            <a:endParaRPr lang="pt-BR" sz="2200" b="1" i="1" dirty="0"/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char</a:t>
            </a:r>
            <a:r>
              <a:rPr lang="pt-BR" sz="2200" dirty="0"/>
              <a:t>: Armazena um único caractere, como 'a' ou 'Z', representado internamente por um valor numérico inteiro (de acordo com a tabela ASCII), mas não é restrito à caracteres.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void</a:t>
            </a:r>
            <a:r>
              <a:rPr lang="pt-BR" sz="2200" dirty="0"/>
              <a:t>: Indica vazio ou ausência de tipo, muito usado em funções que não retornam valor.</a:t>
            </a:r>
          </a:p>
        </p:txBody>
      </p:sp>
    </p:spTree>
    <p:extLst>
      <p:ext uri="{BB962C8B-B14F-4D97-AF65-F5344CB8AC3E}">
        <p14:creationId xmlns:p14="http://schemas.microsoft.com/office/powerpoint/2010/main" val="755640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AD397-2F65-DE74-9419-D57C75CC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2359FF-8E24-92A3-8D7F-90485676ABF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483743-DFC8-B5F7-1988-608CE8CFC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Modificadores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B1F31EF-2CDE-350B-EACD-98A9EFA4E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C1B619E-85F9-6CF1-AFB1-546F401C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9764361" cy="5231649"/>
          </a:xfrm>
        </p:spPr>
        <p:txBody>
          <a:bodyPr>
            <a:normAutofit/>
          </a:bodyPr>
          <a:lstStyle/>
          <a:p>
            <a:r>
              <a:rPr lang="pt-BR" sz="2600" dirty="0"/>
              <a:t>Permite alterações </a:t>
            </a:r>
            <a:r>
              <a:rPr lang="pt-BR" sz="2400" dirty="0"/>
              <a:t>no tamanho ou na capacidade de armazenamento dos tipos inteiros e de ponto flutuante:</a:t>
            </a:r>
            <a:endParaRPr lang="pt-BR" sz="2600" dirty="0"/>
          </a:p>
          <a:p>
            <a:endParaRPr lang="pt-BR" sz="2400" dirty="0"/>
          </a:p>
          <a:p>
            <a:pPr lvl="1"/>
            <a:r>
              <a:rPr lang="pt-BR" sz="2200" b="1" i="1" u="sng" dirty="0" err="1"/>
              <a:t>signed</a:t>
            </a:r>
            <a:r>
              <a:rPr lang="pt-BR" sz="2200" dirty="0"/>
              <a:t>: Permite valores positivos e negativos (padrão para </a:t>
            </a:r>
            <a:r>
              <a:rPr lang="pt-BR" sz="2200" dirty="0" err="1"/>
              <a:t>int</a:t>
            </a:r>
            <a:r>
              <a:rPr lang="pt-BR" sz="2200" dirty="0"/>
              <a:t>).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 err="1"/>
              <a:t>unsigned</a:t>
            </a:r>
            <a:r>
              <a:rPr lang="pt-BR" sz="2200" dirty="0"/>
              <a:t>: Apenas valores positivos, dobrando o limite máximo positivo da faixa de armazenamento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/>
              <a:t>short</a:t>
            </a:r>
            <a:r>
              <a:rPr lang="pt-BR" sz="2200" dirty="0"/>
              <a:t>: Reduz o espaço de armazenamento para números inteiros menores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 err="1"/>
              <a:t>long</a:t>
            </a:r>
            <a:r>
              <a:rPr lang="pt-BR" sz="2200" dirty="0"/>
              <a:t>: Aumenta o espaço de armazenamento para números inteiros ou reais maiores (</a:t>
            </a:r>
            <a:r>
              <a:rPr lang="pt-BR" sz="2200" dirty="0" err="1"/>
              <a:t>long</a:t>
            </a:r>
            <a:r>
              <a:rPr lang="pt-BR" sz="2200" dirty="0"/>
              <a:t> 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0828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690B-E8BF-5851-00C0-854E731E3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6B7979-ECDF-D961-EBC5-9C2A63EF371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435752-6267-61E4-4139-D813C463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Faixa de valores para os tipos de dados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2F2AB88-1306-9195-2B9F-2707AEE066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Tipo de Dados de C :: Linguagens C e C++">
            <a:extLst>
              <a:ext uri="{FF2B5EF4-FFF2-40B4-BE49-F238E27FC236}">
                <a16:creationId xmlns:a16="http://schemas.microsoft.com/office/drawing/2014/main" id="{435FCCD6-3657-B92C-FF6E-F5CC7BBAE9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829" y="1410039"/>
            <a:ext cx="6657541" cy="5351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5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A6E3-041D-B09A-01FD-D67190F3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1AB49-13C9-DA56-AAD1-AE5EC7C6BCF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151EAB-5A01-EB06-CDE7-EEEFC3FE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Observação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9A68E-905C-184C-B292-B176EA5D3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93C7723-2E79-DDD7-FEE4-809DBC65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b="1" i="1" dirty="0"/>
              <a:t>Precisão simples: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Ocupa 4 bytes (32 bits). Oferece cerca de 6 a 7 dígitos decimais de precisão</a:t>
            </a:r>
          </a:p>
          <a:p>
            <a:pPr lvl="1"/>
            <a:r>
              <a:rPr lang="pt-BR" sz="2200" dirty="0"/>
              <a:t>Comumente utilizado para economizar memória em grandes vetores ou matrizes, ou quando a perda de precisão nas casas decimais não afeta o resultado da operação.</a:t>
            </a:r>
          </a:p>
          <a:p>
            <a:pPr lvl="1"/>
            <a:endParaRPr lang="pt-BR" sz="2200" dirty="0"/>
          </a:p>
          <a:p>
            <a:r>
              <a:rPr lang="pt-BR" sz="2600" b="1" i="1" dirty="0"/>
              <a:t>Precisão dupla:</a:t>
            </a:r>
          </a:p>
          <a:p>
            <a:endParaRPr lang="pt-BR" sz="2600" dirty="0"/>
          </a:p>
          <a:p>
            <a:pPr lvl="1"/>
            <a:r>
              <a:rPr lang="pt-BR" sz="2200" dirty="0"/>
              <a:t>Ocupa 8 bytes (64 bits). Oferece cerca de 15 a 17 dígitos decimais de precisão</a:t>
            </a:r>
          </a:p>
          <a:p>
            <a:pPr lvl="1"/>
            <a:r>
              <a:rPr lang="pt-BR" sz="2200" dirty="0"/>
              <a:t>Comumente utilizado  como padrão para cálculos científicos, financeiros ou gerais em C, pois ele evita erros cumulativos de arredondamento</a:t>
            </a:r>
          </a:p>
        </p:txBody>
      </p:sp>
    </p:spTree>
    <p:extLst>
      <p:ext uri="{BB962C8B-B14F-4D97-AF65-F5344CB8AC3E}">
        <p14:creationId xmlns:p14="http://schemas.microsoft.com/office/powerpoint/2010/main" val="2394775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86C5-19A3-B4B4-3F02-0CCBBA201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5A7E53-E396-0432-4EE1-A55B616E83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A1F473-F486-49AB-2551-9EADA4AA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Aritméticos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C1D408E-D98C-614D-D7C8-5E11D58CCB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E6B605-1839-78FD-6BDE-FC60D016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494004"/>
            <a:ext cx="11315163" cy="5231649"/>
          </a:xfrm>
        </p:spPr>
        <p:txBody>
          <a:bodyPr>
            <a:normAutofit lnSpcReduction="10000"/>
          </a:bodyPr>
          <a:lstStyle/>
          <a:p>
            <a:r>
              <a:rPr lang="pt-BR" sz="2400" b="1" dirty="0"/>
              <a:t>Servem para fazer cálculos básicos com valores numéricos:</a:t>
            </a:r>
          </a:p>
          <a:p>
            <a:endParaRPr lang="pt-BR" sz="2400" b="1" dirty="0"/>
          </a:p>
          <a:p>
            <a:pPr lvl="1"/>
            <a:r>
              <a:rPr lang="pt-BR" sz="2200" dirty="0"/>
              <a:t> Soma (+)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6 + 6=12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Subtração (-)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5 - 12 = -7 (Se o valor não for </a:t>
            </a:r>
            <a:r>
              <a:rPr lang="pt-BR" sz="2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unsigned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Multiplicação (*)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4 * 5 = 20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Divisão (/)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5  /  2</a:t>
            </a:r>
            <a:r>
              <a:rPr lang="pt-BR" sz="2000" dirty="0"/>
              <a:t> = </a:t>
            </a:r>
            <a:r>
              <a:rPr lang="pt-BR" dirty="0"/>
              <a:t>2 (Se a variável for inteira)</a:t>
            </a: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Resto da divisão inteira (%)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5  %  2 = 1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Incremento (++)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x+1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Decremento (--)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x-1</a:t>
            </a:r>
          </a:p>
          <a:p>
            <a:pPr lvl="1"/>
            <a:endParaRPr lang="pt-BR" sz="2200" dirty="0"/>
          </a:p>
          <a:p>
            <a:pPr lvl="1"/>
            <a:endParaRPr lang="pt-BR" sz="2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54C368E-7C37-4892-1F45-ECFB21403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253" y="2504865"/>
            <a:ext cx="320992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40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8C59-0198-8BF0-50FB-B17CCA58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EB874EA-4A89-D2E8-D8CC-2A9A93E643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7AB5FE-CC42-9B7C-3046-31F7430F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E333AB-946A-F09A-1FB8-E1E63FC524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8AD6AF-025A-058F-230B-C12496B15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707"/>
            <a:ext cx="6985066" cy="4353344"/>
          </a:xfrm>
        </p:spPr>
        <p:txBody>
          <a:bodyPr>
            <a:normAutofit/>
          </a:bodyPr>
          <a:lstStyle/>
          <a:p>
            <a:r>
              <a:rPr lang="pt-BR" sz="2400" b="1" dirty="0"/>
              <a:t>Servem unir proposições (de acordo com a lógica proposicional)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E / AND (&amp;&amp;): </a:t>
            </a:r>
            <a:r>
              <a:rPr lang="pt-BR" sz="2200" dirty="0"/>
              <a:t>Retorna verdadeiro apenas se os dois lados forem verdadeiros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OU / OR (||): </a:t>
            </a:r>
            <a:r>
              <a:rPr lang="pt-BR" sz="2200" dirty="0"/>
              <a:t>Retorna verdadeiro se pelo menos um dos lados for verdadeiro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NÃO / NOT (!):</a:t>
            </a:r>
            <a:r>
              <a:rPr lang="pt-BR" sz="2200" dirty="0"/>
              <a:t> Inverte o valor do teste (o que é verdadeiro vira falso, e vice-versa)</a:t>
            </a:r>
          </a:p>
          <a:p>
            <a:pPr lvl="1"/>
            <a:endParaRPr lang="pt-BR" sz="2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808EA45-498D-67F8-8023-C9D16160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362" b="8359"/>
          <a:stretch>
            <a:fillRect/>
          </a:stretch>
        </p:blipFill>
        <p:spPr>
          <a:xfrm>
            <a:off x="8588188" y="2709497"/>
            <a:ext cx="3461084" cy="308332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7791FD3-B489-7C89-2959-747A6D449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618" b="25670"/>
          <a:stretch>
            <a:fillRect/>
          </a:stretch>
        </p:blipFill>
        <p:spPr>
          <a:xfrm>
            <a:off x="7074397" y="2679032"/>
            <a:ext cx="1513791" cy="264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397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DA8C8-BCDE-3567-C977-E9CB262F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EC1879-36C3-847A-7DBB-1BF6762FE09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EB4E15-419C-B189-CF8F-419848AA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Relacionais (Comparadores)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82CA9A1-1EEA-1FF0-C2A8-87B07E539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BDDD11-391F-5052-1C48-67A648AB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435443"/>
            <a:ext cx="8698832" cy="5345114"/>
          </a:xfrm>
        </p:spPr>
        <p:txBody>
          <a:bodyPr>
            <a:normAutofit/>
          </a:bodyPr>
          <a:lstStyle/>
          <a:p>
            <a:r>
              <a:rPr lang="pt-BR" sz="2400" b="1" dirty="0"/>
              <a:t>Servem para comparar valores, retornando “1” para verdadeiro e “0” para falso. São comumente utilizados em condicionais:</a:t>
            </a:r>
          </a:p>
          <a:p>
            <a:endParaRPr lang="pt-BR" sz="2400" b="1" dirty="0"/>
          </a:p>
          <a:p>
            <a:pPr lvl="1"/>
            <a:r>
              <a:rPr lang="pt-BR" sz="2100" b="1" dirty="0"/>
              <a:t>==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Igual a</a:t>
            </a:r>
          </a:p>
          <a:p>
            <a:pPr marL="457200" lvl="1" indent="0">
              <a:buNone/>
            </a:pPr>
            <a:endParaRPr lang="pt-BR" sz="2100" b="1" dirty="0"/>
          </a:p>
          <a:p>
            <a:pPr lvl="1"/>
            <a:r>
              <a:rPr lang="pt-BR" sz="2100" b="1" dirty="0"/>
              <a:t>!=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Diferente de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ou igual a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ou igual 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6218045-6185-5E77-AA39-5D1E58AA3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30" y="3691281"/>
            <a:ext cx="6825916" cy="170948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20583E-B890-F281-3E24-0443B060D6EB}"/>
              </a:ext>
            </a:extLst>
          </p:cNvPr>
          <p:cNvSpPr txBox="1"/>
          <p:nvPr/>
        </p:nvSpPr>
        <p:spPr>
          <a:xfrm>
            <a:off x="5175231" y="3396733"/>
            <a:ext cx="682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6603730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5F4-CEBA-9290-32C3-26A9D48A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6FC4CB-4375-E203-508B-2130FF2610A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FD98CE-BD7F-3841-4F6F-7DA2F45A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9851253-B82B-0176-2AF9-0CC3BFA75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operação de </a:t>
                </a:r>
                <a:r>
                  <a:rPr lang="pt-BR" sz="2400" i="1" dirty="0"/>
                  <a:t>casting </a:t>
                </a:r>
                <a:r>
                  <a:rPr lang="pt-BR" sz="2400" dirty="0"/>
                  <a:t>forçar o computador a mudar o tipo de dado de uma variável ou valor.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 operação é feita colocando o novo tipo entre parênteses </a:t>
                </a:r>
                <a:r>
                  <a:rPr lang="pt-BR" b="1" i="1" u="sng" dirty="0"/>
                  <a:t>(</a:t>
                </a:r>
                <a:r>
                  <a:rPr lang="pt-BR" sz="2400" b="1" i="1" u="sng" dirty="0"/>
                  <a:t>tipo</a:t>
                </a:r>
                <a:r>
                  <a:rPr lang="pt-BR" b="1" i="1" u="sng" dirty="0"/>
                  <a:t>)</a:t>
                </a:r>
                <a:r>
                  <a:rPr lang="pt-BR" sz="2400" b="1" i="1" u="sng" dirty="0"/>
                  <a:t> </a:t>
                </a:r>
                <a:r>
                  <a:rPr lang="pt-BR" sz="2400" dirty="0"/>
                  <a:t>logo antes do valor, por exemplo: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𝑛𝑡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5;</m:t>
                    </m:r>
                  </m:oMath>
                </a14:m>
                <a:endParaRPr lang="pt-BR" sz="2000" b="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2;</m:t>
                    </m:r>
                  </m:oMath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𝑟𝑒𝑠𝑢𝑙𝑡𝑎𝑑𝑜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/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“</a:t>
                </a:r>
                <a:r>
                  <a:rPr lang="pt-BR" sz="2000" dirty="0">
                    <a:solidFill>
                      <a:srgbClr val="FF0000"/>
                    </a:solidFill>
                  </a:rPr>
                  <a:t>resultado” armazena o valor 2.5, ao invés de 2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r>
                  <a:rPr lang="pt-BR" sz="2400" b="1" dirty="0"/>
                  <a:t>Observação: </a:t>
                </a:r>
                <a:r>
                  <a:rPr lang="pt-BR" sz="2400" dirty="0"/>
                  <a:t>A conversão  de </a:t>
                </a:r>
                <a:r>
                  <a:rPr lang="pt-BR" sz="2400" b="1" i="1" dirty="0" err="1"/>
                  <a:t>float</a:t>
                </a:r>
                <a:r>
                  <a:rPr lang="pt-BR" sz="2400" dirty="0"/>
                  <a:t> para </a:t>
                </a:r>
                <a:r>
                  <a:rPr lang="pt-BR" sz="2400" b="1" i="1" dirty="0" err="1"/>
                  <a:t>int</a:t>
                </a:r>
                <a:r>
                  <a:rPr lang="pt-BR" sz="2400" dirty="0"/>
                  <a:t> resulta na perda de todas as casas decimais.</a:t>
                </a:r>
              </a:p>
              <a:p>
                <a:endParaRPr lang="pt-BR" sz="2400" b="1" i="1" u="sng" dirty="0"/>
              </a:p>
              <a:p>
                <a:pPr marL="457200" lvl="1" indent="0">
                  <a:buNone/>
                </a:pPr>
                <a:endParaRPr lang="pt-BR" sz="2100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  <a:blipFill>
                <a:blip r:embed="rId3"/>
                <a:stretch>
                  <a:fillRect l="-982" t="-16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85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4B57-9809-B8EF-0C7F-AE647212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6077B58-1486-08CA-BCC5-A2E484F1859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95C159-1A8A-6D6A-5F80-5E350E84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5727F2-01D1-9623-4246-E33ECC52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A7C7E3-4743-59FF-8FE8-886B0E6D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576135"/>
            <a:ext cx="10475997" cy="513223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/>
              <a:t>É possível fazer o casting entre os tipos primitivos,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e Reais (vice-versa)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de Tamanhos Diferentes (</a:t>
            </a:r>
            <a:r>
              <a:rPr lang="pt-BR" sz="2200" b="1" i="1" dirty="0"/>
              <a:t>short/</a:t>
            </a:r>
            <a:r>
              <a:rPr lang="pt-BR" sz="2200" b="1" i="1" dirty="0" err="1"/>
              <a:t>long</a:t>
            </a:r>
            <a:r>
              <a:rPr lang="pt-BR" sz="2200" dirty="0"/>
              <a:t>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Caracteres e Números (</a:t>
            </a:r>
            <a:r>
              <a:rPr lang="pt-BR" sz="2200" b="1" i="1" dirty="0"/>
              <a:t>char</a:t>
            </a:r>
            <a:r>
              <a:rPr lang="pt-BR" sz="2200" dirty="0"/>
              <a:t> pode passar para </a:t>
            </a:r>
            <a:r>
              <a:rPr lang="pt-BR" sz="2200" b="1" i="1" dirty="0" err="1"/>
              <a:t>int</a:t>
            </a:r>
            <a:r>
              <a:rPr lang="pt-BR" sz="2200" dirty="0"/>
              <a:t> usando o valor da tabela ASCII)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342900" indent="-342900">
              <a:buFont typeface="+mj-lt"/>
              <a:buAutoNum type="arabicPeriod"/>
            </a:pPr>
            <a:r>
              <a:rPr lang="pt-BR" sz="2400" dirty="0"/>
              <a:t>Também é permitido fazer casting entre Ponteiros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i="1" dirty="0" err="1"/>
              <a:t>int</a:t>
            </a:r>
            <a:r>
              <a:rPr lang="pt-BR" sz="2200" i="1" dirty="0"/>
              <a:t>*</a:t>
            </a:r>
            <a:r>
              <a:rPr lang="pt-BR" sz="2200" dirty="0"/>
              <a:t> para </a:t>
            </a:r>
            <a:r>
              <a:rPr lang="pt-BR" sz="2200" i="1" dirty="0"/>
              <a:t>char*</a:t>
            </a:r>
            <a:r>
              <a:rPr lang="pt-BR" sz="2200" dirty="0"/>
              <a:t>  (exige cuidado para evitar erros de acesso à memória)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>
              <a:buFont typeface="+mj-lt"/>
              <a:buAutoNum type="arabicPeriod"/>
            </a:pPr>
            <a:r>
              <a:rPr lang="pt-BR" sz="2400" dirty="0"/>
              <a:t>Não é permitido o casting entre tipos primitivos e tipos complexos (como o </a:t>
            </a:r>
            <a:r>
              <a:rPr lang="pt-BR" sz="2400" dirty="0" err="1"/>
              <a:t>struct</a:t>
            </a:r>
            <a:r>
              <a:rPr lang="pt-BR" sz="2400" dirty="0"/>
              <a:t>), nem a conversão de </a:t>
            </a:r>
            <a:r>
              <a:rPr lang="pt-BR" sz="2400" dirty="0" err="1"/>
              <a:t>strings</a:t>
            </a:r>
            <a:r>
              <a:rPr lang="pt-BR" sz="2400" dirty="0"/>
              <a:t>  para valores numéricos </a:t>
            </a:r>
          </a:p>
          <a:p>
            <a:pPr marL="800100" lvl="1" indent="-342900">
              <a:buFont typeface="+mj-lt"/>
              <a:buAutoNum type="arabicPeriod"/>
            </a:pPr>
            <a:endParaRPr lang="pt-BR" sz="1700" b="1" dirty="0"/>
          </a:p>
        </p:txBody>
      </p:sp>
    </p:spTree>
    <p:extLst>
      <p:ext uri="{BB962C8B-B14F-4D97-AF65-F5344CB8AC3E}">
        <p14:creationId xmlns:p14="http://schemas.microsoft.com/office/powerpoint/2010/main" val="31656394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1E60E-ABD9-D32E-5264-751299B3A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77D9FB-4DD9-3E7A-4A5C-8F654CD64D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44C01A-1C31-EE76-5753-99FB3CE59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72043A7-9CC2-8022-2E96-1F146306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9319CF-7399-E27E-5AC4-1D6548DC1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As operações de entrada e saída (E/S) em C utilizam a biblioteca padrão &lt;</a:t>
            </a:r>
            <a:r>
              <a:rPr lang="pt-BR" sz="2400" dirty="0" err="1"/>
              <a:t>stdio.h</a:t>
            </a:r>
            <a:r>
              <a:rPr lang="pt-BR" sz="2400" dirty="0"/>
              <a:t>&gt;</a:t>
            </a:r>
          </a:p>
          <a:p>
            <a:r>
              <a:rPr lang="pt-BR" sz="2400" dirty="0"/>
              <a:t>A saída de dados na tela é feita com a função </a:t>
            </a:r>
            <a:r>
              <a:rPr lang="pt-BR" sz="2400" b="1" i="1" dirty="0" err="1"/>
              <a:t>printf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Especificadores de formato são utilizados na função para definir onde o valor de uma variável deve ser inserido e como essa variável será exibida em uma </a:t>
            </a:r>
            <a:r>
              <a:rPr lang="pt-BR" sz="2400" b="1" dirty="0" err="1"/>
              <a:t>String</a:t>
            </a:r>
            <a:r>
              <a:rPr lang="pt-BR" sz="2400" dirty="0"/>
              <a:t> (de acordo com o tipo)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6CF86BA-CD15-4345-C3F4-FA6E2ED3F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4" b="31625"/>
          <a:stretch>
            <a:fillRect/>
          </a:stretch>
        </p:blipFill>
        <p:spPr>
          <a:xfrm>
            <a:off x="1397418" y="3128127"/>
            <a:ext cx="5541324" cy="174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225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8DB-5FF5-3D71-5511-7B7F6B99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A23D10D-F0FE-961D-EC87-23B3F963DA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33DA47-FB95-ECBD-3DD7-D5CD0D5F5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F934E71-5F6F-BD04-A7A3-C169F9464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12E6CA-54CC-049C-CCB8-A961DE78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b="1" dirty="0"/>
              <a:t>Especificadores de formato: </a:t>
            </a:r>
            <a:r>
              <a:rPr lang="pt-BR" sz="2400" dirty="0"/>
              <a:t>são códigos iniciados por % usados para indicar o tipo de dado que o programa vai ler ou mostrar na tela. São eles:</a:t>
            </a:r>
          </a:p>
          <a:p>
            <a:endParaRPr lang="pt-BR" sz="2200" b="1" i="1" dirty="0"/>
          </a:p>
          <a:p>
            <a:pPr lvl="1"/>
            <a:r>
              <a:rPr lang="pt-BR" sz="2200" b="1" dirty="0"/>
              <a:t>%d (ou %i)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inteiro decimal</a:t>
            </a:r>
            <a:endParaRPr lang="pt-BR" sz="2200" b="1" dirty="0"/>
          </a:p>
          <a:p>
            <a:pPr lvl="1"/>
            <a:r>
              <a:rPr lang="pt-BR" sz="2200" b="1" dirty="0"/>
              <a:t>%f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ponto flutuante</a:t>
            </a:r>
            <a:endParaRPr lang="pt-BR" sz="2200" b="1" dirty="0"/>
          </a:p>
          <a:p>
            <a:pPr lvl="1"/>
            <a:r>
              <a:rPr lang="pt-BR" sz="2200" b="1" dirty="0"/>
              <a:t>%</a:t>
            </a:r>
            <a:r>
              <a:rPr lang="pt-BR" sz="2200" b="1" dirty="0" err="1"/>
              <a:t>lf</a:t>
            </a:r>
            <a:r>
              <a:rPr lang="pt-BR" sz="2200" b="1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dupla precisão (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  <a:endParaRPr lang="pt-BR" sz="2200" b="1" dirty="0"/>
          </a:p>
          <a:p>
            <a:pPr lvl="1"/>
            <a:r>
              <a:rPr lang="pt-BR" sz="2200" b="1" dirty="0"/>
              <a:t>%c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Um único caractere</a:t>
            </a:r>
            <a:endParaRPr lang="pt-BR" sz="2200" b="1" dirty="0"/>
          </a:p>
          <a:p>
            <a:pPr lvl="1"/>
            <a:r>
              <a:rPr lang="pt-BR" sz="2200" b="1" dirty="0"/>
              <a:t>%s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Cadeia de caracteres</a:t>
            </a:r>
            <a:endParaRPr lang="pt-BR" sz="2200" b="1" dirty="0"/>
          </a:p>
          <a:p>
            <a:pPr lvl="1"/>
            <a:r>
              <a:rPr lang="pt-BR" sz="2200" b="1" dirty="0"/>
              <a:t>%u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decimal sem sinal</a:t>
            </a:r>
            <a:endParaRPr lang="pt-BR" sz="2200" b="1" dirty="0"/>
          </a:p>
          <a:p>
            <a:pPr lvl="1"/>
            <a:r>
              <a:rPr lang="pt-BR" sz="2200" b="1" dirty="0"/>
              <a:t>%o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em formato octal</a:t>
            </a:r>
            <a:endParaRPr lang="pt-BR" sz="2200" b="1" dirty="0"/>
          </a:p>
          <a:p>
            <a:pPr lvl="1"/>
            <a:r>
              <a:rPr lang="pt-BR" sz="2200" b="1" dirty="0"/>
              <a:t>%x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Número em formato hexadecimal</a:t>
            </a:r>
          </a:p>
          <a:p>
            <a:pPr lvl="1"/>
            <a:r>
              <a:rPr lang="pt-BR" sz="2200" b="1" dirty="0"/>
              <a:t>%p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Endereço de memória de um ponteiro</a:t>
            </a:r>
          </a:p>
          <a:p>
            <a:pPr lvl="1"/>
            <a:endParaRPr lang="pt-BR" sz="20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</p:spTree>
    <p:extLst>
      <p:ext uri="{BB962C8B-B14F-4D97-AF65-F5344CB8AC3E}">
        <p14:creationId xmlns:p14="http://schemas.microsoft.com/office/powerpoint/2010/main" val="5542644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AEB4-E3B3-8F6F-F6ED-9AD32EA31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AC75E49-528F-F290-E926-463B8EE075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072A52-DADE-14B4-BE31-BFEEC72E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6B6617B-8F7B-A04E-715D-B35CB3F60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6640E8-C00D-FF14-9248-9BFAE856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 entrada de dados no teclado é feita com a função </a:t>
            </a:r>
            <a:r>
              <a:rPr lang="pt-BR" sz="2400" b="1" i="1" dirty="0" err="1"/>
              <a:t>scanf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A função utiliza o especificador de formato para definir como tratar o valor de entrada.</a:t>
            </a:r>
          </a:p>
          <a:p>
            <a:r>
              <a:rPr lang="pt-BR" sz="2400" dirty="0"/>
              <a:t>Em sequencia, a função armazena a entrada na variável definida, utilizando a referência ao </a:t>
            </a:r>
            <a:r>
              <a:rPr lang="pt-BR" sz="2400" b="1" dirty="0"/>
              <a:t>endereço de memória </a:t>
            </a:r>
            <a:r>
              <a:rPr lang="pt-BR" sz="2400" dirty="0"/>
              <a:t>associado à variável (&amp;a).</a:t>
            </a:r>
            <a:endParaRPr lang="pt-BR" sz="2400" b="1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67E36F-01FF-4000-BBB2-1DA0DE9AE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636" y="2649956"/>
            <a:ext cx="52387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930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996</TotalTime>
  <Words>4505</Words>
  <Application>Microsoft Office PowerPoint</Application>
  <PresentationFormat>Widescreen</PresentationFormat>
  <Paragraphs>619</Paragraphs>
  <Slides>39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39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Palavras reservadas</vt:lpstr>
      <vt:lpstr>Constantes e Variáveis</vt:lpstr>
      <vt:lpstr>Constantes e Variáveis</vt:lpstr>
      <vt:lpstr>Tipos Primitivos</vt:lpstr>
      <vt:lpstr>Modificadores de tipos</vt:lpstr>
      <vt:lpstr>Faixa de valores para os tipos de dados</vt:lpstr>
      <vt:lpstr>Observação</vt:lpstr>
      <vt:lpstr>Operadores Aritméticos</vt:lpstr>
      <vt:lpstr>Operadores Lógicos</vt:lpstr>
      <vt:lpstr>Operadores Relacionais (Comparadores)</vt:lpstr>
      <vt:lpstr>Conversão de Tipos</vt:lpstr>
      <vt:lpstr>Conversão de Tipos</vt:lpstr>
      <vt:lpstr>Operações de Entrada e Saída</vt:lpstr>
      <vt:lpstr>Operações de Entrada e Saída</vt:lpstr>
      <vt:lpstr>Operações de Entrada e Saída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83</cp:revision>
  <dcterms:created xsi:type="dcterms:W3CDTF">2026-07-26T12:48:37Z</dcterms:created>
  <dcterms:modified xsi:type="dcterms:W3CDTF">2026-08-11T14:39:43Z</dcterms:modified>
</cp:coreProperties>
</file>