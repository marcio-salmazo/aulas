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71"/>
  </p:notesMasterIdLst>
  <p:sldIdLst>
    <p:sldId id="256" r:id="rId5"/>
    <p:sldId id="259" r:id="rId6"/>
    <p:sldId id="257" r:id="rId7"/>
    <p:sldId id="330" r:id="rId8"/>
    <p:sldId id="331" r:id="rId9"/>
    <p:sldId id="329" r:id="rId10"/>
    <p:sldId id="332" r:id="rId11"/>
    <p:sldId id="333" r:id="rId12"/>
    <p:sldId id="334" r:id="rId13"/>
    <p:sldId id="335" r:id="rId14"/>
    <p:sldId id="336" r:id="rId15"/>
    <p:sldId id="337" r:id="rId16"/>
    <p:sldId id="258" r:id="rId17"/>
    <p:sldId id="339" r:id="rId18"/>
    <p:sldId id="340" r:id="rId19"/>
    <p:sldId id="341" r:id="rId20"/>
    <p:sldId id="342" r:id="rId21"/>
    <p:sldId id="343" r:id="rId22"/>
    <p:sldId id="338" r:id="rId23"/>
    <p:sldId id="344" r:id="rId24"/>
    <p:sldId id="347" r:id="rId25"/>
    <p:sldId id="345" r:id="rId26"/>
    <p:sldId id="348" r:id="rId27"/>
    <p:sldId id="349" r:id="rId28"/>
    <p:sldId id="350" r:id="rId29"/>
    <p:sldId id="351" r:id="rId30"/>
    <p:sldId id="352" r:id="rId31"/>
    <p:sldId id="353" r:id="rId32"/>
    <p:sldId id="346" r:id="rId33"/>
    <p:sldId id="356" r:id="rId34"/>
    <p:sldId id="354" r:id="rId35"/>
    <p:sldId id="357" r:id="rId36"/>
    <p:sldId id="360" r:id="rId37"/>
    <p:sldId id="359" r:id="rId38"/>
    <p:sldId id="361" r:id="rId39"/>
    <p:sldId id="358" r:id="rId40"/>
    <p:sldId id="362" r:id="rId41"/>
    <p:sldId id="363" r:id="rId42"/>
    <p:sldId id="355" r:id="rId43"/>
    <p:sldId id="364" r:id="rId44"/>
    <p:sldId id="365" r:id="rId45"/>
    <p:sldId id="367" r:id="rId46"/>
    <p:sldId id="368" r:id="rId47"/>
    <p:sldId id="369" r:id="rId48"/>
    <p:sldId id="370" r:id="rId49"/>
    <p:sldId id="366" r:id="rId50"/>
    <p:sldId id="372" r:id="rId51"/>
    <p:sldId id="373" r:id="rId52"/>
    <p:sldId id="371" r:id="rId53"/>
    <p:sldId id="375" r:id="rId54"/>
    <p:sldId id="376" r:id="rId55"/>
    <p:sldId id="377" r:id="rId56"/>
    <p:sldId id="374" r:id="rId57"/>
    <p:sldId id="379" r:id="rId58"/>
    <p:sldId id="380" r:id="rId59"/>
    <p:sldId id="381" r:id="rId60"/>
    <p:sldId id="378" r:id="rId61"/>
    <p:sldId id="383" r:id="rId62"/>
    <p:sldId id="382" r:id="rId63"/>
    <p:sldId id="385" r:id="rId64"/>
    <p:sldId id="386" r:id="rId65"/>
    <p:sldId id="388" r:id="rId66"/>
    <p:sldId id="384" r:id="rId67"/>
    <p:sldId id="389" r:id="rId68"/>
    <p:sldId id="390" r:id="rId69"/>
    <p:sldId id="387" r:id="rId70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microsoft.com/office/2016/11/relationships/changesInfo" Target="changesInfos/changesInfo1.xml"/><Relationship Id="rId7" Type="http://schemas.openxmlformats.org/officeDocument/2006/relationships/slide" Target="slides/slide3.xml"/><Relationship Id="rId7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uno Augusto Nassif Travencolo" userId="9765cb90-d5ec-451e-8c7b-af57428794a1" providerId="ADAL" clId="{68B5B6A6-03C8-4DC6-947A-39D8204A27F9}"/>
    <pc:docChg chg="modSld">
      <pc:chgData name="Bruno Augusto Nassif Travencolo" userId="9765cb90-d5ec-451e-8c7b-af57428794a1" providerId="ADAL" clId="{68B5B6A6-03C8-4DC6-947A-39D8204A27F9}" dt="2023-05-11T21:31:35.476" v="31" actId="400"/>
      <pc:docMkLst>
        <pc:docMk/>
      </pc:docMkLst>
      <pc:sldChg chg="modSp mod">
        <pc:chgData name="Bruno Augusto Nassif Travencolo" userId="9765cb90-d5ec-451e-8c7b-af57428794a1" providerId="ADAL" clId="{68B5B6A6-03C8-4DC6-947A-39D8204A27F9}" dt="2023-05-11T21:31:35.476" v="31" actId="400"/>
        <pc:sldMkLst>
          <pc:docMk/>
          <pc:sldMk cId="3155386822" sldId="258"/>
        </pc:sldMkLst>
        <pc:spChg chg="mod">
          <ac:chgData name="Bruno Augusto Nassif Travencolo" userId="9765cb90-d5ec-451e-8c7b-af57428794a1" providerId="ADAL" clId="{68B5B6A6-03C8-4DC6-947A-39D8204A27F9}" dt="2023-05-11T21:31:35.476" v="31" actId="400"/>
          <ac:spMkLst>
            <pc:docMk/>
            <pc:sldMk cId="3155386822" sldId="258"/>
            <ac:spMk id="3" creationId="{00000000-0000-0000-0000-000000000000}"/>
          </ac:spMkLst>
        </pc:spChg>
      </pc:sldChg>
      <pc:sldChg chg="modSp mod">
        <pc:chgData name="Bruno Augusto Nassif Travencolo" userId="9765cb90-d5ec-451e-8c7b-af57428794a1" providerId="ADAL" clId="{68B5B6A6-03C8-4DC6-947A-39D8204A27F9}" dt="2023-05-11T21:25:59.391" v="28" actId="27636"/>
        <pc:sldMkLst>
          <pc:docMk/>
          <pc:sldMk cId="3144436928" sldId="339"/>
        </pc:sldMkLst>
        <pc:spChg chg="mod">
          <ac:chgData name="Bruno Augusto Nassif Travencolo" userId="9765cb90-d5ec-451e-8c7b-af57428794a1" providerId="ADAL" clId="{68B5B6A6-03C8-4DC6-947A-39D8204A27F9}" dt="2023-05-11T21:25:59.313" v="16" actId="14100"/>
          <ac:spMkLst>
            <pc:docMk/>
            <pc:sldMk cId="3144436928" sldId="339"/>
            <ac:spMk id="6" creationId="{00000000-0000-0000-0000-000000000000}"/>
          </ac:spMkLst>
        </pc:spChg>
        <pc:spChg chg="mod">
          <ac:chgData name="Bruno Augusto Nassif Travencolo" userId="9765cb90-d5ec-451e-8c7b-af57428794a1" providerId="ADAL" clId="{68B5B6A6-03C8-4DC6-947A-39D8204A27F9}" dt="2023-05-11T21:25:59.391" v="28" actId="27636"/>
          <ac:spMkLst>
            <pc:docMk/>
            <pc:sldMk cId="3144436928" sldId="339"/>
            <ac:spMk id="7" creationId="{00000000-0000-0000-0000-000000000000}"/>
          </ac:spMkLst>
        </pc:spChg>
        <pc:grpChg chg="mod">
          <ac:chgData name="Bruno Augusto Nassif Travencolo" userId="9765cb90-d5ec-451e-8c7b-af57428794a1" providerId="ADAL" clId="{68B5B6A6-03C8-4DC6-947A-39D8204A27F9}" dt="2023-05-11T21:25:59.313" v="16" actId="14100"/>
          <ac:grpSpMkLst>
            <pc:docMk/>
            <pc:sldMk cId="3144436928" sldId="339"/>
            <ac:grpSpMk id="8" creationId="{00000000-0000-0000-0000-000000000000}"/>
          </ac:grpSpMkLst>
        </pc:grpChg>
        <pc:picChg chg="mod">
          <ac:chgData name="Bruno Augusto Nassif Travencolo" userId="9765cb90-d5ec-451e-8c7b-af57428794a1" providerId="ADAL" clId="{68B5B6A6-03C8-4DC6-947A-39D8204A27F9}" dt="2023-05-11T21:25:59.313" v="16" actId="14100"/>
          <ac:picMkLst>
            <pc:docMk/>
            <pc:sldMk cId="3144436928" sldId="339"/>
            <ac:picMk id="4" creationId="{00000000-0000-0000-0000-000000000000}"/>
          </ac:picMkLst>
        </pc:picChg>
        <pc:picChg chg="mod">
          <ac:chgData name="Bruno Augusto Nassif Travencolo" userId="9765cb90-d5ec-451e-8c7b-af57428794a1" providerId="ADAL" clId="{68B5B6A6-03C8-4DC6-947A-39D8204A27F9}" dt="2023-05-11T21:25:59.313" v="16" actId="14100"/>
          <ac:picMkLst>
            <pc:docMk/>
            <pc:sldMk cId="3144436928" sldId="339"/>
            <ac:picMk id="5" creationId="{00000000-0000-0000-0000-000000000000}"/>
          </ac:picMkLst>
        </pc:picChg>
      </pc:sldChg>
    </pc:docChg>
  </pc:docChgLst>
  <pc:docChgLst>
    <pc:chgData name="Bruno Augusto Nassif Travencolo" userId="9765cb90-d5ec-451e-8c7b-af57428794a1" providerId="ADAL" clId="{0CDCA006-4ACE-4D7F-A071-C5798B02AFAC}"/>
    <pc:docChg chg="modSld">
      <pc:chgData name="Bruno Augusto Nassif Travencolo" userId="9765cb90-d5ec-451e-8c7b-af57428794a1" providerId="ADAL" clId="{0CDCA006-4ACE-4D7F-A071-C5798B02AFAC}" dt="2024-10-18T11:00:31.615" v="1" actId="20577"/>
      <pc:docMkLst>
        <pc:docMk/>
      </pc:docMkLst>
      <pc:sldChg chg="modSp mod">
        <pc:chgData name="Bruno Augusto Nassif Travencolo" userId="9765cb90-d5ec-451e-8c7b-af57428794a1" providerId="ADAL" clId="{0CDCA006-4ACE-4D7F-A071-C5798B02AFAC}" dt="2024-10-18T10:59:33.906" v="0" actId="20577"/>
        <pc:sldMkLst>
          <pc:docMk/>
          <pc:sldMk cId="598930359" sldId="372"/>
        </pc:sldMkLst>
        <pc:spChg chg="mod">
          <ac:chgData name="Bruno Augusto Nassif Travencolo" userId="9765cb90-d5ec-451e-8c7b-af57428794a1" providerId="ADAL" clId="{0CDCA006-4ACE-4D7F-A071-C5798B02AFAC}" dt="2024-10-18T10:59:33.906" v="0" actId="20577"/>
          <ac:spMkLst>
            <pc:docMk/>
            <pc:sldMk cId="598930359" sldId="372"/>
            <ac:spMk id="6" creationId="{00000000-0000-0000-0000-000000000000}"/>
          </ac:spMkLst>
        </pc:spChg>
      </pc:sldChg>
      <pc:sldChg chg="modSp mod">
        <pc:chgData name="Bruno Augusto Nassif Travencolo" userId="9765cb90-d5ec-451e-8c7b-af57428794a1" providerId="ADAL" clId="{0CDCA006-4ACE-4D7F-A071-C5798B02AFAC}" dt="2024-10-18T11:00:31.615" v="1" actId="20577"/>
        <pc:sldMkLst>
          <pc:docMk/>
          <pc:sldMk cId="3066173515" sldId="374"/>
        </pc:sldMkLst>
        <pc:spChg chg="mod">
          <ac:chgData name="Bruno Augusto Nassif Travencolo" userId="9765cb90-d5ec-451e-8c7b-af57428794a1" providerId="ADAL" clId="{0CDCA006-4ACE-4D7F-A071-C5798B02AFAC}" dt="2024-10-18T11:00:31.615" v="1" actId="20577"/>
          <ac:spMkLst>
            <pc:docMk/>
            <pc:sldMk cId="3066173515" sldId="374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0D251D-749A-4B9A-A3E6-82592641065F}" type="datetimeFigureOut">
              <a:rPr lang="pt-BR" smtClean="0"/>
              <a:t>18/10/2024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079040-1D1A-45E9-98E4-750766B0FC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6290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2E700DB3-DBF0-4086-B675-117E7A9610B8}" type="datetimeFigureOut">
              <a:rPr lang="pt-BR" smtClean="0"/>
              <a:t>18/10/2024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18/10/2024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7" name="Retângulo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18/10/2024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2E700DB3-DBF0-4086-B675-117E7A9610B8}" type="datetimeFigureOut">
              <a:rPr lang="pt-BR" smtClean="0"/>
              <a:t>18/10/2024</a:t>
            </a:fld>
            <a:endParaRPr lang="pt-BR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12" name="Espaço Reservado para Rodapé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2E700DB3-DBF0-4086-B675-117E7A9610B8}" type="datetimeFigureOut">
              <a:rPr lang="pt-BR" smtClean="0"/>
              <a:t>18/10/2024</a:t>
            </a:fld>
            <a:endParaRPr lang="pt-BR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pt-BR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18/10/2024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18/10/2024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18/10/2024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8" name="Retângulo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11" name="Retângulo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2E700DB3-DBF0-4086-B675-117E7A9610B8}" type="datetimeFigureOut">
              <a:rPr lang="pt-BR" smtClean="0"/>
              <a:t>18/10/2024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/>
              <a:t>Clique no ícone para adicionar uma imagem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18/10/2024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2E700DB3-DBF0-4086-B675-117E7A9610B8}" type="datetimeFigureOut">
              <a:rPr lang="pt-BR" smtClean="0"/>
              <a:t>18/10/2024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2E700DB3-DBF0-4086-B675-117E7A9610B8}" type="datetimeFigureOut">
              <a:rPr lang="pt-BR" smtClean="0"/>
              <a:t>18/10/2024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w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image" Target="../media/image36.wmf"/><Relationship Id="rId7" Type="http://schemas.openxmlformats.org/officeDocument/2006/relationships/image" Target="../media/image38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37.wmf"/><Relationship Id="rId4" Type="http://schemas.openxmlformats.org/officeDocument/2006/relationships/oleObject" Target="../embeddings/oleObject3.bin"/><Relationship Id="rId9" Type="http://schemas.openxmlformats.org/officeDocument/2006/relationships/image" Target="../media/image39.wmf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13" Type="http://schemas.openxmlformats.org/officeDocument/2006/relationships/image" Target="../media/image46.wmf"/><Relationship Id="rId18" Type="http://schemas.openxmlformats.org/officeDocument/2006/relationships/oleObject" Target="../embeddings/oleObject14.bin"/><Relationship Id="rId3" Type="http://schemas.openxmlformats.org/officeDocument/2006/relationships/image" Target="../media/image41.wmf"/><Relationship Id="rId21" Type="http://schemas.openxmlformats.org/officeDocument/2006/relationships/image" Target="../media/image50.wmf"/><Relationship Id="rId7" Type="http://schemas.openxmlformats.org/officeDocument/2006/relationships/image" Target="../media/image43.wmf"/><Relationship Id="rId12" Type="http://schemas.openxmlformats.org/officeDocument/2006/relationships/oleObject" Target="../embeddings/oleObject11.bin"/><Relationship Id="rId17" Type="http://schemas.openxmlformats.org/officeDocument/2006/relationships/image" Target="../media/image48.wmf"/><Relationship Id="rId2" Type="http://schemas.openxmlformats.org/officeDocument/2006/relationships/oleObject" Target="../embeddings/oleObject6.bin"/><Relationship Id="rId16" Type="http://schemas.openxmlformats.org/officeDocument/2006/relationships/oleObject" Target="../embeddings/oleObject13.bin"/><Relationship Id="rId20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45.wmf"/><Relationship Id="rId5" Type="http://schemas.openxmlformats.org/officeDocument/2006/relationships/image" Target="../media/image42.wmf"/><Relationship Id="rId15" Type="http://schemas.openxmlformats.org/officeDocument/2006/relationships/image" Target="../media/image47.wmf"/><Relationship Id="rId23" Type="http://schemas.openxmlformats.org/officeDocument/2006/relationships/image" Target="../media/image51.wmf"/><Relationship Id="rId10" Type="http://schemas.openxmlformats.org/officeDocument/2006/relationships/oleObject" Target="../embeddings/oleObject10.bin"/><Relationship Id="rId19" Type="http://schemas.openxmlformats.org/officeDocument/2006/relationships/image" Target="../media/image49.wmf"/><Relationship Id="rId4" Type="http://schemas.openxmlformats.org/officeDocument/2006/relationships/oleObject" Target="../embeddings/oleObject7.bin"/><Relationship Id="rId9" Type="http://schemas.openxmlformats.org/officeDocument/2006/relationships/image" Target="../media/image44.wmf"/><Relationship Id="rId14" Type="http://schemas.openxmlformats.org/officeDocument/2006/relationships/oleObject" Target="../embeddings/oleObject12.bin"/><Relationship Id="rId22" Type="http://schemas.openxmlformats.org/officeDocument/2006/relationships/oleObject" Target="../embeddings/oleObject16.bin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w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Modelos de Cor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7371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ço Reservado para Conteúdo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Intensity is radiant power in a particular direction.</a:t>
            </a:r>
          </a:p>
          <a:p>
            <a:r>
              <a:rPr lang="en-US" sz="2200"/>
              <a:t>Radiance is intensity per unit projected area.</a:t>
            </a:r>
          </a:p>
          <a:p>
            <a:r>
              <a:rPr lang="en-US" sz="2200"/>
              <a:t>Luminance is radiance weighted by the spectral sensitivity associated with the brightness sensation of vision.</a:t>
            </a:r>
          </a:p>
          <a:p>
            <a:r>
              <a:rPr lang="en-US" sz="2200"/>
              <a:t>Luminance is proportional to intensity.</a:t>
            </a:r>
          </a:p>
          <a:p>
            <a:r>
              <a:rPr lang="en-US" sz="2200"/>
              <a:t>Illuminance is luminance integrated over a half-sphere.</a:t>
            </a:r>
          </a:p>
          <a:p>
            <a:r>
              <a:rPr lang="en-US" sz="2200"/>
              <a:t>Lightness – formally, CIE L* – is the standard approximation to the perceptual response to luminance.</a:t>
            </a:r>
          </a:p>
          <a:p>
            <a:pPr lvl="1"/>
            <a:r>
              <a:rPr lang="en-US" sz="1800"/>
              <a:t>It is computed by subjecting luminance to a nonlinear transfer function that mimics vision.</a:t>
            </a:r>
          </a:p>
          <a:p>
            <a:r>
              <a:rPr lang="en-US" sz="2400"/>
              <a:t>Value refers to measures of lightness apart from CIE L*.</a:t>
            </a:r>
            <a:endParaRPr lang="en-US" sz="2200"/>
          </a:p>
          <a:p>
            <a:endParaRPr lang="en-US"/>
          </a:p>
          <a:p>
            <a:endParaRPr lang="en-US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Terminologias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5906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Modelos de Cor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 objetivo do modelo de cor é facilitar a especificação de cores em algum padrão. </a:t>
            </a:r>
          </a:p>
          <a:p>
            <a:pPr lvl="1"/>
            <a:r>
              <a:rPr lang="pt-BR" dirty="0"/>
              <a:t>A especificação é feita em um sistema de coordenadas no qual cada cor é representada por um único ponto.</a:t>
            </a:r>
          </a:p>
          <a:p>
            <a:pPr lvl="1"/>
            <a:r>
              <a:rPr lang="pt-BR" dirty="0"/>
              <a:t>Cada modelo de cor, tais como RGB, CMYK, HSI, representa um método diferente (normalmente numérico) para descrever a cor.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31608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Modelos de Cor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Há duas maneiras de descrever uma cor</a:t>
            </a:r>
          </a:p>
          <a:p>
            <a:pPr lvl="1"/>
            <a:r>
              <a:rPr lang="pt-BR" dirty="0"/>
              <a:t>Descrição orientada a hardware: monitor, impressora colorida</a:t>
            </a:r>
          </a:p>
          <a:p>
            <a:pPr lvl="2"/>
            <a:r>
              <a:rPr lang="pt-BR" dirty="0"/>
              <a:t>RGB (monitor)/ </a:t>
            </a:r>
            <a:r>
              <a:rPr lang="pt-BR" dirty="0" err="1"/>
              <a:t>sRGB</a:t>
            </a:r>
            <a:endParaRPr lang="pt-BR" dirty="0"/>
          </a:p>
          <a:p>
            <a:pPr lvl="2"/>
            <a:r>
              <a:rPr lang="pt-BR" dirty="0"/>
              <a:t>CMYK (impressoras, copiadoras)</a:t>
            </a:r>
          </a:p>
          <a:p>
            <a:pPr lvl="1"/>
            <a:r>
              <a:rPr lang="pt-BR" dirty="0"/>
              <a:t>Descrição orientada à percepção humana</a:t>
            </a:r>
          </a:p>
          <a:p>
            <a:pPr lvl="2"/>
            <a:r>
              <a:rPr lang="pt-BR" dirty="0"/>
              <a:t>HSI</a:t>
            </a:r>
          </a:p>
          <a:p>
            <a:pPr lvl="2"/>
            <a:r>
              <a:rPr lang="pt-BR" dirty="0" err="1"/>
              <a:t>Lab</a:t>
            </a:r>
            <a:r>
              <a:rPr lang="pt-BR" dirty="0"/>
              <a:t> / CIE L*a*b*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92523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DE COR RGB</a:t>
            </a:r>
          </a:p>
        </p:txBody>
      </p:sp>
    </p:spTree>
    <p:extLst>
      <p:ext uri="{BB962C8B-B14F-4D97-AF65-F5344CB8AC3E}">
        <p14:creationId xmlns:p14="http://schemas.microsoft.com/office/powerpoint/2010/main" val="3535506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RGB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O  modelo RGB é um modelo aditivo, que descreve as cores como uma combinação das três cores primárias: vermelho (R), verde (G) e azul (B).</a:t>
            </a:r>
          </a:p>
          <a:p>
            <a:endParaRPr lang="pt-B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0338" y="3213100"/>
            <a:ext cx="3394075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6850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RGB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Este modelo é baseado no sistema de coordenadas Cartesianas 3D</a:t>
            </a:r>
          </a:p>
          <a:p>
            <a:pPr lvl="1"/>
            <a:r>
              <a:rPr lang="pt-BR" dirty="0"/>
              <a:t>A cor branca corresponde à representação simultânea das três cores primárias (1,1,1) enquanto que a cor preta corresponde à ausência das mesmas (0.0.0)</a:t>
            </a:r>
          </a:p>
          <a:p>
            <a:endParaRPr lang="pt-BR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5318" y="3861048"/>
            <a:ext cx="3829050" cy="290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6" descr="http://www.way2c.com/colcrgbl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1493" y="4242048"/>
            <a:ext cx="2857500" cy="252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32504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RGB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Este modelo é baseado no sistema de coordenadas Cartesianas 3D</a:t>
            </a:r>
          </a:p>
          <a:p>
            <a:pPr lvl="1"/>
            <a:r>
              <a:rPr lang="pt-BR" dirty="0"/>
              <a:t>No modelo RGB os níveis de cinza se estendem do  preto para o branco na linha pontilhada que liga estes dois pontos. </a:t>
            </a:r>
          </a:p>
          <a:p>
            <a:pPr marL="365760" lvl="1" indent="0">
              <a:buNone/>
            </a:pPr>
            <a:endParaRPr lang="pt-BR" dirty="0"/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3908251"/>
            <a:ext cx="3829050" cy="290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335452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RGB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As cores são pontos dentro do cubo definidos por vetores que partem da origem. </a:t>
            </a:r>
          </a:p>
          <a:p>
            <a:pPr lvl="1"/>
            <a:r>
              <a:rPr lang="pt-BR" dirty="0"/>
              <a:t>O cubo é normalizado tal que os valores R,G e B variam no intervalo entre [0,1]. </a:t>
            </a: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860800"/>
            <a:ext cx="2276475" cy="174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8052" y="3860800"/>
            <a:ext cx="4943475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CaixaDeTexto 7"/>
          <p:cNvSpPr txBox="1">
            <a:spLocks noChangeArrowheads="1"/>
          </p:cNvSpPr>
          <p:nvPr/>
        </p:nvSpPr>
        <p:spPr bwMode="auto">
          <a:xfrm>
            <a:off x="3276376" y="5805264"/>
            <a:ext cx="56881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dirty="0" err="1">
                <a:latin typeface="Lucida Sans Unicode" pitchFamily="34" charset="0"/>
              </a:rPr>
              <a:t>Os</a:t>
            </a:r>
            <a:r>
              <a:rPr lang="en-US" dirty="0">
                <a:latin typeface="Lucida Sans Unicode" pitchFamily="34" charset="0"/>
              </a:rPr>
              <a:t> </a:t>
            </a:r>
            <a:r>
              <a:rPr lang="en-US" dirty="0" err="1">
                <a:latin typeface="Lucida Sans Unicode" pitchFamily="34" charset="0"/>
              </a:rPr>
              <a:t>três</a:t>
            </a:r>
            <a:r>
              <a:rPr lang="en-US" dirty="0">
                <a:latin typeface="Lucida Sans Unicode" pitchFamily="34" charset="0"/>
              </a:rPr>
              <a:t> </a:t>
            </a:r>
            <a:r>
              <a:rPr lang="en-US" dirty="0" err="1">
                <a:latin typeface="Lucida Sans Unicode" pitchFamily="34" charset="0"/>
              </a:rPr>
              <a:t>planos</a:t>
            </a:r>
            <a:r>
              <a:rPr lang="en-US" dirty="0">
                <a:latin typeface="Lucida Sans Unicode" pitchFamily="34" charset="0"/>
              </a:rPr>
              <a:t> de </a:t>
            </a:r>
            <a:r>
              <a:rPr lang="en-US" dirty="0" err="1">
                <a:latin typeface="Lucida Sans Unicode" pitchFamily="34" charset="0"/>
              </a:rPr>
              <a:t>cor</a:t>
            </a:r>
            <a:r>
              <a:rPr lang="en-US" dirty="0">
                <a:latin typeface="Lucida Sans Unicode" pitchFamily="34" charset="0"/>
              </a:rPr>
              <a:t> </a:t>
            </a:r>
            <a:r>
              <a:rPr lang="en-US" dirty="0" err="1">
                <a:latin typeface="Lucida Sans Unicode" pitchFamily="34" charset="0"/>
              </a:rPr>
              <a:t>escondidos</a:t>
            </a:r>
            <a:r>
              <a:rPr lang="en-US" dirty="0">
                <a:latin typeface="Lucida Sans Unicode" pitchFamily="34" charset="0"/>
              </a:rPr>
              <a:t> no </a:t>
            </a:r>
            <a:r>
              <a:rPr lang="en-US" dirty="0" err="1">
                <a:latin typeface="Lucida Sans Unicode" pitchFamily="34" charset="0"/>
              </a:rPr>
              <a:t>cubo</a:t>
            </a:r>
            <a:r>
              <a:rPr lang="en-US" dirty="0">
                <a:latin typeface="Lucida Sans Unicode" pitchFamily="34" charset="0"/>
              </a:rPr>
              <a:t> de </a:t>
            </a:r>
            <a:r>
              <a:rPr lang="en-US" dirty="0" err="1">
                <a:latin typeface="Lucida Sans Unicode" pitchFamily="34" charset="0"/>
              </a:rPr>
              <a:t>cor</a:t>
            </a:r>
            <a:endParaRPr lang="en-US" dirty="0">
              <a:latin typeface="Lucida Sans Unicod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03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RGB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Imagens no modelo RGB são constituídas de 3 planos diferentes: um para cada cor primária. </a:t>
            </a:r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3077418"/>
            <a:ext cx="5472112" cy="366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1817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RGB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423848" cy="4495800"/>
          </a:xfrm>
        </p:spPr>
        <p:txBody>
          <a:bodyPr/>
          <a:lstStyle/>
          <a:p>
            <a:r>
              <a:rPr lang="pt-BR" dirty="0"/>
              <a:t>Em monitores RGB este três planos são combinados na tela de fósforo para produzir a imagem colorida. </a:t>
            </a:r>
          </a:p>
        </p:txBody>
      </p:sp>
      <p:grpSp>
        <p:nvGrpSpPr>
          <p:cNvPr id="11" name="Grupo 10"/>
          <p:cNvGrpSpPr/>
          <p:nvPr/>
        </p:nvGrpSpPr>
        <p:grpSpPr>
          <a:xfrm>
            <a:off x="2051720" y="2548316"/>
            <a:ext cx="5700874" cy="4297061"/>
            <a:chOff x="2843808" y="2548316"/>
            <a:chExt cx="5700874" cy="4297061"/>
          </a:xfrm>
        </p:grpSpPr>
        <p:pic>
          <p:nvPicPr>
            <p:cNvPr id="5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56881" y="3426463"/>
              <a:ext cx="3410155" cy="27037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16216" y="3916782"/>
              <a:ext cx="2028466" cy="13609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Retângulo 6"/>
            <p:cNvSpPr/>
            <p:nvPr/>
          </p:nvSpPr>
          <p:spPr>
            <a:xfrm>
              <a:off x="3956932" y="3445294"/>
              <a:ext cx="971094" cy="28309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8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43809" y="2548316"/>
              <a:ext cx="1944216" cy="1314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Picture 5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43808" y="3988058"/>
              <a:ext cx="1959770" cy="1353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6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43809" y="5476648"/>
              <a:ext cx="1975324" cy="13687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5479028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RGB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6047584" cy="4495800"/>
          </a:xfrm>
        </p:spPr>
        <p:txBody>
          <a:bodyPr>
            <a:normAutofit lnSpcReduction="10000"/>
          </a:bodyPr>
          <a:lstStyle/>
          <a:p>
            <a:r>
              <a:rPr lang="pt-BR" dirty="0"/>
              <a:t>Profundidade do pixel</a:t>
            </a:r>
          </a:p>
          <a:p>
            <a:pPr lvl="1"/>
            <a:r>
              <a:rPr lang="pt-BR" dirty="0"/>
              <a:t>Número de bits usados para representar cada pixel no espaço RGB;</a:t>
            </a:r>
          </a:p>
          <a:p>
            <a:r>
              <a:rPr lang="pt-BR" dirty="0" err="1"/>
              <a:t>Full</a:t>
            </a:r>
            <a:r>
              <a:rPr lang="pt-BR" dirty="0"/>
              <a:t>-color</a:t>
            </a:r>
          </a:p>
          <a:p>
            <a:pPr lvl="1"/>
            <a:r>
              <a:rPr lang="pt-BR" dirty="0"/>
              <a:t>Termo utilizado para denotar uma imagem colorida representada por 24 bits</a:t>
            </a:r>
          </a:p>
          <a:p>
            <a:pPr lvl="1"/>
            <a:r>
              <a:rPr lang="pt-BR" dirty="0"/>
              <a:t>Número de cores numa imagem colorida de 24 bits = 2</a:t>
            </a:r>
            <a:r>
              <a:rPr lang="pt-BR" baseline="30000" dirty="0"/>
              <a:t>24</a:t>
            </a:r>
            <a:r>
              <a:rPr lang="pt-BR" dirty="0"/>
              <a:t> = 16.777.216</a:t>
            </a:r>
          </a:p>
        </p:txBody>
      </p:sp>
      <p:pic>
        <p:nvPicPr>
          <p:cNvPr id="1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671" y="1556792"/>
            <a:ext cx="2663825" cy="203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CaixaDeTexto 4"/>
          <p:cNvSpPr txBox="1">
            <a:spLocks noChangeArrowheads="1"/>
          </p:cNvSpPr>
          <p:nvPr/>
        </p:nvSpPr>
        <p:spPr bwMode="auto">
          <a:xfrm>
            <a:off x="6299646" y="3717379"/>
            <a:ext cx="27368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dirty="0">
                <a:latin typeface="Lucida Sans Unicode" pitchFamily="34" charset="0"/>
              </a:rPr>
              <a:t>24 bits RGB color cube</a:t>
            </a:r>
          </a:p>
        </p:txBody>
      </p:sp>
    </p:spTree>
    <p:extLst>
      <p:ext uri="{BB962C8B-B14F-4D97-AF65-F5344CB8AC3E}">
        <p14:creationId xmlns:p14="http://schemas.microsoft.com/office/powerpoint/2010/main" val="37921789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RGB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Problema</a:t>
            </a:r>
          </a:p>
          <a:p>
            <a:pPr lvl="1"/>
            <a:r>
              <a:rPr lang="pt-BR" dirty="0"/>
              <a:t>Monitores são capazes de representar 16 milhões de cores</a:t>
            </a:r>
          </a:p>
          <a:p>
            <a:pPr lvl="1"/>
            <a:r>
              <a:rPr lang="pt-BR" dirty="0"/>
              <a:t>No entanto, vários sistemas </a:t>
            </a:r>
            <a:r>
              <a:rPr lang="pt-BR" strike="sngStrike" dirty="0"/>
              <a:t>em uso hoje </a:t>
            </a:r>
            <a:r>
              <a:rPr lang="pt-BR" dirty="0"/>
              <a:t>são limitados a 256 cores</a:t>
            </a:r>
          </a:p>
          <a:p>
            <a:pPr lvl="1"/>
            <a:r>
              <a:rPr lang="pt-BR" dirty="0"/>
              <a:t>Em muitas aplicações o uso de muita cor não faz sentido. </a:t>
            </a:r>
          </a:p>
          <a:p>
            <a:pPr lvl="2"/>
            <a:r>
              <a:rPr lang="pt-BR" dirty="0" err="1"/>
              <a:t>Ex</a:t>
            </a:r>
            <a:r>
              <a:rPr lang="pt-BR" dirty="0"/>
              <a:t>: imagens da Web </a:t>
            </a:r>
          </a:p>
        </p:txBody>
      </p:sp>
    </p:spTree>
    <p:extLst>
      <p:ext uri="{BB962C8B-B14F-4D97-AF65-F5344CB8AC3E}">
        <p14:creationId xmlns:p14="http://schemas.microsoft.com/office/powerpoint/2010/main" val="31553868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/>
          <p:cNvGrpSpPr/>
          <p:nvPr/>
        </p:nvGrpSpPr>
        <p:grpSpPr>
          <a:xfrm>
            <a:off x="2484041" y="4366845"/>
            <a:ext cx="6192416" cy="2446531"/>
            <a:chOff x="1835969" y="4643289"/>
            <a:chExt cx="6192416" cy="2446531"/>
          </a:xfrm>
        </p:grpSpPr>
        <p:pic>
          <p:nvPicPr>
            <p:cNvPr id="4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24894" y="4643289"/>
              <a:ext cx="2276475" cy="1743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3343" y="4643289"/>
              <a:ext cx="2295525" cy="1771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CaixaDeTexto 5"/>
            <p:cNvSpPr txBox="1">
              <a:spLocks noChangeArrowheads="1"/>
            </p:cNvSpPr>
            <p:nvPr/>
          </p:nvSpPr>
          <p:spPr bwMode="auto">
            <a:xfrm>
              <a:off x="1835969" y="6443489"/>
              <a:ext cx="3240087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dirty="0">
                  <a:latin typeface="Lucida Sans Unicode" pitchFamily="34" charset="0"/>
                </a:rPr>
                <a:t>RGB  24-bits color cube</a:t>
              </a:r>
            </a:p>
          </p:txBody>
        </p:sp>
        <p:sp>
          <p:nvSpPr>
            <p:cNvPr id="7" name="CaixaDeTexto 6"/>
            <p:cNvSpPr txBox="1">
              <a:spLocks noChangeArrowheads="1"/>
            </p:cNvSpPr>
            <p:nvPr/>
          </p:nvSpPr>
          <p:spPr bwMode="auto">
            <a:xfrm>
              <a:off x="5076057" y="6443489"/>
              <a:ext cx="2952328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dirty="0">
                  <a:latin typeface="Lucida Sans Unicode" pitchFamily="34" charset="0"/>
                </a:rPr>
                <a:t>RGB safe color cube</a:t>
              </a:r>
            </a:p>
            <a:p>
              <a:pPr algn="ctr" eaLnBrk="1" hangingPunct="1"/>
              <a:r>
                <a:rPr lang="en-US" dirty="0"/>
                <a:t>216 cores </a:t>
              </a:r>
              <a:r>
                <a:rPr lang="en-US" dirty="0" err="1"/>
                <a:t>padrão</a:t>
              </a:r>
              <a:r>
                <a:rPr lang="en-US" dirty="0"/>
                <a:t> (6x6x6_</a:t>
              </a:r>
              <a:endParaRPr lang="en-US" dirty="0">
                <a:latin typeface="Lucida Sans Unicode" pitchFamily="34" charset="0"/>
              </a:endParaRPr>
            </a:p>
          </p:txBody>
        </p:sp>
      </p:grp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RGB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Solução: </a:t>
            </a:r>
            <a:r>
              <a:rPr lang="pt-BR" b="1" dirty="0"/>
              <a:t>RGB safe color</a:t>
            </a:r>
          </a:p>
          <a:p>
            <a:pPr lvl="1"/>
            <a:r>
              <a:rPr lang="pt-BR" dirty="0"/>
              <a:t>É um subconjunto de cores que pode ser reproduzida com fidelidade</a:t>
            </a:r>
          </a:p>
          <a:p>
            <a:pPr lvl="1"/>
            <a:r>
              <a:rPr lang="pt-BR" dirty="0"/>
              <a:t>Razoavelmente independente das capacidades do hardware</a:t>
            </a:r>
          </a:p>
          <a:p>
            <a:pPr lvl="1"/>
            <a:r>
              <a:rPr lang="pt-BR" dirty="0"/>
              <a:t>Em aplicações Web, este sistema é chamado </a:t>
            </a:r>
            <a:r>
              <a:rPr lang="pt-BR" b="1" dirty="0"/>
              <a:t>safe Web </a:t>
            </a:r>
            <a:r>
              <a:rPr lang="pt-BR" b="1" dirty="0" err="1"/>
              <a:t>colors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1444369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RGB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RGB safe color</a:t>
            </a:r>
          </a:p>
          <a:p>
            <a:pPr lvl="1"/>
            <a:r>
              <a:rPr lang="pt-BR" dirty="0"/>
              <a:t>Cada uma das 216 cores é formada a partir da combinação das três componentes RGB</a:t>
            </a:r>
          </a:p>
          <a:p>
            <a:pPr lvl="1"/>
            <a:r>
              <a:rPr lang="pt-BR" dirty="0"/>
              <a:t>Cada componente de cor pode assumir um conjunto restrito de valores</a:t>
            </a:r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563" y="4366845"/>
            <a:ext cx="8131175" cy="122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562538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RGB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3887344" cy="4495800"/>
          </a:xfrm>
        </p:spPr>
        <p:txBody>
          <a:bodyPr>
            <a:normAutofit/>
          </a:bodyPr>
          <a:lstStyle/>
          <a:p>
            <a:r>
              <a:rPr lang="pt-BR" b="1" dirty="0"/>
              <a:t>RGB safe color</a:t>
            </a:r>
          </a:p>
          <a:p>
            <a:pPr lvl="1"/>
            <a:r>
              <a:rPr lang="pt-BR" dirty="0"/>
              <a:t>Note que não é possível representar todos os níveis de cinza neste modelo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20784" y="1484784"/>
            <a:ext cx="4681537" cy="4127500"/>
          </a:xfrm>
          <a:prstGeom prst="rect">
            <a:avLst/>
          </a:prstGeom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5674251"/>
            <a:ext cx="7576829" cy="11405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871913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RGB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Concluindo</a:t>
            </a:r>
          </a:p>
          <a:p>
            <a:pPr lvl="1"/>
            <a:r>
              <a:rPr lang="pt-BR" dirty="0"/>
              <a:t>As coordenadas de cor RGB são matematicamente convenientes, porque produzem um espaço de cor que é um cubo com eixos ortogonais</a:t>
            </a:r>
          </a:p>
          <a:p>
            <a:pPr lvl="1"/>
            <a:r>
              <a:rPr lang="pt-BR" dirty="0"/>
              <a:t>Não são a única maneira de representar a cor</a:t>
            </a:r>
          </a:p>
          <a:p>
            <a:pPr lvl="1"/>
            <a:r>
              <a:rPr lang="pt-BR" dirty="0"/>
              <a:t>Para propósitos de processamento de imagens  esta representação pode não ser a mais apropriada.</a:t>
            </a:r>
          </a:p>
        </p:txBody>
      </p:sp>
    </p:spTree>
    <p:extLst>
      <p:ext uri="{BB962C8B-B14F-4D97-AF65-F5344CB8AC3E}">
        <p14:creationId xmlns:p14="http://schemas.microsoft.com/office/powerpoint/2010/main" val="27905708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CMY/CMYK</a:t>
            </a:r>
          </a:p>
        </p:txBody>
      </p:sp>
    </p:spTree>
    <p:extLst>
      <p:ext uri="{BB962C8B-B14F-4D97-AF65-F5344CB8AC3E}">
        <p14:creationId xmlns:p14="http://schemas.microsoft.com/office/powerpoint/2010/main" val="28862488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CMY e CMYK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A maioria dos equipamentos que depositam pigmento sobre papel usam o modelo CMY ou executam uma conversão de RGB para CMY internamente.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748016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Conversão RGB </a:t>
            </a:r>
            <a:r>
              <a:rPr lang="pt-BR" dirty="0">
                <a:latin typeface="Calibri"/>
                <a:cs typeface="Calibri"/>
              </a:rPr>
              <a:t>→ </a:t>
            </a:r>
            <a:r>
              <a:rPr lang="pt-BR" dirty="0"/>
              <a:t>CMY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Picture 2" descr="http://www.huevaluechroma.com/pics/9-2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762" y="1241791"/>
            <a:ext cx="4464694" cy="514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tângulo 4"/>
          <p:cNvSpPr>
            <a:spLocks noChangeArrowheads="1"/>
          </p:cNvSpPr>
          <p:nvPr/>
        </p:nvSpPr>
        <p:spPr bwMode="auto">
          <a:xfrm>
            <a:off x="4284663" y="6443489"/>
            <a:ext cx="422596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dirty="0"/>
              <a:t>http://www.huevaluechroma.com/index.php</a:t>
            </a:r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8625679"/>
              </p:ext>
            </p:extLst>
          </p:nvPr>
        </p:nvGraphicFramePr>
        <p:xfrm>
          <a:off x="683593" y="3212976"/>
          <a:ext cx="2808287" cy="191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3" imgW="1040948" imgH="710891" progId="Equation.3">
                  <p:embed/>
                </p:oleObj>
              </mc:Choice>
              <mc:Fallback>
                <p:oleObj name="Equação" r:id="rId3" imgW="1040948" imgH="710891" progId="Equation.3">
                  <p:embed/>
                  <p:pic>
                    <p:nvPicPr>
                      <p:cNvPr id="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93" y="3212976"/>
                        <a:ext cx="2808287" cy="191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293936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Exemplos do uso de CMY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Picture 2" descr="File:Barns grand teton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2276872"/>
            <a:ext cx="5588000" cy="417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330712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Exemplos do uso de CMY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Espaço Reservado para Conteúdo 4" descr="197px-CMYK_separation_–_no_black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1844824"/>
            <a:ext cx="2122488" cy="475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 descr="File:Barns grand teton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7" y="2852886"/>
            <a:ext cx="3660775" cy="273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1072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Conversão RGB </a:t>
            </a:r>
            <a:r>
              <a:rPr lang="pt-BR" dirty="0">
                <a:latin typeface="Calibri"/>
                <a:cs typeface="Calibri"/>
              </a:rPr>
              <a:t>→ </a:t>
            </a:r>
            <a:r>
              <a:rPr lang="pt-BR" dirty="0"/>
              <a:t>CMY </a:t>
            </a:r>
            <a:r>
              <a:rPr lang="pt-BR" dirty="0">
                <a:latin typeface="Calibri"/>
                <a:cs typeface="Calibri"/>
              </a:rPr>
              <a:t>→ RGB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628800"/>
            <a:ext cx="8013700" cy="2160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658" y="4027958"/>
            <a:ext cx="7561262" cy="206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232564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CMY e CMYK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Cor</a:t>
            </a:r>
            <a:r>
              <a:rPr lang="en-US" dirty="0"/>
              <a:t> </a:t>
            </a:r>
            <a:r>
              <a:rPr lang="en-US" dirty="0" err="1"/>
              <a:t>preta</a:t>
            </a:r>
            <a:endParaRPr lang="en-US" dirty="0"/>
          </a:p>
          <a:p>
            <a:pPr lvl="1"/>
            <a:r>
              <a:rPr lang="en-US" dirty="0"/>
              <a:t>É </a:t>
            </a:r>
            <a:r>
              <a:rPr lang="en-US" dirty="0" err="1"/>
              <a:t>representada</a:t>
            </a:r>
            <a:r>
              <a:rPr lang="en-US" dirty="0"/>
              <a:t> </a:t>
            </a:r>
            <a:r>
              <a:rPr lang="en-US" dirty="0" err="1"/>
              <a:t>pela</a:t>
            </a:r>
            <a:r>
              <a:rPr lang="en-US" dirty="0"/>
              <a:t> soma </a:t>
            </a:r>
            <a:r>
              <a:rPr lang="en-US" dirty="0" err="1"/>
              <a:t>igual</a:t>
            </a:r>
            <a:r>
              <a:rPr lang="en-US" dirty="0"/>
              <a:t> de magenta, </a:t>
            </a:r>
            <a:r>
              <a:rPr lang="en-US" dirty="0" err="1"/>
              <a:t>amarelo</a:t>
            </a:r>
            <a:r>
              <a:rPr lang="en-US" dirty="0"/>
              <a:t> e </a:t>
            </a:r>
            <a:r>
              <a:rPr lang="en-US" dirty="0" err="1"/>
              <a:t>ciano</a:t>
            </a:r>
            <a:r>
              <a:rPr lang="en-US" dirty="0"/>
              <a:t>;</a:t>
            </a:r>
          </a:p>
          <a:p>
            <a:pPr lvl="1"/>
            <a:r>
              <a:rPr lang="en-US" dirty="0"/>
              <a:t>Na </a:t>
            </a:r>
            <a:r>
              <a:rPr lang="en-US" dirty="0" err="1"/>
              <a:t>prática</a:t>
            </a:r>
            <a:r>
              <a:rPr lang="en-US" dirty="0"/>
              <a:t>, </a:t>
            </a:r>
            <a:r>
              <a:rPr lang="en-US" dirty="0" err="1"/>
              <a:t>essa</a:t>
            </a:r>
            <a:r>
              <a:rPr lang="en-US" dirty="0"/>
              <a:t> </a:t>
            </a:r>
            <a:r>
              <a:rPr lang="en-US" dirty="0" err="1"/>
              <a:t>combinação</a:t>
            </a:r>
            <a:r>
              <a:rPr lang="en-US" dirty="0"/>
              <a:t> da cores </a:t>
            </a:r>
            <a:r>
              <a:rPr lang="en-US" dirty="0" err="1"/>
              <a:t>produz</a:t>
            </a:r>
            <a:r>
              <a:rPr lang="en-US" dirty="0"/>
              <a:t> um </a:t>
            </a:r>
            <a:r>
              <a:rPr lang="en-US" dirty="0" err="1"/>
              <a:t>preto</a:t>
            </a:r>
            <a:r>
              <a:rPr lang="en-US" dirty="0"/>
              <a:t> </a:t>
            </a:r>
            <a:r>
              <a:rPr lang="en-US" dirty="0" err="1"/>
              <a:t>molhado</a:t>
            </a:r>
            <a:r>
              <a:rPr lang="en-US" dirty="0"/>
              <a:t>;</a:t>
            </a:r>
          </a:p>
          <a:p>
            <a:pPr lvl="1"/>
            <a:r>
              <a:rPr lang="en-US" dirty="0"/>
              <a:t>A </a:t>
            </a:r>
            <a:r>
              <a:rPr lang="en-US" dirty="0" err="1"/>
              <a:t>tinta</a:t>
            </a:r>
            <a:r>
              <a:rPr lang="en-US" dirty="0"/>
              <a:t> </a:t>
            </a:r>
            <a:r>
              <a:rPr lang="en-US" dirty="0" err="1"/>
              <a:t>preta</a:t>
            </a:r>
            <a:r>
              <a:rPr lang="en-US" dirty="0"/>
              <a:t> é </a:t>
            </a:r>
            <a:r>
              <a:rPr lang="en-US" dirty="0" err="1"/>
              <a:t>somada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modelo</a:t>
            </a:r>
            <a:r>
              <a:rPr lang="en-US" dirty="0"/>
              <a:t> CMY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produzir</a:t>
            </a:r>
            <a:r>
              <a:rPr lang="en-US" dirty="0"/>
              <a:t> o </a:t>
            </a:r>
            <a:r>
              <a:rPr lang="en-US" dirty="0" err="1"/>
              <a:t>preto</a:t>
            </a:r>
            <a:r>
              <a:rPr lang="en-US" dirty="0"/>
              <a:t> </a:t>
            </a:r>
            <a:r>
              <a:rPr lang="en-US" dirty="0" err="1"/>
              <a:t>verdadeiro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b="1" dirty="0" err="1">
                <a:sym typeface="Wingdings" pitchFamily="2" charset="2"/>
              </a:rPr>
              <a:t>modelo</a:t>
            </a:r>
            <a:r>
              <a:rPr lang="en-US" b="1" dirty="0">
                <a:sym typeface="Wingdings" pitchFamily="2" charset="2"/>
              </a:rPr>
              <a:t> CMYK</a:t>
            </a:r>
            <a:r>
              <a:rPr lang="en-US" b="1" dirty="0"/>
              <a:t>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946384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Conversão CMY </a:t>
            </a:r>
            <a:r>
              <a:rPr lang="pt-BR" dirty="0">
                <a:latin typeface="Calibri"/>
                <a:cs typeface="Calibri"/>
              </a:rPr>
              <a:t>→ CMYK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3887344" cy="4997152"/>
          </a:xfrm>
        </p:spPr>
        <p:txBody>
          <a:bodyPr>
            <a:normAutofit fontScale="85000" lnSpcReduction="20000"/>
          </a:bodyPr>
          <a:lstStyle/>
          <a:p>
            <a:r>
              <a:rPr lang="pt-BR" dirty="0"/>
              <a:t>Black (K) = </a:t>
            </a:r>
            <a:r>
              <a:rPr lang="pt-BR" dirty="0" err="1"/>
              <a:t>minimum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C,M,Y</a:t>
            </a:r>
          </a:p>
          <a:p>
            <a:pPr lvl="1"/>
            <a:r>
              <a:rPr lang="pt-BR" dirty="0" err="1"/>
              <a:t>Cyan</a:t>
            </a:r>
            <a:r>
              <a:rPr lang="pt-BR" baseline="-25000" dirty="0" err="1"/>
              <a:t>CMYK</a:t>
            </a:r>
            <a:r>
              <a:rPr lang="pt-BR" dirty="0"/>
              <a:t> = (C - K)/(1-K)</a:t>
            </a:r>
          </a:p>
          <a:p>
            <a:pPr lvl="1"/>
            <a:r>
              <a:rPr lang="pt-BR" dirty="0" err="1"/>
              <a:t>Magenta</a:t>
            </a:r>
            <a:r>
              <a:rPr lang="pt-BR" baseline="-25000" dirty="0" err="1"/>
              <a:t>CMYK</a:t>
            </a:r>
            <a:r>
              <a:rPr lang="pt-BR" dirty="0"/>
              <a:t>=(M- K)/(1-K)</a:t>
            </a:r>
          </a:p>
          <a:p>
            <a:pPr lvl="1"/>
            <a:r>
              <a:rPr lang="pt-BR" dirty="0" err="1"/>
              <a:t>Yellow</a:t>
            </a:r>
            <a:r>
              <a:rPr lang="pt-BR" baseline="-25000" dirty="0" err="1"/>
              <a:t>CMYK</a:t>
            </a:r>
            <a:r>
              <a:rPr lang="pt-BR" dirty="0"/>
              <a:t> = (Y - K)/(1- K)</a:t>
            </a:r>
          </a:p>
          <a:p>
            <a:pPr lvl="1"/>
            <a:endParaRPr lang="pt-BR" dirty="0"/>
          </a:p>
          <a:p>
            <a:r>
              <a:rPr lang="pt-BR" dirty="0"/>
              <a:t>No CMYK ideal, um dos valores C, M ou Y é sempre zero</a:t>
            </a:r>
          </a:p>
          <a:p>
            <a:r>
              <a:rPr lang="pt-BR" dirty="0"/>
              <a:t>A normalização é feita para determinar qual a proporção relativa de C, M e Y para as cores restantes   </a:t>
            </a:r>
          </a:p>
          <a:p>
            <a:endParaRPr lang="pt-BR" dirty="0"/>
          </a:p>
          <a:p>
            <a:endParaRPr lang="pt-BR" dirty="0"/>
          </a:p>
        </p:txBody>
      </p:sp>
      <p:grpSp>
        <p:nvGrpSpPr>
          <p:cNvPr id="10" name="Grupo 9"/>
          <p:cNvGrpSpPr/>
          <p:nvPr/>
        </p:nvGrpSpPr>
        <p:grpSpPr>
          <a:xfrm>
            <a:off x="4126582" y="1556792"/>
            <a:ext cx="4862283" cy="5043054"/>
            <a:chOff x="4126582" y="1556792"/>
            <a:chExt cx="4862283" cy="5043054"/>
          </a:xfrm>
        </p:grpSpPr>
        <p:pic>
          <p:nvPicPr>
            <p:cNvPr id="6" name="Picture 2" descr="http://www.huevaluechroma.com/pics/9-2b.png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93" t="4872" r="3741" b="3712"/>
            <a:stretch/>
          </p:blipFill>
          <p:spPr bwMode="auto">
            <a:xfrm>
              <a:off x="4499992" y="1556792"/>
              <a:ext cx="4488873" cy="50430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Retângulo 6"/>
            <p:cNvSpPr/>
            <p:nvPr/>
          </p:nvSpPr>
          <p:spPr>
            <a:xfrm>
              <a:off x="4520282" y="3173561"/>
              <a:ext cx="1728787" cy="360363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/>
            </a:p>
          </p:txBody>
        </p:sp>
        <p:sp>
          <p:nvSpPr>
            <p:cNvPr id="8" name="CaixaDeTexto 5"/>
            <p:cNvSpPr txBox="1">
              <a:spLocks noChangeArrowheads="1"/>
            </p:cNvSpPr>
            <p:nvPr/>
          </p:nvSpPr>
          <p:spPr bwMode="auto">
            <a:xfrm>
              <a:off x="4139952" y="6002124"/>
              <a:ext cx="2481321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pt-BR" sz="1400" b="1" dirty="0"/>
                <a:t>Cor em tom de cinza (20%)</a:t>
              </a:r>
            </a:p>
            <a:p>
              <a:pPr algn="ctr" eaLnBrk="1" hangingPunct="1"/>
              <a:r>
                <a:rPr lang="pt-BR" sz="1400" b="1" dirty="0"/>
                <a:t>(substituir por tinta preta)</a:t>
              </a:r>
            </a:p>
          </p:txBody>
        </p:sp>
        <p:sp>
          <p:nvSpPr>
            <p:cNvPr id="9" name="Seta em curva para cima 8"/>
            <p:cNvSpPr/>
            <p:nvPr/>
          </p:nvSpPr>
          <p:spPr>
            <a:xfrm rot="8242954">
              <a:off x="4126582" y="5529411"/>
              <a:ext cx="481012" cy="298450"/>
            </a:xfrm>
            <a:prstGeom prst="curvedUp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1394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Exemplo do </a:t>
            </a:r>
            <a:br>
              <a:rPr lang="pt-BR" dirty="0"/>
            </a:br>
            <a:r>
              <a:rPr lang="pt-BR" dirty="0"/>
              <a:t>uso de CMYK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Espaço Reservado para Conteúdo 4" descr="197px-CMYK_separation_–_no_black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973835" y="788814"/>
            <a:ext cx="2016125" cy="4513262"/>
          </a:xfrm>
          <a:prstGeom prst="rect">
            <a:avLst/>
          </a:prstGeom>
        </p:spPr>
      </p:pic>
      <p:pic>
        <p:nvPicPr>
          <p:cNvPr id="7" name="Imagem 6" descr="200px-CMYK_separation_–_maximum_black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2122" y="717376"/>
            <a:ext cx="203835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 descr="File:Barns grand tetons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2104057"/>
            <a:ext cx="2519362" cy="188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CaixaDeTexto 8"/>
          <p:cNvSpPr txBox="1">
            <a:spLocks noChangeArrowheads="1"/>
          </p:cNvSpPr>
          <p:nvPr/>
        </p:nvSpPr>
        <p:spPr bwMode="auto">
          <a:xfrm>
            <a:off x="4738142" y="5748808"/>
            <a:ext cx="2210122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dirty="0" err="1"/>
              <a:t>Usando</a:t>
            </a:r>
            <a:r>
              <a:rPr lang="en-US" dirty="0"/>
              <a:t> </a:t>
            </a:r>
            <a:r>
              <a:rPr lang="en-US" dirty="0" err="1"/>
              <a:t>preto</a:t>
            </a:r>
            <a:r>
              <a:rPr lang="en-US" dirty="0"/>
              <a:t> no </a:t>
            </a:r>
            <a:r>
              <a:rPr lang="en-US" dirty="0" err="1"/>
              <a:t>máximo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economizar</a:t>
            </a:r>
            <a:r>
              <a:rPr lang="en-US" dirty="0"/>
              <a:t> </a:t>
            </a:r>
            <a:r>
              <a:rPr lang="en-US" dirty="0" err="1"/>
              <a:t>tinta</a:t>
            </a:r>
            <a:endParaRPr lang="en-US" dirty="0"/>
          </a:p>
        </p:txBody>
      </p:sp>
      <p:sp>
        <p:nvSpPr>
          <p:cNvPr id="10" name="Retângulo 8"/>
          <p:cNvSpPr>
            <a:spLocks noChangeArrowheads="1"/>
          </p:cNvSpPr>
          <p:nvPr/>
        </p:nvSpPr>
        <p:spPr bwMode="auto">
          <a:xfrm>
            <a:off x="35496" y="6488342"/>
            <a:ext cx="511333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dirty="0"/>
              <a:t>http://en.wikipedia.org/wiki/CMYK_color_model</a:t>
            </a:r>
          </a:p>
        </p:txBody>
      </p:sp>
    </p:spTree>
    <p:extLst>
      <p:ext uri="{BB962C8B-B14F-4D97-AF65-F5344CB8AC3E}">
        <p14:creationId xmlns:p14="http://schemas.microsoft.com/office/powerpoint/2010/main" val="548741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Conversão CMY </a:t>
            </a:r>
            <a:r>
              <a:rPr lang="pt-BR" dirty="0">
                <a:latin typeface="Calibri"/>
                <a:cs typeface="Calibri"/>
              </a:rPr>
              <a:t>→ CMYK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916832"/>
            <a:ext cx="7813675" cy="40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914507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Conversão CMYK </a:t>
            </a:r>
            <a:r>
              <a:rPr lang="pt-BR" dirty="0">
                <a:latin typeface="Calibri"/>
                <a:cs typeface="Calibri"/>
              </a:rPr>
              <a:t>→ CMY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2780928"/>
            <a:ext cx="8612188" cy="2087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486426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Modelos de cor baseados na percepção humana</a:t>
            </a:r>
          </a:p>
        </p:txBody>
      </p:sp>
    </p:spTree>
    <p:extLst>
      <p:ext uri="{BB962C8B-B14F-4D97-AF65-F5344CB8AC3E}">
        <p14:creationId xmlns:p14="http://schemas.microsoft.com/office/powerpoint/2010/main" val="21889389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HSI</a:t>
            </a:r>
          </a:p>
        </p:txBody>
      </p:sp>
    </p:spTree>
    <p:extLst>
      <p:ext uri="{BB962C8B-B14F-4D97-AF65-F5344CB8AC3E}">
        <p14:creationId xmlns:p14="http://schemas.microsoft.com/office/powerpoint/2010/main" val="10317062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de cores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Os sistemas CMY e RGB são teoricamente adequados para implementação em hardware</a:t>
            </a:r>
          </a:p>
          <a:p>
            <a:pPr lvl="1"/>
            <a:r>
              <a:rPr lang="pt-BR" dirty="0"/>
              <a:t>O sistema RGB se adapta muito bem ao fato do olho humano ser bastante perceptivo às cores primárias vermelho, verde e azul</a:t>
            </a:r>
          </a:p>
          <a:p>
            <a:pPr lvl="1"/>
            <a:r>
              <a:rPr lang="pt-BR" dirty="0"/>
              <a:t>Entretanto, os modelos RGB e CMY não são adequados para descrever cores em termos práticos para a interpretação humana</a:t>
            </a:r>
          </a:p>
        </p:txBody>
      </p:sp>
    </p:spTree>
    <p:extLst>
      <p:ext uri="{BB962C8B-B14F-4D97-AF65-F5344CB8AC3E}">
        <p14:creationId xmlns:p14="http://schemas.microsoft.com/office/powerpoint/2010/main" val="7908896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HSI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Nós humanos não percebemos a cor como uma combinação de cores primárias</a:t>
            </a:r>
          </a:p>
          <a:p>
            <a:pPr lvl="1"/>
            <a:r>
              <a:rPr lang="pt-BR" dirty="0"/>
              <a:t>Não dizemos que a cor do meu carro é R=200; G=200; B=200</a:t>
            </a:r>
          </a:p>
          <a:p>
            <a:r>
              <a:rPr lang="pt-BR" dirty="0"/>
              <a:t>Os humanos descrevem a cor em termos de:</a:t>
            </a:r>
          </a:p>
          <a:p>
            <a:pPr lvl="1"/>
            <a:r>
              <a:rPr lang="pt-BR" dirty="0"/>
              <a:t>matiz </a:t>
            </a:r>
          </a:p>
          <a:p>
            <a:pPr lvl="2"/>
            <a:r>
              <a:rPr lang="pt-BR" dirty="0"/>
              <a:t>descreve a cor pura (ex. amarelo, laranja, vermelho puros</a:t>
            </a:r>
          </a:p>
          <a:p>
            <a:pPr lvl="1"/>
            <a:r>
              <a:rPr lang="pt-BR" dirty="0"/>
              <a:t>saturação </a:t>
            </a:r>
          </a:p>
          <a:p>
            <a:pPr lvl="2"/>
            <a:r>
              <a:rPr lang="pt-BR" dirty="0"/>
              <a:t>dá uma medida de quanto a cor pura é diluída com luz branca</a:t>
            </a:r>
          </a:p>
          <a:p>
            <a:pPr lvl="1"/>
            <a:r>
              <a:rPr lang="pt-BR" dirty="0"/>
              <a:t>brilho</a:t>
            </a:r>
          </a:p>
          <a:p>
            <a:pPr lvl="2"/>
            <a:r>
              <a:rPr lang="pt-BR" dirty="0"/>
              <a:t>descritor subjetivo praticamente impossível de medir. Incorpora a noção acromática de intensidade (I)</a:t>
            </a:r>
          </a:p>
        </p:txBody>
      </p:sp>
    </p:spTree>
    <p:extLst>
      <p:ext uri="{BB962C8B-B14F-4D97-AF65-F5344CB8AC3E}">
        <p14:creationId xmlns:p14="http://schemas.microsoft.com/office/powerpoint/2010/main" val="33478666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HSI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Intuitivo para os seres humanos</a:t>
            </a:r>
          </a:p>
          <a:p>
            <a:r>
              <a:rPr lang="pt-BR" dirty="0"/>
              <a:t>Útil para o desenvolvimento de algoritmos para processar imagens coloridas</a:t>
            </a:r>
          </a:p>
          <a:p>
            <a:r>
              <a:rPr lang="pt-BR" dirty="0"/>
              <a:t>Útil para descrição de cores</a:t>
            </a:r>
          </a:p>
          <a:p>
            <a:endParaRPr lang="pt-BR" dirty="0"/>
          </a:p>
          <a:p>
            <a:pPr lvl="1"/>
            <a:r>
              <a:rPr lang="pt-BR" dirty="0"/>
              <a:t>Matiz (</a:t>
            </a:r>
            <a:r>
              <a:rPr lang="pt-BR" dirty="0" err="1"/>
              <a:t>hue</a:t>
            </a:r>
            <a:r>
              <a:rPr lang="pt-BR" dirty="0"/>
              <a:t> - H)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Saturação (</a:t>
            </a:r>
            <a:r>
              <a:rPr lang="pt-BR" dirty="0" err="1"/>
              <a:t>saturation</a:t>
            </a:r>
            <a:r>
              <a:rPr lang="pt-BR" dirty="0"/>
              <a:t> - S)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Brilho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pt-BR" dirty="0"/>
              <a:t> incorpora a noção acromática de intensidade (I)</a:t>
            </a:r>
          </a:p>
        </p:txBody>
      </p:sp>
      <p:sp>
        <p:nvSpPr>
          <p:cNvPr id="4" name="Chave direita 3"/>
          <p:cNvSpPr/>
          <p:nvPr/>
        </p:nvSpPr>
        <p:spPr>
          <a:xfrm>
            <a:off x="4716016" y="3572867"/>
            <a:ext cx="215900" cy="1584325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CaixaDeTexto 4"/>
          <p:cNvSpPr txBox="1">
            <a:spLocks noChangeArrowheads="1"/>
          </p:cNvSpPr>
          <p:nvPr/>
        </p:nvSpPr>
        <p:spPr bwMode="auto">
          <a:xfrm>
            <a:off x="5506591" y="4077667"/>
            <a:ext cx="30257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400" dirty="0" err="1">
                <a:latin typeface="Lucida Sans Unicode" pitchFamily="34" charset="0"/>
              </a:rPr>
              <a:t>cromaticidade</a:t>
            </a:r>
            <a:endParaRPr lang="en-US" sz="2400" dirty="0">
              <a:latin typeface="Lucida Sans Unicod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1964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HSI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Colocar o cubo RGB em pé sobre o vértice preto (0,0,0) e branco (1,1,1)</a:t>
            </a:r>
          </a:p>
          <a:p>
            <a:pPr lvl="1"/>
            <a:endParaRPr lang="pt-BR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86" r="13553"/>
          <a:stretch/>
        </p:blipFill>
        <p:spPr bwMode="auto">
          <a:xfrm>
            <a:off x="731568" y="2835463"/>
            <a:ext cx="3050724" cy="39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7917" y="3039963"/>
            <a:ext cx="3838575" cy="298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tângulo 5"/>
          <p:cNvSpPr>
            <a:spLocks noChangeArrowheads="1"/>
          </p:cNvSpPr>
          <p:nvPr/>
        </p:nvSpPr>
        <p:spPr bwMode="auto">
          <a:xfrm>
            <a:off x="2639742" y="6381328"/>
            <a:ext cx="64801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dirty="0"/>
              <a:t>http://en.wikipedia.org/wiki/HSL_and_HSV#Hue_and_chroma</a:t>
            </a:r>
          </a:p>
        </p:txBody>
      </p:sp>
    </p:spTree>
    <p:extLst>
      <p:ext uri="{BB962C8B-B14F-4D97-AF65-F5344CB8AC3E}">
        <p14:creationId xmlns:p14="http://schemas.microsoft.com/office/powerpoint/2010/main" val="40168575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HSI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Cubo RGB é aproximado por um </a:t>
            </a:r>
            <a:r>
              <a:rPr lang="pt-BR" dirty="0" err="1"/>
              <a:t>bicone</a:t>
            </a:r>
            <a:r>
              <a:rPr lang="pt-BR" dirty="0"/>
              <a:t> (dois cones unidos pela base)</a:t>
            </a:r>
          </a:p>
        </p:txBody>
      </p:sp>
      <p:pic>
        <p:nvPicPr>
          <p:cNvPr id="9" name="Picture 4" descr="http://www.blackice.com/images/HSIColorModel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2186" y="2915939"/>
            <a:ext cx="4360863" cy="316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8" descr="http://www.way2c.com/colchsil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436" y="3347739"/>
            <a:ext cx="2857500" cy="252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tângulo 7"/>
          <p:cNvSpPr>
            <a:spLocks noChangeArrowheads="1"/>
          </p:cNvSpPr>
          <p:nvPr/>
        </p:nvSpPr>
        <p:spPr bwMode="auto">
          <a:xfrm>
            <a:off x="395536" y="6229052"/>
            <a:ext cx="34559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dirty="0"/>
              <a:t>http://www.way2c.com/w2faq.php</a:t>
            </a:r>
          </a:p>
        </p:txBody>
      </p:sp>
    </p:spTree>
    <p:extLst>
      <p:ext uri="{BB962C8B-B14F-4D97-AF65-F5344CB8AC3E}">
        <p14:creationId xmlns:p14="http://schemas.microsoft.com/office/powerpoint/2010/main" val="12118494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HSI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5364289" cy="4880422"/>
          </a:xfrm>
        </p:spPr>
        <p:txBody>
          <a:bodyPr>
            <a:normAutofit/>
          </a:bodyPr>
          <a:lstStyle/>
          <a:p>
            <a:r>
              <a:rPr lang="pt-BR" dirty="0"/>
              <a:t>Como transformar uma cor representada no modelo RGB para o modelo HSI?</a:t>
            </a:r>
          </a:p>
          <a:p>
            <a:r>
              <a:rPr lang="pt-BR" dirty="0"/>
              <a:t>Considere a cor x</a:t>
            </a:r>
          </a:p>
          <a:p>
            <a:pPr lvl="1"/>
            <a:r>
              <a:rPr lang="pt-BR" dirty="0"/>
              <a:t>I – como obtemos a intensidade?</a:t>
            </a:r>
          </a:p>
          <a:p>
            <a:pPr lvl="1"/>
            <a:r>
              <a:rPr lang="pt-BR" dirty="0"/>
              <a:t>S – como obtemos a saturação???</a:t>
            </a:r>
          </a:p>
          <a:p>
            <a:pPr lvl="2"/>
            <a:r>
              <a:rPr lang="pt-BR" dirty="0"/>
              <a:t>S = 0 no eixo de intensidades</a:t>
            </a:r>
          </a:p>
          <a:p>
            <a:pPr lvl="2"/>
            <a:r>
              <a:rPr lang="pt-BR" dirty="0"/>
              <a:t>S  aumenta à medida que o ponto de cor se afasta do eixo de intensidades</a:t>
            </a:r>
          </a:p>
          <a:p>
            <a:endParaRPr lang="pt-BR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1441" y="3257698"/>
            <a:ext cx="3167063" cy="3195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>
            <a:spLocks noChangeArrowheads="1"/>
          </p:cNvSpPr>
          <p:nvPr/>
        </p:nvSpPr>
        <p:spPr bwMode="auto">
          <a:xfrm>
            <a:off x="6732240" y="4356844"/>
            <a:ext cx="3603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 dirty="0">
                <a:solidFill>
                  <a:srgbClr val="FF0000"/>
                </a:solidFill>
                <a:latin typeface="Lucida Sans Unicode" pitchFamily="34" charset="0"/>
              </a:rPr>
              <a:t>x</a:t>
            </a:r>
          </a:p>
        </p:txBody>
      </p:sp>
      <p:cxnSp>
        <p:nvCxnSpPr>
          <p:cNvPr id="7" name="Conector de seta reta 6"/>
          <p:cNvCxnSpPr/>
          <p:nvPr/>
        </p:nvCxnSpPr>
        <p:spPr>
          <a:xfrm rot="16200000" flipV="1">
            <a:off x="6539929" y="5038873"/>
            <a:ext cx="1430337" cy="468313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to 7"/>
          <p:cNvCxnSpPr/>
          <p:nvPr/>
        </p:nvCxnSpPr>
        <p:spPr>
          <a:xfrm rot="10800000">
            <a:off x="7020941" y="4557861"/>
            <a:ext cx="504825" cy="0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have esquerda 8"/>
          <p:cNvSpPr/>
          <p:nvPr/>
        </p:nvSpPr>
        <p:spPr>
          <a:xfrm rot="10800000">
            <a:off x="7695629" y="4557861"/>
            <a:ext cx="46037" cy="1439862"/>
          </a:xfrm>
          <a:prstGeom prst="lef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b="1">
              <a:solidFill>
                <a:srgbClr val="FF0000"/>
              </a:solidFill>
            </a:endParaRPr>
          </a:p>
        </p:txBody>
      </p:sp>
      <p:sp>
        <p:nvSpPr>
          <p:cNvPr id="10" name="CaixaDeTexto 9"/>
          <p:cNvSpPr txBox="1">
            <a:spLocks noChangeArrowheads="1"/>
          </p:cNvSpPr>
          <p:nvPr/>
        </p:nvSpPr>
        <p:spPr bwMode="auto">
          <a:xfrm>
            <a:off x="7741666" y="5061098"/>
            <a:ext cx="28733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FF0000"/>
                </a:solidFill>
                <a:latin typeface="Lucida Sans Unicode" pitchFamily="34" charset="0"/>
              </a:rPr>
              <a:t>I</a:t>
            </a:r>
          </a:p>
        </p:txBody>
      </p:sp>
      <p:sp>
        <p:nvSpPr>
          <p:cNvPr id="11" name="Chave esquerda 10"/>
          <p:cNvSpPr/>
          <p:nvPr/>
        </p:nvSpPr>
        <p:spPr>
          <a:xfrm rot="5400000">
            <a:off x="7164610" y="4125267"/>
            <a:ext cx="180975" cy="468313"/>
          </a:xfrm>
          <a:prstGeom prst="lef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b="1">
              <a:solidFill>
                <a:srgbClr val="FF0000"/>
              </a:solidFill>
            </a:endParaRPr>
          </a:p>
        </p:txBody>
      </p:sp>
      <p:sp>
        <p:nvSpPr>
          <p:cNvPr id="12" name="CaixaDeTexto 11"/>
          <p:cNvSpPr txBox="1">
            <a:spLocks noChangeArrowheads="1"/>
          </p:cNvSpPr>
          <p:nvPr/>
        </p:nvSpPr>
        <p:spPr bwMode="auto">
          <a:xfrm>
            <a:off x="7092379" y="3908573"/>
            <a:ext cx="288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FF0000"/>
                </a:solidFill>
                <a:latin typeface="Lucida Sans Unicode" pitchFamily="34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986806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 animBg="1"/>
      <p:bldP spid="10" grpId="0"/>
      <p:bldP spid="11" grpId="0" animBg="1"/>
      <p:bldP spid="1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HSI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5364289" cy="4880422"/>
          </a:xfrm>
        </p:spPr>
        <p:txBody>
          <a:bodyPr>
            <a:normAutofit/>
          </a:bodyPr>
          <a:lstStyle/>
          <a:p>
            <a:r>
              <a:rPr lang="pt-BR" dirty="0"/>
              <a:t>H – como obtemos a matiz?</a:t>
            </a:r>
          </a:p>
          <a:p>
            <a:pPr lvl="1"/>
            <a:r>
              <a:rPr lang="pt-BR" dirty="0"/>
              <a:t>A matiz determina o comprimento de onda predominante de uma cor particular </a:t>
            </a:r>
          </a:p>
          <a:p>
            <a:pPr lvl="1"/>
            <a:r>
              <a:rPr lang="pt-BR" dirty="0"/>
              <a:t>Considere o triângulo da figura</a:t>
            </a:r>
          </a:p>
          <a:p>
            <a:pPr lvl="1"/>
            <a:r>
              <a:rPr lang="pt-BR" dirty="0"/>
              <a:t>Qualquer ponto no triangulo é uma combinação linear de </a:t>
            </a:r>
            <a:r>
              <a:rPr lang="pt-BR" dirty="0" err="1"/>
              <a:t>Cyan</a:t>
            </a:r>
            <a:r>
              <a:rPr lang="pt-BR" dirty="0"/>
              <a:t>, Black e White</a:t>
            </a: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11863" y="2636838"/>
            <a:ext cx="2895600" cy="2768600"/>
          </a:xfrm>
          <a:prstGeom prst="rect">
            <a:avLst/>
          </a:prstGeom>
        </p:spPr>
      </p:pic>
      <p:sp>
        <p:nvSpPr>
          <p:cNvPr id="14" name="CaixaDeTexto 7"/>
          <p:cNvSpPr txBox="1">
            <a:spLocks noChangeArrowheads="1"/>
          </p:cNvSpPr>
          <p:nvPr/>
        </p:nvSpPr>
        <p:spPr bwMode="auto">
          <a:xfrm>
            <a:off x="6804025" y="3429000"/>
            <a:ext cx="288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 dirty="0">
                <a:solidFill>
                  <a:srgbClr val="FF0000"/>
                </a:solidFill>
                <a:latin typeface="Lucida Sans Unicode" pitchFamily="34" charset="0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499231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HSI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5364289" cy="4880422"/>
          </a:xfrm>
        </p:spPr>
        <p:txBody>
          <a:bodyPr>
            <a:normAutofit lnSpcReduction="10000"/>
          </a:bodyPr>
          <a:lstStyle/>
          <a:p>
            <a:r>
              <a:rPr lang="pt-BR" dirty="0"/>
              <a:t>Quais informações contribuem para obter H da cor x?</a:t>
            </a:r>
          </a:p>
          <a:p>
            <a:pPr lvl="1"/>
            <a:r>
              <a:rPr lang="pt-BR" dirty="0"/>
              <a:t>White ?</a:t>
            </a:r>
          </a:p>
          <a:p>
            <a:pPr lvl="2"/>
            <a:r>
              <a:rPr lang="pt-BR" dirty="0"/>
              <a:t>É uma cor balanceada e contém todas as cores primárias em iguais proporções</a:t>
            </a:r>
          </a:p>
          <a:p>
            <a:pPr lvl="1"/>
            <a:r>
              <a:rPr lang="pt-BR" dirty="0"/>
              <a:t>Black?</a:t>
            </a:r>
          </a:p>
          <a:p>
            <a:pPr lvl="2"/>
            <a:r>
              <a:rPr lang="pt-BR" dirty="0"/>
              <a:t>Não contém qualquer componente de cor</a:t>
            </a:r>
          </a:p>
          <a:p>
            <a:pPr lvl="1"/>
            <a:r>
              <a:rPr lang="pt-BR" dirty="0" err="1"/>
              <a:t>Cyan</a:t>
            </a:r>
            <a:r>
              <a:rPr lang="pt-BR" dirty="0"/>
              <a:t>?</a:t>
            </a:r>
          </a:p>
          <a:p>
            <a:pPr lvl="2"/>
            <a:r>
              <a:rPr lang="pt-BR" dirty="0"/>
              <a:t>É a única informação que contribui para a componente H</a:t>
            </a: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11863" y="2636838"/>
            <a:ext cx="2895600" cy="2768600"/>
          </a:xfrm>
          <a:prstGeom prst="rect">
            <a:avLst/>
          </a:prstGeom>
        </p:spPr>
      </p:pic>
      <p:sp>
        <p:nvSpPr>
          <p:cNvPr id="14" name="CaixaDeTexto 7"/>
          <p:cNvSpPr txBox="1">
            <a:spLocks noChangeArrowheads="1"/>
          </p:cNvSpPr>
          <p:nvPr/>
        </p:nvSpPr>
        <p:spPr bwMode="auto">
          <a:xfrm>
            <a:off x="6804025" y="3429000"/>
            <a:ext cx="288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 dirty="0">
                <a:solidFill>
                  <a:srgbClr val="FF0000"/>
                </a:solidFill>
                <a:latin typeface="Lucida Sans Unicode" pitchFamily="34" charset="0"/>
              </a:rPr>
              <a:t>x</a:t>
            </a:r>
          </a:p>
        </p:txBody>
      </p:sp>
      <p:sp>
        <p:nvSpPr>
          <p:cNvPr id="4" name="Multiplicar 3"/>
          <p:cNvSpPr/>
          <p:nvPr/>
        </p:nvSpPr>
        <p:spPr>
          <a:xfrm>
            <a:off x="323528" y="2818140"/>
            <a:ext cx="1152128" cy="1152128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Multiplicar 6"/>
          <p:cNvSpPr/>
          <p:nvPr/>
        </p:nvSpPr>
        <p:spPr>
          <a:xfrm>
            <a:off x="323528" y="4077072"/>
            <a:ext cx="1152128" cy="1152128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2010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HSI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Quais informações contribuem para obter H da cor x?</a:t>
            </a:r>
          </a:p>
          <a:p>
            <a:pPr lvl="1"/>
            <a:r>
              <a:rPr lang="pt-BR" dirty="0"/>
              <a:t>Valor de H é dado pelo ângulo em relação ao vermelho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3547318"/>
            <a:ext cx="3168650" cy="319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upo 27"/>
          <p:cNvGrpSpPr>
            <a:grpSpLocks/>
          </p:cNvGrpSpPr>
          <p:nvPr/>
        </p:nvGrpSpPr>
        <p:grpSpPr bwMode="auto">
          <a:xfrm>
            <a:off x="4933429" y="3547318"/>
            <a:ext cx="3228975" cy="2914650"/>
            <a:chOff x="5076056" y="2132856"/>
            <a:chExt cx="3228975" cy="2914650"/>
          </a:xfrm>
        </p:grpSpPr>
        <p:pic>
          <p:nvPicPr>
            <p:cNvPr id="6" name="Picture 1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76056" y="2132856"/>
              <a:ext cx="3228975" cy="2914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7" name="Conector de seta reta 6"/>
            <p:cNvCxnSpPr/>
            <p:nvPr/>
          </p:nvCxnSpPr>
          <p:spPr>
            <a:xfrm rot="10800000">
              <a:off x="6155556" y="3572719"/>
              <a:ext cx="576263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CaixaDeTexto 19"/>
            <p:cNvSpPr txBox="1">
              <a:spLocks noChangeArrowheads="1"/>
            </p:cNvSpPr>
            <p:nvPr/>
          </p:nvSpPr>
          <p:spPr bwMode="auto">
            <a:xfrm>
              <a:off x="5940152" y="3429000"/>
              <a:ext cx="21602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>
                  <a:solidFill>
                    <a:srgbClr val="FFC000"/>
                  </a:solidFill>
                  <a:latin typeface="Lucida Sans Unicode" pitchFamily="34" charset="0"/>
                </a:rPr>
                <a:t>x</a:t>
              </a:r>
            </a:p>
          </p:txBody>
        </p:sp>
        <p:sp>
          <p:nvSpPr>
            <p:cNvPr id="9" name="Seta circular 8"/>
            <p:cNvSpPr/>
            <p:nvPr/>
          </p:nvSpPr>
          <p:spPr>
            <a:xfrm>
              <a:off x="6515919" y="3428256"/>
              <a:ext cx="576262" cy="217488"/>
            </a:xfrm>
            <a:prstGeom prst="circularArrow">
              <a:avLst/>
            </a:prstGeom>
            <a:ln w="317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52399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HSI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  <a:p>
            <a:pPr lvl="1"/>
            <a:r>
              <a:rPr lang="pt-BR" dirty="0"/>
              <a:t>Variação das componentes do modelo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75656" y="2996952"/>
            <a:ext cx="6251575" cy="364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440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Conversão</a:t>
            </a:r>
            <a:r>
              <a:rPr lang="en-US" dirty="0"/>
              <a:t> RGB </a:t>
            </a:r>
            <a:r>
              <a:rPr lang="pt-BR" dirty="0">
                <a:latin typeface="Calibri"/>
                <a:cs typeface="Calibri"/>
              </a:rPr>
              <a:t>→ </a:t>
            </a:r>
            <a:r>
              <a:rPr lang="en-US" dirty="0"/>
              <a:t>HSI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Dada uma imagem em RGB com valores normalizados em [0,1], temos</a:t>
            </a:r>
          </a:p>
          <a:p>
            <a:pPr lvl="1"/>
            <a:endParaRPr lang="pt-BR" dirty="0"/>
          </a:p>
        </p:txBody>
      </p:sp>
      <p:graphicFrame>
        <p:nvGraphicFramePr>
          <p:cNvPr id="4" name="Objeto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3673340"/>
              </p:ext>
            </p:extLst>
          </p:nvPr>
        </p:nvGraphicFramePr>
        <p:xfrm>
          <a:off x="5003800" y="2420888"/>
          <a:ext cx="3784600" cy="1449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62200" imgH="787400" progId="Equation.3">
                  <p:embed/>
                </p:oleObj>
              </mc:Choice>
              <mc:Fallback>
                <p:oleObj name="Equation" r:id="rId2" imgW="2362200" imgH="787400" progId="Equation.3">
                  <p:embed/>
                  <p:pic>
                    <p:nvPicPr>
                      <p:cNvPr id="4" name="Objeto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2420888"/>
                        <a:ext cx="3784600" cy="1449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to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8544450"/>
              </p:ext>
            </p:extLst>
          </p:nvPr>
        </p:nvGraphicFramePr>
        <p:xfrm>
          <a:off x="611188" y="4066704"/>
          <a:ext cx="3744912" cy="1306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57400" imgH="660400" progId="Equation.3">
                  <p:embed/>
                </p:oleObj>
              </mc:Choice>
              <mc:Fallback>
                <p:oleObj name="Equation" r:id="rId4" imgW="2057400" imgH="660400" progId="Equation.3">
                  <p:embed/>
                  <p:pic>
                    <p:nvPicPr>
                      <p:cNvPr id="5" name="Objeto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4066704"/>
                        <a:ext cx="3744912" cy="1306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2416577"/>
              </p:ext>
            </p:extLst>
          </p:nvPr>
        </p:nvGraphicFramePr>
        <p:xfrm>
          <a:off x="611188" y="5237187"/>
          <a:ext cx="1814512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6" imgW="990360" imgH="393480" progId="Equation.3">
                  <p:embed/>
                </p:oleObj>
              </mc:Choice>
              <mc:Fallback>
                <p:oleObj name="Equação" r:id="rId6" imgW="990360" imgH="393480" progId="Equation.3">
                  <p:embed/>
                  <p:pic>
                    <p:nvPicPr>
                      <p:cNvPr id="6" name="Objeto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5237187"/>
                        <a:ext cx="1814512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to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6238984"/>
              </p:ext>
            </p:extLst>
          </p:nvPr>
        </p:nvGraphicFramePr>
        <p:xfrm>
          <a:off x="611188" y="2708920"/>
          <a:ext cx="2589213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8" imgW="1422360" imgH="457200" progId="Equation.3">
                  <p:embed/>
                </p:oleObj>
              </mc:Choice>
              <mc:Fallback>
                <p:oleObj name="Equação" r:id="rId8" imgW="1422360" imgH="457200" progId="Equation.3">
                  <p:embed/>
                  <p:pic>
                    <p:nvPicPr>
                      <p:cNvPr id="7" name="Objeto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2708920"/>
                        <a:ext cx="2589213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CaixaDeTexto 7"/>
          <p:cNvSpPr txBox="1"/>
          <p:nvPr/>
        </p:nvSpPr>
        <p:spPr>
          <a:xfrm>
            <a:off x="5292080" y="4221088"/>
            <a:ext cx="316835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b="1" dirty="0"/>
              <a:t>Para normalizar H basta dividir o resultado por 360º. </a:t>
            </a:r>
          </a:p>
          <a:p>
            <a:pPr algn="just"/>
            <a:endParaRPr lang="pt-BR" sz="1600" b="1" dirty="0"/>
          </a:p>
          <a:p>
            <a:pPr algn="just"/>
            <a:r>
              <a:rPr lang="pt-BR" sz="1600" b="1" dirty="0"/>
              <a:t>Se S = 0 então H não está definido (não há matiz no eixo de intensidade)</a:t>
            </a:r>
          </a:p>
          <a:p>
            <a:pPr algn="just"/>
            <a:endParaRPr lang="pt-BR" sz="1600" b="1" dirty="0"/>
          </a:p>
          <a:p>
            <a:pPr algn="just"/>
            <a:r>
              <a:rPr lang="pt-BR" sz="1600" b="1" dirty="0"/>
              <a:t>Problemas para representar o branco e o preto</a:t>
            </a:r>
          </a:p>
        </p:txBody>
      </p:sp>
    </p:spTree>
    <p:extLst>
      <p:ext uri="{BB962C8B-B14F-4D97-AF65-F5344CB8AC3E}">
        <p14:creationId xmlns:p14="http://schemas.microsoft.com/office/powerpoint/2010/main" val="3374806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Conversão</a:t>
            </a:r>
            <a:r>
              <a:rPr lang="en-US" dirty="0"/>
              <a:t> HSI </a:t>
            </a:r>
            <a:r>
              <a:rPr lang="pt-BR" dirty="0">
                <a:latin typeface="Calibri"/>
                <a:cs typeface="Calibri"/>
              </a:rPr>
              <a:t>→ </a:t>
            </a:r>
            <a:r>
              <a:rPr lang="en-US" dirty="0"/>
              <a:t>RGB 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Os valores para componente de HSI deve estar no intervalo [0,1] </a:t>
            </a:r>
          </a:p>
          <a:p>
            <a:r>
              <a:rPr lang="pt-BR" dirty="0"/>
              <a:t>Multiplicar H por 360º. A conversão leva em conta três setores de interesse: </a:t>
            </a:r>
          </a:p>
          <a:p>
            <a:pPr lvl="1"/>
            <a:r>
              <a:rPr lang="pt-BR" dirty="0"/>
              <a:t>Setor RG ( 0º &lt;= H &lt; 120º)</a:t>
            </a:r>
          </a:p>
          <a:p>
            <a:pPr lvl="1"/>
            <a:r>
              <a:rPr lang="pt-BR" dirty="0"/>
              <a:t>Setor GB (120º &lt;= H &lt; 240º)</a:t>
            </a:r>
          </a:p>
          <a:p>
            <a:pPr lvl="2"/>
            <a:r>
              <a:rPr lang="pt-BR" dirty="0"/>
              <a:t>H = H – 120º</a:t>
            </a:r>
          </a:p>
          <a:p>
            <a:pPr lvl="1"/>
            <a:r>
              <a:rPr lang="pt-BR" dirty="0"/>
              <a:t>Setor BR (240º &lt;= H &lt; 360º)</a:t>
            </a:r>
          </a:p>
          <a:p>
            <a:pPr lvl="2"/>
            <a:r>
              <a:rPr lang="pt-BR" dirty="0"/>
              <a:t>H = H – 240º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pPr lvl="1"/>
            <a:endParaRPr lang="pt-BR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3573016"/>
            <a:ext cx="3097213" cy="2306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81769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Conversão</a:t>
            </a:r>
            <a:r>
              <a:rPr lang="en-US" dirty="0"/>
              <a:t> HSI </a:t>
            </a:r>
            <a:r>
              <a:rPr lang="pt-BR" dirty="0">
                <a:latin typeface="Calibri"/>
                <a:cs typeface="Calibri"/>
              </a:rPr>
              <a:t>→ </a:t>
            </a:r>
            <a:r>
              <a:rPr lang="en-US" dirty="0"/>
              <a:t>RGB 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Setor RG ( 0º &lt;= H &lt; 120º):</a:t>
            </a:r>
          </a:p>
          <a:p>
            <a:endParaRPr lang="pt-BR" dirty="0"/>
          </a:p>
          <a:p>
            <a:endParaRPr lang="pt-BR" dirty="0"/>
          </a:p>
          <a:p>
            <a:r>
              <a:rPr lang="pt-BR" b="1" dirty="0"/>
              <a:t>Setor GB ( 120º &lt;= H &lt; 240º):</a:t>
            </a:r>
          </a:p>
          <a:p>
            <a:endParaRPr lang="pt-BR" dirty="0"/>
          </a:p>
          <a:p>
            <a:endParaRPr lang="pt-BR" dirty="0"/>
          </a:p>
          <a:p>
            <a:r>
              <a:rPr lang="pt-BR" b="1" dirty="0"/>
              <a:t>Setor BR ( 240º &lt;= H &lt; 360º):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pPr lvl="1"/>
            <a:endParaRPr lang="pt-BR" dirty="0"/>
          </a:p>
        </p:txBody>
      </p:sp>
      <p:graphicFrame>
        <p:nvGraphicFramePr>
          <p:cNvPr id="4" name="Objeto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8678614"/>
              </p:ext>
            </p:extLst>
          </p:nvPr>
        </p:nvGraphicFramePr>
        <p:xfrm>
          <a:off x="899592" y="2397425"/>
          <a:ext cx="2729315" cy="602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1091726" imgH="241195" progId="Equation.3">
                  <p:embed/>
                </p:oleObj>
              </mc:Choice>
              <mc:Fallback>
                <p:oleObj name="Equação" r:id="rId2" imgW="1091726" imgH="241195" progId="Equation.3">
                  <p:embed/>
                  <p:pic>
                    <p:nvPicPr>
                      <p:cNvPr id="4" name="Objeto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2397425"/>
                        <a:ext cx="2729315" cy="602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to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7687939"/>
              </p:ext>
            </p:extLst>
          </p:nvPr>
        </p:nvGraphicFramePr>
        <p:xfrm>
          <a:off x="6628267" y="2397426"/>
          <a:ext cx="1904173" cy="507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4" imgW="761669" imgH="203112" progId="Equation.3">
                  <p:embed/>
                </p:oleObj>
              </mc:Choice>
              <mc:Fallback>
                <p:oleObj name="Equação" r:id="rId4" imgW="761669" imgH="203112" progId="Equation.3">
                  <p:embed/>
                  <p:pic>
                    <p:nvPicPr>
                      <p:cNvPr id="5" name="Objeto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8267" y="2397426"/>
                        <a:ext cx="1904173" cy="5077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831400"/>
              </p:ext>
            </p:extLst>
          </p:nvPr>
        </p:nvGraphicFramePr>
        <p:xfrm>
          <a:off x="3995936" y="2397426"/>
          <a:ext cx="2349000" cy="50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6" imgW="939600" imgH="203040" progId="Equation.3">
                  <p:embed/>
                </p:oleObj>
              </mc:Choice>
              <mc:Fallback>
                <p:oleObj name="Equação" r:id="rId6" imgW="939600" imgH="203040" progId="Equation.3">
                  <p:embed/>
                  <p:pic>
                    <p:nvPicPr>
                      <p:cNvPr id="6" name="Objeto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936" y="2397426"/>
                        <a:ext cx="2349000" cy="50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to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6917806"/>
              </p:ext>
            </p:extLst>
          </p:nvPr>
        </p:nvGraphicFramePr>
        <p:xfrm>
          <a:off x="5724128" y="3212976"/>
          <a:ext cx="2158063" cy="507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8" imgW="863225" imgH="203112" progId="Equation.3">
                  <p:embed/>
                </p:oleObj>
              </mc:Choice>
              <mc:Fallback>
                <p:oleObj name="Equação" r:id="rId8" imgW="863225" imgH="203112" progId="Equation.3">
                  <p:embed/>
                  <p:pic>
                    <p:nvPicPr>
                      <p:cNvPr id="7" name="Objeto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128" y="3212976"/>
                        <a:ext cx="2158063" cy="5077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to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2022208"/>
              </p:ext>
            </p:extLst>
          </p:nvPr>
        </p:nvGraphicFramePr>
        <p:xfrm>
          <a:off x="3347864" y="4049886"/>
          <a:ext cx="2762250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10" imgW="1104900" imgH="241300" progId="Equation.3">
                  <p:embed/>
                </p:oleObj>
              </mc:Choice>
              <mc:Fallback>
                <p:oleObj name="Equação" r:id="rId10" imgW="1104900" imgH="241300" progId="Equation.3">
                  <p:embed/>
                  <p:pic>
                    <p:nvPicPr>
                      <p:cNvPr id="8" name="Objeto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7864" y="4049886"/>
                        <a:ext cx="2762250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to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6989857"/>
              </p:ext>
            </p:extLst>
          </p:nvPr>
        </p:nvGraphicFramePr>
        <p:xfrm>
          <a:off x="899592" y="4049886"/>
          <a:ext cx="1904173" cy="507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12" imgW="761669" imgH="203112" progId="Equation.3">
                  <p:embed/>
                </p:oleObj>
              </mc:Choice>
              <mc:Fallback>
                <p:oleObj name="Equação" r:id="rId12" imgW="761669" imgH="203112" progId="Equation.3">
                  <p:embed/>
                  <p:pic>
                    <p:nvPicPr>
                      <p:cNvPr id="10" name="Objeto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4049886"/>
                        <a:ext cx="1904173" cy="5077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to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1056935"/>
              </p:ext>
            </p:extLst>
          </p:nvPr>
        </p:nvGraphicFramePr>
        <p:xfrm>
          <a:off x="6516216" y="4049886"/>
          <a:ext cx="2348480" cy="507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14" imgW="939392" imgH="203112" progId="Equation.3">
                  <p:embed/>
                </p:oleObj>
              </mc:Choice>
              <mc:Fallback>
                <p:oleObj name="Equação" r:id="rId14" imgW="939392" imgH="203112" progId="Equation.3">
                  <p:embed/>
                  <p:pic>
                    <p:nvPicPr>
                      <p:cNvPr id="11" name="Objeto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6216" y="4049886"/>
                        <a:ext cx="2348480" cy="5077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to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7303146"/>
              </p:ext>
            </p:extLst>
          </p:nvPr>
        </p:nvGraphicFramePr>
        <p:xfrm>
          <a:off x="5652120" y="4797152"/>
          <a:ext cx="2158063" cy="507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16" imgW="863225" imgH="203112" progId="Equation.3">
                  <p:embed/>
                </p:oleObj>
              </mc:Choice>
              <mc:Fallback>
                <p:oleObj name="Equação" r:id="rId16" imgW="863225" imgH="203112" progId="Equation.3">
                  <p:embed/>
                  <p:pic>
                    <p:nvPicPr>
                      <p:cNvPr id="12" name="Objeto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2120" y="4797152"/>
                        <a:ext cx="2158063" cy="5077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to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2265333"/>
              </p:ext>
            </p:extLst>
          </p:nvPr>
        </p:nvGraphicFramePr>
        <p:xfrm>
          <a:off x="6300192" y="5661248"/>
          <a:ext cx="2729315" cy="602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18" imgW="1091726" imgH="241195" progId="Equation.3">
                  <p:embed/>
                </p:oleObj>
              </mc:Choice>
              <mc:Fallback>
                <p:oleObj name="Equação" r:id="rId18" imgW="1091726" imgH="241195" progId="Equation.3">
                  <p:embed/>
                  <p:pic>
                    <p:nvPicPr>
                      <p:cNvPr id="13" name="Objeto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192" y="5661248"/>
                        <a:ext cx="2729315" cy="602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to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0219553"/>
              </p:ext>
            </p:extLst>
          </p:nvPr>
        </p:nvGraphicFramePr>
        <p:xfrm>
          <a:off x="3819955" y="5661248"/>
          <a:ext cx="1904173" cy="507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0" imgW="761669" imgH="203112" progId="Equation.3">
                  <p:embed/>
                </p:oleObj>
              </mc:Choice>
              <mc:Fallback>
                <p:oleObj name="Equação" r:id="rId20" imgW="761669" imgH="203112" progId="Equation.3">
                  <p:embed/>
                  <p:pic>
                    <p:nvPicPr>
                      <p:cNvPr id="14" name="Objeto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9955" y="5661248"/>
                        <a:ext cx="1904173" cy="5077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to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1874637"/>
              </p:ext>
            </p:extLst>
          </p:nvPr>
        </p:nvGraphicFramePr>
        <p:xfrm>
          <a:off x="899592" y="5661248"/>
          <a:ext cx="2348480" cy="507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2" imgW="939392" imgH="203112" progId="Equation.3">
                  <p:embed/>
                </p:oleObj>
              </mc:Choice>
              <mc:Fallback>
                <p:oleObj name="Equação" r:id="rId22" imgW="939392" imgH="203112" progId="Equation.3">
                  <p:embed/>
                  <p:pic>
                    <p:nvPicPr>
                      <p:cNvPr id="15" name="Objeto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5661248"/>
                        <a:ext cx="2348480" cy="5077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326201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HSI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Problemas</a:t>
            </a:r>
          </a:p>
          <a:p>
            <a:pPr lvl="1"/>
            <a:r>
              <a:rPr lang="pt-BR" dirty="0"/>
              <a:t>Cores com baixa saturação (se encontram perto do eixo preto-branco acinzentado) podem ser difíceis de determinar com precisão a tonalidade  </a:t>
            </a:r>
          </a:p>
          <a:p>
            <a:pPr lvl="1"/>
            <a:r>
              <a:rPr lang="pt-BR" dirty="0"/>
              <a:t>Quando a saturação é zero a tonalidade é indefinida. </a:t>
            </a:r>
          </a:p>
        </p:txBody>
      </p:sp>
    </p:spTree>
    <p:extLst>
      <p:ext uri="{BB962C8B-B14F-4D97-AF65-F5344CB8AC3E}">
        <p14:creationId xmlns:p14="http://schemas.microsoft.com/office/powerpoint/2010/main" val="244942505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HSI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Problemas</a:t>
            </a:r>
          </a:p>
          <a:p>
            <a:pPr lvl="1"/>
            <a:r>
              <a:rPr lang="pt-BR" dirty="0"/>
              <a:t>Para os sistemas que devem ser capazes de diferenciar todas as cores, saturadas e insaturadas, representação HSI pode apresentar problemas significativos. </a:t>
            </a:r>
          </a:p>
          <a:p>
            <a:pPr lvl="1"/>
            <a:r>
              <a:rPr lang="pt-BR" dirty="0"/>
              <a:t>Para o reconhecimento geral e classificação de objetos multicoloridos, ao contrário da sabedoria convencional, as desvantagens do espaço HSI quase sempre compensam quaisquer eventuais vantagens</a:t>
            </a:r>
          </a:p>
        </p:txBody>
      </p:sp>
    </p:spTree>
    <p:extLst>
      <p:ext uri="{BB962C8B-B14F-4D97-AF65-F5344CB8AC3E}">
        <p14:creationId xmlns:p14="http://schemas.microsoft.com/office/powerpoint/2010/main" val="268868856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</a:t>
            </a:r>
            <a:r>
              <a:rPr lang="en-US" dirty="0"/>
              <a:t>Lab /CIE L*a*b*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287904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Modelo de cor </a:t>
            </a:r>
            <a:r>
              <a:rPr lang="pt-BR" dirty="0" err="1"/>
              <a:t>Lab</a:t>
            </a:r>
            <a:r>
              <a:rPr lang="pt-BR" dirty="0"/>
              <a:t> (Hunter-1948)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É baseado na percepção humana de cor</a:t>
            </a:r>
          </a:p>
          <a:p>
            <a:pPr lvl="1"/>
            <a:r>
              <a:rPr lang="pt-BR" dirty="0"/>
              <a:t>As entradas a partir dos 3 cones (S, M, L) são somadas e subtraídas juntas para criar 3 sinais</a:t>
            </a:r>
          </a:p>
          <a:p>
            <a:pPr lvl="2"/>
            <a:r>
              <a:rPr lang="pt-BR" dirty="0" err="1"/>
              <a:t>Brightness</a:t>
            </a:r>
            <a:endParaRPr lang="pt-BR" dirty="0"/>
          </a:p>
          <a:p>
            <a:pPr lvl="2"/>
            <a:r>
              <a:rPr lang="pt-BR" dirty="0" err="1"/>
              <a:t>redness</a:t>
            </a:r>
            <a:r>
              <a:rPr lang="pt-BR" dirty="0"/>
              <a:t> </a:t>
            </a:r>
            <a:r>
              <a:rPr lang="pt-BR" dirty="0" err="1"/>
              <a:t>vs</a:t>
            </a:r>
            <a:r>
              <a:rPr lang="pt-BR" dirty="0"/>
              <a:t> </a:t>
            </a:r>
            <a:r>
              <a:rPr lang="pt-BR" dirty="0" err="1"/>
              <a:t>greenness</a:t>
            </a:r>
            <a:r>
              <a:rPr lang="pt-BR" dirty="0"/>
              <a:t> (r/g)</a:t>
            </a:r>
          </a:p>
          <a:p>
            <a:pPr lvl="2"/>
            <a:r>
              <a:rPr lang="pt-BR" dirty="0" err="1"/>
              <a:t>yellowness</a:t>
            </a:r>
            <a:r>
              <a:rPr lang="pt-BR" dirty="0"/>
              <a:t> </a:t>
            </a:r>
            <a:r>
              <a:rPr lang="pt-BR" dirty="0" err="1"/>
              <a:t>vs</a:t>
            </a:r>
            <a:r>
              <a:rPr lang="pt-BR" dirty="0"/>
              <a:t> </a:t>
            </a:r>
            <a:r>
              <a:rPr lang="pt-BR" dirty="0" err="1"/>
              <a:t>blueness</a:t>
            </a:r>
            <a:r>
              <a:rPr lang="pt-BR" dirty="0"/>
              <a:t> (y/b); </a:t>
            </a:r>
          </a:p>
          <a:p>
            <a:endParaRPr lang="pt-BR" dirty="0"/>
          </a:p>
        </p:txBody>
      </p:sp>
      <p:pic>
        <p:nvPicPr>
          <p:cNvPr id="4" name="Picture 2" descr="http://webvision.med.utah.edu/imageswv/KallColor15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73" r="47087" b="13561"/>
          <a:stretch/>
        </p:blipFill>
        <p:spPr bwMode="auto">
          <a:xfrm>
            <a:off x="395536" y="4194836"/>
            <a:ext cx="2242782" cy="26185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 descr="http://www.huevaluechroma.com/pics/7-6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8" y="4206342"/>
            <a:ext cx="2487613" cy="2398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6516216" y="4953942"/>
            <a:ext cx="25529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círculo de matizes complementares, do ponto de vista psicológico</a:t>
            </a:r>
          </a:p>
        </p:txBody>
      </p:sp>
    </p:spTree>
    <p:extLst>
      <p:ext uri="{BB962C8B-B14F-4D97-AF65-F5344CB8AC3E}">
        <p14:creationId xmlns:p14="http://schemas.microsoft.com/office/powerpoint/2010/main" val="59893035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Modelo de cor </a:t>
            </a:r>
            <a:r>
              <a:rPr lang="pt-BR" dirty="0" err="1"/>
              <a:t>Lab</a:t>
            </a:r>
            <a:r>
              <a:rPr lang="pt-BR" dirty="0"/>
              <a:t> (Hunter-1948)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Os valores numéricos no </a:t>
            </a:r>
            <a:r>
              <a:rPr lang="pt-BR" dirty="0" err="1"/>
              <a:t>Lab</a:t>
            </a:r>
            <a:r>
              <a:rPr lang="pt-BR" dirty="0"/>
              <a:t> descrevem todas as cores que uma pessoa com visão normal pode perceber</a:t>
            </a:r>
          </a:p>
          <a:p>
            <a:pPr lvl="1"/>
            <a:r>
              <a:rPr lang="pt-BR" dirty="0"/>
              <a:t>Separa luminosidade de </a:t>
            </a:r>
            <a:r>
              <a:rPr lang="pt-BR" dirty="0" err="1"/>
              <a:t>cromaticidade</a:t>
            </a:r>
            <a:r>
              <a:rPr lang="pt-BR" dirty="0"/>
              <a:t>:</a:t>
            </a:r>
          </a:p>
          <a:p>
            <a:pPr lvl="2"/>
            <a:r>
              <a:rPr lang="pt-BR" dirty="0"/>
              <a:t>L=luminosidade [0,100]</a:t>
            </a:r>
          </a:p>
          <a:p>
            <a:pPr lvl="2"/>
            <a:r>
              <a:rPr lang="pt-BR" dirty="0"/>
              <a:t>componente a =  eixo </a:t>
            </a:r>
            <a:r>
              <a:rPr lang="pt-BR" dirty="0" err="1"/>
              <a:t>green-red</a:t>
            </a:r>
            <a:r>
              <a:rPr lang="pt-BR" dirty="0"/>
              <a:t> [-128,127]</a:t>
            </a:r>
          </a:p>
          <a:p>
            <a:pPr lvl="2"/>
            <a:r>
              <a:rPr lang="pt-BR" dirty="0"/>
              <a:t>componente b = eixo blue-</a:t>
            </a:r>
            <a:r>
              <a:rPr lang="pt-BR" dirty="0" err="1"/>
              <a:t>yellow</a:t>
            </a:r>
            <a:r>
              <a:rPr lang="pt-BR" dirty="0"/>
              <a:t> [-128,127]</a:t>
            </a:r>
          </a:p>
        </p:txBody>
      </p:sp>
      <p:pic>
        <p:nvPicPr>
          <p:cNvPr id="7" name="Picture 2" descr="http://t2.gstatic.com/images?q=tbn:ANd9GcSXvtL8571W71_W0gNCwKwqZRq1AWAFRoiCjMj08sp7H9i3bYaZU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8562" y="4709939"/>
            <a:ext cx="2017712" cy="2103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6" descr="http://4.bp.blogspot.com/_lNzlqVMcIj8/S883k71zk3I/AAAAAAAABvw/2sDaMacB4E8/s1600/Basic+Gamut+graphic+Lab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749" y="4725814"/>
            <a:ext cx="2087563" cy="2087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4558963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http://www.sensusflavors.com/images/colorspher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1773238"/>
            <a:ext cx="3557588" cy="467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Diagrama do espaço de cor  </a:t>
            </a:r>
            <a:r>
              <a:rPr lang="pt-BR" dirty="0" err="1"/>
              <a:t>Lab</a:t>
            </a:r>
            <a:r>
              <a:rPr lang="pt-BR" dirty="0"/>
              <a:t> esférico</a:t>
            </a:r>
          </a:p>
        </p:txBody>
      </p:sp>
      <p:sp>
        <p:nvSpPr>
          <p:cNvPr id="4" name="Espaço Reservado para Conteúdo 1"/>
          <p:cNvSpPr txBox="1">
            <a:spLocks/>
          </p:cNvSpPr>
          <p:nvPr/>
        </p:nvSpPr>
        <p:spPr>
          <a:xfrm>
            <a:off x="468313" y="6237312"/>
            <a:ext cx="4060825" cy="490537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kumimoji="0"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/>
              <a:t>http://www.sensusflavors.com/t-r-color.html</a:t>
            </a:r>
          </a:p>
        </p:txBody>
      </p:sp>
      <p:sp>
        <p:nvSpPr>
          <p:cNvPr id="6" name="Retângulo 5"/>
          <p:cNvSpPr>
            <a:spLocks noChangeArrowheads="1"/>
          </p:cNvSpPr>
          <p:nvPr/>
        </p:nvSpPr>
        <p:spPr bwMode="auto">
          <a:xfrm>
            <a:off x="4572000" y="2205038"/>
            <a:ext cx="4572000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s-ES" dirty="0"/>
              <a:t>Rodar este aplicativo</a:t>
            </a:r>
          </a:p>
          <a:p>
            <a:endParaRPr lang="es-ES" dirty="0"/>
          </a:p>
          <a:p>
            <a:r>
              <a:rPr lang="es-ES" dirty="0"/>
              <a:t>http://www.broadhurst-family.co.uk/lefteye/MainPages/ChannelValues/p2.htm</a:t>
            </a:r>
          </a:p>
        </p:txBody>
      </p:sp>
    </p:spTree>
    <p:extLst>
      <p:ext uri="{BB962C8B-B14F-4D97-AF65-F5344CB8AC3E}">
        <p14:creationId xmlns:p14="http://schemas.microsoft.com/office/powerpoint/2010/main" val="278030827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Diagrama do espaço de cor  </a:t>
            </a:r>
            <a:r>
              <a:rPr lang="pt-BR" dirty="0" err="1"/>
              <a:t>Lab</a:t>
            </a:r>
            <a:r>
              <a:rPr lang="pt-BR" dirty="0"/>
              <a:t> esférico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A forma esférica do espaço de cor </a:t>
            </a:r>
            <a:r>
              <a:rPr lang="pt-BR" dirty="0" err="1"/>
              <a:t>Lab</a:t>
            </a:r>
            <a:r>
              <a:rPr lang="pt-BR" dirty="0"/>
              <a:t> limita a quantidade de cores que podem ser representadas nas extremidades do eixo L (perto do branco ou perto do preto);</a:t>
            </a:r>
          </a:p>
          <a:p>
            <a:pPr lvl="1"/>
            <a:r>
              <a:rPr lang="pt-BR" dirty="0"/>
              <a:t>Este espaço é matematicamente simples, mas produz diversos problemas perceptuais;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1608193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Modelo de cor CIE L*a*b (1976)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É uma modificação do </a:t>
            </a:r>
            <a:r>
              <a:rPr lang="pt-BR" dirty="0" err="1"/>
              <a:t>Lab</a:t>
            </a:r>
            <a:r>
              <a:rPr lang="pt-BR" dirty="0"/>
              <a:t> em que a roda de cores é substituída pelo diagrama de </a:t>
            </a:r>
            <a:r>
              <a:rPr lang="pt-BR" dirty="0" err="1"/>
              <a:t>cromaticidade</a:t>
            </a:r>
            <a:r>
              <a:rPr lang="pt-BR" dirty="0"/>
              <a:t>: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O eixo de intensidade é perpendicular ao plano mostrado</a:t>
            </a:r>
          </a:p>
        </p:txBody>
      </p:sp>
      <p:pic>
        <p:nvPicPr>
          <p:cNvPr id="4" name="Picture 2" descr="http://www.cmpg.org/cmpg/Graphics/Color_Management_Presentation/lab_color_spac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2348880"/>
            <a:ext cx="2952750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6655241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Exemplos</a:t>
            </a:r>
            <a:endParaRPr lang="en-US" dirty="0"/>
          </a:p>
        </p:txBody>
      </p:sp>
      <p:pic>
        <p:nvPicPr>
          <p:cNvPr id="4" name="Espaço Reservado para Conteúdo 3" descr="LabChDaf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0" y="1839913"/>
            <a:ext cx="7620000" cy="3810000"/>
          </a:xfrm>
          <a:prstGeom prst="rect">
            <a:avLst/>
          </a:prstGeom>
        </p:spPr>
      </p:pic>
      <p:sp>
        <p:nvSpPr>
          <p:cNvPr id="5" name="CaixaDeTexto 4"/>
          <p:cNvSpPr txBox="1">
            <a:spLocks noChangeArrowheads="1"/>
          </p:cNvSpPr>
          <p:nvPr/>
        </p:nvSpPr>
        <p:spPr bwMode="auto">
          <a:xfrm>
            <a:off x="900113" y="1476524"/>
            <a:ext cx="77041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dirty="0" err="1"/>
              <a:t>Imagem</a:t>
            </a:r>
            <a:r>
              <a:rPr lang="en-US" dirty="0"/>
              <a:t> original              </a:t>
            </a:r>
            <a:r>
              <a:rPr lang="en-US" dirty="0" err="1"/>
              <a:t>componente</a:t>
            </a:r>
            <a:r>
              <a:rPr lang="en-US" dirty="0"/>
              <a:t> a </a:t>
            </a:r>
            <a:r>
              <a:rPr lang="en-US" dirty="0" err="1"/>
              <a:t>colorida</a:t>
            </a:r>
            <a:r>
              <a:rPr lang="en-US" dirty="0"/>
              <a:t>   </a:t>
            </a:r>
            <a:r>
              <a:rPr lang="en-US" dirty="0" err="1"/>
              <a:t>componente</a:t>
            </a:r>
            <a:r>
              <a:rPr lang="en-US" dirty="0"/>
              <a:t> b </a:t>
            </a:r>
            <a:r>
              <a:rPr lang="en-US" dirty="0" err="1"/>
              <a:t>colorida</a:t>
            </a:r>
            <a:endParaRPr lang="en-US" dirty="0"/>
          </a:p>
        </p:txBody>
      </p:sp>
      <p:sp>
        <p:nvSpPr>
          <p:cNvPr id="6" name="CaixaDeTexto 5"/>
          <p:cNvSpPr txBox="1">
            <a:spLocks noChangeArrowheads="1"/>
          </p:cNvSpPr>
          <p:nvPr/>
        </p:nvSpPr>
        <p:spPr bwMode="auto">
          <a:xfrm>
            <a:off x="827088" y="5661248"/>
            <a:ext cx="7705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Luminancia                    componente a em cinza   componente b em cinza</a:t>
            </a:r>
          </a:p>
        </p:txBody>
      </p:sp>
      <p:sp>
        <p:nvSpPr>
          <p:cNvPr id="7" name="Retângulo 6"/>
          <p:cNvSpPr>
            <a:spLocks noChangeArrowheads="1"/>
          </p:cNvSpPr>
          <p:nvPr/>
        </p:nvSpPr>
        <p:spPr bwMode="auto">
          <a:xfrm>
            <a:off x="468313" y="6237312"/>
            <a:ext cx="81359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dirty="0"/>
              <a:t>http://www.broadhurst-family.co.uk/lefteye/MainPages/Lab.htm</a:t>
            </a:r>
          </a:p>
        </p:txBody>
      </p:sp>
    </p:spTree>
    <p:extLst>
      <p:ext uri="{BB962C8B-B14F-4D97-AF65-F5344CB8AC3E}">
        <p14:creationId xmlns:p14="http://schemas.microsoft.com/office/powerpoint/2010/main" val="211036216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Modelos </a:t>
            </a:r>
            <a:r>
              <a:rPr lang="pt-BR" dirty="0" err="1"/>
              <a:t>Lab</a:t>
            </a:r>
            <a:r>
              <a:rPr lang="pt-BR" dirty="0"/>
              <a:t> /CIE L*a*b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Ambos os modelos produzem um espaço de cor que seja </a:t>
            </a:r>
            <a:r>
              <a:rPr lang="pt-BR" dirty="0" err="1"/>
              <a:t>perceptualmente</a:t>
            </a:r>
            <a:r>
              <a:rPr lang="pt-BR" dirty="0"/>
              <a:t> mais linear que os outros espaços de cor</a:t>
            </a:r>
          </a:p>
          <a:p>
            <a:pPr lvl="1"/>
            <a:r>
              <a:rPr lang="pt-BR" dirty="0" err="1"/>
              <a:t>Perceptualmente</a:t>
            </a:r>
            <a:r>
              <a:rPr lang="pt-BR" dirty="0"/>
              <a:t> linear significa que uma mudança nos valores da cor deve produzir uma mudança visual com a mesma importância; 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6617351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Modelos </a:t>
            </a:r>
            <a:r>
              <a:rPr lang="pt-BR" dirty="0" err="1"/>
              <a:t>Lab</a:t>
            </a:r>
            <a:r>
              <a:rPr lang="pt-BR" dirty="0"/>
              <a:t> /CIE L*a*b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Quando se representa cores com valores de precisão limitada, o uso desses modelos podem melhorar a reprodução dos tons</a:t>
            </a:r>
          </a:p>
          <a:p>
            <a:pPr lvl="1"/>
            <a:r>
              <a:rPr lang="pt-BR" dirty="0"/>
              <a:t>Ambos são espaço de cor absolutos</a:t>
            </a:r>
          </a:p>
          <a:p>
            <a:pPr lvl="1"/>
            <a:r>
              <a:rPr lang="pt-BR" dirty="0"/>
              <a:t>Definem as cores exatamente, diferente do RBG ou CMYK, que definem a cor misturando luz ou tinta.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3698850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RGB </a:t>
            </a:r>
            <a:r>
              <a:rPr lang="pt-BR" dirty="0">
                <a:latin typeface="Calibri"/>
                <a:cs typeface="Calibri"/>
              </a:rPr>
              <a:t>→</a:t>
            </a:r>
            <a:r>
              <a:rPr lang="en-US" dirty="0"/>
              <a:t> CIE L*a*b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Converter RGB para o espaço CIE L*a*b requer dois passos</a:t>
            </a:r>
          </a:p>
          <a:p>
            <a:pPr lvl="1"/>
            <a:r>
              <a:rPr lang="pt-BR" dirty="0"/>
              <a:t>1 - transformar RGB para o espaço XYZ</a:t>
            </a:r>
          </a:p>
          <a:p>
            <a:pPr marL="0" indent="0">
              <a:buNone/>
            </a:pPr>
            <a:endParaRPr lang="pt-BR" dirty="0"/>
          </a:p>
        </p:txBody>
      </p:sp>
      <p:graphicFrame>
        <p:nvGraphicFramePr>
          <p:cNvPr id="4" name="Objeto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6576166"/>
              </p:ext>
            </p:extLst>
          </p:nvPr>
        </p:nvGraphicFramePr>
        <p:xfrm>
          <a:off x="1403648" y="3644900"/>
          <a:ext cx="6194425" cy="158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2781300" imgH="711200" progId="Equation.3">
                  <p:embed/>
                </p:oleObj>
              </mc:Choice>
              <mc:Fallback>
                <p:oleObj name="Equação" r:id="rId2" imgW="2781300" imgH="711200" progId="Equation.3">
                  <p:embed/>
                  <p:pic>
                    <p:nvPicPr>
                      <p:cNvPr id="4" name="Objeto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3644900"/>
                        <a:ext cx="6194425" cy="158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4429506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RGB </a:t>
            </a:r>
            <a:r>
              <a:rPr lang="pt-BR" dirty="0">
                <a:latin typeface="Calibri"/>
                <a:cs typeface="Calibri"/>
              </a:rPr>
              <a:t>→</a:t>
            </a:r>
            <a:r>
              <a:rPr lang="en-US" dirty="0"/>
              <a:t> CIE L*a*b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Converter RGB para o espaço CIE L*a*b requer dois passos</a:t>
            </a:r>
          </a:p>
          <a:p>
            <a:pPr lvl="1"/>
            <a:r>
              <a:rPr lang="pt-BR" dirty="0"/>
              <a:t>2 - Transforma XYZ para CIE L*a*B*, que depende das coordenadas de cor do branco ponto (</a:t>
            </a:r>
            <a:r>
              <a:rPr lang="pt-BR" dirty="0" err="1"/>
              <a:t>Xn,Yn,Zn</a:t>
            </a:r>
            <a:r>
              <a:rPr lang="pt-BR" dirty="0"/>
              <a:t>)</a:t>
            </a:r>
          </a:p>
          <a:p>
            <a:pPr marL="0" indent="0">
              <a:buNone/>
            </a:pPr>
            <a:endParaRPr lang="pt-BR" dirty="0"/>
          </a:p>
        </p:txBody>
      </p:sp>
      <p:graphicFrame>
        <p:nvGraphicFramePr>
          <p:cNvPr id="5" name="Objeto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1356722"/>
              </p:ext>
            </p:extLst>
          </p:nvPr>
        </p:nvGraphicFramePr>
        <p:xfrm>
          <a:off x="4211960" y="3572718"/>
          <a:ext cx="3336925" cy="316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1765300" imgH="1676400" progId="Equation.3">
                  <p:embed/>
                </p:oleObj>
              </mc:Choice>
              <mc:Fallback>
                <p:oleObj name="Equação" r:id="rId2" imgW="1765300" imgH="1676400" progId="Equation.3">
                  <p:embed/>
                  <p:pic>
                    <p:nvPicPr>
                      <p:cNvPr id="5" name="Objeto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960" y="3572718"/>
                        <a:ext cx="3336925" cy="316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CaixaDeTexto 5"/>
          <p:cNvSpPr txBox="1"/>
          <p:nvPr/>
        </p:nvSpPr>
        <p:spPr>
          <a:xfrm>
            <a:off x="827584" y="4482986"/>
            <a:ext cx="266429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Nota: a equação para obter L* só se aplica se Y/</a:t>
            </a:r>
            <a:r>
              <a:rPr lang="pt-BR" dirty="0" err="1"/>
              <a:t>Yn</a:t>
            </a:r>
            <a:r>
              <a:rPr lang="pt-BR" dirty="0"/>
              <a:t> &gt;0.08856 (para propósitos práticos, neste caso, a cor é virtualmente preta)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76040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RGB </a:t>
            </a:r>
            <a:r>
              <a:rPr lang="pt-BR" dirty="0">
                <a:latin typeface="Calibri"/>
                <a:cs typeface="Calibri"/>
              </a:rPr>
              <a:t>→</a:t>
            </a:r>
            <a:r>
              <a:rPr lang="en-US" dirty="0"/>
              <a:t> CIE L*a*b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O ponto branco pode depender da cena ou do observador</a:t>
            </a:r>
          </a:p>
          <a:p>
            <a:pPr lvl="1"/>
            <a:r>
              <a:rPr lang="pt-BR" dirty="0"/>
              <a:t>Na prática, o ponto branco é assumido seguir um padrão e não é explicitamente definido (veja a tabela) .</a:t>
            </a:r>
          </a:p>
        </p:txBody>
      </p:sp>
    </p:spTree>
    <p:extLst>
      <p:ext uri="{BB962C8B-B14F-4D97-AF65-F5344CB8AC3E}">
        <p14:creationId xmlns:p14="http://schemas.microsoft.com/office/powerpoint/2010/main" val="43380043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Ponto branco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55576" y="1540948"/>
            <a:ext cx="7643812" cy="4957762"/>
          </a:xfrm>
          <a:prstGeom prst="rect">
            <a:avLst/>
          </a:prstGeom>
          <a:noFill/>
        </p:spPr>
      </p:pic>
      <p:sp>
        <p:nvSpPr>
          <p:cNvPr id="5" name="Retângulo 4"/>
          <p:cNvSpPr>
            <a:spLocks noChangeArrowheads="1"/>
          </p:cNvSpPr>
          <p:nvPr/>
        </p:nvSpPr>
        <p:spPr bwMode="auto">
          <a:xfrm>
            <a:off x="1187624" y="6443489"/>
            <a:ext cx="70580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en-US" dirty="0"/>
              <a:t>http://en.wikipedia.org/wiki/SRGB_color_space</a:t>
            </a:r>
          </a:p>
        </p:txBody>
      </p:sp>
    </p:spTree>
    <p:extLst>
      <p:ext uri="{BB962C8B-B14F-4D97-AF65-F5344CB8AC3E}">
        <p14:creationId xmlns:p14="http://schemas.microsoft.com/office/powerpoint/2010/main" val="382204350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RGB</a:t>
            </a:r>
            <a:r>
              <a:rPr lang="pt-BR" dirty="0">
                <a:latin typeface="Calibri"/>
                <a:cs typeface="Calibri"/>
              </a:rPr>
              <a:t> → </a:t>
            </a:r>
            <a:r>
              <a:rPr lang="pt-BR" dirty="0"/>
              <a:t>XYZ 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71550" y="1801465"/>
            <a:ext cx="7210425" cy="3787775"/>
          </a:xfrm>
          <a:prstGeom prst="rect">
            <a:avLst/>
          </a:prstGeom>
          <a:noFill/>
        </p:spPr>
      </p:pic>
      <p:sp>
        <p:nvSpPr>
          <p:cNvPr id="5" name="Retângulo 4"/>
          <p:cNvSpPr>
            <a:spLocks noChangeArrowheads="1"/>
          </p:cNvSpPr>
          <p:nvPr/>
        </p:nvSpPr>
        <p:spPr bwMode="auto">
          <a:xfrm>
            <a:off x="1619250" y="5589588"/>
            <a:ext cx="59055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en-US" dirty="0"/>
              <a:t>http://www.easyrgb.com/index.php?X=MATH</a:t>
            </a:r>
          </a:p>
        </p:txBody>
      </p:sp>
    </p:spTree>
    <p:extLst>
      <p:ext uri="{BB962C8B-B14F-4D97-AF65-F5344CB8AC3E}">
        <p14:creationId xmlns:p14="http://schemas.microsoft.com/office/powerpoint/2010/main" val="87754585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XYZ</a:t>
            </a:r>
            <a:r>
              <a:rPr lang="pt-BR" dirty="0">
                <a:latin typeface="Calibri"/>
                <a:cs typeface="Calibri"/>
              </a:rPr>
              <a:t> → </a:t>
            </a:r>
            <a:r>
              <a:rPr lang="pt-BR" dirty="0"/>
              <a:t>L*a*b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2060575"/>
            <a:ext cx="8291513" cy="338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2329433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L*a*b </a:t>
            </a:r>
            <a:r>
              <a:rPr lang="pt-BR" dirty="0">
                <a:latin typeface="Calibri"/>
                <a:cs typeface="Calibri"/>
              </a:rPr>
              <a:t>→ </a:t>
            </a:r>
            <a:r>
              <a:rPr lang="pt-BR" dirty="0"/>
              <a:t>XYZ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91412" y="1988840"/>
            <a:ext cx="8135938" cy="3421063"/>
          </a:xfrm>
          <a:prstGeom prst="rect">
            <a:avLst/>
          </a:prstGeom>
          <a:noFill/>
        </p:spPr>
      </p:pic>
      <p:sp>
        <p:nvSpPr>
          <p:cNvPr id="7" name="Retângulo 4"/>
          <p:cNvSpPr>
            <a:spLocks noChangeArrowheads="1"/>
          </p:cNvSpPr>
          <p:nvPr/>
        </p:nvSpPr>
        <p:spPr bwMode="auto">
          <a:xfrm>
            <a:off x="1781770" y="5589240"/>
            <a:ext cx="56705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en-US" dirty="0"/>
              <a:t>http://www.easyrgb.com/index.php?X=MATH</a:t>
            </a:r>
          </a:p>
        </p:txBody>
      </p:sp>
    </p:spTree>
    <p:extLst>
      <p:ext uri="{BB962C8B-B14F-4D97-AF65-F5344CB8AC3E}">
        <p14:creationId xmlns:p14="http://schemas.microsoft.com/office/powerpoint/2010/main" val="353849965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XYZ </a:t>
            </a:r>
            <a:r>
              <a:rPr lang="pt-BR" dirty="0">
                <a:latin typeface="Calibri"/>
                <a:cs typeface="Calibri"/>
              </a:rPr>
              <a:t>→ </a:t>
            </a:r>
            <a:r>
              <a:rPr lang="pt-BR" dirty="0"/>
              <a:t>RGB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tângulo 4"/>
          <p:cNvSpPr>
            <a:spLocks noChangeArrowheads="1"/>
          </p:cNvSpPr>
          <p:nvPr/>
        </p:nvSpPr>
        <p:spPr bwMode="auto">
          <a:xfrm>
            <a:off x="1781770" y="5589240"/>
            <a:ext cx="56705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en-US" dirty="0"/>
              <a:t>http://www.easyrgb.com/index.php?X=MATH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9750" y="1631603"/>
            <a:ext cx="7848600" cy="39576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6252453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Por que as cores não combinam?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PT" dirty="0"/>
              <a:t>Nenhum dispositivo em um sistema de publicação é capaz de reproduzir toda a gama de cores visíveis ao olho humano. </a:t>
            </a:r>
          </a:p>
          <a:p>
            <a:pPr lvl="1"/>
            <a:r>
              <a:rPr lang="pt-PT" dirty="0"/>
              <a:t>Cada dispositivo opera dentro de um espaço de cores específico que pode produzir um determinado intervalo, ou gama de cores.</a:t>
            </a:r>
          </a:p>
          <a:p>
            <a:pPr lvl="1"/>
            <a:r>
              <a:rPr lang="pt-BR" dirty="0"/>
              <a:t>Um modelo de cores determina a relação entre valores, e o espaço de cores define o significado absoluto desses valores como cores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654769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Por que as cores não combinam?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Modelos independente de dispositivo</a:t>
            </a:r>
          </a:p>
          <a:p>
            <a:pPr lvl="1"/>
            <a:r>
              <a:rPr lang="pt-BR" dirty="0"/>
              <a:t>Alguns modelos de cores (como CIE L*a*b) possuem um espaço de cor fixo porque estão diretamente relacionados à maneira como os seres humanos percebem as cores.</a:t>
            </a:r>
          </a:p>
          <a:p>
            <a:r>
              <a:rPr lang="pt-BR" dirty="0"/>
              <a:t>Modelos dependente de dispositivo</a:t>
            </a:r>
          </a:p>
          <a:p>
            <a:pPr lvl="1"/>
            <a:r>
              <a:rPr lang="pt-BR" dirty="0"/>
              <a:t>Outros modelos de cores (RGB, HSL, HSB, CMYK e assim por diante) pode ter diversos espaços de cores. Como esses modelos variam de acordo com cada espaço de cor associado ao dispositivo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23362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Por que as cores não combinam?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1468760"/>
          </a:xfrm>
        </p:spPr>
        <p:txBody>
          <a:bodyPr>
            <a:normAutofit fontScale="92500"/>
          </a:bodyPr>
          <a:lstStyle/>
          <a:p>
            <a:r>
              <a:rPr lang="pt-BR" dirty="0"/>
              <a:t>Devido a esses espaços de cores diferentes, as cores podem sofrer alterações na aparência como você transferir documentos entre dispositivos diferentes</a:t>
            </a:r>
            <a:endParaRPr lang="en-US" dirty="0"/>
          </a:p>
        </p:txBody>
      </p:sp>
      <p:pic>
        <p:nvPicPr>
          <p:cNvPr id="4" name="Imagem 3" descr="cmg_gamuts_rgb_cmyk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35"/>
          <a:stretch/>
        </p:blipFill>
        <p:spPr bwMode="auto">
          <a:xfrm>
            <a:off x="2555776" y="2871861"/>
            <a:ext cx="4752975" cy="3941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5076472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pt-BR" dirty="0"/>
              <a:t>http://www.way2c.com/w2faq.php</a:t>
            </a:r>
          </a:p>
          <a:p>
            <a:r>
              <a:rPr lang="pt-BR" dirty="0"/>
              <a:t>http://en.wikipedia.org/wiki/HSL_and_HSV</a:t>
            </a:r>
          </a:p>
          <a:p>
            <a:r>
              <a:rPr lang="pt-BR" dirty="0"/>
              <a:t>http://en.wikipedia.org/wiki/SRGB_color_space</a:t>
            </a:r>
          </a:p>
          <a:p>
            <a:r>
              <a:rPr lang="pt-BR" dirty="0"/>
              <a:t>http://www.huevaluechroma.com/index.php</a:t>
            </a:r>
          </a:p>
          <a:p>
            <a:r>
              <a:rPr lang="pt-BR" dirty="0"/>
              <a:t>http://help.adobe.com/en_US/photoshop/cs/using/WS705A7236-E699-4730-A893-59B0C3F1B756a.html</a:t>
            </a:r>
          </a:p>
          <a:p>
            <a:r>
              <a:rPr lang="pt-BR" dirty="0"/>
              <a:t>http://corisectelmo.blogspot.com/2011/01/aula-21-espaco-de-cor-lab.html</a:t>
            </a:r>
          </a:p>
          <a:p>
            <a:r>
              <a:rPr lang="pt-BR" dirty="0"/>
              <a:t>http://www.broadhurst-family.co.uk/lefteye/MainPages/ChannelValues/p2.htm (aplicativo que </a:t>
            </a:r>
            <a:r>
              <a:rPr lang="pt-BR" dirty="0" err="1"/>
              <a:t>motra</a:t>
            </a:r>
            <a:r>
              <a:rPr lang="pt-BR" dirty="0"/>
              <a:t> a roda de cores para  </a:t>
            </a:r>
            <a:r>
              <a:rPr lang="pt-BR" dirty="0" err="1"/>
              <a:t>rgb</a:t>
            </a:r>
            <a:r>
              <a:rPr lang="pt-BR" dirty="0"/>
              <a:t>, </a:t>
            </a:r>
            <a:r>
              <a:rPr lang="pt-BR" dirty="0" err="1"/>
              <a:t>hsb</a:t>
            </a:r>
            <a:r>
              <a:rPr lang="pt-BR" dirty="0"/>
              <a:t>, </a:t>
            </a:r>
            <a:r>
              <a:rPr lang="pt-BR" dirty="0" err="1"/>
              <a:t>lab</a:t>
            </a:r>
            <a:r>
              <a:rPr lang="pt-BR" dirty="0"/>
              <a:t>)</a:t>
            </a:r>
          </a:p>
          <a:p>
            <a:r>
              <a:rPr lang="pt-BR" dirty="0"/>
              <a:t>http://www.easyrgb.com/index.php?X=CALC (converte RGB em LAB)</a:t>
            </a:r>
          </a:p>
          <a:p>
            <a:r>
              <a:rPr lang="pt-BR" dirty="0"/>
              <a:t>http://www.easyrgb.com/index.php?X=MATH (contem todas as formulas para </a:t>
            </a:r>
            <a:r>
              <a:rPr lang="pt-BR" dirty="0" err="1"/>
              <a:t>conversao</a:t>
            </a:r>
            <a:r>
              <a:rPr lang="pt-BR" dirty="0"/>
              <a:t>)</a:t>
            </a:r>
          </a:p>
          <a:p>
            <a:r>
              <a:rPr lang="pt-BR" dirty="0"/>
              <a:t>http://www.broadhurst-family.co.uk/lefteye/MainPages/Lab.htm (exemplos de </a:t>
            </a:r>
            <a:r>
              <a:rPr lang="pt-BR" dirty="0" err="1"/>
              <a:t>lab</a:t>
            </a:r>
            <a:r>
              <a:rPr lang="pt-B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872075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7B6610C1FC8AB48BA79369D9F0FA2AE" ma:contentTypeVersion="0" ma:contentTypeDescription="Crie um novo documento." ma:contentTypeScope="" ma:versionID="bb0d639e4679164d038a7d1ea4c9b26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97561fba88d9dece65508bac662637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4F2FDC2-8411-491E-BF6D-09B3D5405962}"/>
</file>

<file path=customXml/itemProps2.xml><?xml version="1.0" encoding="utf-8"?>
<ds:datastoreItem xmlns:ds="http://schemas.openxmlformats.org/officeDocument/2006/customXml" ds:itemID="{6F787848-C6EC-4656-8A6B-44E618B0707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5749009-5F00-42CF-B2E0-3C399EA08368}">
  <ds:schemaRefs>
    <ds:schemaRef ds:uri="http://schemas.microsoft.com/office/2006/documentManagement/types"/>
    <ds:schemaRef ds:uri="http://purl.org/dc/terms/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306</TotalTime>
  <Words>2567</Words>
  <Application>Microsoft Office PowerPoint</Application>
  <PresentationFormat>Apresentação na tela (4:3)</PresentationFormat>
  <Paragraphs>289</Paragraphs>
  <Slides>66</Slides>
  <Notes>0</Notes>
  <HiddenSlides>0</HiddenSlides>
  <MMClips>0</MMClips>
  <ScaleCrop>false</ScaleCrop>
  <HeadingPairs>
    <vt:vector size="8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2</vt:i4>
      </vt:variant>
      <vt:variant>
        <vt:lpstr>Títulos de slides</vt:lpstr>
      </vt:variant>
      <vt:variant>
        <vt:i4>66</vt:i4>
      </vt:variant>
    </vt:vector>
  </HeadingPairs>
  <TitlesOfParts>
    <vt:vector size="74" baseType="lpstr">
      <vt:lpstr>Calibri</vt:lpstr>
      <vt:lpstr>Lucida Sans Unicode</vt:lpstr>
      <vt:lpstr>Tw Cen MT</vt:lpstr>
      <vt:lpstr>Wingdings</vt:lpstr>
      <vt:lpstr>Wingdings 2</vt:lpstr>
      <vt:lpstr>Mediano</vt:lpstr>
      <vt:lpstr>Equação</vt:lpstr>
      <vt:lpstr>Equation</vt:lpstr>
      <vt:lpstr>Modelos de Cor</vt:lpstr>
      <vt:lpstr>Terminologias</vt:lpstr>
      <vt:lpstr>Modelos de Cor</vt:lpstr>
      <vt:lpstr>Modelos de Cor</vt:lpstr>
      <vt:lpstr>MODELO DE COR RGB</vt:lpstr>
      <vt:lpstr>Modelo RGB</vt:lpstr>
      <vt:lpstr>Modelo RGB</vt:lpstr>
      <vt:lpstr>Modelo RGB</vt:lpstr>
      <vt:lpstr>Modelo RGB</vt:lpstr>
      <vt:lpstr>Modelo RGB</vt:lpstr>
      <vt:lpstr>Modelo RGB</vt:lpstr>
      <vt:lpstr>Modelo RGB</vt:lpstr>
      <vt:lpstr>Modelo RGB</vt:lpstr>
      <vt:lpstr>Modelo RGB</vt:lpstr>
      <vt:lpstr>Modelo RGB</vt:lpstr>
      <vt:lpstr>Modelo RGB</vt:lpstr>
      <vt:lpstr>Modelo RGB</vt:lpstr>
      <vt:lpstr>MODELO CMY/CMYK</vt:lpstr>
      <vt:lpstr>Modelo CMY e CMYK</vt:lpstr>
      <vt:lpstr>Conversão RGB → CMY</vt:lpstr>
      <vt:lpstr>Exemplos do uso de CMY</vt:lpstr>
      <vt:lpstr>Exemplos do uso de CMY</vt:lpstr>
      <vt:lpstr>Conversão RGB → CMY → RGB</vt:lpstr>
      <vt:lpstr>Modelo CMY e CMYK</vt:lpstr>
      <vt:lpstr>Conversão CMY → CMYK</vt:lpstr>
      <vt:lpstr>Exemplo do  uso de CMYK</vt:lpstr>
      <vt:lpstr>Conversão CMY → CMYK</vt:lpstr>
      <vt:lpstr>Conversão CMYK → CMY</vt:lpstr>
      <vt:lpstr>Modelos de cor baseados na percepção humana</vt:lpstr>
      <vt:lpstr>Modelo HSI</vt:lpstr>
      <vt:lpstr>Modelo de cores</vt:lpstr>
      <vt:lpstr>Modelo HSI</vt:lpstr>
      <vt:lpstr>Modelo HSI</vt:lpstr>
      <vt:lpstr>Modelo HSI</vt:lpstr>
      <vt:lpstr>Modelo HSI</vt:lpstr>
      <vt:lpstr>Modelo HSI</vt:lpstr>
      <vt:lpstr>Modelo HSI</vt:lpstr>
      <vt:lpstr>Modelo HSI</vt:lpstr>
      <vt:lpstr>Modelo HSI</vt:lpstr>
      <vt:lpstr>Modelo HSI</vt:lpstr>
      <vt:lpstr>Conversão RGB → HSI</vt:lpstr>
      <vt:lpstr>Conversão HSI → RGB </vt:lpstr>
      <vt:lpstr>Conversão HSI → RGB </vt:lpstr>
      <vt:lpstr>Modelo HSI</vt:lpstr>
      <vt:lpstr>Modelo HSI</vt:lpstr>
      <vt:lpstr>Modelo Lab /CIE L*a*b*</vt:lpstr>
      <vt:lpstr>Modelo de cor Lab (Hunter-1948)</vt:lpstr>
      <vt:lpstr>Modelo de cor Lab (Hunter-1948)</vt:lpstr>
      <vt:lpstr>Diagrama do espaço de cor  Lab esférico</vt:lpstr>
      <vt:lpstr>Diagrama do espaço de cor  Lab esférico</vt:lpstr>
      <vt:lpstr>Modelo de cor CIE L*a*b (1976)</vt:lpstr>
      <vt:lpstr>Exemplos</vt:lpstr>
      <vt:lpstr>Modelos Lab /CIE L*a*b</vt:lpstr>
      <vt:lpstr>Modelos Lab /CIE L*a*b</vt:lpstr>
      <vt:lpstr>RGB → CIE L*a*b </vt:lpstr>
      <vt:lpstr>RGB → CIE L*a*b </vt:lpstr>
      <vt:lpstr>RGB → CIE L*a*b </vt:lpstr>
      <vt:lpstr>Ponto branco</vt:lpstr>
      <vt:lpstr>RGB → XYZ </vt:lpstr>
      <vt:lpstr>XYZ → L*a*b</vt:lpstr>
      <vt:lpstr>L*a*b → XYZ</vt:lpstr>
      <vt:lpstr>XYZ → RGB</vt:lpstr>
      <vt:lpstr>Por que as cores não combinam?</vt:lpstr>
      <vt:lpstr>Por que as cores não combinam?</vt:lpstr>
      <vt:lpstr>Por que as cores não combinam?</vt:lpstr>
      <vt:lpstr>Referências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Modelos de Cor</dc:title>
  <dc:creator>User</dc:creator>
  <cp:lastModifiedBy>Bruno Travencolo</cp:lastModifiedBy>
  <cp:revision>40</cp:revision>
  <dcterms:created xsi:type="dcterms:W3CDTF">2014-09-26T11:36:19Z</dcterms:created>
  <dcterms:modified xsi:type="dcterms:W3CDTF">2024-10-18T11:00:40Z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0x01010097B6610C1FC8AB48BA79369D9F0FA2AE</vt:lpwstr>
  </property>
  <property fmtid="{D5CDD505-2E9C-101B-9397-08002B2CF9AE}" pid="3" name="Order">
    <vt:r8>1400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</Properties>
</file>