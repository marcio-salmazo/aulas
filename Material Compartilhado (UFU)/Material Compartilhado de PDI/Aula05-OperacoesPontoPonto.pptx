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s/slide30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2.xml" ContentType="application/vnd.openxmlformats-officedocument.presentationml.slide+xml"/>
  <Override PartName="/ppt/slides/slide24.xml" ContentType="application/vnd.openxmlformats-officedocument.presentationml.slide+xml"/>
  <Override PartName="/ppt/slides/slide22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82" r:id="rId4"/>
    <p:sldId id="300" r:id="rId5"/>
    <p:sldId id="294" r:id="rId6"/>
    <p:sldId id="295" r:id="rId7"/>
    <p:sldId id="296" r:id="rId8"/>
    <p:sldId id="309" r:id="rId9"/>
    <p:sldId id="298" r:id="rId10"/>
    <p:sldId id="297" r:id="rId11"/>
    <p:sldId id="303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60" r:id="rId24"/>
    <p:sldId id="305" r:id="rId25"/>
    <p:sldId id="306" r:id="rId26"/>
    <p:sldId id="307" r:id="rId27"/>
    <p:sldId id="308" r:id="rId28"/>
    <p:sldId id="310" r:id="rId29"/>
    <p:sldId id="311" r:id="rId30"/>
    <p:sldId id="313" r:id="rId3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01/10/2014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01/10/2014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01/10/2014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t>01/10/2014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t>01/10/2014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01/10/2014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01/10/2014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01/10/2014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2E700DB3-DBF0-4086-B675-117E7A9610B8}" type="datetimeFigureOut">
              <a:rPr lang="pt-BR" smtClean="0"/>
              <a:t>01/10/2014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01/10/2014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01/10/2014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01/10/2014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png"/><Relationship Id="rId5" Type="http://schemas.openxmlformats.org/officeDocument/2006/relationships/image" Target="../media/image21.wmf"/><Relationship Id="rId4" Type="http://schemas.openxmlformats.org/officeDocument/2006/relationships/oleObject" Target="../embeddings/oleObject3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4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5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Operações Ponto a Ponto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797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Operações </a:t>
            </a:r>
            <a:r>
              <a:rPr lang="pt-BR" dirty="0" smtClean="0"/>
              <a:t>pontuais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São operações </a:t>
            </a:r>
            <a:r>
              <a:rPr lang="pt-BR" dirty="0"/>
              <a:t>nas imagens onde </a:t>
            </a:r>
            <a:r>
              <a:rPr lang="pt-BR" dirty="0" smtClean="0"/>
              <a:t>o processamento </a:t>
            </a:r>
            <a:r>
              <a:rPr lang="pt-BR" dirty="0"/>
              <a:t>é realizada em </a:t>
            </a:r>
            <a:r>
              <a:rPr lang="pt-BR" dirty="0" smtClean="0"/>
              <a:t>cada pixel individualmente</a:t>
            </a:r>
          </a:p>
          <a:p>
            <a:r>
              <a:rPr lang="pt-BR" dirty="0" smtClean="0"/>
              <a:t>Podem ser</a:t>
            </a:r>
          </a:p>
          <a:p>
            <a:pPr lvl="1"/>
            <a:r>
              <a:rPr lang="pt-BR" dirty="0"/>
              <a:t>Aritméticas</a:t>
            </a:r>
          </a:p>
          <a:p>
            <a:pPr lvl="1"/>
            <a:r>
              <a:rPr lang="pt-BR" dirty="0" smtClean="0"/>
              <a:t>Lógicas</a:t>
            </a:r>
          </a:p>
          <a:p>
            <a:pPr lvl="1"/>
            <a:r>
              <a:rPr lang="pt-BR" dirty="0" smtClean="0"/>
              <a:t>Envolver uma ou mais imagens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04410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Operações </a:t>
            </a:r>
            <a:r>
              <a:rPr lang="pt-BR" dirty="0" smtClean="0"/>
              <a:t>pontuais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Com uma imagem</a:t>
            </a:r>
          </a:p>
          <a:p>
            <a:pPr lvl="1"/>
            <a:r>
              <a:rPr lang="pt-BR" dirty="0" smtClean="0"/>
              <a:t>Cada </a:t>
            </a:r>
            <a:r>
              <a:rPr lang="pt-BR" dirty="0"/>
              <a:t>ponto na </a:t>
            </a:r>
            <a:r>
              <a:rPr lang="pt-BR" dirty="0" smtClean="0"/>
              <a:t>imagem </a:t>
            </a:r>
            <a:r>
              <a:rPr lang="pt-BR" dirty="0"/>
              <a:t>de </a:t>
            </a:r>
            <a:r>
              <a:rPr lang="pt-BR" dirty="0" smtClean="0"/>
              <a:t>entrada </a:t>
            </a:r>
            <a:r>
              <a:rPr lang="pt-BR" dirty="0"/>
              <a:t>gera um só ponto na </a:t>
            </a:r>
            <a:r>
              <a:rPr lang="pt-BR" dirty="0" smtClean="0"/>
              <a:t>imagem de saída</a:t>
            </a:r>
            <a:endParaRPr lang="pt-BR" dirty="0"/>
          </a:p>
          <a:p>
            <a:endParaRPr lang="pt-BR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421399" y="5426640"/>
            <a:ext cx="21852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dirty="0"/>
              <a:t>Imagem de </a:t>
            </a:r>
            <a:r>
              <a:rPr lang="pt-BR" dirty="0" smtClean="0"/>
              <a:t>entrada</a:t>
            </a:r>
            <a:endParaRPr lang="pt-BR" dirty="0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751" y="3065199"/>
            <a:ext cx="6324600" cy="243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475656" y="5919043"/>
            <a:ext cx="584647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dirty="0"/>
              <a:t>T[f(</a:t>
            </a:r>
            <a:r>
              <a:rPr lang="pt-BR" dirty="0" err="1"/>
              <a:t>x,y</a:t>
            </a:r>
            <a:r>
              <a:rPr lang="pt-BR" dirty="0"/>
              <a:t>)]  ==&gt; Operação sobre cada ponto (cada </a:t>
            </a:r>
            <a:r>
              <a:rPr lang="pt-BR" dirty="0" smtClean="0"/>
              <a:t>pixel</a:t>
            </a:r>
            <a:r>
              <a:rPr lang="pt-BR" dirty="0"/>
              <a:t>)</a:t>
            </a:r>
            <a:br>
              <a:rPr lang="pt-BR" dirty="0"/>
            </a:br>
            <a:r>
              <a:rPr lang="pt-BR" dirty="0"/>
              <a:t>		 da </a:t>
            </a:r>
            <a:r>
              <a:rPr lang="pt-BR" dirty="0" smtClean="0"/>
              <a:t>imagem </a:t>
            </a:r>
            <a:r>
              <a:rPr lang="pt-BR" dirty="0"/>
              <a:t>de </a:t>
            </a:r>
            <a:r>
              <a:rPr lang="pt-BR" dirty="0" smtClean="0"/>
              <a:t>entrada</a:t>
            </a:r>
            <a:endParaRPr lang="pt-BR" dirty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195098" y="5435932"/>
            <a:ext cx="196720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dirty="0"/>
              <a:t>Imagem de </a:t>
            </a:r>
            <a:r>
              <a:rPr lang="pt-BR" dirty="0" smtClean="0"/>
              <a:t>saída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11358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Operações </a:t>
            </a:r>
            <a:r>
              <a:rPr lang="pt-BR" dirty="0" smtClean="0"/>
              <a:t>pontuais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79832" cy="4495800"/>
          </a:xfrm>
        </p:spPr>
        <p:txBody>
          <a:bodyPr/>
          <a:lstStyle/>
          <a:p>
            <a:r>
              <a:rPr lang="pt-BR" dirty="0" smtClean="0"/>
              <a:t>Com duas ou mais imagens</a:t>
            </a:r>
          </a:p>
          <a:p>
            <a:pPr lvl="1"/>
            <a:r>
              <a:rPr lang="pt-BR" dirty="0" smtClean="0"/>
              <a:t>Cada </a:t>
            </a:r>
            <a:r>
              <a:rPr lang="pt-BR" dirty="0"/>
              <a:t>ponto </a:t>
            </a:r>
            <a:r>
              <a:rPr lang="pt-BR" dirty="0" smtClean="0"/>
              <a:t>das imagens de entrada é combinado para gerar </a:t>
            </a:r>
            <a:r>
              <a:rPr lang="pt-BR" dirty="0"/>
              <a:t>um só ponto na </a:t>
            </a:r>
            <a:r>
              <a:rPr lang="pt-BR" dirty="0" smtClean="0"/>
              <a:t>imagem de saída</a:t>
            </a:r>
            <a:endParaRPr lang="pt-BR" dirty="0"/>
          </a:p>
          <a:p>
            <a:endParaRPr lang="pt-BR" dirty="0"/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3009271"/>
            <a:ext cx="4298454" cy="3804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8962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</a:t>
            </a:r>
            <a:r>
              <a:rPr lang="pt-BR" dirty="0" smtClean="0"/>
              <a:t>aritméticas pontuais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Podem ser divididas em </a:t>
            </a:r>
          </a:p>
          <a:p>
            <a:pPr lvl="1"/>
            <a:r>
              <a:rPr lang="pt-BR" dirty="0" smtClean="0"/>
              <a:t>Adição</a:t>
            </a:r>
            <a:endParaRPr lang="pt-BR" dirty="0"/>
          </a:p>
          <a:p>
            <a:pPr lvl="2"/>
            <a:r>
              <a:rPr lang="pt-BR" dirty="0" smtClean="0"/>
              <a:t>Ajuste </a:t>
            </a:r>
            <a:r>
              <a:rPr lang="pt-BR" dirty="0"/>
              <a:t>de brilho</a:t>
            </a:r>
          </a:p>
          <a:p>
            <a:pPr lvl="2"/>
            <a:r>
              <a:rPr lang="pt-BR" dirty="0"/>
              <a:t>R</a:t>
            </a:r>
            <a:r>
              <a:rPr lang="pt-BR" dirty="0" smtClean="0"/>
              <a:t>emoção </a:t>
            </a:r>
            <a:r>
              <a:rPr lang="pt-BR" dirty="0"/>
              <a:t>de </a:t>
            </a:r>
            <a:r>
              <a:rPr lang="pt-BR" dirty="0" smtClean="0"/>
              <a:t>ruídos</a:t>
            </a:r>
            <a:endParaRPr lang="pt-BR" dirty="0"/>
          </a:p>
          <a:p>
            <a:pPr lvl="1"/>
            <a:r>
              <a:rPr lang="pt-BR" dirty="0" smtClean="0"/>
              <a:t>Subtração</a:t>
            </a:r>
            <a:endParaRPr lang="pt-BR" dirty="0"/>
          </a:p>
          <a:p>
            <a:pPr lvl="2"/>
            <a:r>
              <a:rPr lang="pt-BR" dirty="0" smtClean="0"/>
              <a:t>Detecção </a:t>
            </a:r>
            <a:r>
              <a:rPr lang="pt-BR" dirty="0"/>
              <a:t>de diferença entre duas imagens</a:t>
            </a:r>
          </a:p>
          <a:p>
            <a:pPr lvl="2"/>
            <a:r>
              <a:rPr lang="pt-BR" dirty="0" smtClean="0"/>
              <a:t>Movimento</a:t>
            </a:r>
            <a:endParaRPr lang="pt-BR" dirty="0"/>
          </a:p>
          <a:p>
            <a:pPr lvl="1"/>
            <a:r>
              <a:rPr lang="pt-BR" dirty="0" smtClean="0"/>
              <a:t>Multiplicação</a:t>
            </a:r>
            <a:endParaRPr lang="pt-BR" dirty="0"/>
          </a:p>
          <a:p>
            <a:pPr lvl="2"/>
            <a:r>
              <a:rPr lang="pt-BR" dirty="0" smtClean="0"/>
              <a:t>Calibração </a:t>
            </a:r>
            <a:r>
              <a:rPr lang="pt-BR" dirty="0"/>
              <a:t>de brilho</a:t>
            </a:r>
          </a:p>
          <a:p>
            <a:pPr lvl="2"/>
            <a:r>
              <a:rPr lang="pt-BR" dirty="0" smtClean="0"/>
              <a:t>Máscaras</a:t>
            </a:r>
            <a:endParaRPr lang="pt-BR" dirty="0"/>
          </a:p>
          <a:p>
            <a:pPr lvl="1"/>
            <a:r>
              <a:rPr lang="pt-BR" dirty="0" smtClean="0"/>
              <a:t>Divisão</a:t>
            </a:r>
            <a:endParaRPr lang="pt-BR" dirty="0"/>
          </a:p>
          <a:p>
            <a:pPr lvl="2"/>
            <a:r>
              <a:rPr lang="pt-BR" dirty="0" smtClean="0"/>
              <a:t>Normalização </a:t>
            </a:r>
            <a:r>
              <a:rPr lang="pt-BR" dirty="0"/>
              <a:t>de brilho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21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Operações aritméticas pontuais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Algumas dessas operações aritméticas já foram vistas. São as transformações </a:t>
            </a:r>
            <a:r>
              <a:rPr lang="pt-BR" dirty="0"/>
              <a:t>de </a:t>
            </a:r>
            <a:r>
              <a:rPr lang="pt-BR" dirty="0" smtClean="0"/>
              <a:t>intensidade</a:t>
            </a:r>
            <a:endParaRPr lang="pt-BR" dirty="0"/>
          </a:p>
          <a:p>
            <a:pPr lvl="1"/>
            <a:r>
              <a:rPr lang="pt-BR" dirty="0" smtClean="0"/>
              <a:t>Lineares: </a:t>
            </a:r>
          </a:p>
          <a:p>
            <a:pPr lvl="2"/>
            <a:r>
              <a:rPr lang="pt-BR" i="1" dirty="0" smtClean="0"/>
              <a:t>g = c * f + b </a:t>
            </a:r>
          </a:p>
          <a:p>
            <a:pPr lvl="1"/>
            <a:r>
              <a:rPr lang="pt-BR" dirty="0"/>
              <a:t>Não-lineares: </a:t>
            </a:r>
          </a:p>
          <a:p>
            <a:pPr lvl="2"/>
            <a:r>
              <a:rPr lang="pt-BR" dirty="0"/>
              <a:t>g = c * log</a:t>
            </a:r>
            <a:r>
              <a:rPr lang="pt-BR" baseline="-25000" dirty="0"/>
              <a:t>2</a:t>
            </a:r>
            <a:r>
              <a:rPr lang="pt-BR" dirty="0"/>
              <a:t>(f + 1)</a:t>
            </a:r>
          </a:p>
          <a:p>
            <a:pPr lvl="2"/>
            <a:r>
              <a:rPr lang="pt-BR" dirty="0"/>
              <a:t>g = c * </a:t>
            </a:r>
            <a:r>
              <a:rPr lang="pt-BR" dirty="0" err="1"/>
              <a:t>exp</a:t>
            </a:r>
            <a:r>
              <a:rPr lang="pt-BR" dirty="0"/>
              <a:t>(f + 1</a:t>
            </a:r>
            <a:r>
              <a:rPr lang="pt-BR" dirty="0" smtClean="0"/>
              <a:t>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93260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</a:t>
            </a:r>
            <a:r>
              <a:rPr lang="pt-BR" dirty="0" smtClean="0"/>
              <a:t>aritméticas pontuais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Exemplos: subtração</a:t>
            </a:r>
          </a:p>
          <a:p>
            <a:pPr lvl="1"/>
            <a:r>
              <a:rPr lang="pt-BR" dirty="0" smtClean="0"/>
              <a:t>Diferença entre as imagens indica se houve movimento </a:t>
            </a:r>
          </a:p>
          <a:p>
            <a:endParaRPr lang="pt-BR" dirty="0" smtClean="0"/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7072" y="2869664"/>
            <a:ext cx="5201965" cy="3799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968112"/>
            <a:ext cx="2667519" cy="1801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2326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</a:t>
            </a:r>
            <a:r>
              <a:rPr lang="pt-BR" dirty="0" smtClean="0"/>
              <a:t>aritméticas pontuais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Exemplos: subtração</a:t>
            </a:r>
          </a:p>
          <a:p>
            <a:pPr lvl="1"/>
            <a:r>
              <a:rPr lang="pt-BR" dirty="0"/>
              <a:t>Subtração do </a:t>
            </a:r>
            <a:r>
              <a:rPr lang="pt-BR" dirty="0" smtClean="0"/>
              <a:t>fundo (</a:t>
            </a:r>
            <a:r>
              <a:rPr lang="pt-BR" i="1" dirty="0" smtClean="0"/>
              <a:t>background</a:t>
            </a:r>
            <a:r>
              <a:rPr lang="pt-BR" dirty="0" smtClean="0"/>
              <a:t>)</a:t>
            </a:r>
            <a:endParaRPr lang="pt-BR" dirty="0"/>
          </a:p>
        </p:txBody>
      </p:sp>
      <p:sp>
        <p:nvSpPr>
          <p:cNvPr id="7" name="Text Box 1027"/>
          <p:cNvSpPr txBox="1">
            <a:spLocks noChangeArrowheads="1"/>
          </p:cNvSpPr>
          <p:nvPr/>
        </p:nvSpPr>
        <p:spPr bwMode="auto">
          <a:xfrm>
            <a:off x="2051720" y="2528900"/>
            <a:ext cx="11801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2000" b="0" dirty="0"/>
              <a:t>Imagem </a:t>
            </a:r>
            <a:endParaRPr lang="pt-BR" sz="2000" b="0" dirty="0" smtClean="0"/>
          </a:p>
          <a:p>
            <a:pPr algn="ctr"/>
            <a:r>
              <a:rPr lang="pt-BR" sz="2000" b="0" dirty="0" smtClean="0"/>
              <a:t>original</a:t>
            </a:r>
            <a:endParaRPr lang="pt-BR" sz="2000" b="0" dirty="0"/>
          </a:p>
        </p:txBody>
      </p:sp>
      <p:sp>
        <p:nvSpPr>
          <p:cNvPr id="8" name="Text Box 1028"/>
          <p:cNvSpPr txBox="1">
            <a:spLocks noChangeArrowheads="1"/>
          </p:cNvSpPr>
          <p:nvPr/>
        </p:nvSpPr>
        <p:spPr bwMode="auto">
          <a:xfrm>
            <a:off x="3995936" y="2528900"/>
            <a:ext cx="118173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2000" b="0" dirty="0"/>
              <a:t>Imagem </a:t>
            </a:r>
            <a:endParaRPr lang="pt-BR" sz="2000" b="0" dirty="0" smtClean="0"/>
          </a:p>
          <a:p>
            <a:pPr algn="ctr"/>
            <a:r>
              <a:rPr lang="pt-BR" sz="2000" b="0" dirty="0" smtClean="0"/>
              <a:t>do </a:t>
            </a:r>
            <a:r>
              <a:rPr lang="pt-BR" sz="2000" b="0" dirty="0"/>
              <a:t>fundo</a:t>
            </a:r>
          </a:p>
        </p:txBody>
      </p:sp>
      <p:sp>
        <p:nvSpPr>
          <p:cNvPr id="9" name="Text Box 1029"/>
          <p:cNvSpPr txBox="1">
            <a:spLocks noChangeArrowheads="1"/>
          </p:cNvSpPr>
          <p:nvPr/>
        </p:nvSpPr>
        <p:spPr bwMode="auto">
          <a:xfrm>
            <a:off x="6008117" y="2528900"/>
            <a:ext cx="123944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sz="2000" b="0" dirty="0"/>
              <a:t>Imagem </a:t>
            </a:r>
            <a:endParaRPr lang="pt-BR" sz="2000" b="0" dirty="0" smtClean="0"/>
          </a:p>
          <a:p>
            <a:pPr algn="ctr"/>
            <a:r>
              <a:rPr lang="pt-BR" sz="2000" b="0" dirty="0" smtClean="0"/>
              <a:t>diferença</a:t>
            </a:r>
            <a:endParaRPr lang="pt-BR" sz="2000" b="0" dirty="0"/>
          </a:p>
        </p:txBody>
      </p:sp>
      <p:pic>
        <p:nvPicPr>
          <p:cNvPr id="10" name="Picture 103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188286"/>
            <a:ext cx="5847184" cy="3651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9197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</a:t>
            </a:r>
            <a:r>
              <a:rPr lang="pt-BR" dirty="0" smtClean="0"/>
              <a:t>aritméticas pontuais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Exemplos: subtração</a:t>
            </a:r>
          </a:p>
          <a:p>
            <a:pPr lvl="1"/>
            <a:r>
              <a:rPr lang="pt-BR" dirty="0" smtClean="0"/>
              <a:t>Realçar </a:t>
            </a:r>
            <a:r>
              <a:rPr lang="pt-BR" dirty="0"/>
              <a:t>as formas geométricas de </a:t>
            </a:r>
            <a:r>
              <a:rPr lang="pt-BR" dirty="0" smtClean="0"/>
              <a:t>uma imagem</a:t>
            </a:r>
          </a:p>
          <a:p>
            <a:pPr lvl="2"/>
            <a:r>
              <a:rPr lang="pt-BR" dirty="0" smtClean="0"/>
              <a:t>Exemplo: Correção de contraste menos a imagem original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91" y="4365104"/>
            <a:ext cx="8676456" cy="2179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8177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</a:t>
            </a:r>
            <a:r>
              <a:rPr lang="pt-BR" dirty="0" smtClean="0"/>
              <a:t>aritméticas pontuais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Exemplos: divisão</a:t>
            </a:r>
          </a:p>
          <a:p>
            <a:pPr lvl="1"/>
            <a:r>
              <a:rPr lang="pt-BR" dirty="0" smtClean="0"/>
              <a:t>Permite </a:t>
            </a:r>
            <a:r>
              <a:rPr lang="pt-BR" dirty="0"/>
              <a:t>o realce das diferenças de imagens com níveis de </a:t>
            </a:r>
            <a:r>
              <a:rPr lang="pt-BR" dirty="0" smtClean="0"/>
              <a:t>intensidade diferentes</a:t>
            </a:r>
          </a:p>
          <a:p>
            <a:pPr lvl="1"/>
            <a:r>
              <a:rPr lang="pt-BR" dirty="0" smtClean="0"/>
              <a:t>Salienta </a:t>
            </a:r>
            <a:r>
              <a:rPr lang="pt-BR" dirty="0"/>
              <a:t>uma imagem em </a:t>
            </a:r>
            <a:r>
              <a:rPr lang="pt-BR" dirty="0" smtClean="0"/>
              <a:t>detrimento da outra</a:t>
            </a:r>
            <a:endParaRPr lang="pt-BR" dirty="0"/>
          </a:p>
          <a:p>
            <a:pPr lvl="1"/>
            <a:endParaRPr 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149080"/>
            <a:ext cx="8460432" cy="1851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9679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</a:t>
            </a:r>
            <a:r>
              <a:rPr lang="pt-BR" dirty="0" smtClean="0"/>
              <a:t>aritméticas pontuais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4679432" cy="4495800"/>
          </a:xfrm>
        </p:spPr>
        <p:txBody>
          <a:bodyPr>
            <a:normAutofit/>
          </a:bodyPr>
          <a:lstStyle/>
          <a:p>
            <a:r>
              <a:rPr lang="pt-BR" dirty="0" smtClean="0"/>
              <a:t>Exemplos: adição</a:t>
            </a:r>
          </a:p>
          <a:p>
            <a:pPr lvl="1"/>
            <a:r>
              <a:rPr lang="pt-BR" dirty="0" smtClean="0"/>
              <a:t>Média de </a:t>
            </a:r>
            <a:r>
              <a:rPr lang="pt-BR" i="1" dirty="0" smtClean="0"/>
              <a:t>K</a:t>
            </a:r>
            <a:r>
              <a:rPr lang="pt-BR" dirty="0" smtClean="0"/>
              <a:t> imagens com ruído: suavização do ruído</a:t>
            </a:r>
            <a:endParaRPr 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6" y="4005064"/>
            <a:ext cx="8820472" cy="2617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988840"/>
            <a:ext cx="1789445" cy="1916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7297548" y="2060848"/>
            <a:ext cx="173894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Imagem de 8 bits</a:t>
            </a:r>
          </a:p>
          <a:p>
            <a:r>
              <a:rPr lang="pt-BR" sz="1400" dirty="0"/>
              <a:t>corrompida através da adição de ruído gaussiano de média zero e</a:t>
            </a:r>
          </a:p>
          <a:p>
            <a:r>
              <a:rPr lang="pt-BR" sz="1400" dirty="0"/>
              <a:t>desvio padrão de 64 níveis de intensidade.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99037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Negação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Inverte os tons da imagem</a:t>
            </a:r>
          </a:p>
          <a:p>
            <a:pPr lvl="1"/>
            <a:r>
              <a:rPr lang="pt-BR" dirty="0"/>
              <a:t>T[f(</a:t>
            </a:r>
            <a:r>
              <a:rPr lang="pt-BR" dirty="0" err="1"/>
              <a:t>x,y</a:t>
            </a:r>
            <a:r>
              <a:rPr lang="pt-BR" dirty="0"/>
              <a:t>)] = </a:t>
            </a:r>
            <a:r>
              <a:rPr lang="pt-BR" dirty="0" smtClean="0"/>
              <a:t> g(</a:t>
            </a:r>
            <a:r>
              <a:rPr lang="pt-BR" dirty="0" err="1" smtClean="0"/>
              <a:t>x,y</a:t>
            </a:r>
            <a:r>
              <a:rPr lang="pt-BR" dirty="0"/>
              <a:t>) = </a:t>
            </a:r>
            <a:r>
              <a:rPr lang="pt-BR" dirty="0" smtClean="0"/>
              <a:t>W </a:t>
            </a:r>
            <a:r>
              <a:rPr lang="pt-BR" dirty="0"/>
              <a:t>- f(</a:t>
            </a:r>
            <a:r>
              <a:rPr lang="pt-BR" dirty="0" err="1"/>
              <a:t>x,y</a:t>
            </a:r>
            <a:r>
              <a:rPr lang="pt-BR" dirty="0" smtClean="0"/>
              <a:t>)</a:t>
            </a:r>
          </a:p>
          <a:p>
            <a:pPr lvl="1"/>
            <a:r>
              <a:rPr lang="pt-BR" i="1" dirty="0" smtClean="0"/>
              <a:t>W</a:t>
            </a:r>
            <a:r>
              <a:rPr lang="pt-BR" dirty="0" smtClean="0"/>
              <a:t> é o maior tom de cinza possível na imagem</a:t>
            </a:r>
            <a:endParaRPr lang="pt-BR" dirty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2764" y="3207469"/>
            <a:ext cx="2897188" cy="294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3244552"/>
            <a:ext cx="2828925" cy="293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150688" y="6068144"/>
            <a:ext cx="29892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pt-BR" dirty="0"/>
              <a:t>Imagem de Entrada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5382558" y="6140152"/>
            <a:ext cx="200567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dirty="0"/>
              <a:t>Imagem de Saída</a:t>
            </a:r>
          </a:p>
        </p:txBody>
      </p:sp>
    </p:spTree>
    <p:extLst>
      <p:ext uri="{BB962C8B-B14F-4D97-AF65-F5344CB8AC3E}">
        <p14:creationId xmlns:p14="http://schemas.microsoft.com/office/powerpoint/2010/main" val="3363486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Alargamento de contraste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4509120"/>
            <a:ext cx="2256362" cy="2256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4509120"/>
            <a:ext cx="2317978" cy="2272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194777"/>
            <a:ext cx="2898397" cy="2300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3563888" y="3014464"/>
            <a:ext cx="96051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i="1" dirty="0"/>
              <a:t>g(</a:t>
            </a:r>
            <a:r>
              <a:rPr lang="pt-BR" i="1" dirty="0" err="1"/>
              <a:t>x,y</a:t>
            </a:r>
            <a:r>
              <a:rPr lang="pt-BR" i="1" dirty="0"/>
              <a:t>) =</a:t>
            </a:r>
          </a:p>
        </p:txBody>
      </p:sp>
      <p:graphicFrame>
        <p:nvGraphicFramePr>
          <p:cNvPr id="1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4454267"/>
              </p:ext>
            </p:extLst>
          </p:nvPr>
        </p:nvGraphicFramePr>
        <p:xfrm>
          <a:off x="4800551" y="2481064"/>
          <a:ext cx="3944937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4" name="Equação" r:id="rId6" imgW="2590560" imgH="685800" progId="Equation.3">
                  <p:embed/>
                </p:oleObj>
              </mc:Choice>
              <mc:Fallback>
                <p:oleObj name="Equação" r:id="rId6" imgW="259056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551" y="2481064"/>
                        <a:ext cx="3944937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have esquerda 5"/>
          <p:cNvSpPr/>
          <p:nvPr/>
        </p:nvSpPr>
        <p:spPr>
          <a:xfrm>
            <a:off x="4499992" y="2420888"/>
            <a:ext cx="144016" cy="1512168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321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Alargamento de contraste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err="1" smtClean="0"/>
              <a:t>Thresholding</a:t>
            </a:r>
            <a:r>
              <a:rPr lang="pt-BR" dirty="0" smtClean="0"/>
              <a:t>: </a:t>
            </a:r>
            <a:r>
              <a:rPr lang="pt-BR" dirty="0" err="1" smtClean="0"/>
              <a:t>Limiarização</a:t>
            </a:r>
            <a:r>
              <a:rPr lang="pt-BR" dirty="0" smtClean="0"/>
              <a:t> </a:t>
            </a:r>
          </a:p>
          <a:p>
            <a:pPr lvl="1"/>
            <a:r>
              <a:rPr lang="pt-BR" dirty="0" smtClean="0"/>
              <a:t>Transforma </a:t>
            </a:r>
            <a:r>
              <a:rPr lang="pt-BR" dirty="0"/>
              <a:t>a </a:t>
            </a:r>
            <a:r>
              <a:rPr lang="pt-BR" dirty="0" smtClean="0"/>
              <a:t>imagem </a:t>
            </a:r>
            <a:r>
              <a:rPr lang="pt-BR" dirty="0"/>
              <a:t>em </a:t>
            </a:r>
            <a:r>
              <a:rPr lang="pt-BR" dirty="0" smtClean="0"/>
              <a:t>uma imagem binária </a:t>
            </a:r>
            <a:r>
              <a:rPr lang="pt-BR" dirty="0"/>
              <a:t>(2 níveis de cinza)</a:t>
            </a:r>
          </a:p>
          <a:p>
            <a:pPr lvl="1"/>
            <a:endParaRPr lang="en-US" dirty="0"/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398820"/>
            <a:ext cx="2672680" cy="2223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708" y="3347130"/>
            <a:ext cx="2910252" cy="2310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107504" y="5229200"/>
            <a:ext cx="164339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dirty="0"/>
              <a:t>Fazendo</a:t>
            </a:r>
            <a:r>
              <a:rPr lang="pt-BR" dirty="0" smtClean="0"/>
              <a:t>:</a:t>
            </a:r>
          </a:p>
          <a:p>
            <a:r>
              <a:rPr lang="pt-BR" dirty="0"/>
              <a:t/>
            </a:r>
            <a:br>
              <a:rPr lang="pt-BR" dirty="0"/>
            </a:br>
            <a:r>
              <a:rPr lang="pt-BR" dirty="0"/>
              <a:t>k</a:t>
            </a:r>
            <a:r>
              <a:rPr lang="pt-BR" baseline="-25000" dirty="0"/>
              <a:t>1 </a:t>
            </a:r>
            <a:r>
              <a:rPr lang="pt-BR" dirty="0"/>
              <a:t>= 0</a:t>
            </a:r>
            <a:br>
              <a:rPr lang="pt-BR" dirty="0"/>
            </a:br>
            <a:r>
              <a:rPr lang="pt-BR" dirty="0"/>
              <a:t>f</a:t>
            </a:r>
            <a:r>
              <a:rPr lang="pt-BR" baseline="-25000" dirty="0"/>
              <a:t>1</a:t>
            </a:r>
            <a:r>
              <a:rPr lang="pt-BR" dirty="0"/>
              <a:t>(</a:t>
            </a:r>
            <a:r>
              <a:rPr lang="pt-BR" dirty="0" err="1"/>
              <a:t>x,y</a:t>
            </a:r>
            <a:r>
              <a:rPr lang="pt-BR" dirty="0"/>
              <a:t>) = f</a:t>
            </a:r>
            <a:r>
              <a:rPr lang="pt-BR" baseline="-25000" dirty="0"/>
              <a:t>2</a:t>
            </a:r>
            <a:r>
              <a:rPr lang="pt-BR" dirty="0"/>
              <a:t>(</a:t>
            </a:r>
            <a:r>
              <a:rPr lang="pt-BR" dirty="0" err="1"/>
              <a:t>x,y</a:t>
            </a:r>
            <a:r>
              <a:rPr lang="pt-BR" dirty="0"/>
              <a:t>)</a:t>
            </a:r>
            <a:br>
              <a:rPr lang="pt-BR" dirty="0"/>
            </a:br>
            <a:r>
              <a:rPr lang="pt-BR" dirty="0"/>
              <a:t>k</a:t>
            </a:r>
            <a:r>
              <a:rPr lang="pt-BR" baseline="-25000" dirty="0"/>
              <a:t>3</a:t>
            </a:r>
            <a:r>
              <a:rPr lang="pt-BR" dirty="0"/>
              <a:t>.f(</a:t>
            </a:r>
            <a:r>
              <a:rPr lang="pt-BR" dirty="0" err="1"/>
              <a:t>x,y</a:t>
            </a:r>
            <a:r>
              <a:rPr lang="pt-BR" dirty="0"/>
              <a:t>) = </a:t>
            </a:r>
            <a:r>
              <a:rPr lang="pt-BR" dirty="0" smtClean="0"/>
              <a:t>W</a:t>
            </a:r>
            <a:endParaRPr lang="pt-BR" dirty="0"/>
          </a:p>
        </p:txBody>
      </p:sp>
      <p:graphicFrame>
        <p:nvGraphicFramePr>
          <p:cNvPr id="1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8033868"/>
              </p:ext>
            </p:extLst>
          </p:nvPr>
        </p:nvGraphicFramePr>
        <p:xfrm>
          <a:off x="5330825" y="5773738"/>
          <a:ext cx="36179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7" name="Equação" r:id="rId5" imgW="1904760" imgH="457200" progId="Equation.3">
                  <p:embed/>
                </p:oleObj>
              </mc:Choice>
              <mc:Fallback>
                <p:oleObj name="Equação" r:id="rId5" imgW="19047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0825" y="5773738"/>
                        <a:ext cx="36179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4139952" y="6001816"/>
            <a:ext cx="96051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i="1" dirty="0"/>
              <a:t>g(</a:t>
            </a:r>
            <a:r>
              <a:rPr lang="pt-BR" i="1" dirty="0" err="1"/>
              <a:t>x,y</a:t>
            </a:r>
            <a:r>
              <a:rPr lang="pt-BR" i="1" dirty="0"/>
              <a:t>) =</a:t>
            </a:r>
          </a:p>
        </p:txBody>
      </p:sp>
      <p:sp>
        <p:nvSpPr>
          <p:cNvPr id="19" name="AutoShape 9"/>
          <p:cNvSpPr>
            <a:spLocks/>
          </p:cNvSpPr>
          <p:nvPr/>
        </p:nvSpPr>
        <p:spPr bwMode="auto">
          <a:xfrm>
            <a:off x="5096279" y="5557192"/>
            <a:ext cx="76200" cy="1256184"/>
          </a:xfrm>
          <a:prstGeom prst="leftBrace">
            <a:avLst>
              <a:gd name="adj1" fmla="val 17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6157069" y="3534643"/>
            <a:ext cx="2143125" cy="8318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>
                <a:solidFill>
                  <a:srgbClr val="FF0000"/>
                </a:solidFill>
              </a:rPr>
              <a:t>Threshold</a:t>
            </a:r>
            <a:br>
              <a:rPr lang="pt-BR">
                <a:solidFill>
                  <a:srgbClr val="FF0000"/>
                </a:solidFill>
              </a:rPr>
            </a:br>
            <a:r>
              <a:rPr lang="pt-BR">
                <a:solidFill>
                  <a:srgbClr val="FF0000"/>
                </a:solidFill>
              </a:rPr>
              <a:t>[f</a:t>
            </a:r>
            <a:r>
              <a:rPr lang="pt-BR" baseline="-25000">
                <a:solidFill>
                  <a:srgbClr val="FF0000"/>
                </a:solidFill>
              </a:rPr>
              <a:t>1</a:t>
            </a:r>
            <a:r>
              <a:rPr lang="pt-BR">
                <a:solidFill>
                  <a:srgbClr val="FF0000"/>
                </a:solidFill>
              </a:rPr>
              <a:t>(x,y)=f</a:t>
            </a:r>
            <a:r>
              <a:rPr lang="pt-BR" baseline="-25000">
                <a:solidFill>
                  <a:srgbClr val="FF0000"/>
                </a:solidFill>
              </a:rPr>
              <a:t>2</a:t>
            </a:r>
            <a:r>
              <a:rPr lang="pt-BR">
                <a:solidFill>
                  <a:srgbClr val="FF0000"/>
                </a:solidFill>
              </a:rPr>
              <a:t>(x,y)]</a:t>
            </a:r>
          </a:p>
        </p:txBody>
      </p:sp>
      <p:sp>
        <p:nvSpPr>
          <p:cNvPr id="21" name="Line 11"/>
          <p:cNvSpPr>
            <a:spLocks noChangeShapeType="1"/>
          </p:cNvSpPr>
          <p:nvPr/>
        </p:nvSpPr>
        <p:spPr bwMode="auto">
          <a:xfrm flipH="1">
            <a:off x="5868144" y="4331568"/>
            <a:ext cx="685800" cy="609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639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Alargamento de contraste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err="1" smtClean="0"/>
              <a:t>Thresholding</a:t>
            </a:r>
            <a:r>
              <a:rPr lang="pt-BR" dirty="0" smtClean="0"/>
              <a:t>: </a:t>
            </a:r>
            <a:r>
              <a:rPr lang="pt-BR" dirty="0" err="1" smtClean="0"/>
              <a:t>Limiarização</a:t>
            </a:r>
            <a:r>
              <a:rPr lang="pt-BR" dirty="0" smtClean="0"/>
              <a:t> </a:t>
            </a:r>
          </a:p>
          <a:p>
            <a:pPr lvl="1"/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357" y="2996952"/>
            <a:ext cx="5597315" cy="2450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5" y="2924944"/>
            <a:ext cx="3115939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6915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Alargamento de contraste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dirty="0" err="1" smtClean="0"/>
              <a:t>limiarização</a:t>
            </a:r>
            <a:r>
              <a:rPr lang="pt-BR" dirty="0" smtClean="0"/>
              <a:t> </a:t>
            </a:r>
            <a:r>
              <a:rPr lang="pt-BR" dirty="0"/>
              <a:t>pode ser efetuada de diversas maneiras:</a:t>
            </a:r>
          </a:p>
          <a:p>
            <a:pPr lvl="1"/>
            <a:endParaRPr 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497182"/>
            <a:ext cx="3108920" cy="2543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143000" y="5136976"/>
            <a:ext cx="144302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dirty="0"/>
              <a:t>Fazendo:</a:t>
            </a:r>
            <a:br>
              <a:rPr lang="pt-BR" dirty="0"/>
            </a:br>
            <a:r>
              <a:rPr lang="pt-BR" dirty="0"/>
              <a:t>k</a:t>
            </a:r>
            <a:r>
              <a:rPr lang="pt-BR" baseline="-25000" dirty="0"/>
              <a:t>1 </a:t>
            </a:r>
            <a:r>
              <a:rPr lang="pt-BR" dirty="0"/>
              <a:t>= 0</a:t>
            </a:r>
            <a:br>
              <a:rPr lang="pt-BR" dirty="0"/>
            </a:br>
            <a:r>
              <a:rPr lang="pt-BR" dirty="0"/>
              <a:t>k</a:t>
            </a:r>
            <a:r>
              <a:rPr lang="pt-BR" baseline="-25000" dirty="0"/>
              <a:t>2</a:t>
            </a:r>
            <a:r>
              <a:rPr lang="pt-BR" dirty="0"/>
              <a:t>.f(</a:t>
            </a:r>
            <a:r>
              <a:rPr lang="pt-BR" dirty="0" err="1"/>
              <a:t>x,y</a:t>
            </a:r>
            <a:r>
              <a:rPr lang="pt-BR" dirty="0"/>
              <a:t>) = </a:t>
            </a:r>
            <a:r>
              <a:rPr lang="pt-BR" dirty="0" smtClean="0"/>
              <a:t>W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k</a:t>
            </a:r>
            <a:r>
              <a:rPr lang="pt-BR" baseline="-25000" dirty="0"/>
              <a:t>3</a:t>
            </a:r>
            <a:r>
              <a:rPr lang="pt-BR" dirty="0"/>
              <a:t> = 0</a:t>
            </a: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1354514"/>
              </p:ext>
            </p:extLst>
          </p:nvPr>
        </p:nvGraphicFramePr>
        <p:xfrm>
          <a:off x="5376863" y="5260975"/>
          <a:ext cx="3248025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2" name="Equação" r:id="rId4" imgW="2133360" imgH="685800" progId="Equation.3">
                  <p:embed/>
                </p:oleObj>
              </mc:Choice>
              <mc:Fallback>
                <p:oleObj name="Equação" r:id="rId4" imgW="213336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6863" y="5260975"/>
                        <a:ext cx="3248025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114800" y="5746576"/>
            <a:ext cx="96051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i="1" dirty="0"/>
              <a:t>g(</a:t>
            </a:r>
            <a:r>
              <a:rPr lang="pt-BR" i="1" dirty="0" err="1"/>
              <a:t>x,y</a:t>
            </a:r>
            <a:r>
              <a:rPr lang="pt-BR" i="1" dirty="0"/>
              <a:t>) =</a:t>
            </a:r>
          </a:p>
        </p:txBody>
      </p:sp>
      <p:sp>
        <p:nvSpPr>
          <p:cNvPr id="10" name="AutoShape 10"/>
          <p:cNvSpPr>
            <a:spLocks/>
          </p:cNvSpPr>
          <p:nvPr/>
        </p:nvSpPr>
        <p:spPr bwMode="auto">
          <a:xfrm>
            <a:off x="5257800" y="5136976"/>
            <a:ext cx="76200" cy="1676400"/>
          </a:xfrm>
          <a:prstGeom prst="leftBrace">
            <a:avLst>
              <a:gd name="adj1" fmla="val 18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" y="2492896"/>
            <a:ext cx="3173689" cy="2519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3332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Fatiamento </a:t>
            </a:r>
            <a:r>
              <a:rPr lang="pt-BR" dirty="0"/>
              <a:t>dos </a:t>
            </a:r>
            <a:r>
              <a:rPr lang="pt-BR" dirty="0" smtClean="0"/>
              <a:t>níveis </a:t>
            </a:r>
            <a:r>
              <a:rPr lang="pt-BR" dirty="0"/>
              <a:t>de </a:t>
            </a:r>
            <a:r>
              <a:rPr lang="pt-BR" dirty="0" smtClean="0"/>
              <a:t>cinza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Permite enfatizar uma </a:t>
            </a:r>
            <a:r>
              <a:rPr lang="pt-BR" dirty="0"/>
              <a:t>escala específica de </a:t>
            </a:r>
            <a:r>
              <a:rPr lang="pt-BR" dirty="0" smtClean="0"/>
              <a:t>níveis </a:t>
            </a:r>
            <a:r>
              <a:rPr lang="pt-BR" dirty="0"/>
              <a:t>de </a:t>
            </a:r>
            <a:r>
              <a:rPr lang="pt-BR" dirty="0" smtClean="0"/>
              <a:t>cinza</a:t>
            </a:r>
            <a:endParaRPr lang="pt-BR" dirty="0"/>
          </a:p>
          <a:p>
            <a:pPr lvl="1"/>
            <a:endParaRPr lang="en-US" dirty="0"/>
          </a:p>
        </p:txBody>
      </p:sp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894" y="3212976"/>
            <a:ext cx="3691136" cy="3060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3" name="Object 6"/>
          <p:cNvGraphicFramePr>
            <a:graphicFrameLocks noChangeAspect="1"/>
          </p:cNvGraphicFramePr>
          <p:nvPr/>
        </p:nvGraphicFramePr>
        <p:xfrm>
          <a:off x="5715000" y="4038600"/>
          <a:ext cx="3249613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3" name="Equation" r:id="rId4" imgW="2133360" imgH="685800" progId="Equation.3">
                  <p:embed/>
                </p:oleObj>
              </mc:Choice>
              <mc:Fallback>
                <p:oleObj name="Equation" r:id="rId4" imgW="213336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038600"/>
                        <a:ext cx="3249613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4419600" y="4648200"/>
            <a:ext cx="96051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i="1" dirty="0"/>
              <a:t>g(</a:t>
            </a:r>
            <a:r>
              <a:rPr lang="pt-BR" i="1" dirty="0" err="1"/>
              <a:t>x,y</a:t>
            </a:r>
            <a:r>
              <a:rPr lang="pt-BR" i="1" dirty="0"/>
              <a:t>) =</a:t>
            </a:r>
          </a:p>
        </p:txBody>
      </p:sp>
      <p:sp>
        <p:nvSpPr>
          <p:cNvPr id="15" name="AutoShape 8"/>
          <p:cNvSpPr>
            <a:spLocks/>
          </p:cNvSpPr>
          <p:nvPr/>
        </p:nvSpPr>
        <p:spPr bwMode="auto">
          <a:xfrm>
            <a:off x="5562600" y="4038600"/>
            <a:ext cx="228600" cy="1676400"/>
          </a:xfrm>
          <a:prstGeom prst="leftBrace">
            <a:avLst>
              <a:gd name="adj1" fmla="val 6111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841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Fatiamento </a:t>
            </a:r>
            <a:r>
              <a:rPr lang="pt-BR" dirty="0"/>
              <a:t>dos </a:t>
            </a:r>
            <a:r>
              <a:rPr lang="pt-BR" dirty="0" smtClean="0"/>
              <a:t>níveis </a:t>
            </a:r>
            <a:r>
              <a:rPr lang="pt-BR" dirty="0"/>
              <a:t>de </a:t>
            </a:r>
            <a:r>
              <a:rPr lang="pt-BR" dirty="0" smtClean="0"/>
              <a:t>cinza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Neste caso a imagem também é </a:t>
            </a:r>
            <a:r>
              <a:rPr lang="pt-BR" dirty="0" err="1" smtClean="0"/>
              <a:t>binarizada</a:t>
            </a:r>
            <a:endParaRPr lang="pt-BR" dirty="0" smtClean="0"/>
          </a:p>
          <a:p>
            <a:pPr lvl="1"/>
            <a:r>
              <a:rPr lang="pt-BR" dirty="0" smtClean="0"/>
              <a:t>Os níveis finais são L e H e não mais 0 e W</a:t>
            </a:r>
          </a:p>
          <a:p>
            <a:pPr lvl="1"/>
            <a:endParaRPr lang="en-US" dirty="0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16" y="3242071"/>
            <a:ext cx="5093243" cy="2278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056" y="3055143"/>
            <a:ext cx="3200400" cy="2652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2088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Fatiamento </a:t>
            </a:r>
            <a:r>
              <a:rPr lang="pt-BR" dirty="0"/>
              <a:t>dos </a:t>
            </a:r>
            <a:r>
              <a:rPr lang="pt-BR" dirty="0" smtClean="0"/>
              <a:t>níveis </a:t>
            </a:r>
            <a:r>
              <a:rPr lang="pt-BR" dirty="0"/>
              <a:t>de </a:t>
            </a:r>
            <a:r>
              <a:rPr lang="pt-BR" dirty="0" smtClean="0"/>
              <a:t>cinza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Outra opção de fatiamento permite clarear a faixa desejada, preservando os níveis de cinza do restante da </a:t>
            </a:r>
            <a:r>
              <a:rPr lang="pt-BR" dirty="0" smtClean="0"/>
              <a:t>imagem</a:t>
            </a:r>
            <a:endParaRPr lang="pt-BR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34878"/>
            <a:ext cx="4106863" cy="334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7140616"/>
              </p:ext>
            </p:extLst>
          </p:nvPr>
        </p:nvGraphicFramePr>
        <p:xfrm>
          <a:off x="5638800" y="3796878"/>
          <a:ext cx="3249613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8" name="Equation" r:id="rId4" imgW="2133360" imgH="685800" progId="Equation.3">
                  <p:embed/>
                </p:oleObj>
              </mc:Choice>
              <mc:Fallback>
                <p:oleObj name="Equation" r:id="rId4" imgW="213336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796878"/>
                        <a:ext cx="3249613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4547585" y="4427820"/>
            <a:ext cx="96051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i="1" dirty="0"/>
              <a:t>g(</a:t>
            </a:r>
            <a:r>
              <a:rPr lang="pt-BR" i="1" dirty="0" err="1"/>
              <a:t>x,y</a:t>
            </a:r>
            <a:r>
              <a:rPr lang="pt-BR" i="1" dirty="0"/>
              <a:t>) =</a:t>
            </a:r>
          </a:p>
        </p:txBody>
      </p:sp>
      <p:sp>
        <p:nvSpPr>
          <p:cNvPr id="10" name="AutoShape 8"/>
          <p:cNvSpPr>
            <a:spLocks/>
          </p:cNvSpPr>
          <p:nvPr/>
        </p:nvSpPr>
        <p:spPr bwMode="auto">
          <a:xfrm>
            <a:off x="5562600" y="3644478"/>
            <a:ext cx="76200" cy="1981200"/>
          </a:xfrm>
          <a:prstGeom prst="leftBrace">
            <a:avLst>
              <a:gd name="adj1" fmla="val 21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191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Fatiamento de bits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Enfatizar a contribuição de cada bit específico, na aparência final </a:t>
            </a:r>
            <a:r>
              <a:rPr lang="pt-BR" dirty="0" smtClean="0"/>
              <a:t>da imagem.</a:t>
            </a:r>
          </a:p>
          <a:p>
            <a:pPr lvl="1"/>
            <a:r>
              <a:rPr lang="pt-BR" dirty="0" smtClean="0"/>
              <a:t>Planos </a:t>
            </a:r>
            <a:r>
              <a:rPr lang="pt-BR" dirty="0"/>
              <a:t>de bits de uma </a:t>
            </a:r>
            <a:r>
              <a:rPr lang="pt-BR" dirty="0" smtClean="0"/>
              <a:t>imagem de </a:t>
            </a:r>
            <a:r>
              <a:rPr lang="pt-BR" dirty="0"/>
              <a:t>8 </a:t>
            </a:r>
            <a:r>
              <a:rPr lang="pt-BR" dirty="0" smtClean="0"/>
              <a:t>bits</a:t>
            </a:r>
            <a:endParaRPr lang="pt-BR" dirty="0"/>
          </a:p>
          <a:p>
            <a:endParaRPr lang="pt-BR" dirty="0" smtClean="0"/>
          </a:p>
          <a:p>
            <a:endParaRPr lang="pt-BR" dirty="0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3861048"/>
            <a:ext cx="7267575" cy="2516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88338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Fatiamento de bits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7919792" cy="4495800"/>
          </a:xfrm>
        </p:spPr>
        <p:txBody>
          <a:bodyPr/>
          <a:lstStyle/>
          <a:p>
            <a:r>
              <a:rPr lang="pt-BR" dirty="0" smtClean="0"/>
              <a:t>Exemplo</a:t>
            </a:r>
          </a:p>
          <a:p>
            <a:pPr lvl="1"/>
            <a:r>
              <a:rPr lang="pt-BR" dirty="0"/>
              <a:t>Os bits do plano </a:t>
            </a:r>
            <a:r>
              <a:rPr lang="pt-BR" dirty="0" smtClean="0"/>
              <a:t>6 contém </a:t>
            </a:r>
            <a:r>
              <a:rPr lang="pt-BR" dirty="0"/>
              <a:t>a informação </a:t>
            </a:r>
            <a:r>
              <a:rPr lang="pt-BR" dirty="0" smtClean="0"/>
              <a:t>mais significativa da imagem</a:t>
            </a:r>
            <a:endParaRPr lang="pt-BR" dirty="0"/>
          </a:p>
          <a:p>
            <a:pPr lvl="1"/>
            <a:endParaRPr lang="en-US" dirty="0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67" y="4929713"/>
            <a:ext cx="8612505" cy="1811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8" name="Espaço Reservado para Conteúdo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0887607"/>
              </p:ext>
            </p:extLst>
          </p:nvPr>
        </p:nvGraphicFramePr>
        <p:xfrm>
          <a:off x="3491880" y="3983464"/>
          <a:ext cx="2016224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4056"/>
                <a:gridCol w="504056"/>
                <a:gridCol w="504056"/>
                <a:gridCol w="50405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7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26268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Fatiamento de bits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7991800" cy="4495800"/>
          </a:xfrm>
        </p:spPr>
        <p:txBody>
          <a:bodyPr/>
          <a:lstStyle/>
          <a:p>
            <a:r>
              <a:rPr lang="pt-BR" dirty="0" smtClean="0"/>
              <a:t>Exemplo</a:t>
            </a:r>
          </a:p>
          <a:p>
            <a:pPr lvl="1"/>
            <a:r>
              <a:rPr lang="pt-BR" dirty="0"/>
              <a:t>Os outros planos de </a:t>
            </a:r>
            <a:r>
              <a:rPr lang="pt-BR" dirty="0" smtClean="0"/>
              <a:t>bits contribuem </a:t>
            </a:r>
            <a:r>
              <a:rPr lang="pt-BR" dirty="0"/>
              <a:t>com os</a:t>
            </a:r>
            <a:br>
              <a:rPr lang="pt-BR" dirty="0"/>
            </a:br>
            <a:r>
              <a:rPr lang="pt-BR" dirty="0"/>
              <a:t>detalhes mais sutis da </a:t>
            </a:r>
            <a:r>
              <a:rPr lang="pt-BR" dirty="0" smtClean="0"/>
              <a:t>imagem</a:t>
            </a:r>
          </a:p>
          <a:p>
            <a:pPr lvl="1"/>
            <a:r>
              <a:rPr lang="pt-BR" dirty="0"/>
              <a:t>Os bits do plano 0 são </a:t>
            </a:r>
            <a:r>
              <a:rPr lang="pt-BR" dirty="0" smtClean="0"/>
              <a:t>os menos </a:t>
            </a:r>
            <a:r>
              <a:rPr lang="pt-BR" dirty="0"/>
              <a:t>significantes </a:t>
            </a:r>
            <a:r>
              <a:rPr lang="pt-BR" dirty="0" smtClean="0"/>
              <a:t>para a </a:t>
            </a:r>
            <a:r>
              <a:rPr lang="pt-BR" dirty="0"/>
              <a:t>aparência geral </a:t>
            </a:r>
            <a:r>
              <a:rPr lang="pt-BR" dirty="0" smtClean="0"/>
              <a:t>da imagem</a:t>
            </a:r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/>
          </a:p>
          <a:p>
            <a:pPr lvl="1"/>
            <a:endParaRPr 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82" y="4941143"/>
            <a:ext cx="8601075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7" name="Espaço Reservado para Conteúdo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4293564"/>
              </p:ext>
            </p:extLst>
          </p:nvPr>
        </p:nvGraphicFramePr>
        <p:xfrm>
          <a:off x="3491880" y="3983464"/>
          <a:ext cx="2016224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4056"/>
                <a:gridCol w="504056"/>
                <a:gridCol w="504056"/>
                <a:gridCol w="50405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0209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Lógicas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Operações lógicas são </a:t>
            </a:r>
            <a:r>
              <a:rPr lang="pt-BR" dirty="0" smtClean="0"/>
              <a:t>realizadas </a:t>
            </a:r>
            <a:r>
              <a:rPr lang="pt-BR" dirty="0" err="1" smtClean="0"/>
              <a:t>utiliznado</a:t>
            </a:r>
            <a:r>
              <a:rPr lang="pt-BR" dirty="0" smtClean="0"/>
              <a:t> os operadores lógicos </a:t>
            </a:r>
          </a:p>
          <a:p>
            <a:pPr lvl="1"/>
            <a:r>
              <a:rPr lang="pt-BR" dirty="0" smtClean="0"/>
              <a:t>AND, OR, XOR, </a:t>
            </a:r>
            <a:r>
              <a:rPr lang="pt-BR" dirty="0" err="1" smtClean="0"/>
              <a:t>etc</a:t>
            </a:r>
            <a:endParaRPr lang="pt-BR" dirty="0" smtClean="0"/>
          </a:p>
          <a:p>
            <a:r>
              <a:rPr lang="pt-BR" dirty="0" smtClean="0"/>
              <a:t>São aplicadas </a:t>
            </a:r>
            <a:r>
              <a:rPr lang="pt-BR" dirty="0"/>
              <a:t>apenas em </a:t>
            </a:r>
            <a:r>
              <a:rPr lang="pt-BR" dirty="0" smtClean="0"/>
              <a:t>imagens  </a:t>
            </a:r>
            <a:r>
              <a:rPr lang="pt-BR" dirty="0"/>
              <a:t>binárias</a:t>
            </a:r>
            <a:r>
              <a:rPr lang="pt-BR" dirty="0" smtClean="0"/>
              <a:t>.</a:t>
            </a:r>
          </a:p>
          <a:p>
            <a:pPr lvl="1"/>
            <a:r>
              <a:rPr lang="pt-BR" dirty="0" smtClean="0"/>
              <a:t>Branco (1 ou 255) e Preto (0)</a:t>
            </a:r>
            <a:endParaRPr lang="pt-B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1735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Lógicas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Operação </a:t>
            </a:r>
            <a:r>
              <a:rPr lang="pt-BR" b="1" dirty="0" smtClean="0"/>
              <a:t>E</a:t>
            </a:r>
          </a:p>
          <a:p>
            <a:pPr lvl="1"/>
            <a:r>
              <a:rPr lang="pt-BR" dirty="0" smtClean="0"/>
              <a:t>Intersecção entre duas imagens</a:t>
            </a:r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531949"/>
            <a:ext cx="6662738" cy="1824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714133" y="5363924"/>
            <a:ext cx="69762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dirty="0"/>
              <a:t>f(</a:t>
            </a:r>
            <a:r>
              <a:rPr lang="pt-BR" dirty="0" err="1"/>
              <a:t>x,y</a:t>
            </a:r>
            <a:r>
              <a:rPr lang="pt-BR" dirty="0"/>
              <a:t>)</a:t>
            </a: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3859413" y="5363924"/>
            <a:ext cx="7617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dirty="0"/>
              <a:t>h(</a:t>
            </a:r>
            <a:r>
              <a:rPr lang="pt-BR" dirty="0" err="1"/>
              <a:t>x,y</a:t>
            </a:r>
            <a:r>
              <a:rPr lang="pt-BR" dirty="0"/>
              <a:t>)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6516216" y="5363924"/>
            <a:ext cx="7617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dirty="0"/>
              <a:t>g(</a:t>
            </a:r>
            <a:r>
              <a:rPr lang="pt-BR" dirty="0" err="1"/>
              <a:t>x,y</a:t>
            </a:r>
            <a:r>
              <a:rPr lang="pt-BR" dirty="0"/>
              <a:t>)</a:t>
            </a: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3275856" y="2915652"/>
            <a:ext cx="2396810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dirty="0"/>
              <a:t>g(</a:t>
            </a:r>
            <a:r>
              <a:rPr lang="pt-BR" dirty="0" err="1"/>
              <a:t>x,y</a:t>
            </a:r>
            <a:r>
              <a:rPr lang="pt-BR" dirty="0"/>
              <a:t>) = f(</a:t>
            </a:r>
            <a:r>
              <a:rPr lang="pt-BR" dirty="0" err="1"/>
              <a:t>x,y</a:t>
            </a:r>
            <a:r>
              <a:rPr lang="pt-BR" dirty="0"/>
              <a:t>) E h(</a:t>
            </a:r>
            <a:r>
              <a:rPr lang="pt-BR" dirty="0" err="1"/>
              <a:t>x,y</a:t>
            </a:r>
            <a:r>
              <a:rPr lang="pt-B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249629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Lógicas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Operação </a:t>
            </a:r>
            <a:r>
              <a:rPr lang="pt-BR" b="1" dirty="0" smtClean="0"/>
              <a:t>OU</a:t>
            </a:r>
          </a:p>
          <a:p>
            <a:pPr lvl="1"/>
            <a:r>
              <a:rPr lang="pt-BR" dirty="0" smtClean="0"/>
              <a:t>União de duas imagens</a:t>
            </a:r>
            <a:endParaRPr lang="en-US" dirty="0"/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714133" y="5363924"/>
            <a:ext cx="69762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dirty="0"/>
              <a:t>f(</a:t>
            </a:r>
            <a:r>
              <a:rPr lang="pt-BR" dirty="0" err="1"/>
              <a:t>x,y</a:t>
            </a:r>
            <a:r>
              <a:rPr lang="pt-BR" dirty="0"/>
              <a:t>)</a:t>
            </a: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3859413" y="5363924"/>
            <a:ext cx="7617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dirty="0"/>
              <a:t>h(</a:t>
            </a:r>
            <a:r>
              <a:rPr lang="pt-BR" dirty="0" err="1"/>
              <a:t>x,y</a:t>
            </a:r>
            <a:r>
              <a:rPr lang="pt-BR" dirty="0"/>
              <a:t>)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6516216" y="5363924"/>
            <a:ext cx="7617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dirty="0"/>
              <a:t>g(</a:t>
            </a:r>
            <a:r>
              <a:rPr lang="pt-BR" dirty="0" err="1"/>
              <a:t>x,y</a:t>
            </a:r>
            <a:r>
              <a:rPr lang="pt-BR" dirty="0"/>
              <a:t>)</a:t>
            </a: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3179676" y="2915652"/>
            <a:ext cx="2589171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dirty="0"/>
              <a:t>g(</a:t>
            </a:r>
            <a:r>
              <a:rPr lang="pt-BR" dirty="0" err="1"/>
              <a:t>x,y</a:t>
            </a:r>
            <a:r>
              <a:rPr lang="pt-BR" dirty="0"/>
              <a:t>) = f(</a:t>
            </a:r>
            <a:r>
              <a:rPr lang="pt-BR" dirty="0" err="1"/>
              <a:t>x,y</a:t>
            </a:r>
            <a:r>
              <a:rPr lang="pt-BR" dirty="0"/>
              <a:t>) </a:t>
            </a:r>
            <a:r>
              <a:rPr lang="pt-BR" dirty="0" smtClean="0"/>
              <a:t>OU </a:t>
            </a:r>
            <a:r>
              <a:rPr lang="pt-BR" dirty="0"/>
              <a:t>h(</a:t>
            </a:r>
            <a:r>
              <a:rPr lang="pt-BR" dirty="0" err="1"/>
              <a:t>x,y</a:t>
            </a:r>
            <a:r>
              <a:rPr lang="pt-BR" dirty="0"/>
              <a:t>)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626966"/>
            <a:ext cx="6615113" cy="174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07064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Lógicas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Operação </a:t>
            </a:r>
            <a:r>
              <a:rPr lang="pt-BR" b="1" dirty="0" smtClean="0"/>
              <a:t>XOU</a:t>
            </a:r>
          </a:p>
          <a:p>
            <a:pPr lvl="1"/>
            <a:r>
              <a:rPr lang="pt-BR" dirty="0" smtClean="0"/>
              <a:t>União de duas imagens, menos a intersecção delas</a:t>
            </a:r>
            <a:endParaRPr lang="en-US" dirty="0"/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714133" y="5363924"/>
            <a:ext cx="69762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dirty="0"/>
              <a:t>f(</a:t>
            </a:r>
            <a:r>
              <a:rPr lang="pt-BR" dirty="0" err="1"/>
              <a:t>x,y</a:t>
            </a:r>
            <a:r>
              <a:rPr lang="pt-BR" dirty="0"/>
              <a:t>)</a:t>
            </a: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3859413" y="5363924"/>
            <a:ext cx="7617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dirty="0"/>
              <a:t>h(</a:t>
            </a:r>
            <a:r>
              <a:rPr lang="pt-BR" dirty="0" err="1"/>
              <a:t>x,y</a:t>
            </a:r>
            <a:r>
              <a:rPr lang="pt-BR" dirty="0"/>
              <a:t>)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6516216" y="5363924"/>
            <a:ext cx="7617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dirty="0"/>
              <a:t>g(</a:t>
            </a:r>
            <a:r>
              <a:rPr lang="pt-BR" dirty="0" err="1"/>
              <a:t>x,y</a:t>
            </a:r>
            <a:r>
              <a:rPr lang="pt-BR" dirty="0"/>
              <a:t>)</a:t>
            </a: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3102732" y="3059668"/>
            <a:ext cx="2743059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dirty="0"/>
              <a:t>g(</a:t>
            </a:r>
            <a:r>
              <a:rPr lang="pt-BR" dirty="0" err="1"/>
              <a:t>x,y</a:t>
            </a:r>
            <a:r>
              <a:rPr lang="pt-BR" dirty="0"/>
              <a:t>) = f(</a:t>
            </a:r>
            <a:r>
              <a:rPr lang="pt-BR" dirty="0" err="1"/>
              <a:t>x,y</a:t>
            </a:r>
            <a:r>
              <a:rPr lang="pt-BR" dirty="0"/>
              <a:t>) </a:t>
            </a:r>
            <a:r>
              <a:rPr lang="pt-BR" dirty="0" smtClean="0"/>
              <a:t>XOU </a:t>
            </a:r>
            <a:r>
              <a:rPr lang="pt-BR" dirty="0"/>
              <a:t>h(</a:t>
            </a:r>
            <a:r>
              <a:rPr lang="pt-BR" dirty="0" err="1"/>
              <a:t>x,y</a:t>
            </a:r>
            <a:r>
              <a:rPr lang="pt-BR" dirty="0"/>
              <a:t>)</a:t>
            </a: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645024"/>
            <a:ext cx="6546850" cy="176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38265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Lógicas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Combinando operações</a:t>
            </a:r>
            <a:endParaRPr lang="pt-BR" b="1" dirty="0" smtClean="0"/>
          </a:p>
          <a:p>
            <a:pPr lvl="1"/>
            <a:r>
              <a:rPr lang="pt-BR" dirty="0" smtClean="0"/>
              <a:t>Podemos ainda combinar os operadores lógicos.</a:t>
            </a:r>
          </a:p>
          <a:p>
            <a:pPr lvl="1"/>
            <a:r>
              <a:rPr lang="pt-BR" dirty="0" smtClean="0"/>
              <a:t>Lembrando: a negação inverte a imagem</a:t>
            </a:r>
            <a:endParaRPr lang="en-US" dirty="0"/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714133" y="6084004"/>
            <a:ext cx="69762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dirty="0"/>
              <a:t>f(</a:t>
            </a:r>
            <a:r>
              <a:rPr lang="pt-BR" dirty="0" err="1"/>
              <a:t>x,y</a:t>
            </a:r>
            <a:r>
              <a:rPr lang="pt-BR" dirty="0"/>
              <a:t>)</a:t>
            </a: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3859413" y="6084004"/>
            <a:ext cx="7617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dirty="0"/>
              <a:t>h(</a:t>
            </a:r>
            <a:r>
              <a:rPr lang="pt-BR" dirty="0" err="1"/>
              <a:t>x,y</a:t>
            </a:r>
            <a:r>
              <a:rPr lang="pt-BR" dirty="0"/>
              <a:t>)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6516216" y="6084004"/>
            <a:ext cx="7617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dirty="0"/>
              <a:t>g(</a:t>
            </a:r>
            <a:r>
              <a:rPr lang="pt-BR" dirty="0" err="1"/>
              <a:t>x,y</a:t>
            </a:r>
            <a:r>
              <a:rPr lang="pt-BR" dirty="0"/>
              <a:t>)</a:t>
            </a: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2916785" y="3779748"/>
            <a:ext cx="3114956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pt-BR" dirty="0"/>
              <a:t>g(</a:t>
            </a:r>
            <a:r>
              <a:rPr lang="pt-BR" dirty="0" err="1"/>
              <a:t>x,y</a:t>
            </a:r>
            <a:r>
              <a:rPr lang="pt-BR" dirty="0"/>
              <a:t>) = </a:t>
            </a:r>
            <a:r>
              <a:rPr lang="pt-BR" dirty="0"/>
              <a:t>[</a:t>
            </a:r>
            <a:r>
              <a:rPr lang="pt-BR" dirty="0" smtClean="0"/>
              <a:t>NÃO f(</a:t>
            </a:r>
            <a:r>
              <a:rPr lang="pt-BR" dirty="0" err="1" smtClean="0"/>
              <a:t>x,y</a:t>
            </a:r>
            <a:r>
              <a:rPr lang="pt-BR" dirty="0" smtClean="0"/>
              <a:t>)] E h(</a:t>
            </a:r>
            <a:r>
              <a:rPr lang="pt-BR" dirty="0" err="1" smtClean="0"/>
              <a:t>x,y</a:t>
            </a:r>
            <a:r>
              <a:rPr lang="pt-BR" dirty="0"/>
              <a:t>)</a:t>
            </a:r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4293096"/>
            <a:ext cx="6526213" cy="175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98302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Outras operações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Além das operações lógicas </a:t>
            </a:r>
            <a:r>
              <a:rPr lang="pt-BR" dirty="0" smtClean="0"/>
              <a:t>e aritméticas</a:t>
            </a:r>
            <a:r>
              <a:rPr lang="pt-BR" dirty="0"/>
              <a:t>, podem ser aplicadas </a:t>
            </a:r>
            <a:r>
              <a:rPr lang="pt-BR" dirty="0" smtClean="0"/>
              <a:t>às imagens </a:t>
            </a:r>
            <a:r>
              <a:rPr lang="pt-BR" dirty="0"/>
              <a:t>ainda outras </a:t>
            </a:r>
            <a:r>
              <a:rPr lang="pt-BR" dirty="0" smtClean="0"/>
              <a:t>operações</a:t>
            </a:r>
          </a:p>
          <a:p>
            <a:pPr lvl="1"/>
            <a:r>
              <a:rPr lang="pt-BR" dirty="0" smtClean="0"/>
              <a:t>Por exemplo: min, </a:t>
            </a:r>
            <a:r>
              <a:rPr lang="pt-BR" dirty="0" err="1" smtClean="0"/>
              <a:t>max</a:t>
            </a:r>
            <a:r>
              <a:rPr lang="pt-BR" dirty="0"/>
              <a:t>, </a:t>
            </a:r>
            <a:r>
              <a:rPr lang="pt-BR" dirty="0" smtClean="0"/>
              <a:t>entre outras.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5" y="3496102"/>
            <a:ext cx="2880320" cy="331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93881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Outras operações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Exemplos</a:t>
            </a:r>
          </a:p>
          <a:p>
            <a:pPr lvl="1"/>
            <a:r>
              <a:rPr lang="pt-BR" dirty="0" smtClean="0"/>
              <a:t>No caso de algumas operações, é conveniente que a imagem esteja normalizada entre [0,1]</a:t>
            </a:r>
            <a:endParaRPr 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900" y="3190453"/>
            <a:ext cx="5410200" cy="319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63842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Outras operações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Exemplos</a:t>
            </a:r>
          </a:p>
          <a:p>
            <a:pPr lvl="1"/>
            <a:r>
              <a:rPr lang="pt-BR" dirty="0" smtClean="0"/>
              <a:t>Não existe um limite de operações e imagens que possam ser combinadas</a:t>
            </a:r>
            <a:endParaRPr 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7076" y="3025477"/>
            <a:ext cx="4248150" cy="357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53736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7B6610C1FC8AB48BA79369D9F0FA2AE" ma:contentTypeVersion="0" ma:contentTypeDescription="Crie um novo documento." ma:contentTypeScope="" ma:versionID="bb0d639e4679164d038a7d1ea4c9b26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1B0DB45-C128-4839-A6CA-8042724A1B56}"/>
</file>

<file path=customXml/itemProps2.xml><?xml version="1.0" encoding="utf-8"?>
<ds:datastoreItem xmlns:ds="http://schemas.openxmlformats.org/officeDocument/2006/customXml" ds:itemID="{0E12F5A0-AA09-41A7-A1DB-559D26AE2F52}"/>
</file>

<file path=customXml/itemProps3.xml><?xml version="1.0" encoding="utf-8"?>
<ds:datastoreItem xmlns:ds="http://schemas.openxmlformats.org/officeDocument/2006/customXml" ds:itemID="{0D3E1F03-B690-4BFA-8B9B-648C95F3AE86}"/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2836</TotalTime>
  <Words>700</Words>
  <Application>Microsoft Office PowerPoint</Application>
  <PresentationFormat>Apresentação na tela (4:3)</PresentationFormat>
  <Paragraphs>154</Paragraphs>
  <Slides>30</Slides>
  <Notes>0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incorporados</vt:lpstr>
      </vt:variant>
      <vt:variant>
        <vt:i4>2</vt:i4>
      </vt:variant>
      <vt:variant>
        <vt:lpstr>Títulos de slides</vt:lpstr>
      </vt:variant>
      <vt:variant>
        <vt:i4>30</vt:i4>
      </vt:variant>
    </vt:vector>
  </HeadingPairs>
  <TitlesOfParts>
    <vt:vector size="33" baseType="lpstr">
      <vt:lpstr>Mediano</vt:lpstr>
      <vt:lpstr>Equação</vt:lpstr>
      <vt:lpstr>Equation</vt:lpstr>
      <vt:lpstr>Operações Ponto a Ponto</vt:lpstr>
      <vt:lpstr>Operações pontuais</vt:lpstr>
      <vt:lpstr>Operações pontuais</vt:lpstr>
      <vt:lpstr>Operações pontuais</vt:lpstr>
      <vt:lpstr>Operações aritméticas pontuais</vt:lpstr>
      <vt:lpstr>Operações aritméticas pontuais</vt:lpstr>
      <vt:lpstr>Operações aritméticas pontuais</vt:lpstr>
      <vt:lpstr>Operações aritméticas pontuais</vt:lpstr>
      <vt:lpstr>Operações aritméticas pontuais</vt:lpstr>
      <vt:lpstr>Operações aritméticas pontuais</vt:lpstr>
      <vt:lpstr>Operações aritméticas pontuais</vt:lpstr>
      <vt:lpstr>Negação</vt:lpstr>
      <vt:lpstr>Alargamento de contraste</vt:lpstr>
      <vt:lpstr>Alargamento de contraste</vt:lpstr>
      <vt:lpstr>Alargamento de contraste</vt:lpstr>
      <vt:lpstr>Alargamento de contraste</vt:lpstr>
      <vt:lpstr>Fatiamento dos níveis de cinza</vt:lpstr>
      <vt:lpstr>Fatiamento dos níveis de cinza</vt:lpstr>
      <vt:lpstr>Fatiamento dos níveis de cinza</vt:lpstr>
      <vt:lpstr>Fatiamento de bits</vt:lpstr>
      <vt:lpstr>Fatiamento de bits</vt:lpstr>
      <vt:lpstr>Fatiamento de bits</vt:lpstr>
      <vt:lpstr>Operações Lógicas</vt:lpstr>
      <vt:lpstr>Operações Lógicas</vt:lpstr>
      <vt:lpstr>Operações Lógicas</vt:lpstr>
      <vt:lpstr>Operações Lógicas</vt:lpstr>
      <vt:lpstr>Operações Lógicas</vt:lpstr>
      <vt:lpstr>Outras operações</vt:lpstr>
      <vt:lpstr>Outras operações</vt:lpstr>
      <vt:lpstr>Outras operações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Operações Ponto a Ponto</dc:title>
  <dc:creator>Backes</dc:creator>
  <cp:lastModifiedBy>Backes</cp:lastModifiedBy>
  <cp:revision>39</cp:revision>
  <dcterms:created xsi:type="dcterms:W3CDTF">2014-09-30T17:37:26Z</dcterms:created>
  <dcterms:modified xsi:type="dcterms:W3CDTF">2014-10-02T16:55:16Z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0x01010097B6610C1FC8AB48BA79369D9F0FA2AE</vt:lpwstr>
  </property>
  <property fmtid="{D5CDD505-2E9C-101B-9397-08002B2CF9AE}" pid="3" name="Order">
    <vt:r8>500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