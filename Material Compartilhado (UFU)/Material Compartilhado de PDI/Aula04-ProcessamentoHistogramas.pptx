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5"/>
  </p:notesMasterIdLst>
  <p:sldIdLst>
    <p:sldId id="256" r:id="rId5"/>
    <p:sldId id="257" r:id="rId6"/>
    <p:sldId id="347" r:id="rId7"/>
    <p:sldId id="264" r:id="rId8"/>
    <p:sldId id="348" r:id="rId9"/>
    <p:sldId id="258" r:id="rId10"/>
    <p:sldId id="350" r:id="rId11"/>
    <p:sldId id="351" r:id="rId12"/>
    <p:sldId id="367" r:id="rId13"/>
    <p:sldId id="349" r:id="rId14"/>
    <p:sldId id="353" r:id="rId15"/>
    <p:sldId id="368" r:id="rId16"/>
    <p:sldId id="352" r:id="rId17"/>
    <p:sldId id="355" r:id="rId18"/>
    <p:sldId id="356" r:id="rId19"/>
    <p:sldId id="357" r:id="rId20"/>
    <p:sldId id="358" r:id="rId21"/>
    <p:sldId id="376" r:id="rId22"/>
    <p:sldId id="359" r:id="rId23"/>
    <p:sldId id="354" r:id="rId24"/>
    <p:sldId id="370" r:id="rId25"/>
    <p:sldId id="371" r:id="rId26"/>
    <p:sldId id="378" r:id="rId27"/>
    <p:sldId id="369" r:id="rId28"/>
    <p:sldId id="380" r:id="rId29"/>
    <p:sldId id="381" r:id="rId30"/>
    <p:sldId id="382" r:id="rId31"/>
    <p:sldId id="379" r:id="rId32"/>
    <p:sldId id="365" r:id="rId33"/>
    <p:sldId id="361" r:id="rId34"/>
    <p:sldId id="372" r:id="rId35"/>
    <p:sldId id="373" r:id="rId36"/>
    <p:sldId id="383" r:id="rId37"/>
    <p:sldId id="384" r:id="rId38"/>
    <p:sldId id="385" r:id="rId39"/>
    <p:sldId id="386" r:id="rId40"/>
    <p:sldId id="387" r:id="rId41"/>
    <p:sldId id="388" r:id="rId42"/>
    <p:sldId id="389" r:id="rId43"/>
    <p:sldId id="390" r:id="rId44"/>
    <p:sldId id="391" r:id="rId45"/>
    <p:sldId id="392" r:id="rId46"/>
    <p:sldId id="394" r:id="rId47"/>
    <p:sldId id="395" r:id="rId48"/>
    <p:sldId id="393" r:id="rId49"/>
    <p:sldId id="397" r:id="rId50"/>
    <p:sldId id="398" r:id="rId51"/>
    <p:sldId id="399" r:id="rId52"/>
    <p:sldId id="400" r:id="rId53"/>
    <p:sldId id="401" r:id="rId54"/>
    <p:sldId id="402" r:id="rId55"/>
    <p:sldId id="396" r:id="rId56"/>
    <p:sldId id="404" r:id="rId57"/>
    <p:sldId id="405" r:id="rId58"/>
    <p:sldId id="406" r:id="rId59"/>
    <p:sldId id="403" r:id="rId60"/>
    <p:sldId id="407" r:id="rId61"/>
    <p:sldId id="409" r:id="rId62"/>
    <p:sldId id="410" r:id="rId63"/>
    <p:sldId id="411" r:id="rId6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4D5822FB-4E1B-4CCD-8F88-09B6484FA0E0}"/>
    <pc:docChg chg="custSel modSld">
      <pc:chgData name="Bruno Augusto Nassif Travencolo" userId="9765cb90-d5ec-451e-8c7b-af57428794a1" providerId="ADAL" clId="{4D5822FB-4E1B-4CCD-8F88-09B6484FA0E0}" dt="2024-08-30T12:19:58.231" v="0" actId="478"/>
      <pc:docMkLst>
        <pc:docMk/>
      </pc:docMkLst>
      <pc:sldChg chg="delSp mod">
        <pc:chgData name="Bruno Augusto Nassif Travencolo" userId="9765cb90-d5ec-451e-8c7b-af57428794a1" providerId="ADAL" clId="{4D5822FB-4E1B-4CCD-8F88-09B6484FA0E0}" dt="2024-08-30T12:19:58.231" v="0" actId="478"/>
        <pc:sldMkLst>
          <pc:docMk/>
          <pc:sldMk cId="1867831172" sldId="264"/>
        </pc:sldMkLst>
        <pc:spChg chg="del">
          <ac:chgData name="Bruno Augusto Nassif Travencolo" userId="9765cb90-d5ec-451e-8c7b-af57428794a1" providerId="ADAL" clId="{4D5822FB-4E1B-4CCD-8F88-09B6484FA0E0}" dt="2024-08-30T12:19:58.231" v="0" actId="478"/>
          <ac:spMkLst>
            <pc:docMk/>
            <pc:sldMk cId="1867831172" sldId="264"/>
            <ac:spMk id="10" creationId="{00000000-0000-0000-0000-000000000000}"/>
          </ac:spMkLst>
        </pc:spChg>
      </pc:sldChg>
    </pc:docChg>
  </pc:docChgLst>
  <pc:docChgLst>
    <pc:chgData name="Bruno Augusto Nassif Travencolo" userId="9765cb90-d5ec-451e-8c7b-af57428794a1" providerId="ADAL" clId="{59C5B98F-7366-4736-A9CC-83303D804350}"/>
    <pc:docChg chg="modSld">
      <pc:chgData name="Bruno Augusto Nassif Travencolo" userId="9765cb90-d5ec-451e-8c7b-af57428794a1" providerId="ADAL" clId="{59C5B98F-7366-4736-A9CC-83303D804350}" dt="2023-03-30T21:40:25.970" v="0" actId="20577"/>
      <pc:docMkLst>
        <pc:docMk/>
      </pc:docMkLst>
      <pc:sldChg chg="modSp mod">
        <pc:chgData name="Bruno Augusto Nassif Travencolo" userId="9765cb90-d5ec-451e-8c7b-af57428794a1" providerId="ADAL" clId="{59C5B98F-7366-4736-A9CC-83303D804350}" dt="2023-03-30T21:40:25.970" v="0" actId="20577"/>
        <pc:sldMkLst>
          <pc:docMk/>
          <pc:sldMk cId="2483659790" sldId="392"/>
        </pc:sldMkLst>
        <pc:spChg chg="mod">
          <ac:chgData name="Bruno Augusto Nassif Travencolo" userId="9765cb90-d5ec-451e-8c7b-af57428794a1" providerId="ADAL" clId="{59C5B98F-7366-4736-A9CC-83303D804350}" dt="2023-03-30T21:40:25.970" v="0" actId="20577"/>
          <ac:spMkLst>
            <pc:docMk/>
            <pc:sldMk cId="2483659790" sldId="39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54F61-9ED0-43E1-882B-279C59B9F358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447AA-2148-4BA5-8087-A7AF49402E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00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oleObject" Target="../embeddings/oleObject1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wmf"/><Relationship Id="rId4" Type="http://schemas.openxmlformats.org/officeDocument/2006/relationships/oleObject" Target="../embeddings/oleObject16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Realce de imagens baseado em Histogramas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31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Processamento</a:t>
            </a:r>
            <a:r>
              <a:rPr lang="en-US" dirty="0"/>
              <a:t> de </a:t>
            </a:r>
            <a:r>
              <a:rPr lang="en-US" dirty="0" err="1"/>
              <a:t>histogramas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62088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O que é um histograma?</a:t>
            </a:r>
          </a:p>
          <a:p>
            <a:pPr lvl="1"/>
            <a:r>
              <a:rPr lang="pt-BR" dirty="0"/>
              <a:t>É uma das ferramentas mais simples e úteis para o PDI;</a:t>
            </a:r>
          </a:p>
          <a:p>
            <a:pPr lvl="1"/>
            <a:r>
              <a:rPr lang="pt-BR" dirty="0"/>
              <a:t>É uma função que mostra a frequência com que cada nível de cinza aparece na imagem</a:t>
            </a:r>
          </a:p>
          <a:p>
            <a:pPr lvl="2"/>
            <a:r>
              <a:rPr lang="pt-BR" dirty="0"/>
              <a:t>Cada </a:t>
            </a:r>
            <a:r>
              <a:rPr lang="pt-BR" i="1" dirty="0"/>
              <a:t>bin </a:t>
            </a:r>
            <a:r>
              <a:rPr lang="pt-BR" dirty="0"/>
              <a:t>representa o número de vezes que cada tom de cinza aparece na imagem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4" descr="C:\Users\Bruno\Desktop\gim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955246"/>
            <a:ext cx="846310" cy="608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13672"/>
              </p:ext>
            </p:extLst>
          </p:nvPr>
        </p:nvGraphicFramePr>
        <p:xfrm>
          <a:off x="1331640" y="4218052"/>
          <a:ext cx="4553376" cy="2567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" r:id="rId3" imgW="8124788" imgH="4581630" progId="Excel.Sheet.12">
                  <p:embed/>
                </p:oleObj>
              </mc:Choice>
              <mc:Fallback>
                <p:oleObj name="Planilha" r:id="rId3" imgW="8124788" imgH="4581630" progId="Excel.Sheet.12">
                  <p:embed/>
                  <p:pic>
                    <p:nvPicPr>
                      <p:cNvPr id="5" name="Objeto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4218052"/>
                        <a:ext cx="4553376" cy="25676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365104"/>
            <a:ext cx="3347864" cy="2396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8755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Histograma</a:t>
            </a:r>
            <a:r>
              <a:rPr lang="en-US" dirty="0"/>
              <a:t> com 256 </a:t>
            </a:r>
            <a:r>
              <a:rPr lang="en-US" i="1" dirty="0"/>
              <a:t>bins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495800"/>
          </a:xfrm>
        </p:spPr>
        <p:txBody>
          <a:bodyPr/>
          <a:lstStyle/>
          <a:p>
            <a:r>
              <a:rPr lang="pt-BR" dirty="0"/>
              <a:t>256 </a:t>
            </a:r>
            <a:r>
              <a:rPr lang="pt-BR" i="1" dirty="0" err="1"/>
              <a:t>bins</a:t>
            </a:r>
            <a:r>
              <a:rPr lang="pt-BR" dirty="0"/>
              <a:t> – quantidade de barras do histograma</a:t>
            </a:r>
          </a:p>
        </p:txBody>
      </p:sp>
      <p:graphicFrame>
        <p:nvGraphicFramePr>
          <p:cNvPr id="4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0697207"/>
              </p:ext>
            </p:extLst>
          </p:nvPr>
        </p:nvGraphicFramePr>
        <p:xfrm>
          <a:off x="1187624" y="5785010"/>
          <a:ext cx="1219200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251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252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253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254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255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343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05661"/>
              </p:ext>
            </p:extLst>
          </p:nvPr>
        </p:nvGraphicFramePr>
        <p:xfrm>
          <a:off x="1187624" y="3696778"/>
          <a:ext cx="1219200" cy="190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97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98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99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101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102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103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104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105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106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209403"/>
              </p:ext>
            </p:extLst>
          </p:nvPr>
        </p:nvGraphicFramePr>
        <p:xfrm>
          <a:off x="1187624" y="2184610"/>
          <a:ext cx="1219200" cy="1297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 do pixels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Qtde.de pixels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4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1594034" y="3336738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...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594770" y="5476246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...</a:t>
            </a: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259" y="3367954"/>
            <a:ext cx="3347864" cy="2396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7092280" y="3391958"/>
            <a:ext cx="1728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/>
              <a:t>Cortado ~50 para melhor visualização</a:t>
            </a:r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6664603" y="3563724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ave direita 11"/>
          <p:cNvSpPr/>
          <p:nvPr/>
        </p:nvSpPr>
        <p:spPr>
          <a:xfrm rot="5400000">
            <a:off x="4973707" y="5566462"/>
            <a:ext cx="128590" cy="3471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have direita 12"/>
          <p:cNvSpPr/>
          <p:nvPr/>
        </p:nvSpPr>
        <p:spPr>
          <a:xfrm rot="5400000">
            <a:off x="6478921" y="5645736"/>
            <a:ext cx="128277" cy="18896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have direita 13"/>
          <p:cNvSpPr/>
          <p:nvPr/>
        </p:nvSpPr>
        <p:spPr>
          <a:xfrm rot="5400000">
            <a:off x="4060410" y="5648435"/>
            <a:ext cx="95817" cy="2160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4000306" y="5939988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864403" y="5939988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II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393178" y="593998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III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899592" y="2572358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11268" y="3710278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II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78406" y="583269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III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4000306" y="2937007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&gt;&gt; </a:t>
            </a:r>
            <a:r>
              <a:rPr lang="pt-BR" dirty="0" err="1"/>
              <a:t>imhist</a:t>
            </a:r>
            <a:r>
              <a:rPr lang="pt-BR" dirty="0"/>
              <a:t>(</a:t>
            </a:r>
            <a:r>
              <a:rPr lang="pt-BR" dirty="0" err="1"/>
              <a:t>im</a:t>
            </a:r>
            <a:r>
              <a:rPr lang="pt-BR" dirty="0"/>
              <a:t>);</a:t>
            </a:r>
          </a:p>
        </p:txBody>
      </p:sp>
      <p:pic>
        <p:nvPicPr>
          <p:cNvPr id="22" name="Picture 4" descr="C:\Users\Bruno\Desktop\gi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114" y="5292919"/>
            <a:ext cx="846310" cy="608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1858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957221"/>
              </p:ext>
            </p:extLst>
          </p:nvPr>
        </p:nvGraphicFramePr>
        <p:xfrm>
          <a:off x="1182586" y="1883410"/>
          <a:ext cx="1272703" cy="2249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6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 Central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Qtde.de pixels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28.3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23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56.7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62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85.0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137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113.3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85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141.7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37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170.0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198.3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226.7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255.0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345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860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599081"/>
            <a:ext cx="4775722" cy="336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Retângulo 22"/>
          <p:cNvSpPr/>
          <p:nvPr/>
        </p:nvSpPr>
        <p:spPr>
          <a:xfrm>
            <a:off x="827584" y="4221088"/>
            <a:ext cx="2191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&gt;&gt; </a:t>
            </a:r>
            <a:r>
              <a:rPr lang="pt-BR" dirty="0" err="1"/>
              <a:t>imhist</a:t>
            </a:r>
            <a:r>
              <a:rPr lang="pt-BR" dirty="0"/>
              <a:t>(im,10);</a:t>
            </a:r>
          </a:p>
        </p:txBody>
      </p:sp>
      <p:sp>
        <p:nvSpPr>
          <p:cNvPr id="25" name="Chave esquerda 24"/>
          <p:cNvSpPr/>
          <p:nvPr/>
        </p:nvSpPr>
        <p:spPr>
          <a:xfrm rot="16200000">
            <a:off x="5004048" y="3063072"/>
            <a:ext cx="432049" cy="37444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/>
          <p:cNvSpPr txBox="1"/>
          <p:nvPr/>
        </p:nvSpPr>
        <p:spPr>
          <a:xfrm>
            <a:off x="3923928" y="5135397"/>
            <a:ext cx="2592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10 </a:t>
            </a:r>
            <a:r>
              <a:rPr lang="pt-BR" i="1" dirty="0" err="1"/>
              <a:t>bins</a:t>
            </a:r>
            <a:r>
              <a:rPr lang="pt-BR" dirty="0"/>
              <a:t> – quantidade de barras do histograma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i="1" dirty="0"/>
              <a:t>bins</a:t>
            </a:r>
          </a:p>
        </p:txBody>
      </p:sp>
      <p:pic>
        <p:nvPicPr>
          <p:cNvPr id="9" name="Picture 4" descr="C:\Users\Bruno\Desktop\gi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114" y="5292919"/>
            <a:ext cx="846310" cy="608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6783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i="1" dirty="0"/>
              <a:t>bins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Cálculo de intervalos para os valores</a:t>
            </a:r>
            <a:endParaRPr lang="en-US" dirty="0"/>
          </a:p>
        </p:txBody>
      </p:sp>
      <p:sp>
        <p:nvSpPr>
          <p:cNvPr id="4" name="Retângulo 3"/>
          <p:cNvSpPr/>
          <p:nvPr/>
        </p:nvSpPr>
        <p:spPr>
          <a:xfrm>
            <a:off x="395536" y="2566059"/>
            <a:ext cx="844098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--&gt;A = 255;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--&gt;N = 10;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--&gt;p = 1:10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p  =    1.    2.    3.    4.    5.    6.    7.    8.    9.    10.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--&gt;inferior = A*(p-1.5)/(N-1)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inferior  =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 - 14.2    14.2    42.5    70.8    99.2    127.5    155.8    184.2    212.5    240.8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--&gt;superior = A*(p-0.5)/(N-1)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superior  =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   14.2    42.5    70.8   99.2    127.5    155.8   184.2    212.5    240.8    269.2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--&gt;x = (</a:t>
            </a:r>
            <a:r>
              <a:rPr lang="pt-BR" sz="1200" dirty="0" err="1">
                <a:latin typeface="Courier New" pitchFamily="49" charset="0"/>
                <a:cs typeface="Courier New" pitchFamily="49" charset="0"/>
              </a:rPr>
              <a:t>inferior+superior</a:t>
            </a:r>
            <a:r>
              <a:rPr lang="pt-BR" sz="1200" dirty="0">
                <a:latin typeface="Courier New" pitchFamily="49" charset="0"/>
                <a:cs typeface="Courier New" pitchFamily="49" charset="0"/>
              </a:rPr>
              <a:t>)/2 </a:t>
            </a:r>
            <a:r>
              <a:rPr lang="pt-BR" sz="1200" b="1" dirty="0">
                <a:solidFill>
                  <a:srgbClr val="00B050"/>
                </a:solidFill>
              </a:rPr>
              <a:t>%% Valores centrais mostrados no slide anterior</a:t>
            </a:r>
            <a:endParaRPr lang="pt-BR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x  =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   0.    28.3    56. 7    85.    113.3    141.7    170.    198. 3    226. 7    255.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--&gt;[</a:t>
            </a:r>
            <a:r>
              <a:rPr lang="pt-BR" sz="1200" dirty="0" err="1">
                <a:latin typeface="Courier New" pitchFamily="49" charset="0"/>
                <a:cs typeface="Courier New" pitchFamily="49" charset="0"/>
              </a:rPr>
              <a:t>inferior;x;superior</a:t>
            </a:r>
            <a:r>
              <a:rPr lang="pt-BR" sz="1200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2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pt-BR" sz="1200" dirty="0">
                <a:latin typeface="Courier New" pitchFamily="49" charset="0"/>
                <a:cs typeface="Courier New" pitchFamily="49" charset="0"/>
              </a:rPr>
              <a:t>  =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 - 14.2    14.2    42.5    70.8     99.2    127.5    155.8    184.2    212.5    240.8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    0.0    28.3    56.7    85.0    113.3    141.7    170.0    198.3    226.7    255.0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   14.2    42.5    70.8    99.2    127.5    155.8    184.2    212.5    240.8    269.2</a:t>
            </a:r>
          </a:p>
        </p:txBody>
      </p:sp>
      <p:pic>
        <p:nvPicPr>
          <p:cNvPr id="5" name="Picture 2" descr="http://www.mathworks.com/help/images/ref/eqn124887432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75" y="2216122"/>
            <a:ext cx="2890542" cy="61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410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Processamento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de </a:t>
            </a:r>
            <a:r>
              <a:rPr lang="en-US" dirty="0" err="1"/>
              <a:t>histogramas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063808" cy="4495800"/>
          </a:xfrm>
        </p:spPr>
        <p:txBody>
          <a:bodyPr/>
          <a:lstStyle/>
          <a:p>
            <a:r>
              <a:rPr lang="pt-BR" dirty="0"/>
              <a:t>A exibição gráfica do histograma para todos os valores de níveis de cinza providencia uma descrição global de uma imagem</a:t>
            </a:r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072333"/>
            <a:ext cx="8359049" cy="3597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96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Histogramas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histograma de uma imagem é um conjunto de números que indica a quantidade de pixels em cada um dos níveis de cinza da imagem.</a:t>
            </a:r>
          </a:p>
          <a:p>
            <a:r>
              <a:rPr lang="pt-BR" dirty="0"/>
              <a:t>Histograma Normalizado</a:t>
            </a:r>
          </a:p>
          <a:p>
            <a:pPr lvl="1"/>
            <a:r>
              <a:rPr lang="pt-BR" dirty="0"/>
              <a:t>Cada elemento do conjunto é calculado por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onde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to 3"/>
              <p:cNvSpPr txBox="1"/>
              <p:nvPr/>
            </p:nvSpPr>
            <p:spPr bwMode="auto">
              <a:xfrm>
                <a:off x="3687763" y="4149725"/>
                <a:ext cx="1676400" cy="9128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bje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7763" y="4149725"/>
                <a:ext cx="1676400" cy="9128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to 6"/>
              <p:cNvSpPr txBox="1"/>
              <p:nvPr/>
            </p:nvSpPr>
            <p:spPr bwMode="auto">
              <a:xfrm>
                <a:off x="3840163" y="5368925"/>
                <a:ext cx="1371600" cy="536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bje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0163" y="5368925"/>
                <a:ext cx="1371600" cy="5365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91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Histogramas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Histograma Normalizado</a:t>
            </a:r>
          </a:p>
          <a:p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i="1" dirty="0"/>
              <a:t> = 0,1,.......L-1</a:t>
            </a:r>
            <a:r>
              <a:rPr lang="pt-BR" dirty="0"/>
              <a:t>, </a:t>
            </a:r>
            <a:r>
              <a:rPr lang="pt-BR" i="1" dirty="0"/>
              <a:t>L</a:t>
            </a:r>
            <a:r>
              <a:rPr lang="pt-BR" dirty="0"/>
              <a:t> é o número de níveis de cinza da imagem.</a:t>
            </a:r>
          </a:p>
          <a:p>
            <a:pPr lvl="1"/>
            <a:r>
              <a:rPr lang="pt-BR" i="1" dirty="0"/>
              <a:t>n,</a:t>
            </a:r>
            <a:r>
              <a:rPr lang="pt-BR" dirty="0"/>
              <a:t> número total de pixels na imagem</a:t>
            </a:r>
          </a:p>
          <a:p>
            <a:pPr lvl="1"/>
            <a:r>
              <a:rPr lang="pt-BR" i="1" dirty="0" err="1"/>
              <a:t>n</a:t>
            </a:r>
            <a:r>
              <a:rPr lang="pt-BR" i="1" baseline="-25000" dirty="0" err="1"/>
              <a:t>k</a:t>
            </a:r>
            <a:r>
              <a:rPr lang="pt-BR" dirty="0"/>
              <a:t>, número de pixels cujo nível de cinza corresponde a </a:t>
            </a:r>
            <a:r>
              <a:rPr lang="pt-BR" i="1" dirty="0"/>
              <a:t>k</a:t>
            </a:r>
            <a:r>
              <a:rPr lang="pt-BR" dirty="0"/>
              <a:t>.</a:t>
            </a:r>
          </a:p>
          <a:p>
            <a:pPr lvl="1"/>
            <a:r>
              <a:rPr lang="pt-BR" i="1" dirty="0" err="1"/>
              <a:t>P</a:t>
            </a:r>
            <a:r>
              <a:rPr lang="pt-BR" i="1" baseline="-25000" dirty="0" err="1"/>
              <a:t>r</a:t>
            </a:r>
            <a:r>
              <a:rPr lang="pt-BR" i="1" dirty="0"/>
              <a:t>(</a:t>
            </a:r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i="1" dirty="0"/>
              <a:t>),</a:t>
            </a:r>
            <a:r>
              <a:rPr lang="pt-BR" dirty="0"/>
              <a:t> probabilidade do </a:t>
            </a:r>
            <a:r>
              <a:rPr lang="pt-BR" i="1" dirty="0"/>
              <a:t>k</a:t>
            </a:r>
            <a:r>
              <a:rPr lang="pt-BR" dirty="0"/>
              <a:t>-</a:t>
            </a:r>
            <a:r>
              <a:rPr lang="pt-BR" dirty="0" err="1"/>
              <a:t>ésimo</a:t>
            </a:r>
            <a:r>
              <a:rPr lang="pt-BR" dirty="0"/>
              <a:t> nível de cinza.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520632"/>
              </p:ext>
            </p:extLst>
          </p:nvPr>
        </p:nvGraphicFramePr>
        <p:xfrm>
          <a:off x="3687763" y="2276872"/>
          <a:ext cx="16764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586" imgH="393529" progId="Equation.3">
                  <p:embed/>
                </p:oleObj>
              </mc:Choice>
              <mc:Fallback>
                <p:oleObj name="Equation" r:id="rId2" imgW="723586" imgH="393529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763" y="2276872"/>
                        <a:ext cx="16764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7027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Histogramas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histograma pode ser visto como uma função de distribuição de frequência ou como uma função de distribuição de probabilidade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De maneira geral dizemos que </a:t>
            </a:r>
            <a:r>
              <a:rPr lang="pt-BR" i="1" dirty="0" err="1"/>
              <a:t>P</a:t>
            </a:r>
            <a:r>
              <a:rPr lang="pt-BR" i="1" baseline="-25000" dirty="0" err="1"/>
              <a:t>r</a:t>
            </a:r>
            <a:r>
              <a:rPr lang="pt-BR" i="1" dirty="0"/>
              <a:t>(</a:t>
            </a:r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i="1" dirty="0"/>
              <a:t>)</a:t>
            </a:r>
            <a:r>
              <a:rPr lang="pt-BR" dirty="0"/>
              <a:t> dá uma estimativa da probabilidade de ocorrência do nível de cinza </a:t>
            </a:r>
            <a:r>
              <a:rPr lang="pt-BR" i="1" dirty="0"/>
              <a:t>r</a:t>
            </a:r>
            <a:r>
              <a:rPr lang="pt-BR" dirty="0"/>
              <a:t> na imagem.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094267"/>
              </p:ext>
            </p:extLst>
          </p:nvPr>
        </p:nvGraphicFramePr>
        <p:xfrm>
          <a:off x="3687763" y="3164259"/>
          <a:ext cx="16764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586" imgH="393529" progId="Equation.3">
                  <p:embed/>
                </p:oleObj>
              </mc:Choice>
              <mc:Fallback>
                <p:oleObj name="Equation" r:id="rId2" imgW="723586" imgH="393529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763" y="3164259"/>
                        <a:ext cx="16764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0293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Histogramas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319392" cy="4061048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Seja uma imagem de 128x128 pixels cujas quantidades de pixels em cada nível de cinza são dadas na tabela ao lado (8 níveis de cinza) </a:t>
            </a:r>
          </a:p>
          <a:p>
            <a:endParaRPr lang="pt-BR" dirty="0"/>
          </a:p>
          <a:p>
            <a:r>
              <a:rPr lang="pt-BR" dirty="0"/>
              <a:t>n =  128x128 =  16.384 pixels</a:t>
            </a:r>
          </a:p>
          <a:p>
            <a:r>
              <a:rPr lang="pt-BR" dirty="0" err="1"/>
              <a:t>P</a:t>
            </a:r>
            <a:r>
              <a:rPr lang="pt-BR" baseline="-25000" dirty="0" err="1"/>
              <a:t>r</a:t>
            </a:r>
            <a:r>
              <a:rPr lang="pt-BR" dirty="0"/>
              <a:t>(0) = 1120/16.384 = 0,068</a:t>
            </a:r>
          </a:p>
          <a:p>
            <a:r>
              <a:rPr lang="pt-BR" dirty="0" err="1"/>
              <a:t>P</a:t>
            </a:r>
            <a:r>
              <a:rPr lang="pt-BR" baseline="-25000" dirty="0" err="1"/>
              <a:t>r</a:t>
            </a:r>
            <a:r>
              <a:rPr lang="pt-BR" baseline="-25000" dirty="0"/>
              <a:t> </a:t>
            </a:r>
            <a:r>
              <a:rPr lang="pt-BR" dirty="0"/>
              <a:t>(1/7)= 3214/16.384 = 0,196</a:t>
            </a:r>
          </a:p>
        </p:txBody>
      </p:sp>
      <p:graphicFrame>
        <p:nvGraphicFramePr>
          <p:cNvPr id="5" name="Group 5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7195097"/>
              </p:ext>
            </p:extLst>
          </p:nvPr>
        </p:nvGraphicFramePr>
        <p:xfrm>
          <a:off x="5076056" y="1844824"/>
          <a:ext cx="3960440" cy="39624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7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Nível de Cinza (k)</a:t>
                      </a:r>
                      <a:endParaRPr kumimoji="0" lang="pt-B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</a:t>
                      </a:r>
                      <a:r>
                        <a:rPr kumimoji="0" lang="pt-BR" sz="2000" u="none" strike="noStrike" cap="none" normalizeH="0" baseline="-25000" dirty="0" err="1">
                          <a:ln>
                            <a:noFill/>
                          </a:ln>
                          <a:effectLst/>
                        </a:rPr>
                        <a:t>k</a:t>
                      </a:r>
                      <a:endParaRPr kumimoji="0" lang="pt-B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P</a:t>
                      </a:r>
                      <a:r>
                        <a:rPr lang="pt-BR" sz="2000" baseline="-25000" dirty="0" err="1"/>
                        <a:t>r</a:t>
                      </a:r>
                      <a:r>
                        <a:rPr lang="pt-BR" sz="2000" baseline="-25000" dirty="0"/>
                        <a:t> </a:t>
                      </a: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pt-BR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</a:t>
                      </a:r>
                      <a:r>
                        <a:rPr kumimoji="0" lang="pt-BR" sz="2000" u="none" strike="noStrike" cap="none" normalizeH="0" baseline="-25000" dirty="0" err="1">
                          <a:ln>
                            <a:noFill/>
                          </a:ln>
                          <a:effectLst/>
                        </a:rPr>
                        <a:t>k</a:t>
                      </a: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)=</a:t>
                      </a:r>
                      <a:r>
                        <a:rPr kumimoji="0" lang="pt-BR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</a:t>
                      </a:r>
                      <a:r>
                        <a:rPr kumimoji="0" lang="pt-BR" sz="2000" u="none" strike="noStrike" cap="none" normalizeH="0" baseline="-25000" dirty="0" err="1">
                          <a:ln>
                            <a:noFill/>
                          </a:ln>
                          <a:effectLst/>
                        </a:rPr>
                        <a:t>k</a:t>
                      </a: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/n</a:t>
                      </a:r>
                      <a:endParaRPr kumimoji="0" lang="pt-B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1120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0,068</a:t>
                      </a:r>
                      <a:endParaRPr kumimoji="0" lang="pt-B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1/7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3214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0,196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2/7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4850</a:t>
                      </a:r>
                      <a:endParaRPr kumimoji="0" lang="pt-B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0,296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3/7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3425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0,209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4/7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1995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0,122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5/7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784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0,048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6/7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541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0,033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pt-B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455</a:t>
                      </a:r>
                      <a:endParaRPr kumimoji="0" lang="pt-BR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0,028</a:t>
                      </a:r>
                      <a:endParaRPr kumimoji="0" lang="pt-B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397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Histogramas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Importantes</a:t>
            </a:r>
          </a:p>
          <a:p>
            <a:pPr lvl="1"/>
            <a:r>
              <a:rPr lang="pt-BR" dirty="0"/>
              <a:t>Um histograma é uma função de distribuição de probabilidades</a:t>
            </a:r>
          </a:p>
          <a:p>
            <a:pPr lvl="1"/>
            <a:r>
              <a:rPr lang="pt-BR" dirty="0"/>
              <a:t>A soma das probabilidades é igual a 1</a:t>
            </a:r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1"/>
            <a:r>
              <a:rPr lang="pt-BR" dirty="0"/>
              <a:t>Representação gráfica de um Histograma</a:t>
            </a:r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505366"/>
              </p:ext>
            </p:extLst>
          </p:nvPr>
        </p:nvGraphicFramePr>
        <p:xfrm>
          <a:off x="3598863" y="3573463"/>
          <a:ext cx="198278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787320" imgH="253800" progId="Equation.3">
                  <p:embed/>
                </p:oleObj>
              </mc:Choice>
              <mc:Fallback>
                <p:oleObj name="Equação" r:id="rId2" imgW="787320" imgH="2538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863" y="3573463"/>
                        <a:ext cx="1982787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240084"/>
              </p:ext>
            </p:extLst>
          </p:nvPr>
        </p:nvGraphicFramePr>
        <p:xfrm>
          <a:off x="2915816" y="4503811"/>
          <a:ext cx="4113213" cy="274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743200" imgH="1828800" progId="MSGraph.Chart.8">
                  <p:embed/>
                </p:oleObj>
              </mc:Choice>
              <mc:Fallback>
                <p:oleObj r:id="rId4" imgW="2743200" imgH="1828800" progId="MSGraph.Chart.8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4503811"/>
                        <a:ext cx="4113213" cy="274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265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Histogramas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Importantes</a:t>
            </a:r>
          </a:p>
          <a:p>
            <a:pPr lvl="1"/>
            <a:r>
              <a:rPr lang="pt-BR" dirty="0"/>
              <a:t>As informações espaciais não são representadas;</a:t>
            </a:r>
          </a:p>
          <a:p>
            <a:pPr lvl="1"/>
            <a:r>
              <a:rPr lang="pt-BR" dirty="0"/>
              <a:t>Um histograma é único para uma determinada imagem, mas o inverso não é verdadeiro;</a:t>
            </a:r>
          </a:p>
          <a:p>
            <a:pPr lvl="1"/>
            <a:r>
              <a:rPr lang="pt-BR" dirty="0"/>
              <a:t>A movimentação de objetos em uma imagem não tem qualquer efeito sobre o seu histograma.</a:t>
            </a:r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2847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Histogramas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0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09" y="1718649"/>
            <a:ext cx="7726829" cy="2502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179230"/>
            <a:ext cx="7478049" cy="2634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7452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Histogramas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Histograma Bimodal</a:t>
            </a:r>
          </a:p>
          <a:p>
            <a:pPr lvl="1"/>
            <a:r>
              <a:rPr lang="pt-BR" dirty="0"/>
              <a:t>Alto contraste</a:t>
            </a:r>
          </a:p>
          <a:p>
            <a:pPr lvl="1"/>
            <a:r>
              <a:rPr lang="pt-BR" dirty="0"/>
              <a:t>O histograma não traz informação da posição dos pixels na imagem</a:t>
            </a:r>
          </a:p>
          <a:p>
            <a:pPr lvl="1"/>
            <a:endParaRPr lang="en-US" dirty="0"/>
          </a:p>
        </p:txBody>
      </p:sp>
      <p:pic>
        <p:nvPicPr>
          <p:cNvPr id="24578" name="Picture 2" descr="http://what-when-how.com/wp-content/uploads/2011/09/tmp17F83_thumb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81" b="9371"/>
          <a:stretch/>
        </p:blipFill>
        <p:spPr bwMode="auto">
          <a:xfrm>
            <a:off x="1691680" y="3590041"/>
            <a:ext cx="5411445" cy="271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08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Transformações de Intensidade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Ou “transformações nos níveis de cinza”</a:t>
            </a:r>
          </a:p>
          <a:p>
            <a:pPr lvl="1"/>
            <a:r>
              <a:rPr lang="pt-BR" dirty="0"/>
              <a:t>Seja </a:t>
            </a:r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dirty="0"/>
              <a:t> o nível de cinza dos pixels na imagem a ser processada e: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Uma transformada de intensidade é a função do tipo: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Tal que:</a:t>
            </a:r>
          </a:p>
          <a:p>
            <a:pPr lvl="2"/>
            <a:r>
              <a:rPr lang="pt-BR" dirty="0"/>
              <a:t>Devem retornar um único valor para cada valor distinto de </a:t>
            </a:r>
            <a:r>
              <a:rPr lang="pt-BR" i="1" dirty="0"/>
              <a:t>f</a:t>
            </a:r>
            <a:r>
              <a:rPr lang="pt-BR" dirty="0"/>
              <a:t> e devem crescer </a:t>
            </a:r>
            <a:r>
              <a:rPr lang="pt-BR" dirty="0" err="1"/>
              <a:t>monotonicamente</a:t>
            </a:r>
            <a:r>
              <a:rPr lang="pt-BR" dirty="0"/>
              <a:t> no intervalo.</a:t>
            </a:r>
            <a:endParaRPr lang="en-US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341933"/>
              </p:ext>
            </p:extLst>
          </p:nvPr>
        </p:nvGraphicFramePr>
        <p:xfrm>
          <a:off x="2465388" y="2794000"/>
          <a:ext cx="4267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828800" imgH="457200" progId="Equation.3">
                  <p:embed/>
                </p:oleObj>
              </mc:Choice>
              <mc:Fallback>
                <p:oleObj name="Equação" r:id="rId2" imgW="1828800" imgH="4572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2794000"/>
                        <a:ext cx="42672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070119"/>
              </p:ext>
            </p:extLst>
          </p:nvPr>
        </p:nvGraphicFramePr>
        <p:xfrm>
          <a:off x="3635375" y="4284663"/>
          <a:ext cx="175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609480" imgH="203040" progId="Equation.3">
                  <p:embed/>
                </p:oleObj>
              </mc:Choice>
              <mc:Fallback>
                <p:oleObj name="Equação" r:id="rId4" imgW="609480" imgH="20304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284663"/>
                        <a:ext cx="175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030513"/>
              </p:ext>
            </p:extLst>
          </p:nvPr>
        </p:nvGraphicFramePr>
        <p:xfrm>
          <a:off x="2846388" y="5921375"/>
          <a:ext cx="388461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714320" imgH="203040" progId="Equation.3">
                  <p:embed/>
                </p:oleObj>
              </mc:Choice>
              <mc:Fallback>
                <p:oleObj name="Equação" r:id="rId6" imgW="1714320" imgH="203040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5921375"/>
                        <a:ext cx="388461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2243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Transformações de Intensidade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As transformações de intensidade podem ser:</a:t>
            </a:r>
          </a:p>
          <a:p>
            <a:pPr lvl="1"/>
            <a:r>
              <a:rPr lang="pt-BR" dirty="0"/>
              <a:t>Lineares: </a:t>
            </a:r>
            <a:r>
              <a:rPr lang="pt-BR" i="1" dirty="0"/>
              <a:t>g = T(f) = c * f + b </a:t>
            </a:r>
          </a:p>
          <a:p>
            <a:pPr lvl="1"/>
            <a:r>
              <a:rPr lang="pt-BR" dirty="0"/>
              <a:t>onde </a:t>
            </a:r>
          </a:p>
          <a:p>
            <a:pPr lvl="2"/>
            <a:r>
              <a:rPr lang="pt-BR" dirty="0"/>
              <a:t>c (Contraste), b (Brilho), f (valor do pixel)</a:t>
            </a:r>
          </a:p>
          <a:p>
            <a:pPr lvl="1"/>
            <a:r>
              <a:rPr lang="pt-BR" dirty="0"/>
              <a:t>Exemplo: </a:t>
            </a:r>
            <a:r>
              <a:rPr lang="pt-BR" i="1" dirty="0"/>
              <a:t>g = 2f + 32</a:t>
            </a:r>
            <a:r>
              <a:rPr lang="pt-BR" dirty="0"/>
              <a:t> </a:t>
            </a:r>
            <a:endParaRPr lang="en-US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067574"/>
              </p:ext>
            </p:extLst>
          </p:nvPr>
        </p:nvGraphicFramePr>
        <p:xfrm>
          <a:off x="4572000" y="4163268"/>
          <a:ext cx="3276600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m de bitmap" r:id="rId2" imgW="2991268" imgH="2352381" progId="PBrush">
                  <p:embed/>
                </p:oleObj>
              </mc:Choice>
              <mc:Fallback>
                <p:oleObj name="Imagem de bitmap" r:id="rId2" imgW="2991268" imgH="2352381" progId="PBrush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163268"/>
                        <a:ext cx="3276600" cy="257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523624"/>
              </p:ext>
            </p:extLst>
          </p:nvPr>
        </p:nvGraphicFramePr>
        <p:xfrm>
          <a:off x="1443608" y="4466828"/>
          <a:ext cx="3200400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m de bitmap" r:id="rId4" imgW="3076190" imgH="2172003" progId="PBrush">
                  <p:embed/>
                </p:oleObj>
              </mc:Choice>
              <mc:Fallback>
                <p:oleObj name="Imagem de bitmap" r:id="rId4" imgW="3076190" imgH="2172003" progId="PBrush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608" y="4466828"/>
                        <a:ext cx="3200400" cy="225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0238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Transformações de Intensidade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As Transformações de Intensidade podem ser:</a:t>
            </a:r>
          </a:p>
          <a:p>
            <a:pPr lvl="1"/>
            <a:r>
              <a:rPr lang="pt-BR" dirty="0"/>
              <a:t>Não-lineares: </a:t>
            </a:r>
          </a:p>
          <a:p>
            <a:pPr lvl="2"/>
            <a:r>
              <a:rPr lang="pt-BR" dirty="0"/>
              <a:t>g = c * log</a:t>
            </a:r>
            <a:r>
              <a:rPr lang="pt-BR" baseline="-25000" dirty="0"/>
              <a:t>2</a:t>
            </a:r>
            <a:r>
              <a:rPr lang="pt-BR" dirty="0"/>
              <a:t>(f + 1)</a:t>
            </a:r>
          </a:p>
          <a:p>
            <a:pPr lvl="2"/>
            <a:r>
              <a:rPr lang="pt-BR" dirty="0"/>
              <a:t>g = c * </a:t>
            </a:r>
            <a:r>
              <a:rPr lang="pt-BR" dirty="0" err="1"/>
              <a:t>exp</a:t>
            </a:r>
            <a:r>
              <a:rPr lang="pt-BR" dirty="0"/>
              <a:t>(f + 1)</a:t>
            </a:r>
          </a:p>
          <a:p>
            <a:pPr lvl="1"/>
            <a:r>
              <a:rPr lang="pt-BR" dirty="0"/>
              <a:t>Normalização: </a:t>
            </a:r>
          </a:p>
          <a:p>
            <a:pPr lvl="2"/>
            <a:r>
              <a:rPr lang="pt-BR" dirty="0" err="1"/>
              <a:t>gn</a:t>
            </a:r>
            <a:r>
              <a:rPr lang="pt-BR" dirty="0"/>
              <a:t>= g/</a:t>
            </a:r>
            <a:r>
              <a:rPr lang="pt-BR" dirty="0" err="1"/>
              <a:t>Nmax</a:t>
            </a:r>
            <a:r>
              <a:rPr lang="pt-BR" dirty="0"/>
              <a:t> </a:t>
            </a:r>
            <a:r>
              <a:rPr lang="pt-BR" sz="2100" dirty="0">
                <a:sym typeface="Wingdings" pitchFamily="2" charset="2"/>
              </a:rPr>
              <a:t></a:t>
            </a:r>
            <a:r>
              <a:rPr lang="pt-BR" dirty="0"/>
              <a:t> </a:t>
            </a:r>
            <a:r>
              <a:rPr lang="pt-BR" dirty="0" err="1"/>
              <a:t>gn</a:t>
            </a:r>
            <a:r>
              <a:rPr lang="pt-BR" dirty="0"/>
              <a:t>= g/255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Exemplo: g = 31,875.log</a:t>
            </a:r>
            <a:r>
              <a:rPr lang="pt-BR" baseline="-25000" dirty="0"/>
              <a:t>2</a:t>
            </a:r>
            <a:r>
              <a:rPr lang="pt-BR" dirty="0"/>
              <a:t>(f + 1)</a:t>
            </a:r>
          </a:p>
          <a:p>
            <a:pPr lvl="1"/>
            <a:endParaRPr lang="pt-BR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256603"/>
              </p:ext>
            </p:extLst>
          </p:nvPr>
        </p:nvGraphicFramePr>
        <p:xfrm>
          <a:off x="5868144" y="2178099"/>
          <a:ext cx="3200400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m de bitmap" r:id="rId2" imgW="3076190" imgH="2172003" progId="PBrush">
                  <p:embed/>
                </p:oleObj>
              </mc:Choice>
              <mc:Fallback>
                <p:oleObj name="Imagem de bitmap" r:id="rId2" imgW="3076190" imgH="2172003" progId="PBrush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2178099"/>
                        <a:ext cx="3200400" cy="225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472918"/>
              </p:ext>
            </p:extLst>
          </p:nvPr>
        </p:nvGraphicFramePr>
        <p:xfrm>
          <a:off x="6012160" y="4365104"/>
          <a:ext cx="2985864" cy="2338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m de bitmap" r:id="rId4" imgW="2857899" imgH="2238687" progId="PBrush">
                  <p:embed/>
                </p:oleObj>
              </mc:Choice>
              <mc:Fallback>
                <p:oleObj name="Imagem de bitmap" r:id="rId4" imgW="2857899" imgH="2238687" progId="PBrush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160" y="4365104"/>
                        <a:ext cx="2985864" cy="2338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0550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Transformações de Intensidade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Escala log: </a:t>
            </a:r>
            <a:r>
              <a:rPr lang="en-US" dirty="0" err="1"/>
              <a:t>aumenta</a:t>
            </a:r>
            <a:r>
              <a:rPr lang="en-US" dirty="0"/>
              <a:t> o </a:t>
            </a:r>
            <a:r>
              <a:rPr lang="en-US" dirty="0" err="1"/>
              <a:t>contraste</a:t>
            </a:r>
            <a:endParaRPr lang="en-US" dirty="0"/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Escala </a:t>
            </a:r>
            <a:r>
              <a:rPr lang="pt-BR" dirty="0" err="1"/>
              <a:t>exp</a:t>
            </a:r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373" y="4669110"/>
            <a:ext cx="433387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020" y="2143497"/>
            <a:ext cx="401955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5084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Transformações de Intensidade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62088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Alterações Globais no Brilho</a:t>
            </a:r>
          </a:p>
          <a:p>
            <a:pPr lvl="1"/>
            <a:r>
              <a:rPr lang="pt-BR" dirty="0"/>
              <a:t>Clarear ou escurecer uma Imagem</a:t>
            </a:r>
          </a:p>
          <a:p>
            <a:pPr lvl="1"/>
            <a:r>
              <a:rPr lang="pt-BR" dirty="0"/>
              <a:t>Somar ou subtrair uma constante em todos os pixels da imagem.</a:t>
            </a:r>
          </a:p>
          <a:p>
            <a:pPr lvl="2"/>
            <a:r>
              <a:rPr lang="pt-BR" dirty="0"/>
              <a:t>0 </a:t>
            </a:r>
            <a:r>
              <a:rPr lang="pt-BR" sz="2400" dirty="0">
                <a:sym typeface="Wingdings" pitchFamily="2" charset="2"/>
              </a:rPr>
              <a:t> </a:t>
            </a:r>
            <a:r>
              <a:rPr lang="pt-BR" dirty="0"/>
              <a:t>Preto</a:t>
            </a:r>
          </a:p>
          <a:p>
            <a:pPr lvl="2"/>
            <a:r>
              <a:rPr lang="pt-BR" dirty="0" err="1"/>
              <a:t>max</a:t>
            </a:r>
            <a:r>
              <a:rPr lang="pt-BR" dirty="0"/>
              <a:t> </a:t>
            </a:r>
            <a:r>
              <a:rPr lang="pt-BR" sz="2400" dirty="0">
                <a:sym typeface="Wingdings" pitchFamily="2" charset="2"/>
              </a:rPr>
              <a:t> </a:t>
            </a:r>
            <a:r>
              <a:rPr lang="pt-BR" dirty="0"/>
              <a:t>Branco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332318"/>
              </p:ext>
            </p:extLst>
          </p:nvPr>
        </p:nvGraphicFramePr>
        <p:xfrm>
          <a:off x="1258888" y="4025726"/>
          <a:ext cx="7010400" cy="278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m de Bitmap" r:id="rId2" imgW="4838760" imgH="1924200" progId="Paint.Picture">
                  <p:embed/>
                </p:oleObj>
              </mc:Choice>
              <mc:Fallback>
                <p:oleObj name="Imagem de Bitmap" r:id="rId2" imgW="4838760" imgH="1924200" progId="Paint.Picture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025726"/>
                        <a:ext cx="7010400" cy="278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8202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764904"/>
          </a:xfrm>
        </p:spPr>
        <p:txBody>
          <a:bodyPr>
            <a:normAutofit/>
          </a:bodyPr>
          <a:lstStyle/>
          <a:p>
            <a:r>
              <a:rPr lang="pt-BR" dirty="0"/>
              <a:t>Técnica onde se procura redistribuir os valores dos níveis de cinza em uma imagem, para se obter um histograma uniforme.</a:t>
            </a:r>
          </a:p>
          <a:p>
            <a:pPr lvl="1"/>
            <a:r>
              <a:rPr lang="pt-BR" dirty="0"/>
              <a:t>Visa aumentar o intervalo dinâmico de uma imagem melhorando o contraste de imagens adquiridas sob péssimas condições de iluminação</a:t>
            </a:r>
          </a:p>
        </p:txBody>
      </p:sp>
      <p:pic>
        <p:nvPicPr>
          <p:cNvPr id="5" name="Picture 2" descr="http://homepages.inf.ed.ac.uk/rbf/HIPR2/histeqb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4032448"/>
            <a:ext cx="3469170" cy="2852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6447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É uma transformação global: </a:t>
            </a:r>
            <a:r>
              <a:rPr lang="pt-BR" b="1" i="1" dirty="0"/>
              <a:t>s = T(r)</a:t>
            </a:r>
          </a:p>
          <a:p>
            <a:pPr lvl="1"/>
            <a:r>
              <a:rPr lang="pt-BR" dirty="0"/>
              <a:t>É útil para comparar cenas que foram adquiridas com iluminação diferente (normaliza a imagem)</a:t>
            </a:r>
          </a:p>
          <a:p>
            <a:pPr lvl="1"/>
            <a:r>
              <a:rPr lang="pt-BR" dirty="0"/>
              <a:t>Redistribuição das intensidades de cinza na imagem</a:t>
            </a:r>
          </a:p>
          <a:p>
            <a:pPr lvl="1"/>
            <a:r>
              <a:rPr lang="pt-BR" dirty="0"/>
              <a:t>Muitas vezes melhora a qualidade visual da imagem.</a:t>
            </a:r>
          </a:p>
          <a:p>
            <a:pPr lvl="1"/>
            <a:r>
              <a:rPr lang="pt-BR" dirty="0"/>
              <a:t>Pré-processamento para outras técnicas.</a:t>
            </a:r>
          </a:p>
        </p:txBody>
      </p:sp>
    </p:spTree>
    <p:extLst>
      <p:ext uri="{BB962C8B-B14F-4D97-AF65-F5344CB8AC3E}">
        <p14:creationId xmlns:p14="http://schemas.microsoft.com/office/powerpoint/2010/main" val="835170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51840" cy="4277072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A função de transformação </a:t>
            </a:r>
            <a:r>
              <a:rPr lang="pt-BR" i="1" dirty="0"/>
              <a:t>s =T(r)</a:t>
            </a:r>
            <a:r>
              <a:rPr lang="pt-BR" dirty="0"/>
              <a:t> usada para equalizar um histograma deve satisfazer as seguinte condições</a:t>
            </a:r>
          </a:p>
          <a:p>
            <a:pPr lvl="1"/>
            <a:r>
              <a:rPr lang="pt-BR" dirty="0"/>
              <a:t>Ser estritamente </a:t>
            </a:r>
            <a:r>
              <a:rPr lang="pt-BR" dirty="0" err="1"/>
              <a:t>monotonicamente</a:t>
            </a:r>
            <a:r>
              <a:rPr lang="pt-BR" dirty="0"/>
              <a:t> crescente no intervalo </a:t>
            </a:r>
            <a:r>
              <a:rPr lang="pt-BR" i="1" dirty="0"/>
              <a:t>0 </a:t>
            </a:r>
            <a:r>
              <a:rPr lang="pt-BR" i="1" dirty="0">
                <a:latin typeface="Times New Roman"/>
                <a:cs typeface="Times New Roman"/>
              </a:rPr>
              <a:t>≤ r ≤</a:t>
            </a:r>
            <a:r>
              <a:rPr lang="pt-BR" i="1" dirty="0"/>
              <a:t> L-1. </a:t>
            </a:r>
            <a:r>
              <a:rPr lang="pt-BR" dirty="0"/>
              <a:t>Esta condição garante que a saída nunca será menor do que a entrada, o que evita artefatos na imagem processada.</a:t>
            </a:r>
          </a:p>
          <a:p>
            <a:pPr lvl="1"/>
            <a:r>
              <a:rPr lang="pt-BR" dirty="0"/>
              <a:t>O intervalo de saída de intensidades deve ser o mesmo do de entrada</a:t>
            </a:r>
          </a:p>
          <a:p>
            <a:r>
              <a:rPr lang="pt-BR" dirty="0"/>
              <a:t>A transformada inversa também deve satisfazer essas condições</a:t>
            </a:r>
          </a:p>
          <a:p>
            <a:pPr lvl="1"/>
            <a:r>
              <a:rPr lang="pt-BR" i="1" dirty="0"/>
              <a:t>r = T</a:t>
            </a:r>
            <a:r>
              <a:rPr lang="pt-BR" i="1" baseline="30000" dirty="0"/>
              <a:t>-1</a:t>
            </a:r>
            <a:r>
              <a:rPr lang="pt-BR" i="1" dirty="0"/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880304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51840" cy="4277072"/>
          </a:xfrm>
        </p:spPr>
        <p:txBody>
          <a:bodyPr>
            <a:normAutofit/>
          </a:bodyPr>
          <a:lstStyle/>
          <a:p>
            <a:r>
              <a:rPr lang="pt-BR" dirty="0"/>
              <a:t>Funções </a:t>
            </a:r>
          </a:p>
          <a:p>
            <a:pPr lvl="1"/>
            <a:r>
              <a:rPr lang="pt-BR" i="1" dirty="0" err="1"/>
              <a:t>monotonicamente</a:t>
            </a:r>
            <a:r>
              <a:rPr lang="pt-BR" i="1" dirty="0"/>
              <a:t> crescente</a:t>
            </a:r>
            <a:r>
              <a:rPr lang="pt-BR" dirty="0"/>
              <a:t> </a:t>
            </a:r>
          </a:p>
          <a:p>
            <a:pPr lvl="1"/>
            <a:r>
              <a:rPr lang="pt-BR" i="1" dirty="0"/>
              <a:t>estritamente </a:t>
            </a:r>
            <a:r>
              <a:rPr lang="pt-BR" i="1" dirty="0" err="1"/>
              <a:t>monotonicamente</a:t>
            </a:r>
            <a:r>
              <a:rPr lang="pt-BR" i="1" dirty="0"/>
              <a:t> crescente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081870"/>
            <a:ext cx="6588224" cy="3443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ímbolo de &quot;Não Permitido&quot; 5">
            <a:extLst>
              <a:ext uri="{FF2B5EF4-FFF2-40B4-BE49-F238E27FC236}">
                <a16:creationId xmlns:a16="http://schemas.microsoft.com/office/drawing/2014/main" id="{05CA37FD-C05F-4E4C-9DBD-D4307A57BBC0}"/>
              </a:ext>
            </a:extLst>
          </p:cNvPr>
          <p:cNvSpPr/>
          <p:nvPr/>
        </p:nvSpPr>
        <p:spPr>
          <a:xfrm>
            <a:off x="2123728" y="3645024"/>
            <a:ext cx="2448272" cy="2304256"/>
          </a:xfrm>
          <a:prstGeom prst="noSmoking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189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Utiliza uma função </a:t>
            </a:r>
            <a:r>
              <a:rPr lang="pt-BR" i="1" dirty="0"/>
              <a:t>T(</a:t>
            </a:r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i="1" dirty="0"/>
              <a:t>) </a:t>
            </a:r>
            <a:r>
              <a:rPr lang="pt-BR" dirty="0"/>
              <a:t>auxiliar para redistribuir os valores dos níveis de cinza em uma imagem</a:t>
            </a:r>
          </a:p>
          <a:p>
            <a:pPr lvl="1"/>
            <a:r>
              <a:rPr lang="pt-BR" dirty="0"/>
              <a:t>Exemplo: Função de distribuição acumulada (</a:t>
            </a:r>
            <a:r>
              <a:rPr lang="pt-BR" i="1" dirty="0"/>
              <a:t>cdf, </a:t>
            </a:r>
            <a:r>
              <a:rPr lang="pt-BR" i="1" dirty="0" err="1"/>
              <a:t>Cumulative</a:t>
            </a:r>
            <a:r>
              <a:rPr lang="pt-BR" i="1" dirty="0"/>
              <a:t> </a:t>
            </a:r>
            <a:r>
              <a:rPr lang="pt-BR" i="1" dirty="0" err="1"/>
              <a:t>Distribution</a:t>
            </a:r>
            <a:r>
              <a:rPr lang="pt-BR" i="1" dirty="0"/>
              <a:t> </a:t>
            </a:r>
            <a:r>
              <a:rPr lang="pt-BR" i="1" dirty="0" err="1"/>
              <a:t>Function</a:t>
            </a:r>
            <a:r>
              <a:rPr lang="pt-BR" dirty="0"/>
              <a:t>)</a:t>
            </a:r>
            <a:endParaRPr lang="en-US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145398"/>
              </p:ext>
            </p:extLst>
          </p:nvPr>
        </p:nvGraphicFramePr>
        <p:xfrm>
          <a:off x="2286000" y="4164013"/>
          <a:ext cx="4419600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892160" imgH="901440" progId="Equation.3">
                  <p:embed/>
                </p:oleObj>
              </mc:Choice>
              <mc:Fallback>
                <p:oleObj name="Equação" r:id="rId2" imgW="1892160" imgH="90144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164013"/>
                        <a:ext cx="4419600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3554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Função de distribuição acumulada</a:t>
            </a:r>
          </a:p>
          <a:p>
            <a:pPr lvl="1"/>
            <a:r>
              <a:rPr lang="pt-BR" dirty="0"/>
              <a:t>Cada bin representa a soma de todos os </a:t>
            </a:r>
            <a:r>
              <a:rPr lang="pt-BR" i="1" dirty="0" err="1"/>
              <a:t>bins</a:t>
            </a:r>
            <a:r>
              <a:rPr lang="pt-BR" dirty="0"/>
              <a:t> anteriores (ele incluso)</a:t>
            </a:r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714999"/>
            <a:ext cx="2940045" cy="2257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732" y="3645024"/>
            <a:ext cx="2808312" cy="2341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832103"/>
            <a:ext cx="1967100" cy="19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5869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877628" cy="4997152"/>
          </a:xfrm>
        </p:spPr>
        <p:txBody>
          <a:bodyPr>
            <a:normAutofit/>
          </a:bodyPr>
          <a:lstStyle/>
          <a:p>
            <a:r>
              <a:rPr lang="pt-BR" dirty="0"/>
              <a:t>Aumenta o contraste geral na imagem espalhando a distribuição de níveis de cinza</a:t>
            </a:r>
          </a:p>
          <a:p>
            <a:r>
              <a:rPr lang="pt-BR" dirty="0"/>
              <a:t>Exemplo</a:t>
            </a:r>
          </a:p>
          <a:p>
            <a:pPr lvl="1"/>
            <a:r>
              <a:rPr lang="pt-BR" dirty="0"/>
              <a:t>Dada uma imagem de n x m pixels e “L” níveis de cinza. </a:t>
            </a:r>
          </a:p>
          <a:p>
            <a:pPr lvl="1"/>
            <a:r>
              <a:rPr lang="pt-BR" dirty="0"/>
              <a:t>Número ideal de pixels em cada nível</a:t>
            </a:r>
          </a:p>
          <a:p>
            <a:pPr lvl="2"/>
            <a:r>
              <a:rPr lang="pt-BR" i="1" dirty="0"/>
              <a:t>I =  (n x m) / L</a:t>
            </a:r>
            <a:endParaRPr lang="en-US" i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621" y="2276871"/>
            <a:ext cx="3990287" cy="3750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7384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Considerando uma função de distribuição uniforme, a equalização pode ser obtida fazendo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imagem processada é obtida percorrendo-se toda a imagem e, para cada pixel com intensidade </a:t>
            </a:r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dirty="0"/>
              <a:t>, substitui-lo por </a:t>
            </a:r>
            <a:r>
              <a:rPr lang="pt-BR" i="1" dirty="0" err="1"/>
              <a:t>s</a:t>
            </a:r>
            <a:r>
              <a:rPr lang="pt-BR" i="1" baseline="-25000" dirty="0" err="1"/>
              <a:t>k</a:t>
            </a:r>
            <a:endParaRPr lang="pt-BR" i="1" baseline="-25000" dirty="0"/>
          </a:p>
          <a:p>
            <a:endParaRPr lang="pt-BR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366656"/>
              </p:ext>
            </p:extLst>
          </p:nvPr>
        </p:nvGraphicFramePr>
        <p:xfrm>
          <a:off x="1916113" y="2549698"/>
          <a:ext cx="5159375" cy="210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209680" imgH="901440" progId="Equation.3">
                  <p:embed/>
                </p:oleObj>
              </mc:Choice>
              <mc:Fallback>
                <p:oleObj name="Equação" r:id="rId2" imgW="2209680" imgH="90144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2549698"/>
                        <a:ext cx="5159375" cy="210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8637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276872"/>
            <a:ext cx="6875090" cy="4235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7044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67544" y="1878647"/>
            <a:ext cx="461665" cy="2054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none">
            <a:spAutoFit/>
          </a:bodyPr>
          <a:lstStyle/>
          <a:p>
            <a:r>
              <a:rPr lang="pt-BR" b="0" dirty="0"/>
              <a:t>a) Imagem Original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956376" y="1511687"/>
            <a:ext cx="461665" cy="2349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none">
            <a:spAutoFit/>
          </a:bodyPr>
          <a:lstStyle/>
          <a:p>
            <a:r>
              <a:rPr lang="pt-BR" b="0" dirty="0"/>
              <a:t>b) Histograma original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467544" y="4353535"/>
            <a:ext cx="461665" cy="2387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none">
            <a:spAutoFit/>
          </a:bodyPr>
          <a:lstStyle/>
          <a:p>
            <a:r>
              <a:rPr lang="pt-BR" b="0"/>
              <a:t>c) Imagem Equalizada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7956376" y="4066470"/>
            <a:ext cx="461665" cy="2746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none">
            <a:spAutoFit/>
          </a:bodyPr>
          <a:lstStyle/>
          <a:p>
            <a:r>
              <a:rPr lang="pt-BR" b="0"/>
              <a:t>d) Histograma Equalizado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851" y="1394036"/>
            <a:ext cx="6567501" cy="269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851" y="4152894"/>
            <a:ext cx="6567501" cy="2673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815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Considere uma imagem de:</a:t>
            </a:r>
          </a:p>
          <a:p>
            <a:pPr lvl="1"/>
            <a:r>
              <a:rPr lang="pt-BR" dirty="0"/>
              <a:t>3 bits (L=8)</a:t>
            </a:r>
          </a:p>
          <a:p>
            <a:pPr lvl="1"/>
            <a:r>
              <a:rPr lang="pt-BR" dirty="0"/>
              <a:t>dimensão 64x64 (n = 4096)</a:t>
            </a:r>
          </a:p>
          <a:p>
            <a:pPr lvl="1"/>
            <a:r>
              <a:rPr lang="pt-BR" dirty="0"/>
              <a:t>distribuição de intensidade conforme tabela</a:t>
            </a:r>
          </a:p>
          <a:p>
            <a:endParaRPr lang="en-US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103392"/>
              </p:ext>
            </p:extLst>
          </p:nvPr>
        </p:nvGraphicFramePr>
        <p:xfrm>
          <a:off x="1043608" y="3521536"/>
          <a:ext cx="345638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r</a:t>
                      </a:r>
                      <a:r>
                        <a:rPr lang="pt-BR" i="1" baseline="-25000" dirty="0" err="1"/>
                        <a:t>k</a:t>
                      </a:r>
                      <a:endParaRPr lang="pt-BR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n</a:t>
                      </a:r>
                      <a:r>
                        <a:rPr lang="pt-BR" i="1" baseline="-25000" dirty="0" err="1"/>
                        <a:t>k</a:t>
                      </a:r>
                      <a:endParaRPr lang="pt-BR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P</a:t>
                      </a:r>
                      <a:r>
                        <a:rPr lang="pt-BR" i="1" baseline="-25000" dirty="0" err="1"/>
                        <a:t>r</a:t>
                      </a:r>
                      <a:r>
                        <a:rPr lang="pt-BR" i="1" dirty="0"/>
                        <a:t>(</a:t>
                      </a:r>
                      <a:r>
                        <a:rPr lang="pt-BR" i="1" dirty="0" err="1"/>
                        <a:t>r</a:t>
                      </a:r>
                      <a:r>
                        <a:rPr lang="pt-BR" i="1" baseline="-25000" dirty="0" err="1"/>
                        <a:t>k</a:t>
                      </a:r>
                      <a:r>
                        <a:rPr lang="pt-BR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3933056"/>
            <a:ext cx="3447329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82721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Calculando a </a:t>
            </a:r>
          </a:p>
          <a:p>
            <a:pPr lvl="1"/>
            <a:r>
              <a:rPr lang="pt-BR" dirty="0"/>
              <a:t>Função de distribuição acumulada (</a:t>
            </a:r>
            <a:r>
              <a:rPr lang="pt-BR" i="1" dirty="0"/>
              <a:t>cdf )</a:t>
            </a:r>
          </a:p>
          <a:p>
            <a:endParaRPr lang="en-US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600525"/>
              </p:ext>
            </p:extLst>
          </p:nvPr>
        </p:nvGraphicFramePr>
        <p:xfrm>
          <a:off x="2915816" y="3114334"/>
          <a:ext cx="31683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r</a:t>
                      </a:r>
                      <a:r>
                        <a:rPr lang="pt-BR" i="1" baseline="-25000" dirty="0" err="1"/>
                        <a:t>k</a:t>
                      </a:r>
                      <a:endParaRPr lang="pt-BR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n</a:t>
                      </a:r>
                      <a:r>
                        <a:rPr lang="pt-BR" i="1" baseline="-25000" dirty="0" err="1"/>
                        <a:t>k</a:t>
                      </a:r>
                      <a:endParaRPr lang="pt-BR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P</a:t>
                      </a:r>
                      <a:r>
                        <a:rPr lang="pt-BR" i="1" baseline="-25000" dirty="0" err="1"/>
                        <a:t>r</a:t>
                      </a:r>
                      <a:r>
                        <a:rPr lang="pt-BR" i="1" dirty="0"/>
                        <a:t>(</a:t>
                      </a:r>
                      <a:r>
                        <a:rPr lang="pt-BR" i="1" dirty="0" err="1"/>
                        <a:t>r</a:t>
                      </a:r>
                      <a:r>
                        <a:rPr lang="pt-BR" i="1" baseline="-25000" dirty="0" err="1"/>
                        <a:t>k</a:t>
                      </a:r>
                      <a:r>
                        <a:rPr lang="pt-BR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/>
                        <a:t>cdf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6150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Calculando a </a:t>
            </a:r>
          </a:p>
          <a:p>
            <a:pPr lvl="1"/>
            <a:r>
              <a:rPr lang="pt-BR" i="1" dirty="0" err="1"/>
              <a:t>T</a:t>
            </a:r>
            <a:r>
              <a:rPr lang="pt-BR" i="1" baseline="-25000" dirty="0" err="1"/>
              <a:t>r</a:t>
            </a:r>
            <a:r>
              <a:rPr lang="pt-BR" i="1" dirty="0"/>
              <a:t>(</a:t>
            </a:r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i="1" dirty="0"/>
              <a:t>)</a:t>
            </a:r>
            <a:r>
              <a:rPr lang="pt-BR" dirty="0"/>
              <a:t> para o intervalo [0,7]</a:t>
            </a:r>
          </a:p>
          <a:p>
            <a:endParaRPr lang="en-US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811039"/>
              </p:ext>
            </p:extLst>
          </p:nvPr>
        </p:nvGraphicFramePr>
        <p:xfrm>
          <a:off x="251520" y="3114334"/>
          <a:ext cx="532859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r</a:t>
                      </a:r>
                      <a:r>
                        <a:rPr lang="pt-BR" i="1" baseline="-25000" dirty="0" err="1"/>
                        <a:t>k</a:t>
                      </a:r>
                      <a:endParaRPr lang="pt-BR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n</a:t>
                      </a:r>
                      <a:r>
                        <a:rPr lang="pt-BR" i="1" baseline="-25000" dirty="0" err="1"/>
                        <a:t>k</a:t>
                      </a:r>
                      <a:endParaRPr lang="pt-BR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P</a:t>
                      </a:r>
                      <a:r>
                        <a:rPr lang="pt-BR" i="1" baseline="-25000" dirty="0" err="1"/>
                        <a:t>r</a:t>
                      </a:r>
                      <a:r>
                        <a:rPr lang="pt-BR" i="1" dirty="0"/>
                        <a:t>(</a:t>
                      </a:r>
                      <a:r>
                        <a:rPr lang="pt-BR" i="1" dirty="0" err="1"/>
                        <a:t>r</a:t>
                      </a:r>
                      <a:r>
                        <a:rPr lang="pt-BR" i="1" baseline="-25000" dirty="0" err="1"/>
                        <a:t>k</a:t>
                      </a:r>
                      <a:r>
                        <a:rPr lang="pt-BR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/>
                        <a:t>cdf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T</a:t>
                      </a:r>
                      <a:r>
                        <a:rPr lang="pt-BR" i="1" baseline="-25000" dirty="0" err="1"/>
                        <a:t>r</a:t>
                      </a:r>
                      <a:r>
                        <a:rPr lang="pt-BR" i="1" dirty="0"/>
                        <a:t>(</a:t>
                      </a:r>
                      <a:r>
                        <a:rPr lang="pt-BR" i="1" dirty="0" err="1"/>
                        <a:t>r</a:t>
                      </a:r>
                      <a:r>
                        <a:rPr lang="pt-BR" i="1" baseline="-25000" dirty="0" err="1"/>
                        <a:t>k</a:t>
                      </a:r>
                      <a:r>
                        <a:rPr lang="pt-BR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 * 0.19 = 1.33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 * 0.44 = 3.08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 * 0.65 = 4.55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5.67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6.23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6.65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6.86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7.00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88632" y="3429000"/>
            <a:ext cx="3347864" cy="2867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93326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Calculando a </a:t>
            </a:r>
            <a:r>
              <a:rPr lang="pt-BR" i="1" dirty="0" err="1"/>
              <a:t>s</a:t>
            </a:r>
            <a:r>
              <a:rPr lang="pt-BR" i="1" baseline="-25000" dirty="0" err="1"/>
              <a:t>k</a:t>
            </a:r>
            <a:r>
              <a:rPr lang="pt-BR" dirty="0"/>
              <a:t> e </a:t>
            </a:r>
            <a:r>
              <a:rPr lang="pt-BR" i="1" dirty="0" err="1"/>
              <a:t>P</a:t>
            </a:r>
            <a:r>
              <a:rPr lang="pt-BR" i="1" baseline="-25000" dirty="0" err="1"/>
              <a:t>s</a:t>
            </a:r>
            <a:r>
              <a:rPr lang="pt-BR" i="1" dirty="0"/>
              <a:t>(</a:t>
            </a:r>
            <a:r>
              <a:rPr lang="pt-BR" i="1" dirty="0" err="1"/>
              <a:t>s</a:t>
            </a:r>
            <a:r>
              <a:rPr lang="pt-BR" i="1" baseline="-25000" dirty="0" err="1"/>
              <a:t>k</a:t>
            </a:r>
            <a:r>
              <a:rPr lang="pt-BR" i="1" dirty="0"/>
              <a:t>)</a:t>
            </a:r>
            <a:endParaRPr lang="en-US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591757"/>
              </p:ext>
            </p:extLst>
          </p:nvPr>
        </p:nvGraphicFramePr>
        <p:xfrm>
          <a:off x="323528" y="2917645"/>
          <a:ext cx="532859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1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1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1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12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r</a:t>
                      </a:r>
                      <a:r>
                        <a:rPr lang="pt-BR" i="1" baseline="-25000" dirty="0" err="1"/>
                        <a:t>k</a:t>
                      </a:r>
                      <a:endParaRPr lang="pt-BR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n</a:t>
                      </a:r>
                      <a:r>
                        <a:rPr lang="pt-BR" i="1" baseline="-25000" dirty="0" err="1"/>
                        <a:t>k</a:t>
                      </a:r>
                      <a:endParaRPr lang="pt-BR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P</a:t>
                      </a:r>
                      <a:r>
                        <a:rPr lang="pt-BR" i="1" baseline="-25000" dirty="0" err="1"/>
                        <a:t>r</a:t>
                      </a:r>
                      <a:r>
                        <a:rPr lang="pt-BR" i="1" dirty="0"/>
                        <a:t>(</a:t>
                      </a:r>
                      <a:r>
                        <a:rPr lang="pt-BR" i="1" dirty="0" err="1"/>
                        <a:t>r</a:t>
                      </a:r>
                      <a:r>
                        <a:rPr lang="pt-BR" i="1" baseline="-25000" dirty="0" err="1"/>
                        <a:t>k</a:t>
                      </a:r>
                      <a:r>
                        <a:rPr lang="pt-BR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/>
                        <a:t>cdf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T</a:t>
                      </a:r>
                      <a:r>
                        <a:rPr lang="pt-BR" i="1" baseline="-25000" dirty="0" err="1"/>
                        <a:t>r</a:t>
                      </a:r>
                      <a:r>
                        <a:rPr lang="pt-BR" i="1" dirty="0"/>
                        <a:t>(</a:t>
                      </a:r>
                      <a:r>
                        <a:rPr lang="pt-BR" i="1" dirty="0" err="1"/>
                        <a:t>r</a:t>
                      </a:r>
                      <a:r>
                        <a:rPr lang="pt-BR" i="1" baseline="-25000" dirty="0" err="1"/>
                        <a:t>k</a:t>
                      </a:r>
                      <a:r>
                        <a:rPr lang="pt-BR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s</a:t>
                      </a:r>
                      <a:r>
                        <a:rPr lang="pt-BR" i="1" baseline="-25000" dirty="0" err="1"/>
                        <a:t>k</a:t>
                      </a:r>
                      <a:endParaRPr lang="pt-BR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baseline="0" dirty="0" err="1"/>
                        <a:t>P</a:t>
                      </a:r>
                      <a:r>
                        <a:rPr lang="pt-BR" i="1" baseline="-25000" dirty="0" err="1"/>
                        <a:t>s</a:t>
                      </a:r>
                      <a:r>
                        <a:rPr lang="pt-BR" i="1" baseline="0" dirty="0"/>
                        <a:t>(</a:t>
                      </a:r>
                      <a:r>
                        <a:rPr lang="pt-BR" i="1" baseline="0" dirty="0" err="1"/>
                        <a:t>s</a:t>
                      </a:r>
                      <a:r>
                        <a:rPr lang="pt-BR" i="1" baseline="-25000" dirty="0" err="1"/>
                        <a:t>k</a:t>
                      </a:r>
                      <a:r>
                        <a:rPr lang="pt-BR" i="1" baseline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1.33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4.55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5.67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6.23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6.65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6.86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3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7.00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6535" y="4563565"/>
            <a:ext cx="2767465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00" y="2060848"/>
            <a:ext cx="2520280" cy="2053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59525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 1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275" y="2174270"/>
            <a:ext cx="5171021" cy="4559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4180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 2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594" y="2132856"/>
            <a:ext cx="5291694" cy="4680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09636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 3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414" y="2129983"/>
            <a:ext cx="5239866" cy="461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09636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 4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606" y="2132856"/>
            <a:ext cx="5262674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09636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do </a:t>
            </a:r>
            <a:r>
              <a:rPr lang="en-US" dirty="0" err="1"/>
              <a:t>Histograma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Histogramas acumulados (Exemplos 1-4)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287860"/>
            <a:ext cx="5600700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09636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Equalização de histograma em imagens coloridas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Basicamente, o processo de equalização é aplicado a cada canal da imagem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 descr="http://www.ceremade.dauphine.fr/~peyre/numerical-tour/tours/graphics_8_histograms/index_18.png"/>
          <p:cNvPicPr>
            <a:picLocks noChangeAspect="1" noChangeArrowheads="1"/>
          </p:cNvPicPr>
          <p:nvPr/>
        </p:nvPicPr>
        <p:blipFill rotWithShape="1">
          <a:blip r:embed="rId2" cstate="print"/>
          <a:srcRect l="20227" t="4838" r="15048" b="8091"/>
          <a:stretch/>
        </p:blipFill>
        <p:spPr bwMode="auto">
          <a:xfrm>
            <a:off x="1229063" y="2996952"/>
            <a:ext cx="2982897" cy="3009531"/>
          </a:xfrm>
          <a:prstGeom prst="rect">
            <a:avLst/>
          </a:prstGeom>
          <a:noFill/>
        </p:spPr>
      </p:pic>
      <p:pic>
        <p:nvPicPr>
          <p:cNvPr id="5" name="Picture 4" descr="http://www.ceremade.dauphine.fr/~peyre/numerical-tour/tours/graphics_8_histograms/index_21.png"/>
          <p:cNvPicPr>
            <a:picLocks noChangeAspect="1" noChangeArrowheads="1"/>
          </p:cNvPicPr>
          <p:nvPr/>
        </p:nvPicPr>
        <p:blipFill rotWithShape="1">
          <a:blip r:embed="rId3" cstate="print"/>
          <a:srcRect l="19156" t="5587" r="15539" b="7836"/>
          <a:stretch/>
        </p:blipFill>
        <p:spPr bwMode="auto">
          <a:xfrm>
            <a:off x="5051394" y="3008060"/>
            <a:ext cx="3107185" cy="30894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93864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Equalização de histograma em imagens coloridas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No modelo RGB, equalizar o histograma dos diferentes canais pode produzir uma imagem com cores bastante diferentes.</a:t>
            </a:r>
          </a:p>
        </p:txBody>
      </p:sp>
      <p:pic>
        <p:nvPicPr>
          <p:cNvPr id="4" name="Picture 2" descr="http://www.ic.unicamp.br/~cpg/material-didatico/mo442/200101/matlab/entregues/grupo1/lab3/exercicio_3/infrare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310885"/>
            <a:ext cx="2952328" cy="2782409"/>
          </a:xfrm>
          <a:prstGeom prst="rect">
            <a:avLst/>
          </a:prstGeom>
          <a:noFill/>
        </p:spPr>
      </p:pic>
      <p:pic>
        <p:nvPicPr>
          <p:cNvPr id="5" name="Picture 6" descr="http://www.ic.unicamp.br/~cpg/material-didatico/mo442/200101/matlab/entregues/grupo1/lab3/exercicio_3/infrared_eqHSV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310886"/>
            <a:ext cx="2952328" cy="2782410"/>
          </a:xfrm>
          <a:prstGeom prst="rect">
            <a:avLst/>
          </a:prstGeom>
          <a:noFill/>
        </p:spPr>
      </p:pic>
      <p:sp>
        <p:nvSpPr>
          <p:cNvPr id="6" name="CaixaDeTexto 5"/>
          <p:cNvSpPr txBox="1"/>
          <p:nvPr/>
        </p:nvSpPr>
        <p:spPr>
          <a:xfrm>
            <a:off x="0" y="6464369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http://www.ic.unicamp.br/~cpg/material-didatico/mo442/200101/matlab/entregues/grupo1/lab3/exercicio_3/index.html</a:t>
            </a:r>
          </a:p>
        </p:txBody>
      </p:sp>
    </p:spTree>
    <p:extLst>
      <p:ext uri="{BB962C8B-B14F-4D97-AF65-F5344CB8AC3E}">
        <p14:creationId xmlns:p14="http://schemas.microsoft.com/office/powerpoint/2010/main" val="10060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que fazer quando não se quer uma distribuição uniforme dos níveis de cinza, mas sim outro tipo de distribuição?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1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Especificação</a:t>
            </a:r>
            <a:r>
              <a:rPr lang="en-US" dirty="0"/>
              <a:t> de </a:t>
            </a:r>
            <a:r>
              <a:rPr lang="en-US" dirty="0" err="1"/>
              <a:t>histogramas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Ideia</a:t>
            </a:r>
          </a:p>
          <a:p>
            <a:pPr lvl="1"/>
            <a:r>
              <a:rPr lang="pt-BR" dirty="0"/>
              <a:t>Permitir especificar o formato do histograma que a imagem de processada deve ter;</a:t>
            </a:r>
          </a:p>
          <a:p>
            <a:pPr lvl="1"/>
            <a:r>
              <a:rPr lang="pt-BR" dirty="0"/>
              <a:t>Dada a imagem de entrada e um histograma, o objetivo é transformar o histograma da imagem de entrada o mais próximo possível do histograma dado.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6597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Especificação</a:t>
            </a:r>
            <a:r>
              <a:rPr lang="en-US" dirty="0"/>
              <a:t> de </a:t>
            </a:r>
            <a:r>
              <a:rPr lang="en-US" dirty="0" err="1"/>
              <a:t>histogramas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Como fazer isso?</a:t>
            </a:r>
          </a:p>
          <a:p>
            <a:pPr lvl="1"/>
            <a:r>
              <a:rPr lang="pt-BR" dirty="0"/>
              <a:t>Temos que fazer o mapeamento do histograma equalizado da imagem com o do histograma desejado (também equalizado)</a:t>
            </a:r>
          </a:p>
          <a:p>
            <a:pPr lvl="1"/>
            <a:r>
              <a:rPr lang="pt-BR" dirty="0"/>
              <a:t>Notação</a:t>
            </a:r>
          </a:p>
          <a:p>
            <a:pPr lvl="2"/>
            <a:r>
              <a:rPr lang="pt-BR" i="1" dirty="0" err="1"/>
              <a:t>P</a:t>
            </a:r>
            <a:r>
              <a:rPr lang="pt-BR" i="1" baseline="-25000" dirty="0" err="1"/>
              <a:t>r</a:t>
            </a:r>
            <a:r>
              <a:rPr lang="pt-BR" i="1" dirty="0"/>
              <a:t>(</a:t>
            </a:r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i="1" dirty="0"/>
              <a:t>)</a:t>
            </a:r>
            <a:r>
              <a:rPr lang="pt-BR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pt-BR" dirty="0"/>
              <a:t> histograma da imagem de entrada</a:t>
            </a:r>
          </a:p>
          <a:p>
            <a:pPr lvl="2"/>
            <a:r>
              <a:rPr lang="pt-BR" i="1" dirty="0" err="1"/>
              <a:t>P</a:t>
            </a:r>
            <a:r>
              <a:rPr lang="pt-BR" i="1" baseline="-25000" dirty="0" err="1"/>
              <a:t>z</a:t>
            </a:r>
            <a:r>
              <a:rPr lang="pt-BR" i="1" dirty="0"/>
              <a:t>(</a:t>
            </a:r>
            <a:r>
              <a:rPr lang="pt-BR" i="1" dirty="0" err="1"/>
              <a:t>z</a:t>
            </a:r>
            <a:r>
              <a:rPr lang="pt-BR" i="1" baseline="-25000" dirty="0" err="1"/>
              <a:t>q</a:t>
            </a:r>
            <a:r>
              <a:rPr lang="pt-BR" i="1" dirty="0"/>
              <a:t>)</a:t>
            </a:r>
            <a:r>
              <a:rPr lang="pt-BR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pt-BR" dirty="0"/>
              <a:t> histograma especificado</a:t>
            </a:r>
          </a:p>
          <a:p>
            <a:pPr lvl="2"/>
            <a:r>
              <a:rPr lang="pt-BR" i="1" dirty="0"/>
              <a:t>H(</a:t>
            </a:r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i="1" dirty="0"/>
              <a:t>)</a:t>
            </a:r>
            <a:r>
              <a:rPr lang="en-US" dirty="0">
                <a:sym typeface="Wingdings" pitchFamily="2" charset="2"/>
              </a:rPr>
              <a:t> </a:t>
            </a:r>
            <a:r>
              <a:rPr lang="pt-BR" dirty="0"/>
              <a:t> histograma acumulado da imagem de entrada</a:t>
            </a:r>
          </a:p>
          <a:p>
            <a:pPr lvl="2"/>
            <a:r>
              <a:rPr lang="pt-BR" i="1" dirty="0"/>
              <a:t>H(</a:t>
            </a:r>
            <a:r>
              <a:rPr lang="pt-BR" i="1" dirty="0" err="1"/>
              <a:t>z</a:t>
            </a:r>
            <a:r>
              <a:rPr lang="pt-BR" i="1" baseline="-25000" dirty="0" err="1"/>
              <a:t>q</a:t>
            </a:r>
            <a:r>
              <a:rPr lang="pt-BR" i="1" dirty="0"/>
              <a:t>)</a:t>
            </a:r>
            <a:r>
              <a:rPr lang="en-US" dirty="0">
                <a:sym typeface="Wingdings" pitchFamily="2" charset="2"/>
              </a:rPr>
              <a:t> </a:t>
            </a:r>
            <a:r>
              <a:rPr lang="pt-BR" dirty="0"/>
              <a:t> histograma especificado acumulado</a:t>
            </a:r>
          </a:p>
          <a:p>
            <a:pPr lvl="2"/>
            <a:r>
              <a:rPr lang="en-US" sz="2400" i="1" dirty="0" err="1"/>
              <a:t>s</a:t>
            </a:r>
            <a:r>
              <a:rPr lang="en-US" sz="2400" i="1" baseline="-25000" dirty="0" err="1"/>
              <a:t>k</a:t>
            </a:r>
            <a:r>
              <a:rPr lang="en-US" sz="2400" i="1" dirty="0"/>
              <a:t>= T(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k</a:t>
            </a:r>
            <a:r>
              <a:rPr lang="en-US" sz="2400" i="1" dirty="0"/>
              <a:t>)</a:t>
            </a:r>
            <a:r>
              <a:rPr lang="en-US" sz="2400" dirty="0"/>
              <a:t>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pt-BR" sz="2400" dirty="0"/>
              <a:t> </a:t>
            </a:r>
            <a:r>
              <a:rPr lang="en-US" sz="2400" dirty="0" err="1"/>
              <a:t>função</a:t>
            </a:r>
            <a:r>
              <a:rPr lang="en-US" sz="2400" dirty="0"/>
              <a:t> de </a:t>
            </a:r>
            <a:r>
              <a:rPr lang="en-US" sz="2400" dirty="0" err="1"/>
              <a:t>equalização</a:t>
            </a:r>
            <a:endParaRPr lang="en-US" sz="2400" dirty="0"/>
          </a:p>
          <a:p>
            <a:pPr lvl="2"/>
            <a:r>
              <a:rPr lang="en-US" sz="2400" i="1" dirty="0" err="1"/>
              <a:t>v</a:t>
            </a:r>
            <a:r>
              <a:rPr lang="en-US" sz="2400" i="1" baseline="-25000" dirty="0" err="1"/>
              <a:t>t</a:t>
            </a:r>
            <a:r>
              <a:rPr lang="en-US" sz="2400" i="1" dirty="0"/>
              <a:t>= G(</a:t>
            </a:r>
            <a:r>
              <a:rPr lang="en-US" sz="2400" i="1" dirty="0" err="1"/>
              <a:t>z</a:t>
            </a:r>
            <a:r>
              <a:rPr lang="en-US" sz="2400" i="1" baseline="-25000" dirty="0" err="1"/>
              <a:t>q</a:t>
            </a:r>
            <a:r>
              <a:rPr lang="en-US" sz="2400" i="1" dirty="0"/>
              <a:t>)</a:t>
            </a:r>
            <a:r>
              <a:rPr lang="en-US" sz="2400" dirty="0"/>
              <a:t>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pt-BR" sz="2400" dirty="0"/>
              <a:t> </a:t>
            </a:r>
            <a:r>
              <a:rPr lang="en-US" sz="2400" dirty="0" err="1"/>
              <a:t>função</a:t>
            </a:r>
            <a:r>
              <a:rPr lang="en-US" sz="2400" dirty="0"/>
              <a:t> de </a:t>
            </a:r>
            <a:r>
              <a:rPr lang="en-US" sz="2400" dirty="0" err="1"/>
              <a:t>equalização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77192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Especificação</a:t>
            </a:r>
            <a:r>
              <a:rPr lang="en-US" dirty="0"/>
              <a:t> de </a:t>
            </a:r>
            <a:r>
              <a:rPr lang="en-US" dirty="0" err="1"/>
              <a:t>histogramas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294975"/>
            <a:ext cx="6516216" cy="5518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7953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Especificação</a:t>
            </a:r>
            <a:r>
              <a:rPr lang="en-US" dirty="0"/>
              <a:t> de </a:t>
            </a:r>
            <a:r>
              <a:rPr lang="en-US" dirty="0" err="1"/>
              <a:t>histogramas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Converter </a:t>
            </a:r>
            <a:r>
              <a:rPr lang="pt-BR" i="1" dirty="0" err="1"/>
              <a:t>P</a:t>
            </a:r>
            <a:r>
              <a:rPr lang="pt-BR" i="1" baseline="-25000" dirty="0" err="1"/>
              <a:t>r</a:t>
            </a:r>
            <a:r>
              <a:rPr lang="pt-BR" i="1" dirty="0"/>
              <a:t>(</a:t>
            </a:r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i="1" dirty="0"/>
              <a:t>)</a:t>
            </a:r>
            <a:r>
              <a:rPr lang="pt-BR" dirty="0"/>
              <a:t> em </a:t>
            </a:r>
            <a:r>
              <a:rPr lang="pt-BR" i="1" dirty="0" err="1"/>
              <a:t>P</a:t>
            </a:r>
            <a:r>
              <a:rPr lang="pt-BR" i="1" baseline="-25000" dirty="0" err="1"/>
              <a:t>z</a:t>
            </a:r>
            <a:r>
              <a:rPr lang="pt-BR" i="1" dirty="0"/>
              <a:t>(</a:t>
            </a:r>
            <a:r>
              <a:rPr lang="pt-BR" i="1" dirty="0" err="1"/>
              <a:t>z</a:t>
            </a:r>
            <a:r>
              <a:rPr lang="pt-BR" i="1" baseline="-25000" dirty="0" err="1"/>
              <a:t>q</a:t>
            </a:r>
            <a:r>
              <a:rPr lang="pt-BR" i="1" dirty="0"/>
              <a:t>)</a:t>
            </a:r>
            <a:endParaRPr lang="en-US" i="1" dirty="0"/>
          </a:p>
        </p:txBody>
      </p:sp>
      <p:graphicFrame>
        <p:nvGraphicFramePr>
          <p:cNvPr id="4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8077121"/>
              </p:ext>
            </p:extLst>
          </p:nvPr>
        </p:nvGraphicFramePr>
        <p:xfrm>
          <a:off x="889248" y="3264872"/>
          <a:ext cx="7859216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6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93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93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endParaRPr lang="en-US" sz="1400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P</a:t>
                      </a:r>
                      <a:r>
                        <a:rPr lang="en-US" sz="1400" i="1" baseline="-25000" dirty="0"/>
                        <a:t>r</a:t>
                      </a:r>
                      <a:r>
                        <a:rPr lang="en-US" sz="1400" i="1" dirty="0"/>
                        <a:t>(</a:t>
                      </a:r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H(</a:t>
                      </a:r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s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 = T(</a:t>
                      </a:r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e(?)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endParaRPr lang="en-US" sz="1400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P</a:t>
                      </a:r>
                      <a:r>
                        <a:rPr lang="en-US" sz="1400" i="1" baseline="-25000" dirty="0" err="1"/>
                        <a:t>z</a:t>
                      </a:r>
                      <a:r>
                        <a:rPr lang="en-US" sz="1400" i="1" dirty="0"/>
                        <a:t>(</a:t>
                      </a:r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H(</a:t>
                      </a:r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v</a:t>
                      </a:r>
                      <a:r>
                        <a:rPr lang="en-US" sz="1400" i="1" baseline="-25000" dirty="0" err="1"/>
                        <a:t>t</a:t>
                      </a:r>
                      <a:r>
                        <a:rPr lang="en-US" sz="1400" i="1" dirty="0"/>
                        <a:t> = G(</a:t>
                      </a:r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2118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Especificação</a:t>
            </a:r>
            <a:r>
              <a:rPr lang="en-US" dirty="0"/>
              <a:t> de </a:t>
            </a:r>
            <a:r>
              <a:rPr lang="en-US" dirty="0" err="1"/>
              <a:t>histogramas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Calcular os histogramas acumulados e a função de equalização</a:t>
            </a:r>
            <a:endParaRPr lang="en-US" i="1" dirty="0"/>
          </a:p>
        </p:txBody>
      </p:sp>
      <p:graphicFrame>
        <p:nvGraphicFramePr>
          <p:cNvPr id="4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08871"/>
              </p:ext>
            </p:extLst>
          </p:nvPr>
        </p:nvGraphicFramePr>
        <p:xfrm>
          <a:off x="889248" y="3264872"/>
          <a:ext cx="7859216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6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93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93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endParaRPr lang="en-US" sz="1400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P</a:t>
                      </a:r>
                      <a:r>
                        <a:rPr lang="en-US" sz="1400" i="1" baseline="-25000" dirty="0"/>
                        <a:t>r</a:t>
                      </a:r>
                      <a:r>
                        <a:rPr lang="en-US" sz="1400" i="1" dirty="0"/>
                        <a:t>(</a:t>
                      </a:r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H(</a:t>
                      </a:r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s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 = T(</a:t>
                      </a:r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e(?)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endParaRPr lang="en-US" sz="1400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P</a:t>
                      </a:r>
                      <a:r>
                        <a:rPr lang="en-US" sz="1400" i="1" baseline="-25000" dirty="0" err="1"/>
                        <a:t>z</a:t>
                      </a:r>
                      <a:r>
                        <a:rPr lang="en-US" sz="1400" i="1" dirty="0"/>
                        <a:t>(</a:t>
                      </a:r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H(</a:t>
                      </a:r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v</a:t>
                      </a:r>
                      <a:r>
                        <a:rPr lang="en-US" sz="1400" i="1" baseline="-25000" dirty="0" err="1"/>
                        <a:t>t</a:t>
                      </a:r>
                      <a:r>
                        <a:rPr lang="en-US" sz="1400" i="1" dirty="0"/>
                        <a:t> = G(</a:t>
                      </a:r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2732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Especificação</a:t>
            </a:r>
            <a:r>
              <a:rPr lang="en-US" dirty="0"/>
              <a:t> de </a:t>
            </a:r>
            <a:r>
              <a:rPr lang="en-US" dirty="0" err="1"/>
              <a:t>histogramas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O novo valor de </a:t>
            </a:r>
            <a:r>
              <a:rPr lang="pt-BR" i="1" dirty="0" err="1"/>
              <a:t>r</a:t>
            </a:r>
            <a:r>
              <a:rPr lang="pt-BR" i="1" baseline="-25000" dirty="0" err="1"/>
              <a:t>k</a:t>
            </a:r>
            <a:r>
              <a:rPr lang="pt-BR" dirty="0"/>
              <a:t>, </a:t>
            </a:r>
            <a:r>
              <a:rPr lang="pt-BR" b="1" i="1" dirty="0"/>
              <a:t>e</a:t>
            </a:r>
            <a:r>
              <a:rPr lang="pt-BR" dirty="0"/>
              <a:t>, será o valor correspondente de </a:t>
            </a:r>
            <a:r>
              <a:rPr lang="pt-BR" i="1" dirty="0" err="1"/>
              <a:t>z</a:t>
            </a:r>
            <a:r>
              <a:rPr lang="pt-BR" i="1" baseline="-25000" dirty="0" err="1"/>
              <a:t>q</a:t>
            </a:r>
            <a:r>
              <a:rPr lang="pt-BR" i="1" baseline="-25000" dirty="0"/>
              <a:t> </a:t>
            </a:r>
            <a:r>
              <a:rPr lang="pt-BR" dirty="0"/>
              <a:t>de tal modo que |</a:t>
            </a:r>
            <a:r>
              <a:rPr lang="pt-BR" i="1" dirty="0" err="1"/>
              <a:t>s</a:t>
            </a:r>
            <a:r>
              <a:rPr lang="pt-BR" i="1" baseline="-25000" dirty="0" err="1"/>
              <a:t>k</a:t>
            </a:r>
            <a:r>
              <a:rPr lang="pt-BR" i="1" dirty="0"/>
              <a:t> - </a:t>
            </a:r>
            <a:r>
              <a:rPr lang="pt-BR" i="1" dirty="0" err="1"/>
              <a:t>z</a:t>
            </a:r>
            <a:r>
              <a:rPr lang="pt-BR" i="1" baseline="-25000" dirty="0" err="1"/>
              <a:t>q</a:t>
            </a:r>
            <a:r>
              <a:rPr lang="pt-BR" i="1" dirty="0"/>
              <a:t>| </a:t>
            </a:r>
            <a:r>
              <a:rPr lang="pt-BR" dirty="0"/>
              <a:t>seja mínimo</a:t>
            </a:r>
          </a:p>
        </p:txBody>
      </p:sp>
      <p:graphicFrame>
        <p:nvGraphicFramePr>
          <p:cNvPr id="4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6291466"/>
              </p:ext>
            </p:extLst>
          </p:nvPr>
        </p:nvGraphicFramePr>
        <p:xfrm>
          <a:off x="889248" y="3264872"/>
          <a:ext cx="7859216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6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4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93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93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endParaRPr lang="en-US" sz="1400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P</a:t>
                      </a:r>
                      <a:r>
                        <a:rPr lang="en-US" sz="1400" i="1" baseline="-25000" dirty="0"/>
                        <a:t>r</a:t>
                      </a:r>
                      <a:r>
                        <a:rPr lang="en-US" sz="1400" i="1" dirty="0"/>
                        <a:t>(</a:t>
                      </a:r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H(</a:t>
                      </a:r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s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 = T(</a:t>
                      </a:r>
                      <a:r>
                        <a:rPr lang="en-US" sz="1400" i="1" dirty="0" err="1"/>
                        <a:t>r</a:t>
                      </a:r>
                      <a:r>
                        <a:rPr lang="en-US" sz="1400" i="1" baseline="-25000" dirty="0" err="1"/>
                        <a:t>k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e(?)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endParaRPr lang="en-US" sz="1400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P</a:t>
                      </a:r>
                      <a:r>
                        <a:rPr lang="en-US" sz="1400" i="1" baseline="-25000" dirty="0" err="1"/>
                        <a:t>z</a:t>
                      </a:r>
                      <a:r>
                        <a:rPr lang="en-US" sz="1400" i="1" dirty="0"/>
                        <a:t>(</a:t>
                      </a:r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H(</a:t>
                      </a:r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/>
                        <a:t>v</a:t>
                      </a:r>
                      <a:r>
                        <a:rPr lang="en-US" sz="1400" i="1" baseline="-25000" dirty="0" err="1"/>
                        <a:t>t</a:t>
                      </a:r>
                      <a:r>
                        <a:rPr lang="en-US" sz="1400" i="1" dirty="0"/>
                        <a:t> = G(</a:t>
                      </a:r>
                      <a:r>
                        <a:rPr lang="en-US" sz="1400" i="1" dirty="0" err="1"/>
                        <a:t>z</a:t>
                      </a:r>
                      <a:r>
                        <a:rPr lang="en-US" sz="1400" i="1" baseline="-25000" dirty="0" err="1"/>
                        <a:t>q</a:t>
                      </a:r>
                      <a:r>
                        <a:rPr lang="en-US" sz="1400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6" name="Conector de seta reta 5"/>
          <p:cNvCxnSpPr/>
          <p:nvPr/>
        </p:nvCxnSpPr>
        <p:spPr>
          <a:xfrm flipH="1">
            <a:off x="4652886" y="3815674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H="1">
            <a:off x="4644008" y="4194454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 flipH="1">
            <a:off x="4644008" y="4194454"/>
            <a:ext cx="440926" cy="38667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 flipH="1">
            <a:off x="4644008" y="4941168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 flipH="1">
            <a:off x="4644008" y="4941168"/>
            <a:ext cx="432048" cy="3600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 flipH="1">
            <a:off x="4652886" y="4941168"/>
            <a:ext cx="423170" cy="7200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 flipH="1">
            <a:off x="4652886" y="5301208"/>
            <a:ext cx="423170" cy="7200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 flipH="1">
            <a:off x="4652886" y="5661248"/>
            <a:ext cx="423170" cy="7200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2671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Equalização</a:t>
            </a:r>
            <a:r>
              <a:rPr lang="en-US" dirty="0"/>
              <a:t> x </a:t>
            </a:r>
            <a:r>
              <a:rPr lang="en-US" dirty="0" err="1"/>
              <a:t>Especificação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204864"/>
            <a:ext cx="6768752" cy="436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212027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x </a:t>
            </a:r>
            <a:r>
              <a:rPr lang="en-US" dirty="0" err="1"/>
              <a:t>Especificação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Exemplo: Equalização</a:t>
            </a:r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742" y="2150700"/>
            <a:ext cx="6813634" cy="459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732181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x </a:t>
            </a:r>
            <a:r>
              <a:rPr lang="en-US" dirty="0" err="1"/>
              <a:t>Especificação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Exemplo: Especificação</a:t>
            </a:r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 cstate="print"/>
          <a:srcRect t="8588" r="77756" b="47309"/>
          <a:stretch/>
        </p:blipFill>
        <p:spPr bwMode="auto">
          <a:xfrm>
            <a:off x="6516216" y="2780928"/>
            <a:ext cx="1440160" cy="2936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315" y="2132856"/>
            <a:ext cx="5105885" cy="4632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13414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Equalização</a:t>
            </a:r>
            <a:r>
              <a:rPr lang="en-US" dirty="0"/>
              <a:t> x </a:t>
            </a:r>
            <a:r>
              <a:rPr lang="en-US" dirty="0" err="1"/>
              <a:t>Especificação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134597"/>
            <a:ext cx="2376264" cy="349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2029143"/>
            <a:ext cx="2448272" cy="3506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1" y="2134598"/>
            <a:ext cx="2351985" cy="3401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944966" y="565195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Imagem</a:t>
            </a:r>
            <a:r>
              <a:rPr lang="en-US" dirty="0"/>
              <a:t> original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779912" y="566124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Equalização</a:t>
            </a:r>
            <a:endParaRPr lang="en-US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6300192" y="566124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Especificação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2803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local de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Equalização e especificação de histogramas são métodos globais</a:t>
            </a:r>
          </a:p>
          <a:p>
            <a:pPr lvl="1"/>
            <a:r>
              <a:rPr lang="pt-BR" dirty="0"/>
              <a:t>Transformação é executada usando todos os pixels da imagem;</a:t>
            </a:r>
          </a:p>
          <a:p>
            <a:r>
              <a:rPr lang="pt-BR" dirty="0"/>
              <a:t>Transformações globais não são apropriadas para realçar pequenos detalhes na imagem</a:t>
            </a:r>
          </a:p>
          <a:p>
            <a:pPr lvl="1"/>
            <a:r>
              <a:rPr lang="pt-BR" dirty="0"/>
              <a:t>O numero de pixels nestas áreas pode ser bem pequeno, contribuindo muito pouco para a execução da transformação.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53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local de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Ideia</a:t>
            </a:r>
          </a:p>
          <a:p>
            <a:pPr lvl="1"/>
            <a:r>
              <a:rPr lang="pt-BR" dirty="0"/>
              <a:t>Definir funções de transformação baseadas na distribuição de intensidade de uma vizinhança de pixels da imagem.</a:t>
            </a:r>
          </a:p>
          <a:p>
            <a:r>
              <a:rPr lang="pt-BR" dirty="0"/>
              <a:t>Trata-se de um realce local</a:t>
            </a:r>
            <a:endParaRPr lang="en-US" dirty="0"/>
          </a:p>
          <a:p>
            <a:pPr marL="365760" lvl="1" indent="0">
              <a:buNone/>
            </a:pPr>
            <a:endParaRPr lang="pt-BR" dirty="0"/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3347864" y="4260304"/>
            <a:ext cx="3048000" cy="1905000"/>
            <a:chOff x="1920" y="2736"/>
            <a:chExt cx="1920" cy="1200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920" y="2736"/>
              <a:ext cx="1920" cy="1200"/>
            </a:xfrm>
            <a:prstGeom prst="rect">
              <a:avLst/>
            </a:prstGeom>
            <a:solidFill>
              <a:schemeClr val="tx1"/>
            </a:solidFill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112" y="2880"/>
              <a:ext cx="384" cy="38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pt-BR"/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2256" y="3024"/>
              <a:ext cx="48" cy="48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67956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local de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É útil para realçar detalhes de áreas pequenas</a:t>
            </a:r>
          </a:p>
          <a:p>
            <a:pPr lvl="1"/>
            <a:r>
              <a:rPr lang="pt-BR" dirty="0"/>
              <a:t>É obtido aplicando a equalização/especificação de histograma para uma vizinhança de cada pixel da imagem (janela). </a:t>
            </a:r>
          </a:p>
          <a:p>
            <a:pPr lvl="1"/>
            <a:r>
              <a:rPr lang="pt-BR" dirty="0"/>
              <a:t>Somente o valor do pixel centrado na vizinhança é modificado. </a:t>
            </a:r>
          </a:p>
          <a:p>
            <a:pPr lvl="1"/>
            <a:r>
              <a:rPr lang="pt-BR" dirty="0"/>
              <a:t>O centro da janela é então movido para o pixel adjacente e o procedimento é repetido.</a:t>
            </a:r>
          </a:p>
          <a:p>
            <a:pPr lvl="1"/>
            <a:r>
              <a:rPr lang="pt-BR" dirty="0"/>
              <a:t>Alto custo computacional</a:t>
            </a:r>
          </a:p>
        </p:txBody>
      </p:sp>
    </p:spTree>
    <p:extLst>
      <p:ext uri="{BB962C8B-B14F-4D97-AF65-F5344CB8AC3E}">
        <p14:creationId xmlns:p14="http://schemas.microsoft.com/office/powerpoint/2010/main" val="34035165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Processamento</a:t>
            </a:r>
            <a:r>
              <a:rPr lang="en-US" dirty="0"/>
              <a:t> local de </a:t>
            </a:r>
            <a:r>
              <a:rPr lang="en-US" dirty="0" err="1"/>
              <a:t>histograma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 cstate="print"/>
          <a:srcRect l="3703" r="65741" b="24199"/>
          <a:stretch>
            <a:fillRect/>
          </a:stretch>
        </p:blipFill>
        <p:spPr bwMode="auto">
          <a:xfrm>
            <a:off x="573116" y="2279357"/>
            <a:ext cx="2514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 cstate="print"/>
          <a:srcRect l="64815" r="3703" b="24199"/>
          <a:stretch>
            <a:fillRect/>
          </a:stretch>
        </p:blipFill>
        <p:spPr bwMode="auto">
          <a:xfrm>
            <a:off x="6211916" y="2279357"/>
            <a:ext cx="2590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 cstate="print"/>
          <a:srcRect l="34259" r="34259" b="24199"/>
          <a:stretch>
            <a:fillRect/>
          </a:stretch>
        </p:blipFill>
        <p:spPr bwMode="auto">
          <a:xfrm>
            <a:off x="3468716" y="2279357"/>
            <a:ext cx="2590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aixaDeTexto 6"/>
          <p:cNvSpPr txBox="1"/>
          <p:nvPr/>
        </p:nvSpPr>
        <p:spPr>
          <a:xfrm>
            <a:off x="3467972" y="4942909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Equalização</a:t>
            </a:r>
            <a:r>
              <a:rPr lang="en-US" dirty="0"/>
              <a:t> global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11916" y="4798893"/>
            <a:ext cx="2512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Equalização</a:t>
            </a:r>
            <a:r>
              <a:rPr lang="en-US" dirty="0"/>
              <a:t> local</a:t>
            </a:r>
          </a:p>
          <a:p>
            <a:pPr algn="ctr"/>
            <a:r>
              <a:rPr lang="en-US" dirty="0" err="1"/>
              <a:t>janela</a:t>
            </a:r>
            <a:r>
              <a:rPr lang="en-US" dirty="0"/>
              <a:t> 3x3</a:t>
            </a:r>
          </a:p>
        </p:txBody>
      </p:sp>
    </p:spTree>
    <p:extLst>
      <p:ext uri="{BB962C8B-B14F-4D97-AF65-F5344CB8AC3E}">
        <p14:creationId xmlns:p14="http://schemas.microsoft.com/office/powerpoint/2010/main" val="37457339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Uso de estatística para processar histogramas – Realce Local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Seja </a:t>
            </a:r>
            <a:r>
              <a:rPr lang="pt-BR" i="1" dirty="0"/>
              <a:t>r</a:t>
            </a:r>
            <a:r>
              <a:rPr lang="pt-BR" dirty="0"/>
              <a:t> uma variável aleatória correspondendo uma intensidade luminosa no intervalo </a:t>
            </a:r>
            <a:r>
              <a:rPr lang="pt-BR" i="1" dirty="0"/>
              <a:t>[0,L-1]</a:t>
            </a:r>
          </a:p>
          <a:p>
            <a:r>
              <a:rPr lang="pt-BR" dirty="0"/>
              <a:t>Seja </a:t>
            </a:r>
            <a:r>
              <a:rPr lang="pt-BR" i="1" dirty="0"/>
              <a:t>p(r</a:t>
            </a:r>
            <a:r>
              <a:rPr lang="pt-BR" i="1" baseline="-25000" dirty="0"/>
              <a:t>i</a:t>
            </a:r>
            <a:r>
              <a:rPr lang="pt-BR" i="1" dirty="0"/>
              <a:t>)</a:t>
            </a:r>
            <a:r>
              <a:rPr lang="pt-BR" dirty="0"/>
              <a:t> a componente do histograma normalizado para </a:t>
            </a:r>
            <a:r>
              <a:rPr lang="pt-BR" i="1" dirty="0"/>
              <a:t>r</a:t>
            </a:r>
            <a:r>
              <a:rPr lang="pt-BR" i="1" baseline="-25000" dirty="0"/>
              <a:t>i</a:t>
            </a:r>
            <a:r>
              <a:rPr lang="pt-BR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4579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Uso de estatística para processar histogramas – Realce Local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i="1" dirty="0" err="1"/>
              <a:t>n</a:t>
            </a:r>
            <a:r>
              <a:rPr lang="pt-BR" i="1" baseline="30000" dirty="0" err="1"/>
              <a:t>th</a:t>
            </a:r>
            <a:r>
              <a:rPr lang="pt-BR" dirty="0"/>
              <a:t> momento de </a:t>
            </a:r>
            <a:r>
              <a:rPr lang="pt-BR" i="1" dirty="0"/>
              <a:t>r</a:t>
            </a:r>
            <a:r>
              <a:rPr lang="pt-BR" dirty="0"/>
              <a:t> é dado por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Um momento importante é </a:t>
            </a:r>
            <a:r>
              <a:rPr lang="pt-BR" i="1" dirty="0"/>
              <a:t>n = 2</a:t>
            </a:r>
            <a:r>
              <a:rPr lang="pt-BR" dirty="0"/>
              <a:t> (variância)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746916"/>
              </p:ext>
            </p:extLst>
          </p:nvPr>
        </p:nvGraphicFramePr>
        <p:xfrm>
          <a:off x="2123480" y="2365424"/>
          <a:ext cx="4176712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663700" imgH="889000" progId="Equation.3">
                  <p:embed/>
                </p:oleObj>
              </mc:Choice>
              <mc:Fallback>
                <p:oleObj name="Equação" r:id="rId2" imgW="1663700" imgH="8890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480" y="2365424"/>
                        <a:ext cx="4176712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494817"/>
              </p:ext>
            </p:extLst>
          </p:nvPr>
        </p:nvGraphicFramePr>
        <p:xfrm>
          <a:off x="2555776" y="5368503"/>
          <a:ext cx="39592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688367" imgH="431613" progId="Equation.3">
                  <p:embed/>
                </p:oleObj>
              </mc:Choice>
              <mc:Fallback>
                <p:oleObj name="Equação" r:id="rId4" imgW="1688367" imgH="431613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5368503"/>
                        <a:ext cx="39592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23259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Uso de estatística para processar histogramas – Realce Local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 bwMode="auto">
          <a:xfrm>
            <a:off x="457200" y="2176264"/>
            <a:ext cx="3516313" cy="298092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pt-BR" dirty="0"/>
              <a:t> L = 4, imagem 5x5</a:t>
            </a:r>
          </a:p>
          <a:p>
            <a:pPr>
              <a:buFontTx/>
              <a:buNone/>
            </a:pPr>
            <a:r>
              <a:rPr lang="pt-BR" sz="2800" dirty="0"/>
              <a:t>      </a:t>
            </a:r>
            <a:r>
              <a:rPr lang="pt-BR" sz="2400" dirty="0"/>
              <a:t>0 0 1 1 2</a:t>
            </a:r>
          </a:p>
          <a:p>
            <a:pPr>
              <a:buFontTx/>
              <a:buNone/>
            </a:pPr>
            <a:r>
              <a:rPr lang="pt-BR" sz="2400" dirty="0"/>
              <a:t>       1 2 3 0 1</a:t>
            </a:r>
          </a:p>
          <a:p>
            <a:pPr>
              <a:buFontTx/>
              <a:buNone/>
            </a:pPr>
            <a:r>
              <a:rPr lang="pt-BR" sz="2400" dirty="0"/>
              <a:t>       3 3 2 2 0</a:t>
            </a:r>
          </a:p>
          <a:p>
            <a:pPr>
              <a:buFontTx/>
              <a:buNone/>
            </a:pPr>
            <a:r>
              <a:rPr lang="pt-BR" sz="2400" dirty="0"/>
              <a:t>       2 3 1 0 0</a:t>
            </a:r>
          </a:p>
          <a:p>
            <a:pPr>
              <a:buFontTx/>
              <a:buNone/>
            </a:pPr>
            <a:r>
              <a:rPr lang="pt-BR" sz="2400" dirty="0"/>
              <a:t>       1 1 3 2 2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</p:txBody>
      </p:sp>
      <p:sp>
        <p:nvSpPr>
          <p:cNvPr id="7" name="CaixaDeTexto 4"/>
          <p:cNvSpPr txBox="1">
            <a:spLocks noChangeArrowheads="1"/>
          </p:cNvSpPr>
          <p:nvPr/>
        </p:nvSpPr>
        <p:spPr bwMode="auto">
          <a:xfrm>
            <a:off x="4367213" y="2765246"/>
            <a:ext cx="4178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800" dirty="0"/>
              <a:t>p(</a:t>
            </a:r>
            <a:r>
              <a:rPr lang="pt-BR" sz="2800" dirty="0" err="1"/>
              <a:t>r</a:t>
            </a:r>
            <a:r>
              <a:rPr lang="pt-BR" sz="2800" baseline="-25000" dirty="0" err="1"/>
              <a:t>o</a:t>
            </a:r>
            <a:r>
              <a:rPr lang="pt-BR" sz="2800" dirty="0"/>
              <a:t>) = 6/25 = 0.24    </a:t>
            </a:r>
          </a:p>
          <a:p>
            <a:r>
              <a:rPr lang="pt-BR" sz="2800" dirty="0"/>
              <a:t>p(r</a:t>
            </a:r>
            <a:r>
              <a:rPr lang="pt-BR" sz="2800" baseline="-25000" dirty="0"/>
              <a:t>1</a:t>
            </a:r>
            <a:r>
              <a:rPr lang="pt-BR" sz="2800" dirty="0"/>
              <a:t>) = 7/25 = 0.28</a:t>
            </a:r>
          </a:p>
          <a:p>
            <a:r>
              <a:rPr lang="pt-BR" sz="2800" dirty="0"/>
              <a:t>p(r</a:t>
            </a:r>
            <a:r>
              <a:rPr lang="pt-BR" sz="2800" baseline="-25000" dirty="0"/>
              <a:t>2</a:t>
            </a:r>
            <a:r>
              <a:rPr lang="pt-BR" sz="2800" dirty="0"/>
              <a:t>) = 7/25 = 0.28  </a:t>
            </a:r>
          </a:p>
          <a:p>
            <a:r>
              <a:rPr lang="pt-BR" sz="2800" dirty="0"/>
              <a:t>p(r</a:t>
            </a:r>
            <a:r>
              <a:rPr lang="pt-BR" sz="2800" baseline="-25000" dirty="0"/>
              <a:t>3</a:t>
            </a:r>
            <a:r>
              <a:rPr lang="pt-BR" sz="2800" dirty="0"/>
              <a:t>) = 5/25 = 0.20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123743"/>
              </p:ext>
            </p:extLst>
          </p:nvPr>
        </p:nvGraphicFramePr>
        <p:xfrm>
          <a:off x="3851920" y="5007892"/>
          <a:ext cx="1963737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901440" imgH="431640" progId="Equation.3">
                  <p:embed/>
                </p:oleObj>
              </mc:Choice>
              <mc:Fallback>
                <p:oleObj name="Equação" r:id="rId2" imgW="901440" imgH="431640" progId="Equation.3">
                  <p:embed/>
                  <p:pic>
                    <p:nvPicPr>
                      <p:cNvPr id="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5007892"/>
                        <a:ext cx="1963737" cy="941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1055688" y="6074132"/>
            <a:ext cx="73327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800" dirty="0"/>
              <a:t>m = (0)0.24+(1)0.28+(2)0.28+(3)0.20 = 1.44</a:t>
            </a:r>
          </a:p>
        </p:txBody>
      </p:sp>
    </p:spTree>
    <p:extLst>
      <p:ext uri="{BB962C8B-B14F-4D97-AF65-F5344CB8AC3E}">
        <p14:creationId xmlns:p14="http://schemas.microsoft.com/office/powerpoint/2010/main" val="28901945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Uso de estatística para processar histogramas – Realce Local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Sejam</a:t>
            </a:r>
          </a:p>
          <a:p>
            <a:pPr lvl="1"/>
            <a:r>
              <a:rPr lang="pt-BR" dirty="0" err="1"/>
              <a:t>m</a:t>
            </a:r>
            <a:r>
              <a:rPr lang="pt-BR" baseline="-25000" dirty="0" err="1"/>
              <a:t>G</a:t>
            </a:r>
            <a:r>
              <a:rPr lang="pt-BR" dirty="0"/>
              <a:t> , </a:t>
            </a:r>
            <a:r>
              <a:rPr lang="pt-BR" dirty="0" err="1"/>
              <a:t>σ</a:t>
            </a:r>
            <a:r>
              <a:rPr lang="pt-BR" baseline="-25000" dirty="0" err="1"/>
              <a:t>G</a:t>
            </a:r>
            <a:r>
              <a:rPr lang="pt-BR" dirty="0"/>
              <a:t> - media e desvio padrão a imagem</a:t>
            </a:r>
          </a:p>
          <a:p>
            <a:pPr lvl="1"/>
            <a:r>
              <a:rPr lang="pt-BR" dirty="0" err="1"/>
              <a:t>m</a:t>
            </a:r>
            <a:r>
              <a:rPr lang="pt-BR" baseline="-25000" dirty="0" err="1"/>
              <a:t>Sxy</a:t>
            </a:r>
            <a:r>
              <a:rPr lang="pt-BR" dirty="0"/>
              <a:t> , </a:t>
            </a:r>
            <a:r>
              <a:rPr lang="pt-BR" dirty="0" err="1"/>
              <a:t>σ</a:t>
            </a:r>
            <a:r>
              <a:rPr lang="pt-BR" baseline="-25000" dirty="0" err="1"/>
              <a:t>Sxy</a:t>
            </a:r>
            <a:r>
              <a:rPr lang="pt-BR" dirty="0"/>
              <a:t> - media e desvio padrão na vizinhança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Em que</a:t>
            </a:r>
          </a:p>
          <a:p>
            <a:pPr lvl="1"/>
            <a:r>
              <a:rPr lang="pt-BR" dirty="0"/>
              <a:t>k</a:t>
            </a:r>
            <a:r>
              <a:rPr lang="pt-BR" baseline="-25000" dirty="0"/>
              <a:t>0</a:t>
            </a:r>
            <a:r>
              <a:rPr lang="pt-BR" dirty="0"/>
              <a:t>: valor positivo, menor que 1</a:t>
            </a:r>
          </a:p>
          <a:p>
            <a:pPr lvl="1"/>
            <a:r>
              <a:rPr lang="pt-BR" dirty="0"/>
              <a:t>k</a:t>
            </a:r>
            <a:r>
              <a:rPr lang="pt-BR" baseline="-25000" dirty="0"/>
              <a:t>1</a:t>
            </a:r>
            <a:r>
              <a:rPr lang="pt-BR" dirty="0"/>
              <a:t> e k</a:t>
            </a:r>
            <a:r>
              <a:rPr lang="pt-BR" baseline="-25000" dirty="0"/>
              <a:t>2</a:t>
            </a:r>
            <a:r>
              <a:rPr lang="pt-BR" dirty="0"/>
              <a:t>: valores positivos maiores que 1 para melhorar áreas claras</a:t>
            </a:r>
          </a:p>
          <a:p>
            <a:pPr lvl="1"/>
            <a:r>
              <a:rPr lang="pt-BR" dirty="0"/>
              <a:t>k</a:t>
            </a:r>
            <a:r>
              <a:rPr lang="pt-BR" baseline="-25000" dirty="0"/>
              <a:t>1</a:t>
            </a:r>
            <a:r>
              <a:rPr lang="pt-BR" dirty="0"/>
              <a:t> e k</a:t>
            </a:r>
            <a:r>
              <a:rPr lang="pt-BR" baseline="-25000" dirty="0"/>
              <a:t>2</a:t>
            </a:r>
            <a:r>
              <a:rPr lang="pt-BR" dirty="0"/>
              <a:t>: valores positivos menores que 1 para melhorar áreas escuras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755650" y="2924175"/>
          <a:ext cx="741521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3695700" imgH="482600" progId="Equation.3">
                  <p:embed/>
                </p:oleObj>
              </mc:Choice>
              <mc:Fallback>
                <p:oleObj name="Equação" r:id="rId2" imgW="3695700" imgH="4826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924175"/>
                        <a:ext cx="7415213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82242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Uso de estatística para processar histogramas – Realce Local</a:t>
            </a:r>
            <a:endParaRPr lang="en-US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m 4" descr="tungstenioequalizado.t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3475" y="1631950"/>
            <a:ext cx="4092575" cy="377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enise\disciplinas\pdi-pos\material-apoio\gonzalez\Imagens\DIP3E_CH03_Original_Images\DIP3E_Original_Images_CH03\Fig0327(a)(tungsten_original)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9725" y="1908175"/>
            <a:ext cx="2557463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4" cstate="print"/>
          <a:srcRect r="44534"/>
          <a:stretch/>
        </p:blipFill>
        <p:spPr bwMode="auto">
          <a:xfrm>
            <a:off x="5819775" y="1864938"/>
            <a:ext cx="2782687" cy="314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5"/>
          <p:cNvSpPr txBox="1">
            <a:spLocks noChangeArrowheads="1"/>
          </p:cNvSpPr>
          <p:nvPr/>
        </p:nvSpPr>
        <p:spPr bwMode="auto">
          <a:xfrm>
            <a:off x="5724128" y="5013176"/>
            <a:ext cx="309634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dirty="0"/>
              <a:t>imagem processada estatisticamente </a:t>
            </a:r>
          </a:p>
          <a:p>
            <a:r>
              <a:rPr lang="pt-BR" dirty="0"/>
              <a:t>(E=4; k</a:t>
            </a:r>
            <a:r>
              <a:rPr lang="pt-BR" baseline="-25000" dirty="0"/>
              <a:t>0</a:t>
            </a:r>
            <a:r>
              <a:rPr lang="pt-BR" dirty="0"/>
              <a:t>=0.4, k</a:t>
            </a:r>
            <a:r>
              <a:rPr lang="pt-BR" baseline="-25000" dirty="0"/>
              <a:t>1</a:t>
            </a:r>
            <a:r>
              <a:rPr lang="pt-BR" dirty="0"/>
              <a:t> = 0.02, k</a:t>
            </a:r>
            <a:r>
              <a:rPr lang="pt-BR" baseline="-25000" dirty="0"/>
              <a:t>2</a:t>
            </a:r>
            <a:r>
              <a:rPr lang="pt-BR" dirty="0"/>
              <a:t>=0.4 e uma vizinhança 3x3). – melhora áreas escuras.</a:t>
            </a:r>
          </a:p>
        </p:txBody>
      </p:sp>
      <p:sp>
        <p:nvSpPr>
          <p:cNvPr id="10" name="Retângulo 9"/>
          <p:cNvSpPr/>
          <p:nvPr/>
        </p:nvSpPr>
        <p:spPr>
          <a:xfrm>
            <a:off x="2987824" y="5157192"/>
            <a:ext cx="2887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     imagem equalizada </a:t>
            </a:r>
            <a:endParaRPr lang="en-US" dirty="0"/>
          </a:p>
        </p:txBody>
      </p:sp>
      <p:sp>
        <p:nvSpPr>
          <p:cNvPr id="11" name="Retângulo 10"/>
          <p:cNvSpPr/>
          <p:nvPr/>
        </p:nvSpPr>
        <p:spPr>
          <a:xfrm>
            <a:off x="539552" y="5157192"/>
            <a:ext cx="20810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Imagem original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8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6DCEBA-6202-4A24-A607-966AF7AF87D9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F5A80ADE-AE57-42F7-85FD-DD81AE6797F1}"/>
</file>

<file path=customXml/itemProps3.xml><?xml version="1.0" encoding="utf-8"?>
<ds:datastoreItem xmlns:ds="http://schemas.openxmlformats.org/officeDocument/2006/customXml" ds:itemID="{8BA0EF65-22FB-46CB-9749-D93C348216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851</TotalTime>
  <Words>2538</Words>
  <Application>Microsoft Office PowerPoint</Application>
  <PresentationFormat>Apresentação na tela (4:3)</PresentationFormat>
  <Paragraphs>756</Paragraphs>
  <Slides>60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6</vt:i4>
      </vt:variant>
      <vt:variant>
        <vt:lpstr>Títulos de slides</vt:lpstr>
      </vt:variant>
      <vt:variant>
        <vt:i4>60</vt:i4>
      </vt:variant>
    </vt:vector>
  </HeadingPairs>
  <TitlesOfParts>
    <vt:vector size="74" baseType="lpstr">
      <vt:lpstr>Calibri</vt:lpstr>
      <vt:lpstr>Cambria Math</vt:lpstr>
      <vt:lpstr>Courier New</vt:lpstr>
      <vt:lpstr>Times New Roman</vt:lpstr>
      <vt:lpstr>Tw Cen MT</vt:lpstr>
      <vt:lpstr>Wingdings</vt:lpstr>
      <vt:lpstr>Wingdings 2</vt:lpstr>
      <vt:lpstr>Mediano</vt:lpstr>
      <vt:lpstr>Planilha</vt:lpstr>
      <vt:lpstr>Equation</vt:lpstr>
      <vt:lpstr>Equação</vt:lpstr>
      <vt:lpstr>Microsoft Graph Chart</vt:lpstr>
      <vt:lpstr>Imagem de bitmap</vt:lpstr>
      <vt:lpstr>Imagem de Bitmap</vt:lpstr>
      <vt:lpstr>Realce de imagens baseado em Histogramas</vt:lpstr>
      <vt:lpstr>Processamento de histogramas</vt:lpstr>
      <vt:lpstr>Histograma com 256 bins</vt:lpstr>
      <vt:lpstr>Utilizando menos bins</vt:lpstr>
      <vt:lpstr>Utilizando menos bins</vt:lpstr>
      <vt:lpstr>Processamento  de histogramas</vt:lpstr>
      <vt:lpstr>Histogramas </vt:lpstr>
      <vt:lpstr>Histogramas </vt:lpstr>
      <vt:lpstr>Histogramas </vt:lpstr>
      <vt:lpstr>Histogramas </vt:lpstr>
      <vt:lpstr>Histogramas </vt:lpstr>
      <vt:lpstr>Histogramas </vt:lpstr>
      <vt:lpstr>Exemplos de Histogramas</vt:lpstr>
      <vt:lpstr>Exemplos de Histogramas</vt:lpstr>
      <vt:lpstr>Transformações de Intensidade</vt:lpstr>
      <vt:lpstr>Transformações de Intensidade</vt:lpstr>
      <vt:lpstr>Transformações de Intensidade</vt:lpstr>
      <vt:lpstr>Transformações de Intensidade</vt:lpstr>
      <vt:lpstr>Transformações de Intensidade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do Histograma</vt:lpstr>
      <vt:lpstr>Equalização de histograma em imagens coloridas</vt:lpstr>
      <vt:lpstr>Equalização de histograma em imagens coloridas</vt:lpstr>
      <vt:lpstr>Dúvida</vt:lpstr>
      <vt:lpstr>Especificação de histogramas</vt:lpstr>
      <vt:lpstr>Especificação de histogramas</vt:lpstr>
      <vt:lpstr>Especificação de histogramas</vt:lpstr>
      <vt:lpstr>Especificação de histogramas</vt:lpstr>
      <vt:lpstr>Especificação de histogramas</vt:lpstr>
      <vt:lpstr>Especificação de histogramas</vt:lpstr>
      <vt:lpstr>Equalização x Especificação</vt:lpstr>
      <vt:lpstr>Equalização x Especificação</vt:lpstr>
      <vt:lpstr>Equalização x Especificação</vt:lpstr>
      <vt:lpstr>Equalização x Especificação</vt:lpstr>
      <vt:lpstr>Processamento local de histograma</vt:lpstr>
      <vt:lpstr>Processamento local de histograma</vt:lpstr>
      <vt:lpstr>Processamento local de histograma</vt:lpstr>
      <vt:lpstr>Processamento local de histograma</vt:lpstr>
      <vt:lpstr>Uso de estatística para processar histogramas – Realce Local</vt:lpstr>
      <vt:lpstr>Uso de estatística para processar histogramas – Realce Local</vt:lpstr>
      <vt:lpstr>Uso de estatística para processar histogramas – Realce Local</vt:lpstr>
      <vt:lpstr>Uso de estatística para processar histogramas – Realce Local</vt:lpstr>
      <vt:lpstr>Uso de estatística para processar histogramas – Realce Local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Realce de imagens baseado em Histogramas</dc:title>
  <dc:creator>Backes</dc:creator>
  <cp:lastModifiedBy>Bruno Augusto Nassif Travencolo</cp:lastModifiedBy>
  <cp:revision>83</cp:revision>
  <dcterms:created xsi:type="dcterms:W3CDTF">2014-09-25T14:18:46Z</dcterms:created>
  <dcterms:modified xsi:type="dcterms:W3CDTF">2024-08-30T12:20:09Z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_SourceUrl">
    <vt:lpwstr/>
  </property>
  <property fmtid="{D5CDD505-2E9C-101B-9397-08002B2CF9AE}" pid="11" name="_SharedFileIndex">
    <vt:lpwstr/>
  </property>
</Properties>
</file>