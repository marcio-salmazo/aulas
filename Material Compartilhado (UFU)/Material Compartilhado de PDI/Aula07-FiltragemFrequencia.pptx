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6"/>
  </p:notesMasterIdLst>
  <p:handoutMasterIdLst>
    <p:handoutMasterId r:id="rId47"/>
  </p:handoutMasterIdLst>
  <p:sldIdLst>
    <p:sldId id="256" r:id="rId5"/>
    <p:sldId id="384" r:id="rId6"/>
    <p:sldId id="386" r:id="rId7"/>
    <p:sldId id="387" r:id="rId8"/>
    <p:sldId id="388" r:id="rId9"/>
    <p:sldId id="385" r:id="rId10"/>
    <p:sldId id="389" r:id="rId11"/>
    <p:sldId id="390" r:id="rId12"/>
    <p:sldId id="391" r:id="rId13"/>
    <p:sldId id="392" r:id="rId14"/>
    <p:sldId id="393" r:id="rId15"/>
    <p:sldId id="394" r:id="rId16"/>
    <p:sldId id="395" r:id="rId17"/>
    <p:sldId id="396" r:id="rId18"/>
    <p:sldId id="397" r:id="rId19"/>
    <p:sldId id="398" r:id="rId20"/>
    <p:sldId id="401" r:id="rId21"/>
    <p:sldId id="402" r:id="rId22"/>
    <p:sldId id="412" r:id="rId23"/>
    <p:sldId id="414" r:id="rId24"/>
    <p:sldId id="403" r:id="rId25"/>
    <p:sldId id="406" r:id="rId26"/>
    <p:sldId id="415" r:id="rId27"/>
    <p:sldId id="404" r:id="rId28"/>
    <p:sldId id="416" r:id="rId29"/>
    <p:sldId id="405" r:id="rId30"/>
    <p:sldId id="417" r:id="rId31"/>
    <p:sldId id="418" r:id="rId32"/>
    <p:sldId id="419" r:id="rId33"/>
    <p:sldId id="421" r:id="rId34"/>
    <p:sldId id="420" r:id="rId35"/>
    <p:sldId id="422" r:id="rId36"/>
    <p:sldId id="423" r:id="rId37"/>
    <p:sldId id="425" r:id="rId38"/>
    <p:sldId id="426" r:id="rId39"/>
    <p:sldId id="427" r:id="rId40"/>
    <p:sldId id="424" r:id="rId41"/>
    <p:sldId id="428" r:id="rId42"/>
    <p:sldId id="429" r:id="rId43"/>
    <p:sldId id="431" r:id="rId44"/>
    <p:sldId id="430" r:id="rId45"/>
  </p:sldIdLst>
  <p:sldSz cx="9144000" cy="6858000" type="screen4x3"/>
  <p:notesSz cx="6858000" cy="9661525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ACD42D-ED9E-4A97-90FA-333C7E53B101}" v="24" dt="2023-04-27T20:40:01.5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9765cb90-d5ec-451e-8c7b-af57428794a1" providerId="ADAL" clId="{6CACD42D-ED9E-4A97-90FA-333C7E53B101}"/>
    <pc:docChg chg="custSel modSld">
      <pc:chgData name="Bruno Augusto Nassif Travencolo" userId="9765cb90-d5ec-451e-8c7b-af57428794a1" providerId="ADAL" clId="{6CACD42D-ED9E-4A97-90FA-333C7E53B101}" dt="2023-05-10T22:24:54.845" v="19" actId="20577"/>
      <pc:docMkLst>
        <pc:docMk/>
      </pc:docMkLst>
      <pc:sldChg chg="modSp mod">
        <pc:chgData name="Bruno Augusto Nassif Travencolo" userId="9765cb90-d5ec-451e-8c7b-af57428794a1" providerId="ADAL" clId="{6CACD42D-ED9E-4A97-90FA-333C7E53B101}" dt="2023-04-27T20:40:00.439" v="15" actId="27636"/>
        <pc:sldMkLst>
          <pc:docMk/>
          <pc:sldMk cId="0" sldId="256"/>
        </pc:sldMkLst>
        <pc:spChg chg="mod">
          <ac:chgData name="Bruno Augusto Nassif Travencolo" userId="9765cb90-d5ec-451e-8c7b-af57428794a1" providerId="ADAL" clId="{6CACD42D-ED9E-4A97-90FA-333C7E53B101}" dt="2023-04-27T20:40:00.439" v="15" actId="27636"/>
          <ac:spMkLst>
            <pc:docMk/>
            <pc:sldMk cId="0" sldId="256"/>
            <ac:spMk id="2050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40:00.475" v="16" actId="27636"/>
        <pc:sldMkLst>
          <pc:docMk/>
          <pc:sldMk cId="3169820353" sldId="384"/>
        </pc:sldMkLst>
        <pc:spChg chg="mod">
          <ac:chgData name="Bruno Augusto Nassif Travencolo" userId="9765cb90-d5ec-451e-8c7b-af57428794a1" providerId="ADAL" clId="{6CACD42D-ED9E-4A97-90FA-333C7E53B101}" dt="2023-04-27T20:40:00.475" v="16" actId="27636"/>
          <ac:spMkLst>
            <pc:docMk/>
            <pc:sldMk cId="3169820353" sldId="384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39:59.600" v="0" actId="27636"/>
        <pc:sldMkLst>
          <pc:docMk/>
          <pc:sldMk cId="3449575279" sldId="385"/>
        </pc:sldMkLst>
        <pc:spChg chg="mod">
          <ac:chgData name="Bruno Augusto Nassif Travencolo" userId="9765cb90-d5ec-451e-8c7b-af57428794a1" providerId="ADAL" clId="{6CACD42D-ED9E-4A97-90FA-333C7E53B101}" dt="2023-04-27T20:39:59.600" v="0" actId="27636"/>
          <ac:spMkLst>
            <pc:docMk/>
            <pc:sldMk cId="3449575279" sldId="385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40:00.508" v="17" actId="27636"/>
        <pc:sldMkLst>
          <pc:docMk/>
          <pc:sldMk cId="546342123" sldId="387"/>
        </pc:sldMkLst>
        <pc:spChg chg="mod">
          <ac:chgData name="Bruno Augusto Nassif Travencolo" userId="9765cb90-d5ec-451e-8c7b-af57428794a1" providerId="ADAL" clId="{6CACD42D-ED9E-4A97-90FA-333C7E53B101}" dt="2023-04-27T20:40:00.508" v="17" actId="27636"/>
          <ac:spMkLst>
            <pc:docMk/>
            <pc:sldMk cId="546342123" sldId="387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39:59.613" v="1" actId="27636"/>
        <pc:sldMkLst>
          <pc:docMk/>
          <pc:sldMk cId="4200756762" sldId="389"/>
        </pc:sldMkLst>
        <pc:spChg chg="mod">
          <ac:chgData name="Bruno Augusto Nassif Travencolo" userId="9765cb90-d5ec-451e-8c7b-af57428794a1" providerId="ADAL" clId="{6CACD42D-ED9E-4A97-90FA-333C7E53B101}" dt="2023-04-27T20:39:59.613" v="1" actId="27636"/>
          <ac:spMkLst>
            <pc:docMk/>
            <pc:sldMk cId="4200756762" sldId="389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39:59.617" v="2" actId="27636"/>
        <pc:sldMkLst>
          <pc:docMk/>
          <pc:sldMk cId="3258423713" sldId="391"/>
        </pc:sldMkLst>
        <pc:spChg chg="mod">
          <ac:chgData name="Bruno Augusto Nassif Travencolo" userId="9765cb90-d5ec-451e-8c7b-af57428794a1" providerId="ADAL" clId="{6CACD42D-ED9E-4A97-90FA-333C7E53B101}" dt="2023-04-27T20:39:59.617" v="2" actId="27636"/>
          <ac:spMkLst>
            <pc:docMk/>
            <pc:sldMk cId="3258423713" sldId="391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39:59.621" v="3" actId="27636"/>
        <pc:sldMkLst>
          <pc:docMk/>
          <pc:sldMk cId="3711449724" sldId="392"/>
        </pc:sldMkLst>
        <pc:spChg chg="mod">
          <ac:chgData name="Bruno Augusto Nassif Travencolo" userId="9765cb90-d5ec-451e-8c7b-af57428794a1" providerId="ADAL" clId="{6CACD42D-ED9E-4A97-90FA-333C7E53B101}" dt="2023-04-27T20:39:59.621" v="3" actId="27636"/>
          <ac:spMkLst>
            <pc:docMk/>
            <pc:sldMk cId="3711449724" sldId="392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5-10T22:24:54.845" v="19" actId="20577"/>
        <pc:sldMkLst>
          <pc:docMk/>
          <pc:sldMk cId="1293135206" sldId="394"/>
        </pc:sldMkLst>
        <pc:spChg chg="mod">
          <ac:chgData name="Bruno Augusto Nassif Travencolo" userId="9765cb90-d5ec-451e-8c7b-af57428794a1" providerId="ADAL" clId="{6CACD42D-ED9E-4A97-90FA-333C7E53B101}" dt="2023-05-10T22:24:54.845" v="19" actId="20577"/>
          <ac:spMkLst>
            <pc:docMk/>
            <pc:sldMk cId="1293135206" sldId="394"/>
            <ac:spMk id="5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40:00.332" v="6" actId="27636"/>
        <pc:sldMkLst>
          <pc:docMk/>
          <pc:sldMk cId="416021104" sldId="405"/>
        </pc:sldMkLst>
        <pc:spChg chg="mod">
          <ac:chgData name="Bruno Augusto Nassif Travencolo" userId="9765cb90-d5ec-451e-8c7b-af57428794a1" providerId="ADAL" clId="{6CACD42D-ED9E-4A97-90FA-333C7E53B101}" dt="2023-04-27T20:40:00.332" v="6" actId="27636"/>
          <ac:spMkLst>
            <pc:docMk/>
            <pc:sldMk cId="416021104" sldId="405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39:59.639" v="4" actId="27636"/>
        <pc:sldMkLst>
          <pc:docMk/>
          <pc:sldMk cId="732633099" sldId="414"/>
        </pc:sldMkLst>
        <pc:spChg chg="mod">
          <ac:chgData name="Bruno Augusto Nassif Travencolo" userId="9765cb90-d5ec-451e-8c7b-af57428794a1" providerId="ADAL" clId="{6CACD42D-ED9E-4A97-90FA-333C7E53B101}" dt="2023-04-27T20:39:59.639" v="4" actId="27636"/>
          <ac:spMkLst>
            <pc:docMk/>
            <pc:sldMk cId="732633099" sldId="414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39:59.658" v="5" actId="27636"/>
        <pc:sldMkLst>
          <pc:docMk/>
          <pc:sldMk cId="280064283" sldId="416"/>
        </pc:sldMkLst>
        <pc:spChg chg="mod">
          <ac:chgData name="Bruno Augusto Nassif Travencolo" userId="9765cb90-d5ec-451e-8c7b-af57428794a1" providerId="ADAL" clId="{6CACD42D-ED9E-4A97-90FA-333C7E53B101}" dt="2023-04-27T20:39:59.658" v="5" actId="27636"/>
          <ac:spMkLst>
            <pc:docMk/>
            <pc:sldMk cId="280064283" sldId="416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40:00.345" v="8" actId="27636"/>
        <pc:sldMkLst>
          <pc:docMk/>
          <pc:sldMk cId="344157716" sldId="417"/>
        </pc:sldMkLst>
        <pc:spChg chg="mod">
          <ac:chgData name="Bruno Augusto Nassif Travencolo" userId="9765cb90-d5ec-451e-8c7b-af57428794a1" providerId="ADAL" clId="{6CACD42D-ED9E-4A97-90FA-333C7E53B101}" dt="2023-04-27T20:40:00.345" v="8" actId="27636"/>
          <ac:spMkLst>
            <pc:docMk/>
            <pc:sldMk cId="344157716" sldId="417"/>
            <ac:spMk id="2" creationId="{00000000-0000-0000-0000-000000000000}"/>
          </ac:spMkLst>
        </pc:spChg>
        <pc:spChg chg="mod">
          <ac:chgData name="Bruno Augusto Nassif Travencolo" userId="9765cb90-d5ec-451e-8c7b-af57428794a1" providerId="ADAL" clId="{6CACD42D-ED9E-4A97-90FA-333C7E53B101}" dt="2023-04-27T20:40:00.345" v="7" actId="27636"/>
          <ac:spMkLst>
            <pc:docMk/>
            <pc:sldMk cId="344157716" sldId="417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40:00.348" v="9" actId="27636"/>
        <pc:sldMkLst>
          <pc:docMk/>
          <pc:sldMk cId="1171852867" sldId="418"/>
        </pc:sldMkLst>
        <pc:spChg chg="mod">
          <ac:chgData name="Bruno Augusto Nassif Travencolo" userId="9765cb90-d5ec-451e-8c7b-af57428794a1" providerId="ADAL" clId="{6CACD42D-ED9E-4A97-90FA-333C7E53B101}" dt="2023-04-27T20:40:00.348" v="9" actId="27636"/>
          <ac:spMkLst>
            <pc:docMk/>
            <pc:sldMk cId="1171852867" sldId="418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40:00.365" v="10" actId="27636"/>
        <pc:sldMkLst>
          <pc:docMk/>
          <pc:sldMk cId="796563707" sldId="419"/>
        </pc:sldMkLst>
        <pc:spChg chg="mod">
          <ac:chgData name="Bruno Augusto Nassif Travencolo" userId="9765cb90-d5ec-451e-8c7b-af57428794a1" providerId="ADAL" clId="{6CACD42D-ED9E-4A97-90FA-333C7E53B101}" dt="2023-04-27T20:40:00.365" v="10" actId="27636"/>
          <ac:spMkLst>
            <pc:docMk/>
            <pc:sldMk cId="796563707" sldId="419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40:00.375" v="11" actId="27636"/>
        <pc:sldMkLst>
          <pc:docMk/>
          <pc:sldMk cId="3582562673" sldId="423"/>
        </pc:sldMkLst>
        <pc:spChg chg="mod">
          <ac:chgData name="Bruno Augusto Nassif Travencolo" userId="9765cb90-d5ec-451e-8c7b-af57428794a1" providerId="ADAL" clId="{6CACD42D-ED9E-4A97-90FA-333C7E53B101}" dt="2023-04-27T20:40:00.375" v="11" actId="27636"/>
          <ac:spMkLst>
            <pc:docMk/>
            <pc:sldMk cId="3582562673" sldId="423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40:00.379" v="12" actId="27636"/>
        <pc:sldMkLst>
          <pc:docMk/>
          <pc:sldMk cId="1823603573" sldId="425"/>
        </pc:sldMkLst>
        <pc:spChg chg="mod">
          <ac:chgData name="Bruno Augusto Nassif Travencolo" userId="9765cb90-d5ec-451e-8c7b-af57428794a1" providerId="ADAL" clId="{6CACD42D-ED9E-4A97-90FA-333C7E53B101}" dt="2023-04-27T20:40:00.379" v="12" actId="27636"/>
          <ac:spMkLst>
            <pc:docMk/>
            <pc:sldMk cId="1823603573" sldId="425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40:00.397" v="13" actId="27636"/>
        <pc:sldMkLst>
          <pc:docMk/>
          <pc:sldMk cId="1763836900" sldId="426"/>
        </pc:sldMkLst>
        <pc:spChg chg="mod">
          <ac:chgData name="Bruno Augusto Nassif Travencolo" userId="9765cb90-d5ec-451e-8c7b-af57428794a1" providerId="ADAL" clId="{6CACD42D-ED9E-4A97-90FA-333C7E53B101}" dt="2023-04-27T20:40:00.397" v="13" actId="27636"/>
          <ac:spMkLst>
            <pc:docMk/>
            <pc:sldMk cId="1763836900" sldId="426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CACD42D-ED9E-4A97-90FA-333C7E53B101}" dt="2023-04-27T20:40:00.428" v="14" actId="27636"/>
        <pc:sldMkLst>
          <pc:docMk/>
          <pc:sldMk cId="3003276107" sldId="431"/>
        </pc:sldMkLst>
        <pc:spChg chg="mod">
          <ac:chgData name="Bruno Augusto Nassif Travencolo" userId="9765cb90-d5ec-451e-8c7b-af57428794a1" providerId="ADAL" clId="{6CACD42D-ED9E-4A97-90FA-333C7E53B101}" dt="2023-04-27T20:40:00.428" v="14" actId="27636"/>
          <ac:spMkLst>
            <pc:docMk/>
            <pc:sldMk cId="3003276107" sldId="431"/>
            <ac:spMk id="3" creationId="{00000000-0000-0000-0000-000000000000}"/>
          </ac:spMkLst>
        </pc:spChg>
      </pc:sldChg>
    </pc:docChg>
  </pc:docChgLst>
  <pc:docChgLst>
    <pc:chgData name="Bruno Augusto Nassif Travencolo" userId="9765cb90-d5ec-451e-8c7b-af57428794a1" providerId="ADAL" clId="{B52E250B-9401-4DC7-9D67-1679F84F7E28}"/>
    <pc:docChg chg="custSel modSld">
      <pc:chgData name="Bruno Augusto Nassif Travencolo" userId="9765cb90-d5ec-451e-8c7b-af57428794a1" providerId="ADAL" clId="{B52E250B-9401-4DC7-9D67-1679F84F7E28}" dt="2023-04-27T20:40:00.558" v="17" actId="27636"/>
      <pc:docMkLst>
        <pc:docMk/>
      </pc:docMkLst>
      <pc:sldChg chg="modSp mod">
        <pc:chgData name="Bruno Augusto Nassif Travencolo" userId="9765cb90-d5ec-451e-8c7b-af57428794a1" providerId="ADAL" clId="{B52E250B-9401-4DC7-9D67-1679F84F7E28}" dt="2023-04-27T20:40:00.470" v="0" actId="27636"/>
        <pc:sldMkLst>
          <pc:docMk/>
          <pc:sldMk cId="0" sldId="256"/>
        </pc:sldMkLst>
        <pc:spChg chg="mod">
          <ac:chgData name="Bruno Augusto Nassif Travencolo" userId="9765cb90-d5ec-451e-8c7b-af57428794a1" providerId="ADAL" clId="{B52E250B-9401-4DC7-9D67-1679F84F7E28}" dt="2023-04-27T20:40:00.470" v="0" actId="27636"/>
          <ac:spMkLst>
            <pc:docMk/>
            <pc:sldMk cId="0" sldId="256"/>
            <ac:spMk id="2050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483" v="1" actId="27636"/>
        <pc:sldMkLst>
          <pc:docMk/>
          <pc:sldMk cId="3169820353" sldId="384"/>
        </pc:sldMkLst>
        <pc:spChg chg="mod">
          <ac:chgData name="Bruno Augusto Nassif Travencolo" userId="9765cb90-d5ec-451e-8c7b-af57428794a1" providerId="ADAL" clId="{B52E250B-9401-4DC7-9D67-1679F84F7E28}" dt="2023-04-27T20:40:00.483" v="1" actId="27636"/>
          <ac:spMkLst>
            <pc:docMk/>
            <pc:sldMk cId="3169820353" sldId="384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498" v="3" actId="27636"/>
        <pc:sldMkLst>
          <pc:docMk/>
          <pc:sldMk cId="3449575279" sldId="385"/>
        </pc:sldMkLst>
        <pc:spChg chg="mod">
          <ac:chgData name="Bruno Augusto Nassif Travencolo" userId="9765cb90-d5ec-451e-8c7b-af57428794a1" providerId="ADAL" clId="{B52E250B-9401-4DC7-9D67-1679F84F7E28}" dt="2023-04-27T20:40:00.498" v="3" actId="27636"/>
          <ac:spMkLst>
            <pc:docMk/>
            <pc:sldMk cId="3449575279" sldId="385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491" v="2" actId="27636"/>
        <pc:sldMkLst>
          <pc:docMk/>
          <pc:sldMk cId="546342123" sldId="387"/>
        </pc:sldMkLst>
        <pc:spChg chg="mod">
          <ac:chgData name="Bruno Augusto Nassif Travencolo" userId="9765cb90-d5ec-451e-8c7b-af57428794a1" providerId="ADAL" clId="{B52E250B-9401-4DC7-9D67-1679F84F7E28}" dt="2023-04-27T20:40:00.491" v="2" actId="27636"/>
          <ac:spMkLst>
            <pc:docMk/>
            <pc:sldMk cId="546342123" sldId="387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506" v="4" actId="27636"/>
        <pc:sldMkLst>
          <pc:docMk/>
          <pc:sldMk cId="4200756762" sldId="389"/>
        </pc:sldMkLst>
        <pc:spChg chg="mod">
          <ac:chgData name="Bruno Augusto Nassif Travencolo" userId="9765cb90-d5ec-451e-8c7b-af57428794a1" providerId="ADAL" clId="{B52E250B-9401-4DC7-9D67-1679F84F7E28}" dt="2023-04-27T20:40:00.506" v="4" actId="27636"/>
          <ac:spMkLst>
            <pc:docMk/>
            <pc:sldMk cId="4200756762" sldId="389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510" v="5" actId="27636"/>
        <pc:sldMkLst>
          <pc:docMk/>
          <pc:sldMk cId="3258423713" sldId="391"/>
        </pc:sldMkLst>
        <pc:spChg chg="mod">
          <ac:chgData name="Bruno Augusto Nassif Travencolo" userId="9765cb90-d5ec-451e-8c7b-af57428794a1" providerId="ADAL" clId="{B52E250B-9401-4DC7-9D67-1679F84F7E28}" dt="2023-04-27T20:40:00.510" v="5" actId="27636"/>
          <ac:spMkLst>
            <pc:docMk/>
            <pc:sldMk cId="3258423713" sldId="391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514" v="6" actId="27636"/>
        <pc:sldMkLst>
          <pc:docMk/>
          <pc:sldMk cId="3711449724" sldId="392"/>
        </pc:sldMkLst>
        <pc:spChg chg="mod">
          <ac:chgData name="Bruno Augusto Nassif Travencolo" userId="9765cb90-d5ec-451e-8c7b-af57428794a1" providerId="ADAL" clId="{B52E250B-9401-4DC7-9D67-1679F84F7E28}" dt="2023-04-27T20:40:00.514" v="6" actId="27636"/>
          <ac:spMkLst>
            <pc:docMk/>
            <pc:sldMk cId="3711449724" sldId="392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536" v="9" actId="27636"/>
        <pc:sldMkLst>
          <pc:docMk/>
          <pc:sldMk cId="416021104" sldId="405"/>
        </pc:sldMkLst>
        <pc:spChg chg="mod">
          <ac:chgData name="Bruno Augusto Nassif Travencolo" userId="9765cb90-d5ec-451e-8c7b-af57428794a1" providerId="ADAL" clId="{B52E250B-9401-4DC7-9D67-1679F84F7E28}" dt="2023-04-27T20:40:00.536" v="9" actId="27636"/>
          <ac:spMkLst>
            <pc:docMk/>
            <pc:sldMk cId="416021104" sldId="405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526" v="7" actId="27636"/>
        <pc:sldMkLst>
          <pc:docMk/>
          <pc:sldMk cId="732633099" sldId="414"/>
        </pc:sldMkLst>
        <pc:spChg chg="mod">
          <ac:chgData name="Bruno Augusto Nassif Travencolo" userId="9765cb90-d5ec-451e-8c7b-af57428794a1" providerId="ADAL" clId="{B52E250B-9401-4DC7-9D67-1679F84F7E28}" dt="2023-04-27T20:40:00.526" v="7" actId="27636"/>
          <ac:spMkLst>
            <pc:docMk/>
            <pc:sldMk cId="732633099" sldId="414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534" v="8" actId="27636"/>
        <pc:sldMkLst>
          <pc:docMk/>
          <pc:sldMk cId="280064283" sldId="416"/>
        </pc:sldMkLst>
        <pc:spChg chg="mod">
          <ac:chgData name="Bruno Augusto Nassif Travencolo" userId="9765cb90-d5ec-451e-8c7b-af57428794a1" providerId="ADAL" clId="{B52E250B-9401-4DC7-9D67-1679F84F7E28}" dt="2023-04-27T20:40:00.534" v="8" actId="27636"/>
          <ac:spMkLst>
            <pc:docMk/>
            <pc:sldMk cId="280064283" sldId="416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538" v="11" actId="27636"/>
        <pc:sldMkLst>
          <pc:docMk/>
          <pc:sldMk cId="344157716" sldId="417"/>
        </pc:sldMkLst>
        <pc:spChg chg="mod">
          <ac:chgData name="Bruno Augusto Nassif Travencolo" userId="9765cb90-d5ec-451e-8c7b-af57428794a1" providerId="ADAL" clId="{B52E250B-9401-4DC7-9D67-1679F84F7E28}" dt="2023-04-27T20:40:00.537" v="10" actId="27636"/>
          <ac:spMkLst>
            <pc:docMk/>
            <pc:sldMk cId="344157716" sldId="417"/>
            <ac:spMk id="2" creationId="{00000000-0000-0000-0000-000000000000}"/>
          </ac:spMkLst>
        </pc:spChg>
        <pc:spChg chg="mod">
          <ac:chgData name="Bruno Augusto Nassif Travencolo" userId="9765cb90-d5ec-451e-8c7b-af57428794a1" providerId="ADAL" clId="{B52E250B-9401-4DC7-9D67-1679F84F7E28}" dt="2023-04-27T20:40:00.538" v="11" actId="27636"/>
          <ac:spMkLst>
            <pc:docMk/>
            <pc:sldMk cId="344157716" sldId="417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540" v="12" actId="27636"/>
        <pc:sldMkLst>
          <pc:docMk/>
          <pc:sldMk cId="1171852867" sldId="418"/>
        </pc:sldMkLst>
        <pc:spChg chg="mod">
          <ac:chgData name="Bruno Augusto Nassif Travencolo" userId="9765cb90-d5ec-451e-8c7b-af57428794a1" providerId="ADAL" clId="{B52E250B-9401-4DC7-9D67-1679F84F7E28}" dt="2023-04-27T20:40:00.540" v="12" actId="27636"/>
          <ac:spMkLst>
            <pc:docMk/>
            <pc:sldMk cId="1171852867" sldId="418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541" v="13" actId="27636"/>
        <pc:sldMkLst>
          <pc:docMk/>
          <pc:sldMk cId="796563707" sldId="419"/>
        </pc:sldMkLst>
        <pc:spChg chg="mod">
          <ac:chgData name="Bruno Augusto Nassif Travencolo" userId="9765cb90-d5ec-451e-8c7b-af57428794a1" providerId="ADAL" clId="{B52E250B-9401-4DC7-9D67-1679F84F7E28}" dt="2023-04-27T20:40:00.541" v="13" actId="27636"/>
          <ac:spMkLst>
            <pc:docMk/>
            <pc:sldMk cId="796563707" sldId="419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546" v="14" actId="27636"/>
        <pc:sldMkLst>
          <pc:docMk/>
          <pc:sldMk cId="3582562673" sldId="423"/>
        </pc:sldMkLst>
        <pc:spChg chg="mod">
          <ac:chgData name="Bruno Augusto Nassif Travencolo" userId="9765cb90-d5ec-451e-8c7b-af57428794a1" providerId="ADAL" clId="{B52E250B-9401-4DC7-9D67-1679F84F7E28}" dt="2023-04-27T20:40:00.546" v="14" actId="27636"/>
          <ac:spMkLst>
            <pc:docMk/>
            <pc:sldMk cId="3582562673" sldId="423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548" v="15" actId="27636"/>
        <pc:sldMkLst>
          <pc:docMk/>
          <pc:sldMk cId="1823603573" sldId="425"/>
        </pc:sldMkLst>
        <pc:spChg chg="mod">
          <ac:chgData name="Bruno Augusto Nassif Travencolo" userId="9765cb90-d5ec-451e-8c7b-af57428794a1" providerId="ADAL" clId="{B52E250B-9401-4DC7-9D67-1679F84F7E28}" dt="2023-04-27T20:40:00.548" v="15" actId="27636"/>
          <ac:spMkLst>
            <pc:docMk/>
            <pc:sldMk cId="1823603573" sldId="425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550" v="16" actId="27636"/>
        <pc:sldMkLst>
          <pc:docMk/>
          <pc:sldMk cId="1763836900" sldId="426"/>
        </pc:sldMkLst>
        <pc:spChg chg="mod">
          <ac:chgData name="Bruno Augusto Nassif Travencolo" userId="9765cb90-d5ec-451e-8c7b-af57428794a1" providerId="ADAL" clId="{B52E250B-9401-4DC7-9D67-1679F84F7E28}" dt="2023-04-27T20:40:00.550" v="16" actId="27636"/>
          <ac:spMkLst>
            <pc:docMk/>
            <pc:sldMk cId="1763836900" sldId="426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B52E250B-9401-4DC7-9D67-1679F84F7E28}" dt="2023-04-27T20:40:00.558" v="17" actId="27636"/>
        <pc:sldMkLst>
          <pc:docMk/>
          <pc:sldMk cId="3003276107" sldId="431"/>
        </pc:sldMkLst>
        <pc:spChg chg="mod">
          <ac:chgData name="Bruno Augusto Nassif Travencolo" userId="9765cb90-d5ec-451e-8c7b-af57428794a1" providerId="ADAL" clId="{B52E250B-9401-4DC7-9D67-1679F84F7E28}" dt="2023-04-27T20:40:00.558" v="17" actId="27636"/>
          <ac:spMkLst>
            <pc:docMk/>
            <pc:sldMk cId="3003276107" sldId="431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39F1A57-F33E-4393-8FA2-1F69FD535ECB}" type="datetimeFigureOut">
              <a:rPr lang="pt-BR"/>
              <a:pPr>
                <a:defRPr/>
              </a:pPr>
              <a:t>10/05/2023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177338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9177338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7E35290-FFF3-4850-9B03-F21DE39FB8F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628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7D31CAC-F0C2-41EF-A01C-D8DF37D60C8E}" type="datetimeFigureOut">
              <a:rPr lang="pt-BR"/>
              <a:pPr>
                <a:defRPr/>
              </a:pPr>
              <a:t>10/05/2023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012825" y="723900"/>
            <a:ext cx="4832350" cy="3624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589463"/>
            <a:ext cx="5486400" cy="4348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77338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9177338"/>
            <a:ext cx="2971800" cy="482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32429B5-5C1F-43B1-A586-EC1D265D517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80630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2560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5E5E98-18BA-4647-9469-D0AC204A8FF1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ADD2241-0155-4733-9F5C-3541B2C5C78B}" type="datetimeFigureOut">
              <a:rPr lang="pt-BR" smtClean="0"/>
              <a:pPr>
                <a:defRPr/>
              </a:pPr>
              <a:t>10/05/2023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7100543-BDAF-4B07-B74F-DC2D3CC64D93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EEC68F-67E4-4363-B94F-9C3BBAC6AC19}" type="datetimeFigureOut">
              <a:rPr lang="pt-BR" smtClean="0"/>
              <a:pPr>
                <a:defRPr/>
              </a:pPr>
              <a:t>10/05/2023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FAD7DCE-9BF6-4BCB-A028-CEC209FD1F11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1859C0-2C75-46BE-B145-DA066BF1F982}" type="datetimeFigureOut">
              <a:rPr lang="pt-BR" smtClean="0"/>
              <a:pPr>
                <a:defRPr/>
              </a:pPr>
              <a:t>10/05/2023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A580381-B43B-4F42-8E65-028C0B27AEE8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fld id="{4F1AEC33-178E-420C-A6AD-5996210A529C}" type="datetimeFigureOut">
              <a:rPr lang="pt-BR" smtClean="0"/>
              <a:pPr>
                <a:defRPr/>
              </a:pPr>
              <a:t>10/05/2023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A6C5B13A-3177-4579-9084-9EEC1B274296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fld id="{7853138C-E868-47B5-8DCF-2C3F87FE1A77}" type="datetimeFigureOut">
              <a:rPr lang="pt-BR" smtClean="0"/>
              <a:pPr>
                <a:defRPr/>
              </a:pPr>
              <a:t>10/05/2023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9B1117E0-B667-4980-AD10-4493A728CA24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3AD2A7-9F9E-4806-9C40-1F7FBA8B8D14}" type="datetimeFigureOut">
              <a:rPr lang="pt-BR" smtClean="0"/>
              <a:pPr>
                <a:defRPr/>
              </a:pPr>
              <a:t>10/05/2023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12B20D4-501C-40A1-9878-F0D0E8717EAE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A7DB86-D5C9-4310-9B12-AA1E663643E7}" type="datetimeFigureOut">
              <a:rPr lang="pt-BR" smtClean="0"/>
              <a:pPr>
                <a:defRPr/>
              </a:pPr>
              <a:t>10/05/2023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C07D5A2-4E51-4381-AE14-9DEDAB3BE17E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2D7227-47DA-4EC0-8EE9-9424834AFDDA}" type="datetimeFigureOut">
              <a:rPr lang="pt-BR" smtClean="0"/>
              <a:pPr>
                <a:defRPr/>
              </a:pPr>
              <a:t>10/05/2023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835E4FD-EB04-4899-B275-D55DED67ADD4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fld id="{F87CBD32-B24D-4125-BED9-C1940F66D9C6}" type="datetimeFigureOut">
              <a:rPr lang="pt-BR" smtClean="0"/>
              <a:pPr>
                <a:defRPr/>
              </a:pPr>
              <a:t>10/05/2023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93029694-C98E-48C0-897A-79B3A1F084DA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E11749-0268-4737-A462-7E9D9797F0F5}" type="datetimeFigureOut">
              <a:rPr lang="pt-BR" smtClean="0"/>
              <a:pPr>
                <a:defRPr/>
              </a:pPr>
              <a:t>10/05/2023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F143D2-7F5D-4F8A-B030-89CDD974A4C6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fld id="{72B64875-B016-4B5F-905E-5ED312C408A5}" type="datetimeFigureOut">
              <a:rPr lang="pt-BR" smtClean="0"/>
              <a:pPr>
                <a:defRPr/>
              </a:pPr>
              <a:t>10/05/2023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8B06ECB4-070B-428A-8423-A9174FFDF23E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17B07C5-8200-4651-B9AE-742E61FD85BE}" type="datetimeFigureOut">
              <a:rPr lang="pt-BR" smtClean="0"/>
              <a:pPr>
                <a:defRPr/>
              </a:pPr>
              <a:t>10/05/2023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18F768C-4133-4074-B342-A2887F7FEBC1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3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38.png"/><Relationship Id="rId5" Type="http://schemas.openxmlformats.org/officeDocument/2006/relationships/image" Target="../media/image35.wmf"/><Relationship Id="rId10" Type="http://schemas.openxmlformats.org/officeDocument/2006/relationships/image" Target="../media/image28.png"/><Relationship Id="rId4" Type="http://schemas.openxmlformats.org/officeDocument/2006/relationships/oleObject" Target="../embeddings/oleObject20.bin"/><Relationship Id="rId9" Type="http://schemas.openxmlformats.org/officeDocument/2006/relationships/image" Target="../media/image37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2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wmf"/><Relationship Id="rId4" Type="http://schemas.openxmlformats.org/officeDocument/2006/relationships/oleObject" Target="../embeddings/oleObject27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/>
              <a:t>Filtragem NO Domínio da frequência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3845010" cy="4781128"/>
          </a:xfrm>
        </p:spPr>
        <p:txBody>
          <a:bodyPr>
            <a:normAutofit/>
          </a:bodyPr>
          <a:lstStyle/>
          <a:p>
            <a:r>
              <a:rPr lang="pt-BR"/>
              <a:t>Um sinal no domínio do espaço </a:t>
            </a:r>
            <a:r>
              <a:rPr lang="pt-BR" i="1"/>
              <a:t>(</a:t>
            </a:r>
            <a:r>
              <a:rPr lang="pt-BR" i="1" err="1"/>
              <a:t>x,y</a:t>
            </a:r>
            <a:r>
              <a:rPr lang="pt-BR" i="1"/>
              <a:t>)</a:t>
            </a:r>
            <a:r>
              <a:rPr lang="pt-BR"/>
              <a:t> pode ser aproximado através de uma soma de senos e cossenos com frequências </a:t>
            </a:r>
            <a:r>
              <a:rPr lang="pt-BR" i="1"/>
              <a:t>(f1, f2, f3, .......</a:t>
            </a:r>
            <a:r>
              <a:rPr lang="pt-BR" i="1" err="1"/>
              <a:t>fn</a:t>
            </a:r>
            <a:r>
              <a:rPr lang="pt-BR" i="1"/>
              <a:t>) </a:t>
            </a:r>
            <a:r>
              <a:rPr lang="pt-BR"/>
              <a:t>de amplitudes </a:t>
            </a:r>
            <a:r>
              <a:rPr lang="pt-BR" i="1"/>
              <a:t>(a1, a2, ...... </a:t>
            </a:r>
            <a:r>
              <a:rPr lang="pt-BR" i="1" err="1"/>
              <a:t>an</a:t>
            </a:r>
            <a:r>
              <a:rPr lang="pt-BR" i="1"/>
              <a:t>)</a:t>
            </a:r>
            <a:r>
              <a:rPr lang="pt-BR"/>
              <a:t> e fases </a:t>
            </a:r>
            <a:r>
              <a:rPr lang="pt-BR" i="1"/>
              <a:t>(p1, p2, .....</a:t>
            </a:r>
            <a:r>
              <a:rPr lang="pt-BR" i="1" err="1"/>
              <a:t>pn</a:t>
            </a:r>
            <a:r>
              <a:rPr lang="pt-BR" i="1"/>
              <a:t>)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006" y="1268760"/>
            <a:ext cx="4407490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982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</a:t>
            </a:r>
          </a:p>
          <a:p>
            <a:pPr lvl="1"/>
            <a:r>
              <a:rPr lang="pt-BR"/>
              <a:t>Uma linha de uma imagem formada por uma sequência de pixels brancos e pretos</a:t>
            </a:r>
          </a:p>
          <a:p>
            <a:pPr lvl="1"/>
            <a:endParaRPr lang="pt-BR"/>
          </a:p>
          <a:p>
            <a:pPr lvl="1"/>
            <a:r>
              <a:rPr lang="pt-BR"/>
              <a:t>Pode ser representada no domínio do espaço como uma forma de onda</a:t>
            </a:r>
          </a:p>
          <a:p>
            <a:pPr lvl="1"/>
            <a:endParaRPr lang="pt-BR"/>
          </a:p>
          <a:p>
            <a:pPr lvl="1"/>
            <a:endParaRPr lang="pt-BR"/>
          </a:p>
          <a:p>
            <a:pPr lvl="1"/>
            <a:endParaRPr lang="pt-BR"/>
          </a:p>
          <a:p>
            <a:pPr lvl="1"/>
            <a:endParaRPr lang="pt-BR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696" y="2996952"/>
            <a:ext cx="4506913" cy="46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19" y="4580102"/>
            <a:ext cx="5295963" cy="2241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6290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218684" cy="4495800"/>
          </a:xfrm>
        </p:spPr>
        <p:txBody>
          <a:bodyPr>
            <a:normAutofit fontScale="92500" lnSpcReduction="10000"/>
          </a:bodyPr>
          <a:lstStyle/>
          <a:p>
            <a:r>
              <a:rPr lang="pt-BR"/>
              <a:t>Exemplo</a:t>
            </a:r>
          </a:p>
          <a:p>
            <a:pPr lvl="1"/>
            <a:r>
              <a:rPr lang="pt-BR"/>
              <a:t>E no Domínio da Frequência pode ser representada por uma soma de senos e cossenos, através de suas frequências (f) e amplitudes (a)</a:t>
            </a:r>
          </a:p>
          <a:p>
            <a:pPr lvl="1"/>
            <a:r>
              <a:rPr lang="pt-BR"/>
              <a:t>Que podem ser colocadas no formato de uma Imagem como uma linha de amplitudes em escala de cinza</a:t>
            </a:r>
          </a:p>
          <a:p>
            <a:pPr lvl="1"/>
            <a:endParaRPr lang="pt-BR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14"/>
          <a:stretch/>
        </p:blipFill>
        <p:spPr bwMode="auto">
          <a:xfrm>
            <a:off x="4831332" y="2060848"/>
            <a:ext cx="4266073" cy="233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5642248"/>
            <a:ext cx="4116388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5821932" y="2975248"/>
            <a:ext cx="38100" cy="2667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8107932" y="3661048"/>
            <a:ext cx="114300" cy="1981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634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Exemplo</a:t>
            </a:r>
          </a:p>
          <a:p>
            <a:pPr lvl="1"/>
            <a:r>
              <a:rPr lang="pt-BR"/>
              <a:t>A imagem gerada através  das amplitudes das frequências</a:t>
            </a:r>
          </a:p>
          <a:p>
            <a:pPr lvl="1"/>
            <a:endParaRPr lang="pt-BR"/>
          </a:p>
          <a:p>
            <a:pPr lvl="1"/>
            <a:r>
              <a:rPr lang="pt-BR"/>
              <a:t>É a Transformada no domínio da frequência da imagem original dada no domínio do espaço</a:t>
            </a:r>
          </a:p>
          <a:p>
            <a:pPr lvl="1"/>
            <a:endParaRPr lang="pt-BR"/>
          </a:p>
          <a:p>
            <a:pPr lvl="1"/>
            <a:r>
              <a:rPr lang="pt-BR"/>
              <a:t>Geralmente é possível aplicar sobre a imagem no domínio da frequência, uma Transformada Inversa, obtendo a imagem original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104703"/>
            <a:ext cx="4116388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319" y="4328839"/>
            <a:ext cx="4506913" cy="46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120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Transformada de Fourier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pt-BR"/>
              <a:t>Consiste em converter uma função em componentes senos e cossenos</a:t>
            </a:r>
          </a:p>
          <a:p>
            <a:pPr lvl="1"/>
            <a:r>
              <a:rPr lang="pt-BR"/>
              <a:t>Seja </a:t>
            </a:r>
            <a:r>
              <a:rPr lang="pt-BR" i="1"/>
              <a:t>f(x)</a:t>
            </a:r>
            <a:r>
              <a:rPr lang="pt-BR"/>
              <a:t> uma função contínua de uma variável real x, a  Transformada de Fourier de </a:t>
            </a:r>
            <a:r>
              <a:rPr lang="pt-BR" i="1"/>
              <a:t>f(x)</a:t>
            </a:r>
            <a:r>
              <a:rPr lang="pt-BR"/>
              <a:t> é definida por</a:t>
            </a:r>
          </a:p>
          <a:p>
            <a:endParaRPr lang="pt-BR"/>
          </a:p>
          <a:p>
            <a:pPr lvl="1"/>
            <a:endParaRPr lang="pt-BR"/>
          </a:p>
          <a:p>
            <a:pPr lvl="1"/>
            <a:r>
              <a:rPr lang="pt-BR"/>
              <a:t>A Transformada Inversa de Fourier é dada por</a:t>
            </a:r>
          </a:p>
          <a:p>
            <a:pPr lvl="1"/>
            <a:endParaRPr lang="pt-BR"/>
          </a:p>
          <a:p>
            <a:pPr lvl="1"/>
            <a:endParaRPr lang="pt-BR"/>
          </a:p>
          <a:p>
            <a:pPr lvl="1"/>
            <a:r>
              <a:rPr lang="pt-BR"/>
              <a:t>Observe que estamos trabalhando com números complexos</a:t>
            </a:r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819498"/>
              </p:ext>
            </p:extLst>
          </p:nvPr>
        </p:nvGraphicFramePr>
        <p:xfrm>
          <a:off x="2500660" y="3068960"/>
          <a:ext cx="44862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65400" imgH="469900" progId="Equation.3">
                  <p:embed/>
                </p:oleObj>
              </mc:Choice>
              <mc:Fallback>
                <p:oleObj name="Equation" r:id="rId2" imgW="2565400" imgH="4699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660" y="3068960"/>
                        <a:ext cx="44862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577251"/>
              </p:ext>
            </p:extLst>
          </p:nvPr>
        </p:nvGraphicFramePr>
        <p:xfrm>
          <a:off x="2467322" y="4443983"/>
          <a:ext cx="45529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03500" imgH="469900" progId="Equation.3">
                  <p:embed/>
                </p:oleObj>
              </mc:Choice>
              <mc:Fallback>
                <p:oleObj name="Equation" r:id="rId4" imgW="2603500" imgH="4699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7322" y="4443983"/>
                        <a:ext cx="455295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9575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Transformada de Fourier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/>
              <a:t>Usando-se a fórmula de Euler, o termo exponencial dentro da integral, pode ser colocado na forma</a:t>
            </a:r>
          </a:p>
          <a:p>
            <a:endParaRPr lang="pt-BR"/>
          </a:p>
          <a:p>
            <a:pPr lvl="1"/>
            <a:endParaRPr lang="pt-BR"/>
          </a:p>
          <a:p>
            <a:pPr lvl="1"/>
            <a:r>
              <a:rPr lang="pt-BR" i="1"/>
              <a:t>F(u)</a:t>
            </a:r>
            <a:r>
              <a:rPr lang="pt-BR"/>
              <a:t> é uma soma infinita de senos e cossenos e que cada valor de (</a:t>
            </a:r>
            <a:r>
              <a:rPr lang="pt-BR" i="1"/>
              <a:t>u</a:t>
            </a:r>
            <a:r>
              <a:rPr lang="pt-BR"/>
              <a:t>) determina a frequência de seu correspondente par (seno-cosseno)</a:t>
            </a:r>
          </a:p>
          <a:p>
            <a:pPr lvl="1"/>
            <a:r>
              <a:rPr lang="pt-BR"/>
              <a:t>A variável (</a:t>
            </a:r>
            <a:r>
              <a:rPr lang="pt-BR" i="1"/>
              <a:t>u</a:t>
            </a:r>
            <a:r>
              <a:rPr lang="pt-BR"/>
              <a:t>) é denominada de </a:t>
            </a:r>
            <a:r>
              <a:rPr lang="pt-BR" i="1"/>
              <a:t>Variável de Frequência</a:t>
            </a:r>
          </a:p>
          <a:p>
            <a:r>
              <a:rPr lang="pt-BR"/>
              <a:t>A Transformada de Fourier de uma função </a:t>
            </a:r>
            <a:r>
              <a:rPr lang="pt-BR" i="1"/>
              <a:t>f(x)</a:t>
            </a:r>
            <a:r>
              <a:rPr lang="pt-BR"/>
              <a:t> real, é complexa:</a:t>
            </a:r>
          </a:p>
          <a:p>
            <a:pPr lvl="1"/>
            <a:endParaRPr lang="pt-BR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52269"/>
              </p:ext>
            </p:extLst>
          </p:nvPr>
        </p:nvGraphicFramePr>
        <p:xfrm>
          <a:off x="1475656" y="2765687"/>
          <a:ext cx="6192688" cy="519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25700" imgH="203200" progId="Equation.3">
                  <p:embed/>
                </p:oleObj>
              </mc:Choice>
              <mc:Fallback>
                <p:oleObj name="Equation" r:id="rId2" imgW="2425700" imgH="2032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765687"/>
                        <a:ext cx="6192688" cy="5192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521593"/>
              </p:ext>
            </p:extLst>
          </p:nvPr>
        </p:nvGraphicFramePr>
        <p:xfrm>
          <a:off x="3203848" y="5957466"/>
          <a:ext cx="239871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244520" imgH="203040" progId="Equation.3">
                  <p:embed/>
                </p:oleObj>
              </mc:Choice>
              <mc:Fallback>
                <p:oleObj name="Equação" r:id="rId4" imgW="1244520" imgH="20304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5957466"/>
                        <a:ext cx="2398713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0756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Transformada de Fourier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Propriedades</a:t>
            </a:r>
          </a:p>
          <a:p>
            <a:pPr lvl="1"/>
            <a:r>
              <a:rPr lang="pt-BR"/>
              <a:t>A Magnitude de </a:t>
            </a:r>
            <a:r>
              <a:rPr lang="pt-BR" i="1"/>
              <a:t>F(u)</a:t>
            </a:r>
            <a:r>
              <a:rPr lang="pt-BR"/>
              <a:t> é chamada de </a:t>
            </a:r>
            <a:r>
              <a:rPr lang="pt-BR" i="1"/>
              <a:t>Espectro de Fourier </a:t>
            </a:r>
            <a:r>
              <a:rPr lang="pt-BR"/>
              <a:t>de f(x)</a:t>
            </a:r>
          </a:p>
          <a:p>
            <a:endParaRPr lang="pt-BR"/>
          </a:p>
          <a:p>
            <a:pPr lvl="1"/>
            <a:r>
              <a:rPr lang="pt-BR"/>
              <a:t>O </a:t>
            </a:r>
            <a:r>
              <a:rPr lang="pt-BR" i="1"/>
              <a:t>ângulo de fase </a:t>
            </a:r>
            <a:r>
              <a:rPr lang="pt-BR"/>
              <a:t>é dado por</a:t>
            </a:r>
          </a:p>
          <a:p>
            <a:endParaRPr lang="pt-BR"/>
          </a:p>
          <a:p>
            <a:pPr lvl="1"/>
            <a:r>
              <a:rPr lang="pt-BR"/>
              <a:t>O quadrado do espectro é chamado de </a:t>
            </a:r>
            <a:r>
              <a:rPr lang="pt-BR" i="1"/>
              <a:t>Espectro de Potência</a:t>
            </a:r>
            <a:r>
              <a:rPr lang="pt-BR"/>
              <a:t> de </a:t>
            </a:r>
            <a:r>
              <a:rPr lang="pt-BR" i="1"/>
              <a:t>f(x)</a:t>
            </a:r>
            <a:r>
              <a:rPr lang="pt-BR"/>
              <a:t> ou </a:t>
            </a:r>
            <a:r>
              <a:rPr lang="pt-BR" i="1"/>
              <a:t>Densidade Espectral</a:t>
            </a:r>
            <a:r>
              <a:rPr lang="pt-BR"/>
              <a:t>:</a:t>
            </a: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368145"/>
              </p:ext>
            </p:extLst>
          </p:nvPr>
        </p:nvGraphicFramePr>
        <p:xfrm>
          <a:off x="3635896" y="2747392"/>
          <a:ext cx="2984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291960" progId="Equation.3">
                  <p:embed/>
                </p:oleObj>
              </mc:Choice>
              <mc:Fallback>
                <p:oleObj name="Equation" r:id="rId2" imgW="1549080" imgH="291960" progId="Equation.3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2747392"/>
                        <a:ext cx="29845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709098"/>
              </p:ext>
            </p:extLst>
          </p:nvPr>
        </p:nvGraphicFramePr>
        <p:xfrm>
          <a:off x="5940152" y="3645024"/>
          <a:ext cx="2514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419040" progId="Equation.3">
                  <p:embed/>
                </p:oleObj>
              </mc:Choice>
              <mc:Fallback>
                <p:oleObj name="Equation" r:id="rId4" imgW="1168200" imgH="419040" progId="Equation.3">
                  <p:embed/>
                  <p:pic>
                    <p:nvPicPr>
                      <p:cNvPr id="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3645024"/>
                        <a:ext cx="25146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517390"/>
              </p:ext>
            </p:extLst>
          </p:nvPr>
        </p:nvGraphicFramePr>
        <p:xfrm>
          <a:off x="3200400" y="5589240"/>
          <a:ext cx="3314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66600" imgH="279360" progId="Equation.3">
                  <p:embed/>
                </p:oleObj>
              </mc:Choice>
              <mc:Fallback>
                <p:oleObj name="Equation" r:id="rId6" imgW="1866600" imgH="279360" progId="Equation.3">
                  <p:embed/>
                  <p:pic>
                    <p:nvPicPr>
                      <p:cNvPr id="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589240"/>
                        <a:ext cx="33147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3173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Transformada de Fourier - Exemplo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Função 1D </a:t>
            </a:r>
            <a:r>
              <a:rPr lang="pt-BR" i="1"/>
              <a:t>f(x)</a:t>
            </a:r>
            <a:r>
              <a:rPr lang="pt-BR"/>
              <a:t> no domínio do espaço</a:t>
            </a:r>
          </a:p>
          <a:p>
            <a:pPr lvl="1"/>
            <a:endParaRPr lang="pt-BR"/>
          </a:p>
          <a:p>
            <a:pPr lvl="1"/>
            <a:endParaRPr lang="pt-BR"/>
          </a:p>
          <a:p>
            <a:pPr marL="365760" lvl="1" indent="0">
              <a:buNone/>
            </a:pPr>
            <a:endParaRPr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pt-BR" sz="2900"/>
              <a:t>Espectro de Fourier da função </a:t>
            </a:r>
            <a:r>
              <a:rPr lang="pt-BR" sz="2900" i="1"/>
              <a:t>f(x)</a:t>
            </a:r>
            <a:endParaRPr lang="en-US" sz="2900" i="1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309" y="2852936"/>
            <a:ext cx="4195763" cy="208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924944"/>
            <a:ext cx="2459038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395536" y="5376698"/>
            <a:ext cx="842493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just"/>
            <a:r>
              <a:rPr lang="pt-BR" sz="2600">
                <a:latin typeface="+mn-lt"/>
                <a:cs typeface="+mn-cs"/>
              </a:rPr>
              <a:t>Variando-se o valor de (</a:t>
            </a:r>
            <a:r>
              <a:rPr lang="pt-BR" sz="2600" i="1">
                <a:latin typeface="+mn-lt"/>
                <a:cs typeface="+mn-cs"/>
              </a:rPr>
              <a:t>u</a:t>
            </a:r>
            <a:r>
              <a:rPr lang="pt-BR" sz="2600">
                <a:latin typeface="+mn-lt"/>
                <a:cs typeface="+mn-cs"/>
              </a:rPr>
              <a:t>), obtém-se as infinitas amplitudes das frequências que constituem a função </a:t>
            </a:r>
            <a:r>
              <a:rPr lang="pt-BR" sz="2600" i="1">
                <a:latin typeface="+mn-lt"/>
                <a:cs typeface="+mn-cs"/>
              </a:rPr>
              <a:t>f(x)</a:t>
            </a:r>
            <a:r>
              <a:rPr lang="pt-BR" sz="2600">
                <a:latin typeface="+mn-lt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8423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Transformada de Fourier 2D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r>
              <a:rPr lang="pt-BR"/>
              <a:t>Consiste em converter uma função bidimensional em componentes senos e cossenos</a:t>
            </a:r>
          </a:p>
          <a:p>
            <a:pPr lvl="1"/>
            <a:r>
              <a:rPr lang="pt-BR"/>
              <a:t>A Transformada de Fourier de uma função contínua </a:t>
            </a:r>
            <a:r>
              <a:rPr lang="pt-BR" i="1"/>
              <a:t>f(</a:t>
            </a:r>
            <a:r>
              <a:rPr lang="pt-BR" i="1" err="1"/>
              <a:t>x,y</a:t>
            </a:r>
            <a:r>
              <a:rPr lang="pt-BR" i="1"/>
              <a:t>)</a:t>
            </a:r>
            <a:r>
              <a:rPr lang="pt-BR"/>
              <a:t> é dada por</a:t>
            </a:r>
          </a:p>
          <a:p>
            <a:pPr lvl="1"/>
            <a:endParaRPr lang="pt-BR"/>
          </a:p>
          <a:p>
            <a:pPr lvl="1"/>
            <a:endParaRPr lang="pt-BR"/>
          </a:p>
          <a:p>
            <a:pPr lvl="1"/>
            <a:r>
              <a:rPr lang="pt-BR"/>
              <a:t>A Transformada Inversa é dada por</a:t>
            </a:r>
          </a:p>
          <a:p>
            <a:pPr lvl="1"/>
            <a:endParaRPr lang="pt-BR"/>
          </a:p>
          <a:p>
            <a:pPr lvl="2"/>
            <a:endParaRPr lang="pt-BR"/>
          </a:p>
          <a:p>
            <a:pPr lvl="2"/>
            <a:r>
              <a:rPr lang="pt-BR"/>
              <a:t>Sendo que (</a:t>
            </a:r>
            <a:r>
              <a:rPr lang="pt-BR" i="1"/>
              <a:t>u</a:t>
            </a:r>
            <a:r>
              <a:rPr lang="pt-BR"/>
              <a:t>) e (</a:t>
            </a:r>
            <a:r>
              <a:rPr lang="pt-BR" i="1"/>
              <a:t>v</a:t>
            </a:r>
            <a:r>
              <a:rPr lang="pt-BR"/>
              <a:t>) são as variáveis de frequência.</a:t>
            </a:r>
          </a:p>
          <a:p>
            <a:pPr lvl="1"/>
            <a:endParaRPr lang="pt-BR"/>
          </a:p>
          <a:p>
            <a:endParaRPr lang="pt-BR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533083"/>
              </p:ext>
            </p:extLst>
          </p:nvPr>
        </p:nvGraphicFramePr>
        <p:xfrm>
          <a:off x="1402198" y="3627612"/>
          <a:ext cx="6039578" cy="953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94100" imgH="495300" progId="Equation.3">
                  <p:embed/>
                </p:oleObj>
              </mc:Choice>
              <mc:Fallback>
                <p:oleObj name="Equation" r:id="rId2" imgW="3594100" imgH="4953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198" y="3627612"/>
                        <a:ext cx="6039578" cy="953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277207"/>
              </p:ext>
            </p:extLst>
          </p:nvPr>
        </p:nvGraphicFramePr>
        <p:xfrm>
          <a:off x="1473634" y="4851336"/>
          <a:ext cx="5906678" cy="953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05200" imgH="495300" progId="Equation.3">
                  <p:embed/>
                </p:oleObj>
              </mc:Choice>
              <mc:Fallback>
                <p:oleObj name="Equation" r:id="rId4" imgW="3505200" imgH="4953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634" y="4851336"/>
                        <a:ext cx="5906678" cy="953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1449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Transformada de Fourier 2D - Exemplo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Função 1D </a:t>
            </a:r>
            <a:r>
              <a:rPr lang="pt-BR" i="1"/>
              <a:t>f(</a:t>
            </a:r>
            <a:r>
              <a:rPr lang="pt-BR" i="1" err="1"/>
              <a:t>x,y</a:t>
            </a:r>
            <a:r>
              <a:rPr lang="pt-BR" i="1"/>
              <a:t>)</a:t>
            </a:r>
            <a:r>
              <a:rPr lang="pt-BR"/>
              <a:t> no domínio do espaço</a:t>
            </a:r>
          </a:p>
          <a:p>
            <a:pPr lvl="1"/>
            <a:endParaRPr lang="pt-BR"/>
          </a:p>
          <a:p>
            <a:pPr lvl="1"/>
            <a:endParaRPr lang="pt-BR"/>
          </a:p>
          <a:p>
            <a:pPr marL="365760" lvl="1" indent="0">
              <a:buNone/>
            </a:pPr>
            <a:endParaRPr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pt-BR" sz="2900"/>
              <a:t>Espectro de Fourier da função </a:t>
            </a:r>
            <a:r>
              <a:rPr lang="pt-BR" sz="2900" i="1"/>
              <a:t>f(</a:t>
            </a:r>
            <a:r>
              <a:rPr lang="pt-BR" sz="2900" i="1" err="1"/>
              <a:t>x,y</a:t>
            </a:r>
            <a:r>
              <a:rPr lang="pt-BR" sz="2900" i="1"/>
              <a:t>)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305" y="2709912"/>
            <a:ext cx="3560763" cy="17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576018"/>
            <a:ext cx="2517775" cy="216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28" y="2652712"/>
            <a:ext cx="3151188" cy="176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5878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Transformada Discreta de Fourier - DFT</a:t>
            </a:r>
            <a:endParaRPr lang="en-US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Ideia</a:t>
            </a:r>
          </a:p>
          <a:p>
            <a:pPr lvl="1"/>
            <a:r>
              <a:rPr lang="pt-BR" dirty="0"/>
              <a:t>Discretizar uma função contínua </a:t>
            </a:r>
            <a:r>
              <a:rPr lang="pt-BR" i="1" dirty="0"/>
              <a:t>f(x)</a:t>
            </a:r>
            <a:r>
              <a:rPr lang="pt-BR" dirty="0"/>
              <a:t> numa sequência de </a:t>
            </a:r>
            <a:r>
              <a:rPr lang="pt-BR" i="1" dirty="0"/>
              <a:t>N</a:t>
            </a:r>
            <a:r>
              <a:rPr lang="pt-BR" dirty="0"/>
              <a:t> amostras separadas de  unidades</a:t>
            </a:r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39131"/>
              </p:ext>
            </p:extLst>
          </p:nvPr>
        </p:nvGraphicFramePr>
        <p:xfrm>
          <a:off x="7236296" y="2611559"/>
          <a:ext cx="3810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619" imgH="177569" progId="Equation.3">
                  <p:embed/>
                </p:oleObj>
              </mc:Choice>
              <mc:Fallback>
                <p:oleObj name="Equation" r:id="rId2" imgW="215619" imgH="177569" progId="Equation.3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6296" y="2611559"/>
                        <a:ext cx="3810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279" y="3068960"/>
            <a:ext cx="5610225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532138"/>
              </p:ext>
            </p:extLst>
          </p:nvPr>
        </p:nvGraphicFramePr>
        <p:xfrm>
          <a:off x="467544" y="4268514"/>
          <a:ext cx="28194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19200" imgH="228600" progId="Equation.3">
                  <p:embed/>
                </p:oleObj>
              </mc:Choice>
              <mc:Fallback>
                <p:oleObj name="Equation" r:id="rId5" imgW="1219200" imgH="228600" progId="Equation.3">
                  <p:embed/>
                  <p:pic>
                    <p:nvPicPr>
                      <p:cNvPr id="8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4268514"/>
                        <a:ext cx="28194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323528" y="5157192"/>
            <a:ext cx="31747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/>
              <a:t>f(x) = {f(0), f(1), ..., f(N-1)}</a:t>
            </a:r>
          </a:p>
          <a:p>
            <a:r>
              <a:rPr lang="pt-BR" sz="2000"/>
              <a:t>Para </a:t>
            </a:r>
            <a:r>
              <a:rPr lang="pt-BR" sz="2000" i="1"/>
              <a:t>x = 0, 1, ..., N-1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93135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Transformada Discreta de Fourier - DFT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O par de Transformadas Discretas de Fourier que se aplica a funções 1D amostradas é dado por</a:t>
            </a:r>
          </a:p>
          <a:p>
            <a:endParaRPr lang="pt-BR"/>
          </a:p>
          <a:p>
            <a:pPr lvl="1"/>
            <a:r>
              <a:rPr lang="pt-BR"/>
              <a:t>Transformada</a:t>
            </a:r>
          </a:p>
          <a:p>
            <a:pPr lvl="1"/>
            <a:endParaRPr lang="pt-BR"/>
          </a:p>
          <a:p>
            <a:pPr lvl="1"/>
            <a:endParaRPr lang="pt-BR"/>
          </a:p>
          <a:p>
            <a:pPr lvl="1"/>
            <a:r>
              <a:rPr lang="pt-BR"/>
              <a:t>Inversa</a:t>
            </a:r>
          </a:p>
          <a:p>
            <a:pPr lvl="1"/>
            <a:endParaRPr lang="pt-BR"/>
          </a:p>
          <a:p>
            <a:pPr lvl="1"/>
            <a:endParaRPr lang="pt-BR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375339"/>
              </p:ext>
            </p:extLst>
          </p:nvPr>
        </p:nvGraphicFramePr>
        <p:xfrm>
          <a:off x="3620592" y="2996952"/>
          <a:ext cx="3908425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209680" imgH="660240" progId="Equation.3">
                  <p:embed/>
                </p:oleObj>
              </mc:Choice>
              <mc:Fallback>
                <p:oleObj name="Equação" r:id="rId2" imgW="2209680" imgH="66024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0592" y="2996952"/>
                        <a:ext cx="3908425" cy="1319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804340"/>
              </p:ext>
            </p:extLst>
          </p:nvPr>
        </p:nvGraphicFramePr>
        <p:xfrm>
          <a:off x="3707904" y="4653136"/>
          <a:ext cx="3733800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942920" imgH="660240" progId="Equation.3">
                  <p:embed/>
                </p:oleObj>
              </mc:Choice>
              <mc:Fallback>
                <p:oleObj name="Equação" r:id="rId4" imgW="1942920" imgH="66024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4653136"/>
                        <a:ext cx="3733800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0509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Transformada Discreta de Fourier - DFT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Exemplo: função amostrada</a:t>
            </a:r>
            <a:endParaRPr 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99" y="2564904"/>
            <a:ext cx="4191000" cy="340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999" y="2564904"/>
            <a:ext cx="3962400" cy="337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7956376" y="3470573"/>
            <a:ext cx="1008112" cy="120032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/>
              <a:t>f(0) = 2</a:t>
            </a:r>
            <a:br>
              <a:rPr lang="pt-BR"/>
            </a:br>
            <a:r>
              <a:rPr lang="pt-BR"/>
              <a:t>f(1) = 3</a:t>
            </a:r>
          </a:p>
          <a:p>
            <a:r>
              <a:rPr lang="pt-BR"/>
              <a:t>f(2) = 4</a:t>
            </a:r>
          </a:p>
          <a:p>
            <a:r>
              <a:rPr lang="pt-BR"/>
              <a:t>f(3) = 4</a:t>
            </a:r>
          </a:p>
        </p:txBody>
      </p:sp>
    </p:spTree>
    <p:extLst>
      <p:ext uri="{BB962C8B-B14F-4D97-AF65-F5344CB8AC3E}">
        <p14:creationId xmlns:p14="http://schemas.microsoft.com/office/powerpoint/2010/main" val="582618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Transformada Discreta de Fourier - DFT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Exemplo: cálculo da transformada</a:t>
            </a:r>
            <a:endParaRPr lang="en-US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958393"/>
              </p:ext>
            </p:extLst>
          </p:nvPr>
        </p:nvGraphicFramePr>
        <p:xfrm>
          <a:off x="5940152" y="3149550"/>
          <a:ext cx="2796906" cy="1719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100" imgH="1244600" progId="Equation.3">
                  <p:embed/>
                </p:oleObj>
              </mc:Choice>
              <mc:Fallback>
                <p:oleObj name="Equation" r:id="rId2" imgW="2197100" imgH="12446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3149550"/>
                        <a:ext cx="2796906" cy="171961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045169"/>
              </p:ext>
            </p:extLst>
          </p:nvPr>
        </p:nvGraphicFramePr>
        <p:xfrm>
          <a:off x="5940152" y="5013176"/>
          <a:ext cx="13509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197" imgH="393529" progId="Equation.3">
                  <p:embed/>
                </p:oleObj>
              </mc:Choice>
              <mc:Fallback>
                <p:oleObj name="Equation" r:id="rId4" imgW="698197" imgH="393529" progId="Equation.3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5013176"/>
                        <a:ext cx="1350963" cy="762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188429"/>
              </p:ext>
            </p:extLst>
          </p:nvPr>
        </p:nvGraphicFramePr>
        <p:xfrm>
          <a:off x="5940152" y="5932189"/>
          <a:ext cx="182880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726" imgH="393529" progId="Equation.3">
                  <p:embed/>
                </p:oleObj>
              </mc:Choice>
              <mc:Fallback>
                <p:oleObj name="Equation" r:id="rId6" imgW="1091726" imgH="393529" progId="Equation.3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5932189"/>
                        <a:ext cx="1828800" cy="6651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998633"/>
              </p:ext>
            </p:extLst>
          </p:nvPr>
        </p:nvGraphicFramePr>
        <p:xfrm>
          <a:off x="152400" y="3156239"/>
          <a:ext cx="5715744" cy="3446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35500" imgH="2514600" progId="Equation.3">
                  <p:embed/>
                </p:oleObj>
              </mc:Choice>
              <mc:Fallback>
                <p:oleObj name="Equation" r:id="rId8" imgW="4635500" imgH="2514600" progId="Equation.3">
                  <p:embed/>
                  <p:pic>
                    <p:nvPicPr>
                      <p:cNvPr id="8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156239"/>
                        <a:ext cx="5715744" cy="344617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143080"/>
              </p:ext>
            </p:extLst>
          </p:nvPr>
        </p:nvGraphicFramePr>
        <p:xfrm>
          <a:off x="2483768" y="2160849"/>
          <a:ext cx="38862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97100" imgH="431800" progId="Equation.3">
                  <p:embed/>
                </p:oleObj>
              </mc:Choice>
              <mc:Fallback>
                <p:oleObj name="Equation" r:id="rId10" imgW="2197100" imgH="431800" progId="Equation.3">
                  <p:embed/>
                  <p:pic>
                    <p:nvPicPr>
                      <p:cNvPr id="9" name="Objeto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160849"/>
                        <a:ext cx="38862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7596336" y="1772816"/>
            <a:ext cx="1008112" cy="120032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/>
              <a:t>f(0) = 2</a:t>
            </a:r>
            <a:br>
              <a:rPr lang="pt-BR"/>
            </a:br>
            <a:r>
              <a:rPr lang="pt-BR"/>
              <a:t>f(1) = 3</a:t>
            </a:r>
          </a:p>
          <a:p>
            <a:r>
              <a:rPr lang="pt-BR"/>
              <a:t>f(2) = 4</a:t>
            </a:r>
          </a:p>
          <a:p>
            <a:r>
              <a:rPr lang="pt-BR"/>
              <a:t>f(3) = 4</a:t>
            </a:r>
          </a:p>
        </p:txBody>
      </p:sp>
    </p:spTree>
    <p:extLst>
      <p:ext uri="{BB962C8B-B14F-4D97-AF65-F5344CB8AC3E}">
        <p14:creationId xmlns:p14="http://schemas.microsoft.com/office/powerpoint/2010/main" val="361078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Transformada Discreta de Fourier - DFT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Magnitude do espectro de Fourier</a:t>
            </a:r>
            <a:endParaRPr lang="en-US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984589"/>
              </p:ext>
            </p:extLst>
          </p:nvPr>
        </p:nvGraphicFramePr>
        <p:xfrm>
          <a:off x="683568" y="2357636"/>
          <a:ext cx="1536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058" imgH="253890" progId="Equation.3">
                  <p:embed/>
                </p:oleObj>
              </mc:Choice>
              <mc:Fallback>
                <p:oleObj name="Equation" r:id="rId2" imgW="787058" imgH="25389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357636"/>
                        <a:ext cx="1536700" cy="4953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346084"/>
              </p:ext>
            </p:extLst>
          </p:nvPr>
        </p:nvGraphicFramePr>
        <p:xfrm>
          <a:off x="683568" y="2979539"/>
          <a:ext cx="27432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5000" imgH="558800" progId="Equation.3">
                  <p:embed/>
                </p:oleObj>
              </mc:Choice>
              <mc:Fallback>
                <p:oleObj name="Equation" r:id="rId4" imgW="1905000" imgH="5588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979539"/>
                        <a:ext cx="2743200" cy="10255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8991007"/>
              </p:ext>
            </p:extLst>
          </p:nvPr>
        </p:nvGraphicFramePr>
        <p:xfrm>
          <a:off x="683568" y="4187800"/>
          <a:ext cx="2249487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300" imgH="558800" progId="Equation.3">
                  <p:embed/>
                </p:oleObj>
              </mc:Choice>
              <mc:Fallback>
                <p:oleObj name="Equation" r:id="rId6" imgW="1384300" imgH="558800" progId="Equation.3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4187800"/>
                        <a:ext cx="2249487" cy="1041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632574"/>
              </p:ext>
            </p:extLst>
          </p:nvPr>
        </p:nvGraphicFramePr>
        <p:xfrm>
          <a:off x="683568" y="5373216"/>
          <a:ext cx="30480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30400" imgH="558800" progId="Equation.3">
                  <p:embed/>
                </p:oleObj>
              </mc:Choice>
              <mc:Fallback>
                <p:oleObj name="Equation" r:id="rId8" imgW="1930400" imgH="558800" progId="Equation.3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5373216"/>
                        <a:ext cx="3048000" cy="9350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65" y="2060848"/>
            <a:ext cx="29718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94" r="3657" b="15993"/>
          <a:stretch/>
        </p:blipFill>
        <p:spPr bwMode="auto">
          <a:xfrm>
            <a:off x="4548165" y="4702284"/>
            <a:ext cx="3163077" cy="1967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8484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Transformada Discreta de Fourier - DFT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Quando realizado a transformada discreta de uma onda quadrada obtemos um deslocamento</a:t>
            </a:r>
            <a:endParaRPr lang="en-US"/>
          </a:p>
        </p:txBody>
      </p:sp>
      <p:pic>
        <p:nvPicPr>
          <p:cNvPr id="4" name="Picture 10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t="5194" r="7605" b="7594"/>
          <a:stretch>
            <a:fillRect/>
          </a:stretch>
        </p:blipFill>
        <p:spPr bwMode="auto">
          <a:xfrm>
            <a:off x="2483768" y="2996952"/>
            <a:ext cx="4757738" cy="367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4723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Transformada Discreta de Fourier - DFT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247384" cy="5069160"/>
          </a:xfrm>
        </p:spPr>
        <p:txBody>
          <a:bodyPr>
            <a:normAutofit/>
          </a:bodyPr>
          <a:lstStyle/>
          <a:p>
            <a:r>
              <a:rPr lang="pt-BR"/>
              <a:t>A Transformada de Fourier é centralizada na origem, mas a Transformada </a:t>
            </a:r>
            <a:r>
              <a:rPr lang="pt-BR" b="1"/>
              <a:t>Discreta </a:t>
            </a:r>
            <a:r>
              <a:rPr lang="pt-BR"/>
              <a:t>de Fourier é centralizada em </a:t>
            </a:r>
            <a:r>
              <a:rPr lang="pt-BR" i="1"/>
              <a:t>N/2</a:t>
            </a:r>
            <a:r>
              <a:rPr lang="pt-BR"/>
              <a:t> </a:t>
            </a:r>
          </a:p>
          <a:p>
            <a:pPr lvl="1"/>
            <a:r>
              <a:rPr lang="pt-BR"/>
              <a:t>É necessário realizar um deslocamento para corrigir o resultado</a:t>
            </a:r>
          </a:p>
          <a:p>
            <a:pPr lvl="2"/>
            <a:r>
              <a:rPr lang="en-US" err="1"/>
              <a:t>Matlab</a:t>
            </a:r>
            <a:r>
              <a:rPr lang="en-US"/>
              <a:t>: </a:t>
            </a:r>
            <a:r>
              <a:rPr lang="en-US" err="1"/>
              <a:t>função</a:t>
            </a:r>
            <a:r>
              <a:rPr lang="en-US"/>
              <a:t> </a:t>
            </a:r>
            <a:r>
              <a:rPr lang="en-US" b="1" err="1"/>
              <a:t>fftshift</a:t>
            </a:r>
            <a:r>
              <a:rPr lang="en-US" b="1"/>
              <a:t>()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3" t="5708" r="7387" b="6860"/>
          <a:stretch>
            <a:fillRect/>
          </a:stretch>
        </p:blipFill>
        <p:spPr bwMode="auto">
          <a:xfrm>
            <a:off x="4788024" y="2204864"/>
            <a:ext cx="4274891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3121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Transformada Rápida de Fourier - FFT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/>
              <a:t>Problema com a DFT</a:t>
            </a:r>
          </a:p>
          <a:p>
            <a:pPr lvl="1"/>
            <a:r>
              <a:rPr lang="pt-BR"/>
              <a:t>O número de  multiplicações e adições complexas necessárias para implementar a DFT-1D é proporcional a </a:t>
            </a:r>
            <a:r>
              <a:rPr lang="pt-BR" i="1"/>
              <a:t>N</a:t>
            </a:r>
            <a:r>
              <a:rPr lang="pt-BR" i="1" baseline="30000"/>
              <a:t>2</a:t>
            </a:r>
            <a:r>
              <a:rPr lang="pt-BR"/>
              <a:t> </a:t>
            </a:r>
          </a:p>
          <a:p>
            <a:pPr lvl="1"/>
            <a:endParaRPr lang="pt-BR"/>
          </a:p>
          <a:p>
            <a:endParaRPr lang="pt-BR"/>
          </a:p>
          <a:p>
            <a:pPr lvl="1"/>
            <a:r>
              <a:rPr lang="pt-BR"/>
              <a:t>A decomposição adequada desta equação pode tornar o número de multiplicações e adições proporcional a </a:t>
            </a:r>
            <a:r>
              <a:rPr lang="pt-BR" i="1"/>
              <a:t>Nlog</a:t>
            </a:r>
            <a:r>
              <a:rPr lang="pt-BR" i="1" baseline="-25000"/>
              <a:t>2</a:t>
            </a:r>
            <a:r>
              <a:rPr lang="pt-BR" i="1"/>
              <a:t>N</a:t>
            </a:r>
            <a:endParaRPr lang="pt-BR"/>
          </a:p>
          <a:p>
            <a:pPr lvl="2"/>
            <a:r>
              <a:rPr lang="pt-BR"/>
              <a:t>Este procedimento é chamado de </a:t>
            </a:r>
            <a:r>
              <a:rPr lang="pt-BR" i="1"/>
              <a:t>Transformada Rápida de Fourier</a:t>
            </a:r>
            <a:r>
              <a:rPr lang="pt-BR"/>
              <a:t> (FFT)</a:t>
            </a:r>
            <a:endParaRPr lang="en-US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954654"/>
              </p:ext>
            </p:extLst>
          </p:nvPr>
        </p:nvGraphicFramePr>
        <p:xfrm>
          <a:off x="2628900" y="3215059"/>
          <a:ext cx="38862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100" imgH="431800" progId="Equation.3">
                  <p:embed/>
                </p:oleObj>
              </mc:Choice>
              <mc:Fallback>
                <p:oleObj name="Equation" r:id="rId2" imgW="2197100" imgH="4318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3215059"/>
                        <a:ext cx="3886200" cy="8620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4791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Transformada Rápida de Fourier - FFT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319392" cy="4495800"/>
          </a:xfrm>
        </p:spPr>
        <p:txBody>
          <a:bodyPr>
            <a:normAutofit lnSpcReduction="10000"/>
          </a:bodyPr>
          <a:lstStyle/>
          <a:p>
            <a:r>
              <a:rPr lang="pt-BR"/>
              <a:t>Comparação DFT x FFT</a:t>
            </a:r>
          </a:p>
          <a:p>
            <a:pPr lvl="1"/>
            <a:r>
              <a:rPr lang="pt-BR"/>
              <a:t>Muitas aplicações de processamento de sinais (ou imagens) em tempo real seriam impraticáveis utilizando a DFT</a:t>
            </a:r>
          </a:p>
          <a:p>
            <a:pPr lvl="1"/>
            <a:r>
              <a:rPr lang="pt-BR"/>
              <a:t>Vários algoritmos para FFT</a:t>
            </a:r>
          </a:p>
          <a:p>
            <a:pPr lvl="2"/>
            <a:r>
              <a:rPr lang="pt-BR"/>
              <a:t>Para alguns, somente podem ser considerados amostras onde </a:t>
            </a:r>
            <a:r>
              <a:rPr lang="pt-BR" i="1"/>
              <a:t>N</a:t>
            </a:r>
            <a:r>
              <a:rPr lang="pt-BR"/>
              <a:t> é uma potência de 2</a:t>
            </a:r>
            <a:endParaRPr lang="en-US"/>
          </a:p>
        </p:txBody>
      </p:sp>
      <p:graphicFrame>
        <p:nvGraphicFramePr>
          <p:cNvPr id="5" name="Group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922718"/>
              </p:ext>
            </p:extLst>
          </p:nvPr>
        </p:nvGraphicFramePr>
        <p:xfrm>
          <a:off x="4860031" y="1772816"/>
          <a:ext cx="4176465" cy="44561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8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kumimoji="0" lang="pt-BR" sz="1200" b="1" u="none" strike="noStrike" kern="1200" cap="none" normalizeH="0" baseline="30000">
                          <a:ln>
                            <a:noFill/>
                          </a:ln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(DFT)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Nlog</a:t>
                      </a:r>
                      <a:r>
                        <a:rPr kumimoji="0" lang="pt-BR" sz="1200" b="1" u="none" strike="noStrike" kern="1200" cap="none" normalizeH="0" baseline="-25000">
                          <a:ln>
                            <a:noFill/>
                          </a:ln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pt-BR" sz="12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(FFT)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Vantagem Computacional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2,00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16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2,00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2,67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16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256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4,00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1024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160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6,40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4096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384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10,67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128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16384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896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18,29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256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65536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2048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32,00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512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262144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4608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56,89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1024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1048576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10240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102,40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2048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4194304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22528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186,18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4096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16777216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49152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341,33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8192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67108864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106496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630,15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2633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Transformada Discreta de Fourier 2D: DFT-2D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O par de Transformadas Discretas de Fourier que se aplica a funções 2D amostradas é dado por</a:t>
            </a:r>
          </a:p>
          <a:p>
            <a:pPr lvl="1"/>
            <a:r>
              <a:rPr lang="pt-BR"/>
              <a:t>Transformada</a:t>
            </a:r>
          </a:p>
          <a:p>
            <a:pPr lvl="1"/>
            <a:endParaRPr lang="pt-BR"/>
          </a:p>
          <a:p>
            <a:pPr lvl="1"/>
            <a:endParaRPr lang="pt-BR"/>
          </a:p>
          <a:p>
            <a:pPr lvl="1"/>
            <a:endParaRPr lang="pt-BR"/>
          </a:p>
          <a:p>
            <a:pPr lvl="1"/>
            <a:r>
              <a:rPr lang="pt-BR"/>
              <a:t>Inversa</a:t>
            </a:r>
          </a:p>
          <a:p>
            <a:pPr lvl="1"/>
            <a:endParaRPr lang="pt-BR"/>
          </a:p>
          <a:p>
            <a:pPr lvl="1"/>
            <a:endParaRPr lang="pt-BR"/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35829"/>
              </p:ext>
            </p:extLst>
          </p:nvPr>
        </p:nvGraphicFramePr>
        <p:xfrm>
          <a:off x="2411413" y="3297238"/>
          <a:ext cx="6610350" cy="164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3009600" imgH="685800" progId="Equation.3">
                  <p:embed/>
                </p:oleObj>
              </mc:Choice>
              <mc:Fallback>
                <p:oleObj name="Equação" r:id="rId2" imgW="3009600" imgH="685800" progId="Equation.3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297238"/>
                        <a:ext cx="6610350" cy="164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184306"/>
              </p:ext>
            </p:extLst>
          </p:nvPr>
        </p:nvGraphicFramePr>
        <p:xfrm>
          <a:off x="2487613" y="5078413"/>
          <a:ext cx="5773737" cy="158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2628720" imgH="660240" progId="Equation.3">
                  <p:embed/>
                </p:oleObj>
              </mc:Choice>
              <mc:Fallback>
                <p:oleObj name="Equação" r:id="rId4" imgW="2628720" imgH="660240" progId="Equation.3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5078413"/>
                        <a:ext cx="5773737" cy="158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9518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Transformada Discreta de Fourier 2D: DFT-2D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/>
              <a:t>Exemplo (</a:t>
            </a:r>
            <a:r>
              <a:rPr lang="pt-BR" err="1"/>
              <a:t>Matlab</a:t>
            </a:r>
            <a:r>
              <a:rPr lang="pt-BR"/>
              <a:t>)</a:t>
            </a:r>
          </a:p>
          <a:p>
            <a:pPr marL="365760" lvl="1" indent="0">
              <a:buNone/>
            </a:pPr>
            <a:endParaRPr lang="en-US"/>
          </a:p>
          <a:p>
            <a:pPr marL="365760" lvl="1" indent="0">
              <a:buNone/>
            </a:pPr>
            <a:r>
              <a:rPr lang="en-US"/>
              <a:t>f = zeros(30,30);</a:t>
            </a:r>
          </a:p>
          <a:p>
            <a:pPr marL="365760" lvl="1" indent="0">
              <a:buNone/>
            </a:pPr>
            <a:r>
              <a:rPr lang="en-US"/>
              <a:t>f(5:24,13:17)=1;</a:t>
            </a:r>
          </a:p>
          <a:p>
            <a:pPr marL="365760" lvl="1" indent="0">
              <a:buNone/>
            </a:pPr>
            <a:r>
              <a:rPr lang="en-US" err="1"/>
              <a:t>imshow</a:t>
            </a:r>
            <a:r>
              <a:rPr lang="en-US"/>
              <a:t>(f);</a:t>
            </a:r>
          </a:p>
          <a:p>
            <a:pPr marL="365760" lvl="1" indent="0">
              <a:buNone/>
            </a:pPr>
            <a:endParaRPr lang="en-US"/>
          </a:p>
          <a:p>
            <a:pPr marL="365760" lvl="1" indent="0">
              <a:buNone/>
            </a:pPr>
            <a:r>
              <a:rPr lang="en-US"/>
              <a:t>F =fft2(f);</a:t>
            </a:r>
          </a:p>
          <a:p>
            <a:pPr marL="365760" lvl="1" indent="0">
              <a:buNone/>
            </a:pPr>
            <a:r>
              <a:rPr lang="en-US"/>
              <a:t>F2 = log(abs(F));</a:t>
            </a:r>
          </a:p>
          <a:p>
            <a:pPr marL="365760" lvl="1" indent="0">
              <a:buNone/>
            </a:pPr>
            <a:r>
              <a:rPr lang="en-US" err="1"/>
              <a:t>imshow</a:t>
            </a:r>
            <a:r>
              <a:rPr lang="en-US"/>
              <a:t>(F2,[-1, 5]);</a:t>
            </a:r>
          </a:p>
          <a:p>
            <a:pPr marL="365760" lvl="1" indent="0">
              <a:buNone/>
            </a:pPr>
            <a:r>
              <a:rPr lang="en-US" err="1"/>
              <a:t>colormap</a:t>
            </a:r>
            <a:r>
              <a:rPr lang="en-US"/>
              <a:t>(jet); </a:t>
            </a:r>
            <a:r>
              <a:rPr lang="en-US" err="1"/>
              <a:t>colorbar</a:t>
            </a:r>
            <a:r>
              <a:rPr lang="en-US"/>
              <a:t>;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282" y="1041648"/>
            <a:ext cx="2652712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504" y="3861048"/>
            <a:ext cx="3429000" cy="289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6732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Transformada Discreta de Fourier 2D: DFT-2D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Exemplo (</a:t>
            </a:r>
            <a:r>
              <a:rPr lang="pt-BR" err="1"/>
              <a:t>Matlab</a:t>
            </a:r>
            <a:r>
              <a:rPr lang="pt-BR"/>
              <a:t>)</a:t>
            </a:r>
          </a:p>
          <a:p>
            <a:pPr marL="365760" lvl="1" indent="0">
              <a:buNone/>
            </a:pPr>
            <a:endParaRPr lang="en-US"/>
          </a:p>
          <a:p>
            <a:pPr marL="365760" lvl="1" indent="0">
              <a:buNone/>
            </a:pPr>
            <a:r>
              <a:rPr lang="en-US"/>
              <a:t>F2=</a:t>
            </a:r>
            <a:r>
              <a:rPr lang="en-US" err="1"/>
              <a:t>fftshift</a:t>
            </a:r>
            <a:r>
              <a:rPr lang="en-US"/>
              <a:t>(F);</a:t>
            </a:r>
          </a:p>
          <a:p>
            <a:pPr marL="365760" lvl="1" indent="0">
              <a:buNone/>
            </a:pPr>
            <a:r>
              <a:rPr lang="en-US"/>
              <a:t>F3=log(abs(F2));</a:t>
            </a:r>
          </a:p>
          <a:p>
            <a:pPr marL="365760" lvl="1" indent="0">
              <a:buNone/>
            </a:pPr>
            <a:endParaRPr lang="en-US"/>
          </a:p>
          <a:p>
            <a:pPr marL="365760" lvl="1" indent="0">
              <a:buNone/>
            </a:pPr>
            <a:r>
              <a:rPr lang="en-US" err="1"/>
              <a:t>imshow</a:t>
            </a:r>
            <a:r>
              <a:rPr lang="en-US"/>
              <a:t>(F3,[-1, 5]);</a:t>
            </a:r>
          </a:p>
          <a:p>
            <a:pPr marL="365760" lvl="1" indent="0">
              <a:buNone/>
            </a:pPr>
            <a:r>
              <a:rPr lang="en-US" err="1"/>
              <a:t>colormap</a:t>
            </a:r>
            <a:r>
              <a:rPr lang="en-US"/>
              <a:t>(jet); </a:t>
            </a:r>
            <a:r>
              <a:rPr lang="en-US" err="1"/>
              <a:t>colorbar</a:t>
            </a:r>
            <a:r>
              <a:rPr lang="en-US"/>
              <a:t>;</a:t>
            </a:r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766" y="1124169"/>
            <a:ext cx="3429000" cy="289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8" b="5062"/>
          <a:stretch/>
        </p:blipFill>
        <p:spPr bwMode="auto">
          <a:xfrm>
            <a:off x="5538401" y="3940962"/>
            <a:ext cx="3512421" cy="2872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903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Separabilidade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Permite calcular </a:t>
            </a:r>
            <a:r>
              <a:rPr lang="pt-BR" i="1"/>
              <a:t>F(</a:t>
            </a:r>
            <a:r>
              <a:rPr lang="pt-BR" i="1" err="1"/>
              <a:t>u,v</a:t>
            </a:r>
            <a:r>
              <a:rPr lang="pt-BR" i="1"/>
              <a:t>)</a:t>
            </a:r>
            <a:r>
              <a:rPr lang="pt-BR"/>
              <a:t> e </a:t>
            </a:r>
            <a:r>
              <a:rPr lang="pt-BR" i="1"/>
              <a:t>f(</a:t>
            </a:r>
            <a:r>
              <a:rPr lang="pt-BR" i="1" err="1"/>
              <a:t>x,y</a:t>
            </a:r>
            <a:r>
              <a:rPr lang="pt-BR" i="1"/>
              <a:t>)</a:t>
            </a:r>
            <a:r>
              <a:rPr lang="pt-BR"/>
              <a:t> em dois passos por aplicações sucessivas da Transformada de Fourier 1D</a:t>
            </a:r>
            <a:endParaRPr lang="en-US"/>
          </a:p>
        </p:txBody>
      </p:sp>
      <p:grpSp>
        <p:nvGrpSpPr>
          <p:cNvPr id="50" name="Grupo 49"/>
          <p:cNvGrpSpPr/>
          <p:nvPr/>
        </p:nvGrpSpPr>
        <p:grpSpPr>
          <a:xfrm>
            <a:off x="1447800" y="2783160"/>
            <a:ext cx="6553200" cy="3886200"/>
            <a:chOff x="1447800" y="1991072"/>
            <a:chExt cx="6553200" cy="3886200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2133600" y="2753072"/>
              <a:ext cx="838200" cy="838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" name="Line 4"/>
            <p:cNvSpPr>
              <a:spLocks noChangeShapeType="1"/>
            </p:cNvSpPr>
            <p:nvPr/>
          </p:nvSpPr>
          <p:spPr bwMode="auto">
            <a:xfrm>
              <a:off x="3657600" y="2829272"/>
              <a:ext cx="762000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3657600" y="2905472"/>
              <a:ext cx="762000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3657600" y="2981672"/>
              <a:ext cx="762000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3657600" y="3057872"/>
              <a:ext cx="762000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3657600" y="3134072"/>
              <a:ext cx="762000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657600" y="3210272"/>
              <a:ext cx="762000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3657600" y="3286472"/>
              <a:ext cx="762000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3657600" y="3362672"/>
              <a:ext cx="762000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3657600" y="3438872"/>
              <a:ext cx="762000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657600" y="3515072"/>
              <a:ext cx="762000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3657600" y="3591272"/>
              <a:ext cx="762000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6" name="Group 15"/>
            <p:cNvGrpSpPr>
              <a:grpSpLocks/>
            </p:cNvGrpSpPr>
            <p:nvPr/>
          </p:nvGrpSpPr>
          <p:grpSpPr bwMode="auto">
            <a:xfrm>
              <a:off x="4953000" y="3057872"/>
              <a:ext cx="571500" cy="304800"/>
              <a:chOff x="1944" y="3288"/>
              <a:chExt cx="240" cy="192"/>
            </a:xfrm>
          </p:grpSpPr>
          <p:sp>
            <p:nvSpPr>
              <p:cNvPr id="17" name="AutoShape 16"/>
              <p:cNvSpPr>
                <a:spLocks noChangeArrowheads="1"/>
              </p:cNvSpPr>
              <p:nvPr/>
            </p:nvSpPr>
            <p:spPr bwMode="auto">
              <a:xfrm>
                <a:off x="1968" y="3312"/>
                <a:ext cx="192" cy="144"/>
              </a:xfrm>
              <a:prstGeom prst="flowChartPreparation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8" name="AutoShape 17"/>
              <p:cNvSpPr>
                <a:spLocks noChangeArrowheads="1"/>
              </p:cNvSpPr>
              <p:nvPr/>
            </p:nvSpPr>
            <p:spPr bwMode="auto">
              <a:xfrm>
                <a:off x="1944" y="3288"/>
                <a:ext cx="240" cy="192"/>
              </a:xfrm>
              <a:prstGeom prst="flowChartPreparation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4648200" y="2600672"/>
              <a:ext cx="1219200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pt-BR" sz="1400"/>
                <a:t>FFT 1D para cada linha</a:t>
              </a:r>
              <a:endParaRPr lang="pt-BR"/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2209800" y="2372072"/>
              <a:ext cx="9144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t-BR" sz="1400"/>
                <a:t>Matriz A </a:t>
              </a:r>
              <a:endParaRPr lang="pt-BR"/>
            </a:p>
          </p:txBody>
        </p:sp>
        <p:sp>
          <p:nvSpPr>
            <p:cNvPr id="21" name="Text Box 22"/>
            <p:cNvSpPr txBox="1">
              <a:spLocks noChangeArrowheads="1"/>
            </p:cNvSpPr>
            <p:nvPr/>
          </p:nvSpPr>
          <p:spPr bwMode="auto">
            <a:xfrm>
              <a:off x="3505200" y="2295872"/>
              <a:ext cx="1066800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pt-BR" sz="1400"/>
                <a:t>Separar em linhas </a:t>
              </a:r>
              <a:endParaRPr lang="pt-BR"/>
            </a:p>
          </p:txBody>
        </p:sp>
        <p:grpSp>
          <p:nvGrpSpPr>
            <p:cNvPr id="22" name="Group 35"/>
            <p:cNvGrpSpPr>
              <a:grpSpLocks/>
            </p:cNvGrpSpPr>
            <p:nvPr/>
          </p:nvGrpSpPr>
          <p:grpSpPr bwMode="auto">
            <a:xfrm rot="-5400000">
              <a:off x="3657600" y="5115272"/>
              <a:ext cx="762000" cy="762000"/>
              <a:chOff x="4416" y="1440"/>
              <a:chExt cx="480" cy="480"/>
            </a:xfrm>
          </p:grpSpPr>
          <p:sp>
            <p:nvSpPr>
              <p:cNvPr id="23" name="Line 23"/>
              <p:cNvSpPr>
                <a:spLocks noChangeShapeType="1"/>
              </p:cNvSpPr>
              <p:nvPr/>
            </p:nvSpPr>
            <p:spPr bwMode="auto">
              <a:xfrm>
                <a:off x="4416" y="1440"/>
                <a:ext cx="480" cy="0"/>
              </a:xfrm>
              <a:prstGeom prst="line">
                <a:avLst/>
              </a:prstGeom>
              <a:noFill/>
              <a:ln w="12700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24"/>
              <p:cNvSpPr>
                <a:spLocks noChangeShapeType="1"/>
              </p:cNvSpPr>
              <p:nvPr/>
            </p:nvSpPr>
            <p:spPr bwMode="auto">
              <a:xfrm>
                <a:off x="4416" y="1488"/>
                <a:ext cx="480" cy="0"/>
              </a:xfrm>
              <a:prstGeom prst="line">
                <a:avLst/>
              </a:prstGeom>
              <a:noFill/>
              <a:ln w="12700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25"/>
              <p:cNvSpPr>
                <a:spLocks noChangeShapeType="1"/>
              </p:cNvSpPr>
              <p:nvPr/>
            </p:nvSpPr>
            <p:spPr bwMode="auto">
              <a:xfrm>
                <a:off x="4416" y="1536"/>
                <a:ext cx="480" cy="0"/>
              </a:xfrm>
              <a:prstGeom prst="line">
                <a:avLst/>
              </a:prstGeom>
              <a:noFill/>
              <a:ln w="12700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Line 26"/>
              <p:cNvSpPr>
                <a:spLocks noChangeShapeType="1"/>
              </p:cNvSpPr>
              <p:nvPr/>
            </p:nvSpPr>
            <p:spPr bwMode="auto">
              <a:xfrm>
                <a:off x="4416" y="1584"/>
                <a:ext cx="480" cy="0"/>
              </a:xfrm>
              <a:prstGeom prst="line">
                <a:avLst/>
              </a:prstGeom>
              <a:noFill/>
              <a:ln w="12700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27"/>
              <p:cNvSpPr>
                <a:spLocks noChangeShapeType="1"/>
              </p:cNvSpPr>
              <p:nvPr/>
            </p:nvSpPr>
            <p:spPr bwMode="auto">
              <a:xfrm>
                <a:off x="4416" y="1632"/>
                <a:ext cx="480" cy="0"/>
              </a:xfrm>
              <a:prstGeom prst="line">
                <a:avLst/>
              </a:prstGeom>
              <a:noFill/>
              <a:ln w="12700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Line 28"/>
              <p:cNvSpPr>
                <a:spLocks noChangeShapeType="1"/>
              </p:cNvSpPr>
              <p:nvPr/>
            </p:nvSpPr>
            <p:spPr bwMode="auto">
              <a:xfrm>
                <a:off x="4416" y="1680"/>
                <a:ext cx="480" cy="0"/>
              </a:xfrm>
              <a:prstGeom prst="line">
                <a:avLst/>
              </a:prstGeom>
              <a:noFill/>
              <a:ln w="12700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Line 29"/>
              <p:cNvSpPr>
                <a:spLocks noChangeShapeType="1"/>
              </p:cNvSpPr>
              <p:nvPr/>
            </p:nvSpPr>
            <p:spPr bwMode="auto">
              <a:xfrm>
                <a:off x="4416" y="1728"/>
                <a:ext cx="480" cy="0"/>
              </a:xfrm>
              <a:prstGeom prst="line">
                <a:avLst/>
              </a:prstGeom>
              <a:noFill/>
              <a:ln w="12700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Line 30"/>
              <p:cNvSpPr>
                <a:spLocks noChangeShapeType="1"/>
              </p:cNvSpPr>
              <p:nvPr/>
            </p:nvSpPr>
            <p:spPr bwMode="auto">
              <a:xfrm>
                <a:off x="4416" y="1776"/>
                <a:ext cx="480" cy="0"/>
              </a:xfrm>
              <a:prstGeom prst="line">
                <a:avLst/>
              </a:prstGeom>
              <a:noFill/>
              <a:ln w="12700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Line 31"/>
              <p:cNvSpPr>
                <a:spLocks noChangeShapeType="1"/>
              </p:cNvSpPr>
              <p:nvPr/>
            </p:nvSpPr>
            <p:spPr bwMode="auto">
              <a:xfrm>
                <a:off x="4416" y="1824"/>
                <a:ext cx="480" cy="0"/>
              </a:xfrm>
              <a:prstGeom prst="line">
                <a:avLst/>
              </a:prstGeom>
              <a:noFill/>
              <a:ln w="12700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Line 32"/>
              <p:cNvSpPr>
                <a:spLocks noChangeShapeType="1"/>
              </p:cNvSpPr>
              <p:nvPr/>
            </p:nvSpPr>
            <p:spPr bwMode="auto">
              <a:xfrm>
                <a:off x="4416" y="1872"/>
                <a:ext cx="480" cy="0"/>
              </a:xfrm>
              <a:prstGeom prst="line">
                <a:avLst/>
              </a:prstGeom>
              <a:noFill/>
              <a:ln w="12700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Line 33"/>
              <p:cNvSpPr>
                <a:spLocks noChangeShapeType="1"/>
              </p:cNvSpPr>
              <p:nvPr/>
            </p:nvSpPr>
            <p:spPr bwMode="auto">
              <a:xfrm>
                <a:off x="4416" y="1920"/>
                <a:ext cx="480" cy="0"/>
              </a:xfrm>
              <a:prstGeom prst="line">
                <a:avLst/>
              </a:prstGeom>
              <a:noFill/>
              <a:ln w="12700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" name="Rectangle 34"/>
            <p:cNvSpPr>
              <a:spLocks noChangeArrowheads="1"/>
            </p:cNvSpPr>
            <p:nvPr/>
          </p:nvSpPr>
          <p:spPr bwMode="auto">
            <a:xfrm>
              <a:off x="6172200" y="2753072"/>
              <a:ext cx="838200" cy="838200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auto">
            <a:xfrm>
              <a:off x="6019800" y="1991072"/>
              <a:ext cx="1143000" cy="730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pt-BR" sz="1400"/>
                <a:t>Compor linhas em matriz </a:t>
              </a:r>
              <a:endParaRPr lang="pt-BR"/>
            </a:p>
          </p:txBody>
        </p:sp>
        <p:sp>
          <p:nvSpPr>
            <p:cNvPr id="36" name="Text Box 37"/>
            <p:cNvSpPr txBox="1">
              <a:spLocks noChangeArrowheads="1"/>
            </p:cNvSpPr>
            <p:nvPr/>
          </p:nvSpPr>
          <p:spPr bwMode="auto">
            <a:xfrm>
              <a:off x="3505200" y="4521547"/>
              <a:ext cx="1066800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pt-BR" sz="1400"/>
                <a:t>Separar em colunas </a:t>
              </a:r>
              <a:endParaRPr lang="pt-BR"/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2133600" y="5039072"/>
              <a:ext cx="838200" cy="838200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8" name="Text Box 39"/>
            <p:cNvSpPr txBox="1">
              <a:spLocks noChangeArrowheads="1"/>
            </p:cNvSpPr>
            <p:nvPr/>
          </p:nvSpPr>
          <p:spPr bwMode="auto">
            <a:xfrm>
              <a:off x="2209800" y="4658072"/>
              <a:ext cx="7620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t-BR" sz="1400"/>
                <a:t>Matriz </a:t>
              </a:r>
              <a:endParaRPr lang="pt-BR"/>
            </a:p>
          </p:txBody>
        </p:sp>
        <p:grpSp>
          <p:nvGrpSpPr>
            <p:cNvPr id="39" name="Group 40"/>
            <p:cNvGrpSpPr>
              <a:grpSpLocks/>
            </p:cNvGrpSpPr>
            <p:nvPr/>
          </p:nvGrpSpPr>
          <p:grpSpPr bwMode="auto">
            <a:xfrm>
              <a:off x="4953000" y="5267672"/>
              <a:ext cx="571500" cy="304800"/>
              <a:chOff x="1944" y="3288"/>
              <a:chExt cx="240" cy="192"/>
            </a:xfrm>
          </p:grpSpPr>
          <p:sp>
            <p:nvSpPr>
              <p:cNvPr id="40" name="AutoShape 41"/>
              <p:cNvSpPr>
                <a:spLocks noChangeArrowheads="1"/>
              </p:cNvSpPr>
              <p:nvPr/>
            </p:nvSpPr>
            <p:spPr bwMode="auto">
              <a:xfrm>
                <a:off x="1968" y="3312"/>
                <a:ext cx="192" cy="144"/>
              </a:xfrm>
              <a:prstGeom prst="flowChartPreparation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" name="AutoShape 42"/>
              <p:cNvSpPr>
                <a:spLocks noChangeArrowheads="1"/>
              </p:cNvSpPr>
              <p:nvPr/>
            </p:nvSpPr>
            <p:spPr bwMode="auto">
              <a:xfrm>
                <a:off x="1944" y="3288"/>
                <a:ext cx="240" cy="192"/>
              </a:xfrm>
              <a:prstGeom prst="flowChartPreparation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42" name="Text Box 43"/>
            <p:cNvSpPr txBox="1">
              <a:spLocks noChangeArrowheads="1"/>
            </p:cNvSpPr>
            <p:nvPr/>
          </p:nvSpPr>
          <p:spPr bwMode="auto">
            <a:xfrm>
              <a:off x="4648200" y="4810472"/>
              <a:ext cx="1219200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pt-BR" sz="1400"/>
                <a:t>FFT 1D para cada coluna</a:t>
              </a:r>
              <a:endParaRPr lang="pt-BR"/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6172200" y="5039072"/>
              <a:ext cx="838200" cy="838200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4" name="Text Box 45"/>
            <p:cNvSpPr txBox="1">
              <a:spLocks noChangeArrowheads="1"/>
            </p:cNvSpPr>
            <p:nvPr/>
          </p:nvSpPr>
          <p:spPr bwMode="auto">
            <a:xfrm>
              <a:off x="6019800" y="4581872"/>
              <a:ext cx="11430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pt-BR" sz="1400"/>
                <a:t>FFT 2D de A </a:t>
              </a:r>
              <a:endParaRPr lang="pt-BR"/>
            </a:p>
          </p:txBody>
        </p:sp>
        <p:sp>
          <p:nvSpPr>
            <p:cNvPr id="45" name="Line 46"/>
            <p:cNvSpPr>
              <a:spLocks noChangeShapeType="1"/>
            </p:cNvSpPr>
            <p:nvPr/>
          </p:nvSpPr>
          <p:spPr bwMode="auto">
            <a:xfrm>
              <a:off x="7391400" y="3210272"/>
              <a:ext cx="609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8001000" y="3210272"/>
              <a:ext cx="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48"/>
            <p:cNvSpPr>
              <a:spLocks noChangeShapeType="1"/>
            </p:cNvSpPr>
            <p:nvPr/>
          </p:nvSpPr>
          <p:spPr bwMode="auto">
            <a:xfrm flipH="1">
              <a:off x="1447800" y="3819872"/>
              <a:ext cx="655320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49"/>
            <p:cNvSpPr>
              <a:spLocks noChangeShapeType="1"/>
            </p:cNvSpPr>
            <p:nvPr/>
          </p:nvSpPr>
          <p:spPr bwMode="auto">
            <a:xfrm>
              <a:off x="1447800" y="4429472"/>
              <a:ext cx="0" cy="1066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50"/>
            <p:cNvSpPr>
              <a:spLocks noChangeShapeType="1"/>
            </p:cNvSpPr>
            <p:nvPr/>
          </p:nvSpPr>
          <p:spPr bwMode="auto">
            <a:xfrm>
              <a:off x="1447800" y="5496272"/>
              <a:ext cx="533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9457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Filtragem no domínio da frequência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Teorema da </a:t>
            </a:r>
            <a:r>
              <a:rPr lang="pt-BR" err="1"/>
              <a:t>convolução</a:t>
            </a:r>
            <a:endParaRPr lang="pt-BR"/>
          </a:p>
          <a:p>
            <a:pPr lvl="1"/>
            <a:r>
              <a:rPr lang="pt-BR"/>
              <a:t>A </a:t>
            </a:r>
            <a:r>
              <a:rPr lang="pt-BR" err="1"/>
              <a:t>convolução</a:t>
            </a:r>
            <a:r>
              <a:rPr lang="pt-BR"/>
              <a:t> de uma máscara na imagem no espaço equivale no espectro a multiplicação da transformada da imagem pela transformada máscara</a:t>
            </a:r>
          </a:p>
          <a:p>
            <a:endParaRPr lang="en-US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480595"/>
              </p:ext>
            </p:extLst>
          </p:nvPr>
        </p:nvGraphicFramePr>
        <p:xfrm>
          <a:off x="1752600" y="3861048"/>
          <a:ext cx="531495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03040" progId="Equation.3">
                  <p:embed/>
                </p:oleObj>
              </mc:Choice>
              <mc:Fallback>
                <p:oleObj name="Equation" r:id="rId2" imgW="2095200" imgH="203040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861048"/>
                        <a:ext cx="531495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5913481"/>
              </p:ext>
            </p:extLst>
          </p:nvPr>
        </p:nvGraphicFramePr>
        <p:xfrm>
          <a:off x="1752600" y="4575596"/>
          <a:ext cx="52578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03040" progId="Equation.3">
                  <p:embed/>
                </p:oleObj>
              </mc:Choice>
              <mc:Fallback>
                <p:oleObj name="Equation" r:id="rId4" imgW="2095200" imgH="203040" progId="Equation.3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575596"/>
                        <a:ext cx="52578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272236"/>
            <a:ext cx="7724775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064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Filtragem no domínio da frequência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Passo a passo do processo de filtragem</a:t>
            </a:r>
            <a:endParaRPr lang="en-US"/>
          </a:p>
        </p:txBody>
      </p:sp>
      <p:pic>
        <p:nvPicPr>
          <p:cNvPr id="4" name="Picture 2" descr="\\FERRARI-DESKTOP\downloads\Aula Fourier\Screenshot-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04864"/>
            <a:ext cx="7681913" cy="391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021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Filtragem no domínio da frequência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5111480" cy="4495800"/>
          </a:xfrm>
        </p:spPr>
        <p:txBody>
          <a:bodyPr>
            <a:normAutofit/>
          </a:bodyPr>
          <a:lstStyle/>
          <a:p>
            <a:r>
              <a:rPr lang="pt-BR"/>
              <a:t>Considerações importantes</a:t>
            </a:r>
          </a:p>
          <a:p>
            <a:pPr lvl="1"/>
            <a:r>
              <a:rPr lang="pt-BR"/>
              <a:t>Baixas frequências: localizam-se próximas do centro da imagem</a:t>
            </a:r>
          </a:p>
          <a:p>
            <a:pPr lvl="2"/>
            <a:r>
              <a:rPr lang="pt-BR"/>
              <a:t>Mudanças suaves nas intensidades da imagem</a:t>
            </a:r>
          </a:p>
          <a:p>
            <a:pPr lvl="1"/>
            <a:r>
              <a:rPr lang="pt-BR"/>
              <a:t>Altas frequências: localizam-se afastadas do centro da imagem</a:t>
            </a:r>
          </a:p>
          <a:p>
            <a:pPr lvl="2"/>
            <a:r>
              <a:rPr lang="pt-BR"/>
              <a:t>Bordas de objetos, mudanças bruscas nas intensidades</a:t>
            </a:r>
            <a:endParaRPr lang="en-US"/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447503"/>
            <a:ext cx="3435765" cy="292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157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Filtragem no domínio da frequência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Dado a posição das frequências no espectro, podemos criar filtros do tipo</a:t>
            </a:r>
          </a:p>
          <a:p>
            <a:pPr lvl="1"/>
            <a:r>
              <a:rPr lang="pt-BR"/>
              <a:t>Passa-baixa: deixa passar as baixas frequências da imagem (suavização)</a:t>
            </a:r>
          </a:p>
          <a:p>
            <a:pPr lvl="1"/>
            <a:r>
              <a:rPr lang="pt-BR"/>
              <a:t>Passa-alta: deixa passar as altas frequências da imagem (realce)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52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Filtragem no domínio da frequência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Máscaras dos filtros ideais</a:t>
            </a:r>
          </a:p>
          <a:p>
            <a:pPr lvl="1"/>
            <a:r>
              <a:rPr lang="pt-BR"/>
              <a:t>No caso ideal teríamos filtros </a:t>
            </a:r>
            <a:r>
              <a:rPr lang="pt-BR" err="1"/>
              <a:t>passa-baixas</a:t>
            </a:r>
            <a:r>
              <a:rPr lang="pt-BR"/>
              <a:t> e </a:t>
            </a:r>
            <a:r>
              <a:rPr lang="pt-BR" err="1"/>
              <a:t>passa-altas</a:t>
            </a:r>
            <a:r>
              <a:rPr lang="pt-BR"/>
              <a:t>, respectivamente</a:t>
            </a:r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pPr lvl="1"/>
            <a:r>
              <a:rPr lang="pt-BR" i="1"/>
              <a:t>D</a:t>
            </a:r>
            <a:r>
              <a:rPr lang="pt-BR" i="1" baseline="-25000"/>
              <a:t>l</a:t>
            </a:r>
            <a:r>
              <a:rPr lang="pt-BR" i="1"/>
              <a:t> &gt; 0 e </a:t>
            </a:r>
            <a:r>
              <a:rPr lang="pt-BR" i="1" err="1"/>
              <a:t>D</a:t>
            </a:r>
            <a:r>
              <a:rPr lang="pt-BR" i="1" baseline="-25000" err="1"/>
              <a:t>h</a:t>
            </a:r>
            <a:r>
              <a:rPr lang="pt-BR" i="1"/>
              <a:t> &gt; 0 </a:t>
            </a:r>
            <a:r>
              <a:rPr lang="pt-BR"/>
              <a:t>definem as </a:t>
            </a:r>
            <a:r>
              <a:rPr lang="pt-BR" b="1"/>
              <a:t>frequências de corte</a:t>
            </a:r>
          </a:p>
          <a:p>
            <a:pPr lvl="1"/>
            <a:r>
              <a:rPr lang="pt-BR" i="1"/>
              <a:t>D(</a:t>
            </a:r>
            <a:r>
              <a:rPr lang="pt-BR" i="1" err="1"/>
              <a:t>u,v</a:t>
            </a:r>
            <a:r>
              <a:rPr lang="pt-BR" i="1"/>
              <a:t>) = (u</a:t>
            </a:r>
            <a:r>
              <a:rPr lang="pt-BR" i="1" baseline="30000"/>
              <a:t>2</a:t>
            </a:r>
            <a:r>
              <a:rPr lang="pt-BR" i="1"/>
              <a:t> + v</a:t>
            </a:r>
            <a:r>
              <a:rPr lang="pt-BR" i="1" baseline="30000"/>
              <a:t>2</a:t>
            </a:r>
            <a:r>
              <a:rPr lang="pt-BR" i="1"/>
              <a:t>)</a:t>
            </a:r>
            <a:r>
              <a:rPr lang="pt-BR" i="1" baseline="30000"/>
              <a:t>1/2</a:t>
            </a:r>
            <a:endParaRPr lang="en-US" i="1" baseline="30000"/>
          </a:p>
          <a:p>
            <a:endParaRPr lang="en-US" i="1"/>
          </a:p>
        </p:txBody>
      </p:sp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722" y="3098651"/>
            <a:ext cx="5638800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6563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Filtro passa-baixa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348880"/>
            <a:ext cx="6748129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eta em curva para a direita 3"/>
          <p:cNvSpPr/>
          <p:nvPr/>
        </p:nvSpPr>
        <p:spPr>
          <a:xfrm rot="5400000" flipV="1">
            <a:off x="4319972" y="4185084"/>
            <a:ext cx="792088" cy="201622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1482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Filtro passa-alta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599" y="2636912"/>
            <a:ext cx="7000875" cy="404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eta em curva para a direita 4"/>
          <p:cNvSpPr/>
          <p:nvPr/>
        </p:nvSpPr>
        <p:spPr>
          <a:xfrm rot="5400000" flipV="1">
            <a:off x="4319972" y="4761148"/>
            <a:ext cx="792088" cy="201622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4174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Filtro passa/rejeita-faixa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Atual apenas numa faixa de frequências</a:t>
            </a:r>
            <a:endParaRPr lang="en-US"/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414150"/>
            <a:ext cx="7212855" cy="4332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eta em curva para a direita 4"/>
          <p:cNvSpPr/>
          <p:nvPr/>
        </p:nvSpPr>
        <p:spPr>
          <a:xfrm rot="5400000" flipV="1">
            <a:off x="4319972" y="4761148"/>
            <a:ext cx="792088" cy="201622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80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Efeito oscilatório (</a:t>
            </a:r>
            <a:r>
              <a:rPr lang="pt-BR" i="1" err="1"/>
              <a:t>Ringing</a:t>
            </a:r>
            <a:r>
              <a:rPr lang="pt-BR" i="1"/>
              <a:t> </a:t>
            </a:r>
            <a:r>
              <a:rPr lang="pt-BR" i="1" err="1"/>
              <a:t>Problem</a:t>
            </a:r>
            <a:r>
              <a:rPr lang="pt-BR"/>
              <a:t>)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Os filtros ideais possuem uma variação abrupta de valor na frequência resulta</a:t>
            </a:r>
          </a:p>
          <a:p>
            <a:pPr lvl="1"/>
            <a:r>
              <a:rPr lang="pt-BR"/>
              <a:t>Surgimento do efeito </a:t>
            </a:r>
            <a:r>
              <a:rPr lang="pt-BR" i="1" err="1"/>
              <a:t>ringing</a:t>
            </a:r>
            <a:r>
              <a:rPr lang="pt-BR"/>
              <a:t> (falsas bordas) no domínio espacial</a:t>
            </a:r>
          </a:p>
          <a:p>
            <a:endParaRPr lang="pt-BR"/>
          </a:p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89"/>
          <a:stretch/>
        </p:blipFill>
        <p:spPr bwMode="auto">
          <a:xfrm>
            <a:off x="454177" y="3861048"/>
            <a:ext cx="8222279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2562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Efeito oscilatório (</a:t>
            </a:r>
            <a:r>
              <a:rPr lang="pt-BR" i="1" err="1"/>
              <a:t>Ringing</a:t>
            </a:r>
            <a:r>
              <a:rPr lang="pt-BR" i="1"/>
              <a:t> </a:t>
            </a:r>
            <a:r>
              <a:rPr lang="pt-BR" i="1" err="1"/>
              <a:t>Problem</a:t>
            </a:r>
            <a:r>
              <a:rPr lang="pt-BR"/>
              <a:t>)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802797"/>
              </p:ext>
            </p:extLst>
          </p:nvPr>
        </p:nvGraphicFramePr>
        <p:xfrm>
          <a:off x="2411760" y="1628800"/>
          <a:ext cx="4257675" cy="505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m de bitmap" r:id="rId2" imgW="4258269" imgH="5057143" progId="PBrush">
                  <p:embed/>
                </p:oleObj>
              </mc:Choice>
              <mc:Fallback>
                <p:oleObj name="Imagem de bitmap" r:id="rId2" imgW="4258269" imgH="5057143" progId="PBrush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628800"/>
                        <a:ext cx="4257675" cy="505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36035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Efeito oscilatório (</a:t>
            </a:r>
            <a:r>
              <a:rPr lang="pt-BR" i="1" err="1"/>
              <a:t>Ringing</a:t>
            </a:r>
            <a:r>
              <a:rPr lang="pt-BR" i="1"/>
              <a:t> </a:t>
            </a:r>
            <a:r>
              <a:rPr lang="pt-BR" i="1" err="1"/>
              <a:t>Problem</a:t>
            </a:r>
            <a:r>
              <a:rPr lang="pt-BR"/>
              <a:t>)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/>
              <a:t>Solução</a:t>
            </a:r>
          </a:p>
          <a:p>
            <a:pPr lvl="1"/>
            <a:r>
              <a:rPr lang="pt-BR"/>
              <a:t>Usar filtros que possuem uma variação mais suave em torno das frequências de corte</a:t>
            </a:r>
          </a:p>
          <a:p>
            <a:r>
              <a:rPr lang="pt-BR"/>
              <a:t>Exemplos</a:t>
            </a:r>
          </a:p>
          <a:p>
            <a:pPr lvl="1"/>
            <a:r>
              <a:rPr lang="pt-BR"/>
              <a:t>Filtro </a:t>
            </a:r>
            <a:r>
              <a:rPr lang="pt-BR" err="1"/>
              <a:t>Butterworth</a:t>
            </a:r>
            <a:endParaRPr lang="pt-BR"/>
          </a:p>
          <a:p>
            <a:pPr lvl="2"/>
            <a:r>
              <a:rPr lang="pt-BR"/>
              <a:t>corte mais abrupto em relação ao Gaussiano</a:t>
            </a:r>
          </a:p>
          <a:p>
            <a:pPr lvl="2"/>
            <a:r>
              <a:rPr lang="pt-BR"/>
              <a:t>ainda apresenta ruído oscilatório</a:t>
            </a:r>
          </a:p>
          <a:p>
            <a:pPr lvl="1"/>
            <a:r>
              <a:rPr lang="pt-BR"/>
              <a:t>Filtro Gaussiano</a:t>
            </a:r>
          </a:p>
          <a:p>
            <a:pPr lvl="2"/>
            <a:r>
              <a:rPr lang="pt-BR"/>
              <a:t>corte suave - maior </a:t>
            </a:r>
            <a:r>
              <a:rPr lang="pt-BR" err="1"/>
              <a:t>blur</a:t>
            </a:r>
            <a:endParaRPr lang="pt-BR"/>
          </a:p>
          <a:p>
            <a:pPr lvl="2"/>
            <a:r>
              <a:rPr lang="pt-BR"/>
              <a:t>não apresenta ruído oscilatório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36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Filtro</a:t>
            </a:r>
            <a:r>
              <a:rPr lang="en-US"/>
              <a:t> </a:t>
            </a:r>
            <a:r>
              <a:rPr lang="en-US" err="1"/>
              <a:t>Passa-Baixa</a:t>
            </a:r>
            <a:r>
              <a:rPr lang="en-US"/>
              <a:t> Butterworth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Não apresenta uma descontinuidade abrupta</a:t>
            </a:r>
          </a:p>
          <a:p>
            <a:pPr lvl="1"/>
            <a:r>
              <a:rPr lang="pt-BR"/>
              <a:t>Não resulta em um corte bem definido</a:t>
            </a:r>
          </a:p>
          <a:p>
            <a:endParaRPr lang="pt-BR"/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2780928"/>
            <a:ext cx="4914900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9976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Filtro</a:t>
            </a:r>
            <a:r>
              <a:rPr lang="en-US"/>
              <a:t> </a:t>
            </a:r>
            <a:r>
              <a:rPr lang="en-US" err="1"/>
              <a:t>Passa-Baixa</a:t>
            </a:r>
            <a:r>
              <a:rPr lang="en-US"/>
              <a:t> Butterworth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6335616" cy="4925144"/>
          </a:xfrm>
        </p:spPr>
        <p:txBody>
          <a:bodyPr>
            <a:normAutofit/>
          </a:bodyPr>
          <a:lstStyle/>
          <a:p>
            <a:r>
              <a:rPr lang="pt-BR"/>
              <a:t>É definido pela equação</a:t>
            </a:r>
          </a:p>
          <a:p>
            <a:endParaRPr lang="pt-BR"/>
          </a:p>
          <a:p>
            <a:endParaRPr lang="pt-BR"/>
          </a:p>
          <a:p>
            <a:r>
              <a:rPr lang="pt-BR"/>
              <a:t>onde </a:t>
            </a:r>
          </a:p>
          <a:p>
            <a:pPr lvl="1"/>
            <a:r>
              <a:rPr lang="pt-BR" i="1"/>
              <a:t>D(µ,v)</a:t>
            </a:r>
            <a:r>
              <a:rPr lang="pt-BR"/>
              <a:t> é a distância entre um ponto </a:t>
            </a:r>
            <a:r>
              <a:rPr lang="pt-BR" i="1"/>
              <a:t>(µ,v)</a:t>
            </a:r>
            <a:r>
              <a:rPr lang="pt-BR"/>
              <a:t> no domínio da frequência e o centro da função de frequência</a:t>
            </a:r>
          </a:p>
          <a:p>
            <a:pPr lvl="1"/>
            <a:r>
              <a:rPr lang="pt-BR" b="1" i="1"/>
              <a:t>n</a:t>
            </a:r>
            <a:r>
              <a:rPr lang="pt-BR"/>
              <a:t> é a ordem do filtro </a:t>
            </a:r>
          </a:p>
          <a:p>
            <a:pPr lvl="1"/>
            <a:r>
              <a:rPr lang="pt-BR" i="1"/>
              <a:t>D</a:t>
            </a:r>
            <a:r>
              <a:rPr lang="pt-BR" i="1" baseline="-25000"/>
              <a:t>0</a:t>
            </a:r>
            <a:r>
              <a:rPr lang="pt-BR"/>
              <a:t> é a frequência de corte (distância da origem)</a:t>
            </a:r>
            <a:endParaRPr lang="en-US"/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9578"/>
            <a:ext cx="4258520" cy="1043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9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501899"/>
            <a:ext cx="3009226" cy="2359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93192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Filtro</a:t>
            </a:r>
            <a:r>
              <a:rPr lang="en-US"/>
              <a:t> </a:t>
            </a:r>
            <a:r>
              <a:rPr lang="en-US" err="1"/>
              <a:t>Passa-Baixa</a:t>
            </a:r>
            <a:r>
              <a:rPr lang="en-US"/>
              <a:t> Butterworth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O filtro passa-alta é obtido fazendo-se</a:t>
            </a:r>
          </a:p>
          <a:p>
            <a:pPr lvl="1"/>
            <a:r>
              <a:rPr lang="pt-BR" i="1"/>
              <a:t>L(µ,v)  = 1 - H(µ,v) </a:t>
            </a:r>
          </a:p>
        </p:txBody>
      </p:sp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808312"/>
            <a:ext cx="7183389" cy="3789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eta em curva para a direita 4"/>
          <p:cNvSpPr/>
          <p:nvPr/>
        </p:nvSpPr>
        <p:spPr>
          <a:xfrm rot="5400000" flipV="1">
            <a:off x="4319972" y="4761148"/>
            <a:ext cx="792088" cy="201622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3235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Filtro</a:t>
            </a:r>
            <a:r>
              <a:rPr lang="en-US"/>
              <a:t> </a:t>
            </a:r>
            <a:r>
              <a:rPr lang="en-US" err="1"/>
              <a:t>Passa-Baixa</a:t>
            </a:r>
            <a:r>
              <a:rPr lang="en-US"/>
              <a:t> </a:t>
            </a:r>
            <a:r>
              <a:rPr lang="en-US" err="1"/>
              <a:t>Gaussiano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Não apresenta efeito de </a:t>
            </a:r>
            <a:r>
              <a:rPr lang="pt-BR" i="1" err="1"/>
              <a:t>ringing</a:t>
            </a:r>
            <a:endParaRPr lang="pt-BR" i="1"/>
          </a:p>
          <a:p>
            <a:pPr lvl="1"/>
            <a:r>
              <a:rPr lang="pt-BR"/>
              <a:t>Custo maior de calcular em relação ao </a:t>
            </a:r>
            <a:r>
              <a:rPr lang="en-US" i="1"/>
              <a:t>Butterworth</a:t>
            </a:r>
            <a:endParaRPr lang="pt-BR" i="1"/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996952"/>
            <a:ext cx="5047305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6144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Filtro</a:t>
            </a:r>
            <a:r>
              <a:rPr lang="en-US"/>
              <a:t> </a:t>
            </a:r>
            <a:r>
              <a:rPr lang="en-US" err="1"/>
              <a:t>Passa-Baixa</a:t>
            </a:r>
            <a:r>
              <a:rPr lang="en-US"/>
              <a:t> </a:t>
            </a:r>
            <a:r>
              <a:rPr lang="en-US" err="1"/>
              <a:t>Gaussiano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535416" cy="5141168"/>
          </a:xfrm>
        </p:spPr>
        <p:txBody>
          <a:bodyPr>
            <a:normAutofit/>
          </a:bodyPr>
          <a:lstStyle/>
          <a:p>
            <a:r>
              <a:rPr lang="pt-BR"/>
              <a:t>É definido pela equação</a:t>
            </a:r>
          </a:p>
          <a:p>
            <a:endParaRPr lang="pt-BR"/>
          </a:p>
          <a:p>
            <a:endParaRPr lang="pt-BR"/>
          </a:p>
          <a:p>
            <a:r>
              <a:rPr lang="pt-BR"/>
              <a:t>onde </a:t>
            </a:r>
          </a:p>
          <a:p>
            <a:pPr lvl="1"/>
            <a:r>
              <a:rPr lang="pt-BR" i="1"/>
              <a:t>D(µ,v)</a:t>
            </a:r>
            <a:r>
              <a:rPr lang="pt-BR"/>
              <a:t> é a distância entre um ponto </a:t>
            </a:r>
            <a:r>
              <a:rPr lang="pt-BR" i="1"/>
              <a:t>(µ,v)</a:t>
            </a:r>
            <a:r>
              <a:rPr lang="pt-BR"/>
              <a:t> no domínio da frequência e o centro da função de frequência</a:t>
            </a:r>
          </a:p>
          <a:p>
            <a:pPr lvl="1"/>
            <a:r>
              <a:rPr lang="pt-BR" i="1"/>
              <a:t>D</a:t>
            </a:r>
            <a:r>
              <a:rPr lang="pt-BR" i="1" baseline="-25000"/>
              <a:t>0</a:t>
            </a:r>
            <a:r>
              <a:rPr lang="pt-BR"/>
              <a:t> é a frequência de corte (distância da origem)</a:t>
            </a:r>
            <a:endParaRPr lang="en-US"/>
          </a:p>
          <a:p>
            <a:endParaRPr lang="pt-BR"/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269629"/>
            <a:ext cx="3864810" cy="871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0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724" y="2692722"/>
            <a:ext cx="3781772" cy="2863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32761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Filtro</a:t>
            </a:r>
            <a:r>
              <a:rPr lang="en-US"/>
              <a:t> </a:t>
            </a:r>
            <a:r>
              <a:rPr lang="en-US" err="1"/>
              <a:t>Passa-Baixa</a:t>
            </a:r>
            <a:r>
              <a:rPr lang="en-US"/>
              <a:t> </a:t>
            </a:r>
            <a:r>
              <a:rPr lang="en-US" err="1"/>
              <a:t>Gaussiano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O filtro passa-alta é obtido fazendo-se</a:t>
            </a:r>
          </a:p>
          <a:p>
            <a:pPr lvl="1"/>
            <a:r>
              <a:rPr lang="pt-BR" i="1"/>
              <a:t>L(µ,v)  = 1 - H(µ,v) </a:t>
            </a: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925013"/>
            <a:ext cx="6798766" cy="381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eta em curva para a direita 5"/>
          <p:cNvSpPr/>
          <p:nvPr/>
        </p:nvSpPr>
        <p:spPr>
          <a:xfrm rot="5400000" flipV="1">
            <a:off x="4319972" y="4761148"/>
            <a:ext cx="792088" cy="201622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169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A51D76D-7D3F-452A-B93E-E7B4FF543429}"/>
</file>

<file path=customXml/itemProps2.xml><?xml version="1.0" encoding="utf-8"?>
<ds:datastoreItem xmlns:ds="http://schemas.openxmlformats.org/officeDocument/2006/customXml" ds:itemID="{24478A88-910E-495C-BE2E-B49AB5B463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3BB05D-13EE-45E3-B0F2-30A65E650BFF}">
  <ds:schemaRefs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89aaaf0e-5042-4bb0-be78-de620c2c6fd2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0</TotalTime>
  <Words>1482</Words>
  <Application>Microsoft Office PowerPoint</Application>
  <PresentationFormat>Apresentação na tela (4:3)</PresentationFormat>
  <Paragraphs>268</Paragraphs>
  <Slides>41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41</vt:i4>
      </vt:variant>
    </vt:vector>
  </HeadingPairs>
  <TitlesOfParts>
    <vt:vector size="52" baseType="lpstr">
      <vt:lpstr>Arial</vt:lpstr>
      <vt:lpstr>Calibri</vt:lpstr>
      <vt:lpstr>Tahoma</vt:lpstr>
      <vt:lpstr>Times New Roman</vt:lpstr>
      <vt:lpstr>Tw Cen MT</vt:lpstr>
      <vt:lpstr>Wingdings</vt:lpstr>
      <vt:lpstr>Wingdings 2</vt:lpstr>
      <vt:lpstr>Mediano</vt:lpstr>
      <vt:lpstr>Equation</vt:lpstr>
      <vt:lpstr>Equação</vt:lpstr>
      <vt:lpstr>Imagem de bitmap</vt:lpstr>
      <vt:lpstr>Filtragem NO Domínio da frequência</vt:lpstr>
      <vt:lpstr>Introdução</vt:lpstr>
      <vt:lpstr>Introdução</vt:lpstr>
      <vt:lpstr>Introdução</vt:lpstr>
      <vt:lpstr>Introdução</vt:lpstr>
      <vt:lpstr>Transformada de Fourier</vt:lpstr>
      <vt:lpstr>Transformada de Fourier</vt:lpstr>
      <vt:lpstr>Transformada de Fourier</vt:lpstr>
      <vt:lpstr>Transformada de Fourier - Exemplo</vt:lpstr>
      <vt:lpstr>Transformada de Fourier 2D</vt:lpstr>
      <vt:lpstr>Transformada de Fourier 2D - Exemplo</vt:lpstr>
      <vt:lpstr>Transformada Discreta de Fourier - DFT</vt:lpstr>
      <vt:lpstr>Transformada Discreta de Fourier - DFT</vt:lpstr>
      <vt:lpstr>Transformada Discreta de Fourier - DFT</vt:lpstr>
      <vt:lpstr>Transformada Discreta de Fourier - DFT</vt:lpstr>
      <vt:lpstr>Transformada Discreta de Fourier - DFT</vt:lpstr>
      <vt:lpstr>Transformada Discreta de Fourier - DFT</vt:lpstr>
      <vt:lpstr>Transformada Discreta de Fourier - DFT</vt:lpstr>
      <vt:lpstr>Transformada Rápida de Fourier - FFT</vt:lpstr>
      <vt:lpstr>Transformada Rápida de Fourier - FFT</vt:lpstr>
      <vt:lpstr>Transformada Discreta de Fourier 2D: DFT-2D</vt:lpstr>
      <vt:lpstr>Transformada Discreta de Fourier 2D: DFT-2D</vt:lpstr>
      <vt:lpstr>Transformada Discreta de Fourier 2D: DFT-2D</vt:lpstr>
      <vt:lpstr>Separabilidade</vt:lpstr>
      <vt:lpstr>Filtragem no domínio da frequência</vt:lpstr>
      <vt:lpstr>Filtragem no domínio da frequência</vt:lpstr>
      <vt:lpstr>Filtragem no domínio da frequência</vt:lpstr>
      <vt:lpstr>Filtragem no domínio da frequência</vt:lpstr>
      <vt:lpstr>Filtragem no domínio da frequência</vt:lpstr>
      <vt:lpstr>Filtro passa-baixa</vt:lpstr>
      <vt:lpstr>Filtro passa-alta</vt:lpstr>
      <vt:lpstr>Filtro passa/rejeita-faixa</vt:lpstr>
      <vt:lpstr>Efeito oscilatório (Ringing Problem)</vt:lpstr>
      <vt:lpstr>Efeito oscilatório (Ringing Problem)</vt:lpstr>
      <vt:lpstr>Efeito oscilatório (Ringing Problem)</vt:lpstr>
      <vt:lpstr>Filtro Passa-Baixa Butterworth</vt:lpstr>
      <vt:lpstr>Filtro Passa-Baixa Butterworth</vt:lpstr>
      <vt:lpstr>Filtro Passa-Baixa Butterworth</vt:lpstr>
      <vt:lpstr>Filtro Passa-Baixa Gaussiano</vt:lpstr>
      <vt:lpstr>Filtro Passa-Baixa Gaussiano</vt:lpstr>
      <vt:lpstr>Filtro Passa-Baixa Gaussiano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Filtragem espacial de imagem e convolução</dc:title>
  <dc:creator>Bant</dc:creator>
  <cp:lastModifiedBy>Bruno Travençolo</cp:lastModifiedBy>
  <cp:revision>1</cp:revision>
  <dcterms:created xsi:type="dcterms:W3CDTF">2009-03-04T16:19:44Z</dcterms:created>
  <dcterms:modified xsi:type="dcterms:W3CDTF">2023-05-10T22:25:03Z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