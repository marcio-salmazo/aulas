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8"/>
  </p:notesMasterIdLst>
  <p:sldIdLst>
    <p:sldId id="307" r:id="rId3"/>
    <p:sldId id="309" r:id="rId4"/>
    <p:sldId id="322" r:id="rId5"/>
    <p:sldId id="324" r:id="rId6"/>
    <p:sldId id="323" r:id="rId7"/>
    <p:sldId id="325" r:id="rId8"/>
    <p:sldId id="326" r:id="rId9"/>
    <p:sldId id="327" r:id="rId10"/>
    <p:sldId id="329" r:id="rId11"/>
    <p:sldId id="328" r:id="rId12"/>
    <p:sldId id="330" r:id="rId13"/>
    <p:sldId id="331" r:id="rId14"/>
    <p:sldId id="332" r:id="rId15"/>
    <p:sldId id="333" r:id="rId16"/>
    <p:sldId id="32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AB3"/>
    <a:srgbClr val="4472C4"/>
    <a:srgbClr val="FFFFFF"/>
    <a:srgbClr val="172C51"/>
    <a:srgbClr val="7DA7D8"/>
    <a:srgbClr val="2F8D46"/>
    <a:srgbClr val="E1F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374" autoAdjust="0"/>
  </p:normalViewPr>
  <p:slideViewPr>
    <p:cSldViewPr snapToGrid="0">
      <p:cViewPr varScale="1">
        <p:scale>
          <a:sx n="101" d="100"/>
          <a:sy n="101" d="100"/>
        </p:scale>
        <p:origin x="9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6A6C-4C26-65C3-6FE4-78F80AC2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80B0AB-DAAD-0F0C-64A5-30C4C6D8D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83D4E3-B254-14E5-FB80-B6DE54586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CF4A9-8229-54B0-3693-37332ED09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03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C6B7-2B75-FFD9-F2BB-1A62F298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1353EC3-8DCA-E468-9E66-4A1590F4C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E68032-0033-18C8-4674-73749AC4E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FB62BD-54A0-406D-93F0-FD542C4FC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802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0B5C9-0FAD-6CCA-D968-113F919A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E45F1A-32BA-BB79-080D-050240594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92944A-F0F0-8AA7-308C-2064C5FE2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4135F0-222B-5E96-2482-6F8292BD1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5B9BC-2451-5959-FC43-98237FE8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DFF3B8-67EC-66D3-547B-4D9BF12C4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1F8411-15C3-CF86-2C3B-6FF4924B6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73E2EB-773C-B483-29F6-569AF723E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469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6257F-4285-4C4F-E4E6-1CF7AB52B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A794E2-BD28-41D8-071D-9F6D6EFE1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52BDB4-0E3F-1463-7738-1DF290F09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6B8210-A2EC-BCCE-AA24-B2BFEA560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413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38A2-CC26-9209-40F3-71BDA361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F6770E-2DC6-AE22-B61A-BE023F144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B8B6AD5-2D03-543D-E000-6EFB96759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AFF460-11CB-485D-FEBA-1ABDA2445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8668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9D2DA-AB6C-EC9B-B8BF-3A33DA0B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252E63-8D89-D939-ECA9-FE2219813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660DD4-1DCD-7D53-0AE0-0D9718D60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Posso usar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pt-BR" dirty="0"/>
              <a:t> em uma </a:t>
            </a:r>
            <a:r>
              <a:rPr lang="pt-BR" dirty="0" err="1"/>
              <a:t>string</a:t>
            </a:r>
            <a:r>
              <a:rPr lang="pt-BR" dirty="0"/>
              <a:t> mesmo sem necessidade, contanto que se use o endereço correto.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("%9s", &amp;nome[0]);  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16ED18-ED5E-C1E0-1805-89840AFE8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081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6AB11-BD26-8FB7-2280-DEE35C074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5E365A-6F95-08D8-1061-822453E42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DAB177-7F04-E9AA-9B77-4149904A4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FF6E09-BA08-F78A-13F3-C6CC30B6F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013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CDDD-CD54-ADF8-4987-3244B6C83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CCF144-7461-17E0-02B7-09156C18F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E67CAE-AFF6-CFE6-8222-FADA9336A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ACA48A-BB6D-C79D-65A0-93DC2FCCC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009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D6A47-9E84-947E-B4E8-4669372C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5BB7C1-53E5-FEDA-E4C1-FDB28FD32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E1A0BA-F096-7616-246B-A30A06A6F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Posso usar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pt-BR" dirty="0"/>
              <a:t> em uma </a:t>
            </a:r>
            <a:r>
              <a:rPr lang="pt-BR" dirty="0" err="1"/>
              <a:t>string</a:t>
            </a:r>
            <a:r>
              <a:rPr lang="pt-BR" dirty="0"/>
              <a:t> mesmo sem necessidade, contanto que se use o endereço correto.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("%9s", &amp;nome[0]);  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1A78BB-97AB-165D-F944-DAF23A50F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9962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C4F4-7A75-70F3-0295-E458D09E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F6E360-6354-0BD6-7C9B-27864AED7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7772C8-8B20-FB20-F9E3-296DFAE6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Posso usar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pt-BR" dirty="0"/>
              <a:t> em uma </a:t>
            </a:r>
            <a:r>
              <a:rPr lang="pt-BR" dirty="0" err="1"/>
              <a:t>string</a:t>
            </a:r>
            <a:r>
              <a:rPr lang="pt-BR" dirty="0"/>
              <a:t> mesmo sem necessidade, contanto que se use o endereço correto.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("%9s", &amp;nome[0]);  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DFB523-5FCA-7D99-1C9A-E14703BE7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5537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A460-A725-4617-81B9-54852110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9A971A-4C37-DBEE-90B7-1FD43EBF2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3D2EE7-CAD6-8C88-43FD-7F46AD290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Posso usar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pt-BR" dirty="0"/>
              <a:t> em uma </a:t>
            </a:r>
            <a:r>
              <a:rPr lang="pt-BR" dirty="0" err="1"/>
              <a:t>string</a:t>
            </a:r>
            <a:r>
              <a:rPr lang="pt-BR" dirty="0"/>
              <a:t> mesmo sem necessidade, contanto que se use o endereço correto.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("%9s", &amp;nome[0]);  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AEC6DE-22C9-203E-A8A1-121D5D530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03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DD26-163B-4AFD-813C-9CC86573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120C980-DC5E-C76D-00A3-E5FFEE45D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AA14662-7828-4433-5DEF-9570EB4D7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Posso usar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pt-BR" dirty="0"/>
              <a:t> em uma </a:t>
            </a:r>
            <a:r>
              <a:rPr lang="pt-BR" dirty="0" err="1"/>
              <a:t>string</a:t>
            </a:r>
            <a:r>
              <a:rPr lang="pt-BR" dirty="0"/>
              <a:t> mesmo sem necessidade, contanto que se use o endereço correto.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scanf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("%9s", &amp;nome[0]);  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B4E08C-2C90-44C3-E571-19EDE8E2C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462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8612-8EA9-CE69-E204-0CB4A288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9A9D82-9E5F-ACBD-F8EA-81D9EAD22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D34913-744B-1418-1370-44BC35252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0BA993-0462-549A-1B19-A9E444849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88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FD76-F19C-3B8C-0470-C7D14260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2B873-06AF-C3DE-2B4B-567D739D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/>
              <a:t>MÓDULO 8 </a:t>
            </a:r>
            <a:r>
              <a:rPr lang="pt-BR" dirty="0"/>
              <a:t>– </a:t>
            </a:r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B3AE6F-2432-A013-F69D-065ABFAD0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393744B-665F-C7B8-E211-4FDD9DDA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4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7E4C-5AD4-C29D-16D9-8F1B01DE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0C5335F-DD51-6910-390A-D7E780E8D7D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FD6E1-4085-8019-7523-D504C8D8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String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EAD2AB3-FC19-84DD-2107-4EB1CBD799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675DCFF3-AB50-1B87-6E88-FBE2EF735A07}"/>
              </a:ext>
            </a:extLst>
          </p:cNvPr>
          <p:cNvSpPr txBox="1">
            <a:spLocks/>
          </p:cNvSpPr>
          <p:nvPr/>
        </p:nvSpPr>
        <p:spPr>
          <a:xfrm>
            <a:off x="2318929" y="1776471"/>
            <a:ext cx="7554142" cy="2315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A </a:t>
            </a:r>
            <a:r>
              <a:rPr lang="pt-BR" sz="2200" i="1" dirty="0" err="1"/>
              <a:t>string</a:t>
            </a:r>
            <a:r>
              <a:rPr lang="pt-BR" sz="2200" dirty="0"/>
              <a:t> é um vetor de caracteres terminado obrigatoriamente por um caractere nulo ‘\0’.</a:t>
            </a:r>
          </a:p>
          <a:p>
            <a:pPr algn="just"/>
            <a:endParaRPr lang="pt-BR" sz="2200" i="1" dirty="0"/>
          </a:p>
          <a:p>
            <a:pPr algn="just"/>
            <a:r>
              <a:rPr lang="pt-BR" sz="2200" dirty="0"/>
              <a:t>O caractere nulo ‘\0’ indica onde a </a:t>
            </a:r>
            <a:r>
              <a:rPr lang="pt-BR" sz="2200" i="1" dirty="0" err="1"/>
              <a:t>string</a:t>
            </a:r>
            <a:r>
              <a:rPr lang="pt-BR" sz="2200" dirty="0"/>
              <a:t> termina, e não é contado como parte do comprimento textual.</a:t>
            </a:r>
            <a:endParaRPr lang="pt-BR" sz="2200" i="1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6F3AC57-90D5-9971-681A-BB01F4B881FB}"/>
              </a:ext>
            </a:extLst>
          </p:cNvPr>
          <p:cNvSpPr/>
          <p:nvPr/>
        </p:nvSpPr>
        <p:spPr>
          <a:xfrm>
            <a:off x="7491046" y="4542692"/>
            <a:ext cx="2718215" cy="2315308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 terminador é um caractere especial cujo valor em ASCII é zero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84A2430-91C1-5B4C-EF15-BD771BD862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65"/>
          <a:stretch>
            <a:fillRect/>
          </a:stretch>
        </p:blipFill>
        <p:spPr>
          <a:xfrm>
            <a:off x="1921045" y="4542691"/>
            <a:ext cx="5570001" cy="231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BC86-88C1-97BF-FF2B-D22601B9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7403114-1302-4467-71F6-ED3F763FA75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05082B-A48B-B498-4FCF-2F7FB77B5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Delimitador da </a:t>
            </a:r>
            <a:r>
              <a:rPr lang="pt-BR" dirty="0" err="1">
                <a:solidFill>
                  <a:schemeClr val="bg1"/>
                </a:solidFill>
              </a:rPr>
              <a:t>String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BC6D48C-62AC-D656-058B-7F5C1C7093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6B651550-C0AF-4E51-A7C1-839274BDE4DC}"/>
              </a:ext>
            </a:extLst>
          </p:cNvPr>
          <p:cNvSpPr txBox="1">
            <a:spLocks/>
          </p:cNvSpPr>
          <p:nvPr/>
        </p:nvSpPr>
        <p:spPr>
          <a:xfrm>
            <a:off x="1540815" y="1746737"/>
            <a:ext cx="9110370" cy="2315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O caractere nulo \0 é o que indica o fim da </a:t>
            </a:r>
            <a:r>
              <a:rPr lang="pt-BR" sz="2200" i="1" dirty="0" err="1"/>
              <a:t>string</a:t>
            </a:r>
            <a:r>
              <a:rPr lang="pt-BR" sz="2200" dirty="0"/>
              <a:t> para as funções da biblioteca padrão. </a:t>
            </a:r>
          </a:p>
          <a:p>
            <a:pPr algn="just"/>
            <a:endParaRPr lang="pt-BR" sz="2200" i="1" dirty="0"/>
          </a:p>
          <a:p>
            <a:pPr algn="just"/>
            <a:r>
              <a:rPr lang="pt-BR" sz="2200" dirty="0"/>
              <a:t>Se criarmos um vetor de char sem o \0 no final, as funções de leitura e impressão continuarão lendo a memória lixo até encontrar um zero.</a:t>
            </a:r>
            <a:endParaRPr lang="pt-BR" sz="2200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CC6BA9-D434-66DE-8D5A-70535A0FE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472" y="4002575"/>
            <a:ext cx="6681056" cy="285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7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AB7D-0105-F203-F597-3DE234CC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F270976-97FA-B502-7864-73051B7CC4F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EC5DE4-2F43-B320-3319-A35A5E01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Declaração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D35AADC-6FC2-C1AF-C32E-670A9CC10B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945DAC59-DEFD-A2EE-32B8-39901B37E1F0}"/>
              </a:ext>
            </a:extLst>
          </p:cNvPr>
          <p:cNvSpPr txBox="1">
            <a:spLocks/>
          </p:cNvSpPr>
          <p:nvPr/>
        </p:nvSpPr>
        <p:spPr>
          <a:xfrm>
            <a:off x="1792324" y="1957753"/>
            <a:ext cx="8607352" cy="4747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Uma </a:t>
            </a:r>
            <a:r>
              <a:rPr lang="pt-BR" sz="2200" i="1" dirty="0" err="1"/>
              <a:t>String</a:t>
            </a:r>
            <a:r>
              <a:rPr lang="pt-BR" sz="2200" dirty="0"/>
              <a:t> pode ser declarada como:</a:t>
            </a:r>
          </a:p>
          <a:p>
            <a:pPr algn="just"/>
            <a:endParaRPr lang="pt-BR" sz="2200" i="1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pt-BR" sz="2200" dirty="0">
                <a:solidFill>
                  <a:srgbClr val="00B050"/>
                </a:solidFill>
              </a:rPr>
              <a:t>char</a:t>
            </a:r>
            <a:r>
              <a:rPr lang="pt-BR" sz="2200" dirty="0"/>
              <a:t> </a:t>
            </a:r>
            <a:r>
              <a:rPr lang="pt-BR" sz="2200" dirty="0">
                <a:solidFill>
                  <a:srgbClr val="0070C0"/>
                </a:solidFill>
              </a:rPr>
              <a:t>nome</a:t>
            </a:r>
            <a:r>
              <a:rPr lang="pt-BR" sz="2200" dirty="0">
                <a:solidFill>
                  <a:srgbClr val="FF0000"/>
                </a:solidFill>
              </a:rPr>
              <a:t>[N]; </a:t>
            </a:r>
            <a:r>
              <a:rPr lang="pt-BR" sz="2200" dirty="0">
                <a:sym typeface="Wingdings" panose="05000000000000000000" pitchFamily="2" charset="2"/>
              </a:rPr>
              <a:t> </a:t>
            </a:r>
            <a:r>
              <a:rPr lang="pt-BR" sz="2200" dirty="0"/>
              <a:t>Capacidade para </a:t>
            </a:r>
            <a:r>
              <a:rPr lang="pt-BR" sz="2200" i="1" dirty="0">
                <a:solidFill>
                  <a:srgbClr val="FF0000"/>
                </a:solidFill>
              </a:rPr>
              <a:t>N – 1</a:t>
            </a:r>
            <a:r>
              <a:rPr lang="pt-BR" sz="2200" i="1" dirty="0"/>
              <a:t> </a:t>
            </a:r>
            <a:r>
              <a:rPr lang="pt-BR" sz="2200" dirty="0"/>
              <a:t>caracteres + o ‘\0’.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pt-BR" sz="2200" dirty="0">
                <a:solidFill>
                  <a:srgbClr val="00B050"/>
                </a:solidFill>
              </a:rPr>
              <a:t>char</a:t>
            </a:r>
            <a:r>
              <a:rPr lang="pt-BR" sz="2200" dirty="0"/>
              <a:t> </a:t>
            </a:r>
            <a:r>
              <a:rPr lang="pt-BR" sz="2200" dirty="0">
                <a:solidFill>
                  <a:srgbClr val="0070C0"/>
                </a:solidFill>
              </a:rPr>
              <a:t>nome</a:t>
            </a:r>
            <a:r>
              <a:rPr lang="pt-BR" sz="2200" dirty="0">
                <a:solidFill>
                  <a:srgbClr val="FF0000"/>
                </a:solidFill>
              </a:rPr>
              <a:t>[]</a:t>
            </a:r>
            <a:r>
              <a:rPr lang="pt-BR" sz="2200" dirty="0"/>
              <a:t> = 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"Olá mundo"; </a:t>
            </a:r>
            <a:r>
              <a:rPr lang="pt-BR" sz="2200" dirty="0">
                <a:sym typeface="Wingdings" panose="05000000000000000000" pitchFamily="2" charset="2"/>
              </a:rPr>
              <a:t></a:t>
            </a:r>
            <a:r>
              <a:rPr lang="pt-BR" sz="2200" dirty="0"/>
              <a:t> O compilador calcula o tamanho automaticamente, de acordo com a inicialização.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algn="just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pt-BR" sz="2200" u="sng" dirty="0"/>
              <a:t>Obs1</a:t>
            </a:r>
            <a:r>
              <a:rPr lang="pt-BR" sz="2200" dirty="0"/>
              <a:t>:  </a:t>
            </a:r>
            <a:r>
              <a:rPr lang="pt-BR" sz="2200" dirty="0" err="1"/>
              <a:t>Strings</a:t>
            </a:r>
            <a:r>
              <a:rPr lang="pt-BR" sz="2200" dirty="0"/>
              <a:t> em C são representadas por </a:t>
            </a:r>
            <a:r>
              <a:rPr lang="pt-BR" sz="2200" b="1" dirty="0"/>
              <a:t>aspas duplas</a:t>
            </a:r>
            <a:r>
              <a:rPr lang="pt-BR" sz="2200" dirty="0"/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pt-BR" sz="2200" u="sng" dirty="0"/>
              <a:t>Obs2</a:t>
            </a:r>
            <a:r>
              <a:rPr lang="pt-BR" sz="2200" dirty="0"/>
              <a:t>: </a:t>
            </a:r>
            <a:r>
              <a:rPr lang="pt-BR" sz="2200" dirty="0">
                <a:solidFill>
                  <a:srgbClr val="00B050"/>
                </a:solidFill>
              </a:rPr>
              <a:t>char</a:t>
            </a:r>
            <a:r>
              <a:rPr lang="pt-BR" sz="2200" dirty="0"/>
              <a:t> </a:t>
            </a:r>
            <a:r>
              <a:rPr lang="pt-BR" sz="2200" dirty="0">
                <a:solidFill>
                  <a:srgbClr val="0070C0"/>
                </a:solidFill>
              </a:rPr>
              <a:t>vetor</a:t>
            </a:r>
            <a:r>
              <a:rPr lang="pt-BR" sz="2200" dirty="0">
                <a:solidFill>
                  <a:srgbClr val="FF0000"/>
                </a:solidFill>
              </a:rPr>
              <a:t>[]</a:t>
            </a:r>
            <a:r>
              <a:rPr lang="pt-BR" sz="2200" dirty="0"/>
              <a:t> = 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{'C', 'A', 'S', 'A’}; </a:t>
            </a:r>
            <a:r>
              <a:rPr lang="pt-BR" sz="2200" dirty="0">
                <a:sym typeface="Wingdings" panose="05000000000000000000" pitchFamily="2" charset="2"/>
              </a:rPr>
              <a:t> contém apenas quatro caracteres e não é uma </a:t>
            </a:r>
            <a:r>
              <a:rPr lang="pt-BR" sz="2200" i="1" dirty="0" err="1">
                <a:sym typeface="Wingdings" panose="05000000000000000000" pitchFamily="2" charset="2"/>
              </a:rPr>
              <a:t>string</a:t>
            </a:r>
            <a:r>
              <a:rPr lang="pt-BR" sz="2200" dirty="0">
                <a:sym typeface="Wingdings" panose="05000000000000000000" pitchFamily="2" charset="2"/>
              </a:rPr>
              <a:t> válida para as funções convencionais de C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5388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86C5-9075-476D-56F6-FAA897F8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E0C8F1A-9B11-60E9-70AB-EE59B79B9A7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0047D3-5E55-E9E6-A0B8-75E7F28E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Inicialização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CE80BA2-21FB-EA05-9FE4-1E7FB1D322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2FB6B3FD-ACF7-AA7C-06A7-05E06FDD348D}"/>
              </a:ext>
            </a:extLst>
          </p:cNvPr>
          <p:cNvSpPr txBox="1">
            <a:spLocks/>
          </p:cNvSpPr>
          <p:nvPr/>
        </p:nvSpPr>
        <p:spPr>
          <a:xfrm>
            <a:off x="1677673" y="1840522"/>
            <a:ext cx="8531854" cy="4747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Suponha:</a:t>
            </a:r>
          </a:p>
          <a:p>
            <a:pPr marL="0" indent="0" algn="just">
              <a:buNone/>
            </a:pPr>
            <a:r>
              <a:rPr lang="pt-BR" sz="2200" dirty="0">
                <a:solidFill>
                  <a:srgbClr val="00B050"/>
                </a:solidFill>
              </a:rPr>
              <a:t>char</a:t>
            </a:r>
            <a:r>
              <a:rPr lang="pt-BR" sz="2200" dirty="0"/>
              <a:t> </a:t>
            </a:r>
            <a:r>
              <a:rPr lang="pt-BR" sz="2200" dirty="0">
                <a:solidFill>
                  <a:srgbClr val="0070C0"/>
                </a:solidFill>
              </a:rPr>
              <a:t>nome</a:t>
            </a:r>
            <a:r>
              <a:rPr lang="pt-BR" sz="2200" dirty="0">
                <a:solidFill>
                  <a:srgbClr val="FF0000"/>
                </a:solidFill>
              </a:rPr>
              <a:t>[60] </a:t>
            </a:r>
            <a:r>
              <a:rPr lang="pt-BR" sz="2200" dirty="0"/>
              <a:t>= “UNIUBE”;</a:t>
            </a:r>
          </a:p>
          <a:p>
            <a:pPr marL="0" indent="0" algn="just">
              <a:buNone/>
            </a:pPr>
            <a:endParaRPr lang="pt-BR" sz="2200" dirty="0"/>
          </a:p>
          <a:p>
            <a:pPr marL="0" indent="0" algn="just">
              <a:buNone/>
            </a:pPr>
            <a:r>
              <a:rPr lang="pt-BR" sz="2200" dirty="0"/>
              <a:t>O vetor tem capacidade para 59 caracteres e um terminador</a:t>
            </a:r>
          </a:p>
          <a:p>
            <a:pPr marL="0" indent="0" algn="just">
              <a:buNone/>
            </a:pPr>
            <a:r>
              <a:rPr lang="pt-BR" sz="2200" dirty="0"/>
              <a:t>Neste caso temos:</a:t>
            </a:r>
          </a:p>
          <a:p>
            <a:pPr algn="just"/>
            <a:endParaRPr lang="pt-BR" sz="2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5490A82-1C4E-B45D-5121-5C046DBC7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3" y="3936962"/>
            <a:ext cx="10193173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42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2BCA-E7B5-C129-BEF3-9A1F3A4A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86C018E-92B3-A959-ECE9-EA68BC389F9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718204-7585-3C01-7347-8EAA75C0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Escrita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23FDD10-8FD3-6947-FA88-E506F18751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030E71E-E606-FDDC-0A62-2999CD4B0D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87"/>
          <a:stretch>
            <a:fillRect/>
          </a:stretch>
        </p:blipFill>
        <p:spPr>
          <a:xfrm>
            <a:off x="3935506" y="4056480"/>
            <a:ext cx="4320988" cy="2555335"/>
          </a:xfrm>
          <a:prstGeom prst="rect">
            <a:avLst/>
          </a:prstGeom>
        </p:spPr>
      </p:pic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0788F04F-E3DB-0DCC-C472-EC53B36A4612}"/>
              </a:ext>
            </a:extLst>
          </p:cNvPr>
          <p:cNvSpPr txBox="1">
            <a:spLocks/>
          </p:cNvSpPr>
          <p:nvPr/>
        </p:nvSpPr>
        <p:spPr>
          <a:xfrm>
            <a:off x="2696308" y="1633583"/>
            <a:ext cx="6764216" cy="274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A escrita segue o mesmo padrão visto nas demais aulas, com a diferença no uso do especificador de formato.</a:t>
            </a:r>
          </a:p>
          <a:p>
            <a:pPr algn="just"/>
            <a:endParaRPr lang="pt-BR" sz="2200" b="1" i="1" u="sng" dirty="0"/>
          </a:p>
          <a:p>
            <a:pPr algn="just"/>
            <a:r>
              <a:rPr lang="pt-BR" sz="2200" b="1" i="1" u="sng" dirty="0"/>
              <a:t>%s</a:t>
            </a:r>
            <a:r>
              <a:rPr lang="pt-BR" sz="2200" dirty="0"/>
              <a:t>: Representa e manipula um vetor de caracteres terminado por ‘\0’.</a:t>
            </a:r>
          </a:p>
          <a:p>
            <a:pPr algn="just"/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73785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921CE-F42A-9290-0A9B-5877AB70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10B78DF-48C2-604F-4775-86BB77325DB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7DC4D2-EF21-4F0F-A368-038B88D2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3ED1A9C-8E56-7DA3-A9C1-AFB017924F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A1986C4A-7C14-6726-46C0-AEA3FA85D693}"/>
              </a:ext>
            </a:extLst>
          </p:cNvPr>
          <p:cNvSpPr txBox="1">
            <a:spLocks/>
          </p:cNvSpPr>
          <p:nvPr/>
        </p:nvSpPr>
        <p:spPr>
          <a:xfrm>
            <a:off x="4673731" y="2503827"/>
            <a:ext cx="7243812" cy="3483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O formatador lê uma sequência contínua de caracteres até encontrar o primeiro espaço em branco adicionando o terminador \0 ao final.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%29s limita a leitura a 29 caracteres, deixando uma posição para o terminador '\0’.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Não limitar a leitura pode levar à um comportamento indefinido (dependendo do compilador).</a:t>
            </a:r>
          </a:p>
          <a:p>
            <a:pPr algn="just"/>
            <a:endParaRPr lang="pt-BR" sz="2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999026-7BD4-27B2-46A0-DA8ADA4D5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48"/>
          <a:stretch>
            <a:fillRect/>
          </a:stretch>
        </p:blipFill>
        <p:spPr>
          <a:xfrm>
            <a:off x="105507" y="2503827"/>
            <a:ext cx="4290647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8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4050C-F6BA-7880-A417-2D7827931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9AF0F6A-A77E-DB13-FC72-ECAE81911B0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4CE41C-71BD-4369-F5A7-5FE17181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DB36C9F-B8E6-EDAA-E1CA-6D7C5DBCFB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CA53F851-D6D4-7E8E-0A51-B3CF9CCD3474}"/>
              </a:ext>
            </a:extLst>
          </p:cNvPr>
          <p:cNvSpPr txBox="1">
            <a:spLocks/>
          </p:cNvSpPr>
          <p:nvPr/>
        </p:nvSpPr>
        <p:spPr>
          <a:xfrm>
            <a:off x="5205045" y="2773458"/>
            <a:ext cx="6353908" cy="3483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Não é necessário utilizar o operador &amp; no </a:t>
            </a:r>
            <a:r>
              <a:rPr lang="pt-BR" sz="2200" i="1" dirty="0" err="1"/>
              <a:t>scanf</a:t>
            </a:r>
            <a:r>
              <a:rPr lang="pt-BR" sz="2200" dirty="0"/>
              <a:t> para a leitura de vetores de caracteres (</a:t>
            </a:r>
            <a:r>
              <a:rPr lang="pt-BR" sz="2200" i="1" dirty="0" err="1"/>
              <a:t>Strings</a:t>
            </a:r>
            <a:r>
              <a:rPr lang="pt-BR" sz="2200" dirty="0"/>
              <a:t>)</a:t>
            </a:r>
          </a:p>
          <a:p>
            <a:pPr marL="0" indent="0" algn="just">
              <a:buNone/>
            </a:pPr>
            <a:endParaRPr lang="pt-BR" sz="2200" dirty="0"/>
          </a:p>
          <a:p>
            <a:pPr algn="just"/>
            <a:r>
              <a:rPr lang="pt-BR" sz="2200" dirty="0"/>
              <a:t>O nome de um vetor em C já representa o endereço de memória do seu primeiro elemento (&amp;nome[0]).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Portanto, ao utilizar o </a:t>
            </a:r>
            <a:r>
              <a:rPr lang="pt-BR" sz="2200" i="1" dirty="0" err="1"/>
              <a:t>scanf</a:t>
            </a:r>
            <a:r>
              <a:rPr lang="pt-BR" sz="2200" dirty="0"/>
              <a:t>,  passamos apenas o nome da variável.</a:t>
            </a:r>
          </a:p>
          <a:p>
            <a:pPr algn="just"/>
            <a:endParaRPr lang="pt-BR" sz="2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F4C9F3-C3B1-A1ED-BF86-23E4FDFB5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48"/>
          <a:stretch>
            <a:fillRect/>
          </a:stretch>
        </p:blipFill>
        <p:spPr>
          <a:xfrm>
            <a:off x="264801" y="2515550"/>
            <a:ext cx="4290647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74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2806-CAA0-DB5A-F750-0C29D2586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76EBE0F-12F5-2283-C442-B9E1A4AC647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C8C5E6-76B7-3868-DDB6-711B809A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de Leitura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596890B-1912-B745-C31F-24F7E6743C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A23D1600-81F5-EF60-12EA-64CA91C41943}"/>
              </a:ext>
            </a:extLst>
          </p:cNvPr>
          <p:cNvSpPr txBox="1">
            <a:spLocks/>
          </p:cNvSpPr>
          <p:nvPr/>
        </p:nvSpPr>
        <p:spPr>
          <a:xfrm>
            <a:off x="2777332" y="1655300"/>
            <a:ext cx="6719393" cy="994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O que acontece quando a </a:t>
            </a:r>
            <a:r>
              <a:rPr lang="pt-BR" sz="2200" i="1" dirty="0" err="1"/>
              <a:t>string</a:t>
            </a:r>
            <a:r>
              <a:rPr lang="pt-BR" sz="2200" dirty="0"/>
              <a:t> excede à quantidade definida do vetor.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C956B4-800D-5529-7F90-F18E4E32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198" y="2979153"/>
            <a:ext cx="9154803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79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0881-6A6D-1310-5B1F-D5ED6D7A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BF9636B-01F5-93AA-CE05-82BC5FDC840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3B5018-2EAE-E40F-C109-B5830A0B2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de Leitura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97AF3C6-1AC6-8AD3-21F4-5A32766C0B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C947CE32-F4AF-7D2A-F4D2-FD67D2DD0AF5}"/>
              </a:ext>
            </a:extLst>
          </p:cNvPr>
          <p:cNvSpPr txBox="1">
            <a:spLocks/>
          </p:cNvSpPr>
          <p:nvPr/>
        </p:nvSpPr>
        <p:spPr>
          <a:xfrm>
            <a:off x="2543648" y="1494961"/>
            <a:ext cx="7104704" cy="1764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O formatador </a:t>
            </a:r>
            <a:r>
              <a:rPr lang="pt-BR" sz="2200" i="1" dirty="0"/>
              <a:t>%s</a:t>
            </a:r>
            <a:r>
              <a:rPr lang="pt-BR" sz="2200" dirty="0"/>
              <a:t> lê a </a:t>
            </a:r>
            <a:r>
              <a:rPr lang="pt-BR" sz="2200" dirty="0" err="1"/>
              <a:t>string</a:t>
            </a:r>
            <a:r>
              <a:rPr lang="pt-BR" sz="2200" dirty="0"/>
              <a:t> até encontrar um espaço em branco, porém o resto permanece no buffer.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O objetivo neste exercício era ler e exibir 3 nomes distintos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F6C977C-08E3-1DFC-C538-728D72EED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39" y="3429000"/>
            <a:ext cx="9795722" cy="341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35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C6FD-798F-AB16-190B-06F6381B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7A7CDA4-61F7-CC2D-8364-A8A7B1AD227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6CEA75-6DD0-872F-2EE3-3A3068843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1DB9F9E-751A-F13C-5AD4-1048C67FF8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7AE6FE0C-C5D0-B0C6-A188-D57148B3A1E5}"/>
              </a:ext>
            </a:extLst>
          </p:cNvPr>
          <p:cNvSpPr txBox="1">
            <a:spLocks/>
          </p:cNvSpPr>
          <p:nvPr/>
        </p:nvSpPr>
        <p:spPr>
          <a:xfrm>
            <a:off x="1661230" y="1558135"/>
            <a:ext cx="8869539" cy="3483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Se for necessário ler uma frase inteira (com espaços), o </a:t>
            </a:r>
            <a:r>
              <a:rPr lang="pt-BR" sz="2200" i="1" dirty="0" err="1"/>
              <a:t>scanf</a:t>
            </a:r>
            <a:r>
              <a:rPr lang="pt-BR" sz="2200" dirty="0"/>
              <a:t> comum não é recomendado. Em vez disso, podemos:</a:t>
            </a:r>
          </a:p>
          <a:p>
            <a:pPr algn="just"/>
            <a:endParaRPr lang="pt-BR" sz="2200" dirty="0"/>
          </a:p>
          <a:p>
            <a:pPr marL="800100" lvl="1" indent="-342900" algn="just">
              <a:buFont typeface="+mj-lt"/>
              <a:buAutoNum type="arabicPeriod"/>
            </a:pPr>
            <a:r>
              <a:rPr lang="pt-BR" sz="2000" dirty="0"/>
              <a:t>Usar conjunto de varredura </a:t>
            </a:r>
            <a:r>
              <a:rPr lang="pt-BR" sz="2000" b="1" i="1" dirty="0"/>
              <a:t>( %[^\n])</a:t>
            </a:r>
            <a:r>
              <a:rPr lang="pt-BR" sz="2000" dirty="0"/>
              <a:t>: Faz o </a:t>
            </a:r>
            <a:r>
              <a:rPr lang="pt-BR" sz="2000" dirty="0" err="1"/>
              <a:t>scanf</a:t>
            </a:r>
            <a:r>
              <a:rPr lang="pt-BR" sz="2000" dirty="0"/>
              <a:t> ler tudo até encontrar uma quebra de linha.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1BEFFF-8B92-57B8-50A8-2F95EAA10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248"/>
          <a:stretch>
            <a:fillRect/>
          </a:stretch>
        </p:blipFill>
        <p:spPr>
          <a:xfrm>
            <a:off x="1661230" y="3813973"/>
            <a:ext cx="4536939" cy="23711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C72C845-8894-9EB5-B49A-37BD1EFD9C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390"/>
          <a:stretch>
            <a:fillRect/>
          </a:stretch>
        </p:blipFill>
        <p:spPr>
          <a:xfrm>
            <a:off x="6608421" y="3813973"/>
            <a:ext cx="4101559" cy="2371181"/>
          </a:xfrm>
          <a:prstGeom prst="rect">
            <a:avLst/>
          </a:prstGeom>
        </p:spPr>
      </p:pic>
      <p:sp>
        <p:nvSpPr>
          <p:cNvPr id="10" name="Seta: Dobrada para Cima 9">
            <a:extLst>
              <a:ext uri="{FF2B5EF4-FFF2-40B4-BE49-F238E27FC236}">
                <a16:creationId xmlns:a16="http://schemas.microsoft.com/office/drawing/2014/main" id="{A6EEC8BD-E34F-59F8-CF69-6232B171057D}"/>
              </a:ext>
            </a:extLst>
          </p:cNvPr>
          <p:cNvSpPr/>
          <p:nvPr/>
        </p:nvSpPr>
        <p:spPr>
          <a:xfrm>
            <a:off x="6608421" y="4882035"/>
            <a:ext cx="2050779" cy="731520"/>
          </a:xfrm>
          <a:prstGeom prst="bentUpArrow">
            <a:avLst>
              <a:gd name="adj1" fmla="val 9375"/>
              <a:gd name="adj2" fmla="val 18490"/>
              <a:gd name="adj3" fmla="val 354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586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2D24-E14F-19A0-B8A6-9C57051D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1FF0F20-CDF9-911C-3EEA-E4B689C0E47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BB8C68-5313-671C-50EC-11A3105E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Leitura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C8BC3BF-1103-CCEE-F0BE-1070475183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4045517D-BC7F-816B-95F1-696C1C4EB5A5}"/>
              </a:ext>
            </a:extLst>
          </p:cNvPr>
          <p:cNvSpPr txBox="1">
            <a:spLocks/>
          </p:cNvSpPr>
          <p:nvPr/>
        </p:nvSpPr>
        <p:spPr>
          <a:xfrm>
            <a:off x="2006952" y="1687089"/>
            <a:ext cx="8178095" cy="3483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just">
              <a:buFont typeface="+mj-lt"/>
              <a:buAutoNum type="arabicPeriod" startAt="2"/>
            </a:pPr>
            <a:r>
              <a:rPr lang="pt-BR" sz="2200" dirty="0"/>
              <a:t>Usar a função </a:t>
            </a:r>
            <a:r>
              <a:rPr lang="pt-BR" sz="2200" b="1" i="1" dirty="0" err="1"/>
              <a:t>fgets</a:t>
            </a:r>
            <a:r>
              <a:rPr lang="pt-BR" sz="2200" b="1" i="1" dirty="0"/>
              <a:t>(): </a:t>
            </a:r>
            <a:r>
              <a:rPr lang="pt-BR" sz="2200" dirty="0"/>
              <a:t>Opção mais segura e recomendada por evitar estouro de buffer ao permitir definir o tamanho máximo de leitura nativamente.</a:t>
            </a:r>
          </a:p>
          <a:p>
            <a:pPr marL="914400" lvl="1" indent="-457200" algn="just">
              <a:buFont typeface="+mj-lt"/>
              <a:buAutoNum type="arabicPeriod" startAt="2"/>
            </a:pPr>
            <a:endParaRPr lang="pt-BR" sz="2200" dirty="0"/>
          </a:p>
          <a:p>
            <a:pPr marL="457200" lvl="1" indent="0" algn="just">
              <a:buNone/>
            </a:pPr>
            <a:endParaRPr lang="pt-BR" sz="2200" dirty="0"/>
          </a:p>
          <a:p>
            <a:pPr marL="914400" lvl="1" indent="-457200" algn="just">
              <a:buFont typeface="+mj-lt"/>
              <a:buAutoNum type="arabicPeriod" startAt="2"/>
            </a:pPr>
            <a:endParaRPr lang="pt-BR" sz="2000" dirty="0"/>
          </a:p>
          <a:p>
            <a:pPr marL="914400" lvl="1" indent="-457200" algn="just">
              <a:buFont typeface="+mj-lt"/>
              <a:buAutoNum type="arabicPeriod" startAt="2"/>
            </a:pPr>
            <a:endParaRPr lang="pt-BR" sz="2000" dirty="0"/>
          </a:p>
          <a:p>
            <a:pPr marL="457200" lvl="1" indent="0" algn="just">
              <a:buNone/>
            </a:pPr>
            <a:endParaRPr lang="pt-BR" sz="2000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489DB417-C5C6-7198-526B-DA7CBFC3F644}"/>
              </a:ext>
            </a:extLst>
          </p:cNvPr>
          <p:cNvGrpSpPr/>
          <p:nvPr/>
        </p:nvGrpSpPr>
        <p:grpSpPr>
          <a:xfrm>
            <a:off x="1897414" y="3300046"/>
            <a:ext cx="8397170" cy="3086486"/>
            <a:chOff x="1745015" y="2619181"/>
            <a:chExt cx="8397170" cy="3086486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FFA0F34D-4A84-75B4-F084-B48979608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6250"/>
            <a:stretch>
              <a:fillRect/>
            </a:stretch>
          </p:blipFill>
          <p:spPr>
            <a:xfrm>
              <a:off x="1745015" y="2619182"/>
              <a:ext cx="4114800" cy="3086485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04C421B-B9B7-4CF6-BF57-341206527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0948" t="-4340" r="469" b="4340"/>
            <a:stretch>
              <a:fillRect/>
            </a:stretch>
          </p:blipFill>
          <p:spPr>
            <a:xfrm>
              <a:off x="6657459" y="2619181"/>
              <a:ext cx="3484726" cy="3086485"/>
            </a:xfrm>
            <a:prstGeom prst="rect">
              <a:avLst/>
            </a:prstGeom>
          </p:spPr>
        </p:pic>
        <p:sp>
          <p:nvSpPr>
            <p:cNvPr id="11" name="Seta: Dobrada para Cima 10">
              <a:extLst>
                <a:ext uri="{FF2B5EF4-FFF2-40B4-BE49-F238E27FC236}">
                  <a16:creationId xmlns:a16="http://schemas.microsoft.com/office/drawing/2014/main" id="{DE14D73B-4AB0-2F67-78FF-08BA316F5D8E}"/>
                </a:ext>
              </a:extLst>
            </p:cNvPr>
            <p:cNvSpPr/>
            <p:nvPr/>
          </p:nvSpPr>
          <p:spPr>
            <a:xfrm>
              <a:off x="6095999" y="3429000"/>
              <a:ext cx="2050779" cy="731520"/>
            </a:xfrm>
            <a:prstGeom prst="bentUpArrow">
              <a:avLst>
                <a:gd name="adj1" fmla="val 9375"/>
                <a:gd name="adj2" fmla="val 18490"/>
                <a:gd name="adj3" fmla="val 3541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049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34BD-0860-A2AF-0D39-DA4E0299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FDE9BB6-EED8-98F1-33E4-68487946047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51C162-2B52-E74A-EB42-9884D10F6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Função </a:t>
            </a:r>
            <a:r>
              <a:rPr lang="pt-BR" dirty="0" err="1">
                <a:solidFill>
                  <a:schemeClr val="bg1"/>
                </a:solidFill>
              </a:rPr>
              <a:t>fgets</a:t>
            </a:r>
            <a:r>
              <a:rPr lang="pt-BR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4E0B63A-BB4D-4835-F38C-FFAA9CFBC0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0CC15058-A940-89CC-B203-C1F3F0A91337}"/>
              </a:ext>
            </a:extLst>
          </p:cNvPr>
          <p:cNvSpPr txBox="1">
            <a:spLocks/>
          </p:cNvSpPr>
          <p:nvPr/>
        </p:nvSpPr>
        <p:spPr>
          <a:xfrm>
            <a:off x="1438264" y="1672816"/>
            <a:ext cx="9010672" cy="780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b="1" i="1" dirty="0" err="1"/>
              <a:t>fgets</a:t>
            </a:r>
            <a:r>
              <a:rPr lang="pt-BR" sz="2200" b="1" i="1" dirty="0"/>
              <a:t>(): </a:t>
            </a:r>
            <a:r>
              <a:rPr lang="pt-BR" sz="2200" dirty="0"/>
              <a:t>é usada para ler uma linha de texto de um fluxo de entrada (como o teclado ou um arquivo) e armazená-la em um vetor de caracteres</a:t>
            </a:r>
          </a:p>
          <a:p>
            <a:pPr lvl="1" algn="just"/>
            <a:endParaRPr lang="pt-BR" sz="1800" dirty="0"/>
          </a:p>
          <a:p>
            <a:pPr marL="457200" lvl="1" indent="0" algn="just">
              <a:buNone/>
            </a:pPr>
            <a:endParaRPr lang="pt-BR" sz="2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674E1D3-CE08-7302-1BAB-616B879A56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" r="65585"/>
          <a:stretch>
            <a:fillRect/>
          </a:stretch>
        </p:blipFill>
        <p:spPr>
          <a:xfrm>
            <a:off x="7715272" y="3166076"/>
            <a:ext cx="4114800" cy="3086485"/>
          </a:xfrm>
          <a:prstGeom prst="rect">
            <a:avLst/>
          </a:prstGeom>
        </p:spPr>
      </p:pic>
      <p:sp>
        <p:nvSpPr>
          <p:cNvPr id="18" name="Espaço Reservado para Conteúdo 5">
            <a:extLst>
              <a:ext uri="{FF2B5EF4-FFF2-40B4-BE49-F238E27FC236}">
                <a16:creationId xmlns:a16="http://schemas.microsoft.com/office/drawing/2014/main" id="{69B985AF-A4DA-7F4B-E1BB-57087FF64960}"/>
              </a:ext>
            </a:extLst>
          </p:cNvPr>
          <p:cNvSpPr txBox="1">
            <a:spLocks/>
          </p:cNvSpPr>
          <p:nvPr/>
        </p:nvSpPr>
        <p:spPr>
          <a:xfrm>
            <a:off x="457178" y="3166077"/>
            <a:ext cx="6800872" cy="308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Parâmetros:</a:t>
            </a:r>
          </a:p>
          <a:p>
            <a:pPr marL="0" indent="0" algn="just">
              <a:buNone/>
            </a:pPr>
            <a:endParaRPr lang="pt-BR" sz="1800" b="1" dirty="0"/>
          </a:p>
          <a:p>
            <a:pPr marL="800100" lvl="1" indent="-342900" algn="just">
              <a:buFont typeface="+mj-lt"/>
              <a:buAutoNum type="arabicPeriod"/>
            </a:pPr>
            <a:r>
              <a:rPr lang="pt-BR" sz="1800" b="1" i="1" dirty="0" err="1"/>
              <a:t>string</a:t>
            </a:r>
            <a:r>
              <a:rPr lang="pt-BR" sz="1800" b="1" i="1" dirty="0"/>
              <a:t>:</a:t>
            </a:r>
            <a:r>
              <a:rPr lang="pt-BR" sz="1800" dirty="0"/>
              <a:t> vetor de caracteres onde o texto será armazenado.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pt-BR" sz="1800" b="1" i="1" dirty="0" err="1"/>
              <a:t>sizeof</a:t>
            </a:r>
            <a:r>
              <a:rPr lang="pt-BR" sz="1800" b="1" i="1" dirty="0"/>
              <a:t>(): </a:t>
            </a:r>
            <a:r>
              <a:rPr lang="pt-BR" sz="1800" dirty="0"/>
              <a:t>número máximo de caracteres que a função pode armazenar, incluindo o terminador '\0’.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pt-BR" sz="1800" b="1" i="1" dirty="0"/>
              <a:t>Input(entrada): </a:t>
            </a:r>
            <a:r>
              <a:rPr lang="pt-BR" sz="1800" dirty="0"/>
              <a:t>define de onde os dados serão lidos. Para ler do teclado, usamos </a:t>
            </a:r>
            <a:r>
              <a:rPr lang="pt-BR" sz="1800" i="1" dirty="0" err="1"/>
              <a:t>stdin</a:t>
            </a:r>
            <a:r>
              <a:rPr lang="pt-BR" sz="1800" i="1" dirty="0"/>
              <a:t> (standard Input).</a:t>
            </a:r>
          </a:p>
          <a:p>
            <a:pPr lvl="1" algn="just"/>
            <a:endParaRPr lang="pt-BR" sz="1800" dirty="0"/>
          </a:p>
          <a:p>
            <a:pPr marL="457200" lvl="1" indent="0" algn="just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38663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9BC3-31E9-70F9-4072-BC1CB76AF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434BEFD-1B8C-E430-0E3D-36F64BF105F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8A6E95-E08D-7140-AEF0-694AA38F3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Manipulação de </a:t>
            </a:r>
            <a:r>
              <a:rPr lang="pt-BR" dirty="0" err="1">
                <a:solidFill>
                  <a:schemeClr val="bg1"/>
                </a:solidFill>
              </a:rPr>
              <a:t>Strings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4842234-CC07-D3F2-A35E-2D670F85FA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0589E0F4-9235-1901-6A72-985357BF167C}"/>
              </a:ext>
            </a:extLst>
          </p:cNvPr>
          <p:cNvSpPr txBox="1">
            <a:spLocks/>
          </p:cNvSpPr>
          <p:nvPr/>
        </p:nvSpPr>
        <p:spPr>
          <a:xfrm>
            <a:off x="276213" y="2180935"/>
            <a:ext cx="6115061" cy="4600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A </a:t>
            </a:r>
            <a:r>
              <a:rPr lang="pt-BR" sz="2200" dirty="0" err="1"/>
              <a:t>string</a:t>
            </a:r>
            <a:r>
              <a:rPr lang="pt-BR" sz="2200" dirty="0"/>
              <a:t>, pode ser manipulada de acordo com os métodos descritos para vetores convencionais</a:t>
            </a:r>
          </a:p>
          <a:p>
            <a:pPr algn="just"/>
            <a:endParaRPr lang="pt-BR" sz="2200" i="1" dirty="0"/>
          </a:p>
          <a:p>
            <a:pPr algn="just"/>
            <a:r>
              <a:rPr lang="pt-BR" sz="2200" i="1" dirty="0"/>
              <a:t>Exemplo: C</a:t>
            </a:r>
            <a:r>
              <a:rPr lang="pt-BR" sz="2200" dirty="0"/>
              <a:t>ontador de caracteres de uma </a:t>
            </a:r>
            <a:r>
              <a:rPr lang="pt-BR" sz="2200" i="1" dirty="0" err="1"/>
              <a:t>string</a:t>
            </a:r>
            <a:endParaRPr lang="pt-BR" sz="2200" i="1" dirty="0"/>
          </a:p>
          <a:p>
            <a:pPr lvl="1" algn="just"/>
            <a:endParaRPr lang="pt-BR" sz="1800" i="1" dirty="0">
              <a:sym typeface="Wingdings" panose="05000000000000000000" pitchFamily="2" charset="2"/>
            </a:endParaRPr>
          </a:p>
          <a:p>
            <a:pPr marL="457200" lvl="1" indent="0" algn="just">
              <a:buNone/>
            </a:pPr>
            <a:r>
              <a:rPr lang="pt-BR" sz="1800" b="1" dirty="0">
                <a:sym typeface="Wingdings" panose="05000000000000000000" pitchFamily="2" charset="2"/>
              </a:rPr>
              <a:t>Alterações propostas para fixação:</a:t>
            </a:r>
          </a:p>
          <a:p>
            <a:pPr lvl="1" algn="just"/>
            <a:endParaRPr lang="pt-BR" sz="1800" dirty="0">
              <a:sym typeface="Wingdings" panose="05000000000000000000" pitchFamily="2" charset="2"/>
            </a:endParaRPr>
          </a:p>
          <a:p>
            <a:pPr lvl="1" algn="just"/>
            <a:r>
              <a:rPr lang="pt-BR" sz="1800" dirty="0">
                <a:sym typeface="Wingdings" panose="05000000000000000000" pitchFamily="2" charset="2"/>
              </a:rPr>
              <a:t>Contar quantas vezes aparece a letra 'a'.</a:t>
            </a:r>
          </a:p>
          <a:p>
            <a:pPr lvl="1" algn="just"/>
            <a:r>
              <a:rPr lang="pt-BR" sz="1800" dirty="0">
                <a:sym typeface="Wingdings" panose="05000000000000000000" pitchFamily="2" charset="2"/>
              </a:rPr>
              <a:t>Exibir um caractere por linha.</a:t>
            </a:r>
          </a:p>
          <a:p>
            <a:pPr lvl="1" algn="just"/>
            <a:r>
              <a:rPr lang="pt-BR" sz="1800" dirty="0">
                <a:sym typeface="Wingdings" panose="05000000000000000000" pitchFamily="2" charset="2"/>
              </a:rPr>
              <a:t>Contar quantas vogais existem em uma palavra</a:t>
            </a:r>
          </a:p>
          <a:p>
            <a:pPr algn="just"/>
            <a:endParaRPr lang="pt-BR" sz="2200" dirty="0">
              <a:sym typeface="Wingdings" panose="05000000000000000000" pitchFamily="2" charset="2"/>
            </a:endParaRPr>
          </a:p>
          <a:p>
            <a:pPr algn="just"/>
            <a:endParaRPr lang="pt-BR" sz="1800" dirty="0"/>
          </a:p>
          <a:p>
            <a:pPr marL="457200" lvl="1" indent="0" algn="just">
              <a:buNone/>
            </a:pPr>
            <a:endParaRPr lang="pt-BR" sz="2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4CF1ACD-E019-DED5-3E7C-DD2D7A2ED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105" y="2400300"/>
            <a:ext cx="4923805" cy="333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19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DBE8-138D-C5F6-8C77-355E128F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23D3C04-DD64-2CE3-121E-C2A9ED69816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387265-E9FD-5244-5F42-34C5DC02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Exercícios de Fixação 1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1010D2F-F2A8-F0DA-7764-35BF7E84CF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09E1DCB-14FC-90A8-3625-59C5B34C4DFE}"/>
              </a:ext>
            </a:extLst>
          </p:cNvPr>
          <p:cNvSpPr txBox="1">
            <a:spLocks/>
          </p:cNvSpPr>
          <p:nvPr/>
        </p:nvSpPr>
        <p:spPr>
          <a:xfrm>
            <a:off x="1649682" y="2256556"/>
            <a:ext cx="9197436" cy="3544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2200" dirty="0"/>
              <a:t>Faça um programa que leia uma palavra de até 49 caracteres e conte quantos caracteres ela possui. Além disso, conte quantas vezes uma letra escolhida pelo usuário aparece na palavra.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2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200" dirty="0"/>
              <a:t>Faça um programa que leia uma palavra e conte quantas vogais ela possui. Considere, inicialmente, apenas letras minúsculas sem acentos.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2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200" dirty="0"/>
              <a:t>Faça um programa que leia uma palavra e exiba seus caracteres na ordem inversa</a:t>
            </a:r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D1433130-8163-40A3-CFFE-E7FD3DE578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313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3086</TotalTime>
  <Words>888</Words>
  <Application>Microsoft Office PowerPoint</Application>
  <PresentationFormat>Widescreen</PresentationFormat>
  <Paragraphs>106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Gill Sans MT</vt:lpstr>
      <vt:lpstr>Wingdings</vt:lpstr>
      <vt:lpstr>Tema do Office</vt:lpstr>
      <vt:lpstr>Pacote</vt:lpstr>
      <vt:lpstr>MÓDULO 8 – sTRINGS</vt:lpstr>
      <vt:lpstr>String</vt:lpstr>
      <vt:lpstr>Delimitador da String</vt:lpstr>
      <vt:lpstr>Declaração de Strings</vt:lpstr>
      <vt:lpstr>Inicialização de Strings</vt:lpstr>
      <vt:lpstr>Escrita de Strings</vt:lpstr>
      <vt:lpstr>Leitura de Strings</vt:lpstr>
      <vt:lpstr>Leitura de Strings</vt:lpstr>
      <vt:lpstr>Exemplo de Leitura</vt:lpstr>
      <vt:lpstr>Exemplo de Leitura</vt:lpstr>
      <vt:lpstr>Leitura de Strings</vt:lpstr>
      <vt:lpstr>Leitura de Strings</vt:lpstr>
      <vt:lpstr>Função fgets()</vt:lpstr>
      <vt:lpstr>Manipulação de Strings</vt:lpstr>
      <vt:lpstr>Exercícios de Fixação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137</cp:revision>
  <dcterms:created xsi:type="dcterms:W3CDTF">2026-07-26T12:48:37Z</dcterms:created>
  <dcterms:modified xsi:type="dcterms:W3CDTF">2026-10-26T02:01:53Z</dcterms:modified>
</cp:coreProperties>
</file>