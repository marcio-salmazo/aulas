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6"/>
  </p:notesMasterIdLst>
  <p:sldIdLst>
    <p:sldId id="307" r:id="rId3"/>
    <p:sldId id="309" r:id="rId4"/>
    <p:sldId id="311" r:id="rId5"/>
    <p:sldId id="312" r:id="rId6"/>
    <p:sldId id="313" r:id="rId7"/>
    <p:sldId id="314" r:id="rId8"/>
    <p:sldId id="315" r:id="rId9"/>
    <p:sldId id="316" r:id="rId10"/>
    <p:sldId id="318" r:id="rId11"/>
    <p:sldId id="319" r:id="rId12"/>
    <p:sldId id="320" r:id="rId13"/>
    <p:sldId id="321" r:id="rId14"/>
    <p:sldId id="32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  <a:srgbClr val="172C51"/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374" autoAdjust="0"/>
  </p:normalViewPr>
  <p:slideViewPr>
    <p:cSldViewPr snapToGrid="0">
      <p:cViewPr varScale="1">
        <p:scale>
          <a:sx n="101" d="100"/>
          <a:sy n="101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C346D-668D-A1CB-E3B1-A5AEE277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965CBD-23F6-753C-292C-7F045D3E1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6BF27F-37CC-F8F0-07FE-C1EBA7EE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compilador precisa conhecer a função antes de sua utilização.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06538C-E7F9-38A3-520E-3FC9ABB15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172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4BCA-5FFC-BF82-35A3-B7FD4D84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2ACB4B-E99F-BF92-B9E4-D1F8E03C9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AE1A1A-CDA1-961F-54FA-428064F23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894967-6AE0-DCA7-4D85-1E2C19DFC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431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4B45-B7EF-8651-E2CC-740BEDD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FF0894-BB57-41FC-6850-969CB3E65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147D0C-2D3C-2E36-C4E7-B48B24FD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C99379-C1DE-1313-008D-B42C62D4F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125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3942-9B33-8EEB-BA43-47ABF2A3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C98BD3-C30B-B480-4202-A57FE6372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DB40F1-88AF-CE62-7BA6-D5C4479FD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85616C-0A8D-5890-C4D9-0510F5147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028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8C88-FF17-9228-EB80-E0CF43E2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C57511-6D5F-4BB0-5C5D-A95394FA2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1BB1DE-019B-A730-56EE-0EA52D5E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19355E-4D18-3E2B-64C3-DD292B381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807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91D9-E4D1-168B-78A8-9819BF09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59ED19-3324-FCBE-AA50-5535BDE35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EB4E3D-912E-A28F-DFB8-A898E4364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 pilha armazena informações sobre o endereço de onde foi chamada para que o código saiba para onde voltar quando sua execução terminar.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 pilha  também armazena informações sobre as variáveis utilizadas na função.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F96EE9-2A83-2D04-7C12-1191AD330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652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0534-78E9-3464-7501-2B10DC54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446117-B08E-329C-4347-B99322D2E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F6DC8F-E111-43BD-E278-E3836AA69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32E40A-060A-4C3C-5EFD-2F097E6CC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505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3F4BC-0357-9F3A-7765-9B4DBBAD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92F754-EEAE-8C50-C845-EDFC8C190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BCFD58-F7A6-287A-6907-79D4EEDCA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252D33-DFD3-0A62-5195-BABCF076E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781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6948-96DF-A0CF-FF95-2F39D3BC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E5BC3B-906C-290D-E9A3-FC21C3139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70443D-B7D3-4355-1A82-6D3727269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5AB371-D109-5CAF-14F1-021762E65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532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52FA-DF3F-1110-DD06-5D762404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22BF2C-3B47-B9D7-476A-9D8D54BF8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277C156-CA2B-1F99-E330-84BBC82FC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234E7F-AFDD-B8FB-0863-39630BCD1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542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E893-DEB6-2B37-B243-F20ECE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365488-BA24-1C79-E3BA-5B348A7C6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5FD607-C697-6AE7-516B-F2D6603E3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C4AADC-2FC7-D0B2-7A40-ACEC53B2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67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4 – funções e Recursividade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Aprofundamento em Funções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75DCFF3-AB50-1B87-6E88-FBE2EF735A07}"/>
              </a:ext>
            </a:extLst>
          </p:cNvPr>
          <p:cNvSpPr txBox="1">
            <a:spLocks/>
          </p:cNvSpPr>
          <p:nvPr/>
        </p:nvSpPr>
        <p:spPr>
          <a:xfrm>
            <a:off x="911743" y="1783643"/>
            <a:ext cx="10368513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Definição da função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Bloco de código reutilizável que realiza uma tarefa específica.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Permitem dividir um programa em partes menores, reutilizáveis e independentes.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Cada função possui seu próprio escopo.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pt-BR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i="1" dirty="0" err="1">
                <a:solidFill>
                  <a:srgbClr val="FF0000"/>
                </a:solidFill>
              </a:rPr>
              <a:t>tipo_de_retorno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chemeClr val="accent6">
                    <a:lumMod val="75000"/>
                  </a:schemeClr>
                </a:solidFill>
              </a:rPr>
              <a:t>nome_da_funcao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i="1" dirty="0" err="1">
                <a:solidFill>
                  <a:schemeClr val="accent1">
                    <a:lumMod val="75000"/>
                  </a:schemeClr>
                </a:solidFill>
              </a:rPr>
              <a:t>lista_de_parametros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i="1" dirty="0"/>
              <a:t>{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i="1" dirty="0"/>
              <a:t>	Bloco de instruções;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i="1" dirty="0"/>
              <a:t>	</a:t>
            </a:r>
            <a:r>
              <a:rPr lang="pt-BR" i="1" dirty="0" err="1">
                <a:solidFill>
                  <a:schemeClr val="accent2"/>
                </a:solidFill>
              </a:rPr>
              <a:t>return</a:t>
            </a:r>
            <a:r>
              <a:rPr lang="pt-BR" i="1" dirty="0"/>
              <a:t> valor;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i="1" dirty="0"/>
              <a:t>}</a:t>
            </a:r>
          </a:p>
          <a:p>
            <a:pPr lvl="2"/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3698-44AD-3AE8-012E-6928EB24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4D485D1-666B-7EBF-D08D-6BBCA2D8B44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BEC6CB-46F8-E605-C1EB-830ACBF0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Declaração e Chamada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9A0A6D4-E055-B55B-14FB-C85D1B9FDC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5E55D220-9106-3054-2275-181D0EFAF105}"/>
              </a:ext>
            </a:extLst>
          </p:cNvPr>
          <p:cNvSpPr txBox="1">
            <a:spLocks/>
          </p:cNvSpPr>
          <p:nvPr/>
        </p:nvSpPr>
        <p:spPr>
          <a:xfrm>
            <a:off x="600489" y="2221086"/>
            <a:ext cx="5872879" cy="3894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Declaração (Protótipo da função)</a:t>
            </a:r>
            <a:r>
              <a:rPr lang="pt-BR" sz="2400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Tem o objetivo de informar ao compilador sobre a existência da função.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Ajuda o compilador a encontrar erros de tipo nos parâmetros ou no retorno.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Organiza o código (Mantendo a função </a:t>
            </a:r>
            <a:r>
              <a:rPr lang="pt-BR" sz="2200" i="1" dirty="0" err="1"/>
              <a:t>main</a:t>
            </a:r>
            <a:r>
              <a:rPr lang="pt-BR" sz="2200" dirty="0"/>
              <a:t> no topo).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367D2A9-5CED-AC87-88BF-E7B7B12C14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6" r="11424"/>
          <a:stretch>
            <a:fillRect/>
          </a:stretch>
        </p:blipFill>
        <p:spPr>
          <a:xfrm>
            <a:off x="6873481" y="2092717"/>
            <a:ext cx="4838907" cy="4248248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51D5DAA-EA31-2C04-30F8-ECEC31524833}"/>
              </a:ext>
            </a:extLst>
          </p:cNvPr>
          <p:cNvSpPr/>
          <p:nvPr/>
        </p:nvSpPr>
        <p:spPr>
          <a:xfrm>
            <a:off x="6750756" y="2596444"/>
            <a:ext cx="3352800" cy="5531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09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9A6C-F11F-02D8-0F26-B34CA900A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8528531-0B63-B9B7-D5BC-77A9B4F263A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04DF59-7664-5287-1B48-15E72799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Declaração e Chamada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BB7A691-8CE8-6D75-7D5B-20C5DF70F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5F574090-FBA4-2099-FF25-25208D5CA00A}"/>
              </a:ext>
            </a:extLst>
          </p:cNvPr>
          <p:cNvSpPr txBox="1">
            <a:spLocks/>
          </p:cNvSpPr>
          <p:nvPr/>
        </p:nvSpPr>
        <p:spPr>
          <a:xfrm>
            <a:off x="397290" y="1879677"/>
            <a:ext cx="7042088" cy="4639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Chamada da função</a:t>
            </a:r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Basta escrever o nome da função seguido por parênteses.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Os argumentos da função, devem ser especificados dentro dos parênteses (de acordo com sua definição).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914400" lvl="2" indent="0">
              <a:buNone/>
            </a:pPr>
            <a:r>
              <a:rPr lang="pt-BR" sz="2200" b="1" dirty="0"/>
              <a:t>Parâmetro</a:t>
            </a:r>
            <a:r>
              <a:rPr lang="pt-BR" sz="2200" dirty="0"/>
              <a:t> → variável definida na função</a:t>
            </a:r>
          </a:p>
          <a:p>
            <a:pPr marL="914400" lvl="2" indent="0">
              <a:buNone/>
            </a:pPr>
            <a:r>
              <a:rPr lang="pt-BR" sz="2200" b="1" dirty="0"/>
              <a:t>Argumento</a:t>
            </a:r>
            <a:r>
              <a:rPr lang="pt-BR" sz="2200" dirty="0"/>
              <a:t> → valor fornecido na chamada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2FAE5A-9F8F-98B1-E604-917B72F8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668" y="2283338"/>
            <a:ext cx="4287109" cy="3832415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7E02C78-853A-1678-CF6B-5C6A574009FE}"/>
              </a:ext>
            </a:extLst>
          </p:cNvPr>
          <p:cNvSpPr/>
          <p:nvPr/>
        </p:nvSpPr>
        <p:spPr>
          <a:xfrm>
            <a:off x="7879976" y="3646389"/>
            <a:ext cx="3352800" cy="5531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41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1523-7C0D-9BB4-BD56-0EB5D8A3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E57EED7-139A-2912-7281-CD18C654BB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9459D6-9B66-9A69-ECB5-9FC0F2FC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Retorno da função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96ADE24-B6DA-625F-5C00-033F833870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415464BB-9260-D3C3-9EFF-07BE6964CE98}"/>
              </a:ext>
            </a:extLst>
          </p:cNvPr>
          <p:cNvSpPr txBox="1">
            <a:spLocks/>
          </p:cNvSpPr>
          <p:nvPr/>
        </p:nvSpPr>
        <p:spPr>
          <a:xfrm>
            <a:off x="1258573" y="1736460"/>
            <a:ext cx="10835486" cy="1061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O retorno de uma função devolve um valor para quem chamou a função.</a:t>
            </a:r>
          </a:p>
          <a:p>
            <a:r>
              <a:rPr lang="pt-BR" sz="2400" dirty="0"/>
              <a:t>O valor devolvido no retorno está em conformidade com o tipo da função.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7E83273-E044-A32D-C33E-E515F25409AF}"/>
              </a:ext>
            </a:extLst>
          </p:cNvPr>
          <p:cNvGrpSpPr/>
          <p:nvPr/>
        </p:nvGrpSpPr>
        <p:grpSpPr>
          <a:xfrm>
            <a:off x="4573228" y="2966120"/>
            <a:ext cx="4206176" cy="3760837"/>
            <a:chOff x="3992912" y="2966120"/>
            <a:chExt cx="4206176" cy="3760837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51905C4C-A133-E852-2D1C-7C6068D0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6" b="4990"/>
            <a:stretch>
              <a:fillRect/>
            </a:stretch>
          </p:blipFill>
          <p:spPr>
            <a:xfrm>
              <a:off x="3992912" y="2966120"/>
              <a:ext cx="4206176" cy="3760837"/>
            </a:xfrm>
            <a:prstGeom prst="rect">
              <a:avLst/>
            </a:prstGeom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627158EE-7E97-EDF2-AB2F-EE7EB401A4EF}"/>
                </a:ext>
              </a:extLst>
            </p:cNvPr>
            <p:cNvSpPr/>
            <p:nvPr/>
          </p:nvSpPr>
          <p:spPr>
            <a:xfrm>
              <a:off x="4142315" y="6043161"/>
              <a:ext cx="1637595" cy="35763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1067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6F1A4-4BCF-D676-6F9F-125C0834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914DB4A-6509-092F-FB2D-B42058F50A6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7E6079-6F54-0FAF-A935-2B03E9C9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Recursividade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19084B6-2BDC-E35E-51DD-4A2F546BEB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C28DF26-94D1-092A-2FCC-09D91FCD94E6}"/>
              </a:ext>
            </a:extLst>
          </p:cNvPr>
          <p:cNvSpPr txBox="1">
            <a:spLocks/>
          </p:cNvSpPr>
          <p:nvPr/>
        </p:nvSpPr>
        <p:spPr>
          <a:xfrm>
            <a:off x="1258573" y="2347956"/>
            <a:ext cx="5051916" cy="3874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Normalmente funções chamam outras funções.</a:t>
            </a:r>
          </a:p>
          <a:p>
            <a:endParaRPr lang="pt-BR" sz="2400" dirty="0"/>
          </a:p>
          <a:p>
            <a:r>
              <a:rPr lang="pt-BR" sz="2400" dirty="0"/>
              <a:t>Na recursividade, uma função chama a si própria.</a:t>
            </a:r>
          </a:p>
          <a:p>
            <a:endParaRPr lang="pt-BR" sz="2400" dirty="0"/>
          </a:p>
          <a:p>
            <a:r>
              <a:rPr lang="pt-BR" sz="2400" dirty="0"/>
              <a:t>Toda recursão precisa de uma condição de parada adequada.</a:t>
            </a:r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507727-F93F-5B30-7DB5-567D90F81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155" y="1736460"/>
            <a:ext cx="3787770" cy="4846117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92E73CDA-4A1C-794C-11BD-4F35B95A66AE}"/>
              </a:ext>
            </a:extLst>
          </p:cNvPr>
          <p:cNvCxnSpPr>
            <a:cxnSpLocks/>
          </p:cNvCxnSpPr>
          <p:nvPr/>
        </p:nvCxnSpPr>
        <p:spPr>
          <a:xfrm>
            <a:off x="5689600" y="5384800"/>
            <a:ext cx="208844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19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7C4D-EE56-CDCC-FD30-3A6C823A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2C50A58-B191-F8FC-8CF7-3BC25696123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D78CDD-AF09-601C-B95B-0422FCA99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base: Fatorial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B48D8CF-25E8-278F-2C60-74C18839BB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98CEB8-B413-099C-D6E9-8206381D4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21" y="1486755"/>
            <a:ext cx="3695700" cy="49625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B7229D-63AA-EA9C-2BA2-00974EB8B4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0" t="1133" r="1"/>
          <a:stretch>
            <a:fillRect/>
          </a:stretch>
        </p:blipFill>
        <p:spPr>
          <a:xfrm>
            <a:off x="7072322" y="1574244"/>
            <a:ext cx="4944866" cy="4962525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8E0130E-C86D-AA28-D857-CB16B6A325F1}"/>
              </a:ext>
            </a:extLst>
          </p:cNvPr>
          <p:cNvCxnSpPr>
            <a:cxnSpLocks/>
          </p:cNvCxnSpPr>
          <p:nvPr/>
        </p:nvCxnSpPr>
        <p:spPr>
          <a:xfrm>
            <a:off x="4899378" y="3826933"/>
            <a:ext cx="177235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0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29F5-0384-B580-AAE4-2ED4971B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E8BA339-BA3C-5C53-9FE6-B8F15C1C665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661B9B-409C-63D1-355C-A568A9DD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Pilha de execução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8DE8579-2015-8740-FA14-B144E70660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9E240F6C-1E46-6DB4-092C-95C6EF40316D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A pilha de execução (</a:t>
            </a:r>
            <a:r>
              <a:rPr lang="pt-BR" sz="2400" dirty="0" err="1"/>
              <a:t>call</a:t>
            </a:r>
            <a:r>
              <a:rPr lang="pt-BR" sz="2400" dirty="0"/>
              <a:t> </a:t>
            </a:r>
            <a:r>
              <a:rPr lang="pt-BR" sz="2400" dirty="0" err="1"/>
              <a:t>stack</a:t>
            </a:r>
            <a:r>
              <a:rPr lang="pt-BR" sz="2400" dirty="0"/>
              <a:t>) em C é uma área de memória destinada ao controle de chamadas e retorno de funções.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É uma estrutura de dados do tipo LIFO (</a:t>
            </a:r>
            <a:r>
              <a:rPr lang="pt-BR" sz="2400" dirty="0" err="1"/>
              <a:t>Last</a:t>
            </a:r>
            <a:r>
              <a:rPr lang="pt-BR" sz="2400" dirty="0"/>
              <a:t> In, </a:t>
            </a:r>
            <a:r>
              <a:rPr lang="pt-BR" sz="2400" dirty="0" err="1"/>
              <a:t>First</a:t>
            </a:r>
            <a:r>
              <a:rPr lang="pt-BR" sz="2400" dirty="0"/>
              <a:t> Out — o último a entrar é o primeiro a sair);</a:t>
            </a:r>
            <a:endParaRPr lang="pt-BR" sz="2400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906D76-E32D-4AB4-950D-6677D10BA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31" b="8111"/>
          <a:stretch>
            <a:fillRect/>
          </a:stretch>
        </p:blipFill>
        <p:spPr>
          <a:xfrm>
            <a:off x="2955396" y="3598515"/>
            <a:ext cx="5976407" cy="310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0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9AA3-64AB-04A8-57D3-83A6F637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09417F4-9855-B694-0E05-F05CED131EF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BAC94A-6577-E598-0465-10DF64AA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Pilha de execução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65D6708-A63F-9FCD-DBFC-6E85C2DDB2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D0C92E83-DA33-5E38-7B2B-D1D1A7E76A51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943EA9-2DD1-E50C-EE78-F0E99BE0F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19" y="2381956"/>
            <a:ext cx="5707267" cy="3392733"/>
          </a:xfrm>
          <a:prstGeom prst="rect">
            <a:avLst/>
          </a:prstGeom>
        </p:spPr>
      </p:pic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F23C481B-564A-CA2F-9945-744FE49456A0}"/>
              </a:ext>
            </a:extLst>
          </p:cNvPr>
          <p:cNvSpPr txBox="1">
            <a:spLocks/>
          </p:cNvSpPr>
          <p:nvPr/>
        </p:nvSpPr>
        <p:spPr>
          <a:xfrm>
            <a:off x="280007" y="2899686"/>
            <a:ext cx="5601385" cy="2357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Cada chamada cria um novo contexto e a pilha vai sendo criada.</a:t>
            </a:r>
          </a:p>
          <a:p>
            <a:endParaRPr lang="pt-BR" sz="2400" i="1" dirty="0"/>
          </a:p>
          <a:p>
            <a:r>
              <a:rPr lang="pt-BR" sz="2400" dirty="0"/>
              <a:t>Ao chegar em um caso base, a função começa a retornar, desmontando a pilha.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9181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23DE-D821-3E90-126B-D1D1654B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883C90E-A1BB-F541-F936-F439ED9DF6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D92FE0-B388-3095-FC41-DC30B75E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Exemplo: Fibonacci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4D37C94-FF4F-9F83-0676-AF1B6B9090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2653967-A79F-FC49-6FA5-A36EC3DB5183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822ABAC5-E31C-9C49-201F-89E7153EA0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827" y="2502427"/>
                <a:ext cx="6752751" cy="31984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pt-BR" sz="2400" dirty="0"/>
                  <a:t>A sequência de Fibonacci mostra que uma função pode fazer mais de uma chamada recursiva.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Matematicamente: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400" b="0" i="0" dirty="0">
                  <a:latin typeface="Cambria Math" panose="020405030504060302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822ABAC5-E31C-9C49-201F-89E7153EA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27" y="2502427"/>
                <a:ext cx="6752751" cy="3198462"/>
              </a:xfrm>
              <a:prstGeom prst="rect">
                <a:avLst/>
              </a:prstGeom>
              <a:blipFill>
                <a:blip r:embed="rId3"/>
                <a:stretch>
                  <a:fillRect l="-1265" t="-2672" r="-1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AF0DB286-8DCA-06ED-EC25-1C1250793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835" y="2024623"/>
            <a:ext cx="4513165" cy="4431532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94310C7-AEEE-C350-46AA-932FF70533D3}"/>
              </a:ext>
            </a:extLst>
          </p:cNvPr>
          <p:cNvCxnSpPr>
            <a:cxnSpLocks/>
          </p:cNvCxnSpPr>
          <p:nvPr/>
        </p:nvCxnSpPr>
        <p:spPr>
          <a:xfrm>
            <a:off x="4854222" y="4651023"/>
            <a:ext cx="177235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41F0-8865-1668-B8F5-87A0095A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FF62DDA-A48B-22F6-9161-748C8FF9460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A2AFF5-33D8-0CFF-63D7-0EF595DB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Recursão e Iteração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812DEB3-8264-4611-AD0D-BBABB97C3F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AF9AC52-71EC-411A-1E95-89708CE0353D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7F943930-857F-2A1A-2245-D0DFA23C784B}"/>
              </a:ext>
            </a:extLst>
          </p:cNvPr>
          <p:cNvSpPr txBox="1">
            <a:spLocks/>
          </p:cNvSpPr>
          <p:nvPr/>
        </p:nvSpPr>
        <p:spPr>
          <a:xfrm>
            <a:off x="1828684" y="1831049"/>
            <a:ext cx="9242949" cy="189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Ambos são estratégias para a repetição de código</a:t>
            </a:r>
          </a:p>
          <a:p>
            <a:pPr algn="just"/>
            <a:r>
              <a:rPr lang="pt-BR" sz="2400" dirty="0"/>
              <a:t>A </a:t>
            </a:r>
            <a:r>
              <a:rPr lang="pt-BR" sz="2400" b="1" dirty="0"/>
              <a:t>iteração</a:t>
            </a:r>
            <a:r>
              <a:rPr lang="pt-BR" sz="2400" dirty="0"/>
              <a:t> usa laços para repetir um bloco de código</a:t>
            </a:r>
          </a:p>
          <a:p>
            <a:pPr algn="just"/>
            <a:r>
              <a:rPr lang="pt-BR" sz="2400" dirty="0"/>
              <a:t>A </a:t>
            </a:r>
            <a:r>
              <a:rPr lang="pt-BR" sz="2400" b="1" dirty="0"/>
              <a:t>recursão</a:t>
            </a:r>
            <a:r>
              <a:rPr lang="pt-BR" sz="2400" dirty="0"/>
              <a:t> usa uma função que chama a si mesma até atingir uma condição de parada</a:t>
            </a:r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79B283-DE2A-4788-9087-730BF67FE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9" b="54329"/>
          <a:stretch>
            <a:fillRect/>
          </a:stretch>
        </p:blipFill>
        <p:spPr>
          <a:xfrm>
            <a:off x="1514088" y="4897500"/>
            <a:ext cx="3954540" cy="19074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896FE59-138A-2C46-C24B-441F450D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9" t="50000" b="4329"/>
          <a:stretch>
            <a:fillRect/>
          </a:stretch>
        </p:blipFill>
        <p:spPr>
          <a:xfrm>
            <a:off x="7326435" y="4784239"/>
            <a:ext cx="3954540" cy="190745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FA72E809-2FD3-62A1-27E9-EC85BF3AC1DD}"/>
              </a:ext>
            </a:extLst>
          </p:cNvPr>
          <p:cNvSpPr/>
          <p:nvPr/>
        </p:nvSpPr>
        <p:spPr>
          <a:xfrm>
            <a:off x="1742688" y="4121132"/>
            <a:ext cx="2715011" cy="45051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172C51"/>
                </a:solidFill>
              </a:rPr>
              <a:t>Abordagem Recursiva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7656BAD-AEFC-79D3-DDC7-E63EE81C979E}"/>
              </a:ext>
            </a:extLst>
          </p:cNvPr>
          <p:cNvSpPr/>
          <p:nvPr/>
        </p:nvSpPr>
        <p:spPr>
          <a:xfrm>
            <a:off x="7736858" y="4121131"/>
            <a:ext cx="2715011" cy="45051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172C51"/>
                </a:solidFill>
              </a:rPr>
              <a:t>Abordagem Iterativa</a:t>
            </a:r>
          </a:p>
        </p:txBody>
      </p:sp>
    </p:spTree>
    <p:extLst>
      <p:ext uri="{BB962C8B-B14F-4D97-AF65-F5344CB8AC3E}">
        <p14:creationId xmlns:p14="http://schemas.microsoft.com/office/powerpoint/2010/main" val="356238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9BB4-B961-8CF2-C3EB-0E29518D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9055DA6-A30E-0E23-B347-90BAA5E429A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270F6F-9D8C-4572-739E-BAC748A7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Recursão e Iteração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DB6A6FD-A250-159F-32AA-5D0222F263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8955A266-09CC-2A54-82A4-B273B538F2FB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AD44404D-7FAD-606E-CE4C-4E9B1CCE9A11}"/>
              </a:ext>
            </a:extLst>
          </p:cNvPr>
          <p:cNvSpPr txBox="1">
            <a:spLocks/>
          </p:cNvSpPr>
          <p:nvPr/>
        </p:nvSpPr>
        <p:spPr>
          <a:xfrm>
            <a:off x="736484" y="1708413"/>
            <a:ext cx="9242949" cy="46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Recursão é comumente utilizada quando o problema possui uma estrutura naturalmente recursiva, como:</a:t>
            </a:r>
          </a:p>
          <a:p>
            <a:pPr algn="just"/>
            <a:endParaRPr lang="pt-BR" sz="24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Árvores;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Diretórios de arquivos;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Algoritmos de busca;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Algoritmos de ordenação;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Problemas matemáticos recursivos;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Estruturas de dados hierárquicas.</a:t>
            </a:r>
          </a:p>
          <a:p>
            <a:pPr marL="457200" lvl="1" indent="0" algn="just">
              <a:buNone/>
            </a:pP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5EDA68-6207-7CC0-356A-969F17F7E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76215"/>
            <a:ext cx="59817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37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62A0-4FB8-7114-53D8-D034E219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41F11C8-598D-D781-D7C2-58B1E3D4130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C9F275-8D11-B68D-5007-C5883E63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Pilares da Função Recursiva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8D35F0-67D4-7E0E-A731-5E3BD5F08C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CFCD1B57-56AC-CC79-2E9E-F5626EF51599}"/>
              </a:ext>
            </a:extLst>
          </p:cNvPr>
          <p:cNvSpPr txBox="1">
            <a:spLocks/>
          </p:cNvSpPr>
          <p:nvPr/>
        </p:nvSpPr>
        <p:spPr>
          <a:xfrm>
            <a:off x="1341051" y="1708414"/>
            <a:ext cx="9509898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AD7AF21D-27EE-D4B2-2F05-30C859BB7E69}"/>
              </a:ext>
            </a:extLst>
          </p:cNvPr>
          <p:cNvSpPr txBox="1">
            <a:spLocks/>
          </p:cNvSpPr>
          <p:nvPr/>
        </p:nvSpPr>
        <p:spPr>
          <a:xfrm>
            <a:off x="2635250" y="1708413"/>
            <a:ext cx="6921500" cy="46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i="1" dirty="0"/>
              <a:t>“Uma função recursiva precisa saber quando parar e precisa caminhar em direção a essa parada”.</a:t>
            </a:r>
          </a:p>
          <a:p>
            <a:pPr marL="457200" lvl="1" indent="0" algn="just">
              <a:buNone/>
            </a:pPr>
            <a:endParaRPr lang="pt-BR" sz="2000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45B6956-3926-6A59-C508-1B460C2EAA87}"/>
              </a:ext>
            </a:extLst>
          </p:cNvPr>
          <p:cNvGrpSpPr/>
          <p:nvPr/>
        </p:nvGrpSpPr>
        <p:grpSpPr>
          <a:xfrm>
            <a:off x="2807901" y="3099726"/>
            <a:ext cx="6576198" cy="3434686"/>
            <a:chOff x="2807901" y="3099726"/>
            <a:chExt cx="6576198" cy="3434686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D07C909-12AF-EDBC-5816-520C10254C51}"/>
                </a:ext>
              </a:extLst>
            </p:cNvPr>
            <p:cNvSpPr/>
            <p:nvPr/>
          </p:nvSpPr>
          <p:spPr>
            <a:xfrm>
              <a:off x="2807901" y="5861312"/>
              <a:ext cx="1993900" cy="673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Encerra a recursividade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7469635B-2F52-67E8-412F-4D5E0E832C80}"/>
                </a:ext>
              </a:extLst>
            </p:cNvPr>
            <p:cNvSpPr/>
            <p:nvPr/>
          </p:nvSpPr>
          <p:spPr>
            <a:xfrm>
              <a:off x="5099050" y="5827846"/>
              <a:ext cx="1993900" cy="673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Chamada da própria função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CE7AEC5-048B-8DE9-484F-ACB39E64628E}"/>
                </a:ext>
              </a:extLst>
            </p:cNvPr>
            <p:cNvSpPr/>
            <p:nvPr/>
          </p:nvSpPr>
          <p:spPr>
            <a:xfrm>
              <a:off x="7383662" y="5827846"/>
              <a:ext cx="1993900" cy="673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Aproxima-se do caso base</a:t>
              </a:r>
            </a:p>
          </p:txBody>
        </p: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F488FDCE-B595-7988-ADAC-E6223E421900}"/>
                </a:ext>
              </a:extLst>
            </p:cNvPr>
            <p:cNvCxnSpPr/>
            <p:nvPr/>
          </p:nvCxnSpPr>
          <p:spPr>
            <a:xfrm>
              <a:off x="3809227" y="5117836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2EB22C85-77AA-12A3-2735-54A27D6EDDFF}"/>
                </a:ext>
              </a:extLst>
            </p:cNvPr>
            <p:cNvCxnSpPr/>
            <p:nvPr/>
          </p:nvCxnSpPr>
          <p:spPr>
            <a:xfrm>
              <a:off x="6096000" y="5117836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C426D7B2-076B-51ED-9A56-11F19BC00AD2}"/>
                </a:ext>
              </a:extLst>
            </p:cNvPr>
            <p:cNvCxnSpPr/>
            <p:nvPr/>
          </p:nvCxnSpPr>
          <p:spPr>
            <a:xfrm>
              <a:off x="8396674" y="5117836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262778AF-6D61-93EB-2413-E03605ADF6BF}"/>
                </a:ext>
              </a:extLst>
            </p:cNvPr>
            <p:cNvCxnSpPr/>
            <p:nvPr/>
          </p:nvCxnSpPr>
          <p:spPr>
            <a:xfrm>
              <a:off x="3809227" y="3773950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E7866322-FA28-E9C6-3648-AB274B97FE3E}"/>
                </a:ext>
              </a:extLst>
            </p:cNvPr>
            <p:cNvCxnSpPr/>
            <p:nvPr/>
          </p:nvCxnSpPr>
          <p:spPr>
            <a:xfrm>
              <a:off x="6096000" y="3773950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09A77246-2C54-216D-1772-6F4ACBC98468}"/>
                </a:ext>
              </a:extLst>
            </p:cNvPr>
            <p:cNvCxnSpPr/>
            <p:nvPr/>
          </p:nvCxnSpPr>
          <p:spPr>
            <a:xfrm>
              <a:off x="8396674" y="3773950"/>
              <a:ext cx="0" cy="532474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: Angulado 25">
              <a:extLst>
                <a:ext uri="{FF2B5EF4-FFF2-40B4-BE49-F238E27FC236}">
                  <a16:creationId xmlns:a16="http://schemas.microsoft.com/office/drawing/2014/main" id="{5F6F0554-43F2-9086-A3C7-44F938A4250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804852" y="3409949"/>
              <a:ext cx="1321175" cy="397603"/>
            </a:xfrm>
            <a:prstGeom prst="bentConnector3">
              <a:avLst>
                <a:gd name="adj1" fmla="val 99505"/>
              </a:avLst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do 31">
              <a:extLst>
                <a:ext uri="{FF2B5EF4-FFF2-40B4-BE49-F238E27FC236}">
                  <a16:creationId xmlns:a16="http://schemas.microsoft.com/office/drawing/2014/main" id="{A8A7E8FE-5A86-38C7-914D-FCAEA544496B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7092950" y="3436276"/>
              <a:ext cx="1294199" cy="370931"/>
            </a:xfrm>
            <a:prstGeom prst="bentConnector3">
              <a:avLst>
                <a:gd name="adj1" fmla="val 100598"/>
              </a:avLst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A06533E-EC65-9FF9-2183-A6BE53B95044}"/>
                </a:ext>
              </a:extLst>
            </p:cNvPr>
            <p:cNvSpPr/>
            <p:nvPr/>
          </p:nvSpPr>
          <p:spPr>
            <a:xfrm>
              <a:off x="5099050" y="3099726"/>
              <a:ext cx="1993900" cy="673100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Função Recursiva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0B9EAF8-57C8-FEA9-E23C-F96026F9E15F}"/>
                </a:ext>
              </a:extLst>
            </p:cNvPr>
            <p:cNvSpPr/>
            <p:nvPr/>
          </p:nvSpPr>
          <p:spPr>
            <a:xfrm>
              <a:off x="2807901" y="4463786"/>
              <a:ext cx="1993900" cy="6731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Caso Base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33DE270-56D6-58BF-ED3D-5D05273C5AD2}"/>
                </a:ext>
              </a:extLst>
            </p:cNvPr>
            <p:cNvSpPr/>
            <p:nvPr/>
          </p:nvSpPr>
          <p:spPr>
            <a:xfrm>
              <a:off x="7390199" y="4463786"/>
              <a:ext cx="1993900" cy="6731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Progresso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07D5D9E-3A98-34D5-BC43-A694D89CC741}"/>
                </a:ext>
              </a:extLst>
            </p:cNvPr>
            <p:cNvSpPr/>
            <p:nvPr/>
          </p:nvSpPr>
          <p:spPr>
            <a:xfrm>
              <a:off x="5099050" y="4463786"/>
              <a:ext cx="1993900" cy="6731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Caso Recursivo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294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534</Words>
  <Application>Microsoft Office PowerPoint</Application>
  <PresentationFormat>Widescreen</PresentationFormat>
  <Paragraphs>96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MÓDULO 4 – funções e Recursividade</vt:lpstr>
      <vt:lpstr>Aprofundamento em Funções</vt:lpstr>
      <vt:lpstr>Declaração e Chamada</vt:lpstr>
      <vt:lpstr>Declaração e Chamada</vt:lpstr>
      <vt:lpstr>Retorno da função</vt:lpstr>
      <vt:lpstr>Recursividade</vt:lpstr>
      <vt:lpstr>Exemplo base: Fatorial</vt:lpstr>
      <vt:lpstr>Pilha de execução</vt:lpstr>
      <vt:lpstr>Pilha de execução</vt:lpstr>
      <vt:lpstr>Exemplo: Fibonacci</vt:lpstr>
      <vt:lpstr>Recursão e Iteração</vt:lpstr>
      <vt:lpstr>Recursão e Iteração</vt:lpstr>
      <vt:lpstr>Pilares da Função Recursiva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114</cp:revision>
  <dcterms:created xsi:type="dcterms:W3CDTF">2026-07-26T12:48:37Z</dcterms:created>
  <dcterms:modified xsi:type="dcterms:W3CDTF">2026-08-24T14:48:55Z</dcterms:modified>
</cp:coreProperties>
</file>