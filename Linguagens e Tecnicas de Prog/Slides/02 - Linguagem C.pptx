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30"/>
  </p:notesMasterIdLst>
  <p:sldIdLst>
    <p:sldId id="275" r:id="rId3"/>
    <p:sldId id="269" r:id="rId4"/>
    <p:sldId id="270" r:id="rId5"/>
    <p:sldId id="271" r:id="rId6"/>
    <p:sldId id="280" r:id="rId7"/>
    <p:sldId id="281" r:id="rId8"/>
    <p:sldId id="282" r:id="rId9"/>
    <p:sldId id="283" r:id="rId10"/>
    <p:sldId id="285" r:id="rId11"/>
    <p:sldId id="286" r:id="rId12"/>
    <p:sldId id="287" r:id="rId13"/>
    <p:sldId id="288" r:id="rId14"/>
    <p:sldId id="289" r:id="rId15"/>
    <p:sldId id="290" r:id="rId16"/>
    <p:sldId id="294" r:id="rId17"/>
    <p:sldId id="292" r:id="rId18"/>
    <p:sldId id="293" r:id="rId19"/>
    <p:sldId id="291" r:id="rId20"/>
    <p:sldId id="298" r:id="rId21"/>
    <p:sldId id="296" r:id="rId22"/>
    <p:sldId id="295" r:id="rId23"/>
    <p:sldId id="299" r:id="rId24"/>
    <p:sldId id="302" r:id="rId25"/>
    <p:sldId id="303" r:id="rId26"/>
    <p:sldId id="304" r:id="rId27"/>
    <p:sldId id="305" r:id="rId28"/>
    <p:sldId id="306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911" autoAdjust="0"/>
  </p:normalViewPr>
  <p:slideViewPr>
    <p:cSldViewPr snapToGrid="0">
      <p:cViewPr varScale="1">
        <p:scale>
          <a:sx n="67" d="100"/>
          <a:sy n="67" d="100"/>
        </p:scale>
        <p:origin x="1407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D2F84-E928-43B8-2EDF-5C415DB3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69E100-C250-9AB3-A4FE-46F494706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73F178-91AC-6404-52C2-B1C21DBB7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do Unix, os sistemas operacionais eram escritos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que significava que um sistema feito para um computador específico não funcionava em nenhum outro.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 isso, Dennis Ritchie criou 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linguagem de programação 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a equipe reescreveu o Unix nela em 1973, sendo o primeiro sistema operacional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portátil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história.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maioria dos dispositivos eletrônicos atuais roda um sistema que é filho ou "clone" do Unix: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Criado por Linus Torvalds como um clone gratuito e de código aberto baseado nos princípios do Unix. </a:t>
            </a:r>
          </a:p>
          <a:p>
            <a:pPr marL="0" indent="0">
              <a:buFontTx/>
              <a:buNone/>
            </a:pP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Os sistemas da Apple são derivados diretos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ramificação do Unix. (BSD)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O Unix não foi apenas mais um sistema operacional; ele estabeleceu os padrões de engenharia de software e design de sistemas que usamos até hoje. </a:t>
            </a:r>
          </a:p>
          <a:p>
            <a:r>
              <a:rPr lang="pt-BR" dirty="0"/>
              <a:t>Dentre eles: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Modularidade e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t-BR" dirty="0"/>
              <a:t> O Unix introduziu o conceito de conectar a saída de um programa diretamente na entrada de outro.  Isso permite combinar ferramentas simples para resolver problemas gigantescos e altamente complexos.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Faça uma coisa e faça bem feita:</a:t>
            </a:r>
            <a:r>
              <a:rPr lang="pt-BR" dirty="0"/>
              <a:t> Em vez de construir softwares gigantescos e complexos, o Unix  promove a criação de pequenos programas especializados.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E27146-5F08-F5A4-D45F-B6DF4C229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628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EAF0-70FD-5618-EF51-8C35ED95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9CE23F-8DD2-2D99-0B73-979E512E3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8A77FC-AC23-0919-2C9E-C8A966045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Entender esse processo ajuda muito a compreender por que a linguagem C é tão utilizada em sistemas operacionais, embarcados e compiladores.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A68243-78A1-01BA-9A97-C09CCB908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668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B098-E41A-0CFF-9AEC-9A76E366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F5F18F-B749-0440-24F0-605393BC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188324-D245-863A-B034-CEA8F5222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um arquivo-fonte. </a:t>
            </a:r>
          </a:p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forma geral o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determina o nome do arquivo que será processado. Por exemplo:</a:t>
            </a:r>
          </a:p>
          <a:p>
            <a:pPr rt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stdlib.h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printf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world!\n");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processar o arquivo, 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o arquivo 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“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utilizar os símbolos de “maior e menor” instruímos o compilador a procurar o arquivo nos diretórios do sistema, neste caso, definido pelo compilador.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na outra abordagem, o arquivo é procurado no diretório do código-fonte (diretório de trabalho).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F7F706-AF9F-4DDF-27E3-183E66354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57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9B95-68CC-C91A-65F7-98BF58A5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502B9E-A937-18B6-AB67-D79805A29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2D46F3-3BC8-7457-5E2C-D70BDC2D6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Léxica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Scanning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 o código-fonte caractere por caractere.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Agrupa os caracteres em unidades menores chamadas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(como palavras-chave, identificadores, números e símbolos).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Descarta espaços em branco e comentários.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Sintática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Recebe a sequência de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analisador léxico.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 os elementos em uma estrutura em árvore (árvore sintática ou de derivação) com base nas regras gramaticais da linguagem C.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Aponta erros de sintaxe (como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e vírgula faltando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chaves abertas incorretamente).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Semântica: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o significado do código estruturado na árvore.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 a checagem de tipos (por exemplo, se você está somando um ponteiro com um tipo incompatível ou atribuindo valores errados a uma variável).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 e atualiza a tabela de símbolos para garantir que variáveis e funções foram declaradas antes do uso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vara = 1.234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D2FE32-3A29-5FAD-3750-D774BA87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661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105-1226-1398-F6AD-1F06713F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CF8240-B6D2-0378-86F8-20AF06D43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D790A5-B43E-0416-E236-0BB41678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Separar a compilação em arquivos objeto traz ganhos importantes: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Compilação incremental:</a:t>
            </a:r>
            <a:r>
              <a:rPr lang="pt-BR" dirty="0"/>
              <a:t> se você alterar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matematica.c</a:t>
            </a:r>
            <a:r>
              <a:rPr lang="pt-BR" dirty="0"/>
              <a:t>, não é necessário recompilar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pt-BR" dirty="0"/>
              <a:t>;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matematica.o</a:t>
            </a:r>
            <a:r>
              <a:rPr lang="pt-BR" dirty="0"/>
              <a:t> é reconstruído e o </a:t>
            </a:r>
            <a:r>
              <a:rPr lang="pt-BR" dirty="0" err="1"/>
              <a:t>linker</a:t>
            </a:r>
            <a:r>
              <a:rPr lang="pt-BR" dirty="0"/>
              <a:t> gera um novo executável.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Modularidade:</a:t>
            </a:r>
            <a:r>
              <a:rPr lang="pt-BR" dirty="0"/>
              <a:t> equipes diferentes podem desenvolver módulos independentes (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banco.c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interface.c</a:t>
            </a:r>
            <a:r>
              <a:rPr lang="pt-BR" dirty="0"/>
              <a:t>), compilando-os separadamente.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Reutilização:</a:t>
            </a:r>
            <a:r>
              <a:rPr lang="pt-BR" dirty="0"/>
              <a:t> um mesmo arquivo objeto ou biblioteca pode ser ligado a vários programas diferentes.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projetos grandes com centenas de arquivos permanecem organizados e têm tempos de compilação muito menores do que se todo o código precisasse ser recompilado a cada alteração.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As bibliotecas normalmente não permanecem como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 </a:t>
            </a:r>
          </a:p>
          <a:p>
            <a:r>
              <a:rPr lang="pt-BR" dirty="0"/>
              <a:t>Elas são distribuídas em formatos específicos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.a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dll</a:t>
            </a:r>
            <a:r>
              <a:rPr lang="pt-BR" dirty="0"/>
              <a:t>, etc.), embora internamente muitas delas sejam compostas por arquivos objeto.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biblioteca estática é, internamente, um conjunto de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biblioteca dinâmica  por outro lado,</a:t>
            </a:r>
            <a:r>
              <a:rPr lang="pt-BR" dirty="0"/>
              <a:t> são praticamente "mini executáveis" (embora não tenham uma função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Arquivo Objeto (.o – Linux, .</a:t>
            </a:r>
            <a:r>
              <a:rPr lang="pt-BR" dirty="0" err="1"/>
              <a:t>obj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biblioteca estática (.a – Linux, .</a:t>
            </a:r>
            <a:r>
              <a:rPr lang="pt-BR" dirty="0" err="1"/>
              <a:t>lib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biblioteca dinâmica </a:t>
            </a:r>
            <a:r>
              <a:rPr lang="pt-BR" dirty="0"/>
              <a:t> (.</a:t>
            </a:r>
            <a:r>
              <a:rPr lang="pt-BR" dirty="0" err="1"/>
              <a:t>so</a:t>
            </a:r>
            <a:r>
              <a:rPr lang="pt-BR" dirty="0"/>
              <a:t> – Linux, .</a:t>
            </a:r>
            <a:r>
              <a:rPr lang="pt-BR" dirty="0" err="1"/>
              <a:t>dll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313824-0C68-65B1-171B-D86D29DEB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48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0412-35DC-924F-D011-8618C455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D06F49-9540-433C-B4B3-B9AEC28B8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1AA368-2BC2-BECD-B4C7-472F9C6C6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matematica.c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:;</a:t>
            </a:r>
          </a:p>
          <a:p>
            <a:r>
              <a:rPr lang="en-US" dirty="0"/>
              <a:t>int soma(int </a:t>
            </a:r>
            <a:r>
              <a:rPr lang="en-US" dirty="0" err="1"/>
              <a:t>a,int</a:t>
            </a:r>
            <a:r>
              <a:rPr lang="en-US" dirty="0"/>
              <a:t> b) { return </a:t>
            </a:r>
            <a:r>
              <a:rPr lang="en-US" dirty="0" err="1"/>
              <a:t>a+b</a:t>
            </a:r>
            <a:r>
              <a:rPr lang="en-US" dirty="0"/>
              <a:t>; }</a:t>
            </a:r>
          </a:p>
          <a:p>
            <a:endParaRPr lang="en-US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main.c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 </a:t>
            </a:r>
          </a:p>
          <a:p>
            <a:r>
              <a:rPr lang="pt-BR" dirty="0"/>
              <a:t>#include "</a:t>
            </a:r>
            <a:r>
              <a:rPr lang="pt-BR" dirty="0" err="1"/>
              <a:t>matematica.h</a:t>
            </a:r>
            <a:r>
              <a:rPr lang="pt-BR" dirty="0"/>
              <a:t>" 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 </a:t>
            </a:r>
            <a:r>
              <a:rPr lang="pt-BR" dirty="0" err="1"/>
              <a:t>printf</a:t>
            </a:r>
            <a:r>
              <a:rPr lang="pt-BR" dirty="0"/>
              <a:t>("%d", soma(2,3)); }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Após a geração dos arquivos objetos: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main.o</a:t>
            </a: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pt-BR" dirty="0"/>
              <a:t>precisa da função soma</a:t>
            </a: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err="1"/>
              <a:t>matematica.o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linker</a:t>
            </a:r>
            <a:r>
              <a:rPr lang="pt-BR" dirty="0"/>
              <a:t> dá a referência exata para </a:t>
            </a:r>
            <a:r>
              <a:rPr lang="pt-BR" dirty="0" err="1"/>
              <a:t>para</a:t>
            </a:r>
            <a:r>
              <a:rPr lang="pt-BR" dirty="0"/>
              <a:t> a função. </a:t>
            </a:r>
          </a:p>
          <a:p>
            <a:r>
              <a:rPr lang="pt-BR" dirty="0"/>
              <a:t>(Antes havia apenas o pedido pela referência.)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DA9D6A-8B8F-1ABD-4001-F8E0581A5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11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696B-1A4F-0C40-CD3A-F272886E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36CBBC-DC3F-E1D3-3E6A-03773A7DE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D895AC-C387-4905-734C-C5A6022F4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E7DA0F-7126-D7C3-D31D-193DF2466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497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B473-122E-995A-83E2-BDB231A1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88D6B2-0E22-53E3-CC33-49A57DD44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C835B0-0135-4B95-B8D8-42F01796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09672D-1493-7167-FA89-8510A830A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15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840D-E6FE-461F-F8BA-7E58F75F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4985E4-AFBA-EA68-E1B3-AA537FEEE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𝑑𝑒𝑓𝑖𝑛𝑒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𝑄𝑈𝐴𝐷𝑅𝐴𝐷𝑂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((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∗ 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:r>
                  <a:rPr lang="it-IT" sz="1200" i="0" dirty="0">
                    <a:latin typeface="Cambria Math" panose="02040503050406030204" pitchFamily="18" charset="0"/>
                  </a:rPr>
                  <a:t>#𝑑𝑒𝑓𝑖𝑛𝑒 𝑄𝑈𝐴𝐷𝑅𝐴𝐷𝑂(𝑥) ((𝑥) ∗ (𝑥))</a:t>
                </a:r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0A8A88-48CA-1B58-25FD-A0E9EE52D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965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996E-7337-A5E8-933B-25CAC402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AB6FD3-7254-70C3-8E6A-EEDC71F7D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85DCD3-C5EA-3056-CB71-829B1220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 (estrutura) em C é um tipo de dado personalizado que agrupa várias variáveis, que podem ser de tipos diferentes, sob um único nome. </a:t>
            </a:r>
          </a:p>
          <a:p>
            <a:r>
              <a:rPr lang="pt-BR" dirty="0"/>
              <a:t>Ela funciona como um registro para organizar informações relacionadas, como os dados de uma pessoa ou de um aluno.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</a:t>
            </a:r>
            <a:r>
              <a:rPr lang="pt-BR" dirty="0"/>
              <a:t> em C serve para criar um novo nome (um apelido ou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</a:t>
            </a:r>
            <a:r>
              <a:rPr lang="pt-BR" dirty="0"/>
              <a:t>) para um tipo de dado que já existe. </a:t>
            </a:r>
          </a:p>
          <a:p>
            <a:r>
              <a:rPr lang="pt-BR" dirty="0"/>
              <a:t>Ele ajuda a deixar o código mais limpo, curto e fácil de ler, sendo muito usado com tipos básicos, ponteiros e estruturas (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).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BF5AA9-4D8D-605B-C5B3-2239F7239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540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2E78-5D2E-A485-8D0A-59198BBB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1EB849-809B-A6A9-67FE-FE44F13BB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2D807B-D19F-11A9-2A10-CFDC1FF6C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 protótipo é obrigatório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Ordem invertida: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a função for chamada antes de ter o seu corpo definido no código (por exemplo, 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fica no topo e as outras funções embaixo), o protótipo se torna obrigatório para o compilador não gerar erro.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Múltiplos arquivos: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o projeto cresce e usa vários arquivos de código, os protótipos em arquivos de cabeçalho (.h) são essenciais para um arquivo enxergar as funções do outro.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 de tipos: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protótipo ajuda o compilador a avisar você se passar o número errado de argumentos ou tipos incorretos na chamada da função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43CA1E-8BFD-77BB-B57E-7EB7B5A0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366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B067-8B75-53C6-354D-C19F4B3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24C0D1-D8A1-05DF-92E2-E790828F0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7FEF35-4E7A-4FC0-6FDE-608BC7D33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As variáveis declaradas dentro dela só existem durante sua execução.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única exceção do retorno da função, é para o caso dela ser do tipo VOID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C5D177-2C8C-2480-9763-228CFBFAA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958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D291-2B68-E341-9F50-CC9BA68B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47DB21-D531-1BA0-937E-7F06F50A0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1E6FD4-CD44-C461-9F47-55CA701E5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8BBF2A-4358-C6C9-18FE-7D3ED89CE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37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C6F1-CAF6-BC25-B510-9CC2118E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6BA548-668B-12DF-C146-C62146B3C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6D6CB5-2E32-07C7-3791-C5071EAC5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AA837C-3A1D-9FCD-5441-A2EBE6517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946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CB19-366C-C2F9-42FB-8DE172F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87C84D-FCB4-1B22-0B4A-6CC9E7B8A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99CFD9-237E-404F-B40D-D55B8D2E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F7382-9A20-2174-84F6-08F582704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767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8082-8D0C-BAC1-1261-B9B52947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FFCFAC-0B65-614E-D3F0-625E467C1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0049B0-15DA-6048-F6A6-82B40E15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constante definida com 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existefisicamente</a:t>
            </a:r>
            <a:r>
              <a:rPr lang="pt-BR" dirty="0"/>
              <a:t> em uma determinada posição de memória.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constante definida com #define não </a:t>
            </a:r>
            <a:r>
              <a:rPr lang="pt-BR" dirty="0" err="1"/>
              <a:t>existefisicamente</a:t>
            </a:r>
            <a:r>
              <a:rPr lang="pt-BR" dirty="0"/>
              <a:t> em memória, sendo o seu valor </a:t>
            </a:r>
            <a:r>
              <a:rPr lang="pt-BR" dirty="0" err="1"/>
              <a:t>substi</a:t>
            </a:r>
            <a:r>
              <a:rPr lang="pt-BR" dirty="0"/>
              <a:t> </a:t>
            </a:r>
            <a:r>
              <a:rPr lang="pt-BR" dirty="0" err="1"/>
              <a:t>tuído</a:t>
            </a:r>
            <a:r>
              <a:rPr lang="pt-BR" dirty="0"/>
              <a:t> ao longo do programa na fase de pré-processamento (ainda antes da compilação).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 palavra </a:t>
            </a:r>
            <a:r>
              <a:rPr lang="pt-BR" dirty="0" err="1"/>
              <a:t>const</a:t>
            </a:r>
            <a:r>
              <a:rPr lang="pt-BR" dirty="0"/>
              <a:t> faz parte das palavras reservadas da linguagem C</a:t>
            </a:r>
            <a:r>
              <a:rPr lang="pt-BR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/>
              <a:t>A </a:t>
            </a:r>
            <a:r>
              <a:rPr lang="pt-BR" dirty="0"/>
              <a:t>palavra #define é uma diretiva que indica ao </a:t>
            </a:r>
            <a:r>
              <a:rPr lang="pt-BR" dirty="0" err="1"/>
              <a:t>pré</a:t>
            </a:r>
            <a:r>
              <a:rPr lang="pt-BR" dirty="0"/>
              <a:t>-processador que o símbolo que a segue vai ficar com o valor que aparece depois do símbolo. 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8EFFEB-2038-F2F7-7B84-1FB4CE6B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771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6C64-E4C9-7C6D-E8C4-B61CCE06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493C10-113D-A3F1-3EC7-F0A01EB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AC869A-2086-77AC-02DC-5FEB3B8B7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20590-96E8-331A-DB6C-AB67473F5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796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1956-1F83-B933-D38B-FA178F7C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C1A5B2-020A-06F2-82C3-9D7DD8C98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030C79-DDBA-4923-770E-FFBB8CDDB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5588B7-D4CC-3C65-C878-57F9ADC8F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673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93E1-ED2C-075C-7580-0F69FEAC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999D1-E6BD-5F75-1873-EA30E5F47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066D26-94BF-2DBA-9E7C-4FD31F676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19EED2-7E88-6703-72A2-2790FE66C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224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A26A-E1EC-7BA8-F11E-D6817641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DAD396-78B8-C19E-2771-99AF12452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7D803B-134A-A29D-C37A-66A520EDB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93B4FF-3702-514A-C6FB-8D4BCBC8B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32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56BA-C5A3-1799-D720-EBC4F5A5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BA047B-578A-A874-8237-A143BBEE6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0F5932-7B0F-7D26-8B85-FCE4F0AA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23C5B-674E-1C19-8365-8AFF71652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285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1513-B6A9-22DA-4BA6-BF4BB0E8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C0801F-FA1D-1BCE-6BB9-DE0879B83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95E809-61CA-FB1C-293D-0320EE1C6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E03FE0-AE59-2D35-0D89-D7DFADF1D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6805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546F-84EC-BA81-343F-A0D65A05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85F275-0715-9607-4057-ACFED84B0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E086BD-6607-E317-185A-733A5466D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D1206-9D76-2A3F-EE3D-FAA5C2B2F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34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6D5B-C604-48CE-EAF6-E8B1F897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2E5A7A-58BF-81C0-DD45-031FD4AE0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889764-EA45-E98B-5463-43138806A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63CE1F-C1A0-B097-B8DB-4DE1B92FD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184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5423-0113-8D5E-C00E-8C7F7D62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AB3E46-6C04-BCE2-2A96-A0CFFE2E1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B24443-DF7D-F8E3-21F6-85F1CD5ED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B642EE-78AC-00A2-A2AE-E06C14966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4011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1822-E6F3-CB98-20B3-46D7E2C9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76AA77-D69E-FEDA-D42C-EAEF5310C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49F503-7E4F-783E-7286-EC109F5FC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DEEFA7-F13B-C573-F06E-6C7828847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55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CB82-723B-0C3B-D314-76525C0E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7F443-9C6C-C3AD-A4C9-76DC998E7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2 – LINGUAGEM C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1403F2-BA06-FE1B-0D3F-27A5A4B1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C53B3E7-570B-AE27-7833-B17E767B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27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47D0-E7CB-ECFD-11B1-5794B104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1A28AC-DAAB-6C16-0CDC-88764D50CE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CF4B14-0EDE-6F69-47A5-0EE7B70E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A638FB8-5E7E-526A-56CD-F3D8A2880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C1732B-1561-6775-6787-B17743F1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84" y="1529176"/>
            <a:ext cx="8147045" cy="5217508"/>
          </a:xfrm>
        </p:spPr>
        <p:txBody>
          <a:bodyPr>
            <a:normAutofit/>
          </a:bodyPr>
          <a:lstStyle/>
          <a:p>
            <a:r>
              <a:rPr lang="pt-BR" sz="2400" dirty="0"/>
              <a:t>Filosofia da Linguagem C: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Reflete a filosofia do sistema Unix, tendo como pilares a modularidade, a composição de módulos simples e clareza de código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Os módulos de um projeto devem ser implementados de maneira independente dos demais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dado controle total ao usuário quanto à manipulação de memória e gerenciamento de recursos (inclusive recursos de segurança)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Menor abstração quanto à manipulação de memória e o controle direto de hardware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sp>
        <p:nvSpPr>
          <p:cNvPr id="3" name="Chave Direita 2">
            <a:extLst>
              <a:ext uri="{FF2B5EF4-FFF2-40B4-BE49-F238E27FC236}">
                <a16:creationId xmlns:a16="http://schemas.microsoft.com/office/drawing/2014/main" id="{4F885CEA-2EDF-F394-AF01-4C1EAEFC0CA0}"/>
              </a:ext>
            </a:extLst>
          </p:cNvPr>
          <p:cNvSpPr/>
          <p:nvPr/>
        </p:nvSpPr>
        <p:spPr>
          <a:xfrm>
            <a:off x="8183074" y="5017624"/>
            <a:ext cx="810228" cy="11458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0321C7-2521-5667-5968-A1F1EA6CE547}"/>
              </a:ext>
            </a:extLst>
          </p:cNvPr>
          <p:cNvSpPr txBox="1"/>
          <p:nvPr/>
        </p:nvSpPr>
        <p:spPr>
          <a:xfrm>
            <a:off x="9120595" y="5267405"/>
            <a:ext cx="2112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Consequente ganho </a:t>
            </a:r>
          </a:p>
          <a:p>
            <a:r>
              <a:rPr lang="pt-BR" dirty="0"/>
              <a:t>de desempenho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90CDC7-2759-A493-8D1E-2A4E7ADA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746" y="1640492"/>
            <a:ext cx="2100362" cy="23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A483-0EB1-4BA4-064F-DB75EE30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077832A-09C2-3D0C-4D78-785FBE318CA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7FCB2-CF17-3E9A-E7A3-5039A49F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Ciclo de Desenvolvimento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502EC9-884F-90B0-7A7C-6A10FF7BF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0C4C2D-1A34-F14A-6A6B-35807246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42" y="2057180"/>
            <a:ext cx="5994154" cy="441306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de uma aplicação engloba quatro fases distintas:</a:t>
            </a:r>
          </a:p>
          <a:p>
            <a:pPr marL="800100" lvl="1" indent="-342900">
              <a:buFont typeface="+mj-lt"/>
              <a:buAutoNum type="arabicPeriod"/>
            </a:pPr>
            <a:endParaRPr lang="pt-BR" sz="2200" dirty="0"/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Edição do código fonte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Compilação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i="1" dirty="0" err="1"/>
              <a:t>Linkagem</a:t>
            </a:r>
            <a:r>
              <a:rPr lang="pt-BR" sz="2200" dirty="0"/>
              <a:t> de Objetos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Execução do Programa 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EBD0-0B15-E541-A879-F5006DFB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223" y="1568824"/>
            <a:ext cx="5567553" cy="5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2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691F-7747-3F69-241C-252A7B03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495F23-8079-4345-C563-CBA4EE28A5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54047F-7167-87E5-CD10-537C1CA9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Pré</a:t>
            </a:r>
            <a:r>
              <a:rPr lang="pt-BR" dirty="0">
                <a:solidFill>
                  <a:schemeClr val="bg1"/>
                </a:solidFill>
              </a:rPr>
              <a:t>-Processador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99A796F-5FF3-5CDB-BF0F-F846E7C23E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1C4F10-6EF3-F109-90A5-7490536A0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08" y="1501596"/>
            <a:ext cx="7465789" cy="5356404"/>
          </a:xfrm>
        </p:spPr>
        <p:txBody>
          <a:bodyPr>
            <a:normAutofit/>
          </a:bodyPr>
          <a:lstStyle/>
          <a:p>
            <a:r>
              <a:rPr lang="pt-BR" sz="2400" dirty="0"/>
              <a:t>Não executa nenhuma lógica da linguagem C em si, apenas manipula linhas de texto.</a:t>
            </a:r>
          </a:p>
          <a:p>
            <a:r>
              <a:rPr lang="pt-BR" sz="2400" dirty="0"/>
              <a:t>Ele executa diretivas que começam com </a:t>
            </a:r>
            <a:r>
              <a:rPr lang="pt-BR" dirty="0"/>
              <a:t>#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200" dirty="0"/>
          </a:p>
          <a:p>
            <a:pPr lvl="1"/>
            <a:r>
              <a:rPr lang="pt-BR" sz="2200" b="1" dirty="0"/>
              <a:t>#include:</a:t>
            </a:r>
            <a:r>
              <a:rPr lang="pt-BR" sz="2200" dirty="0"/>
              <a:t> Referencia o conteúdo de uma biblioteca ou arquivos </a:t>
            </a:r>
            <a:r>
              <a:rPr lang="pt-BR" sz="2200" dirty="0" err="1"/>
              <a:t>headers</a:t>
            </a:r>
            <a:r>
              <a:rPr lang="pt-BR" sz="2200" dirty="0"/>
              <a:t> diretamente no código.</a:t>
            </a:r>
          </a:p>
          <a:p>
            <a:pPr lvl="1"/>
            <a:endParaRPr lang="pt-BR" sz="2200" b="1" dirty="0"/>
          </a:p>
          <a:p>
            <a:pPr lvl="1"/>
            <a:r>
              <a:rPr lang="pt-BR" sz="2200" b="1" dirty="0"/>
              <a:t>#define: </a:t>
            </a:r>
            <a:r>
              <a:rPr lang="pt-BR" sz="2200" dirty="0"/>
              <a:t>Troca uma palavra por um valor ou pedaço de texto em todo o código (como criar constantes).</a:t>
            </a:r>
          </a:p>
          <a:p>
            <a:pPr lvl="1"/>
            <a:endParaRPr lang="pt-BR" sz="2200" b="1" dirty="0"/>
          </a:p>
          <a:p>
            <a:pPr lvl="1"/>
            <a:r>
              <a:rPr lang="pt-BR" sz="2200" b="1" dirty="0"/>
              <a:t>#ifdef / #ifndef / #if: </a:t>
            </a:r>
            <a:r>
              <a:rPr lang="pt-BR" sz="2200" dirty="0"/>
              <a:t>Controla se um trecho do código deve ou não ser compilado com base em certas condições.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2D4426D-A677-F92A-F0CB-9620612AD2C0}"/>
              </a:ext>
            </a:extLst>
          </p:cNvPr>
          <p:cNvGrpSpPr/>
          <p:nvPr/>
        </p:nvGrpSpPr>
        <p:grpSpPr>
          <a:xfrm>
            <a:off x="7857397" y="1826340"/>
            <a:ext cx="4334603" cy="4481137"/>
            <a:chOff x="7857397" y="1826340"/>
            <a:chExt cx="4334603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FCA36D8-B966-D57F-25D1-CE9B5AAA1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5BC630C-654F-581A-D83B-6404D734046D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FF9C38E-431C-7A2E-03E0-7F336DC241C7}"/>
                </a:ext>
              </a:extLst>
            </p:cNvPr>
            <p:cNvSpPr/>
            <p:nvPr/>
          </p:nvSpPr>
          <p:spPr>
            <a:xfrm>
              <a:off x="8816622" y="2686756"/>
              <a:ext cx="3375378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6787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A6C4-51DD-D63C-825B-015D388A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312316B-0D8B-B72E-0206-F45F0856D61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CA22B9-DCB4-F57E-CEDD-BCF16F6F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75A5B7-FCB5-EBE2-9632-480EE15C5D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F52281-2C6C-6073-343F-037D7D62D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compilador aplica 3 etapas de análise ao código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Análise </a:t>
            </a:r>
            <a:r>
              <a:rPr lang="pt-BR" sz="2200" dirty="0" err="1"/>
              <a:t>Lexica</a:t>
            </a:r>
            <a:r>
              <a:rPr lang="pt-BR" sz="2200" dirty="0"/>
              <a:t>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Lê o código-fonte caractere por caractere, gerando </a:t>
            </a:r>
            <a:r>
              <a:rPr lang="pt-BR" sz="2200" i="1" dirty="0"/>
              <a:t>tokens</a:t>
            </a:r>
            <a:r>
              <a:rPr lang="pt-BR" sz="2200" dirty="0"/>
              <a:t> (palavras-chave, identificadores, números e símbolos).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200" dirty="0"/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Análise Sintática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Organiza os elementos em uma estrutura em árvore com base nas regras gramaticais da linguagem C.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Análise Semântica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Verifica o significado do código estruturado na árvore.</a:t>
            </a:r>
          </a:p>
          <a:p>
            <a:pPr marL="457200" lvl="1" indent="0">
              <a:buNone/>
            </a:pPr>
            <a:endParaRPr lang="pt-BR" sz="2000" dirty="0"/>
          </a:p>
          <a:p>
            <a:r>
              <a:rPr lang="pt-BR" sz="2400" dirty="0"/>
              <a:t>Ao final, transforma o código C em Assembly.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3BC98DC-6014-E26C-248E-4C1487A3DBA0}"/>
              </a:ext>
            </a:extLst>
          </p:cNvPr>
          <p:cNvGrpSpPr/>
          <p:nvPr/>
        </p:nvGrpSpPr>
        <p:grpSpPr>
          <a:xfrm>
            <a:off x="8037689" y="1873956"/>
            <a:ext cx="4080586" cy="4433521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67C27E5C-1E2C-DABC-FB5D-376A31C4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3B11935-4940-8135-6C08-53075B429380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194846A-7FBC-0117-48E2-04F9A3585474}"/>
                </a:ext>
              </a:extLst>
            </p:cNvPr>
            <p:cNvSpPr/>
            <p:nvPr/>
          </p:nvSpPr>
          <p:spPr>
            <a:xfrm>
              <a:off x="9426221" y="3339934"/>
              <a:ext cx="197555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8782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F4A4-69B4-EA4C-9E48-3BA823DC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CE5B28-DC28-8595-1E2C-940A68F68C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AA27B-F7FE-2BB6-D402-20451709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Montagem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C61AF01-82D7-2F5F-93A3-7F5F36E940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4BB6F0-773D-3CD3-827B-502B59A9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Converte o código Assembly gerado para o código binário</a:t>
            </a:r>
          </a:p>
          <a:p>
            <a:r>
              <a:rPr lang="pt-BR" sz="2400" dirty="0"/>
              <a:t>Gera o chamado ‘Arquivo Objeto (.o)’</a:t>
            </a:r>
          </a:p>
          <a:p>
            <a:r>
              <a:rPr lang="pt-BR" sz="2400" dirty="0"/>
              <a:t>Ele já contém instruções de máquina, mas ainda não é executável.</a:t>
            </a:r>
          </a:p>
          <a:p>
            <a:endParaRPr lang="pt-BR" sz="2400" dirty="0"/>
          </a:p>
          <a:p>
            <a:r>
              <a:rPr lang="pt-BR" sz="2400" dirty="0"/>
              <a:t>Estrutura do arquivo objeto: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510206D-6CD6-01F5-95B8-FA55FB11FA75}"/>
              </a:ext>
            </a:extLst>
          </p:cNvPr>
          <p:cNvGrpSpPr/>
          <p:nvPr/>
        </p:nvGrpSpPr>
        <p:grpSpPr>
          <a:xfrm>
            <a:off x="7846108" y="1865765"/>
            <a:ext cx="4260878" cy="4481137"/>
            <a:chOff x="7846108" y="1865765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222FB77B-4038-1AFA-F3CF-4D79E4AB0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46108" y="1865765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401DBDA-4E98-3A03-3DAC-2D69AF7CA096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E7EBA49-F354-1830-6E8E-2643BEC23BC2}"/>
                </a:ext>
              </a:extLst>
            </p:cNvPr>
            <p:cNvSpPr/>
            <p:nvPr/>
          </p:nvSpPr>
          <p:spPr>
            <a:xfrm>
              <a:off x="9505244" y="4106334"/>
              <a:ext cx="1941689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7E65DD6-F7E1-75A0-C180-79BA22654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88538"/>
              </p:ext>
            </p:extLst>
          </p:nvPr>
        </p:nvGraphicFramePr>
        <p:xfrm>
          <a:off x="982133" y="4233254"/>
          <a:ext cx="2133600" cy="224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86795610"/>
                    </a:ext>
                  </a:extLst>
                </a:gridCol>
              </a:tblGrid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Código Binário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134584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36468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Símbolos/Funções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90879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Referências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1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6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1A0E-682E-D5AA-2009-A143D81A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5283831-4E19-7C22-A7F3-EBFDAA46E28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2FA62D-8A7D-E0DE-37FE-02C05479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DFF28EE-7216-1735-724B-70C60E7BB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661621-9348-0B14-8EF3-A112CB6C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</a:t>
            </a:r>
            <a:r>
              <a:rPr lang="pt-BR" sz="2400" i="1" dirty="0" err="1"/>
              <a:t>linker</a:t>
            </a:r>
            <a:r>
              <a:rPr lang="pt-BR" sz="2400" dirty="0"/>
              <a:t> recebe os vários arquivos objetos criados</a:t>
            </a:r>
          </a:p>
          <a:p>
            <a:r>
              <a:rPr lang="pt-BR" sz="2400" dirty="0"/>
              <a:t>Procura e conecta as referências no código</a:t>
            </a:r>
          </a:p>
          <a:p>
            <a:r>
              <a:rPr lang="pt-BR" sz="2400" dirty="0"/>
              <a:t>Gera o arquivo executável final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56DD666F-A40B-14AD-C626-FD88E59B0A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61FA03D-ABCE-9CA0-56CE-40F6C5FF8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D702D28-AB8E-88ED-BEF3-891B112041F2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9981569-4CE3-2677-D452-54BC7402030C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1AFA5B24-A560-8A52-FB65-F3B08451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62022"/>
            <a:ext cx="4687956" cy="23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5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EB05-87BC-2801-489E-06CD7B6A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590152-0B4E-94C8-24E4-DEA140458F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80D7C3-D81F-565A-FAF8-BC3DA675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r>
              <a:rPr lang="pt-BR" dirty="0">
                <a:solidFill>
                  <a:schemeClr val="bg1"/>
                </a:solidFill>
              </a:rPr>
              <a:t> (Observação)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AB2C41F-A0BD-E83B-E52D-27DA8FCC2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691A9A-EBF2-2E5D-FECE-AD1F7648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Existem dois tipos de </a:t>
            </a:r>
            <a:r>
              <a:rPr lang="pt-BR" sz="2400" i="1" dirty="0" err="1"/>
              <a:t>linkagem</a:t>
            </a:r>
            <a:r>
              <a:rPr lang="pt-BR" sz="2400" i="1" dirty="0"/>
              <a:t>:</a:t>
            </a:r>
          </a:p>
          <a:p>
            <a:endParaRPr lang="pt-BR" sz="2400" dirty="0"/>
          </a:p>
          <a:p>
            <a:r>
              <a:rPr lang="pt-BR" sz="2400" dirty="0" err="1"/>
              <a:t>Linkagem</a:t>
            </a:r>
            <a:r>
              <a:rPr lang="pt-BR" sz="2400" dirty="0"/>
              <a:t> Estática</a:t>
            </a:r>
            <a:endParaRPr lang="pt-BR" sz="2000" dirty="0"/>
          </a:p>
          <a:p>
            <a:pPr lvl="1"/>
            <a:r>
              <a:rPr lang="pt-BR" sz="2200" dirty="0"/>
              <a:t>Todo o código necessário é copiado para o executável.</a:t>
            </a:r>
          </a:p>
          <a:p>
            <a:pPr lvl="1"/>
            <a:r>
              <a:rPr lang="pt-BR" sz="2200" dirty="0"/>
              <a:t>O arquivo executável fica com um tamanho bem maior.</a:t>
            </a:r>
          </a:p>
          <a:p>
            <a:pPr lvl="1"/>
            <a:r>
              <a:rPr lang="pt-BR" sz="2200" dirty="0"/>
              <a:t>Funciona de forma independente.</a:t>
            </a:r>
          </a:p>
          <a:p>
            <a:pPr lvl="1"/>
            <a:endParaRPr lang="pt-BR" sz="2000" dirty="0"/>
          </a:p>
          <a:p>
            <a:r>
              <a:rPr lang="pt-BR" sz="2400" dirty="0" err="1"/>
              <a:t>Linkagem</a:t>
            </a:r>
            <a:r>
              <a:rPr lang="pt-BR" sz="2400" dirty="0"/>
              <a:t> Dinâmica</a:t>
            </a:r>
          </a:p>
          <a:p>
            <a:pPr lvl="1"/>
            <a:r>
              <a:rPr lang="pt-BR" sz="2200" dirty="0"/>
              <a:t>O executável guarda apenas referências ou endereços de arquivos externos</a:t>
            </a:r>
          </a:p>
          <a:p>
            <a:pPr lvl="1"/>
            <a:r>
              <a:rPr lang="pt-BR" sz="2200" dirty="0"/>
              <a:t>O arquivo executável do programa é menor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F1ED11D-CA1E-1E49-4E82-57A8934D59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55AA25F-0192-42D4-C8E8-2D02755B2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61F242B-4E58-F21C-75E2-15CEF71B6AB1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8F375EA-FDBF-7397-7EAF-A651F6DA8635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182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A3B4-6B0D-319A-42F2-E42148BD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A9399F9-6B89-5C05-9A33-444D5094690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C45B6C-C877-6747-0EC5-242ED167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D29837-3C86-CEC6-2111-147292B32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D7A37-75B3-03C4-CDE7-13742ED3F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Todo programa em C, independentemente do tamanho, segue uma estrutura semelhante:</a:t>
            </a:r>
          </a:p>
          <a:p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Diretivas do </a:t>
            </a:r>
            <a:r>
              <a:rPr lang="pt-BR" sz="2200" dirty="0" err="1"/>
              <a:t>pré</a:t>
            </a:r>
            <a:r>
              <a:rPr lang="pt-BR" sz="2200" dirty="0"/>
              <a:t>-processador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Definições e macros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Declarações globais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Protótipos de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Definições das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Função principal (</a:t>
            </a:r>
            <a:r>
              <a:rPr lang="pt-BR" sz="2200" dirty="0" err="1"/>
              <a:t>main</a:t>
            </a:r>
            <a:r>
              <a:rPr lang="pt-BR" sz="2200" dirty="0"/>
              <a:t>) 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48970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323D-379A-7FB4-9047-7C66D35F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4E57A08-EBB2-8EF4-CE50-F26AEEF188F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282666-8206-58E1-6FE6-8D99E54A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8D3BA8A-5531-A18C-4643-532A34451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Diretivas do </a:t>
                </a:r>
                <a:r>
                  <a:rPr lang="pt-BR" sz="2400" dirty="0" err="1"/>
                  <a:t>pré</a:t>
                </a:r>
                <a:r>
                  <a:rPr lang="pt-BR" sz="2400" dirty="0"/>
                  <a:t>-processador</a:t>
                </a:r>
              </a:p>
              <a:p>
                <a:pPr lvl="1"/>
                <a:endParaRPr lang="pt-BR" sz="1600" dirty="0"/>
              </a:p>
              <a:p>
                <a:pPr lvl="1"/>
                <a:r>
                  <a:rPr lang="pt-BR" sz="2200" dirty="0"/>
                  <a:t>São todas as linhas que começam com #</a:t>
                </a:r>
              </a:p>
              <a:p>
                <a:pPr lvl="1"/>
                <a:r>
                  <a:rPr lang="pt-BR" sz="2200" dirty="0"/>
                  <a:t>Essas linhas não fazem parte da linguagem C propriamente dita. </a:t>
                </a:r>
              </a:p>
              <a:p>
                <a:pPr lvl="1"/>
                <a:r>
                  <a:rPr lang="pt-BR" sz="2200" dirty="0"/>
                  <a:t>Elas são processadas antes da compilação.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Definição de Macros</a:t>
                </a:r>
              </a:p>
              <a:p>
                <a:pPr lvl="1"/>
                <a:endParaRPr lang="pt-BR" sz="2000" dirty="0"/>
              </a:p>
              <a:p>
                <a:pPr lvl="1"/>
                <a:r>
                  <a:rPr lang="pt-BR" sz="2200" dirty="0"/>
                  <a:t>Isso cria constantes simbólicas</a:t>
                </a:r>
              </a:p>
              <a:p>
                <a:pPr lvl="1"/>
                <a:r>
                  <a:rPr lang="pt-BR" sz="2200" dirty="0"/>
                  <a:t>Também podemos criar macros com parâmetros.</a:t>
                </a:r>
              </a:p>
              <a:p>
                <a:pPr lvl="1"/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dirty="0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𝑑𝑒𝑓𝑖𝑛𝑒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𝑄𝑈𝐴𝐷𝑅𝐴𝐷𝑂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((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∗ 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  <a:blipFill>
                <a:blip r:embed="rId3"/>
                <a:stretch>
                  <a:fillRect l="-1059" t="-1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0DF0DB5F-DB2A-C2E3-046F-AC2F890B1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957B044-68A2-8546-6F73-754629053BFA}"/>
              </a:ext>
            </a:extLst>
          </p:cNvPr>
          <p:cNvSpPr/>
          <p:nvPr/>
        </p:nvSpPr>
        <p:spPr>
          <a:xfrm>
            <a:off x="7530908" y="1501595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50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E2E0-8DCB-3F2B-DFFE-C402766A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5CF461-D03A-76E2-3BA0-6572B1A2BA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9A04E-EF20-7A20-5D73-B2370DD2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915B45-C497-8365-DE36-E6EAA6569F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C78FE2-2547-24D9-8684-2B93123D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0" y="1501596"/>
            <a:ext cx="6784954" cy="5356404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Declarações Globais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São elementos declarados fora das funções, validas em todo o escopo do script.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Variáveis globais existem durante toda a execução do programa.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Também podem ser definidas as estruturas e enumerações (Estruturas de Dados).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4188C4-424D-96A8-3F0A-6C73EA7FE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C9B5CF8-2802-0481-0CD0-1135915F7C3C}"/>
              </a:ext>
            </a:extLst>
          </p:cNvPr>
          <p:cNvSpPr/>
          <p:nvPr/>
        </p:nvSpPr>
        <p:spPr>
          <a:xfrm>
            <a:off x="7395442" y="2196389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18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10EB-D5EB-8070-4858-727203E6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40D8EB-9F09-3E80-5782-6626F39B8E1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38A32D-319B-1C66-58AB-BDFFA1F2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A3ABEDC-B2AC-055F-9981-3FA23C0095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BDE403-84D8-ED00-20DB-466D67B2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Protótipo de função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É uma descrição prévia da função, para conhecimento do compilador</a:t>
            </a:r>
          </a:p>
          <a:p>
            <a:pPr lvl="1"/>
            <a:r>
              <a:rPr lang="pt-BR" sz="2200" dirty="0"/>
              <a:t>É apenas uma “promessa” de que essa função será encontrada depois.</a:t>
            </a:r>
          </a:p>
          <a:p>
            <a:pPr lvl="2"/>
            <a:endParaRPr lang="pt-BR" dirty="0"/>
          </a:p>
          <a:p>
            <a:r>
              <a:rPr lang="pt-BR" sz="2400" dirty="0"/>
              <a:t>Se definirmos a função inteira </a:t>
            </a:r>
            <a:r>
              <a:rPr lang="pt-BR" sz="2400" b="1" dirty="0"/>
              <a:t>antes</a:t>
            </a:r>
            <a:r>
              <a:rPr lang="pt-BR" sz="2400" dirty="0"/>
              <a:t> de qualquer outra função que a chame (como a </a:t>
            </a:r>
            <a:r>
              <a:rPr lang="pt-BR" sz="2400" dirty="0" err="1"/>
              <a:t>main</a:t>
            </a:r>
            <a:r>
              <a:rPr lang="pt-BR" sz="2400" dirty="0"/>
              <a:t>), o compilador não exige o protótipo</a:t>
            </a:r>
          </a:p>
          <a:p>
            <a:endParaRPr lang="pt-BR" sz="2400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4E62871-404C-1969-1123-FF232F5F8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7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A3DA-2D1C-E99D-B57D-CA8BD68F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0927638-C7A9-06AA-EEA1-E17EAE4B59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BFDCD9-3A0D-B40C-892A-3632B6AC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59C0E5-7C4C-BE00-B645-78CAD74EFF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A60323-66F5-5AED-EEAF-EE2CD32F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Definição de funções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Bloco de código reutilizável que realiza uma tarefa específica.</a:t>
            </a:r>
          </a:p>
          <a:p>
            <a:pPr lvl="1"/>
            <a:r>
              <a:rPr lang="pt-BR" sz="2200" dirty="0"/>
              <a:t>Cada função possui seu próprio escopo.</a:t>
            </a:r>
          </a:p>
          <a:p>
            <a:pPr marL="914400" lvl="2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i="1" dirty="0" err="1">
                <a:solidFill>
                  <a:srgbClr val="FF0000"/>
                </a:solidFill>
              </a:rPr>
              <a:t>tipo_de_retorno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 err="1">
                <a:solidFill>
                  <a:schemeClr val="accent6">
                    <a:lumMod val="75000"/>
                  </a:schemeClr>
                </a:solidFill>
              </a:rPr>
              <a:t>nome_da_funcao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i="1" dirty="0" err="1">
                <a:solidFill>
                  <a:schemeClr val="accent1">
                    <a:lumMod val="75000"/>
                  </a:schemeClr>
                </a:solidFill>
              </a:rPr>
              <a:t>lista_de_parametros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pPr marL="457200" lvl="1" indent="0">
              <a:buNone/>
            </a:pPr>
            <a:r>
              <a:rPr lang="pt-BR" i="1" dirty="0"/>
              <a:t>{</a:t>
            </a:r>
          </a:p>
          <a:p>
            <a:pPr marL="457200" lvl="1" indent="0">
              <a:buNone/>
            </a:pPr>
            <a:r>
              <a:rPr lang="pt-BR" i="1" dirty="0"/>
              <a:t>	Bloco de instruções;</a:t>
            </a:r>
          </a:p>
          <a:p>
            <a:pPr marL="457200" lvl="1" indent="0">
              <a:buNone/>
            </a:pPr>
            <a:r>
              <a:rPr lang="pt-BR" i="1" dirty="0"/>
              <a:t>	</a:t>
            </a:r>
            <a:r>
              <a:rPr lang="pt-BR" i="1" dirty="0" err="1">
                <a:solidFill>
                  <a:schemeClr val="accent2"/>
                </a:solidFill>
              </a:rPr>
              <a:t>return</a:t>
            </a:r>
            <a:r>
              <a:rPr lang="pt-BR" i="1" dirty="0"/>
              <a:t> valor; </a:t>
            </a:r>
          </a:p>
          <a:p>
            <a:pPr marL="457200" lvl="1" indent="0">
              <a:buNone/>
            </a:pPr>
            <a:r>
              <a:rPr lang="pt-BR" i="1" dirty="0"/>
              <a:t>}</a:t>
            </a:r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C3F7AE-FC96-5A94-84E0-2AEC68A6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6CAF8B-6565-B969-D701-89E2CEAC769C}"/>
              </a:ext>
            </a:extLst>
          </p:cNvPr>
          <p:cNvSpPr/>
          <p:nvPr/>
        </p:nvSpPr>
        <p:spPr>
          <a:xfrm>
            <a:off x="8693054" y="3788306"/>
            <a:ext cx="3408025" cy="111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742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78C4-5FB1-5153-E354-B5435E44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3E5418-7784-C910-C7A4-A617ACF2C8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9F3F47-5B0C-25CA-4CB1-4C9C5F19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D9A5EA9-1AC4-333E-3FAA-1851D879E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481EB0-A9A2-B2BA-7891-861A74F6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Função Principal </a:t>
            </a:r>
            <a:r>
              <a:rPr lang="pt-BR" sz="2400" i="1" dirty="0" err="1"/>
              <a:t>main</a:t>
            </a:r>
            <a:r>
              <a:rPr lang="pt-BR" sz="2400" i="1" dirty="0"/>
              <a:t>()</a:t>
            </a:r>
          </a:p>
          <a:p>
            <a:pPr lvl="1"/>
            <a:endParaRPr lang="pt-BR" dirty="0"/>
          </a:p>
          <a:p>
            <a:pPr lvl="1"/>
            <a:r>
              <a:rPr lang="pt-BR" sz="2200" dirty="0"/>
              <a:t>Todo programa em C começa pela função </a:t>
            </a:r>
            <a:r>
              <a:rPr lang="pt-BR" sz="2200" i="1" dirty="0" err="1"/>
              <a:t>main</a:t>
            </a:r>
            <a:r>
              <a:rPr lang="pt-BR" sz="2200" dirty="0"/>
              <a:t>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Quem chama </a:t>
            </a:r>
            <a:r>
              <a:rPr lang="pt-BR" sz="2200" i="1" dirty="0" err="1"/>
              <a:t>main</a:t>
            </a:r>
            <a:r>
              <a:rPr lang="pt-BR" sz="2200" dirty="0"/>
              <a:t> é o S.O, durante a execução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Ao retornar 0, o programa informa ao S.O que o a execução terminou corretamente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Na prática, muitos programas definem códigos específicos para diferentes situações.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7FD298-5484-2EFE-FB8E-0C68F4ECD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7571406" y="2700867"/>
            <a:ext cx="4397473" cy="214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80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A104-DC23-2A54-0824-013B41F6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F040378-7861-DDD1-8B6B-71ABCAE461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2153CB-A444-24C9-5CC9-1A61EF95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Palavras reservadas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2C4259A-9F2D-B996-873C-33EAF93216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4D37B3-F763-AE46-E407-49AE69531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81" y="1621425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São termos com funções fixas na linguagem, como </a:t>
            </a:r>
            <a:r>
              <a:rPr lang="pt-BR" sz="2400" b="1" dirty="0" err="1"/>
              <a:t>int</a:t>
            </a:r>
            <a:r>
              <a:rPr lang="pt-BR" sz="2400" dirty="0"/>
              <a:t>, </a:t>
            </a:r>
            <a:r>
              <a:rPr lang="pt-BR" sz="2400" b="1" dirty="0" err="1"/>
              <a:t>if</a:t>
            </a:r>
            <a:r>
              <a:rPr lang="pt-BR" sz="2400" dirty="0"/>
              <a:t> e </a:t>
            </a:r>
            <a:r>
              <a:rPr lang="pt-BR" sz="2400" b="1" dirty="0" err="1"/>
              <a:t>return</a:t>
            </a:r>
            <a:r>
              <a:rPr lang="pt-BR" sz="2400" dirty="0"/>
              <a:t>. </a:t>
            </a:r>
          </a:p>
          <a:p>
            <a:endParaRPr lang="pt-BR" sz="2400" dirty="0"/>
          </a:p>
          <a:p>
            <a:r>
              <a:rPr lang="pt-BR" sz="2400" dirty="0"/>
              <a:t>Elas somam 32 no padrão original e não podem ser usadas para dar nomes a variáveis ou funções.</a:t>
            </a:r>
            <a:endParaRPr lang="en-US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CD40E8-653A-1363-8677-7FBD84510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44" y="3890374"/>
            <a:ext cx="6687911" cy="265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58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E862-BC4A-1C62-D8CC-0579B7FD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252457F-9AF5-0F64-D569-F29176AEC7E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A38A48-38C3-F7A4-EEF1-9F838AEB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Constantes e Variáveis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AA535C-5A76-4565-1E59-39DB71A80D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EE1C5E-D427-6659-18DC-A460DF4B3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4" y="1325560"/>
            <a:ext cx="6490500" cy="55324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Variáveis</a:t>
            </a:r>
            <a:r>
              <a:rPr lang="pt-BR" sz="2400" dirty="0"/>
              <a:t> são espaços na memória usados para o armazenamento de dados.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Durante a execução, as variáveis podem ter seu valor alterado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necessário declarar o tipo da variável em C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</a:t>
            </a:r>
            <a:r>
              <a:rPr lang="pt-BR" sz="2200" b="1" dirty="0"/>
              <a:t>tipo</a:t>
            </a:r>
            <a:r>
              <a:rPr lang="pt-BR" sz="2200" dirty="0"/>
              <a:t> da variável define o tamanho e o formato dos dados armazenados.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Os tipos também indicam ao programa como ler e escrever os valores armazenados.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CDADD6-A99F-9F56-169F-ABEF71CE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7899268" y="4091779"/>
            <a:ext cx="3810000" cy="23717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179B713-D6A1-8D20-4DD6-CA1DF15B0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7899268" y="1464865"/>
            <a:ext cx="38100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99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F44E7-B7FC-4147-F562-9FD89C06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1262F2A-2B21-4B0A-7338-765F907E0C6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4A0AD-AA48-945A-FF85-7F6A2B97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Constantes e Variáveis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D678FC8-2BCB-D09B-D2E2-7AB8D89783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CB1CE9-7FFC-AE7B-EE15-3267CB61A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468" y="1568824"/>
            <a:ext cx="7236458" cy="52891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Constantes</a:t>
            </a:r>
            <a:r>
              <a:rPr lang="pt-BR" sz="2400" dirty="0"/>
              <a:t> guardam valores fixos que não podem ser alterados após a definição.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Tentar alterar uma constante leva a um erro pelo compilador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uma boa prática escrever o nome das constantes com letras maiúsculas para diferenciá-las das variáveis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Podem ser criadas pela diretiva </a:t>
            </a:r>
            <a:r>
              <a:rPr lang="pt-BR" sz="2200" i="1" dirty="0"/>
              <a:t>#define </a:t>
            </a:r>
            <a:r>
              <a:rPr lang="pt-BR" sz="2200" dirty="0"/>
              <a:t>ou</a:t>
            </a:r>
            <a:r>
              <a:rPr lang="pt-BR" sz="2200" i="1" dirty="0"/>
              <a:t> </a:t>
            </a:r>
            <a:r>
              <a:rPr lang="pt-BR" sz="2200" dirty="0"/>
              <a:t>pela palavra chave </a:t>
            </a:r>
            <a:r>
              <a:rPr lang="pt-BR" sz="2200" i="1" u="sng" dirty="0" err="1"/>
              <a:t>const</a:t>
            </a:r>
            <a:r>
              <a:rPr lang="pt-BR" sz="2200" dirty="0"/>
              <a:t>  antes da definição do tipo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B64FB5-AF6B-C1A5-1A3A-08A759AA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452" y="2490537"/>
            <a:ext cx="3441031" cy="34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18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AF02-56FE-5315-3653-51A857C7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4B052A-A3F6-B26A-8FF9-BC508287984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29414F-13C8-01BB-E045-EE12BC60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Tipos Primitivos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C0923BD-52A5-AEC7-A367-A2EDB7DAC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57D41A-0914-7021-BB8D-413FF151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11315163" cy="5231649"/>
          </a:xfrm>
        </p:spPr>
        <p:txBody>
          <a:bodyPr>
            <a:normAutofit/>
          </a:bodyPr>
          <a:lstStyle/>
          <a:p>
            <a:r>
              <a:rPr lang="pt-BR" sz="2600" dirty="0"/>
              <a:t>São as formas mais básicas de informação que a linguagem de programação consegue entender. Em C temos:</a:t>
            </a:r>
          </a:p>
          <a:p>
            <a:endParaRPr lang="pt-BR" sz="2400" dirty="0"/>
          </a:p>
          <a:p>
            <a:pPr lvl="1"/>
            <a:r>
              <a:rPr lang="pt-BR" sz="2200" b="1" i="1" u="sng" dirty="0" err="1"/>
              <a:t>int</a:t>
            </a:r>
            <a:r>
              <a:rPr lang="pt-BR" sz="2200" dirty="0"/>
              <a:t>: Armazena números inteiros (positivos e negativos)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i="1" u="sng" dirty="0" err="1"/>
              <a:t>float</a:t>
            </a:r>
            <a:r>
              <a:rPr lang="pt-BR" sz="2200" dirty="0"/>
              <a:t>: Armazena números reais com casas decimais de precisão simples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i="1" u="sng" dirty="0" err="1"/>
              <a:t>double</a:t>
            </a:r>
            <a:r>
              <a:rPr lang="pt-BR" sz="2200" dirty="0"/>
              <a:t>: Armazena números reais com maior precisão e capacidade que o </a:t>
            </a:r>
            <a:r>
              <a:rPr lang="pt-BR" sz="2200" b="1" i="1" dirty="0" err="1"/>
              <a:t>float</a:t>
            </a:r>
            <a:endParaRPr lang="pt-BR" sz="2200" b="1" i="1" dirty="0"/>
          </a:p>
          <a:p>
            <a:pPr lvl="1"/>
            <a:endParaRPr lang="pt-BR" sz="2200" dirty="0"/>
          </a:p>
          <a:p>
            <a:pPr lvl="1"/>
            <a:r>
              <a:rPr lang="pt-BR" sz="2200" b="1" i="1" u="sng" dirty="0"/>
              <a:t>char</a:t>
            </a:r>
            <a:r>
              <a:rPr lang="pt-BR" sz="2200" dirty="0"/>
              <a:t>: Armazena um único caractere, como 'a' ou 'Z', representado internamente por um valor numérico inteiro (de acordo com a tabela ASCII), mas não é restrito à caracteres.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i="1" u="sng" dirty="0"/>
              <a:t>void</a:t>
            </a:r>
            <a:r>
              <a:rPr lang="pt-BR" sz="2200" dirty="0"/>
              <a:t>: Indica vazio ou ausência de tipo, muito usado em funções que não retornam valor.</a:t>
            </a:r>
          </a:p>
        </p:txBody>
      </p:sp>
    </p:spTree>
    <p:extLst>
      <p:ext uri="{BB962C8B-B14F-4D97-AF65-F5344CB8AC3E}">
        <p14:creationId xmlns:p14="http://schemas.microsoft.com/office/powerpoint/2010/main" val="755640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AD397-2F65-DE74-9419-D57C75CC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2359FF-8E24-92A3-8D7F-90485676ABF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483743-DFC8-B5F7-1988-608CE8CF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Modificadores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B1F31EF-2CDE-350B-EACD-98A9EFA4E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1B619E-85F9-6CF1-AFB1-546F401CD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9764361" cy="5231649"/>
          </a:xfrm>
        </p:spPr>
        <p:txBody>
          <a:bodyPr>
            <a:normAutofit/>
          </a:bodyPr>
          <a:lstStyle/>
          <a:p>
            <a:r>
              <a:rPr lang="pt-BR" sz="2600" dirty="0"/>
              <a:t>Permite alterações </a:t>
            </a:r>
            <a:r>
              <a:rPr lang="pt-BR" sz="2400" dirty="0"/>
              <a:t>no tamanho ou na capacidade de armazenamento dos tipos inteiros e de ponto flutuante:</a:t>
            </a:r>
            <a:endParaRPr lang="pt-BR" sz="2600" dirty="0"/>
          </a:p>
          <a:p>
            <a:endParaRPr lang="pt-BR" sz="2400" dirty="0"/>
          </a:p>
          <a:p>
            <a:pPr lvl="1"/>
            <a:r>
              <a:rPr lang="pt-BR" sz="2200" b="1" i="1" u="sng" dirty="0" err="1"/>
              <a:t>signed</a:t>
            </a:r>
            <a:r>
              <a:rPr lang="pt-BR" sz="2200" dirty="0"/>
              <a:t>: Permite valores positivos e negativos (padrão para </a:t>
            </a:r>
            <a:r>
              <a:rPr lang="pt-BR" sz="2200" dirty="0" err="1"/>
              <a:t>int</a:t>
            </a:r>
            <a:r>
              <a:rPr lang="pt-BR" sz="2200" dirty="0"/>
              <a:t>).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i="1" u="sng" dirty="0" err="1"/>
              <a:t>unsigned</a:t>
            </a:r>
            <a:r>
              <a:rPr lang="pt-BR" sz="2200" dirty="0"/>
              <a:t>: Apenas valores positivos, dobrando o limite máximo positivo da faixa de armazenamento</a:t>
            </a:r>
          </a:p>
          <a:p>
            <a:pPr lvl="1"/>
            <a:endParaRPr lang="pt-BR" sz="2200" b="1" i="1" u="sng" dirty="0"/>
          </a:p>
          <a:p>
            <a:pPr lvl="1"/>
            <a:r>
              <a:rPr lang="pt-BR" sz="2200" b="1" i="1" u="sng" dirty="0"/>
              <a:t>short</a:t>
            </a:r>
            <a:r>
              <a:rPr lang="pt-BR" sz="2200" dirty="0"/>
              <a:t>: Reduz o espaço de armazenamento para números inteiros menores</a:t>
            </a:r>
          </a:p>
          <a:p>
            <a:pPr lvl="1"/>
            <a:endParaRPr lang="pt-BR" sz="2200" b="1" i="1" u="sng" dirty="0"/>
          </a:p>
          <a:p>
            <a:pPr lvl="1"/>
            <a:r>
              <a:rPr lang="pt-BR" sz="2200" b="1" i="1" u="sng" dirty="0" err="1"/>
              <a:t>long</a:t>
            </a:r>
            <a:r>
              <a:rPr lang="pt-BR" sz="2200" dirty="0"/>
              <a:t>: Aumenta o espaço de armazenamento para números inteiros ou reais maiores (</a:t>
            </a:r>
            <a:r>
              <a:rPr lang="pt-BR" sz="2200" dirty="0" err="1"/>
              <a:t>long</a:t>
            </a:r>
            <a:r>
              <a:rPr lang="pt-BR" sz="2200" dirty="0"/>
              <a:t> </a:t>
            </a:r>
            <a:r>
              <a:rPr lang="pt-BR" sz="2200" dirty="0" err="1"/>
              <a:t>double</a:t>
            </a:r>
            <a:r>
              <a:rPr lang="pt-BR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0828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A690B-E8BF-5851-00C0-854E731E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F6B7979-ECDF-D961-EBC5-9C2A63EF371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435752-6267-61E4-4139-D813C463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Faixa de valores para os tipos de dados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2F2AB88-1306-9195-2B9F-2707AEE06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4" name="Picture 2" descr="Tipo de Dados de C :: Linguagens C e C++">
            <a:extLst>
              <a:ext uri="{FF2B5EF4-FFF2-40B4-BE49-F238E27FC236}">
                <a16:creationId xmlns:a16="http://schemas.microsoft.com/office/drawing/2014/main" id="{435FCCD6-3657-B92C-FF6E-F5CC7BBAE9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829" y="1410039"/>
            <a:ext cx="6657541" cy="535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5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A6E3-041D-B09A-01FD-D67190F3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B1AB49-13C9-DA56-AAD1-AE5EC7C6BCF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151EAB-5A01-EB06-CDE7-EEEFC3FE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Observação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A9A68E-905C-184C-B292-B176EA5D3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3C7723-2E79-DDD7-FEE4-809DBC65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11315163" cy="5231649"/>
          </a:xfrm>
        </p:spPr>
        <p:txBody>
          <a:bodyPr>
            <a:normAutofit/>
          </a:bodyPr>
          <a:lstStyle/>
          <a:p>
            <a:r>
              <a:rPr lang="pt-BR" sz="2600" b="1" i="1" dirty="0"/>
              <a:t>Precisão simples: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Ocupa 4 bytes (32 bits). Oferece cerca de 6 a 7 dígitos decimais de precisão</a:t>
            </a:r>
          </a:p>
          <a:p>
            <a:pPr lvl="1"/>
            <a:r>
              <a:rPr lang="pt-BR" sz="2200" dirty="0"/>
              <a:t>Comumente utilizado para economizar memória em grandes vetores ou matrizes, ou quando a perda de precisão nas casas decimais não afeta o resultado da operação.</a:t>
            </a:r>
          </a:p>
          <a:p>
            <a:pPr lvl="1"/>
            <a:endParaRPr lang="pt-BR" sz="2200" dirty="0"/>
          </a:p>
          <a:p>
            <a:r>
              <a:rPr lang="pt-BR" sz="2600" b="1" i="1" dirty="0"/>
              <a:t>Precisão dupla:</a:t>
            </a:r>
          </a:p>
          <a:p>
            <a:endParaRPr lang="pt-BR" sz="2600" dirty="0"/>
          </a:p>
          <a:p>
            <a:pPr lvl="1"/>
            <a:r>
              <a:rPr lang="pt-BR" sz="2200" dirty="0"/>
              <a:t>Ocupa 8 bytes (64 bits). Oferece cerca de 15 a 17 dígitos decimais de precisão</a:t>
            </a:r>
          </a:p>
          <a:p>
            <a:pPr lvl="1"/>
            <a:r>
              <a:rPr lang="pt-BR" sz="2200" dirty="0"/>
              <a:t>Comumente utilizado  como padrão para cálculos científicos, financeiros ou gerais em C, pois ele evita erros cumulativos de arredondamento</a:t>
            </a:r>
          </a:p>
        </p:txBody>
      </p:sp>
    </p:spTree>
    <p:extLst>
      <p:ext uri="{BB962C8B-B14F-4D97-AF65-F5344CB8AC3E}">
        <p14:creationId xmlns:p14="http://schemas.microsoft.com/office/powerpoint/2010/main" val="239477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86C5-19A3-B4B4-3F02-0CCBBA20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5A7E53-E396-0432-4EE1-A55B616E834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A1F473-F486-49AB-2551-9EADA4AA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Aritméticos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C1D408E-D98C-614D-D7C8-5E11D58CCB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E6B605-1839-78FD-6BDE-FC60D016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494004"/>
            <a:ext cx="11315163" cy="5231649"/>
          </a:xfrm>
        </p:spPr>
        <p:txBody>
          <a:bodyPr>
            <a:normAutofit lnSpcReduction="10000"/>
          </a:bodyPr>
          <a:lstStyle/>
          <a:p>
            <a:r>
              <a:rPr lang="pt-BR" sz="2400" b="1" dirty="0"/>
              <a:t>Servem para fazer cálculos básicos com valores numéricos:</a:t>
            </a:r>
          </a:p>
          <a:p>
            <a:endParaRPr lang="pt-BR" sz="2400" b="1" dirty="0"/>
          </a:p>
          <a:p>
            <a:pPr lvl="1"/>
            <a:r>
              <a:rPr lang="pt-BR" sz="2200" dirty="0"/>
              <a:t> Soma (+)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6 + 6=12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Subtração (-)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5 - 12 = -7 (Se o valor não for </a:t>
            </a:r>
            <a:r>
              <a:rPr lang="pt-BR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unsigned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Multiplicação (*)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4 * 5 = 20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Divisão (/)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5  /  2</a:t>
            </a:r>
            <a:r>
              <a:rPr lang="pt-BR" sz="2000" dirty="0"/>
              <a:t> = </a:t>
            </a:r>
            <a:r>
              <a:rPr lang="pt-BR" dirty="0"/>
              <a:t>2 (Se a variável for inteira)</a:t>
            </a: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Resto da divisão inteira (%)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5  %  2 = 1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Incremento (++)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Análogo à x = x+1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Decremento (--)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Análogo à x = x-1</a:t>
            </a:r>
          </a:p>
          <a:p>
            <a:pPr lvl="1"/>
            <a:endParaRPr lang="pt-BR" sz="2200" dirty="0"/>
          </a:p>
          <a:p>
            <a:pPr lvl="1"/>
            <a:endParaRPr lang="pt-BR" sz="2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4C368E-7C37-4892-1F45-ECFB2140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253" y="2504865"/>
            <a:ext cx="32099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40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A5F4-CEBA-9290-32C3-26A9D48A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6FC4CB-4375-E203-508B-2130FF2610A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FD98CE-BD7F-3841-4F6F-7DA2F45A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Conversão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9851253-B82B-0176-2AF9-0CC3BFA75F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E5D1ED6-03F0-830E-1A45-131AEA811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6584" y="1552074"/>
                <a:ext cx="8698832" cy="517357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operação de </a:t>
                </a:r>
                <a:r>
                  <a:rPr lang="pt-BR" sz="2400" i="1" dirty="0"/>
                  <a:t>casting </a:t>
                </a:r>
                <a:r>
                  <a:rPr lang="pt-BR" sz="2400" dirty="0"/>
                  <a:t>forçar o computador a mudar o tipo de dado de uma variável ou valor.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r>
                  <a:rPr lang="pt-BR" sz="2400" dirty="0"/>
                  <a:t>A operação é feita colocando o novo tipo entre parênteses </a:t>
                </a:r>
                <a:r>
                  <a:rPr lang="pt-BR" b="1" i="1" u="sng" dirty="0"/>
                  <a:t>(</a:t>
                </a:r>
                <a:r>
                  <a:rPr lang="pt-BR" sz="2400" b="1" i="1" u="sng" dirty="0"/>
                  <a:t>tipo</a:t>
                </a:r>
                <a:r>
                  <a:rPr lang="pt-BR" b="1" i="1" u="sng" dirty="0"/>
                  <a:t>)</a:t>
                </a:r>
                <a:r>
                  <a:rPr lang="pt-BR" sz="2400" b="1" i="1" u="sng" dirty="0"/>
                  <a:t> </a:t>
                </a:r>
                <a:r>
                  <a:rPr lang="pt-BR" sz="2400" dirty="0"/>
                  <a:t>logo antes do valor, por exemplo: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𝑛𝑡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5;</m:t>
                    </m:r>
                  </m:oMath>
                </a14:m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2;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𝑓𝑙𝑜𝑎𝑡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𝑟𝑒𝑠𝑢𝑙𝑡𝑎𝑑𝑜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𝑓𝑙𝑜𝑎𝑡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/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“</a:t>
                </a:r>
                <a:r>
                  <a:rPr lang="pt-BR" sz="2000" dirty="0">
                    <a:solidFill>
                      <a:srgbClr val="FF0000"/>
                    </a:solidFill>
                  </a:rPr>
                  <a:t>resultado” armazena o valor 2.5, ao invés de 2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dirty="0"/>
              </a:p>
              <a:p>
                <a:r>
                  <a:rPr lang="pt-BR" sz="2400" b="1" dirty="0"/>
                  <a:t>Observação: </a:t>
                </a:r>
                <a:r>
                  <a:rPr lang="pt-BR" sz="2400" dirty="0"/>
                  <a:t>A conversão  de </a:t>
                </a:r>
                <a:r>
                  <a:rPr lang="pt-BR" sz="2400" b="1" i="1" dirty="0" err="1"/>
                  <a:t>float</a:t>
                </a:r>
                <a:r>
                  <a:rPr lang="pt-BR" sz="2400" dirty="0"/>
                  <a:t> para </a:t>
                </a:r>
                <a:r>
                  <a:rPr lang="pt-BR" sz="2400" b="1" i="1" dirty="0" err="1"/>
                  <a:t>int</a:t>
                </a:r>
                <a:r>
                  <a:rPr lang="pt-BR" sz="2400" dirty="0"/>
                  <a:t> resulta na perda de todas as casas decimais.</a:t>
                </a:r>
              </a:p>
              <a:p>
                <a:endParaRPr lang="pt-BR" sz="2400" b="1" i="1" u="sng" dirty="0"/>
              </a:p>
              <a:p>
                <a:pPr marL="457200" lvl="1" indent="0">
                  <a:buNone/>
                </a:pPr>
                <a:endParaRPr lang="pt-BR" sz="2100" b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E5D1ED6-03F0-830E-1A45-131AEA811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6584" y="1552074"/>
                <a:ext cx="8698832" cy="5173578"/>
              </a:xfrm>
              <a:blipFill>
                <a:blip r:embed="rId3"/>
                <a:stretch>
                  <a:fillRect l="-982" t="-16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85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4B57-9809-B8EF-0C7F-AE647212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6077B58-1486-08CA-BCC5-A2E484F1859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5C159-1A8A-6D6A-5F80-5E350E84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Conversão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95727F2-01D1-9623-4246-E33ECC52CC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A7C7E3-4743-59FF-8FE8-886B0E6D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576135"/>
            <a:ext cx="10475997" cy="513223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É possível fazer o casting entre os tipos primitivos,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Entre Inteiros e Reais (vice-versa)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Entre Inteiros de Tamanhos Diferentes (</a:t>
            </a:r>
            <a:r>
              <a:rPr lang="pt-BR" sz="2200" b="1" i="1" dirty="0"/>
              <a:t>short/</a:t>
            </a:r>
            <a:r>
              <a:rPr lang="pt-BR" sz="2200" b="1" i="1" dirty="0" err="1"/>
              <a:t>long</a:t>
            </a:r>
            <a:r>
              <a:rPr lang="pt-BR" sz="2200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Caracteres e Números (</a:t>
            </a:r>
            <a:r>
              <a:rPr lang="pt-BR" sz="2200" b="1" i="1" dirty="0"/>
              <a:t>char</a:t>
            </a:r>
            <a:r>
              <a:rPr lang="pt-BR" sz="2200" dirty="0"/>
              <a:t> pode passar para </a:t>
            </a:r>
            <a:r>
              <a:rPr lang="pt-BR" sz="2200" b="1" i="1" dirty="0" err="1"/>
              <a:t>int</a:t>
            </a:r>
            <a:r>
              <a:rPr lang="pt-BR" sz="2200" dirty="0"/>
              <a:t> usando o valor da tabela ASCII)</a:t>
            </a:r>
          </a:p>
          <a:p>
            <a:pPr marL="800100" lvl="1" indent="-342900">
              <a:buFont typeface="+mj-lt"/>
              <a:buAutoNum type="arabicPeriod"/>
            </a:pPr>
            <a:endParaRPr lang="pt-BR" sz="2200" dirty="0"/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Também é permitido fazer casting entre Ponteiros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 err="1"/>
              <a:t>int</a:t>
            </a:r>
            <a:r>
              <a:rPr lang="pt-BR" sz="2200" i="1" dirty="0"/>
              <a:t>*</a:t>
            </a:r>
            <a:r>
              <a:rPr lang="pt-BR" sz="2200" dirty="0"/>
              <a:t> para </a:t>
            </a:r>
            <a:r>
              <a:rPr lang="pt-BR" sz="2200" i="1" dirty="0"/>
              <a:t>char*</a:t>
            </a:r>
            <a:r>
              <a:rPr lang="pt-BR" sz="2200" dirty="0"/>
              <a:t>  (exige cuidado para evitar erros de acesso à memória)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514350" indent="-514350">
              <a:buFont typeface="+mj-lt"/>
              <a:buAutoNum type="arabicPeriod"/>
            </a:pPr>
            <a:r>
              <a:rPr lang="pt-BR" sz="2400" dirty="0"/>
              <a:t>Não é permitido o casting entre tipos primitivos e tipos complexos (como o </a:t>
            </a:r>
            <a:r>
              <a:rPr lang="pt-BR" sz="2400" dirty="0" err="1"/>
              <a:t>struct</a:t>
            </a:r>
            <a:r>
              <a:rPr lang="pt-BR" sz="2400" dirty="0"/>
              <a:t>), nem a conversão de </a:t>
            </a:r>
            <a:r>
              <a:rPr lang="pt-BR" sz="2400" dirty="0" err="1"/>
              <a:t>strings</a:t>
            </a:r>
            <a:r>
              <a:rPr lang="pt-BR" sz="2400" dirty="0"/>
              <a:t>  para valores numéricos </a:t>
            </a:r>
          </a:p>
          <a:p>
            <a:pPr marL="800100" lvl="1" indent="-342900">
              <a:buFont typeface="+mj-lt"/>
              <a:buAutoNum type="arabicPeriod"/>
            </a:pPr>
            <a:endParaRPr lang="pt-BR" sz="1700" b="1" dirty="0"/>
          </a:p>
        </p:txBody>
      </p:sp>
    </p:spTree>
    <p:extLst>
      <p:ext uri="{BB962C8B-B14F-4D97-AF65-F5344CB8AC3E}">
        <p14:creationId xmlns:p14="http://schemas.microsoft.com/office/powerpoint/2010/main" val="3165639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E60E-ABD9-D32E-5264-751299B3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77D9FB-4DD9-3E7A-4A5C-8F654CD64D2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4C01A-1C31-EE76-5753-99FB3CE5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72043A7-9CC2-8022-2E96-1F1463062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9319CF-7399-E27E-5AC4-1D6548DC1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As operações de entrada e saída (E/S) em C utilizam a biblioteca padrão &lt;</a:t>
            </a:r>
            <a:r>
              <a:rPr lang="pt-BR" sz="2400" dirty="0" err="1"/>
              <a:t>stdio.h</a:t>
            </a:r>
            <a:r>
              <a:rPr lang="pt-BR" sz="2400" dirty="0"/>
              <a:t>&gt;</a:t>
            </a:r>
          </a:p>
          <a:p>
            <a:r>
              <a:rPr lang="pt-BR" sz="2400" dirty="0"/>
              <a:t>A saída de dados na tela é feita com a função </a:t>
            </a:r>
            <a:r>
              <a:rPr lang="pt-BR" sz="2400" b="1" i="1" dirty="0" err="1"/>
              <a:t>printf</a:t>
            </a:r>
            <a:r>
              <a:rPr lang="pt-BR" sz="2400" b="1" i="1" dirty="0"/>
              <a:t>():</a:t>
            </a:r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Especificadores de formato são utilizados na função para definir onde o valor de uma variável deve ser inserido e como essa variável será exibida em uma </a:t>
            </a:r>
            <a:r>
              <a:rPr lang="pt-BR" sz="2400" b="1" dirty="0" err="1"/>
              <a:t>String</a:t>
            </a:r>
            <a:r>
              <a:rPr lang="pt-BR" sz="2400" dirty="0"/>
              <a:t> (de acordo com o tipo)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6CF86BA-CD15-4345-C3F4-FA6E2ED3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54" b="31625"/>
          <a:stretch>
            <a:fillRect/>
          </a:stretch>
        </p:blipFill>
        <p:spPr>
          <a:xfrm>
            <a:off x="1397418" y="3128127"/>
            <a:ext cx="5541324" cy="17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22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2A8DB-5FF5-3D71-5511-7B7F6B99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A23D10D-F0FE-961D-EC87-23B3F963DA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33DA47-FB95-ECBD-3DD7-D5CD0D5F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F934E71-5F6F-BD04-A7A3-C169F9464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12E6CA-54CC-049C-CCB8-A961DE78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b="1" dirty="0"/>
              <a:t>Especificadores de formato: </a:t>
            </a:r>
            <a:r>
              <a:rPr lang="pt-BR" sz="2400" dirty="0"/>
              <a:t>são códigos iniciados por % usados para indicar o tipo de dado que o programa vai ler ou mostrar na tela. São eles:</a:t>
            </a:r>
          </a:p>
          <a:p>
            <a:endParaRPr lang="pt-BR" sz="2200" b="1" i="1" dirty="0"/>
          </a:p>
          <a:p>
            <a:pPr lvl="1"/>
            <a:r>
              <a:rPr lang="pt-BR" sz="2200" b="1" dirty="0"/>
              <a:t>%d (ou %i)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inteiro decimal</a:t>
            </a:r>
            <a:endParaRPr lang="pt-BR" sz="2200" b="1" dirty="0"/>
          </a:p>
          <a:p>
            <a:pPr lvl="1"/>
            <a:r>
              <a:rPr lang="pt-BR" sz="2200" b="1" dirty="0"/>
              <a:t>%f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real de ponto flutuante</a:t>
            </a:r>
            <a:endParaRPr lang="pt-BR" sz="2200" b="1" dirty="0"/>
          </a:p>
          <a:p>
            <a:pPr lvl="1"/>
            <a:r>
              <a:rPr lang="pt-BR" sz="2200" b="1" dirty="0"/>
              <a:t>%</a:t>
            </a:r>
            <a:r>
              <a:rPr lang="pt-BR" sz="2200" b="1" dirty="0" err="1"/>
              <a:t>lf</a:t>
            </a:r>
            <a:r>
              <a:rPr lang="pt-BR" sz="2200" b="1" dirty="0"/>
              <a:t>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real de dupla precisão (</a:t>
            </a:r>
            <a:r>
              <a:rPr lang="pt-BR" sz="2200" i="1" dirty="0" err="1"/>
              <a:t>double</a:t>
            </a:r>
            <a:r>
              <a:rPr lang="pt-BR" sz="2200" dirty="0"/>
              <a:t>)</a:t>
            </a:r>
            <a:endParaRPr lang="pt-BR" sz="2200" b="1" dirty="0"/>
          </a:p>
          <a:p>
            <a:pPr lvl="1"/>
            <a:r>
              <a:rPr lang="pt-BR" sz="2200" b="1" dirty="0"/>
              <a:t>%c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Um único caractere</a:t>
            </a:r>
            <a:endParaRPr lang="pt-BR" sz="2200" b="1" dirty="0"/>
          </a:p>
          <a:p>
            <a:pPr lvl="1"/>
            <a:r>
              <a:rPr lang="pt-BR" sz="2200" b="1" dirty="0"/>
              <a:t>%s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Cadeia de caracteres</a:t>
            </a:r>
            <a:endParaRPr lang="pt-BR" sz="2200" b="1" dirty="0"/>
          </a:p>
          <a:p>
            <a:pPr lvl="1"/>
            <a:r>
              <a:rPr lang="pt-BR" sz="2200" b="1" dirty="0"/>
              <a:t>%u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decimal sem sinal</a:t>
            </a:r>
            <a:endParaRPr lang="pt-BR" sz="2200" b="1" dirty="0"/>
          </a:p>
          <a:p>
            <a:pPr lvl="1"/>
            <a:r>
              <a:rPr lang="pt-BR" sz="2200" b="1" dirty="0"/>
              <a:t>%o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em formato octal</a:t>
            </a:r>
            <a:endParaRPr lang="pt-BR" sz="2200" b="1" dirty="0"/>
          </a:p>
          <a:p>
            <a:pPr lvl="1"/>
            <a:r>
              <a:rPr lang="pt-BR" sz="2200" b="1" dirty="0"/>
              <a:t>%x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Número em formato hexadecimal</a:t>
            </a:r>
          </a:p>
          <a:p>
            <a:pPr lvl="1"/>
            <a:r>
              <a:rPr lang="pt-BR" sz="2200" b="1" dirty="0"/>
              <a:t>%p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Endereço de memória de um ponteiro</a:t>
            </a:r>
          </a:p>
          <a:p>
            <a:pPr lvl="1"/>
            <a:endParaRPr lang="pt-BR" sz="20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</p:spTree>
    <p:extLst>
      <p:ext uri="{BB962C8B-B14F-4D97-AF65-F5344CB8AC3E}">
        <p14:creationId xmlns:p14="http://schemas.microsoft.com/office/powerpoint/2010/main" val="554264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AEB4-E3B3-8F6F-F6ED-9AD32EA3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AC75E49-528F-F290-E926-463B8EE075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072A52-DADE-14B4-BE31-BFEEC72E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6B6617B-8F7B-A04E-715D-B35CB3F60B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6640E8-C00D-FF14-9248-9BFAE856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 entrada de dados no teclado é feita com a função </a:t>
            </a:r>
            <a:r>
              <a:rPr lang="pt-BR" sz="2400" b="1" i="1" dirty="0" err="1"/>
              <a:t>scanf</a:t>
            </a:r>
            <a:r>
              <a:rPr lang="pt-BR" sz="2400" b="1" i="1" dirty="0"/>
              <a:t>():</a:t>
            </a:r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A função utiliza o especificador de formato para definir como tratar o valor de entrada.</a:t>
            </a:r>
          </a:p>
          <a:p>
            <a:r>
              <a:rPr lang="pt-BR" sz="2400" dirty="0"/>
              <a:t>Em sequencia, a função armazena a entrada na variável definida, utilizando a referência ao </a:t>
            </a:r>
            <a:r>
              <a:rPr lang="pt-BR" sz="2400" b="1" dirty="0"/>
              <a:t>endereço de memória </a:t>
            </a:r>
            <a:r>
              <a:rPr lang="pt-BR" sz="2400" dirty="0"/>
              <a:t>associado à variável (&amp;a).</a:t>
            </a:r>
            <a:endParaRPr lang="pt-BR" sz="24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67E36F-01FF-4000-BBB2-1DA0DE9AE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36" y="2649956"/>
            <a:ext cx="52387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93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3102</Words>
  <Application>Microsoft Office PowerPoint</Application>
  <PresentationFormat>Widescreen</PresentationFormat>
  <Paragraphs>438</Paragraphs>
  <Slides>27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MÓDULO 2 – LINGUAGEM C </vt:lpstr>
      <vt:lpstr>Linguagem C</vt:lpstr>
      <vt:lpstr>Ciclo de Desenvolvimento</vt:lpstr>
      <vt:lpstr>Pré-Processador</vt:lpstr>
      <vt:lpstr>Compilador</vt:lpstr>
      <vt:lpstr>Montagem</vt:lpstr>
      <vt:lpstr>Linkagem</vt:lpstr>
      <vt:lpstr>Linkagem (Observação)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Palavras reservadas</vt:lpstr>
      <vt:lpstr>Constantes e Variáveis</vt:lpstr>
      <vt:lpstr>Constantes e Variáveis</vt:lpstr>
      <vt:lpstr>Tipos Primitivos</vt:lpstr>
      <vt:lpstr>Modificadores de tipos</vt:lpstr>
      <vt:lpstr>Faixa de valores para os tipos de dados</vt:lpstr>
      <vt:lpstr>Observação</vt:lpstr>
      <vt:lpstr>Operadores Aritméticos</vt:lpstr>
      <vt:lpstr>Conversão de Tipos</vt:lpstr>
      <vt:lpstr>Conversão de Tipos</vt:lpstr>
      <vt:lpstr>Operações de Entrada e Saída</vt:lpstr>
      <vt:lpstr>Operações de Entrada e Saída</vt:lpstr>
      <vt:lpstr>Operações de Entrada e Saída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Ramos</cp:lastModifiedBy>
  <cp:revision>101</cp:revision>
  <dcterms:created xsi:type="dcterms:W3CDTF">2026-07-26T12:48:37Z</dcterms:created>
  <dcterms:modified xsi:type="dcterms:W3CDTF">2026-10-05T23:14:04Z</dcterms:modified>
</cp:coreProperties>
</file>