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4" r:id="rId2"/>
  </p:sldMasterIdLst>
  <p:notesMasterIdLst>
    <p:notesMasterId r:id="rId13"/>
  </p:notesMasterIdLst>
  <p:sldIdLst>
    <p:sldId id="307" r:id="rId3"/>
    <p:sldId id="309" r:id="rId4"/>
    <p:sldId id="311" r:id="rId5"/>
    <p:sldId id="322" r:id="rId6"/>
    <p:sldId id="325" r:id="rId7"/>
    <p:sldId id="323" r:id="rId8"/>
    <p:sldId id="326" r:id="rId9"/>
    <p:sldId id="324" r:id="rId10"/>
    <p:sldId id="327" r:id="rId11"/>
    <p:sldId id="321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FFFFFF"/>
    <a:srgbClr val="172C51"/>
    <a:srgbClr val="7DA7D8"/>
    <a:srgbClr val="2F8D46"/>
    <a:srgbClr val="E1FFE7"/>
    <a:srgbClr val="418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9374" autoAdjust="0"/>
  </p:normalViewPr>
  <p:slideViewPr>
    <p:cSldViewPr snapToGrid="0">
      <p:cViewPr varScale="1">
        <p:scale>
          <a:sx n="79" d="100"/>
          <a:sy n="79" d="100"/>
        </p:scale>
        <p:origin x="1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03497-8374-466E-85FA-95E1138D8F6E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36A49-A1DD-40F8-B8AD-E6F5365256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02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E6A6C-4C26-65C3-6FE4-78F80AC27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280B0AB-DAAD-0F0C-64A5-30C4C6D8D6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683D4E3-B254-14E5-FB80-B6DE545867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F0CF4A9-8229-54B0-3693-37332ED098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80332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E370E-0AF5-597F-325E-2CB673B69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C89A2B6-4B88-54BE-1B78-A9129796D6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CFA35D1-0C36-5009-343E-65C3BAD069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5A241A9-B91A-143E-8FC7-551F57024A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8520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69599-9B20-A00D-C3E5-D1CD33DF3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FCC81BD-CA86-E6D9-12AA-C20BD1049C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94B7CF5-864D-4194-95A0-F4586F822F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B953E0-C94C-D273-19DC-1438084C27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2754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581D7-3602-EA86-9826-AEDFBE73A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71FBA26-DB49-2960-2B42-941DF5C7D8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E7B9165-58A6-C2F0-A349-386076830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03842CB-1154-2350-DD07-17BD924190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1110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7B579-13A2-23E5-9BD0-EE1D17887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460A13A-8963-6FD5-11E5-704FFAFFD7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21E72AC-3E2F-F36A-2D08-21834C14FB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E050F9E-30C5-22AA-1086-6625B68B13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74688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E8678-024B-EF15-CA82-FDCB53BB6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158C0DF-6738-A095-7503-6A61FE1174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BA4FF75-F0B7-B1B9-36A2-C46000FA19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2220601-00CB-7275-FD32-73111827E1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5789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9ED0C-F59A-CE01-1EE6-D483E498C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3573830-8B84-1547-0B61-742ABEFB29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0D1376B-500E-6315-31D8-BB079A5FCE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3D40518-7365-2CB8-76CC-52447BACF4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54899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42A03-8A09-C78E-A473-2D831E003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2D73780-B37F-828A-4111-E03A442D87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372CD58-E136-0FF2-FE99-DD8AECF989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D18EF9D-3390-4A2C-CAFD-8137B303C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45299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C8612-8EA9-CE69-E204-0CB4A2881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79A9D82-9E5F-ACBD-F8EA-81D9EAD220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9D34913-744B-1418-1370-44BC352526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70BA993-0462-549A-1B19-A9E4448497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7888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9B856-A0BC-D210-1737-D966320C0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33AAC6-2469-CA4A-EC71-9377AF26B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A0F87A-0C4B-6CED-A923-69297968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A1D701-1F2B-F9DB-3467-1E702506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D3A131-BC6D-009A-1316-11C0D511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44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3BFD2-F256-47DF-B808-ACC0E3CF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B715E3-1B62-B718-0545-18D1860ED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0F8541-A06F-A96B-9C7B-7B6775D69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9E2F6F-2F51-FB58-B282-FF6552915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4CA48A-0835-7D5D-0C5C-4C7E737E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7B632-00A4-041E-134C-3945EC5F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8B5D6A-FCFF-76AF-3B41-CBCC1C30C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A63B6D-65C2-A8BA-7A75-E7BFF8AE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2149EC-9298-99F7-4DF2-9F897526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D0D51F-3496-83FE-F993-6F3C5B11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549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30C98-DF9F-EDDF-13FE-19484E4CE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DBEED7-86EF-7D00-9D5B-35BED814D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4CFBCA-7118-0084-2BFD-AB37CB71E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1CCABC-FE63-8FD2-5554-56984A3C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8125A-07B7-CBA7-1A67-B800BA64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3A3AF-1DE0-4AD3-272B-485CC6D8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332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E8815-ABA0-CB0F-583F-E97EB7B5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E8AD69-3F40-C1E3-9580-6371DC13C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D54DCD-A467-392C-7882-9A1F2699C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F29C69-1D15-E7B8-95EE-E358ABDD2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DD9B3A3-CEB4-374A-3FA1-C3BD23A5E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B6B5B5-5DE0-2665-4666-5A565F02F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72278B-CB99-E2F9-7531-401CE1BF3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50092DA-D538-B982-0833-39924176B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19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64F77-C07B-657B-DE18-927ED3DD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F6EABF-1DF7-2F1B-A964-4AFF9283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9E70771-5A68-7380-1FAC-A7D89E01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58ABD1-E925-1590-6C8E-DFC75A7B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11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C0372F4-7179-777F-1E51-88AB1A64E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7D26EF-C956-F4CD-8145-1C415DFC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3EA769-C25E-4FD8-7E9E-E604C852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33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A3AA1-798F-3AA2-B6BB-62D9B3824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8C13AA-9014-6117-7A37-A036F09F8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4FAC68-54B7-EFCE-9620-BC6F67419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950BCB-3838-1B1C-112C-A644060F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8779FA-261C-A76B-DBC7-DB58B8C1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B5AFCC-7631-7153-2CC4-B4689FB8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81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E3E92-DCFD-D54F-EB9D-EF97B898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CA9DF57-38D6-FEBE-B65C-3AF4E429E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17E586-D1EC-101C-F876-DEE5A2C81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655D0E-B1E7-844D-7A98-DA49B4EC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538A87-1978-7251-4706-04805D27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910AE-1487-27DE-EE72-B1B0DB53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33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4BC46-0BF2-E806-F16A-DB5D201D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D14E5E-509B-F711-3B25-614C8C3BC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81C6A8-9DA7-0C1F-372D-B2C9FD24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FE38E9-C9A5-2C3E-744D-E323F97B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D1C984-499C-C6BA-9715-0B7BEAC9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243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40F235-1569-6ED0-A5F0-7DA432452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DB6C81-CE19-AE0C-8D05-2FBC65679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D43C4D-693E-5D37-DE0F-919B77DE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D2A9D6-4B21-E9D7-968B-F18C6469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010A06-B61B-8C4F-3894-CA75C019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486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257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358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572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68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748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93288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9982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8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87E3B6E-8316-4A1C-BADA-DB7F3456EEF1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544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998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94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29C4ED7-C003-33C2-9CEB-2E975031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30AEA1-DE82-52D0-65A9-766B9E2D2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2E4FEE-859A-D6B3-CF41-EDFF0B1CDE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9F3FAC-49A4-4E94-C84A-41786DC2C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435549-C584-1997-7B0B-6DC079118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694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91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2FD76-F19C-3B8C-0470-C7D142601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2B873-06AF-C3DE-2B4B-567D739D1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/>
              <a:t>MÓDULO 7 – matrizes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B3AE6F-2432-A013-F69D-065ABFAD09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0393744B-665F-C7B8-E211-4FDD9DDA5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6744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27E4C-5AD4-C29D-16D9-8F1B01DEE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0C5335F-DD51-6910-390A-D7E780E8D7DC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15FD6E1-4085-8019-7523-D504C8D8E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Matriz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7EAD2AB3-FC19-84DD-2107-4EB1CBD799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5">
                <a:extLst>
                  <a:ext uri="{FF2B5EF4-FFF2-40B4-BE49-F238E27FC236}">
                    <a16:creationId xmlns:a16="http://schemas.microsoft.com/office/drawing/2014/main" id="{675DCFF3-AB50-1B87-6E88-FBE2EF735A0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9224" y="1800209"/>
                <a:ext cx="5614059" cy="476955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sz="2400" dirty="0"/>
                  <a:t>Podemos definir a matriz como uma extensão bidimensional dos vetores</a:t>
                </a:r>
              </a:p>
              <a:p>
                <a:endParaRPr lang="pt-BR" sz="2400" dirty="0"/>
              </a:p>
              <a:p>
                <a:r>
                  <a:rPr lang="pt-BR" sz="2400" dirty="0"/>
                  <a:t>A Matriz é declarada como um vetor com 2 dimensões:</a:t>
                </a:r>
              </a:p>
              <a:p>
                <a:pPr marL="0" indent="0">
                  <a:buNone/>
                </a:pPr>
                <a:endParaRPr lang="pt-BR" sz="24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i="1" dirty="0">
                          <a:latin typeface="Cambria Math" panose="02040503050406030204" pitchFamily="18" charset="0"/>
                        </a:rPr>
                        <m:t>𝑡𝑖𝑝𝑜</m:t>
                      </m:r>
                      <m:r>
                        <a:rPr lang="pt-BR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000" i="1" dirty="0">
                          <a:latin typeface="Cambria Math" panose="02040503050406030204" pitchFamily="18" charset="0"/>
                        </a:rPr>
                        <m:t>𝑣𝑒𝑡𝑜𝑟</m:t>
                      </m:r>
                      <m:r>
                        <a:rPr lang="pt-BR" sz="2000" i="1" dirty="0">
                          <a:latin typeface="Cambria Math" panose="02040503050406030204" pitchFamily="18" charset="0"/>
                        </a:rPr>
                        <m:t> [</m:t>
                      </m:r>
                      <m:r>
                        <a:rPr lang="pt-BR" sz="2000" b="0" i="1" dirty="0" smtClean="0">
                          <a:latin typeface="Cambria Math" panose="02040503050406030204" pitchFamily="18" charset="0"/>
                        </a:rPr>
                        <m:t>𝑙𝑖𝑛h𝑎𝑠</m:t>
                      </m:r>
                      <m:r>
                        <a:rPr lang="pt-BR" sz="2000" i="1" dirty="0">
                          <a:latin typeface="Cambria Math" panose="02040503050406030204" pitchFamily="18" charset="0"/>
                        </a:rPr>
                        <m:t>] [</m:t>
                      </m:r>
                      <m:r>
                        <a:rPr lang="pt-BR" sz="2000" b="0" i="1" dirty="0" smtClean="0">
                          <a:latin typeface="Cambria Math" panose="02040503050406030204" pitchFamily="18" charset="0"/>
                        </a:rPr>
                        <m:t>𝑐𝑜𝑙𝑢𝑛𝑎𝑠</m:t>
                      </m:r>
                      <m:r>
                        <a:rPr lang="pt-BR" sz="2000" i="1" dirty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pt-BR" sz="2000" dirty="0"/>
              </a:p>
              <a:p>
                <a:pPr marL="457200" lvl="1" indent="0">
                  <a:buNone/>
                </a:pPr>
                <a:endParaRPr lang="pt-BR" dirty="0"/>
              </a:p>
              <a:p>
                <a:r>
                  <a:rPr lang="pt-BR" sz="2000" b="1" i="1" dirty="0"/>
                  <a:t>Observação</a:t>
                </a:r>
                <a:r>
                  <a:rPr lang="pt-BR" sz="2000" i="1" dirty="0"/>
                  <a:t>: Não existe um limite para o número de dimensões de um vetor.</a:t>
                </a:r>
              </a:p>
              <a:p>
                <a:pPr marL="0" indent="0">
                  <a:buNone/>
                </a:pPr>
                <a:endParaRPr lang="pt-BR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i="1" dirty="0">
                          <a:latin typeface="Cambria Math" panose="02040503050406030204" pitchFamily="18" charset="0"/>
                        </a:rPr>
                        <m:t>𝑡𝑖𝑝𝑜</m:t>
                      </m:r>
                      <m:r>
                        <a:rPr lang="pt-BR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000" i="1" dirty="0">
                          <a:latin typeface="Cambria Math" panose="02040503050406030204" pitchFamily="18" charset="0"/>
                        </a:rPr>
                        <m:t>𝑣𝑒𝑡𝑜𝑟</m:t>
                      </m:r>
                      <m:r>
                        <a:rPr lang="pt-BR" sz="2000" i="1" dirty="0">
                          <a:latin typeface="Cambria Math" panose="02040503050406030204" pitchFamily="18" charset="0"/>
                        </a:rPr>
                        <m:t> [</m:t>
                      </m:r>
                      <m:r>
                        <m:rPr>
                          <m:sty m:val="p"/>
                        </m:rPr>
                        <a:rPr lang="pt-BR" sz="2000" i="1" dirty="0">
                          <a:latin typeface="Cambria Math" panose="02040503050406030204" pitchFamily="18" charset="0"/>
                        </a:rPr>
                        <m:t>dim</m:t>
                      </m:r>
                      <m:r>
                        <a:rPr lang="pt-BR" sz="2000" i="1" dirty="0">
                          <a:latin typeface="Cambria Math" panose="02040503050406030204" pitchFamily="18" charset="0"/>
                        </a:rPr>
                        <m:t>1] [</m:t>
                      </m:r>
                      <m:r>
                        <m:rPr>
                          <m:sty m:val="p"/>
                        </m:rPr>
                        <a:rPr lang="pt-BR" sz="2000" i="1" dirty="0">
                          <a:latin typeface="Cambria Math" panose="02040503050406030204" pitchFamily="18" charset="0"/>
                        </a:rPr>
                        <m:t>dim</m:t>
                      </m:r>
                      <m:r>
                        <a:rPr lang="pt-BR" sz="2000" i="1" dirty="0">
                          <a:latin typeface="Cambria Math" panose="02040503050406030204" pitchFamily="18" charset="0"/>
                        </a:rPr>
                        <m:t>2] […] [</m:t>
                      </m:r>
                      <m:r>
                        <m:rPr>
                          <m:sty m:val="p"/>
                        </m:rPr>
                        <a:rPr lang="pt-BR" sz="2000" i="1" dirty="0" err="1">
                          <a:latin typeface="Cambria Math" panose="02040503050406030204" pitchFamily="18" charset="0"/>
                        </a:rPr>
                        <m:t>dim</m:t>
                      </m:r>
                      <m:r>
                        <a:rPr lang="pt-BR" sz="2000" i="1" dirty="0" err="1">
                          <a:latin typeface="Cambria Math" panose="02040503050406030204" pitchFamily="18" charset="0"/>
                        </a:rPr>
                        <m:t>⁡_</m:t>
                      </m:r>
                      <m:r>
                        <a:rPr lang="pt-BR" sz="2000" i="1" dirty="0" err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000" i="1" dirty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pt-BR" sz="2000" dirty="0"/>
              </a:p>
              <a:p>
                <a:endParaRPr lang="pt-BR" sz="2000" i="1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3" name="Espaço Reservado para Conteúdo 5">
                <a:extLst>
                  <a:ext uri="{FF2B5EF4-FFF2-40B4-BE49-F238E27FC236}">
                    <a16:creationId xmlns:a16="http://schemas.microsoft.com/office/drawing/2014/main" id="{675DCFF3-AB50-1B87-6E88-FBE2EF735A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24" y="1800209"/>
                <a:ext cx="5614059" cy="4769555"/>
              </a:xfrm>
              <a:prstGeom prst="rect">
                <a:avLst/>
              </a:prstGeom>
              <a:blipFill>
                <a:blip r:embed="rId3"/>
                <a:stretch>
                  <a:fillRect l="-1412" t="-1788" r="-97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m 5">
            <a:extLst>
              <a:ext uri="{FF2B5EF4-FFF2-40B4-BE49-F238E27FC236}">
                <a16:creationId xmlns:a16="http://schemas.microsoft.com/office/drawing/2014/main" id="{DA1BE6A3-4C4C-5578-AB4F-ED592DE045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2895" y="2217824"/>
            <a:ext cx="4659493" cy="2980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718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5E2CF-278E-A1FA-8156-C65A1AC0C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8ABDDC8-4A59-B5D3-A39C-05684D4DE88F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8C22BE3-64B1-A4B1-3713-1D7C92F94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Declaração de Matriz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8D1FA942-B82D-F234-F754-AE705EFA46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5">
                <a:extLst>
                  <a:ext uri="{FF2B5EF4-FFF2-40B4-BE49-F238E27FC236}">
                    <a16:creationId xmlns:a16="http://schemas.microsoft.com/office/drawing/2014/main" id="{13718546-5958-4D49-1EAE-C56F24C1DEB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36394" y="1933558"/>
                <a:ext cx="8624011" cy="476955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sz="2400" dirty="0"/>
                  <a:t>A declaração de uma matriz segue a seguinte estrutura:</a:t>
                </a:r>
              </a:p>
              <a:p>
                <a:pPr marL="0" indent="0">
                  <a:buNone/>
                </a:pPr>
                <a:endParaRPr lang="pt-BR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𝑡𝑖𝑝𝑜</m:t>
                      </m:r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400" b="0" i="1" dirty="0" smtClean="0">
                          <a:latin typeface="Cambria Math" panose="02040503050406030204" pitchFamily="18" charset="0"/>
                        </a:rPr>
                        <m:t>𝑛𝑜𝑚𝑒</m:t>
                      </m:r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pt-BR" sz="2400" i="1" dirty="0">
                          <a:latin typeface="Cambria Math" panose="02040503050406030204" pitchFamily="18" charset="0"/>
                        </a:rPr>
                        <m:t>dim</m:t>
                      </m:r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1] [</m:t>
                      </m:r>
                      <m:r>
                        <m:rPr>
                          <m:sty m:val="p"/>
                        </m:rPr>
                        <a:rPr lang="pt-BR" sz="2400" i="1" dirty="0">
                          <a:latin typeface="Cambria Math" panose="02040503050406030204" pitchFamily="18" charset="0"/>
                        </a:rPr>
                        <m:t>dim</m:t>
                      </m:r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2]</m:t>
                      </m:r>
                    </m:oMath>
                  </m:oMathPara>
                </a14:m>
                <a:endParaRPr lang="pt-BR" sz="2400" dirty="0"/>
              </a:p>
              <a:p>
                <a:endParaRPr lang="pt-BR" sz="2400" b="1" i="1" dirty="0"/>
              </a:p>
              <a:p>
                <a:r>
                  <a:rPr lang="pt-BR" sz="2400" b="1" i="1" dirty="0"/>
                  <a:t>dim1</a:t>
                </a:r>
                <a:r>
                  <a:rPr lang="pt-BR" sz="2400" dirty="0"/>
                  <a:t> – indica a quantidade de ‘linhas’ da matriz.</a:t>
                </a:r>
              </a:p>
              <a:p>
                <a:r>
                  <a:rPr lang="pt-BR" sz="2400" b="1" i="1" dirty="0"/>
                  <a:t>dim2</a:t>
                </a:r>
                <a:r>
                  <a:rPr lang="pt-BR" sz="2400" dirty="0"/>
                  <a:t> – indica a quantidade de ‘colunas’ da matriz.</a:t>
                </a:r>
              </a:p>
              <a:p>
                <a:pPr marL="0" indent="0">
                  <a:buNone/>
                </a:pPr>
                <a:endParaRPr lang="pt-BR" sz="2400" dirty="0"/>
              </a:p>
              <a:p>
                <a:r>
                  <a:rPr lang="pt-BR" sz="2400" dirty="0"/>
                  <a:t>Assim como os vetores unidimensionais, a matriz é uma estrutura que armazena diferentes valores de um </a:t>
                </a:r>
                <a:r>
                  <a:rPr lang="pt-BR" sz="2400" u="sng" dirty="0"/>
                  <a:t>mesmo tipo</a:t>
                </a:r>
              </a:p>
            </p:txBody>
          </p:sp>
        </mc:Choice>
        <mc:Fallback xmlns="">
          <p:sp>
            <p:nvSpPr>
              <p:cNvPr id="3" name="Espaço Reservado para Conteúdo 5">
                <a:extLst>
                  <a:ext uri="{FF2B5EF4-FFF2-40B4-BE49-F238E27FC236}">
                    <a16:creationId xmlns:a16="http://schemas.microsoft.com/office/drawing/2014/main" id="{13718546-5958-4D49-1EAE-C56F24C1DE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6394" y="1933558"/>
                <a:ext cx="8624011" cy="4769555"/>
              </a:xfrm>
              <a:prstGeom prst="rect">
                <a:avLst/>
              </a:prstGeom>
              <a:blipFill>
                <a:blip r:embed="rId3"/>
                <a:stretch>
                  <a:fillRect l="-990" t="-1788" r="-63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Manipulando Vetores - Linguagem C: Resumo e Exercícios | Responde Aí">
            <a:extLst>
              <a:ext uri="{FF2B5EF4-FFF2-40B4-BE49-F238E27FC236}">
                <a16:creationId xmlns:a16="http://schemas.microsoft.com/office/drawing/2014/main" id="{6EF31897-00B7-D3CF-1332-2AB7E5E97E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0199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3E18E-D87E-0FAA-74F0-228CB924B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21E9B3D-762D-4D32-8120-BA68A56F3137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D6D0434-2776-B156-0584-775A88C68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Leitura de uma Matriz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E1F6C28C-A883-DE87-7A94-3A421B04EB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564FEAFD-B61E-7B87-AC96-020FF1980989}"/>
              </a:ext>
            </a:extLst>
          </p:cNvPr>
          <p:cNvSpPr txBox="1">
            <a:spLocks/>
          </p:cNvSpPr>
          <p:nvPr/>
        </p:nvSpPr>
        <p:spPr>
          <a:xfrm>
            <a:off x="1783994" y="1638282"/>
            <a:ext cx="8624011" cy="4769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dirty="0"/>
              <a:t>Utilização de um duplo </a:t>
            </a:r>
            <a:r>
              <a:rPr lang="pt-BR" sz="2400" i="1" dirty="0"/>
              <a:t>for</a:t>
            </a:r>
            <a:r>
              <a:rPr lang="pt-BR" sz="2400" dirty="0"/>
              <a:t>:</a:t>
            </a:r>
          </a:p>
          <a:p>
            <a:pPr algn="ctr"/>
            <a:r>
              <a:rPr lang="pt-BR" sz="2400" i="1" u="sng" dirty="0"/>
              <a:t>O primeiro faz a leitura das linhas e o segundo das colunas</a:t>
            </a:r>
          </a:p>
        </p:txBody>
      </p:sp>
      <p:sp>
        <p:nvSpPr>
          <p:cNvPr id="4" name="AutoShape 2" descr="Manipulando Vetores - Linguagem C: Resumo e Exercícios | Responde Aí">
            <a:extLst>
              <a:ext uri="{FF2B5EF4-FFF2-40B4-BE49-F238E27FC236}">
                <a16:creationId xmlns:a16="http://schemas.microsoft.com/office/drawing/2014/main" id="{2F56DEA3-4445-B097-8B72-8D0C88638C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A02AA15-FA35-DC7B-93EB-94FD27603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5589" y="2933182"/>
            <a:ext cx="4728740" cy="346053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F9354EF-D2C2-FC3D-50A0-274FA9D12C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4648" y="4291845"/>
            <a:ext cx="1240108" cy="1254362"/>
          </a:xfrm>
          <a:prstGeom prst="rect">
            <a:avLst/>
          </a:prstGeom>
        </p:spPr>
      </p:pic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46E381DA-50F7-7C80-6AAC-BDDE7A21CD77}"/>
              </a:ext>
            </a:extLst>
          </p:cNvPr>
          <p:cNvCxnSpPr/>
          <p:nvPr/>
        </p:nvCxnSpPr>
        <p:spPr>
          <a:xfrm>
            <a:off x="7503580" y="4751086"/>
            <a:ext cx="1113183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5204768-ED40-6148-A6A2-5E5920CBB4BF}"/>
              </a:ext>
            </a:extLst>
          </p:cNvPr>
          <p:cNvSpPr txBox="1"/>
          <p:nvPr/>
        </p:nvSpPr>
        <p:spPr>
          <a:xfrm>
            <a:off x="9597148" y="3894120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Saída</a:t>
            </a:r>
          </a:p>
        </p:txBody>
      </p:sp>
    </p:spTree>
    <p:extLst>
      <p:ext uri="{BB962C8B-B14F-4D97-AF65-F5344CB8AC3E}">
        <p14:creationId xmlns:p14="http://schemas.microsoft.com/office/powerpoint/2010/main" val="508272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37B30-D426-0575-BBDA-A1AD0CEBB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43A382B-C0CD-1137-C45E-973D01CF3937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4ED1048-235A-2C9A-38B1-A8ECC5152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Laços Aninhados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5EACD903-865C-5A79-8F79-338EC0FBB3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" name="AutoShape 2" descr="Manipulando Vetores - Linguagem C: Resumo e Exercícios | Responde Aí">
            <a:extLst>
              <a:ext uri="{FF2B5EF4-FFF2-40B4-BE49-F238E27FC236}">
                <a16:creationId xmlns:a16="http://schemas.microsoft.com/office/drawing/2014/main" id="{07DF1FFE-B033-1BE6-A795-62396698F5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3074" name="Picture 2" descr="For Loop In C Explained With Detailed Code Examples">
            <a:extLst>
              <a:ext uri="{FF2B5EF4-FFF2-40B4-BE49-F238E27FC236}">
                <a16:creationId xmlns:a16="http://schemas.microsoft.com/office/drawing/2014/main" id="{A738F399-24A1-5E5E-827E-2BF14DD38E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9" t="5001" r="11663" b="2360"/>
          <a:stretch>
            <a:fillRect/>
          </a:stretch>
        </p:blipFill>
        <p:spPr bwMode="auto">
          <a:xfrm>
            <a:off x="3168483" y="1628775"/>
            <a:ext cx="5855033" cy="501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615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49F19-364F-2857-68F3-8B38E0F42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00E7520B-9C2D-5D7C-5933-4EF6458F0081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5C2F9E9-2A89-C118-9E8F-A85BD9424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Inicialização de Matriz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10F0FC7E-1876-B70C-D101-EA95BA2719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442760BD-37AB-A269-0883-C971953A3696}"/>
              </a:ext>
            </a:extLst>
          </p:cNvPr>
          <p:cNvSpPr txBox="1">
            <a:spLocks/>
          </p:cNvSpPr>
          <p:nvPr/>
        </p:nvSpPr>
        <p:spPr>
          <a:xfrm>
            <a:off x="1783994" y="1790683"/>
            <a:ext cx="8624011" cy="4769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/>
              <a:t>Inicialização explícita: Cada par de chaves internas representa uma linha da matriz</a:t>
            </a:r>
            <a:endParaRPr lang="pt-BR" sz="2400" u="sng" dirty="0"/>
          </a:p>
        </p:txBody>
      </p:sp>
      <p:sp>
        <p:nvSpPr>
          <p:cNvPr id="4" name="AutoShape 2" descr="Manipulando Vetores - Linguagem C: Resumo e Exercícios | Responde Aí">
            <a:extLst>
              <a:ext uri="{FF2B5EF4-FFF2-40B4-BE49-F238E27FC236}">
                <a16:creationId xmlns:a16="http://schemas.microsoft.com/office/drawing/2014/main" id="{90DD7FDF-326A-FF4B-EDDD-FA007A23DF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BC4E8C1-E623-31AD-187F-7DF4587F1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5416" y="3084120"/>
            <a:ext cx="4879222" cy="333393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A9FD7D0-36AE-7902-E47C-1F815EDC18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2864"/>
          <a:stretch>
            <a:fillRect/>
          </a:stretch>
        </p:blipFill>
        <p:spPr>
          <a:xfrm>
            <a:off x="9167897" y="4487118"/>
            <a:ext cx="1240108" cy="842126"/>
          </a:xfrm>
          <a:prstGeom prst="rect">
            <a:avLst/>
          </a:prstGeom>
        </p:spPr>
      </p:pic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73DEC3EB-3206-3B1F-FD0D-CF67FF313A35}"/>
              </a:ext>
            </a:extLst>
          </p:cNvPr>
          <p:cNvCxnSpPr/>
          <p:nvPr/>
        </p:nvCxnSpPr>
        <p:spPr>
          <a:xfrm>
            <a:off x="7503580" y="4751086"/>
            <a:ext cx="1113183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3867A90-9F8B-4B78-3D64-893E641C6BD6}"/>
              </a:ext>
            </a:extLst>
          </p:cNvPr>
          <p:cNvSpPr txBox="1"/>
          <p:nvPr/>
        </p:nvSpPr>
        <p:spPr>
          <a:xfrm>
            <a:off x="9410397" y="4089393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Saída</a:t>
            </a:r>
          </a:p>
        </p:txBody>
      </p:sp>
    </p:spTree>
    <p:extLst>
      <p:ext uri="{BB962C8B-B14F-4D97-AF65-F5344CB8AC3E}">
        <p14:creationId xmlns:p14="http://schemas.microsoft.com/office/powerpoint/2010/main" val="3242184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F1B6D-E125-CA67-1014-3A00F6B67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8F188EFD-44C8-1E72-20BC-7DE83D3A56F0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A6E440C-66E7-D470-6073-E2D8AFC9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Inicialização de Matriz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63D0A3BA-4396-6F82-E35A-5B661AE59D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86D45027-799D-5B10-D78C-965D7F215066}"/>
              </a:ext>
            </a:extLst>
          </p:cNvPr>
          <p:cNvSpPr txBox="1">
            <a:spLocks/>
          </p:cNvSpPr>
          <p:nvPr/>
        </p:nvSpPr>
        <p:spPr>
          <a:xfrm>
            <a:off x="1783994" y="1790683"/>
            <a:ext cx="8624011" cy="4769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/>
              <a:t>Inicialização contínua (linear): Os valores são distribuídos sequencialmente nas linhas e colunas.</a:t>
            </a:r>
            <a:endParaRPr lang="pt-BR" sz="2400" u="sng" dirty="0"/>
          </a:p>
        </p:txBody>
      </p:sp>
      <p:sp>
        <p:nvSpPr>
          <p:cNvPr id="4" name="AutoShape 2" descr="Manipulando Vetores - Linguagem C: Resumo e Exercícios | Responde Aí">
            <a:extLst>
              <a:ext uri="{FF2B5EF4-FFF2-40B4-BE49-F238E27FC236}">
                <a16:creationId xmlns:a16="http://schemas.microsoft.com/office/drawing/2014/main" id="{70415A33-A98A-A4A8-1062-19183CB43D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B55F7EA-BA83-A8CA-7AA6-8F540A6D5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914" y="3193665"/>
            <a:ext cx="4709641" cy="311484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1CC31C8-407D-27FF-4832-4BF4F407AF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7420"/>
          <a:stretch>
            <a:fillRect/>
          </a:stretch>
        </p:blipFill>
        <p:spPr>
          <a:xfrm>
            <a:off x="9167897" y="4479466"/>
            <a:ext cx="1240108" cy="784980"/>
          </a:xfrm>
          <a:prstGeom prst="rect">
            <a:avLst/>
          </a:prstGeom>
        </p:spPr>
      </p:pic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EEDB79D8-0A6D-94A5-314A-58189396410D}"/>
              </a:ext>
            </a:extLst>
          </p:cNvPr>
          <p:cNvCxnSpPr/>
          <p:nvPr/>
        </p:nvCxnSpPr>
        <p:spPr>
          <a:xfrm>
            <a:off x="7503580" y="4751086"/>
            <a:ext cx="1113183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35305EC-3278-19EF-A160-AC6D5D969284}"/>
              </a:ext>
            </a:extLst>
          </p:cNvPr>
          <p:cNvSpPr txBox="1"/>
          <p:nvPr/>
        </p:nvSpPr>
        <p:spPr>
          <a:xfrm>
            <a:off x="9410397" y="4081741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Saída</a:t>
            </a:r>
          </a:p>
        </p:txBody>
      </p:sp>
    </p:spTree>
    <p:extLst>
      <p:ext uri="{BB962C8B-B14F-4D97-AF65-F5344CB8AC3E}">
        <p14:creationId xmlns:p14="http://schemas.microsoft.com/office/powerpoint/2010/main" val="2875732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263E2-C185-1C74-20AE-75B81375A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9D48899-210E-A6C8-CE77-8C2EC47150BC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AC20ADA-A006-0F4E-26B5-17EA138EC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Inicialização de Matriz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9A631387-CEAE-DB6A-2CF3-6933861DB7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A091B964-BD4C-B0F7-CA38-2A269C3A7653}"/>
              </a:ext>
            </a:extLst>
          </p:cNvPr>
          <p:cNvSpPr txBox="1">
            <a:spLocks/>
          </p:cNvSpPr>
          <p:nvPr/>
        </p:nvSpPr>
        <p:spPr>
          <a:xfrm>
            <a:off x="1783994" y="1552558"/>
            <a:ext cx="8624011" cy="4769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/>
              <a:t>Inicialização parcial (com zeros): Elementos não informados recebem o valor 0 automaticamente.</a:t>
            </a:r>
          </a:p>
          <a:p>
            <a:endParaRPr lang="pt-BR" sz="2400" u="sng" dirty="0"/>
          </a:p>
          <a:p>
            <a:r>
              <a:rPr lang="pt-BR" sz="2400" i="1" dirty="0" err="1"/>
              <a:t>Obs</a:t>
            </a:r>
            <a:r>
              <a:rPr lang="pt-BR" sz="2400" i="1" dirty="0"/>
              <a:t>: Vale para ambos os métodos citados previamente</a:t>
            </a:r>
          </a:p>
        </p:txBody>
      </p:sp>
      <p:sp>
        <p:nvSpPr>
          <p:cNvPr id="4" name="AutoShape 2" descr="Manipulando Vetores - Linguagem C: Resumo e Exercícios | Responde Aí">
            <a:extLst>
              <a:ext uri="{FF2B5EF4-FFF2-40B4-BE49-F238E27FC236}">
                <a16:creationId xmlns:a16="http://schemas.microsoft.com/office/drawing/2014/main" id="{CA2C8354-B0B6-027E-8155-AF4D4CAE0D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3EB57B4-F159-C764-D051-7A95A1CCE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8446" y="3359517"/>
            <a:ext cx="5102689" cy="3184479"/>
          </a:xfrm>
          <a:prstGeom prst="rect">
            <a:avLst/>
          </a:prstGeom>
        </p:spPr>
      </p:pic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957A5DB6-9FAC-26D5-C647-2CC35EA75277}"/>
              </a:ext>
            </a:extLst>
          </p:cNvPr>
          <p:cNvCxnSpPr/>
          <p:nvPr/>
        </p:nvCxnSpPr>
        <p:spPr>
          <a:xfrm>
            <a:off x="7503580" y="4751086"/>
            <a:ext cx="1113183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957A981-CB8E-A781-D3C2-964D2FC2E387}"/>
              </a:ext>
            </a:extLst>
          </p:cNvPr>
          <p:cNvSpPr txBox="1"/>
          <p:nvPr/>
        </p:nvSpPr>
        <p:spPr>
          <a:xfrm>
            <a:off x="9417967" y="4081459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Saída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03DF1605-0A05-ABA1-A6D9-AA919F8825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9208" y="4450791"/>
            <a:ext cx="1298797" cy="100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132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79A9B-1377-3BC4-9B0C-77218BAC6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D373718-B234-9A4A-A25F-E95D39F2466B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CAA90E5-D9E1-7008-B202-259B52AD1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Atribuição Manual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D1EE0F81-8D48-B268-9674-1B89578307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" name="AutoShape 2" descr="Manipulando Vetores - Linguagem C: Resumo e Exercícios | Responde Aí">
            <a:extLst>
              <a:ext uri="{FF2B5EF4-FFF2-40B4-BE49-F238E27FC236}">
                <a16:creationId xmlns:a16="http://schemas.microsoft.com/office/drawing/2014/main" id="{B29CCC04-003F-AB3D-6845-F86AE056F2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12CAB4E-6AB3-A558-7EDE-23EDE0D4F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497" y="1999991"/>
            <a:ext cx="5647978" cy="4353184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28E46B5-91C2-F168-02AC-7BB1DF1A4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3498" y="3276600"/>
            <a:ext cx="2958080" cy="2209927"/>
          </a:xfrm>
          <a:prstGeom prst="rect">
            <a:avLst/>
          </a:prstGeom>
        </p:spPr>
      </p:pic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4702174F-719A-60F2-BB4E-35078E1FD880}"/>
              </a:ext>
            </a:extLst>
          </p:cNvPr>
          <p:cNvCxnSpPr/>
          <p:nvPr/>
        </p:nvCxnSpPr>
        <p:spPr>
          <a:xfrm>
            <a:off x="6893980" y="4176583"/>
            <a:ext cx="1113183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738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9DBE8-138D-C5F6-8C77-355E128F9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23D3C04-DD64-2CE3-121E-C2A9ED698166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F387265-E9FD-5244-5F42-34C5DC02C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Exercícios para fixação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E1010D2F-F2A8-F0DA-7764-35BF7E84CF8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F09E1DCB-14FC-90A8-3625-59C5B34C4DFE}"/>
              </a:ext>
            </a:extLst>
          </p:cNvPr>
          <p:cNvSpPr txBox="1">
            <a:spLocks/>
          </p:cNvSpPr>
          <p:nvPr/>
        </p:nvSpPr>
        <p:spPr>
          <a:xfrm>
            <a:off x="1649682" y="1675530"/>
            <a:ext cx="9197436" cy="50395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Font typeface="+mj-lt"/>
              <a:buAutoNum type="arabicPeriod"/>
            </a:pPr>
            <a:r>
              <a:rPr lang="pt-BR" sz="2400" dirty="0"/>
              <a:t>Preencha uma matriz 3x3 e calcule a soma de todos os seus elementos</a:t>
            </a:r>
          </a:p>
          <a:p>
            <a:pPr marL="457200" indent="-457200" algn="just">
              <a:buFont typeface="+mj-lt"/>
              <a:buAutoNum type="arabicPeriod"/>
            </a:pPr>
            <a:endParaRPr lang="pt-BR" sz="2400" dirty="0"/>
          </a:p>
          <a:p>
            <a:pPr marL="457200" indent="-457200" algn="just">
              <a:buFont typeface="+mj-lt"/>
              <a:buAutoNum type="arabicPeriod"/>
            </a:pPr>
            <a:r>
              <a:rPr lang="pt-BR" sz="2400" dirty="0"/>
              <a:t>Leia uma matriz 4 x 4, conte e escreva quantos valores maiores que 10 ela possui.</a:t>
            </a:r>
          </a:p>
          <a:p>
            <a:pPr marL="457200" indent="-457200" algn="just">
              <a:buFont typeface="+mj-lt"/>
              <a:buAutoNum type="arabicPeriod"/>
            </a:pPr>
            <a:endParaRPr lang="pt-BR" sz="2400" dirty="0"/>
          </a:p>
          <a:p>
            <a:pPr marL="457200" indent="-457200" algn="just">
              <a:buFont typeface="+mj-lt"/>
              <a:buAutoNum type="arabicPeriod"/>
            </a:pPr>
            <a:r>
              <a:rPr lang="pt-BR" sz="2400" dirty="0"/>
              <a:t>Leia uma matriz 4 x 4, imprima a matriz e retorne a localização do (linha e a coluna) do maior valor. </a:t>
            </a:r>
          </a:p>
          <a:p>
            <a:pPr marL="457200" indent="-457200" algn="just">
              <a:buFont typeface="+mj-lt"/>
              <a:buAutoNum type="arabicPeriod"/>
            </a:pPr>
            <a:endParaRPr lang="pt-BR" sz="2400" dirty="0"/>
          </a:p>
          <a:p>
            <a:pPr marL="457200" indent="-457200" algn="just">
              <a:buFont typeface="+mj-lt"/>
              <a:buAutoNum type="arabicPeriod"/>
            </a:pPr>
            <a:r>
              <a:rPr lang="pt-BR" sz="2400" dirty="0"/>
              <a:t>Leia uma matriz 3 x 3 e um valor X. O programa deverá fazer uma busca desse valor na matriz e, ao final, escrever a localização ou uma mensagem de “não encontrado”.</a:t>
            </a:r>
          </a:p>
          <a:p>
            <a:pPr marL="457200" indent="-457200" algn="just">
              <a:buFont typeface="+mj-lt"/>
              <a:buAutoNum type="arabicPeriod"/>
            </a:pPr>
            <a:endParaRPr lang="pt-BR" sz="2400" dirty="0"/>
          </a:p>
          <a:p>
            <a:pPr marL="457200" indent="-457200" algn="just">
              <a:buFont typeface="+mj-lt"/>
              <a:buAutoNum type="arabicPeriod"/>
            </a:pPr>
            <a:endParaRPr lang="pt-BR" sz="2400" dirty="0"/>
          </a:p>
          <a:p>
            <a:endParaRPr lang="pt-BR" sz="2400" dirty="0"/>
          </a:p>
        </p:txBody>
      </p:sp>
      <p:sp>
        <p:nvSpPr>
          <p:cNvPr id="4" name="AutoShape 2" descr="Manipulando Vetores - Linguagem C: Resumo e Exercícios | Responde Aí">
            <a:extLst>
              <a:ext uri="{FF2B5EF4-FFF2-40B4-BE49-F238E27FC236}">
                <a16:creationId xmlns:a16="http://schemas.microsoft.com/office/drawing/2014/main" id="{D1433130-8163-40A3-CFFE-E7FD3DE5786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03130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cote">
  <a:themeElements>
    <a:clrScheme name="Pacot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2650</TotalTime>
  <Words>332</Words>
  <Application>Microsoft Office PowerPoint</Application>
  <PresentationFormat>Widescreen</PresentationFormat>
  <Paragraphs>57</Paragraphs>
  <Slides>10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Gill Sans MT</vt:lpstr>
      <vt:lpstr>Tema do Office</vt:lpstr>
      <vt:lpstr>Pacote</vt:lpstr>
      <vt:lpstr>MÓDULO 7 – matrizes</vt:lpstr>
      <vt:lpstr>Matriz</vt:lpstr>
      <vt:lpstr>Declaração de Matriz</vt:lpstr>
      <vt:lpstr>Leitura de uma Matriz</vt:lpstr>
      <vt:lpstr>Laços Aninhados</vt:lpstr>
      <vt:lpstr>Inicialização de Matriz</vt:lpstr>
      <vt:lpstr>Inicialização de Matriz</vt:lpstr>
      <vt:lpstr>Inicialização de Matriz</vt:lpstr>
      <vt:lpstr>Atribuição Manual</vt:lpstr>
      <vt:lpstr>Exercícios para fixação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Marcio Salmazo Ramos</dc:creator>
  <cp:lastModifiedBy>Marcio Salmazo Ramos</cp:lastModifiedBy>
  <cp:revision>129</cp:revision>
  <dcterms:created xsi:type="dcterms:W3CDTF">2026-07-26T12:48:37Z</dcterms:created>
  <dcterms:modified xsi:type="dcterms:W3CDTF">2026-10-13T19:14:40Z</dcterms:modified>
</cp:coreProperties>
</file>