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9"/>
  </p:notesMasterIdLst>
  <p:sldIdLst>
    <p:sldId id="307" r:id="rId3"/>
    <p:sldId id="308" r:id="rId4"/>
    <p:sldId id="300" r:id="rId5"/>
    <p:sldId id="301" r:id="rId6"/>
    <p:sldId id="309" r:id="rId7"/>
    <p:sldId id="310" r:id="rId8"/>
    <p:sldId id="311" r:id="rId9"/>
    <p:sldId id="312" r:id="rId10"/>
    <p:sldId id="313" r:id="rId11"/>
    <p:sldId id="316" r:id="rId12"/>
    <p:sldId id="315" r:id="rId13"/>
    <p:sldId id="319" r:id="rId14"/>
    <p:sldId id="317" r:id="rId15"/>
    <p:sldId id="320" r:id="rId16"/>
    <p:sldId id="318" r:id="rId17"/>
    <p:sldId id="321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A7D8"/>
    <a:srgbClr val="2F8D46"/>
    <a:srgbClr val="E1FFE7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4911" autoAdjust="0"/>
  </p:normalViewPr>
  <p:slideViewPr>
    <p:cSldViewPr snapToGrid="0">
      <p:cViewPr varScale="1">
        <p:scale>
          <a:sx n="85" d="100"/>
          <a:sy n="85" d="100"/>
        </p:scale>
        <p:origin x="15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45ED0-C878-4D2B-CBE7-AD500DB44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20516B6-0788-3837-F4FA-297AD5D54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44D301-05E9-E46E-22A7-192CB3CA4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F876B6-8223-D98C-47E1-BB507BE53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333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C02BE-D910-B8A8-A058-5A66E2AE4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BC3467B-310C-B537-222C-4C9E39EF2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478E45-E72A-749F-7CB8-B5F1434D1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F66280-2125-5BA7-EA97-29678F739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3837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06AFB-5D4D-7CD3-90A8-7AC2BEED1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0794325-E27A-B527-E4B9-3991D965F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F990B5-69F1-5DAD-88A0-9A536B906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1438F-3131-4B35-D5E4-C9F540200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158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4A51E-DC23-833C-62DF-71132690C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648E10A-F3F4-450D-C07C-7B13E4325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60AFF88-24D3-FCA3-71FB-008CC78C4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07BFD8-6B49-7509-EC25-F7AAB7635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569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9F6FB-0229-C266-A39F-161DE646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6365E6-F903-B819-E441-8788246D1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44A397A-2526-2239-E9A3-96AB6CEF4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AB22E2-8689-3F4B-0002-E7B9EDEE0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0168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09E6-A208-0AAA-C334-A81C9533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8203732-7E79-CB07-BF2C-7FED9F110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1BC1B2A-10ED-EEE6-5D09-19540B5C5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8940C8-CCC5-C8D3-E8BE-9E87AB393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74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25191-609F-A31E-463D-1F3ACF5FD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C99654F-F2C3-1BE0-12AB-E494E8878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82ABB6E-919E-8C01-1068-9397D982B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7F0F2A-698E-FA41-BFA3-4CC23BC84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192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5D978-E0E2-5129-3B2C-00F642E08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C9136D-B019-A3E0-08A9-94FBF0354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37E8443-5F4C-1D9E-7A7F-0A423A807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B6B0EA-40B0-FF90-C02D-5E051AB55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9190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30CC8-F9B8-18E0-2642-7E207157D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0E087B-7D1B-C395-CA2D-009A68B95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C77745-D4E6-6F09-EB25-6377322B3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D07E05-B604-E734-5D7F-0A7990D03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309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83713-BEB3-EB5F-B29B-7F3D303D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56BDF38-586D-DFCB-2569-B2CDA605A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1400C3-0C35-893B-EC4A-4ABB4196C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2274CE-C191-9167-189F-CB45F11C5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6938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3DC37-533B-9EE9-95E2-C9EAC4F75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25E8B5-EFD5-B5A3-937E-320FD1786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2BA9B39-8EF5-976A-BCEF-6710D024E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AFD2C9-0225-EE32-DC19-BD6AA88C7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300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8F8C-97F1-7AED-8A57-472645AED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50B117-7F59-6C44-85A5-7966D2C65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BD7748-5A2B-DC59-9DF6-042270550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BCFF8C-8A47-9811-CA0E-4FA438712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0241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E513E-2B81-48E5-AD93-5FBA5C2E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002FD15-ED4B-8A4B-77A0-07E09B201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03CCAE-E479-E18B-C26A-62DE05508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Inicialização: i=10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Condição de parada: i&gt;=10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Passo de decremento: i--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BB05D6-9F41-4702-E3E9-53063DD91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5226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5E35E-2986-D614-CECC-AF822E076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1350AA-D13B-DF5F-6E8C-F1C21DE65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92FFAD-E062-FAD1-AC55-8018975DC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D68EF2-B252-E46A-BCC6-E13C77019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1194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2FD76-F19C-3B8C-0470-C7D14260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2B873-06AF-C3DE-2B4B-567D739D1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3 – Estruturas condicionais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B3AE6F-2432-A013-F69D-065ABFAD0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393744B-665F-C7B8-E211-4FDD9DDA5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74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0400B-65E3-E25D-ABD2-12B4F79E0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F054EFB-C10C-741B-57CD-1E4CFB2C803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1260E7-291E-61D4-4697-E3FD7C4D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Estrutura Condicional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327E38E-B16F-465E-BB5B-3E26E290F2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75DD52-A52C-9FD5-40D4-8C74DEC48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01" y="1744579"/>
            <a:ext cx="8387599" cy="4963787"/>
          </a:xfrm>
        </p:spPr>
        <p:txBody>
          <a:bodyPr>
            <a:normAutofit/>
          </a:bodyPr>
          <a:lstStyle/>
          <a:p>
            <a:r>
              <a:rPr lang="pt-BR" sz="2400" dirty="0"/>
              <a:t> As estruturas condicionais permitem a tomada de decisões e alterações no fluxo de execução com base em </a:t>
            </a:r>
            <a:r>
              <a:rPr lang="pt-BR" sz="2400" b="1" dirty="0"/>
              <a:t>testes lógicos</a:t>
            </a:r>
            <a:r>
              <a:rPr lang="pt-BR" sz="2400" dirty="0"/>
              <a:t>.</a:t>
            </a:r>
          </a:p>
          <a:p>
            <a:endParaRPr lang="pt-BR" sz="2200" dirty="0"/>
          </a:p>
          <a:p>
            <a:r>
              <a:rPr lang="pt-BR" sz="2400" dirty="0"/>
              <a:t>As principais estruturas condicionais no C são:</a:t>
            </a:r>
          </a:p>
          <a:p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 err="1"/>
              <a:t>if</a:t>
            </a:r>
            <a:r>
              <a:rPr lang="pt-BR" sz="2200" b="1" dirty="0"/>
              <a:t> (simples)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 err="1"/>
              <a:t>If-else</a:t>
            </a:r>
            <a:r>
              <a:rPr lang="pt-BR" sz="2200" dirty="0"/>
              <a:t> (composto)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Encadeamento </a:t>
            </a:r>
            <a:r>
              <a:rPr lang="pt-BR" sz="2200" b="1" dirty="0" err="1"/>
              <a:t>else-if</a:t>
            </a:r>
            <a:endParaRPr lang="pt-BR" sz="22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Switch-case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000" b="1" dirty="0"/>
          </a:p>
          <a:p>
            <a:r>
              <a:rPr lang="pt-BR" sz="2400" dirty="0"/>
              <a:t>Para as condicionais, são utilizados</a:t>
            </a:r>
          </a:p>
          <a:p>
            <a:pPr marL="0" indent="0">
              <a:buNone/>
            </a:pPr>
            <a:r>
              <a:rPr lang="pt-BR" sz="2400" dirty="0"/>
              <a:t>   operadores Lógicos e Relacionais.</a:t>
            </a:r>
          </a:p>
          <a:p>
            <a:pPr marL="0" indent="0">
              <a:buNone/>
            </a:pPr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1026" name="Picture 2" descr="Aula - Estrutura Condicional">
            <a:extLst>
              <a:ext uri="{FF2B5EF4-FFF2-40B4-BE49-F238E27FC236}">
                <a16:creationId xmlns:a16="http://schemas.microsoft.com/office/drawing/2014/main" id="{7DE6470D-F79C-12AE-5169-A3FDF9597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561" y="2279241"/>
            <a:ext cx="2266950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CB09BFF-A144-E87F-4319-F61BBDEDF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11673"/>
            <a:ext cx="3328541" cy="299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06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A8C59-0198-8BF0-50FB-B17CCA58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EB874EA-4A89-D2E8-D8CC-2A9A93E6437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7AB5FE-CC42-9B7C-3046-31F7430F0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Operadores Lógicos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8E333AB-946A-F09A-1FB8-E1E63FC524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8AD6AF-025A-058F-230B-C12496B15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706"/>
            <a:ext cx="6985066" cy="4676693"/>
          </a:xfrm>
        </p:spPr>
        <p:txBody>
          <a:bodyPr>
            <a:normAutofit/>
          </a:bodyPr>
          <a:lstStyle/>
          <a:p>
            <a:r>
              <a:rPr lang="pt-BR" sz="2400" dirty="0"/>
              <a:t>Servem unir proposições (de acordo com a lógica proposicional). São mais utilizados em condicionais (porém não são exclusivos)</a:t>
            </a:r>
          </a:p>
          <a:p>
            <a:endParaRPr lang="pt-BR" sz="2400" b="1" dirty="0"/>
          </a:p>
          <a:p>
            <a:pPr lvl="1"/>
            <a:r>
              <a:rPr lang="pt-BR" sz="2200" b="1" dirty="0"/>
              <a:t>E / AND (&amp;&amp;): </a:t>
            </a:r>
            <a:r>
              <a:rPr lang="pt-BR" sz="2200" dirty="0"/>
              <a:t>Retorna verdadeiro apenas se os dois lados forem verdadeiros</a:t>
            </a:r>
          </a:p>
          <a:p>
            <a:pPr lvl="1"/>
            <a:endParaRPr lang="pt-BR" sz="2200" dirty="0"/>
          </a:p>
          <a:p>
            <a:pPr lvl="1"/>
            <a:r>
              <a:rPr lang="pt-BR" sz="2200" b="1" dirty="0"/>
              <a:t>OU / OR (||): </a:t>
            </a:r>
            <a:r>
              <a:rPr lang="pt-BR" sz="2200" dirty="0"/>
              <a:t>Retorna verdadeiro se pelo menos um dos lados for verdadeiro</a:t>
            </a:r>
          </a:p>
          <a:p>
            <a:pPr lvl="1"/>
            <a:endParaRPr lang="pt-BR" sz="2200" dirty="0"/>
          </a:p>
          <a:p>
            <a:pPr lvl="1"/>
            <a:r>
              <a:rPr lang="pt-BR" sz="2200" b="1" dirty="0"/>
              <a:t>NÃO / NOT (!):</a:t>
            </a:r>
            <a:r>
              <a:rPr lang="pt-BR" sz="2200" dirty="0"/>
              <a:t> Inverte o valor do teste (o que é verdadeiro vira falso, e vice-versa)</a:t>
            </a:r>
          </a:p>
          <a:p>
            <a:pPr lvl="1"/>
            <a:endParaRPr lang="pt-BR" sz="22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808EA45-498D-67F8-8023-C9D16160F8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362" b="8359"/>
          <a:stretch>
            <a:fillRect/>
          </a:stretch>
        </p:blipFill>
        <p:spPr>
          <a:xfrm>
            <a:off x="8588188" y="2709497"/>
            <a:ext cx="3461084" cy="308332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7791FD3-B489-7C89-2959-747A6D4491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618" b="25670"/>
          <a:stretch>
            <a:fillRect/>
          </a:stretch>
        </p:blipFill>
        <p:spPr>
          <a:xfrm>
            <a:off x="7074397" y="2679032"/>
            <a:ext cx="1513791" cy="264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39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DA8C8-BCDE-3567-C977-E9CB262FE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DEC1879-36C3-847A-7DBB-1BF6762FE09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EB4E15-419C-B189-CF8F-419848AAE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Operadores Relacionais (Comparadores)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82CA9A1-1EEA-1FF0-C2A8-87B07E5399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BDDD11-391F-5052-1C48-67A648ABC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224" y="1614311"/>
            <a:ext cx="8698832" cy="5166246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Servem para comparar valores, retornando “1” para verdadeiro e “0” para falso. São mais utilizados em condicionais (porém não são exclusivos)</a:t>
            </a:r>
          </a:p>
          <a:p>
            <a:endParaRPr lang="pt-BR" sz="2400" b="1" dirty="0"/>
          </a:p>
          <a:p>
            <a:pPr lvl="1"/>
            <a:r>
              <a:rPr lang="pt-BR" sz="2100" b="1" dirty="0"/>
              <a:t>==</a:t>
            </a:r>
            <a:r>
              <a:rPr lang="pt-BR" sz="2100" dirty="0"/>
              <a:t> </a:t>
            </a: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100" dirty="0"/>
              <a:t> Igual a</a:t>
            </a:r>
          </a:p>
          <a:p>
            <a:pPr marL="457200" lvl="1" indent="0">
              <a:buNone/>
            </a:pPr>
            <a:endParaRPr lang="pt-BR" sz="2100" b="1" dirty="0"/>
          </a:p>
          <a:p>
            <a:pPr lvl="1"/>
            <a:r>
              <a:rPr lang="pt-BR" sz="2100" b="1" dirty="0"/>
              <a:t>!=</a:t>
            </a:r>
            <a:r>
              <a:rPr lang="pt-BR" sz="2100" dirty="0"/>
              <a:t> </a:t>
            </a: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100" dirty="0"/>
              <a:t> Diferente de</a:t>
            </a:r>
          </a:p>
          <a:p>
            <a:pPr lvl="1"/>
            <a:endParaRPr lang="pt-BR" sz="2100" b="1" dirty="0"/>
          </a:p>
          <a:p>
            <a:pPr lvl="1"/>
            <a:r>
              <a:rPr lang="pt-BR" sz="2100" b="1" dirty="0"/>
              <a:t>&gt;</a:t>
            </a:r>
            <a:r>
              <a:rPr lang="pt-BR" sz="2100" dirty="0"/>
              <a:t> </a:t>
            </a: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100" dirty="0"/>
              <a:t> Maior que</a:t>
            </a:r>
          </a:p>
          <a:p>
            <a:pPr lvl="1"/>
            <a:endParaRPr lang="pt-BR" sz="2100" b="1" dirty="0"/>
          </a:p>
          <a:p>
            <a:pPr lvl="1"/>
            <a:r>
              <a:rPr lang="pt-BR" sz="2100" b="1" dirty="0"/>
              <a:t>&lt;</a:t>
            </a:r>
            <a:r>
              <a:rPr lang="pt-BR" sz="2100" dirty="0"/>
              <a:t> </a:t>
            </a: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100" dirty="0"/>
              <a:t> Menor que</a:t>
            </a:r>
          </a:p>
          <a:p>
            <a:pPr lvl="1"/>
            <a:endParaRPr lang="pt-BR" sz="2100" b="1" dirty="0"/>
          </a:p>
          <a:p>
            <a:pPr lvl="1"/>
            <a:r>
              <a:rPr lang="pt-BR" sz="2100" b="1" dirty="0"/>
              <a:t>&gt;=</a:t>
            </a:r>
            <a:r>
              <a:rPr lang="pt-BR" sz="2100" dirty="0"/>
              <a:t> </a:t>
            </a: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100" dirty="0"/>
              <a:t> Maior ou igual a</a:t>
            </a:r>
          </a:p>
          <a:p>
            <a:pPr lvl="1"/>
            <a:endParaRPr lang="pt-BR" sz="2100" b="1" dirty="0"/>
          </a:p>
          <a:p>
            <a:pPr lvl="1"/>
            <a:r>
              <a:rPr lang="pt-BR" sz="2100" b="1" dirty="0"/>
              <a:t>&lt;=</a:t>
            </a:r>
            <a:r>
              <a:rPr lang="pt-BR" sz="2100" dirty="0"/>
              <a:t> </a:t>
            </a: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100" dirty="0"/>
              <a:t> Menor ou igual 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6218045-6185-5E77-AA39-5D1E58AA3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230" y="3691281"/>
            <a:ext cx="6825916" cy="170948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B20583E-B890-F281-3E24-0443B060D6EB}"/>
              </a:ext>
            </a:extLst>
          </p:cNvPr>
          <p:cNvSpPr txBox="1"/>
          <p:nvPr/>
        </p:nvSpPr>
        <p:spPr>
          <a:xfrm>
            <a:off x="5175231" y="3396733"/>
            <a:ext cx="682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Exemplos:</a:t>
            </a:r>
          </a:p>
        </p:txBody>
      </p:sp>
    </p:spTree>
    <p:extLst>
      <p:ext uri="{BB962C8B-B14F-4D97-AF65-F5344CB8AC3E}">
        <p14:creationId xmlns:p14="http://schemas.microsoft.com/office/powerpoint/2010/main" val="1660373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DBA1A-E7DE-DCE8-8D32-FB204AD7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2FE5F80-0663-17EC-7837-7A881B78C6B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3C31E1-35A3-86DE-DFD8-14F703B6B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Comando IF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159D656-2840-EA4B-0E8A-4DDE322FEA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77D6796-5BC6-76EA-C684-B51E7AF25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363" y="1552668"/>
            <a:ext cx="9664259" cy="4963787"/>
          </a:xfrm>
        </p:spPr>
        <p:txBody>
          <a:bodyPr>
            <a:normAutofit/>
          </a:bodyPr>
          <a:lstStyle/>
          <a:p>
            <a:r>
              <a:rPr lang="pt-BR" sz="2400" dirty="0"/>
              <a:t>Análogo ao SE-ENTÃO do Visual G.</a:t>
            </a:r>
          </a:p>
          <a:p>
            <a:r>
              <a:rPr lang="pt-BR" sz="2400" dirty="0"/>
              <a:t>A execução de um determinado bloco de comando é executada somente se uma condição for satisfeita.</a:t>
            </a:r>
          </a:p>
          <a:p>
            <a:r>
              <a:rPr lang="pt-BR" sz="2400" dirty="0"/>
              <a:t>Caso a condição não seja satisfeita, o programa apenas segue a execução.</a:t>
            </a:r>
          </a:p>
          <a:p>
            <a:endParaRPr lang="pt-BR" sz="2400" dirty="0"/>
          </a:p>
          <a:p>
            <a:pPr marL="457200" lvl="1" indent="0">
              <a:buNone/>
            </a:pPr>
            <a:endParaRPr lang="pt-BR" sz="2400" dirty="0"/>
          </a:p>
          <a:p>
            <a:pPr marL="457200" lvl="1" indent="0">
              <a:buNone/>
            </a:pPr>
            <a:endParaRPr lang="pt-BR" sz="2400" dirty="0"/>
          </a:p>
          <a:p>
            <a:pPr marL="457200" lvl="1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39EE381-F776-2E97-C4A7-32D478A0A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754" y="3580955"/>
            <a:ext cx="4541460" cy="316260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3AFEDF7-068B-2AC1-E2DA-8F030D42F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786" y="3279597"/>
            <a:ext cx="3414314" cy="357840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B328CE5F-6CEE-1B61-6D4E-990534E16CE0}"/>
              </a:ext>
            </a:extLst>
          </p:cNvPr>
          <p:cNvSpPr/>
          <p:nvPr/>
        </p:nvSpPr>
        <p:spPr>
          <a:xfrm>
            <a:off x="2490788" y="5743575"/>
            <a:ext cx="1219200" cy="319088"/>
          </a:xfrm>
          <a:prstGeom prst="rect">
            <a:avLst/>
          </a:prstGeom>
          <a:solidFill>
            <a:srgbClr val="E1FF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rgbClr val="2F8D46"/>
                </a:solidFill>
              </a:rPr>
              <a:t>Code</a:t>
            </a:r>
            <a:endParaRPr lang="pt-BR" sz="1400" dirty="0">
              <a:solidFill>
                <a:srgbClr val="2F8D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41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7B07D-253A-B492-7955-BB4EA577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8006973-9CD7-636B-BA5A-9B261D751CE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3886CE-0979-308F-9F37-898342D8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Comando IF-ELSE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02BC447-8B62-E543-73E1-E0ABD3E829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2F2442-8B72-6182-8933-F74EC8724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363" y="1552668"/>
            <a:ext cx="10014215" cy="5305332"/>
          </a:xfrm>
        </p:spPr>
        <p:txBody>
          <a:bodyPr>
            <a:normAutofit/>
          </a:bodyPr>
          <a:lstStyle/>
          <a:p>
            <a:r>
              <a:rPr lang="pt-BR" sz="2400" dirty="0"/>
              <a:t>Análogo ao SE-ENTÃO-SENÃO do Visual G.</a:t>
            </a:r>
          </a:p>
          <a:p>
            <a:r>
              <a:rPr lang="pt-BR" sz="2400" dirty="0"/>
              <a:t>A execução de um determinado trecho é executada somente se a condição for satisfeita.</a:t>
            </a:r>
          </a:p>
          <a:p>
            <a:r>
              <a:rPr lang="pt-BR" sz="2400" dirty="0"/>
              <a:t>Caso a condição não seja satisfeita, um outro bloco de comando é executado.</a:t>
            </a:r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8DCCD08-AE7D-C0FC-C117-533B198ED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619" y="3581400"/>
            <a:ext cx="3850481" cy="310337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3244BE0-763F-2D6E-6265-077359D6D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882" y="3418586"/>
            <a:ext cx="36542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21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A28FE-F3F8-FE45-8EEC-EE7C8F07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EDD5088-C9C5-13E1-844E-D2C11F19A4E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1C990E-F17E-234B-2CEA-27AC6623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Encadeamento de IF-ELSE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2126417-D231-757E-FF95-64ABF61A24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1F72C18-3515-7C50-83DD-9052A8D91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224" y="1896755"/>
            <a:ext cx="5655778" cy="4413955"/>
          </a:xfrm>
        </p:spPr>
        <p:txBody>
          <a:bodyPr>
            <a:normAutofit/>
          </a:bodyPr>
          <a:lstStyle/>
          <a:p>
            <a:r>
              <a:rPr lang="pt-BR" sz="2400" dirty="0"/>
              <a:t>Caso existam múltiplas condições à serem analisadas, os operadores de </a:t>
            </a:r>
            <a:r>
              <a:rPr lang="pt-BR" sz="2400" b="1" i="1" dirty="0" err="1"/>
              <a:t>if</a:t>
            </a:r>
            <a:r>
              <a:rPr lang="pt-BR" sz="2400" dirty="0"/>
              <a:t> e </a:t>
            </a:r>
            <a:r>
              <a:rPr lang="pt-BR" sz="2400" b="1" i="1" dirty="0" err="1"/>
              <a:t>else</a:t>
            </a:r>
            <a:r>
              <a:rPr lang="pt-BR" sz="2400" dirty="0"/>
              <a:t> podem ser encadeados sequencialmente.</a:t>
            </a:r>
          </a:p>
          <a:p>
            <a:endParaRPr lang="pt-BR" sz="2400" dirty="0"/>
          </a:p>
          <a:p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32AAEF5-AEDA-5984-A95D-1EA11277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473" y="1451066"/>
            <a:ext cx="4135580" cy="530533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F019E79-9DE9-561B-3CF0-648C2E8C0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695" y="3176672"/>
            <a:ext cx="5124835" cy="353876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7F2AE48-E24F-1212-3A7D-959C2235010C}"/>
              </a:ext>
            </a:extLst>
          </p:cNvPr>
          <p:cNvSpPr/>
          <p:nvPr/>
        </p:nvSpPr>
        <p:spPr>
          <a:xfrm>
            <a:off x="4380089" y="3228622"/>
            <a:ext cx="1896533" cy="530578"/>
          </a:xfrm>
          <a:prstGeom prst="rect">
            <a:avLst/>
          </a:prstGeom>
          <a:solidFill>
            <a:srgbClr val="7DA7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057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3E0A4-CF52-9F7D-52FB-68CDC32F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6FBC46A-0083-95C0-A532-6F1CDD38313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654ED3-7D21-1207-AC85-A0D72BA9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Comando SWITCH-CASE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A99285A-7853-BB94-8C3D-42B22AE63C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9FFD411-2B88-035E-E9B4-45EFB226D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11" y="1604345"/>
            <a:ext cx="7231199" cy="5253655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Busca simplificar o encadeamento de código do </a:t>
            </a:r>
            <a:r>
              <a:rPr lang="pt-BR" sz="2400" b="1" i="1" dirty="0" err="1"/>
              <a:t>if-else</a:t>
            </a:r>
            <a:endParaRPr lang="pt-BR" sz="2400" b="1" i="1" dirty="0"/>
          </a:p>
          <a:p>
            <a:endParaRPr lang="pt-BR" sz="2400" dirty="0"/>
          </a:p>
          <a:p>
            <a:r>
              <a:rPr lang="pt-BR" sz="2400" dirty="0"/>
              <a:t>Testa o valor de uma variável e o compara com constantes inteiras ou caracteres em vários blocos</a:t>
            </a:r>
          </a:p>
          <a:p>
            <a:endParaRPr lang="pt-BR" sz="2400" dirty="0"/>
          </a:p>
          <a:p>
            <a:r>
              <a:rPr lang="pt-BR" sz="2400" dirty="0"/>
              <a:t>Se nenhum dos casos for satisfeito, o bloco </a:t>
            </a:r>
            <a:r>
              <a:rPr lang="pt-BR" sz="2400" b="1" i="1" dirty="0"/>
              <a:t>default</a:t>
            </a:r>
            <a:r>
              <a:rPr lang="pt-BR" sz="2400" dirty="0"/>
              <a:t> é executado</a:t>
            </a:r>
          </a:p>
          <a:p>
            <a:endParaRPr lang="pt-BR" sz="2400" b="1" i="1" dirty="0"/>
          </a:p>
          <a:p>
            <a:r>
              <a:rPr lang="pt-BR" sz="2400" b="1" i="1" dirty="0"/>
              <a:t>Break</a:t>
            </a:r>
            <a:r>
              <a:rPr lang="pt-BR" sz="2400" dirty="0"/>
              <a:t> sai imediatamente do switch, continuando a execução do código</a:t>
            </a:r>
          </a:p>
          <a:p>
            <a:endParaRPr lang="pt-BR" sz="2400" dirty="0"/>
          </a:p>
          <a:p>
            <a:r>
              <a:rPr lang="pt-BR" sz="2400" dirty="0"/>
              <a:t>O último caso (default) não precisa de break, por estar no fim.</a:t>
            </a:r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48250D8-190C-332F-05ED-80D1E413D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1485097"/>
            <a:ext cx="3949700" cy="525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38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09A80-CA2B-7F6F-AA59-054735CDA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32836-2167-B792-D928-B311C6D96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4 – Estruturas de repetição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7BD9D9-FDBC-EB10-A84B-1C2036075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C09D286-A5BF-06DE-A75D-05AB29C7B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648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B916D-AFEF-56FB-B1B1-75234E6A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25665CD-6E47-85BF-7C89-6A98F55CF95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4C767C-C83C-95B0-15B2-380633B6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Estruturas de Repetição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A20438E-E6FC-6265-EF74-0F6D9D3F41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DE2573-CA4C-571D-37EE-DFE3AD367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2189496"/>
            <a:ext cx="7035800" cy="4389113"/>
          </a:xfrm>
        </p:spPr>
        <p:txBody>
          <a:bodyPr>
            <a:normAutofit/>
          </a:bodyPr>
          <a:lstStyle/>
          <a:p>
            <a:r>
              <a:rPr lang="pt-BR" sz="2400" dirty="0"/>
              <a:t>Tem como função repetir um bloco de código várias vezes enquanto uma condição for verdadeira. </a:t>
            </a:r>
            <a:endParaRPr lang="pt-BR" sz="2200" dirty="0"/>
          </a:p>
          <a:p>
            <a:endParaRPr lang="pt-BR" sz="2400" dirty="0"/>
          </a:p>
          <a:p>
            <a:r>
              <a:rPr lang="pt-BR" sz="2400" dirty="0"/>
              <a:t>As principais estruturas de repetição no C são:</a:t>
            </a:r>
          </a:p>
          <a:p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 err="1"/>
              <a:t>While</a:t>
            </a:r>
            <a:r>
              <a:rPr lang="pt-BR" sz="2200" b="1" dirty="0"/>
              <a:t> </a:t>
            </a:r>
            <a:r>
              <a:rPr lang="pt-BR" sz="2200" dirty="0"/>
              <a:t>(Enquanto)</a:t>
            </a:r>
            <a:endParaRPr lang="pt-BR" sz="22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do-</a:t>
            </a:r>
            <a:r>
              <a:rPr lang="pt-BR" sz="2200" b="1" dirty="0" err="1"/>
              <a:t>while</a:t>
            </a:r>
            <a:r>
              <a:rPr lang="pt-BR" sz="2200" b="1" dirty="0"/>
              <a:t> </a:t>
            </a:r>
            <a:r>
              <a:rPr lang="pt-BR" sz="2200" dirty="0"/>
              <a:t>(Faça-Enquanto)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For </a:t>
            </a:r>
            <a:r>
              <a:rPr lang="pt-BR" sz="2200" dirty="0"/>
              <a:t>(Laço)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b="1" dirty="0"/>
          </a:p>
          <a:p>
            <a:pPr>
              <a:buFont typeface="Courier New" panose="02070309020205020404" pitchFamily="49" charset="0"/>
              <a:buChar char="o"/>
            </a:pPr>
            <a:endParaRPr lang="pt-BR" sz="2600" b="1" dirty="0"/>
          </a:p>
          <a:p>
            <a:pPr marL="457200" lvl="1" indent="0">
              <a:buNone/>
            </a:pPr>
            <a:endParaRPr lang="pt-BR" sz="2000" b="1" dirty="0"/>
          </a:p>
          <a:p>
            <a:pPr marL="0" indent="0">
              <a:buNone/>
            </a:pPr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FA9869E-7D26-DBD0-CE03-D2801CEBC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779" t="17280" r="2999" b="9577"/>
          <a:stretch>
            <a:fillRect/>
          </a:stretch>
        </p:blipFill>
        <p:spPr>
          <a:xfrm>
            <a:off x="7607301" y="2189496"/>
            <a:ext cx="4296426" cy="410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262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95E73-D25A-787E-0CFA-49A50B74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D6FF417-AF79-D099-D644-F0AFA1BD30C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223594-A9D3-D072-B93A-208297D9B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Comando WHILE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8800EFD-3C43-B9B2-D28B-CB257DD6FD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3E9191D-651F-B249-AC9B-4E51136C6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511" y="1790700"/>
            <a:ext cx="7186789" cy="4876800"/>
          </a:xfrm>
        </p:spPr>
        <p:txBody>
          <a:bodyPr>
            <a:normAutofit/>
          </a:bodyPr>
          <a:lstStyle/>
          <a:p>
            <a:r>
              <a:rPr lang="pt-BR" sz="2400" dirty="0"/>
              <a:t>O comando </a:t>
            </a:r>
            <a:r>
              <a:rPr lang="pt-BR" sz="2400" b="1" i="1" dirty="0" err="1"/>
              <a:t>while</a:t>
            </a:r>
            <a:r>
              <a:rPr lang="pt-BR" sz="2400" dirty="0"/>
              <a:t> em C serve para repetir um bloco de código enquanto uma condição for verdadeira.</a:t>
            </a:r>
          </a:p>
          <a:p>
            <a:endParaRPr lang="pt-BR" sz="2400" dirty="0"/>
          </a:p>
          <a:p>
            <a:r>
              <a:rPr lang="pt-BR" sz="2400" dirty="0"/>
              <a:t>A condição é testada antes de executar o bloco, se começar falsa, o código dentro não roda nenhuma vez.</a:t>
            </a:r>
          </a:p>
          <a:p>
            <a:endParaRPr lang="pt-BR" sz="2400" dirty="0"/>
          </a:p>
          <a:p>
            <a:r>
              <a:rPr lang="pt-BR" sz="2400" dirty="0"/>
              <a:t>É importante avaliar o comportamento da variável de controle para evitar um loop infinito.</a:t>
            </a:r>
          </a:p>
          <a:p>
            <a:endParaRPr lang="pt-BR" sz="2400" dirty="0"/>
          </a:p>
          <a:p>
            <a:r>
              <a:rPr lang="pt-BR" sz="2400" dirty="0"/>
              <a:t>Estrutura usada em casos onde a quantidade total de repetições não é definida.</a:t>
            </a:r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9A077CB-B1B5-CC9A-3E79-91E24C159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300" y="1689097"/>
            <a:ext cx="4711699" cy="471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01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EDBBA-07AE-8BFE-2904-06A5F1293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293AA67-D501-B974-E7A4-44370381B42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0C48E0-F262-48BF-558F-3ED89BA7A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Comando WHILE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E6388B1-C1B6-CC28-0FA4-B95A7161F3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72D191-1AF4-F81B-5994-393CCCC35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3280" y="1623210"/>
            <a:ext cx="4811335" cy="550861"/>
          </a:xfrm>
        </p:spPr>
        <p:txBody>
          <a:bodyPr>
            <a:normAutofit/>
          </a:bodyPr>
          <a:lstStyle/>
          <a:p>
            <a:r>
              <a:rPr lang="pt-BR" sz="2400" dirty="0"/>
              <a:t>Exemplo e sintaxe:</a:t>
            </a:r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6337D16-C5EE-224A-CEFC-AD63B69C4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224" y="2174071"/>
            <a:ext cx="4817231" cy="470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37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5DAC8-114B-5A07-4098-3C737E0CE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3EF00A2-4C70-7D1E-C90D-B4EBF174477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EBE342-3ADE-8978-D737-FA181DC0F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Comando DO-WHILE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FE2BA8D-095F-46B4-5B16-F974B30B62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E39CE30-AD33-65C1-6D98-84B2B2B4B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717" y="2220911"/>
            <a:ext cx="7374301" cy="4254499"/>
          </a:xfrm>
        </p:spPr>
        <p:txBody>
          <a:bodyPr>
            <a:normAutofit/>
          </a:bodyPr>
          <a:lstStyle/>
          <a:p>
            <a:r>
              <a:rPr lang="pt-BR" sz="2400" dirty="0"/>
              <a:t>O comando </a:t>
            </a:r>
            <a:r>
              <a:rPr lang="pt-BR" sz="2400" b="1" dirty="0"/>
              <a:t>do-</a:t>
            </a:r>
            <a:r>
              <a:rPr lang="pt-BR" sz="2400" b="1" i="1" dirty="0" err="1"/>
              <a:t>while</a:t>
            </a:r>
            <a:r>
              <a:rPr lang="pt-BR" sz="2400" dirty="0"/>
              <a:t> executa o bloco de código pelo menos uma vez. A condição de controle é testada apenas no final do bloco.</a:t>
            </a:r>
          </a:p>
          <a:p>
            <a:endParaRPr lang="pt-BR" sz="2400" dirty="0"/>
          </a:p>
          <a:p>
            <a:r>
              <a:rPr lang="pt-BR" sz="2400" dirty="0"/>
              <a:t>Se a condição for verdadeira, o loop se repete; se for falsa, o programa continua. </a:t>
            </a:r>
          </a:p>
          <a:p>
            <a:endParaRPr lang="pt-BR" sz="2400" dirty="0"/>
          </a:p>
          <a:p>
            <a:r>
              <a:rPr lang="pt-BR" sz="2400" dirty="0"/>
              <a:t>Assim como o </a:t>
            </a:r>
            <a:r>
              <a:rPr lang="pt-BR" sz="2400" dirty="0" err="1"/>
              <a:t>while</a:t>
            </a:r>
            <a:r>
              <a:rPr lang="pt-BR" sz="2400" dirty="0"/>
              <a:t>, o do-</a:t>
            </a:r>
            <a:r>
              <a:rPr lang="pt-BR" sz="2400" dirty="0" err="1"/>
              <a:t>while</a:t>
            </a:r>
            <a:r>
              <a:rPr lang="pt-BR" sz="2400" dirty="0"/>
              <a:t> é usado em situações  na qual o número total de loops não é definido.</a:t>
            </a:r>
          </a:p>
          <a:p>
            <a:endParaRPr lang="pt-BR" sz="2400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1D0D904-C550-89E3-1EBC-C37B46873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018" y="1600199"/>
            <a:ext cx="4526982" cy="487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25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4C17B-706A-6AE0-F91C-EF915BA5D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D196D72-6BBA-200A-40FF-04E7C490E5E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B8C27F-E62B-4C54-0DA4-7D50138FF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Comando DO-WHILE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CF66DC9-B0D8-A8DB-9619-3B81963F60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E02AF1-DCC5-343D-0674-BD74933C3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4576" y="2143487"/>
            <a:ext cx="4532489" cy="482600"/>
          </a:xfrm>
        </p:spPr>
        <p:txBody>
          <a:bodyPr>
            <a:normAutofit/>
          </a:bodyPr>
          <a:lstStyle/>
          <a:p>
            <a:r>
              <a:rPr lang="pt-BR" sz="2400" dirty="0"/>
              <a:t>Exemplo e sintaxe</a:t>
            </a:r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3F74A9A-F221-12C4-6959-A35519EBC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576" y="2626088"/>
            <a:ext cx="4898047" cy="423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043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0F933-B1B8-BCAF-9B40-9673E8DD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0A2FEEE-B4FB-85E5-AE5D-BB47AB7DB94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C427A1-99E4-3670-85F8-980CFB4F1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Comando FOR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75F36D9-7087-BBE3-65F1-178FA8A3AD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EEFB847-5A92-548F-DE1A-B88E4AA59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511" y="2070100"/>
            <a:ext cx="7186789" cy="3619500"/>
          </a:xfrm>
        </p:spPr>
        <p:txBody>
          <a:bodyPr>
            <a:normAutofit/>
          </a:bodyPr>
          <a:lstStyle/>
          <a:p>
            <a:r>
              <a:rPr lang="pt-BR" sz="2400" dirty="0"/>
              <a:t>O laço for repete um bloco de código por uma quantidade pré-definida de loops.</a:t>
            </a:r>
          </a:p>
          <a:p>
            <a:endParaRPr lang="pt-BR" sz="2400" b="1" i="1" dirty="0"/>
          </a:p>
          <a:p>
            <a:r>
              <a:rPr lang="pt-BR" sz="2400" dirty="0"/>
              <a:t>Sua estrutura junta a inicialização da variável, a condição de parada e o passo de incremento.</a:t>
            </a:r>
            <a:endParaRPr lang="pt-BR" sz="1800" b="1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B3679EE-C2EB-3BAF-5ADA-C3B2F6CA6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300" y="1335432"/>
            <a:ext cx="4584700" cy="552256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FE7DAC0-A819-2231-1C10-AB4807E592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418" t="44444" r="2882" b="21852"/>
          <a:stretch>
            <a:fillRect/>
          </a:stretch>
        </p:blipFill>
        <p:spPr>
          <a:xfrm>
            <a:off x="1282699" y="4633192"/>
            <a:ext cx="4057583" cy="1412008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C1522FF-0610-CFCC-D9CB-6708BB3CDE1B}"/>
              </a:ext>
            </a:extLst>
          </p:cNvPr>
          <p:cNvSpPr/>
          <p:nvPr/>
        </p:nvSpPr>
        <p:spPr>
          <a:xfrm>
            <a:off x="1282699" y="4633192"/>
            <a:ext cx="4057583" cy="141200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0136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58801-0F4D-2B0A-3727-334EE480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629BBB5-F0BC-80ED-AB4E-583FA877F8F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9A5611-1446-2E7C-14A1-E8FA3295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Comando FOR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A9560BB-616C-E762-5A34-B2B3C114BC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BB3BA3-A7D0-E3BF-4D28-7764DE93B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1412" y="2631035"/>
            <a:ext cx="5289176" cy="491731"/>
          </a:xfrm>
        </p:spPr>
        <p:txBody>
          <a:bodyPr>
            <a:normAutofit/>
          </a:bodyPr>
          <a:lstStyle/>
          <a:p>
            <a:r>
              <a:rPr lang="pt-BR" sz="2400" dirty="0"/>
              <a:t>Exemplo e sintaxe:</a:t>
            </a:r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1FB9E8-4C3C-587E-B065-F62AA285D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412" y="3160867"/>
            <a:ext cx="5289176" cy="369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829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786</Words>
  <Application>Microsoft Office PowerPoint</Application>
  <PresentationFormat>Widescreen</PresentationFormat>
  <Paragraphs>155</Paragraphs>
  <Slides>16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Gill Sans MT</vt:lpstr>
      <vt:lpstr>Tema do Office</vt:lpstr>
      <vt:lpstr>Pacote</vt:lpstr>
      <vt:lpstr>MÓDULO 3 – Estruturas condicionais </vt:lpstr>
      <vt:lpstr>Estrutura Condicional</vt:lpstr>
      <vt:lpstr>Operadores Lógicos</vt:lpstr>
      <vt:lpstr>Operadores Relacionais (Comparadores)</vt:lpstr>
      <vt:lpstr>Comando IF</vt:lpstr>
      <vt:lpstr>Comando IF-ELSE</vt:lpstr>
      <vt:lpstr>Encadeamento de IF-ELSE</vt:lpstr>
      <vt:lpstr>Comando SWITCH-CASE</vt:lpstr>
      <vt:lpstr>MÓDULO 4 – Estruturas de repetição </vt:lpstr>
      <vt:lpstr>Estruturas de Repetição</vt:lpstr>
      <vt:lpstr>Comando WHILE</vt:lpstr>
      <vt:lpstr>Comando WHILE</vt:lpstr>
      <vt:lpstr>Comando DO-WHILE</vt:lpstr>
      <vt:lpstr>Comando DO-WHILE</vt:lpstr>
      <vt:lpstr>Comando FOR</vt:lpstr>
      <vt:lpstr>Comando FOR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100</cp:revision>
  <dcterms:created xsi:type="dcterms:W3CDTF">2026-07-26T12:48:37Z</dcterms:created>
  <dcterms:modified xsi:type="dcterms:W3CDTF">2026-08-22T19:14:45Z</dcterms:modified>
</cp:coreProperties>
</file>