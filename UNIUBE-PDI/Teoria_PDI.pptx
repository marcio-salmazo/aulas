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84" r:id="rId2"/>
  </p:sldMasterIdLst>
  <p:notesMasterIdLst>
    <p:notesMasterId r:id="rId25"/>
  </p:notesMasterIdLst>
  <p:sldIdLst>
    <p:sldId id="280" r:id="rId3"/>
    <p:sldId id="277" r:id="rId4"/>
    <p:sldId id="278" r:id="rId5"/>
    <p:sldId id="279" r:id="rId6"/>
    <p:sldId id="256" r:id="rId7"/>
    <p:sldId id="287" r:id="rId8"/>
    <p:sldId id="293" r:id="rId9"/>
    <p:sldId id="294" r:id="rId10"/>
    <p:sldId id="295" r:id="rId11"/>
    <p:sldId id="297" r:id="rId12"/>
    <p:sldId id="257" r:id="rId13"/>
    <p:sldId id="258" r:id="rId14"/>
    <p:sldId id="298" r:id="rId15"/>
    <p:sldId id="285" r:id="rId16"/>
    <p:sldId id="281" r:id="rId17"/>
    <p:sldId id="283" r:id="rId18"/>
    <p:sldId id="299" r:id="rId19"/>
    <p:sldId id="289" r:id="rId20"/>
    <p:sldId id="288" r:id="rId21"/>
    <p:sldId id="291" r:id="rId22"/>
    <p:sldId id="300" r:id="rId23"/>
    <p:sldId id="301" r:id="rId2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cio Salmazo Ramos" initials="MS" lastIdx="2" clrIdx="0">
    <p:extLst>
      <p:ext uri="{19B8F6BF-5375-455C-9EA6-DF929625EA0E}">
        <p15:presenceInfo xmlns:p15="http://schemas.microsoft.com/office/powerpoint/2012/main" userId="S::marciosr@ufu.br::41390c5d-c465-4ad4-9c2e-eaf7a78388f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504D"/>
    <a:srgbClr val="418A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77568" autoAdjust="0"/>
  </p:normalViewPr>
  <p:slideViewPr>
    <p:cSldViewPr snapToGrid="0">
      <p:cViewPr varScale="1">
        <p:scale>
          <a:sx n="88" d="100"/>
          <a:sy n="88" d="100"/>
        </p:scale>
        <p:origin x="14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commentAuthors" Target="commentAuthor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D03497-8374-466E-85FA-95E1138D8F6E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F36A49-A1DD-40F8-B8AD-E6F5365256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7028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8C351-DFF9-9BB4-C595-CB3EC6ABF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75BF112-E657-0452-8596-E92EF34F20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A91002F-A59D-1347-CCEF-5C5F7BF2BE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75A6B88-6AEB-E6CD-2753-B1DA2A27C8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05491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A7B2A-BF0C-6DE5-D7D4-EB437BE82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C9A454-78DF-0441-D12F-F57B1DCF91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BADED7D-9228-27C3-F085-8AD77D9937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F76711-7864-16B2-2D1A-140BF30DEF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57033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2EBE6-8028-CFB1-9724-36EFE5A09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069B76E-CD7C-F176-E30C-1FF6CBC78B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DF1F636-8DE6-4496-60E4-309D236B15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E5E1AEC-CF40-C324-4374-28168748E2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22613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84A9F-4876-629F-891A-6D247B74D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7E3B4A7-5916-5A37-F86B-2CA224A7B4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0CF73BD-08A0-6C5A-90F2-844EAE0788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FF1830E-CA2A-22E0-725D-2C8E1FF19F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030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60965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DFA8-F094-9115-7AB3-F8B0A6836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F7089E9-8ECE-FAC8-C0B6-E185528B5D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BEB7E30-F2BE-5AE2-7258-6651C3AB97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08735FE-8F9C-A971-8DB6-ECF7C64269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4469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8542A-5521-97B2-DFC5-BC153095B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FDDB8BE-4556-7DA4-E479-F14A3D07DD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AC04428-29A8-A358-A1CA-025BE14C4D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Medicina: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Ajuda a achar doenças em exames como raios-X e ressonâncias.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Satélites: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Permite ver mapas, cuidar da natureza e prever o tempo.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Indústria: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Serve para achar defeitos em produtos de forma rápida na linha de montagem.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Segurança: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Ajuda câmeras a reconhecer rostos e ler placas de carros.</a:t>
            </a:r>
          </a:p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6839280-BB42-C96F-CA92-A5FBAB9BE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94605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52D24-3133-10E6-38A5-CBF23850D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AD4AC1F-8F86-A699-4E03-B6E16E7F33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4C458F4-38FE-F5FB-AF1A-093DB7FEA4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1D96A9D-BC5D-FF8D-1BE9-37A5EA2EE6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19598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10620-DDB0-893F-187C-CB822DE6E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F867752-CC52-3030-0B18-6BE52BFA14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FA4E302-04CD-957A-8770-4DE65BEF77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A9B8B97-E906-160B-1D37-DC51D7F276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42567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D049B-0986-C744-6ACC-0568E2E50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9DDC72D-0640-A31B-A45E-19574FC5F7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E0F7008-6DCD-CBDE-D270-2EEAF6B9AE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47CECD6-413E-5F00-6A87-62F29F8306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56172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Números discretos 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são </a:t>
            </a:r>
            <a:r>
              <a:rPr lang="pt-BR" dirty="0"/>
              <a:t>valores numéricos separados e contáveis, como números inteiros, que não aceitam frações ou divisões intermediárias.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Valores Contínuos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indicam que qualquer valor é possível, ou qualquer valor dentro de uma determinada faixa.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captura de uma imagem por scanners e sensores </a:t>
            </a:r>
            <a:r>
              <a:rPr lang="pt-BR" dirty="0"/>
              <a:t>ocorre quando a luz ilumina um sensor, de modo que os fótons atingem pequenos pontos sensíveis e são convertidos em cargas elétricas, que viram números digitais.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dispositivo de carga acoplada</a:t>
            </a:r>
            <a:r>
              <a:rPr lang="pt-BR" dirty="0"/>
              <a:t> (conhecido pela sigla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CCD</a:t>
            </a:r>
            <a:r>
              <a:rPr lang="pt-BR" dirty="0"/>
              <a:t>, do inglês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charge-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coupled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device</a:t>
            </a:r>
            <a:r>
              <a:rPr lang="pt-BR" dirty="0"/>
              <a:t>) é um sensor usado para transformar luz em sinais elétricos e transferir cargas elétricas entre pequenos capacitores.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40231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0E330-3493-A968-77FA-EAF9BE78D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BB5CC82-C6BB-FC61-52B5-2642571C5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7875EAF-7267-192C-BDE0-4ADCB3DEB1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bitmap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(mapa de bits ou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raster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é uma imagem digital formada por uma grade de pequenos pontos coloridos chamados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pixels</a:t>
            </a:r>
          </a:p>
          <a:p>
            <a:r>
              <a:rPr lang="pt-BR" dirty="0"/>
              <a:t>Desse grupo fazem parte formatos como PNG, JPEG, GIF e o próprio BMP.</a:t>
            </a:r>
          </a:p>
          <a:p>
            <a:endParaRPr lang="pt-BR" dirty="0"/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Formato BMP (Bitmap do Windows)</a:t>
            </a:r>
            <a:r>
              <a:rPr lang="pt-BR" dirty="0"/>
              <a:t>: É um arquivo que guarda os dados de cada pixel de forma crua, sem nenhuma compactação. Por causa disso, os arquivos BMP ficam muito grandes e pesados.</a:t>
            </a:r>
          </a:p>
          <a:p>
            <a:r>
              <a:rPr lang="pt-BR" dirty="0"/>
              <a:t>Formato bitmap é ideal para imagens ricas em detalhamento, uma vez que cada pixel armazena um valor de intensidade e cor,</a:t>
            </a:r>
          </a:p>
          <a:p>
            <a:r>
              <a:rPr lang="pt-BR" dirty="0"/>
              <a:t>Mas sofre distorções caso a imagem seja redimensionada </a:t>
            </a:r>
          </a:p>
          <a:p>
            <a:endParaRPr lang="pt-BR" dirty="0"/>
          </a:p>
          <a:p>
            <a:r>
              <a:rPr lang="pt-BR" b="1" dirty="0"/>
              <a:t>Imagem Vetorizada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Podem ser reescalonada sem perca de qualidade, visto que estão associadas às funções matemáticas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Fácil edição:</a:t>
            </a:r>
            <a:r>
              <a:rPr lang="pt-BR" b="0" dirty="0"/>
              <a:t> </a:t>
            </a:r>
            <a:r>
              <a:rPr lang="pt-BR" dirty="0"/>
              <a:t>cada linha ou cor pode ser alterada sozinha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Principais Formatos: SVG (comum na internet/navegadores) e AI (adobe </a:t>
            </a:r>
            <a:r>
              <a:rPr lang="pt-BR" dirty="0" err="1"/>
              <a:t>illustrator</a:t>
            </a:r>
            <a:r>
              <a:rPr lang="pt-BR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O uso mais comum é em logomarcas</a:t>
            </a:r>
          </a:p>
          <a:p>
            <a:pPr marL="171450" indent="-171450">
              <a:buFontTx/>
              <a:buChar char="-"/>
            </a:pPr>
            <a:endParaRPr lang="pt-BR" b="1" dirty="0"/>
          </a:p>
          <a:p>
            <a:pPr marL="171450" indent="-171450">
              <a:buFontTx/>
              <a:buChar char="-"/>
            </a:pPr>
            <a:endParaRPr lang="pt-BR" b="1" dirty="0"/>
          </a:p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D288378-06E7-8AD6-6723-0B6E6D0F0F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34576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9D1B9-FF5C-91D2-16D8-944394F24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896E7AF-E24E-1D33-A434-EDE3BC483B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93CB22F-EFAC-FE3B-6BFD-FDB223C3C9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4AE10D7-1F32-3157-2AB8-1D1E34BAF2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69474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F9EE8-DBDA-1127-22A7-9A7A4AD5F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EBF96FB-7214-B61F-3C46-DDDC24F275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4A6B09B-0A48-2F1A-51CD-19CACE611C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26A95F6-04AA-4E48-99B3-C769C3258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17208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2E4BA9-BC19-9D59-B3FA-F36170136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51D76EF-2A97-A72D-D4A6-8F53FF4057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C99A900-0F73-B94C-7D02-01D6AA0C03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PPI (Pixels Per Inch)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é o termo mais comum no meio digital. </a:t>
            </a:r>
          </a:p>
          <a:p>
            <a:pPr marL="171450" indent="-171450">
              <a:buFontTx/>
              <a:buChar char="-"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indica quantos pixels existem em cada polegada de uma imagem que será exibida em uma tela</a:t>
            </a:r>
          </a:p>
          <a:p>
            <a:pPr marL="171450" indent="-171450">
              <a:buFontTx/>
              <a:buChar char="-"/>
            </a:pP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DPI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Dots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 Inch)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é mais usado no contexto de impressão</a:t>
            </a:r>
          </a:p>
          <a:p>
            <a:pPr marL="171450" indent="-171450">
              <a:buFontTx/>
              <a:buChar char="-"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define a quantidade de pontos de tinta que a impressora aplica por polegada.</a:t>
            </a:r>
          </a:p>
          <a:p>
            <a:pPr marL="0" indent="0">
              <a:buFontTx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D02E232-FFF4-5E95-6278-82EEC5EF83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247875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524BF-92CA-B5B3-9861-8099BAFF4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B876457-DE0E-72B8-B861-5EC7838BC6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>
                <a:extLst>
                  <a:ext uri="{FF2B5EF4-FFF2-40B4-BE49-F238E27FC236}">
                    <a16:creationId xmlns:a16="http://schemas.microsoft.com/office/drawing/2014/main" id="{5578BBE7-730E-DF78-ABD8-8CE93410FB67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Uma TV de </a:t>
                </a:r>
                <a:r>
                  <a:rPr lang="pt-BR" b="1" dirty="0"/>
                  <a:t>43" Full HD</a:t>
                </a:r>
                <a:r>
                  <a:rPr lang="pt-BR" dirty="0"/>
                  <a:t>:</a:t>
                </a:r>
              </a:p>
              <a:p>
                <a:r>
                  <a:rPr lang="pt-BR" dirty="0"/>
                  <a:t>Resolução: 1920 × 1080 </a:t>
                </a:r>
              </a:p>
              <a:p>
                <a:r>
                  <a:rPr lang="pt-BR" dirty="0"/>
                  <a:t>Diagonal em pixels: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lang="ar-AE" sz="120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1920</m:t>
                              </m:r>
                            </m:e>
                            <m:sup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+</m:t>
                          </m:r>
                          <m:sSup>
                            <m:sSup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1080</m:t>
                              </m:r>
                            </m:e>
                            <m:sup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ar-AE" sz="1200" i="0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≈</m:t>
                      </m:r>
                      <m:r>
                        <a:rPr lang="ar-AE" sz="1200" i="0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2203</m:t>
                      </m:r>
                      <m:r>
                        <m:rPr>
                          <m:nor/>
                        </m:rPr>
                        <a:rPr lang="ar-AE" sz="1200" b="0" i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 </m:t>
                      </m:r>
                      <m:r>
                        <m:rPr>
                          <m:nor/>
                        </m:rPr>
                        <a:rPr lang="pt-BR" sz="1200" b="0" i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pixels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Então: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𝑃𝑃𝐼</m:t>
                      </m:r>
                      <m:r>
                        <a:rPr lang="pt-BR" sz="1200" i="0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2203</m:t>
                          </m:r>
                        </m:num>
                        <m:den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43</m:t>
                          </m:r>
                        </m:den>
                      </m:f>
                      <m:r>
                        <a:rPr lang="ar-AE" sz="1200" i="0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≈</m:t>
                      </m:r>
                      <m:r>
                        <a:rPr lang="ar-AE" sz="1200" i="0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51</m:t>
                      </m:r>
                      <m:r>
                        <m:rPr>
                          <m:nor/>
                        </m:rPr>
                        <a:rPr lang="ar-AE" sz="1200" b="0" i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 </m:t>
                      </m:r>
                      <m:r>
                        <m:rPr>
                          <m:nor/>
                        </m:rPr>
                        <a:rPr lang="pt-BR" sz="1200" b="0" i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PPI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Agora imagine um notebook de </a:t>
                </a:r>
                <a:r>
                  <a:rPr lang="pt-BR" b="1" dirty="0"/>
                  <a:t>15,6"</a:t>
                </a:r>
                <a:r>
                  <a:rPr lang="pt-BR" dirty="0"/>
                  <a:t> também Full HD: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𝑃𝑃𝐼</m:t>
                      </m:r>
                      <m:r>
                        <a:rPr lang="pt-BR" sz="1200" i="0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2203</m:t>
                          </m:r>
                        </m:num>
                        <m:den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15</m:t>
                          </m:r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.</m:t>
                          </m:r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6</m:t>
                          </m:r>
                        </m:den>
                      </m:f>
                      <m:r>
                        <a:rPr lang="ar-AE" sz="1200" i="0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≈</m:t>
                      </m:r>
                      <m:r>
                        <a:rPr lang="ar-AE" sz="1200" i="0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141</m:t>
                      </m:r>
                      <m:r>
                        <m:rPr>
                          <m:nor/>
                        </m:rPr>
                        <a:rPr lang="ar-AE" sz="1200" b="0" i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 </m:t>
                      </m:r>
                      <m:r>
                        <m:rPr>
                          <m:nor/>
                        </m:rPr>
                        <a:rPr lang="pt-BR" sz="1200" b="0" i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PPI</m:t>
                      </m:r>
                    </m:oMath>
                  </m:oMathPara>
                </a14:m>
                <a:endParaRPr lang="pt-BR" b="0" dirty="0"/>
              </a:p>
              <a:p>
                <a:pPr marL="171450" indent="-171450">
                  <a:buFontTx/>
                  <a:buChar char="-"/>
                </a:pPr>
                <a:endParaRPr lang="pt-BR" b="1" dirty="0"/>
              </a:p>
              <a:p>
                <a:pPr marL="171450" indent="-171450">
                  <a:buFontTx/>
                  <a:buChar char="-"/>
                </a:pPr>
                <a:r>
                  <a:rPr lang="pt-BR" b="1" dirty="0"/>
                  <a:t>Ambos possuem exatamente a mesma resolução (1920 × 1080)</a:t>
                </a:r>
                <a:r>
                  <a:rPr lang="pt-BR" dirty="0"/>
                  <a:t>, mas densidades de pixels muito diferentes.</a:t>
                </a:r>
              </a:p>
              <a:p>
                <a:pPr marL="171450" indent="-171450">
                  <a:buFontTx/>
                  <a:buChar char="-"/>
                </a:pPr>
                <a:r>
                  <a:rPr lang="pt-BR" b="1" dirty="0"/>
                  <a:t>Isso acontece porque </a:t>
                </a:r>
                <a:r>
                  <a:rPr lang="pt-BR" dirty="0"/>
                  <a:t>a mesma quantidade de pixels está distribuída em áreas físicas diferentes.</a:t>
                </a:r>
              </a:p>
              <a:p>
                <a:pPr marL="171450" indent="-171450">
                  <a:buFontTx/>
                  <a:buChar char="-"/>
                </a:pPr>
                <a:r>
                  <a:rPr lang="pt-BR" dirty="0"/>
                  <a:t>Por isso celulares costumam ter entre </a:t>
                </a:r>
                <a:r>
                  <a:rPr lang="pt-BR" b="1" dirty="0"/>
                  <a:t>300 e 500 PPI</a:t>
                </a:r>
                <a:r>
                  <a:rPr lang="pt-BR" dirty="0"/>
                  <a:t>, enquanto TVs normalmente ficam entre </a:t>
                </a:r>
                <a:r>
                  <a:rPr lang="pt-BR" b="1" dirty="0"/>
                  <a:t>40 e 100 PPI</a:t>
                </a:r>
              </a:p>
            </p:txBody>
          </p:sp>
        </mc:Choice>
        <mc:Fallback xmlns="">
          <p:sp>
            <p:nvSpPr>
              <p:cNvPr id="3" name="Espaço Reservado para Anotações 2">
                <a:extLst>
                  <a:ext uri="{FF2B5EF4-FFF2-40B4-BE49-F238E27FC236}">
                    <a16:creationId xmlns:a16="http://schemas.microsoft.com/office/drawing/2014/main" id="{5578BBE7-730E-DF78-ABD8-8CE93410FB67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Uma TV de </a:t>
                </a:r>
                <a:r>
                  <a:rPr lang="pt-BR" b="1" dirty="0"/>
                  <a:t>43" Full HD</a:t>
                </a:r>
                <a:r>
                  <a:rPr lang="pt-BR" dirty="0"/>
                  <a:t>:</a:t>
                </a:r>
              </a:p>
              <a:p>
                <a:r>
                  <a:rPr lang="pt-BR" dirty="0"/>
                  <a:t>Resolução: 1920 × 1080 </a:t>
                </a:r>
              </a:p>
              <a:p>
                <a:r>
                  <a:rPr lang="pt-BR" dirty="0"/>
                  <a:t>Diagonal em pixels: 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√(1920^2+1080^2 )≈2203</a:t>
                </a:r>
                <a:r>
                  <a:rPr lang="ar-AE" sz="1200" b="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" </a:t>
                </a:r>
                <a:r>
                  <a:rPr lang="pt-BR" sz="1200" b="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pixels</a:t>
                </a:r>
                <a:r>
                  <a:rPr lang="pt-BR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</a:t>
                </a:r>
                <a:endParaRPr lang="pt-BR" b="0" dirty="0"/>
              </a:p>
              <a:p>
                <a:r>
                  <a:rPr lang="pt-BR" dirty="0"/>
                  <a:t>Então:</a:t>
                </a:r>
              </a:p>
              <a:p>
                <a:r>
                  <a:rPr lang="pt-BR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𝑃𝑃𝐼=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2203/43≈51</a:t>
                </a:r>
                <a:r>
                  <a:rPr lang="ar-AE" sz="1200" b="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" </a:t>
                </a:r>
                <a:r>
                  <a:rPr lang="pt-BR" sz="1200" b="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PPI</a:t>
                </a:r>
                <a:r>
                  <a:rPr lang="pt-BR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</a:t>
                </a:r>
                <a:endParaRPr lang="pt-BR" b="0" dirty="0"/>
              </a:p>
              <a:p>
                <a:r>
                  <a:rPr lang="pt-BR" dirty="0"/>
                  <a:t>Agora imagine um notebook de </a:t>
                </a:r>
                <a:r>
                  <a:rPr lang="pt-BR" b="1" dirty="0"/>
                  <a:t>15,6"</a:t>
                </a:r>
                <a:r>
                  <a:rPr lang="pt-BR" dirty="0"/>
                  <a:t> também Full HD:</a:t>
                </a:r>
              </a:p>
              <a:p>
                <a:r>
                  <a:rPr lang="pt-BR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𝑃𝑃𝐼=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2203/15.6≈141</a:t>
                </a:r>
                <a:r>
                  <a:rPr lang="ar-AE" sz="1200" b="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" </a:t>
                </a:r>
                <a:r>
                  <a:rPr lang="pt-BR" sz="1200" b="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PPI</a:t>
                </a:r>
                <a:r>
                  <a:rPr lang="pt-BR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</a:t>
                </a:r>
                <a:endParaRPr lang="pt-BR" b="0" dirty="0"/>
              </a:p>
              <a:p>
                <a:pPr marL="171450" indent="-171450">
                  <a:buFontTx/>
                  <a:buChar char="-"/>
                </a:pPr>
                <a:endParaRPr lang="pt-BR" b="1" dirty="0"/>
              </a:p>
              <a:p>
                <a:pPr marL="171450" indent="-171450">
                  <a:buFontTx/>
                  <a:buChar char="-"/>
                </a:pPr>
                <a:r>
                  <a:rPr lang="pt-BR" b="1" dirty="0"/>
                  <a:t>Ambos possuem exatamente a mesma resolução (1920 × 1080)</a:t>
                </a:r>
                <a:r>
                  <a:rPr lang="pt-BR" dirty="0"/>
                  <a:t>, mas densidades de pixels muito diferentes.</a:t>
                </a:r>
              </a:p>
              <a:p>
                <a:pPr marL="171450" indent="-171450">
                  <a:buFontTx/>
                  <a:buChar char="-"/>
                </a:pPr>
                <a:r>
                  <a:rPr lang="pt-BR" b="1" dirty="0"/>
                  <a:t>Isso acontece porque </a:t>
                </a:r>
                <a:r>
                  <a:rPr lang="pt-BR" dirty="0"/>
                  <a:t>a mesma quantidade de pixels está distribuída em áreas físicas diferentes.</a:t>
                </a:r>
              </a:p>
              <a:p>
                <a:pPr marL="171450" indent="-171450">
                  <a:buFontTx/>
                  <a:buChar char="-"/>
                </a:pPr>
                <a:r>
                  <a:rPr lang="pt-BR" dirty="0"/>
                  <a:t>Por isso celulares costumam ter entre </a:t>
                </a:r>
                <a:r>
                  <a:rPr lang="pt-BR" b="1" dirty="0"/>
                  <a:t>300 e 500 PPI</a:t>
                </a:r>
                <a:r>
                  <a:rPr lang="pt-BR" dirty="0"/>
                  <a:t>, enquanto TVs normalmente ficam entre </a:t>
                </a:r>
                <a:r>
                  <a:rPr lang="pt-BR" b="1" dirty="0"/>
                  <a:t>40 e 100 PPI</a:t>
                </a:r>
              </a:p>
            </p:txBody>
          </p:sp>
        </mc:Fallback>
      </mc:AlternateContent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67B81D1-E225-B0D5-DF69-5A731B3ED0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499289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581DA-02A7-E15A-B089-5EFBC7D30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3077572-E599-BDB6-6B75-9145EE055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DC5B5EC-D24A-3AC6-A4B5-F16D6C3969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Etapas básicas para transformar um sinal contínuo (analógico) em um sinal digital</a:t>
            </a:r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395F9B1-FA4A-EE8E-D17B-028081B78C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997337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13B6B-6FD2-52E4-33B9-D6D539596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808E45F-E538-5FB0-D17D-B30473046A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5CBBE6F-FAFC-D3E6-3C1A-4788C5D236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pt-BR" b="1" dirty="0">
                <a:effectLst/>
                <a:latin typeface="Google Sans"/>
              </a:rPr>
              <a:t>Tipos de Compressão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effectLst/>
                <a:latin typeface="Google Sans"/>
              </a:rPr>
              <a:t>Sem perdas:</a:t>
            </a:r>
            <a:r>
              <a:rPr lang="pt-BR" b="0" dirty="0">
                <a:effectLst/>
                <a:latin typeface="Google Sans"/>
              </a:rPr>
              <a:t> Mantém todos os dados originais e reconstrói a imagem de forma exata (exemplos: PNG, GIF, algoritmos como </a:t>
            </a:r>
            <a:r>
              <a:rPr lang="pt-BR" b="0" dirty="0" err="1">
                <a:effectLst/>
                <a:latin typeface="Google Sans"/>
              </a:rPr>
              <a:t>Huffman</a:t>
            </a:r>
            <a:r>
              <a:rPr lang="pt-BR" b="0" dirty="0">
                <a:effectLst/>
                <a:latin typeface="Google Sans"/>
              </a:rPr>
              <a:t>).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effectLst/>
                <a:latin typeface="Google Sans"/>
              </a:rPr>
              <a:t>Com perdas:</a:t>
            </a:r>
            <a:r>
              <a:rPr lang="pt-BR" b="0" dirty="0">
                <a:effectLst/>
                <a:latin typeface="Google Sans"/>
              </a:rPr>
              <a:t> Descarta detalhes menos visíveis para diminuir bastante o tamanho do arquivo (exemplo: JPEG). </a:t>
            </a:r>
          </a:p>
          <a:p>
            <a:pPr>
              <a:spcBef>
                <a:spcPts val="900"/>
              </a:spcBef>
              <a:spcAft>
                <a:spcPts val="1200"/>
              </a:spcAft>
              <a:buNone/>
            </a:pPr>
            <a:endParaRPr lang="pt-BR" b="1" dirty="0">
              <a:effectLst/>
              <a:latin typeface="Google Sans"/>
            </a:endParaRPr>
          </a:p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pt-BR" b="1" dirty="0">
                <a:effectLst/>
                <a:latin typeface="Google Sans"/>
              </a:rPr>
              <a:t>Principais Técnicas e Padrões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effectLst/>
                <a:latin typeface="Google Sans"/>
              </a:rPr>
              <a:t>Transformada Discreta de Cossenos (DCT):</a:t>
            </a:r>
            <a:r>
              <a:rPr lang="pt-BR" b="0" dirty="0">
                <a:effectLst/>
                <a:latin typeface="Google Sans"/>
              </a:rPr>
              <a:t> Usada no padrão JPEG para separar frequências de cor e luz.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 err="1">
                <a:effectLst/>
                <a:latin typeface="Google Sans"/>
              </a:rPr>
              <a:t>Run-Length</a:t>
            </a:r>
            <a:r>
              <a:rPr lang="pt-BR" b="1" dirty="0">
                <a:effectLst/>
                <a:latin typeface="Google Sans"/>
              </a:rPr>
              <a:t> </a:t>
            </a:r>
            <a:r>
              <a:rPr lang="pt-BR" b="1" dirty="0" err="1">
                <a:effectLst/>
                <a:latin typeface="Google Sans"/>
              </a:rPr>
              <a:t>Encoding</a:t>
            </a:r>
            <a:r>
              <a:rPr lang="pt-BR" b="1" dirty="0">
                <a:effectLst/>
                <a:latin typeface="Google Sans"/>
              </a:rPr>
              <a:t> (RLE):</a:t>
            </a:r>
            <a:r>
              <a:rPr lang="pt-BR" b="0" dirty="0">
                <a:effectLst/>
                <a:latin typeface="Google Sans"/>
              </a:rPr>
              <a:t> Agrupa sequências de pixels repetidos em códigos curtos.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effectLst/>
                <a:latin typeface="Google Sans"/>
              </a:rPr>
              <a:t>Base64:</a:t>
            </a:r>
            <a:r>
              <a:rPr lang="pt-BR" b="0" dirty="0">
                <a:effectLst/>
                <a:latin typeface="Google Sans"/>
              </a:rPr>
              <a:t> Converte dados binários da imagem em texto para uso direto em códigos HTML ou CSS</a:t>
            </a:r>
          </a:p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2A5E021-7465-7F61-2529-3A4A35AAB4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8312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DA2FD-90EF-E7B2-727B-97312C415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8D1B19F-B60A-0FDF-9750-6FA6DBD3A2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5F47053-1CDB-0C26-B9D9-9E47A2A80C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Amostragem espacial:</a:t>
            </a:r>
            <a:r>
              <a:rPr lang="pt-BR" dirty="0"/>
              <a:t> Define o número de pixels por polegada ou área (como DPI ou PPI), dividindo a cena em linhas e colunas.</a:t>
            </a:r>
            <a:endParaRPr lang="pt-BR" b="1" dirty="0"/>
          </a:p>
          <a:p>
            <a:endParaRPr lang="pt-BR" b="1" dirty="0"/>
          </a:p>
          <a:p>
            <a:r>
              <a:rPr lang="pt-BR" b="1" dirty="0"/>
              <a:t>Exemplo simples</a:t>
            </a:r>
          </a:p>
          <a:p>
            <a:r>
              <a:rPr lang="pt-BR" dirty="0"/>
              <a:t>Imagine uma régua de 10 cm.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Podemos medi-la:</a:t>
            </a:r>
          </a:p>
          <a:p>
            <a:endParaRPr lang="pt-BR" dirty="0"/>
          </a:p>
          <a:p>
            <a:r>
              <a:rPr lang="pt-BR" dirty="0"/>
              <a:t>A cada 5 cm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|---------|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0         10</a:t>
            </a:r>
          </a:p>
          <a:p>
            <a:endParaRPr lang="pt-BR" dirty="0"/>
          </a:p>
          <a:p>
            <a:r>
              <a:rPr lang="pt-BR" dirty="0"/>
              <a:t>Ou</a:t>
            </a:r>
          </a:p>
          <a:p>
            <a:endParaRPr lang="pt-BR" dirty="0"/>
          </a:p>
          <a:p>
            <a:r>
              <a:rPr lang="pt-BR" dirty="0"/>
              <a:t>A cada 1 cm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||||||||||</a:t>
            </a:r>
          </a:p>
          <a:p>
            <a:endParaRPr lang="pt-BR" dirty="0"/>
          </a:p>
          <a:p>
            <a:r>
              <a:rPr lang="pt-BR" dirty="0"/>
              <a:t>Quanto mais pontos, mais fiel será a representação.</a:t>
            </a:r>
            <a:endParaRPr lang="pt-BR" b="1" dirty="0"/>
          </a:p>
          <a:p>
            <a:endParaRPr lang="pt-BR" b="1" dirty="0"/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92E9C41-AC1C-19AF-45B4-9FBAB7B909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06796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4AA50-281E-C039-5108-83C33F1B0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11E8E75-0B4B-9941-E1EF-B4159A1871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A424561-E7ED-E636-B3E1-36B935115E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62963E1-64DC-BCBF-60C8-64230D86D2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8000784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74805-8BF6-3D5A-96E2-E7CDFD310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F41C1C2-629C-A76A-E155-951C8CC467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14C7E3D-3300-FCA1-9C4A-B831C4727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perdas (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Lossy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Apaga detalhes que os olhos humanos não percebem bem para deixar o arquivo leve, como no formato JPEG.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perdas (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Lossless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Guarda todos os pontos originais sem perder nada da qualidade, como no formato PNG ou Bitmap.</a:t>
            </a:r>
          </a:p>
          <a:p>
            <a:endParaRPr lang="pt-BR" b="1" dirty="0"/>
          </a:p>
          <a:p>
            <a:r>
              <a:rPr lang="pt-BR" b="1" dirty="0"/>
              <a:t>PDF não é um tipo de imagem, </a:t>
            </a:r>
            <a:r>
              <a:rPr lang="pt-BR" b="0" dirty="0"/>
              <a:t>mas serve para armazenar dados de imagem ou gráficos vetorizados.</a:t>
            </a:r>
          </a:p>
          <a:p>
            <a:r>
              <a:rPr lang="pt-BR" b="1" dirty="0"/>
              <a:t>EPS</a:t>
            </a:r>
            <a:r>
              <a:rPr lang="pt-BR" b="0" dirty="0"/>
              <a:t> é um formato de imagem vetorial criado pela Adobe</a:t>
            </a: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5CAFD5C-9B88-869B-1760-94F39E1D0E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972421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295EB-5EDA-19EF-43C8-960C2A5D2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D7D793C-9565-8BA2-FF27-01F3CC5E46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622DFD3-6444-AE57-0959-8B3060BF4E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Etapas básicas para transformar um sinal contínuo (analógico) em um sinal digital</a:t>
            </a:r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C3EC95F-06FD-6990-14C7-4B4D402489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3847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19B856-A0BC-D210-1737-D966320C0D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33AAC6-2469-CA4A-EC71-9377AF26B7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A0F87A-0C4B-6CED-A923-692979682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FA1D701-1F2B-F9DB-3467-1E702506B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D3A131-BC6D-009A-1316-11C0D511C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442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43BFD2-F256-47DF-B808-ACC0E3CF5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B715E3-1B62-B718-0545-18D1860ED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0F8541-A06F-A96B-9C7B-7B6775D69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9E2F6F-2F51-FB58-B282-FF6552915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84CA48A-0835-7D5D-0C5C-4C7E737E1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30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7B632-00A4-041E-134C-3945EC5FF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E8B5D6A-FCFF-76AF-3B41-CBCC1C30C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FA63B6D-65C2-A8BA-7A75-E7BFF8AEE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B2149EC-9298-99F7-4DF2-9F8975261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9D0D51F-3496-83FE-F993-6F3C5B119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5493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630C98-DF9F-EDDF-13FE-19484E4CE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DBEED7-86EF-7D00-9D5B-35BED814DF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C4CFBCA-7118-0084-2BFD-AB37CB71E8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D1CCABC-FE63-8FD2-5554-56984A3C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D78125A-07B7-CBA7-1A67-B800BA64C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673A3AF-1DE0-4AD3-272B-485CC6D87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3329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9E8815-ABA0-CB0F-583F-E97EB7B59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6E8AD69-3F40-C1E3-9580-6371DC13C5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5D54DCD-A467-392C-7882-9A1F2699C5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1F29C69-1D15-E7B8-95EE-E358ABDD23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DD9B3A3-CEB4-374A-3FA1-C3BD23A5E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9B6B5B5-5DE0-2665-4666-5A565F02F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272278B-CB99-E2F9-7531-401CE1BF3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50092DA-D538-B982-0833-39924176B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1193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764F77-C07B-657B-DE18-927ED3DD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1F6EABF-1DF7-2F1B-A964-4AFF92830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9E70771-5A68-7380-1FAC-A7D89E013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358ABD1-E925-1590-6C8E-DFC75A7BF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2118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C0372F4-7179-777F-1E51-88AB1A64E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77D26EF-C956-F4CD-8145-1C415DFC6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53EA769-C25E-4FD8-7E9E-E604C8529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73358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FA3AA1-798F-3AA2-B6BB-62D9B3824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8C13AA-9014-6117-7A37-A036F09F8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84FAC68-54B7-EFCE-9620-BC6F67419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F950BCB-3838-1B1C-112C-A644060F9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C8779FA-261C-A76B-DBC7-DB58B8C11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2B5AFCC-7631-7153-2CC4-B4689FB8C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1812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CE3E92-DCFD-D54F-EB9D-EF97B8981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CA9DF57-38D6-FEBE-B65C-3AF4E429E9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117E586-D1EC-101C-F876-DEE5A2C81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4655D0E-B1E7-844D-7A98-DA49B4EC7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B538A87-1978-7251-4706-04805D27D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B8910AE-1487-27DE-EE72-B1B0DB539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338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4BC46-0BF2-E806-F16A-DB5D201D6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9D14E5E-509B-F711-3B25-614C8C3BCE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81C6A8-9DA7-0C1F-372D-B2C9FD24F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AFE38E9-C9A5-2C3E-744D-E323F97B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FD1C984-499C-C6BA-9715-0B7BEAC9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243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F40F235-1569-6ED0-A5F0-7DA432452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3DB6C81-CE19-AE0C-8D05-2FBC656790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D43C4D-693E-5D37-DE0F-919B77DE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1D2A9D6-4B21-E9D7-968B-F18C64697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4010A06-B61B-8C4F-3894-CA75C019D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04866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3257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83586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55726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3681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7489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9328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79982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080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25449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9987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9945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29C4ED7-C003-33C2-9CEB-2E9750319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730AEA1-DE82-52D0-65A9-766B9E2D2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2E4FEE-859A-D6B3-CF41-EDFF0B1CDE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19F3FAC-49A4-4E94-C84A-41786DC2CE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5435549-C584-1997-7B0B-6DC079118A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94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8919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F0EC1-7C1D-9280-1B58-3F6A425D4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040E75-1356-94B7-0421-DEF5421250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Plano de ensino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1B096D7-64D7-8FC4-9F80-6A40ADEAC6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6019B48-999B-D892-EAC1-867ADFDE66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04052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B1F24-3A37-BE5E-87E6-8DFD228F4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0E9C820-C403-81DA-4458-0F826AB9D6E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7DBEF96-5BB9-10F9-BA9C-FDE0A19F6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Sistema de avaliação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6D3F682-1904-6B9C-FB31-DC217F584E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6728EE4-B88D-A8C9-80CD-CA18D0C7F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60860" y="2245646"/>
            <a:ext cx="8670280" cy="3657600"/>
          </a:xfrm>
        </p:spPr>
        <p:txBody>
          <a:bodyPr/>
          <a:lstStyle/>
          <a:p>
            <a:r>
              <a:rPr lang="pt-BR" sz="2400" dirty="0"/>
              <a:t>Pontuação semestral total do componente curricular, no valor de 100 (cem pontos).</a:t>
            </a:r>
          </a:p>
          <a:p>
            <a:endParaRPr lang="pt-BR" sz="2400" dirty="0"/>
          </a:p>
          <a:p>
            <a:r>
              <a:rPr lang="pt-BR" sz="2400" dirty="0"/>
              <a:t>Pontuação necessária para aprovação: 60% (sessenta por cento) da pontuação semestral do componente.</a:t>
            </a:r>
          </a:p>
          <a:p>
            <a:endParaRPr lang="pt-BR" sz="2400" dirty="0"/>
          </a:p>
          <a:p>
            <a:r>
              <a:rPr lang="pt-BR" sz="2400" dirty="0"/>
              <a:t>Frequência necessária para aprovação: 75% (setenta e cinco por cento) no componente curricular.</a:t>
            </a:r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95529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C6F12-CB60-EC12-334D-A843F4105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522B2D8-67D3-186B-9646-B4F2E93DCAD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627AF45-4965-F2EA-4785-9BD925E69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Distribuição de Notas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1C6C694-907B-4090-64BD-AEE83CCF19C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EBA44CF-0249-2FC7-5D35-8CE4AAB5D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6540" y="1804575"/>
            <a:ext cx="8670280" cy="4746632"/>
          </a:xfrm>
        </p:spPr>
        <p:txBody>
          <a:bodyPr/>
          <a:lstStyle/>
          <a:p>
            <a:r>
              <a:rPr lang="pt-BR" sz="2400" dirty="0"/>
              <a:t>Atividades Complementares 1 – </a:t>
            </a:r>
            <a:r>
              <a:rPr lang="pt-BR" sz="2400" b="1" dirty="0"/>
              <a:t>5pts</a:t>
            </a:r>
          </a:p>
          <a:p>
            <a:r>
              <a:rPr lang="pt-BR" sz="2400" dirty="0" err="1"/>
              <a:t>Uniube</a:t>
            </a:r>
            <a:r>
              <a:rPr lang="pt-BR" sz="2400" dirty="0"/>
              <a:t>+ – </a:t>
            </a:r>
            <a:r>
              <a:rPr lang="pt-BR" sz="2400" b="1" dirty="0"/>
              <a:t>5pts</a:t>
            </a:r>
            <a:endParaRPr lang="pt-BR" sz="2400" dirty="0"/>
          </a:p>
          <a:p>
            <a:r>
              <a:rPr lang="pt-BR" sz="2400" dirty="0"/>
              <a:t>Avaliação 1 – </a:t>
            </a:r>
            <a:r>
              <a:rPr lang="pt-BR" sz="2400" b="1" dirty="0"/>
              <a:t>25pts</a:t>
            </a:r>
            <a:r>
              <a:rPr lang="pt-BR" sz="2400" dirty="0"/>
              <a:t> – Data prevista: </a:t>
            </a:r>
          </a:p>
          <a:p>
            <a:pPr marL="0" indent="0">
              <a:buNone/>
            </a:pPr>
            <a:endParaRPr lang="pt-BR" sz="2400" dirty="0"/>
          </a:p>
          <a:p>
            <a:r>
              <a:rPr lang="pt-BR" sz="2400" dirty="0"/>
              <a:t>Atividades Complementares 2 – </a:t>
            </a:r>
            <a:r>
              <a:rPr lang="pt-BR" sz="2400" b="1" dirty="0"/>
              <a:t>10pts</a:t>
            </a:r>
          </a:p>
          <a:p>
            <a:r>
              <a:rPr lang="pt-BR" sz="2400" dirty="0" err="1"/>
              <a:t>Uniube</a:t>
            </a:r>
            <a:r>
              <a:rPr lang="pt-BR" sz="2400" dirty="0"/>
              <a:t>+ – </a:t>
            </a:r>
            <a:r>
              <a:rPr lang="pt-BR" sz="2400" b="1" dirty="0"/>
              <a:t>10pts</a:t>
            </a:r>
            <a:endParaRPr lang="pt-BR" sz="2400" dirty="0"/>
          </a:p>
          <a:p>
            <a:r>
              <a:rPr lang="pt-BR" sz="2400" dirty="0"/>
              <a:t>Avaliação 2 – </a:t>
            </a:r>
            <a:r>
              <a:rPr lang="pt-BR" sz="2400" b="1" dirty="0"/>
              <a:t>30pts</a:t>
            </a:r>
            <a:r>
              <a:rPr lang="pt-BR" sz="2400" dirty="0"/>
              <a:t> – Data prevista: </a:t>
            </a:r>
          </a:p>
          <a:p>
            <a:endParaRPr lang="pt-BR" sz="2400" dirty="0"/>
          </a:p>
          <a:p>
            <a:r>
              <a:rPr lang="pt-BR" sz="2400" dirty="0"/>
              <a:t>Avaliação Institucional – </a:t>
            </a:r>
            <a:r>
              <a:rPr lang="pt-BR" sz="2400" b="1" dirty="0"/>
              <a:t>15pts</a:t>
            </a:r>
            <a:endParaRPr lang="pt-BR" sz="2400" dirty="0"/>
          </a:p>
          <a:p>
            <a:r>
              <a:rPr lang="pt-BR" sz="2400" dirty="0"/>
              <a:t>Soma total de pontos: </a:t>
            </a:r>
            <a:r>
              <a:rPr lang="pt-BR" sz="2400" b="1" dirty="0"/>
              <a:t>100pts</a:t>
            </a:r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  <p:pic>
        <p:nvPicPr>
          <p:cNvPr id="1026" name="Picture 2" descr="Teste - ícones de educação grátis">
            <a:extLst>
              <a:ext uri="{FF2B5EF4-FFF2-40B4-BE49-F238E27FC236}">
                <a16:creationId xmlns:a16="http://schemas.microsoft.com/office/drawing/2014/main" id="{5C4BB763-0221-5AB3-8665-67367B488F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5126" y="2518544"/>
            <a:ext cx="3150736" cy="3150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0451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8EFC3-284D-D3E8-E50A-9E8782F14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1CC91A5-617B-F614-3886-EF59D2171B4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778D71A-5EF8-AADA-8ACC-9C2D89EE5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Bibliografia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D9276FC-2835-8FCA-9E06-6FEFA248BD6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0EE607F-D9F4-7951-D428-ABA18E81EE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6540" y="1804575"/>
            <a:ext cx="8670280" cy="4746632"/>
          </a:xfrm>
        </p:spPr>
        <p:txBody>
          <a:bodyPr/>
          <a:lstStyle/>
          <a:p>
            <a:r>
              <a:rPr lang="pt-BR" sz="2400" b="1" dirty="0"/>
              <a:t>Básica</a:t>
            </a:r>
          </a:p>
          <a:p>
            <a:pPr lvl="1"/>
            <a:endParaRPr lang="pt-BR" sz="2000" dirty="0"/>
          </a:p>
          <a:p>
            <a:pPr lvl="1"/>
            <a:r>
              <a:rPr lang="pt-BR" sz="2000" dirty="0"/>
              <a:t>Processamento Digital de Imagens – Gonzales &amp; Woods</a:t>
            </a:r>
          </a:p>
          <a:p>
            <a:pPr lvl="1"/>
            <a:r>
              <a:rPr lang="pt-BR" sz="2000" dirty="0"/>
              <a:t>Computação gráfica e processamento de imagens – Francisco Pichetti</a:t>
            </a:r>
          </a:p>
          <a:p>
            <a:endParaRPr lang="pt-BR" sz="2400" dirty="0"/>
          </a:p>
          <a:p>
            <a:r>
              <a:rPr lang="pt-BR" sz="2400" b="1" dirty="0"/>
              <a:t>Complementar</a:t>
            </a:r>
          </a:p>
          <a:p>
            <a:pPr lvl="1"/>
            <a:endParaRPr lang="pt-BR" sz="2000" dirty="0"/>
          </a:p>
          <a:p>
            <a:pPr lvl="1"/>
            <a:r>
              <a:rPr lang="pt-BR" sz="2000" dirty="0"/>
              <a:t>Processamento de imagens de satélite – Daniel Zanotta</a:t>
            </a:r>
          </a:p>
          <a:p>
            <a:pPr lvl="1"/>
            <a:r>
              <a:rPr lang="pt-BR" sz="2000" dirty="0"/>
              <a:t>Introdução à visão computacional: uma abordagem prática com </a:t>
            </a:r>
            <a:r>
              <a:rPr lang="pt-BR" sz="2000" dirty="0" err="1"/>
              <a:t>python</a:t>
            </a:r>
            <a:r>
              <a:rPr lang="pt-BR" sz="2000" dirty="0"/>
              <a:t> e </a:t>
            </a:r>
            <a:r>
              <a:rPr lang="pt-BR" sz="2000" dirty="0" err="1"/>
              <a:t>opencv</a:t>
            </a:r>
            <a:r>
              <a:rPr lang="pt-BR" sz="2000" dirty="0"/>
              <a:t> – Felipe Barelli</a:t>
            </a:r>
          </a:p>
          <a:p>
            <a:pPr lvl="1"/>
            <a:endParaRPr lang="pt-BR" sz="2000" dirty="0"/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949786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E9326E-3499-D287-DA5A-8AED2AD3A4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1 – FUNDAMENTOS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F2C7C20-5716-4992-8451-F28A3F0EB9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739C2285-BBDC-FB8D-BB73-A95AC19BC9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14624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FA0AB-B6BF-1078-48E7-31A7A94C7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72A9863-C44E-59E3-6D4E-C74532B7198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71F50B4-E98F-7B26-F350-55B8C7044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Processamento  Imagem Digital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E42C9DB-BA22-8397-1845-97690041022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5ABAA58-8440-05F4-7082-815BD4AFE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16725"/>
            <a:ext cx="7369629" cy="4631376"/>
          </a:xfrm>
        </p:spPr>
        <p:txBody>
          <a:bodyPr/>
          <a:lstStyle/>
          <a:p>
            <a:pPr lvl="1"/>
            <a:endParaRPr lang="pt-BR" sz="2000" b="1" dirty="0"/>
          </a:p>
          <a:p>
            <a:r>
              <a:rPr lang="pt-BR" sz="2400" dirty="0"/>
              <a:t>O conceito base é a manipulação de imagens por meio de programas e regras matemáticas, buscando:</a:t>
            </a:r>
          </a:p>
          <a:p>
            <a:pPr marL="457200" lvl="1" indent="0">
              <a:buNone/>
            </a:pPr>
            <a:endParaRPr lang="pt-BR" sz="2000" dirty="0"/>
          </a:p>
          <a:p>
            <a:pPr lvl="1"/>
            <a:r>
              <a:rPr lang="pt-BR" sz="2200" dirty="0"/>
              <a:t>Aprimoramento visual para interpretação humana </a:t>
            </a:r>
          </a:p>
          <a:p>
            <a:pPr lvl="1"/>
            <a:r>
              <a:rPr lang="pt-BR" sz="2200" dirty="0"/>
              <a:t>Extração e interpretação de informações para percepção de máquinas </a:t>
            </a:r>
          </a:p>
          <a:p>
            <a:pPr lvl="1"/>
            <a:endParaRPr lang="pt-BR" sz="2200" dirty="0"/>
          </a:p>
          <a:p>
            <a:pPr marL="914400" lvl="2" indent="0">
              <a:buNone/>
            </a:pPr>
            <a:endParaRPr lang="pt-BR" sz="1800" dirty="0"/>
          </a:p>
          <a:p>
            <a:pPr marL="914400" lvl="2" indent="0">
              <a:buNone/>
            </a:pPr>
            <a:r>
              <a:rPr lang="pt-BR" sz="2200" b="1" u="sng" dirty="0"/>
              <a:t>Visão computacional</a:t>
            </a:r>
          </a:p>
          <a:p>
            <a:pPr lvl="1"/>
            <a:endParaRPr lang="pt-BR" sz="2000" dirty="0"/>
          </a:p>
          <a:p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38202BDD-46B9-3C92-7FAA-CF9FC087EE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600" y="3169754"/>
            <a:ext cx="4182066" cy="3378347"/>
          </a:xfrm>
          <a:prstGeom prst="rect">
            <a:avLst/>
          </a:prstGeom>
        </p:spPr>
      </p:pic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1536B686-4B55-99B0-E313-1D1CC98A1312}"/>
              </a:ext>
            </a:extLst>
          </p:cNvPr>
          <p:cNvCxnSpPr/>
          <p:nvPr/>
        </p:nvCxnSpPr>
        <p:spPr>
          <a:xfrm>
            <a:off x="2362199" y="4492306"/>
            <a:ext cx="0" cy="515527"/>
          </a:xfrm>
          <a:prstGeom prst="straightConnector1">
            <a:avLst/>
          </a:prstGeom>
          <a:ln w="57150">
            <a:solidFill>
              <a:srgbClr val="C0504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5374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43E4C-E303-8BFF-8DEC-87855098D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99BF008-04CA-AE54-18BD-FB95111A4FD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2AFEB80-7D72-9937-4E50-F2B4642BA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Processamento  Imagem Digital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818EE02-F98C-44AD-A5EC-C7925AD4C43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B5BB9E4-EFF5-1751-B788-FB7C2B35D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224" y="1781561"/>
            <a:ext cx="7369629" cy="4631376"/>
          </a:xfrm>
        </p:spPr>
        <p:txBody>
          <a:bodyPr/>
          <a:lstStyle/>
          <a:p>
            <a:r>
              <a:rPr lang="pt-BR" sz="2400" dirty="0"/>
              <a:t>Aplicações típicas:</a:t>
            </a:r>
          </a:p>
          <a:p>
            <a:pPr lvl="1"/>
            <a:endParaRPr lang="pt-BR" sz="2000" dirty="0"/>
          </a:p>
          <a:p>
            <a:pPr lvl="1"/>
            <a:r>
              <a:rPr lang="pt-BR" sz="2000" dirty="0"/>
              <a:t>Realce do conteúdo da imagem</a:t>
            </a:r>
          </a:p>
          <a:p>
            <a:pPr lvl="1"/>
            <a:r>
              <a:rPr lang="pt-BR" sz="2000" dirty="0"/>
              <a:t>Aumento de contraste</a:t>
            </a:r>
          </a:p>
          <a:p>
            <a:pPr lvl="1"/>
            <a:r>
              <a:rPr lang="pt-BR" sz="2000" dirty="0"/>
              <a:t>Correção de imagens borradas</a:t>
            </a:r>
          </a:p>
          <a:p>
            <a:pPr lvl="1"/>
            <a:r>
              <a:rPr lang="pt-BR" sz="2000" dirty="0"/>
              <a:t>Correção de iluminação</a:t>
            </a:r>
          </a:p>
          <a:p>
            <a:pPr lvl="1"/>
            <a:r>
              <a:rPr lang="pt-BR" sz="2000" dirty="0"/>
              <a:t>Eliminação de ruídos</a:t>
            </a:r>
          </a:p>
          <a:p>
            <a:pPr lvl="1"/>
            <a:r>
              <a:rPr lang="pt-BR" sz="2000" dirty="0" err="1"/>
              <a:t>Pseudo-coloração</a:t>
            </a:r>
            <a:endParaRPr lang="pt-BR" sz="2000" dirty="0"/>
          </a:p>
          <a:p>
            <a:pPr lvl="1"/>
            <a:endParaRPr lang="pt-BR" sz="2000" dirty="0"/>
          </a:p>
          <a:p>
            <a:endParaRPr lang="pt-BR" dirty="0"/>
          </a:p>
        </p:txBody>
      </p:sp>
      <p:pic>
        <p:nvPicPr>
          <p:cNvPr id="10" name="Picture 2" descr="C:\Denise\disciplinas\PDI-grad\PDI\imagens\introducao\slide0126_image060.png">
            <a:extLst>
              <a:ext uri="{FF2B5EF4-FFF2-40B4-BE49-F238E27FC236}">
                <a16:creationId xmlns:a16="http://schemas.microsoft.com/office/drawing/2014/main" id="{FBD322B8-7844-131D-6C42-AF1BCE1DEB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>
          <a:xfrm>
            <a:off x="4986374" y="3804621"/>
            <a:ext cx="2219251" cy="1495199"/>
          </a:xfrm>
          <a:prstGeom prst="rect">
            <a:avLst/>
          </a:prstGeom>
        </p:spPr>
      </p:pic>
      <p:pic>
        <p:nvPicPr>
          <p:cNvPr id="11" name="Picture 3" descr="C:\Denise\disciplinas\PDI-grad\PDI\imagens\introducao\slide0126_image062.png">
            <a:extLst>
              <a:ext uri="{FF2B5EF4-FFF2-40B4-BE49-F238E27FC236}">
                <a16:creationId xmlns:a16="http://schemas.microsoft.com/office/drawing/2014/main" id="{6FDF2F92-5083-A8B2-6319-EDC1A6A5B4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986375" y="5348457"/>
            <a:ext cx="2219251" cy="14941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3" name="Picture 2" descr="C:\Denise\disciplinas\PDI-grad\PDI\imagens\introducao\slide0132_image084.png">
            <a:extLst>
              <a:ext uri="{FF2B5EF4-FFF2-40B4-BE49-F238E27FC236}">
                <a16:creationId xmlns:a16="http://schemas.microsoft.com/office/drawing/2014/main" id="{E162AD52-EF43-738B-B08D-0583928E2C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>
          <a:xfrm>
            <a:off x="7294636" y="2651789"/>
            <a:ext cx="2219251" cy="2057530"/>
          </a:xfrm>
          <a:prstGeom prst="rect">
            <a:avLst/>
          </a:prstGeom>
        </p:spPr>
      </p:pic>
      <p:pic>
        <p:nvPicPr>
          <p:cNvPr id="14" name="Picture 3" descr="C:\Denise\disciplinas\PDI-grad\PDI\imagens\introducao\slide0132_image086.png">
            <a:extLst>
              <a:ext uri="{FF2B5EF4-FFF2-40B4-BE49-F238E27FC236}">
                <a16:creationId xmlns:a16="http://schemas.microsoft.com/office/drawing/2014/main" id="{7D06688A-A014-2D98-E182-C7FAA6CCAC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7294636" y="4794645"/>
            <a:ext cx="2219251" cy="2047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5" name="Picture 10">
            <a:extLst>
              <a:ext uri="{FF2B5EF4-FFF2-40B4-BE49-F238E27FC236}">
                <a16:creationId xmlns:a16="http://schemas.microsoft.com/office/drawing/2014/main" id="{6A223F4F-607C-AD9B-D348-44BD07613D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/>
          <a:srcRect/>
          <a:stretch>
            <a:fillRect/>
          </a:stretch>
        </p:blipFill>
        <p:spPr bwMode="auto">
          <a:xfrm>
            <a:off x="9602897" y="4789873"/>
            <a:ext cx="2049324" cy="20575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6" name="Picture 11">
            <a:extLst>
              <a:ext uri="{FF2B5EF4-FFF2-40B4-BE49-F238E27FC236}">
                <a16:creationId xmlns:a16="http://schemas.microsoft.com/office/drawing/2014/main" id="{F2F1238C-103B-76BF-5086-A59BC276A5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/>
          <a:srcRect/>
          <a:stretch>
            <a:fillRect/>
          </a:stretch>
        </p:blipFill>
        <p:spPr bwMode="auto">
          <a:xfrm>
            <a:off x="9602897" y="2630199"/>
            <a:ext cx="2049324" cy="20576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7" name="CaixaDeTexto 16">
            <a:extLst>
              <a:ext uri="{FF2B5EF4-FFF2-40B4-BE49-F238E27FC236}">
                <a16:creationId xmlns:a16="http://schemas.microsoft.com/office/drawing/2014/main" id="{B878A3EA-922A-CC3C-C0D1-DE802571981C}"/>
              </a:ext>
            </a:extLst>
          </p:cNvPr>
          <p:cNvSpPr txBox="1"/>
          <p:nvPr/>
        </p:nvSpPr>
        <p:spPr>
          <a:xfrm>
            <a:off x="5067287" y="3489739"/>
            <a:ext cx="20574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Expansão de contraste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EC4CD8C7-3DC9-FA5D-BA21-1A649E7DEC71}"/>
              </a:ext>
            </a:extLst>
          </p:cNvPr>
          <p:cNvSpPr txBox="1"/>
          <p:nvPr/>
        </p:nvSpPr>
        <p:spPr>
          <a:xfrm>
            <a:off x="7239872" y="2357259"/>
            <a:ext cx="23185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Realce e correção de foco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C28D18FC-DA2A-BE7A-C6DD-44D8E584CFC7}"/>
              </a:ext>
            </a:extLst>
          </p:cNvPr>
          <p:cNvSpPr txBox="1"/>
          <p:nvPr/>
        </p:nvSpPr>
        <p:spPr>
          <a:xfrm>
            <a:off x="9763636" y="2357259"/>
            <a:ext cx="17278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Redução de ruídos</a:t>
            </a:r>
          </a:p>
        </p:txBody>
      </p:sp>
      <p:pic>
        <p:nvPicPr>
          <p:cNvPr id="20" name="Picture 3" descr="C:\Denise\disciplinas\PDI-grad\PDI\imagens\introducao\slide0127_image066.png">
            <a:extLst>
              <a:ext uri="{FF2B5EF4-FFF2-40B4-BE49-F238E27FC236}">
                <a16:creationId xmlns:a16="http://schemas.microsoft.com/office/drawing/2014/main" id="{005156D1-FF7A-45DB-C2DE-504A9DA321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2417688" y="5263884"/>
            <a:ext cx="2103878" cy="16212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1" name="Picture 2" descr="C:\Denise\disciplinas\PDI-grad\PDI\imagens\introducao\slide0127_image064.png">
            <a:extLst>
              <a:ext uri="{FF2B5EF4-FFF2-40B4-BE49-F238E27FC236}">
                <a16:creationId xmlns:a16="http://schemas.microsoft.com/office/drawing/2014/main" id="{C6AE9952-72F4-6D4D-CA9A-E55C3758F5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/>
          <a:srcRect/>
          <a:stretch>
            <a:fillRect/>
          </a:stretch>
        </p:blipFill>
        <p:spPr>
          <a:xfrm>
            <a:off x="333908" y="5263884"/>
            <a:ext cx="2049324" cy="1578747"/>
          </a:xfrm>
          <a:prstGeom prst="rect">
            <a:avLst/>
          </a:prstGeom>
        </p:spPr>
      </p:pic>
      <p:sp>
        <p:nvSpPr>
          <p:cNvPr id="22" name="CaixaDeTexto 21">
            <a:extLst>
              <a:ext uri="{FF2B5EF4-FFF2-40B4-BE49-F238E27FC236}">
                <a16:creationId xmlns:a16="http://schemas.microsoft.com/office/drawing/2014/main" id="{239512A8-958B-53A4-2A4A-6AD47F98750B}"/>
              </a:ext>
            </a:extLst>
          </p:cNvPr>
          <p:cNvSpPr txBox="1"/>
          <p:nvPr/>
        </p:nvSpPr>
        <p:spPr>
          <a:xfrm>
            <a:off x="1388976" y="4966519"/>
            <a:ext cx="1671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 err="1"/>
              <a:t>Pseudo</a:t>
            </a:r>
            <a:r>
              <a:rPr lang="pt-BR" sz="1600" dirty="0"/>
              <a:t> Coloração</a:t>
            </a:r>
          </a:p>
        </p:txBody>
      </p:sp>
    </p:spTree>
    <p:extLst>
      <p:ext uri="{BB962C8B-B14F-4D97-AF65-F5344CB8AC3E}">
        <p14:creationId xmlns:p14="http://schemas.microsoft.com/office/powerpoint/2010/main" val="312463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F1149-D2CE-286D-D047-B97AE1D9F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1CAD36C-B703-29EC-5FF4-7DCA87A913C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82A3767-CF9C-A700-CA05-9DA5D912D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Visão Computacional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00511E0-5F26-CB47-DE5A-91C0E5F35AB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BD1EA84-BB43-7283-C86C-486F13AF58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223" y="1781561"/>
            <a:ext cx="7078519" cy="4631376"/>
          </a:xfrm>
        </p:spPr>
        <p:txBody>
          <a:bodyPr/>
          <a:lstStyle/>
          <a:p>
            <a:r>
              <a:rPr lang="pt-BR" sz="2400" dirty="0"/>
              <a:t>A visão computacional está diretamente relacionada com a Inteligência</a:t>
            </a:r>
          </a:p>
          <a:p>
            <a:pPr lvl="1"/>
            <a:endParaRPr lang="pt-BR" sz="1600" dirty="0"/>
          </a:p>
          <a:p>
            <a:pPr lvl="1"/>
            <a:r>
              <a:rPr lang="pt-BR" sz="2200" dirty="0"/>
              <a:t>O interesse está na extração de informações relevantes da imagem para um determinado contexto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As informações são comumente utilizadas para modelos neurais e estatísticos</a:t>
            </a:r>
          </a:p>
          <a:p>
            <a:pPr lvl="1"/>
            <a:endParaRPr lang="pt-BR" sz="1600" dirty="0"/>
          </a:p>
          <a:p>
            <a:endParaRPr lang="pt-BR" dirty="0"/>
          </a:p>
        </p:txBody>
      </p:sp>
      <p:pic>
        <p:nvPicPr>
          <p:cNvPr id="26" name="Picture 2" descr="D:\Pesquisa\Publicações\Artigos Publicados\Tese Doutorado\Dalcimar\Figs\leaves40Classes.png">
            <a:extLst>
              <a:ext uri="{FF2B5EF4-FFF2-40B4-BE49-F238E27FC236}">
                <a16:creationId xmlns:a16="http://schemas.microsoft.com/office/drawing/2014/main" id="{0090DA82-6159-FCCB-12EB-F57EEF19CA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78686" y="2454565"/>
            <a:ext cx="3113314" cy="4403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3" descr="D:\Pesquisa\Publicações\Artigos Publicados\Artigo Minkowski3D RGB MultiEscala Folhas - ICISP 2010\Figs\diff_classes_folhas.png">
            <a:extLst>
              <a:ext uri="{FF2B5EF4-FFF2-40B4-BE49-F238E27FC236}">
                <a16:creationId xmlns:a16="http://schemas.microsoft.com/office/drawing/2014/main" id="{F63026E7-B80F-991B-BD26-6DEFD1B2BA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05399" y="4711095"/>
            <a:ext cx="3612939" cy="2146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32084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86A7B-B92C-2F1D-CA78-76CD5A106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DCBDC23-1EA9-1F20-B229-A89C2D7CF70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120337C-6DFA-9434-EF2A-1DD2ACE41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Visão Computacional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FB0B107-FF22-16E1-6E03-B7DEA98532C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C4544C8-1896-2746-1ECC-492944E4B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3137" y="1542075"/>
            <a:ext cx="6762833" cy="4631376"/>
          </a:xfrm>
        </p:spPr>
        <p:txBody>
          <a:bodyPr/>
          <a:lstStyle/>
          <a:p>
            <a:r>
              <a:rPr lang="pt-BR" sz="2400" dirty="0"/>
              <a:t>Características informativas da imagem:</a:t>
            </a:r>
          </a:p>
          <a:p>
            <a:pPr lvl="1"/>
            <a:endParaRPr lang="pt-BR" sz="2000" dirty="0"/>
          </a:p>
          <a:p>
            <a:pPr marL="971550" lvl="1" indent="-514350">
              <a:buFont typeface="+mj-lt"/>
              <a:buAutoNum type="romanUcPeriod"/>
            </a:pPr>
            <a:r>
              <a:rPr lang="pt-BR" sz="2000" dirty="0"/>
              <a:t>Assinatura de cor de determinadas regiões </a:t>
            </a:r>
          </a:p>
          <a:p>
            <a:pPr marL="971550" lvl="1" indent="-514350">
              <a:buFont typeface="+mj-lt"/>
              <a:buAutoNum type="romanUcPeriod"/>
            </a:pPr>
            <a:r>
              <a:rPr lang="pt-BR" sz="2000" dirty="0"/>
              <a:t>Forma dos objetos na imagem</a:t>
            </a:r>
          </a:p>
          <a:p>
            <a:pPr marL="971550" lvl="1" indent="-514350">
              <a:buFont typeface="+mj-lt"/>
              <a:buAutoNum type="romanUcPeriod"/>
            </a:pPr>
            <a:r>
              <a:rPr lang="pt-BR" sz="2000" dirty="0"/>
              <a:t>Padrão que se repete na imagem (Texturas)</a:t>
            </a:r>
          </a:p>
          <a:p>
            <a:pPr lvl="1"/>
            <a:endParaRPr lang="pt-BR" sz="2000" dirty="0"/>
          </a:p>
          <a:p>
            <a:r>
              <a:rPr lang="pt-BR" sz="2400" dirty="0"/>
              <a:t>Exemplo prático:</a:t>
            </a:r>
            <a:endParaRPr lang="pt-BR" sz="2000" dirty="0"/>
          </a:p>
          <a:p>
            <a:pPr lvl="1"/>
            <a:r>
              <a:rPr lang="pt-BR" sz="2000" dirty="0"/>
              <a:t>Caracterização morfológica de espermatozoides de touro</a:t>
            </a:r>
            <a:endParaRPr lang="en-US" sz="2000" dirty="0"/>
          </a:p>
          <a:p>
            <a:endParaRPr lang="pt-BR" sz="2400" dirty="0"/>
          </a:p>
          <a:p>
            <a:endParaRPr lang="pt-BR" sz="1600" dirty="0"/>
          </a:p>
          <a:p>
            <a:pPr lvl="1"/>
            <a:endParaRPr lang="pt-BR" sz="1600" dirty="0"/>
          </a:p>
          <a:p>
            <a:endParaRPr lang="pt-BR" dirty="0"/>
          </a:p>
        </p:txBody>
      </p:sp>
      <p:pic>
        <p:nvPicPr>
          <p:cNvPr id="4" name="Picture 2" descr="D:\cowork\bullsperm\dados\Uiara\manual\CT4_30-03\4.bmp">
            <a:extLst>
              <a:ext uri="{FF2B5EF4-FFF2-40B4-BE49-F238E27FC236}">
                <a16:creationId xmlns:a16="http://schemas.microsoft.com/office/drawing/2014/main" id="{4388508B-E04F-84DC-B3CB-8B15626938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395042" y="4768260"/>
            <a:ext cx="2533196" cy="20897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94174324-695B-3AC0-0F8C-5180904360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61" y="3200399"/>
            <a:ext cx="4855079" cy="3657601"/>
          </a:xfrm>
          <a:prstGeom prst="rect">
            <a:avLst/>
          </a:prstGeom>
        </p:spPr>
      </p:pic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CA26A0DD-DCBD-C0F2-DFC8-596390407D3B}"/>
              </a:ext>
            </a:extLst>
          </p:cNvPr>
          <p:cNvCxnSpPr/>
          <p:nvPr/>
        </p:nvCxnSpPr>
        <p:spPr>
          <a:xfrm>
            <a:off x="5382986" y="5889172"/>
            <a:ext cx="1426028" cy="0"/>
          </a:xfrm>
          <a:prstGeom prst="straightConnector1">
            <a:avLst/>
          </a:prstGeom>
          <a:ln w="57150">
            <a:solidFill>
              <a:srgbClr val="C0504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91986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1593B-FCD2-B23B-AE59-C01AE893A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9D68187-ACC1-E928-5EDB-BCB8F78D488A}"/>
              </a:ext>
            </a:extLst>
          </p:cNvPr>
          <p:cNvSpPr/>
          <p:nvPr/>
        </p:nvSpPr>
        <p:spPr>
          <a:xfrm>
            <a:off x="0" y="2918617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2ADDD61-328D-3A18-5F83-99B4D7298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18618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Imagem Digital e seus Atributos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494E2F67-E78E-CA54-B48F-1ECAB69463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6307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10CD15DF-178C-8225-DC27-A997E199555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0CFDDE8-0849-DCD6-CFFE-909EF7246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Imagem Digital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38EF95E-E786-0234-E618-70938A65AA1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0B58FF2C-8CDD-0E09-7F6D-242B2C7C03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3719" y="1710047"/>
                <a:ext cx="6983985" cy="4631376"/>
              </a:xfrm>
            </p:spPr>
            <p:txBody>
              <a:bodyPr/>
              <a:lstStyle/>
              <a:p>
                <a:pPr lvl="1"/>
                <a:endParaRPr lang="pt-BR" sz="2000" b="1" dirty="0"/>
              </a:p>
              <a:p>
                <a:r>
                  <a:rPr lang="pt-BR" sz="2400" dirty="0"/>
                  <a:t>A imagem pode ser definida como uma função bidimensional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pt-BR" sz="2400" b="0" dirty="0"/>
              </a:p>
              <a:p>
                <a:endParaRPr lang="pt-BR" sz="2400" dirty="0"/>
              </a:p>
              <a:p>
                <a:r>
                  <a:rPr lang="pt-BR" sz="2400" dirty="0"/>
                  <a:t>x e y são coordenadas espaciais no plano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A amplitude de </a:t>
                </a:r>
                <a14:m>
                  <m:oMath xmlns:m="http://schemas.openxmlformats.org/officeDocument/2006/math">
                    <m:r>
                      <a:rPr lang="pt-BR" sz="240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pt-BR" sz="2400" dirty="0"/>
                  <a:t> em qualquer par de coordenadas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pt-BR" sz="2400" dirty="0"/>
                  <a:t> é chamada de intensidade ou nível de cinza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Quando os valores de coordenadas e intensidade são finitos e discretos, temos imagem digital.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0B58FF2C-8CDD-0E09-7F6D-242B2C7C03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719" y="1710047"/>
                <a:ext cx="6983985" cy="4631376"/>
              </a:xfrm>
              <a:blipFill>
                <a:blip r:embed="rId3"/>
                <a:stretch>
                  <a:fillRect l="-1223" r="-2271" b="-131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Imagem 12">
            <a:extLst>
              <a:ext uri="{FF2B5EF4-FFF2-40B4-BE49-F238E27FC236}">
                <a16:creationId xmlns:a16="http://schemas.microsoft.com/office/drawing/2014/main" id="{CC2A9660-B50B-53DD-787F-EAEC4A63EE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7704" y="2330531"/>
            <a:ext cx="4177332" cy="4010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9775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267D7-66C2-1E8C-161F-8EEF1B9CD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3406D87-CE40-54D7-558D-98ED7F390C2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76B3740-24EA-7688-5FF7-CD7F4A400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Tipos de Imagem Digital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0E3AE37-0AE1-0D7A-2411-C0A9D60CBAE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52E89DC-D4C1-9227-F710-EF5F770AE8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3219" y="1865925"/>
            <a:ext cx="6520352" cy="4631376"/>
          </a:xfrm>
        </p:spPr>
        <p:txBody>
          <a:bodyPr/>
          <a:lstStyle/>
          <a:p>
            <a:pPr lvl="1"/>
            <a:endParaRPr lang="pt-BR" sz="2000" b="1" dirty="0"/>
          </a:p>
          <a:p>
            <a:r>
              <a:rPr lang="pt-BR" sz="2400" b="1" dirty="0"/>
              <a:t>Imagem Vetorial: </a:t>
            </a:r>
            <a:r>
              <a:rPr lang="pt-BR" sz="2400" dirty="0"/>
              <a:t>São construídas através de fórmulas matemáticas aplicadas à linhas</a:t>
            </a:r>
            <a:endParaRPr lang="pt-BR" sz="2400" b="1" dirty="0"/>
          </a:p>
          <a:p>
            <a:endParaRPr lang="pt-BR" sz="2400" dirty="0"/>
          </a:p>
          <a:p>
            <a:r>
              <a:rPr lang="pt-BR" sz="2400" b="1" dirty="0"/>
              <a:t>Imagem Bitmap ou Matricial: </a:t>
            </a:r>
            <a:r>
              <a:rPr lang="pt-BR" sz="2400" dirty="0"/>
              <a:t>São construídas utilizando como base uma matriz de pixels</a:t>
            </a:r>
          </a:p>
          <a:p>
            <a:endParaRPr lang="pt-BR" sz="2200" dirty="0"/>
          </a:p>
          <a:p>
            <a:pPr lvl="1"/>
            <a:r>
              <a:rPr lang="pt-BR" sz="2200" dirty="0"/>
              <a:t>O pixel representa o menor ponto que forma uma imagem digital, seja nos sensores ou nas telas.</a:t>
            </a:r>
          </a:p>
          <a:p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433DA8D3-E797-8C07-FE5D-E369EA77E5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4895" y="2492827"/>
            <a:ext cx="5197105" cy="2734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0939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F0B97-FD78-16FA-96B3-BC93E1A2F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C4FCA99-2AFF-FFF4-F848-CE16E03D1D3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7ABA881-EFB9-00C2-CE81-F856B381B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Espectro Eletromagnético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41E4A79-E520-4FB9-C365-F9F6A70979E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174BF93-4646-6B5C-E4B5-7F5332D801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660" y="1952163"/>
            <a:ext cx="5622281" cy="4631376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O processamento de imagens não se limita apenas à luz visível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 Crucial para a análise de informações em diferentes áreas do conhecimento</a:t>
            </a:r>
            <a:endParaRPr lang="pt-BR" sz="2400" dirty="0"/>
          </a:p>
          <a:p>
            <a:endParaRPr lang="pt-BR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5D32066-12CD-AE7F-CF18-905379C8FF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575" y="2489815"/>
            <a:ext cx="5622282" cy="4093724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48E1C8A8-1738-CA81-FA7B-176291A805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719" y="4538161"/>
            <a:ext cx="2873829" cy="1915886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B7927DA0-54E4-9F17-08F3-8A03CF682C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0257" y="4536677"/>
            <a:ext cx="1917370" cy="1917370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7B13BE29-76BC-8003-281B-CC2B2EFFBD6E}"/>
              </a:ext>
            </a:extLst>
          </p:cNvPr>
          <p:cNvSpPr txBox="1"/>
          <p:nvPr/>
        </p:nvSpPr>
        <p:spPr>
          <a:xfrm>
            <a:off x="966464" y="4203188"/>
            <a:ext cx="1888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Imagem de Raio-X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46E649A8-60DE-AEA0-2762-D88E587408B1}"/>
              </a:ext>
            </a:extLst>
          </p:cNvPr>
          <p:cNvSpPr txBox="1"/>
          <p:nvPr/>
        </p:nvSpPr>
        <p:spPr>
          <a:xfrm>
            <a:off x="3921307" y="4222519"/>
            <a:ext cx="1455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Foto IR do sol</a:t>
            </a:r>
          </a:p>
        </p:txBody>
      </p:sp>
    </p:spTree>
    <p:extLst>
      <p:ext uri="{BB962C8B-B14F-4D97-AF65-F5344CB8AC3E}">
        <p14:creationId xmlns:p14="http://schemas.microsoft.com/office/powerpoint/2010/main" val="25203543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831DB-09D6-5E36-4B96-B7E8FDFE9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BF63DDC-95A0-35FC-0FE1-5E53F04CA14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8218813-3700-77DE-6DF9-4B507F7C8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Resolução e Tamanho da imagem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FF41EE7-28C5-CAA7-821F-9C4FC613474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9255E66F-9142-BDC5-3EE9-5E4434956E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9457" y="1527176"/>
                <a:ext cx="9993086" cy="3300260"/>
              </a:xfrm>
            </p:spPr>
            <p:txBody>
              <a:bodyPr>
                <a:normAutofit/>
              </a:bodyPr>
              <a:lstStyle/>
              <a:p>
                <a:r>
                  <a:rPr lang="pt-BR" sz="2400" b="1" dirty="0"/>
                  <a:t>A resolução</a:t>
                </a:r>
                <a:r>
                  <a:rPr lang="pt-BR" sz="2400" dirty="0"/>
                  <a:t> é definida pela quantidade total de pixel que compõem a imagem</a:t>
                </a:r>
              </a:p>
              <a:p>
                <a:pPr lvl="1"/>
                <a:endParaRPr lang="pt-BR" sz="2200" dirty="0"/>
              </a:p>
              <a:p>
                <a:pPr lvl="1"/>
                <a:r>
                  <a:rPr lang="pt-BR" sz="2200" dirty="0"/>
                  <a:t>Está fortemente associada à </a:t>
                </a:r>
                <a:r>
                  <a:rPr lang="pt-BR" sz="2200" b="1" dirty="0"/>
                  <a:t>densidade de pixels </a:t>
                </a:r>
                <a:r>
                  <a:rPr lang="pt-BR" sz="2200" dirty="0"/>
                  <a:t>– quantidade de pontos que compõem cada polegada da imagem.</a:t>
                </a:r>
              </a:p>
              <a:p>
                <a:pPr lvl="1"/>
                <a:endParaRPr lang="pt-BR" sz="2000" dirty="0"/>
              </a:p>
              <a:p>
                <a:r>
                  <a:rPr lang="pt-BR" sz="2400" b="1" dirty="0"/>
                  <a:t>O tamanho </a:t>
                </a:r>
                <a:r>
                  <a:rPr lang="pt-BR" sz="2400" dirty="0"/>
                  <a:t>da imagem se refere às dimensões </a:t>
                </a:r>
                <a14:m>
                  <m:oMath xmlns:m="http://schemas.openxmlformats.org/officeDocument/2006/math"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𝑎𝑙𝑡𝑢𝑟𝑎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4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𝑙𝑎𝑟𝑔𝑢𝑟𝑎</m:t>
                    </m:r>
                  </m:oMath>
                </a14:m>
                <a:r>
                  <a:rPr lang="pt-BR" sz="2400" dirty="0"/>
                  <a:t> em pixels de uma determinada imagem</a:t>
                </a:r>
              </a:p>
              <a:p>
                <a:pPr marL="457200" lvl="1" indent="0">
                  <a:buNone/>
                </a:pPr>
                <a:endParaRPr lang="pt-BR" dirty="0"/>
              </a:p>
              <a:p>
                <a:pPr marL="457200" lvl="1" indent="0">
                  <a:buNone/>
                </a:pPr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9255E66F-9142-BDC5-3EE9-5E4434956E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9457" y="1527176"/>
                <a:ext cx="9993086" cy="3300260"/>
              </a:xfrm>
              <a:blipFill>
                <a:blip r:embed="rId3"/>
                <a:stretch>
                  <a:fillRect l="-793" t="-258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agem 6">
            <a:extLst>
              <a:ext uri="{FF2B5EF4-FFF2-40B4-BE49-F238E27FC236}">
                <a16:creationId xmlns:a16="http://schemas.microsoft.com/office/drawing/2014/main" id="{B84CC031-1B07-2A58-AB2D-C9BA783585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6983" y="4626429"/>
            <a:ext cx="5273233" cy="2231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3535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C63BA-859E-8C20-316B-D22A1A65F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4714966-DCF8-951C-45A7-33CD6F77585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F4A9F40-7211-CEB1-1D88-CE9C44E97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Densidade de pixels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49023CDA-9DC4-CD2A-BD03-C4A7F86F92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B77A21D0-41D6-AB3D-F029-CB5362C5BB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528207" y="1655722"/>
                <a:ext cx="7135586" cy="4631376"/>
              </a:xfrm>
            </p:spPr>
            <p:txBody>
              <a:bodyPr/>
              <a:lstStyle/>
              <a:p>
                <a:r>
                  <a:rPr lang="pt-BR" sz="2400" dirty="0"/>
                  <a:t>Existem dois padrões para a medição da densidade:</a:t>
                </a:r>
              </a:p>
              <a:p>
                <a:pPr lvl="1"/>
                <a:endParaRPr lang="pt-BR" sz="2200" dirty="0"/>
              </a:p>
              <a:p>
                <a:pPr lvl="1"/>
                <a:r>
                  <a:rPr lang="pt-BR" sz="2200" dirty="0"/>
                  <a:t>DPI (</a:t>
                </a:r>
                <a:r>
                  <a:rPr lang="pt-BR" sz="2200" dirty="0" err="1"/>
                  <a:t>Dots</a:t>
                </a:r>
                <a:r>
                  <a:rPr lang="pt-BR" sz="2200" dirty="0"/>
                  <a:t> Per Inch/Pontos Por Polegada)</a:t>
                </a:r>
              </a:p>
              <a:p>
                <a:pPr lvl="1"/>
                <a:r>
                  <a:rPr lang="pt-BR" sz="2200" dirty="0"/>
                  <a:t>PPI (Pixels Per Inch/Pixels Por Polegada)</a:t>
                </a:r>
              </a:p>
              <a:p>
                <a:pPr lvl="1"/>
                <a:endParaRPr lang="pt-BR" sz="2200" dirty="0"/>
              </a:p>
              <a:p>
                <a:pPr lvl="1"/>
                <a:r>
                  <a:rPr lang="pt-BR" sz="2200" dirty="0"/>
                  <a:t>Fórmula </a:t>
                </a:r>
                <a14:m>
                  <m:oMath xmlns:m="http://schemas.openxmlformats.org/officeDocument/2006/math">
                    <m:r>
                      <a:rPr lang="pt-BR" sz="2200" i="1">
                        <a:latin typeface="Cambria Math" panose="02040503050406030204" pitchFamily="18" charset="0"/>
                      </a:rPr>
                      <m:t>𝑃𝑃𝐼</m:t>
                    </m:r>
                    <m:r>
                      <a:rPr lang="pt-BR" sz="2200" i="1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pt-BR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ad>
                          <m:radPr>
                            <m:degHide m:val="on"/>
                            <m:ctrlPr>
                              <a:rPr lang="pt-BR" sz="22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pt-BR" sz="2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sz="2200" i="1">
                                    <a:latin typeface="Cambria Math" panose="02040503050406030204" pitchFamily="18" charset="0"/>
                                  </a:rPr>
                                  <m:t>𝑙𝑎𝑟𝑔𝑢𝑟𝑎</m:t>
                                </m:r>
                              </m:e>
                              <m:sup>
                                <m:r>
                                  <a:rPr lang="pt-BR" sz="22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pt-BR" sz="22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pt-BR" sz="2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sz="2200" i="1">
                                    <a:latin typeface="Cambria Math" panose="02040503050406030204" pitchFamily="18" charset="0"/>
                                  </a:rPr>
                                  <m:t>𝑎𝑙𝑡𝑢𝑟𝑎</m:t>
                                </m:r>
                              </m:e>
                              <m:sup>
                                <m:r>
                                  <a:rPr lang="pt-BR" sz="22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num>
                      <m:den>
                        <m:r>
                          <a:rPr lang="pt-BR" sz="2200" i="1">
                            <a:latin typeface="Cambria Math" panose="02040503050406030204" pitchFamily="18" charset="0"/>
                          </a:rPr>
                          <m:t>𝑑𝑖𝑎𝑔𝑜𝑛𝑎𝑙</m:t>
                        </m:r>
                        <m:r>
                          <a:rPr lang="pt-BR" sz="2200" i="1">
                            <a:latin typeface="Cambria Math" panose="02040503050406030204" pitchFamily="18" charset="0"/>
                          </a:rPr>
                          <m:t> (</m:t>
                        </m:r>
                        <m:r>
                          <a:rPr lang="pt-BR" sz="2200" i="1">
                            <a:latin typeface="Cambria Math" panose="02040503050406030204" pitchFamily="18" charset="0"/>
                          </a:rPr>
                          <m:t>𝑝𝑜𝑙</m:t>
                        </m:r>
                        <m:r>
                          <a:rPr lang="pt-BR" sz="2200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pt-BR" sz="2200" dirty="0"/>
              </a:p>
              <a:p>
                <a:pPr lvl="1"/>
                <a:endParaRPr lang="pt-BR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B77A21D0-41D6-AB3D-F029-CB5362C5BB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28207" y="1655722"/>
                <a:ext cx="7135586" cy="4631376"/>
              </a:xfrm>
              <a:blipFill>
                <a:blip r:embed="rId3"/>
                <a:stretch>
                  <a:fillRect l="-1197" t="-184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Resolução e tamanho da imagem">
            <a:extLst>
              <a:ext uri="{FF2B5EF4-FFF2-40B4-BE49-F238E27FC236}">
                <a16:creationId xmlns:a16="http://schemas.microsoft.com/office/drawing/2014/main" id="{A7F963FB-527F-3A19-6336-14881BC1DC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3691" y="4565274"/>
            <a:ext cx="7784618" cy="2209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63747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D47CB-4780-69E6-8DB2-198D6B10D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65B467E-C0EF-3EAC-8E82-A0EDA30A9FE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FE7B424-E452-A266-7F0A-AC518C7D1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Dúvidas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FAED8CF-628A-4A52-7097-4825BF95B64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19E57F6-2B73-B710-419F-DB1B9CC3BA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2808" y="2903038"/>
            <a:ext cx="7222481" cy="2458678"/>
          </a:xfrm>
        </p:spPr>
        <p:txBody>
          <a:bodyPr/>
          <a:lstStyle/>
          <a:p>
            <a:r>
              <a:rPr lang="pt-BR" sz="2400" dirty="0"/>
              <a:t>É certo dizer que 1080p é resolução, considerando que 1920 x 1080 está destacando as dimensões da tela?</a:t>
            </a:r>
          </a:p>
          <a:p>
            <a:endParaRPr lang="pt-BR" sz="2400" dirty="0"/>
          </a:p>
          <a:p>
            <a:r>
              <a:rPr lang="pt-BR" sz="2400" dirty="0"/>
              <a:t>Quanto maior a resolução de uma imagem/tela, melhor será a qualidade?</a:t>
            </a:r>
          </a:p>
          <a:p>
            <a:endParaRPr lang="pt-BR" dirty="0"/>
          </a:p>
          <a:p>
            <a:endParaRPr lang="pt-BR" dirty="0"/>
          </a:p>
          <a:p>
            <a:pPr algn="ctr"/>
            <a:endParaRPr lang="pt-BR" dirty="0"/>
          </a:p>
          <a:p>
            <a:pPr marL="0" indent="0" algn="ctr">
              <a:buNone/>
            </a:pPr>
            <a:endParaRPr lang="pt-BR" dirty="0"/>
          </a:p>
          <a:p>
            <a:pPr marL="0" indent="0" algn="ctr">
              <a:buNone/>
            </a:pPr>
            <a:endParaRPr lang="pt-BR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91F4F27-2E27-A6CF-36EE-1E57EAD1BA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5056" y="2903038"/>
            <a:ext cx="4386943" cy="2458677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B9132D0B-FC44-9A90-5FD2-0631A92DE82F}"/>
              </a:ext>
            </a:extLst>
          </p:cNvPr>
          <p:cNvSpPr/>
          <p:nvPr/>
        </p:nvSpPr>
        <p:spPr>
          <a:xfrm>
            <a:off x="7805057" y="2903038"/>
            <a:ext cx="4386943" cy="24586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962712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D7732-F371-3E2C-DA99-58014306A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181FAF8-AD16-E45F-BCB7-F0B071D2BE2C}"/>
              </a:ext>
            </a:extLst>
          </p:cNvPr>
          <p:cNvSpPr/>
          <p:nvPr/>
        </p:nvSpPr>
        <p:spPr>
          <a:xfrm>
            <a:off x="0" y="2918617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FD0EA74-2EEA-6C90-4027-9E021DFD5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18618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Transformação dos Sinais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9CF04B1-D9C3-8268-2A39-CCC496829C6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14745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C64A39-9E52-FD17-12B4-4B5F751E2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2962790-A3BB-68F8-FF2D-3F8B60BBB5C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35BB231-6942-7A0A-B3C3-C10D17C227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Transformação do Sinal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99A2552-E0C8-60A2-00CA-FFCADC77BE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203F17F-1B96-3AC9-6149-4CC06B17F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3264" y="1984828"/>
            <a:ext cx="6765471" cy="4449123"/>
          </a:xfrm>
        </p:spPr>
        <p:txBody>
          <a:bodyPr>
            <a:normAutofit/>
          </a:bodyPr>
          <a:lstStyle/>
          <a:p>
            <a:r>
              <a:rPr lang="pt-BR" sz="2400" dirty="0"/>
              <a:t>Processo de </a:t>
            </a:r>
            <a:r>
              <a:rPr lang="pt-BR" sz="2400" dirty="0" err="1"/>
              <a:t>Discretização</a:t>
            </a:r>
            <a:r>
              <a:rPr lang="pt-BR" sz="2400" dirty="0"/>
              <a:t> do sinal</a:t>
            </a:r>
          </a:p>
          <a:p>
            <a:endParaRPr lang="pt-BR" sz="2400" dirty="0"/>
          </a:p>
          <a:p>
            <a:r>
              <a:rPr lang="pt-BR" sz="2400" dirty="0"/>
              <a:t>Existem 3 Etapas básicas para transformar um sinal contínuo (analógico) em um sinal discreto (digital)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Amostragem</a:t>
            </a:r>
          </a:p>
          <a:p>
            <a:pPr lvl="1"/>
            <a:r>
              <a:rPr lang="pt-BR" sz="2200" dirty="0"/>
              <a:t>Quantização</a:t>
            </a:r>
          </a:p>
          <a:p>
            <a:pPr lvl="1"/>
            <a:r>
              <a:rPr lang="pt-BR" sz="2200" dirty="0"/>
              <a:t>Codificação</a:t>
            </a:r>
          </a:p>
        </p:txBody>
      </p:sp>
    </p:spTree>
    <p:extLst>
      <p:ext uri="{BB962C8B-B14F-4D97-AF65-F5344CB8AC3E}">
        <p14:creationId xmlns:p14="http://schemas.microsoft.com/office/powerpoint/2010/main" val="30034565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98B53-530D-8A51-E6D4-041C077D4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103117B-2637-9F90-68A0-9C426470DBF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BEB5AA3-210D-3858-0298-1A50FD4A9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Amostragem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0B96216-66D1-B37B-E089-943552CC4C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307C2F3-EB4D-0921-83B7-C16E3E40CE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519" y="2159793"/>
            <a:ext cx="8639474" cy="4449123"/>
          </a:xfrm>
        </p:spPr>
        <p:txBody>
          <a:bodyPr>
            <a:normAutofit/>
          </a:bodyPr>
          <a:lstStyle/>
          <a:p>
            <a:r>
              <a:rPr lang="pt-BR" sz="2400" dirty="0"/>
              <a:t>Refere-se à divisão das coordenadas espaciais da imagem contínua em uma grade discreta de pontos.</a:t>
            </a:r>
          </a:p>
          <a:p>
            <a:endParaRPr lang="pt-BR" sz="2400" dirty="0"/>
          </a:p>
          <a:p>
            <a:r>
              <a:rPr lang="pt-BR" sz="2400" dirty="0"/>
              <a:t>O processo define a resolução espacial (o número de pixels por linha e coluna).</a:t>
            </a:r>
          </a:p>
          <a:p>
            <a:endParaRPr lang="pt-BR" sz="2400" dirty="0"/>
          </a:p>
          <a:p>
            <a:r>
              <a:rPr lang="pt-BR" sz="2400" dirty="0"/>
              <a:t>Mais amostras trazem mais detalhes; poucas amostras geram o efeito </a:t>
            </a:r>
            <a:r>
              <a:rPr lang="pt-BR" sz="2400" dirty="0" err="1"/>
              <a:t>pixelado</a:t>
            </a:r>
            <a:r>
              <a:rPr lang="pt-BR" sz="2400" dirty="0"/>
              <a:t>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2B98FA6-9601-0139-740A-AF9C196B24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 b="21868"/>
          <a:stretch>
            <a:fillRect/>
          </a:stretch>
        </p:blipFill>
        <p:spPr>
          <a:xfrm>
            <a:off x="8909993" y="2325200"/>
            <a:ext cx="3011488" cy="3269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5145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41BE6-0561-6C52-DDAA-18B3FC9E2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65BB0B0-5C1F-4E86-50A8-CC926232BA7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9B7F445-6E28-661A-BB68-4D364172F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Quantização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FE07DB2-CBB6-EBD0-8D52-D006B7C3CBF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F9341BF-CC9C-E102-271F-73B3B0929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519" y="2159793"/>
            <a:ext cx="8441681" cy="4449123"/>
          </a:xfrm>
        </p:spPr>
        <p:txBody>
          <a:bodyPr>
            <a:normAutofit/>
          </a:bodyPr>
          <a:lstStyle/>
          <a:p>
            <a:r>
              <a:rPr lang="pt-BR" sz="2400" dirty="0"/>
              <a:t>Refere-se à divisão dos valores contínuos de brilho ou cor em um número limitado de valores inteiros.</a:t>
            </a:r>
          </a:p>
          <a:p>
            <a:endParaRPr lang="pt-BR" sz="2400" dirty="0"/>
          </a:p>
          <a:p>
            <a:r>
              <a:rPr lang="pt-BR" sz="2400" dirty="0"/>
              <a:t>O processo define a profundidade de bits.</a:t>
            </a:r>
          </a:p>
          <a:p>
            <a:endParaRPr lang="pt-BR" sz="2400" dirty="0"/>
          </a:p>
          <a:p>
            <a:r>
              <a:rPr lang="pt-BR" sz="2400" dirty="0"/>
              <a:t>Menor quantidade de níveis de intensidade gera perda de gradação suave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D2E5AE53-AB4E-BB17-9363-09E06230E3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000" t="39" b="21829"/>
          <a:stretch>
            <a:fillRect/>
          </a:stretch>
        </p:blipFill>
        <p:spPr>
          <a:xfrm>
            <a:off x="8909993" y="2159793"/>
            <a:ext cx="3011488" cy="3269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1483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32AC1-C574-AA82-2DC7-EF4E402B6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A3B5B3F-3BB9-CECE-B15F-316145DF45B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4A04DEC-1474-6735-8302-11A43655E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Codificação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26EEE5E-3D41-712C-C9A3-3C73693A5D9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F082117-E822-8545-3B55-B8066A2DE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519" y="2159793"/>
            <a:ext cx="7950769" cy="4449123"/>
          </a:xfrm>
        </p:spPr>
        <p:txBody>
          <a:bodyPr>
            <a:normAutofit/>
          </a:bodyPr>
          <a:lstStyle/>
          <a:p>
            <a:r>
              <a:rPr lang="pt-BR" sz="2400" dirty="0"/>
              <a:t>Refere-se ao processo de transformar os dados de uma imagem para um formato que computador consiga ler, salvar e exibir o arquivo</a:t>
            </a:r>
          </a:p>
          <a:p>
            <a:endParaRPr lang="pt-BR" sz="2400" dirty="0"/>
          </a:p>
          <a:p>
            <a:pPr lvl="1"/>
            <a:r>
              <a:rPr lang="pt-BR" sz="2200" dirty="0"/>
              <a:t>Engloba os processos de amostragem e quantização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Aplica técnicas de compressão de dados (com ou sem perdas)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Define a formatação da imagem (JPG, PNG, BMP, etc.)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43B305F-21D5-CFAD-88DD-1F22371DF5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5800" y="2623514"/>
            <a:ext cx="3810000" cy="2619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2309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5A75A-A294-67A1-93E6-AC772DA0A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F56943D-2B22-AF1E-FC64-369758FC2A9D}"/>
              </a:ext>
            </a:extLst>
          </p:cNvPr>
          <p:cNvSpPr/>
          <p:nvPr/>
        </p:nvSpPr>
        <p:spPr>
          <a:xfrm>
            <a:off x="0" y="2918617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057CA28-AB8E-EEF1-211C-FA9157CF7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18618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Exemplo Prático – Quantização e Amostragem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61AD209-752E-B93F-B292-F4E94141052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6400150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 2007 - 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acote">
  <a:themeElements>
    <a:clrScheme name="Office 2007 - 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cot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co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1205</TotalTime>
  <Words>1532</Words>
  <Application>Microsoft Office PowerPoint</Application>
  <PresentationFormat>Widescreen</PresentationFormat>
  <Paragraphs>242</Paragraphs>
  <Slides>22</Slides>
  <Notes>22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22</vt:i4>
      </vt:variant>
    </vt:vector>
  </HeadingPairs>
  <TitlesOfParts>
    <vt:vector size="30" baseType="lpstr">
      <vt:lpstr>Arial</vt:lpstr>
      <vt:lpstr>Calibri</vt:lpstr>
      <vt:lpstr>Calibri Light</vt:lpstr>
      <vt:lpstr>Cambria Math</vt:lpstr>
      <vt:lpstr>Gill Sans MT</vt:lpstr>
      <vt:lpstr>Google Sans</vt:lpstr>
      <vt:lpstr>Tema do Office</vt:lpstr>
      <vt:lpstr>Pacote</vt:lpstr>
      <vt:lpstr>Plano de ensino</vt:lpstr>
      <vt:lpstr>Sistema de avaliação</vt:lpstr>
      <vt:lpstr>Distribuição de Notas</vt:lpstr>
      <vt:lpstr>Bibliografia</vt:lpstr>
      <vt:lpstr>módulo 1 – FUNDAMENTOS</vt:lpstr>
      <vt:lpstr>Processamento  Imagem Digital</vt:lpstr>
      <vt:lpstr>Processamento  Imagem Digital</vt:lpstr>
      <vt:lpstr>Visão Computacional</vt:lpstr>
      <vt:lpstr>Visão Computacional</vt:lpstr>
      <vt:lpstr>Imagem Digital e seus Atributos</vt:lpstr>
      <vt:lpstr>Imagem Digital</vt:lpstr>
      <vt:lpstr>Tipos de Imagem Digital</vt:lpstr>
      <vt:lpstr>Espectro Eletromagnético</vt:lpstr>
      <vt:lpstr>Resolução e Tamanho da imagem</vt:lpstr>
      <vt:lpstr>Densidade de pixels</vt:lpstr>
      <vt:lpstr>Dúvidas</vt:lpstr>
      <vt:lpstr>Transformação dos Sinais</vt:lpstr>
      <vt:lpstr>Transformação do Sinal</vt:lpstr>
      <vt:lpstr>Amostragem</vt:lpstr>
      <vt:lpstr>Quantização</vt:lpstr>
      <vt:lpstr>Codificação</vt:lpstr>
      <vt:lpstr>Exemplo Prático – Quantização e Amostragem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Marcio Salmazo Ramos</dc:creator>
  <cp:lastModifiedBy>Marcio Salmazo Ramos</cp:lastModifiedBy>
  <cp:revision>78</cp:revision>
  <dcterms:created xsi:type="dcterms:W3CDTF">2026-07-26T12:48:37Z</dcterms:created>
  <dcterms:modified xsi:type="dcterms:W3CDTF">2026-08-04T16:54:51Z</dcterms:modified>
</cp:coreProperties>
</file>