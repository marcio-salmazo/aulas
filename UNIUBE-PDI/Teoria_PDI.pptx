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36"/>
  </p:notesMasterIdLst>
  <p:sldIdLst>
    <p:sldId id="280" r:id="rId3"/>
    <p:sldId id="277" r:id="rId4"/>
    <p:sldId id="278" r:id="rId5"/>
    <p:sldId id="279" r:id="rId6"/>
    <p:sldId id="256" r:id="rId7"/>
    <p:sldId id="257" r:id="rId8"/>
    <p:sldId id="258" r:id="rId9"/>
    <p:sldId id="287" r:id="rId10"/>
    <p:sldId id="293" r:id="rId11"/>
    <p:sldId id="298" r:id="rId12"/>
    <p:sldId id="294" r:id="rId13"/>
    <p:sldId id="295" r:id="rId14"/>
    <p:sldId id="285" r:id="rId15"/>
    <p:sldId id="281" r:id="rId16"/>
    <p:sldId id="289" r:id="rId17"/>
    <p:sldId id="288" r:id="rId18"/>
    <p:sldId id="306" r:id="rId19"/>
    <p:sldId id="291" r:id="rId20"/>
    <p:sldId id="307" r:id="rId21"/>
    <p:sldId id="300" r:id="rId22"/>
    <p:sldId id="301" r:id="rId23"/>
    <p:sldId id="302" r:id="rId24"/>
    <p:sldId id="303" r:id="rId25"/>
    <p:sldId id="304" r:id="rId26"/>
    <p:sldId id="305" r:id="rId27"/>
    <p:sldId id="315" r:id="rId28"/>
    <p:sldId id="316" r:id="rId29"/>
    <p:sldId id="310" r:id="rId30"/>
    <p:sldId id="314" r:id="rId31"/>
    <p:sldId id="312" r:id="rId32"/>
    <p:sldId id="317" r:id="rId33"/>
    <p:sldId id="318" r:id="rId34"/>
    <p:sldId id="319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Salmazo Ramos" initials="MS" lastIdx="2" clrIdx="0">
    <p:extLst>
      <p:ext uri="{19B8F6BF-5375-455C-9EA6-DF929625EA0E}">
        <p15:presenceInfo xmlns:p15="http://schemas.microsoft.com/office/powerpoint/2012/main" userId="S::marciosr@ufu.br::41390c5d-c465-4ad4-9c2e-eaf7a78388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68" autoAdjust="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8C351-DFF9-9BB4-C595-CB3EC6AB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75BF112-E657-0452-8596-E92EF34F2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91002F-A59D-1347-CCEF-5C5F7BF2B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5A6B88-6AEB-E6CD-2753-B1DA2A27C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491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7B2A-BF0C-6DE5-D7D4-EB437BE8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C9A454-78DF-0441-D12F-F57B1DCF9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BADED7D-9228-27C3-F085-8AD77D993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F76711-7864-16B2-2D1A-140BF30DE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703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2EBE6-8028-CFB1-9724-36EFE5A09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69B76E-CD7C-F176-E30C-1FF6CBC78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DF1F636-8DE6-4496-60E4-309D236B1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5E1AEC-CF40-C324-4374-28168748E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261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4A9F-4876-629F-891A-6D247B74D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E3B4A7-5916-5A37-F86B-2CA224A7B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CF73BD-08A0-6C5A-90F2-844EAE078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F1830E-CA2A-22E0-725D-2C8E1FF19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03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Números discretos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 </a:t>
            </a:r>
            <a:r>
              <a:rPr lang="pt-BR" dirty="0"/>
              <a:t>valores numéricos separados e contáveis, como números inteiros, que não aceitam frações ou divisões intermediárias.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Valores Contínuos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indicam que qualquer valor é possível, ou qualquer valor dentro de uma determinada faixa.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captura de uma imagem por scanners e sensores </a:t>
            </a:r>
            <a:r>
              <a:rPr lang="pt-BR" dirty="0"/>
              <a:t>ocorre quando a luz ilumina um sensor, de modo que os fótons atingem pequenos pontos sensíveis e são convertidos em cargas elétricas, que viram números digitais.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dispositivo de carga acoplada</a:t>
            </a:r>
            <a:r>
              <a:rPr lang="pt-BR" dirty="0"/>
              <a:t> (conhecido pela sigla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CCD</a:t>
            </a:r>
            <a:r>
              <a:rPr lang="pt-BR" dirty="0"/>
              <a:t>, do inglês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charge-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coupled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device</a:t>
            </a:r>
            <a:r>
              <a:rPr lang="pt-BR" dirty="0"/>
              <a:t>) é um sensor usado para transformar luz em sinais elétricos e transferir cargas elétricas entre pequenos capacitores.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23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0E330-3493-A968-77FA-EAF9BE78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B5CC82-C6BB-FC61-52B5-2642571C5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875EAF-7267-192C-BDE0-4ADCB3DEB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bitmap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(mapa de bits ou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raster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é uma imagem digital formada por uma grade de pequenos pontos coloridos chamados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pixels</a:t>
            </a:r>
          </a:p>
          <a:p>
            <a:r>
              <a:rPr lang="pt-BR" dirty="0"/>
              <a:t>Desse grupo fazem parte formatos como PNG, JPEG, GIF e o próprio BMP.</a:t>
            </a:r>
          </a:p>
          <a:p>
            <a:endParaRPr lang="pt-BR" dirty="0"/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Formato BMP (Bitmap do Windows)</a:t>
            </a:r>
            <a:r>
              <a:rPr lang="pt-BR" dirty="0"/>
              <a:t>: É um arquivo que guarda os dados de cada pixel de forma crua, sem nenhuma compactação. Por causa disso, os arquivos BMP ficam muito grandes e pesados.</a:t>
            </a:r>
          </a:p>
          <a:p>
            <a:r>
              <a:rPr lang="pt-BR" dirty="0"/>
              <a:t>Formato bitmap é ideal para imagens ricas em detalhamento, uma vez que cada pixel armazena um valor de intensidade e cor,</a:t>
            </a:r>
          </a:p>
          <a:p>
            <a:r>
              <a:rPr lang="pt-BR" dirty="0"/>
              <a:t>Mas sofre distorções caso a imagem seja redimensionada </a:t>
            </a:r>
          </a:p>
          <a:p>
            <a:endParaRPr lang="pt-BR" dirty="0"/>
          </a:p>
          <a:p>
            <a:r>
              <a:rPr lang="pt-BR" b="1" dirty="0"/>
              <a:t>Imagem Vetorizada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Podem ser reescalonada sem perca de qualidade, visto que estão associadas às funções matemáticas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Fácil edição:</a:t>
            </a:r>
            <a:r>
              <a:rPr lang="pt-BR" b="0" dirty="0"/>
              <a:t> </a:t>
            </a:r>
            <a:r>
              <a:rPr lang="pt-BR" dirty="0"/>
              <a:t>cada linha ou cor pode ser alterada sozinha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Principais Formatos: SVG (comum na internet/navegadores) e AI (adobe </a:t>
            </a:r>
            <a:r>
              <a:rPr lang="pt-BR" dirty="0" err="1"/>
              <a:t>illustrator</a:t>
            </a:r>
            <a:r>
              <a:rPr lang="pt-BR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 uso mais comum é em logomarcas</a:t>
            </a:r>
          </a:p>
          <a:p>
            <a:pPr marL="171450" indent="-171450">
              <a:buFontTx/>
              <a:buChar char="-"/>
            </a:pPr>
            <a:endParaRPr lang="pt-BR" b="1" dirty="0"/>
          </a:p>
          <a:p>
            <a:pPr marL="171450" indent="-171450">
              <a:buFontTx/>
              <a:buChar char="-"/>
            </a:pPr>
            <a:endParaRPr lang="pt-BR" b="1" dirty="0"/>
          </a:p>
          <a:p>
            <a:pPr marL="171450" indent="-171450">
              <a:buFontTx/>
              <a:buChar char="-"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288378-06E7-8AD6-6723-0B6E6D0F0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57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DFA8-F094-9115-7AB3-F8B0A683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7089E9-8ECE-FAC8-C0B6-E185528B5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EB7E30-F2BE-5AE2-7258-6651C3AB9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8735FE-8F9C-A971-8DB6-ECF7C6426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446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8542A-5521-97B2-DFC5-BC153095B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DDB8BE-4556-7DA4-E479-F14A3D07D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C04428-29A8-A358-A1CA-025BE14C4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Medicina: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Ajuda a achar doenças em exames como raios-X e ressonâncias.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Satélites: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Permite ver mapas, cuidar da natureza e prever o tempo.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Indústria: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 para achar defeitos em produtos de forma rápida na linha de montagem.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Segurança: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Ajuda câmeras a reconhecer rostos e ler placas de carros.</a:t>
            </a:r>
          </a:p>
          <a:p>
            <a:pPr marL="171450" indent="-171450">
              <a:buFontTx/>
              <a:buChar char="-"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839280-BB42-C96F-CA92-A5FBAB9BE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9460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D1B9-FF5C-91D2-16D8-944394F24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896E7AF-E24E-1D33-A434-EDE3BC483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3CB22F-EFAC-FE3B-6BFD-FDB223C3C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AE10D7-1F32-3157-2AB8-1D1E34BAF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947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2D24-3133-10E6-38A5-CBF23850D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AD4AC1F-8F86-A699-4E03-B6E16E7F3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C458F4-38FE-F5FB-AF1A-093DB7FEA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D96A9D-BC5D-FF8D-1BE9-37A5EA2EE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959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10620-DDB0-893F-187C-CB822DE6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F867752-CC52-3030-0B18-6BE52BFA1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A4E302-04CD-957A-8770-4DE65BEF7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9B8B97-E906-160B-1D37-DC51D7F27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256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9EE8-DBDA-1127-22A7-9A7A4AD5F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BF96FB-7214-B61F-3C46-DDDC24F27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4A6B09B-0A48-2F1A-51CD-19CACE611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6A95F6-04AA-4E48-99B3-C769C3258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720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E4BA9-BC19-9D59-B3FA-F3617013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1D76EF-2A97-A72D-D4A6-8F53FF405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99A900-0F73-B94C-7D02-01D6AA0C0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PPI (Pixels Per Inch)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é o termo mais comum no meio digital. </a:t>
            </a:r>
          </a:p>
          <a:p>
            <a:pPr marL="171450" indent="-171450">
              <a:buFontTx/>
              <a:buChar char="-"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 indica quantos pixels existem em cada polegada de uma imagem que será exibida em uma tela</a:t>
            </a:r>
          </a:p>
          <a:p>
            <a:pPr marL="171450" indent="-171450">
              <a:buFontTx/>
              <a:buChar char="-"/>
            </a:pP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DPI (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Dots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Inch)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é mais usado no contexto de impressão</a:t>
            </a:r>
          </a:p>
          <a:p>
            <a:pPr marL="171450" indent="-171450">
              <a:buFontTx/>
              <a:buChar char="-"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 define a quantidade de pontos de tinta que a impressora aplica por polegada.</a:t>
            </a:r>
          </a:p>
          <a:p>
            <a:pPr marL="0" indent="0">
              <a:buFontTx/>
              <a:buNone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02E232-FFF4-5E95-6278-82EEC5EF8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478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13B6B-6FD2-52E4-33B9-D6D53959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808E45F-E538-5FB0-D17D-B30473046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5CBBE6F-FAFC-D3E6-3C1A-4788C5D23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pt-BR" b="1" dirty="0">
                <a:effectLst/>
                <a:latin typeface="Google Sans"/>
              </a:rPr>
              <a:t>Tipos de Compressão</a:t>
            </a:r>
          </a:p>
          <a:p>
            <a:pPr marL="171450" indent="-1714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Google Sans"/>
              </a:rPr>
              <a:t>Sem perdas:</a:t>
            </a:r>
            <a:r>
              <a:rPr lang="pt-BR" b="0" dirty="0">
                <a:effectLst/>
                <a:latin typeface="Google Sans"/>
              </a:rPr>
              <a:t> Mantém todos os dados originais e reconstrói a imagem de forma exata (exemplos: PNG, GIF, algoritmos como </a:t>
            </a:r>
            <a:r>
              <a:rPr lang="pt-BR" b="0" dirty="0" err="1">
                <a:effectLst/>
                <a:latin typeface="Google Sans"/>
              </a:rPr>
              <a:t>Huffman</a:t>
            </a:r>
            <a:r>
              <a:rPr lang="pt-BR" b="0" dirty="0">
                <a:effectLst/>
                <a:latin typeface="Google Sans"/>
              </a:rPr>
              <a:t>).</a:t>
            </a:r>
          </a:p>
          <a:p>
            <a:pPr marL="171450" indent="-1714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Google Sans"/>
              </a:rPr>
              <a:t>Com perdas:</a:t>
            </a:r>
            <a:r>
              <a:rPr lang="pt-BR" b="0" dirty="0">
                <a:effectLst/>
                <a:latin typeface="Google Sans"/>
              </a:rPr>
              <a:t> Descarta detalhes menos visíveis para diminuir bastante o tamanho do arquivo (exemplo: JPEG). 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endParaRPr lang="pt-BR" b="1" dirty="0">
              <a:effectLst/>
              <a:latin typeface="Google Sans"/>
            </a:endParaRPr>
          </a:p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pt-BR" b="1" dirty="0">
                <a:effectLst/>
                <a:latin typeface="Google Sans"/>
              </a:rPr>
              <a:t>Principais Técnicas e Padrões</a:t>
            </a:r>
          </a:p>
          <a:p>
            <a:pPr marL="171450" indent="-1714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Google Sans"/>
              </a:rPr>
              <a:t>Transformada Discreta de Cossenos (DCT):</a:t>
            </a:r>
            <a:r>
              <a:rPr lang="pt-BR" b="0" dirty="0">
                <a:effectLst/>
                <a:latin typeface="Google Sans"/>
              </a:rPr>
              <a:t> Usada no padrão JPEG para separar frequências de cor e luz.</a:t>
            </a:r>
          </a:p>
          <a:p>
            <a:pPr marL="171450" indent="-1714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b="1" dirty="0" err="1">
                <a:effectLst/>
                <a:latin typeface="Google Sans"/>
              </a:rPr>
              <a:t>Run-Length</a:t>
            </a:r>
            <a:r>
              <a:rPr lang="pt-BR" b="1" dirty="0">
                <a:effectLst/>
                <a:latin typeface="Google Sans"/>
              </a:rPr>
              <a:t> </a:t>
            </a:r>
            <a:r>
              <a:rPr lang="pt-BR" b="1" dirty="0" err="1">
                <a:effectLst/>
                <a:latin typeface="Google Sans"/>
              </a:rPr>
              <a:t>Encoding</a:t>
            </a:r>
            <a:r>
              <a:rPr lang="pt-BR" b="1" dirty="0">
                <a:effectLst/>
                <a:latin typeface="Google Sans"/>
              </a:rPr>
              <a:t> (RLE):</a:t>
            </a:r>
            <a:r>
              <a:rPr lang="pt-BR" b="0" dirty="0">
                <a:effectLst/>
                <a:latin typeface="Google Sans"/>
              </a:rPr>
              <a:t> Agrupa sequências de pixels repetidos em códigos curtos.</a:t>
            </a:r>
          </a:p>
          <a:p>
            <a:pPr marL="171450" indent="-1714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Google Sans"/>
              </a:rPr>
              <a:t>Base64:</a:t>
            </a:r>
            <a:r>
              <a:rPr lang="pt-BR" b="0" dirty="0">
                <a:effectLst/>
                <a:latin typeface="Google Sans"/>
              </a:rPr>
              <a:t> Converte dados binários da imagem em texto para uso direto em códigos HTML ou CSS</a:t>
            </a:r>
          </a:p>
          <a:p>
            <a:pPr marL="171450" indent="-171450">
              <a:buFontTx/>
              <a:buChar char="-"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A5E021-7465-7F61-2529-3A4A35AAB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8312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DA2FD-90EF-E7B2-727B-97312C415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D1B19F-B60A-0FDF-9750-6FA6DBD3A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5F47053-1CDB-0C26-B9D9-9E47A2A80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Amostragem espacial:</a:t>
            </a:r>
            <a:r>
              <a:rPr lang="pt-BR" dirty="0"/>
              <a:t> Define o número de pixels por polegada ou área (como DPI ou PPI), dividindo a cena em linhas e colunas.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Exemplo simples</a:t>
            </a:r>
          </a:p>
          <a:p>
            <a:r>
              <a:rPr lang="pt-BR" dirty="0"/>
              <a:t>Imagine uma régua de 10 cm.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Podemos medi-la:</a:t>
            </a:r>
          </a:p>
          <a:p>
            <a:endParaRPr lang="pt-BR" dirty="0"/>
          </a:p>
          <a:p>
            <a:r>
              <a:rPr lang="pt-BR" dirty="0"/>
              <a:t>A cada 5 cm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|---------|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0         10</a:t>
            </a:r>
          </a:p>
          <a:p>
            <a:endParaRPr lang="pt-BR" dirty="0"/>
          </a:p>
          <a:p>
            <a:r>
              <a:rPr lang="pt-BR" dirty="0"/>
              <a:t>Ou</a:t>
            </a:r>
          </a:p>
          <a:p>
            <a:endParaRPr lang="pt-BR" dirty="0"/>
          </a:p>
          <a:p>
            <a:r>
              <a:rPr lang="pt-BR" dirty="0"/>
              <a:t>A cada 1 cm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||||||||||</a:t>
            </a:r>
          </a:p>
          <a:p>
            <a:endParaRPr lang="pt-BR" dirty="0"/>
          </a:p>
          <a:p>
            <a:r>
              <a:rPr lang="pt-BR" dirty="0"/>
              <a:t>Quanto mais pontos, mais fiel será a representação.</a:t>
            </a:r>
            <a:endParaRPr lang="pt-BR" b="1" dirty="0"/>
          </a:p>
          <a:p>
            <a:endParaRPr lang="pt-BR" b="1" dirty="0"/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2E9C41-AC1C-19AF-45B4-9FBAB7B90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6796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4A52A-BACB-D70E-AB65-E55B79C1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4AF3B56-3D95-090F-44D1-AFFB39472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A707BA-9990-24A6-9FC5-A585697D6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539330-C492-F400-8CC9-656C581A6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23892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AA50-281E-C039-5108-83C33F1B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11E8E75-0B4B-9941-E1EF-B4159A187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424561-E7ED-E636-B3E1-36B935115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2963E1-64DC-BCBF-60C8-64230D86D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0078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F61E3-7758-D5FD-018B-8A88E45D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0BF090-83F0-267B-F9C8-68FB69147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1E5A95-868C-4F0A-088E-22C1A121A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703055-F9D2-F682-C37B-36C583BF6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0472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4805-8BF6-3D5A-96E2-E7CDFD310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41C1C2-629C-A76A-E155-951C8CC46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4C7E3D-3300-FCA1-9C4A-B831C4727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 perdas (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Lossy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Apaga detalhes que os olhos humanos não percebem bem para deixar o arquivo leve, como no formato JPEG.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 perdas (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Lossless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Guarda todos os pontos originais sem perder nada da qualidade, como no formato PNG ou Bitmap.</a:t>
            </a:r>
          </a:p>
          <a:p>
            <a:endParaRPr lang="pt-BR" b="1" dirty="0"/>
          </a:p>
          <a:p>
            <a:r>
              <a:rPr lang="pt-BR" b="1" dirty="0"/>
              <a:t>PDF não é um tipo de imagem, </a:t>
            </a:r>
            <a:r>
              <a:rPr lang="pt-BR" b="0" dirty="0"/>
              <a:t>mas serve para armazenar dados de imagem ou gráficos vetorizados.</a:t>
            </a:r>
          </a:p>
          <a:p>
            <a:r>
              <a:rPr lang="pt-BR" b="1" dirty="0"/>
              <a:t>EPS</a:t>
            </a:r>
            <a:r>
              <a:rPr lang="pt-BR" b="0" dirty="0"/>
              <a:t> é um formato de imagem vetorial criado pela Adobe</a:t>
            </a: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CAFD5C-9B88-869B-1760-94F39E1D0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2421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295EB-5EDA-19EF-43C8-960C2A5D2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7D793C-9565-8BA2-FF27-01F3CC5E4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22DFD3-6444-AE57-0959-8B3060BF4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Etapas básicas para transformar um sinal contínuo (analógico) em um sinal digital</a:t>
            </a:r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3EC95F-06FD-6990-14C7-4B4D40248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47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81DDE-E135-B8A3-D668-48C4E8BB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06E72D-9A41-5973-5283-BE5A64CB3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DDA496-F08A-F9C0-7165-764F6E36B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0D7B23-C7D0-86C4-6CB0-FF9AE3325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6152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046E-ACF9-0918-93DB-F7A79442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1BA2ED-DFA1-3EC6-F07B-02B8E504A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BEABA5-BBA9-69B3-40DD-CA17F2646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636BC7-81E2-9EFF-0DED-BA2DBE653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2006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AC12-1C26-E972-A158-E4FBBC49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A491B5-F80E-BC03-025B-1ED21005C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4E9AE2-DEED-A191-DB5C-413928202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Luz acromática não é invisível (como Infra Vermelho ou Ultra Violeta)</a:t>
            </a:r>
          </a:p>
          <a:p>
            <a:r>
              <a:rPr lang="pt-BR" b="0" dirty="0"/>
              <a:t>A luz acromática apenas não tem cor, por exemplo:</a:t>
            </a:r>
          </a:p>
          <a:p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Em câmeras de segurança com modo noturno baseado em infravermelho, as imagens são exibidas em preto e branco (acromáticas) exatamente porque a luz captada não traz informações de cores do espectro visível.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luz acromática natural existe e o maior exemplo dela é a própria luz do Sol</a:t>
            </a:r>
            <a:r>
              <a:rPr lang="pt-BR" b="0" dirty="0"/>
              <a:t>.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Fisicamente</a:t>
            </a:r>
            <a:r>
              <a:rPr lang="pt-BR" dirty="0"/>
              <a:t>, a luz acromática natural (branca) é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policromática</a:t>
            </a:r>
            <a:r>
              <a:rPr lang="pt-BR" dirty="0"/>
              <a:t>. Isso significa que ela é composta pela união de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pt-BR" dirty="0"/>
              <a:t> as cores do arco-íris, mas visualmente ela se torna acromática.</a:t>
            </a: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207530-82E8-537B-794A-F0BEFA90C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8734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D862-F3CF-C640-A178-044D521A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5AD89D4-2653-60CA-7977-800A87C9C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B1B21C-4DD5-9399-87DC-80E41E393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A radiância </a:t>
            </a:r>
            <a:r>
              <a:rPr lang="pt-BR" dirty="0"/>
              <a:t>abrange todo o espectro eletromagnético, não apenas o visível.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Unidade:</a:t>
            </a:r>
            <a:r>
              <a:rPr lang="pt-BR" dirty="0"/>
              <a:t> Watts por </a:t>
            </a:r>
            <a:r>
              <a:rPr lang="pt-BR" dirty="0" err="1"/>
              <a:t>esferorradiano</a:t>
            </a:r>
            <a:r>
              <a:rPr lang="pt-BR" dirty="0"/>
              <a:t> por metro quadrado ((W(</a:t>
            </a:r>
            <a:r>
              <a:rPr lang="pt-BR" dirty="0" err="1"/>
              <a:t>sr</a:t>
            </a:r>
            <a:r>
              <a:rPr lang="pt-BR" dirty="0"/>
              <a:t> * m^2))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A Luminância</a:t>
            </a:r>
            <a:r>
              <a:rPr lang="pt-BR" dirty="0"/>
              <a:t> abrange apenas na luz visível que é emitida ou refletida por uma fonte ou objeto e que atinge o olho humano.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Unidade: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Candelas por metro quadrado (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/m²).</a:t>
            </a:r>
            <a:r>
              <a:rPr lang="pt-BR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A iluminância </a:t>
            </a:r>
            <a:r>
              <a:rPr lang="pt-BR" dirty="0"/>
              <a:t>mede a densidade do fluxo luminoso que incide sobre uma superfície (a quantidade de luz que "chega" ou "cai" em um lugar).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Unidade:</a:t>
            </a:r>
            <a:r>
              <a:rPr lang="pt-BR" dirty="0"/>
              <a:t> Lux (</a:t>
            </a:r>
            <a:r>
              <a:rPr lang="pt-BR" dirty="0" err="1"/>
              <a:t>lx</a:t>
            </a:r>
            <a:r>
              <a:rPr lang="pt-BR" dirty="0"/>
              <a:t> ou </a:t>
            </a:r>
            <a:r>
              <a:rPr lang="pt-BR" dirty="0" err="1"/>
              <a:t>lm</a:t>
            </a:r>
            <a:r>
              <a:rPr lang="pt-BR" dirty="0"/>
              <a:t>/m²)</a:t>
            </a: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227900-22D0-13A1-F295-7554AACD9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33519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5B8A4-56B7-0745-C458-CC62CDC99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400B40-FF0E-AFB7-6563-F021C262A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3FACA0-6A43-2DDE-0A77-72CCD6331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Diagrama de Cromaticidade Científico (CIE):</a:t>
            </a:r>
            <a:r>
              <a:rPr lang="pt-BR" dirty="0"/>
              <a:t> Um gráfico técnico bidimensional (como o CIE 1931) que mapeia todas as cores físicas que o olho humano consegue enxergar a partir de comprimentos de onda da luz</a:t>
            </a:r>
          </a:p>
          <a:p>
            <a:endParaRPr lang="pt-BR" b="1" dirty="0"/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diagrama cromático </a:t>
            </a:r>
            <a:r>
              <a:rPr lang="pt-BR" dirty="0"/>
              <a:t>é uma representação visual que organiza as cores com base em suas relações de mistura, harmonia e contraste</a:t>
            </a:r>
          </a:p>
          <a:p>
            <a:endParaRPr lang="pt-BR" b="1" dirty="0"/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sRGB</a:t>
            </a:r>
            <a:r>
              <a:rPr lang="pt-BR" dirty="0"/>
              <a:t> é um padrão específico de cores dentro do grande sistema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RGB</a:t>
            </a:r>
            <a:r>
              <a:rPr lang="pt-BR" dirty="0"/>
              <a:t>. Na prática, ele garante que as cores fiquem iguais em quase qualquer dispositivo.</a:t>
            </a: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75681E-9B3F-3E51-EAA0-744806CC4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425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44059-43EA-5BDE-4D43-5F481BDF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7F15B3-B467-BBCB-53A2-59ECDFA6A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1EEDA59-1A57-6764-D4C0-39EA74FDB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Diagrama de Cromaticidade Científico (CIE):</a:t>
            </a:r>
            <a:r>
              <a:rPr lang="pt-BR" dirty="0"/>
              <a:t> Um gráfico técnico bidimensional (como o CIE 1931) que mapeia todas as cores físicas que o olho humano consegue enxergar a partir de comprimentos de onda da luz</a:t>
            </a:r>
          </a:p>
          <a:p>
            <a:endParaRPr lang="pt-BR" b="1" dirty="0"/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diagrama cromático </a:t>
            </a:r>
            <a:r>
              <a:rPr lang="pt-BR" dirty="0"/>
              <a:t>é uma representação visual que organiza as cores com base em suas relações de mistura, harmonia e contraste</a:t>
            </a: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8E2044-FD5F-D9CD-69BC-DCD2779A3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8056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8ECC-FC53-DD4F-7391-FB404759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73122D4-AE61-6E48-EC84-4BD9E070B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D1A56FB-417F-FA23-EE3C-FFFF7F80A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57521C-24E5-548F-6A59-3723373E8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2470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A14BA-D7FA-E370-0F44-145446D5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FBF537-3FE2-8BF6-1BD5-D27658E92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407F47-FB65-2B76-182B-59C507879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 RGB atua em um sistema aditivo de cores (As cores se somam e adicionam luz.)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397E29-EC1F-CCFC-3C31-C020AA61D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0778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EDE7E-1A3F-A2BB-195D-35D9B5AAB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29024C-22B1-E06B-4CD9-EEE626659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90DA6E-EF90-4788-E883-E5C650C78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A75FF7-47CC-6716-BAE3-21B2D0CEF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9511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71D89-1131-3168-700B-58551EF0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9954CE-4F52-D978-F21A-2A7014E93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6C81B26-D109-643A-2D87-FC1EA3E67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Esse modelo tenta representar a cor da mesma forma que os seres humanos costumam descrevê-la.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Ao invés de </a:t>
            </a:r>
            <a:r>
              <a:rPr lang="pt-BR" dirty="0"/>
              <a:t>(235,120,35), ela se aproxima mais da percepção natural, como: "É um laranja bem vivo.“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Exemplo de aplicação do HSV: </a:t>
            </a:r>
            <a:r>
              <a:rPr lang="pt-BR" dirty="0"/>
              <a:t>Vamos imaginar o cenário de detecção de objetos vermelhos.</a:t>
            </a:r>
            <a:endParaRPr lang="pt-B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Em RGB, a mesma maçã pode aparecer com valores diferentes dependendo da iluminação, tornando a segmentação mais difícil. No HSV, basta procurar um intervalo do componente </a:t>
            </a:r>
            <a:r>
              <a:rPr lang="pt-BR" b="0" dirty="0" err="1"/>
              <a:t>Hue</a:t>
            </a:r>
            <a:r>
              <a:rPr lang="pt-BR" b="0" dirty="0"/>
              <a:t> correspondente ao vermelho, enquanto se definem faixas de saturação e brilho adequadas. Isso torna a segmentação por cor muito mais robusta.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B11EEB-67CC-0763-4F9A-88B04CE21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1299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DCFE-26BA-FBB9-8666-512F65D4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AA13C7-69E3-F3E6-DFA0-F81CEA018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E2F4C4-15B8-4A1B-4C24-F90367000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7F8600-A363-D379-0661-532E8978B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5908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68181-781E-A1B4-0D88-12F113E7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A9B8CDC-4043-7406-D511-60A81DA7A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7FF5E0-AE14-2EB1-D2E9-D1C570BAF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Etapas básicas para transformar um sinal contínuo (analógico) em um sinal digital</a:t>
            </a:r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0A0C31-8DFE-5417-4382-9900EBD4E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0561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F0EC1-7C1D-9280-1B58-3F6A425D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40E75-1356-94B7-0421-DEF542125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Plano de ensino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B096D7-64D7-8FC4-9F80-6A40ADEAC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6019B48-999B-D892-EAC1-867ADFDE6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0405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1F24-3A37-BE5E-87E6-8DFD228F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0E9C820-C403-81DA-4458-0F826AB9D6E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DBEF96-5BB9-10F9-BA9C-FDE0A19F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Sistema de avaliação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6D3F682-1904-6B9C-FB31-DC217F584E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6728EE4-B88D-A8C9-80CD-CA18D0C7F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0860" y="2245646"/>
            <a:ext cx="8670280" cy="3657600"/>
          </a:xfrm>
        </p:spPr>
        <p:txBody>
          <a:bodyPr/>
          <a:lstStyle/>
          <a:p>
            <a:r>
              <a:rPr lang="pt-BR" sz="2400" dirty="0"/>
              <a:t>Pontuação semestral total do componente curricular, no valor de 100 (cem pontos).</a:t>
            </a:r>
          </a:p>
          <a:p>
            <a:endParaRPr lang="pt-BR" sz="2400" dirty="0"/>
          </a:p>
          <a:p>
            <a:r>
              <a:rPr lang="pt-BR" sz="2400" dirty="0"/>
              <a:t>Pontuação necessária para aprovação: 60% (sessenta por cento) da pontuação semestral do componente.</a:t>
            </a:r>
          </a:p>
          <a:p>
            <a:endParaRPr lang="pt-BR" sz="2400" dirty="0"/>
          </a:p>
          <a:p>
            <a:r>
              <a:rPr lang="pt-BR" sz="2400" dirty="0"/>
              <a:t>Frequência necessária para aprovação: 75% (setenta e cinco por cento) no componente curricular.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552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6F12-CB60-EC12-334D-A843F410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522B2D8-67D3-186B-9646-B4F2E93DCAD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27AF45-4965-F2EA-4785-9BD925E6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Distribuição de Notas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1C6C694-907B-4090-64BD-AEE83CCF19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EBA44CF-0249-2FC7-5D35-8CE4AAB5D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540" y="1804575"/>
            <a:ext cx="8670280" cy="4746632"/>
          </a:xfrm>
        </p:spPr>
        <p:txBody>
          <a:bodyPr>
            <a:normAutofit/>
          </a:bodyPr>
          <a:lstStyle/>
          <a:p>
            <a:r>
              <a:rPr lang="pt-BR" sz="2400" dirty="0"/>
              <a:t>Atividades Complementares 1 – </a:t>
            </a:r>
            <a:r>
              <a:rPr lang="pt-BR" sz="2400" b="1" dirty="0"/>
              <a:t>5pts </a:t>
            </a:r>
            <a:r>
              <a:rPr lang="pt-BR" sz="2400" dirty="0"/>
              <a:t>(Entrega até o dia da prova)</a:t>
            </a:r>
          </a:p>
          <a:p>
            <a:r>
              <a:rPr lang="pt-BR" sz="2400" dirty="0" err="1"/>
              <a:t>Uniube</a:t>
            </a:r>
            <a:r>
              <a:rPr lang="pt-BR" sz="2400" dirty="0"/>
              <a:t>+ – </a:t>
            </a:r>
            <a:r>
              <a:rPr lang="pt-BR" sz="2400" b="1" dirty="0"/>
              <a:t>5pts</a:t>
            </a:r>
            <a:endParaRPr lang="pt-BR" sz="2400" dirty="0"/>
          </a:p>
          <a:p>
            <a:r>
              <a:rPr lang="pt-BR" sz="2400" dirty="0"/>
              <a:t>Avaliação 1 – </a:t>
            </a:r>
            <a:r>
              <a:rPr lang="pt-BR" sz="2400" b="1" dirty="0"/>
              <a:t>25pts</a:t>
            </a:r>
            <a:r>
              <a:rPr lang="pt-BR" sz="2400" dirty="0"/>
              <a:t> – Data prevista: </a:t>
            </a:r>
          </a:p>
          <a:p>
            <a:pPr lvl="1"/>
            <a:r>
              <a:rPr lang="pt-BR" sz="2000" dirty="0"/>
              <a:t>21/09 (Turma 1) – 22/09 (Turma 2)  – 23/09 (Turma 3) 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Atividades Complementares 2 – </a:t>
            </a:r>
            <a:r>
              <a:rPr lang="pt-BR" sz="2400" b="1" dirty="0"/>
              <a:t>10pts</a:t>
            </a:r>
          </a:p>
          <a:p>
            <a:r>
              <a:rPr lang="pt-BR" sz="2400" dirty="0" err="1"/>
              <a:t>Uniube</a:t>
            </a:r>
            <a:r>
              <a:rPr lang="pt-BR" sz="2400" dirty="0"/>
              <a:t>+ – </a:t>
            </a:r>
            <a:r>
              <a:rPr lang="pt-BR" sz="2400" b="1" dirty="0"/>
              <a:t>10pts</a:t>
            </a:r>
            <a:endParaRPr lang="pt-BR" sz="2400" dirty="0"/>
          </a:p>
          <a:p>
            <a:r>
              <a:rPr lang="pt-BR" sz="2400" dirty="0"/>
              <a:t>Avaliação 2 – </a:t>
            </a:r>
            <a:r>
              <a:rPr lang="pt-BR" sz="2400" b="1" dirty="0"/>
              <a:t>30pts</a:t>
            </a:r>
            <a:r>
              <a:rPr lang="pt-BR" sz="2400" dirty="0"/>
              <a:t> – Data prevista: </a:t>
            </a:r>
          </a:p>
          <a:p>
            <a:endParaRPr lang="pt-BR" sz="2400" dirty="0"/>
          </a:p>
          <a:p>
            <a:r>
              <a:rPr lang="pt-BR" sz="2400" dirty="0"/>
              <a:t>Avaliação Institucional – </a:t>
            </a:r>
            <a:r>
              <a:rPr lang="pt-BR" sz="2400" b="1" dirty="0"/>
              <a:t>15pts</a:t>
            </a:r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dirty="0"/>
          </a:p>
        </p:txBody>
      </p:sp>
      <p:pic>
        <p:nvPicPr>
          <p:cNvPr id="1026" name="Picture 2" descr="Teste - ícones de educação grátis">
            <a:extLst>
              <a:ext uri="{FF2B5EF4-FFF2-40B4-BE49-F238E27FC236}">
                <a16:creationId xmlns:a16="http://schemas.microsoft.com/office/drawing/2014/main" id="{5C4BB763-0221-5AB3-8665-67367B488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240" y="4060413"/>
            <a:ext cx="2490794" cy="249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451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8EFC3-284D-D3E8-E50A-9E8782F1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1CC91A5-617B-F614-3886-EF59D2171B4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78D71A-5EF8-AADA-8ACC-9C2D89EE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Bibliografia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D9276FC-2835-8FCA-9E06-6FEFA248BD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EE607F-D9F4-7951-D428-ABA18E81E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540" y="1804575"/>
            <a:ext cx="8670280" cy="4746632"/>
          </a:xfrm>
        </p:spPr>
        <p:txBody>
          <a:bodyPr/>
          <a:lstStyle/>
          <a:p>
            <a:r>
              <a:rPr lang="pt-BR" sz="2400" b="1" dirty="0"/>
              <a:t>Básica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Processamento Digital de Imagens – Gonzales &amp; Woods</a:t>
            </a:r>
          </a:p>
          <a:p>
            <a:pPr lvl="1"/>
            <a:r>
              <a:rPr lang="pt-BR" sz="2000" dirty="0"/>
              <a:t>Computação gráfica e processamento de imagens – Francisco Pichetti</a:t>
            </a:r>
          </a:p>
          <a:p>
            <a:endParaRPr lang="pt-BR" sz="2400" dirty="0"/>
          </a:p>
          <a:p>
            <a:r>
              <a:rPr lang="pt-BR" sz="2400" b="1" dirty="0"/>
              <a:t>Complementar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Processamento de imagens de satélite – Daniel Zanotta</a:t>
            </a:r>
          </a:p>
          <a:p>
            <a:pPr lvl="1"/>
            <a:r>
              <a:rPr lang="pt-BR" sz="2000" dirty="0"/>
              <a:t>Introdução à visão computacional: uma abordagem prática com </a:t>
            </a:r>
            <a:r>
              <a:rPr lang="pt-BR" sz="2000" dirty="0" err="1"/>
              <a:t>python</a:t>
            </a:r>
            <a:r>
              <a:rPr lang="pt-BR" sz="2000" dirty="0"/>
              <a:t> e </a:t>
            </a:r>
            <a:r>
              <a:rPr lang="pt-BR" sz="2000" dirty="0" err="1"/>
              <a:t>opencv</a:t>
            </a:r>
            <a:r>
              <a:rPr lang="pt-BR" sz="2000" dirty="0"/>
              <a:t> – Felipe Barelli</a:t>
            </a:r>
          </a:p>
          <a:p>
            <a:pPr lvl="1"/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497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1 – FUNDAMENTOS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0CD15DF-178C-8225-DC27-A997E19955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CFDDE8-0849-DCD6-CFFE-909EF724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Imagem Digital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38EF95E-E786-0234-E618-70938A65AA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0B58FF2C-8CDD-0E09-7F6D-242B2C7C0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3719" y="1710047"/>
                <a:ext cx="6983985" cy="4631376"/>
              </a:xfrm>
            </p:spPr>
            <p:txBody>
              <a:bodyPr/>
              <a:lstStyle/>
              <a:p>
                <a:pPr lvl="1"/>
                <a:endParaRPr lang="pt-BR" sz="2000" b="1" dirty="0"/>
              </a:p>
              <a:p>
                <a:r>
                  <a:rPr lang="pt-BR" sz="2400" dirty="0"/>
                  <a:t>Uma imagem pode ser definida como uma função bidimensional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pt-BR" sz="2400" b="0" dirty="0"/>
                  <a:t>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x e y são coordenadas espaciais no plano.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A amplitude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pt-BR" sz="2400" dirty="0"/>
                  <a:t> em qualquer par de coordenadas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pt-BR" sz="2400" dirty="0"/>
                  <a:t> é chamada de intensidade ou nível de cinza.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Quando os valores de coordenadas e intensidade são finitos e discretos, temos imagem digital.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0B58FF2C-8CDD-0E09-7F6D-242B2C7C0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3719" y="1710047"/>
                <a:ext cx="6983985" cy="4631376"/>
              </a:xfrm>
              <a:blipFill>
                <a:blip r:embed="rId3"/>
                <a:stretch>
                  <a:fillRect l="-1223" r="-2271" b="-13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m 12">
            <a:extLst>
              <a:ext uri="{FF2B5EF4-FFF2-40B4-BE49-F238E27FC236}">
                <a16:creationId xmlns:a16="http://schemas.microsoft.com/office/drawing/2014/main" id="{CC2A9660-B50B-53DD-787F-EAEC4A63EE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704" y="2330531"/>
            <a:ext cx="4177332" cy="401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7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267D7-66C2-1E8C-161F-8EEF1B9C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3406D87-CE40-54D7-558D-98ED7F390C2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6B3740-24EA-7688-5FF7-CD7F4A40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Tipos de Imagem Digital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0E3AE37-0AE1-0D7A-2411-C0A9D60CBA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2E89DC-D4C1-9227-F710-EF5F770AE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219" y="1865925"/>
            <a:ext cx="6520352" cy="4631376"/>
          </a:xfrm>
        </p:spPr>
        <p:txBody>
          <a:bodyPr/>
          <a:lstStyle/>
          <a:p>
            <a:pPr lvl="1"/>
            <a:endParaRPr lang="pt-BR" sz="2000" b="1" dirty="0"/>
          </a:p>
          <a:p>
            <a:r>
              <a:rPr lang="pt-BR" sz="2400" b="1" dirty="0"/>
              <a:t>Imagem Vetorial: </a:t>
            </a:r>
            <a:r>
              <a:rPr lang="pt-BR" sz="2400" dirty="0"/>
              <a:t>São construídas através de fórmulas matemáticas aplicadas à linhas.</a:t>
            </a:r>
            <a:endParaRPr lang="pt-BR" sz="2400" b="1" dirty="0"/>
          </a:p>
          <a:p>
            <a:endParaRPr lang="pt-BR" sz="2400" dirty="0"/>
          </a:p>
          <a:p>
            <a:r>
              <a:rPr lang="pt-BR" sz="2400" b="1" dirty="0"/>
              <a:t>Imagem Bitmap ou Matricial: </a:t>
            </a:r>
            <a:r>
              <a:rPr lang="pt-BR" sz="2400" dirty="0"/>
              <a:t>São construídas utilizando como base uma matriz de pixels.</a:t>
            </a:r>
          </a:p>
          <a:p>
            <a:endParaRPr lang="pt-BR" sz="2200" dirty="0"/>
          </a:p>
          <a:p>
            <a:pPr lvl="1"/>
            <a:r>
              <a:rPr lang="pt-BR" sz="2200" dirty="0"/>
              <a:t>O pixel representa o menor ponto que forma uma imagem digital, seja nos sensores ou nas telas.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33DA8D3-E797-8C07-FE5D-E369EA77E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895" y="2492827"/>
            <a:ext cx="5197105" cy="273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93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FA0AB-B6BF-1078-48E7-31A7A94C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72A9863-C44E-59E3-6D4E-C74532B7198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1F50B4-E98F-7B26-F350-55B8C704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Processamento Digital de Imagens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E42C9DB-BA22-8397-1845-9769004102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ABAA58-8440-05F4-7082-815BD4AFE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077" y="2262554"/>
            <a:ext cx="7369629" cy="4285546"/>
          </a:xfrm>
        </p:spPr>
        <p:txBody>
          <a:bodyPr/>
          <a:lstStyle/>
          <a:p>
            <a:pPr lvl="1"/>
            <a:endParaRPr lang="pt-BR" sz="2000" b="1" dirty="0"/>
          </a:p>
          <a:p>
            <a:r>
              <a:rPr lang="pt-BR" sz="2400" dirty="0"/>
              <a:t>O conceito base é a </a:t>
            </a:r>
            <a:r>
              <a:rPr lang="pt-BR" sz="2400" b="1" dirty="0"/>
              <a:t>manipulação de imagens </a:t>
            </a:r>
            <a:r>
              <a:rPr lang="pt-BR" sz="2400" dirty="0"/>
              <a:t>por meio de programas e regras matemáticas, buscando:</a:t>
            </a:r>
          </a:p>
          <a:p>
            <a:pPr marL="457200" lvl="1" indent="0">
              <a:buNone/>
            </a:pPr>
            <a:endParaRPr lang="pt-BR" sz="20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Aprimoramento visual para interpretação humana; </a:t>
            </a:r>
          </a:p>
          <a:p>
            <a:pPr marL="914400" lvl="1" indent="-457200">
              <a:buFont typeface="+mj-lt"/>
              <a:buAutoNum type="arabicPeriod"/>
            </a:pPr>
            <a:endParaRPr lang="pt-BR" sz="22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Extração e interpretação de informações para percepção de máquinas .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endParaRPr lang="pt-BR" sz="2000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8202BDD-46B9-3C92-7FAA-CF9FC087E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829" y="2543239"/>
            <a:ext cx="4182066" cy="337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7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43E4C-E303-8BFF-8DEC-87855098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99BF008-04CA-AE54-18BD-FB95111A4FD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AFEB80-7D72-9937-4E50-F2B4642BA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Processamento Digital de Imagens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818EE02-F98C-44AD-A5EC-C7925AD4C4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B5BB9E4-EFF5-1751-B788-FB7C2B35D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390" y="1818929"/>
            <a:ext cx="7369629" cy="4631376"/>
          </a:xfrm>
        </p:spPr>
        <p:txBody>
          <a:bodyPr/>
          <a:lstStyle/>
          <a:p>
            <a:r>
              <a:rPr lang="pt-BR" sz="2400" dirty="0"/>
              <a:t>Aplicações típicas:</a:t>
            </a:r>
          </a:p>
          <a:p>
            <a:pPr lvl="1"/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Realce do conteúdo da imagem;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Aumento de contraste;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Correção de imagens borradas;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Correção de iluminação;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Eliminação de ruídos;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 err="1"/>
              <a:t>Pseudo-coloração</a:t>
            </a:r>
            <a:r>
              <a:rPr lang="pt-BR" sz="2000" dirty="0"/>
              <a:t>.</a:t>
            </a:r>
          </a:p>
          <a:p>
            <a:pPr lvl="1"/>
            <a:endParaRPr lang="pt-BR" sz="2000" dirty="0"/>
          </a:p>
          <a:p>
            <a:endParaRPr lang="pt-BR" dirty="0"/>
          </a:p>
        </p:txBody>
      </p:sp>
      <p:pic>
        <p:nvPicPr>
          <p:cNvPr id="10" name="Picture 2" descr="C:\Denise\disciplinas\PDI-grad\PDI\imagens\introducao\slide0126_image060.png">
            <a:extLst>
              <a:ext uri="{FF2B5EF4-FFF2-40B4-BE49-F238E27FC236}">
                <a16:creationId xmlns:a16="http://schemas.microsoft.com/office/drawing/2014/main" id="{FBD322B8-7844-131D-6C42-AF1BCE1DE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986374" y="3804621"/>
            <a:ext cx="2219251" cy="1495199"/>
          </a:xfrm>
          <a:prstGeom prst="rect">
            <a:avLst/>
          </a:prstGeom>
        </p:spPr>
      </p:pic>
      <p:pic>
        <p:nvPicPr>
          <p:cNvPr id="11" name="Picture 3" descr="C:\Denise\disciplinas\PDI-grad\PDI\imagens\introducao\slide0126_image062.png">
            <a:extLst>
              <a:ext uri="{FF2B5EF4-FFF2-40B4-BE49-F238E27FC236}">
                <a16:creationId xmlns:a16="http://schemas.microsoft.com/office/drawing/2014/main" id="{6FDF2F92-5083-A8B2-6319-EDC1A6A5B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86375" y="5348457"/>
            <a:ext cx="2219251" cy="1494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2" descr="C:\Denise\disciplinas\PDI-grad\PDI\imagens\introducao\slide0132_image084.png">
            <a:extLst>
              <a:ext uri="{FF2B5EF4-FFF2-40B4-BE49-F238E27FC236}">
                <a16:creationId xmlns:a16="http://schemas.microsoft.com/office/drawing/2014/main" id="{E162AD52-EF43-738B-B08D-0583928E2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7294636" y="2651789"/>
            <a:ext cx="2219251" cy="2057530"/>
          </a:xfrm>
          <a:prstGeom prst="rect">
            <a:avLst/>
          </a:prstGeom>
        </p:spPr>
      </p:pic>
      <p:pic>
        <p:nvPicPr>
          <p:cNvPr id="14" name="Picture 3" descr="C:\Denise\disciplinas\PDI-grad\PDI\imagens\introducao\slide0132_image086.png">
            <a:extLst>
              <a:ext uri="{FF2B5EF4-FFF2-40B4-BE49-F238E27FC236}">
                <a16:creationId xmlns:a16="http://schemas.microsoft.com/office/drawing/2014/main" id="{7D06688A-A014-2D98-E182-C7FAA6CCA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94636" y="4794645"/>
            <a:ext cx="2219251" cy="2047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6A223F4F-607C-AD9B-D348-44BD07613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602897" y="4789873"/>
            <a:ext cx="2049324" cy="2057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1">
            <a:extLst>
              <a:ext uri="{FF2B5EF4-FFF2-40B4-BE49-F238E27FC236}">
                <a16:creationId xmlns:a16="http://schemas.microsoft.com/office/drawing/2014/main" id="{F2F1238C-103B-76BF-5086-A59BC276A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602897" y="2630199"/>
            <a:ext cx="2049324" cy="2057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B878A3EA-922A-CC3C-C0D1-DE802571981C}"/>
              </a:ext>
            </a:extLst>
          </p:cNvPr>
          <p:cNvSpPr txBox="1"/>
          <p:nvPr/>
        </p:nvSpPr>
        <p:spPr>
          <a:xfrm>
            <a:off x="5067287" y="3489739"/>
            <a:ext cx="2057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Expansão de contraste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C4CD8C7-3DC9-FA5D-BA21-1A649E7DEC71}"/>
              </a:ext>
            </a:extLst>
          </p:cNvPr>
          <p:cNvSpPr txBox="1"/>
          <p:nvPr/>
        </p:nvSpPr>
        <p:spPr>
          <a:xfrm>
            <a:off x="7239872" y="2357259"/>
            <a:ext cx="23185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Realce e correção de foco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28D18FC-DA2A-BE7A-C6DD-44D8E584CFC7}"/>
              </a:ext>
            </a:extLst>
          </p:cNvPr>
          <p:cNvSpPr txBox="1"/>
          <p:nvPr/>
        </p:nvSpPr>
        <p:spPr>
          <a:xfrm>
            <a:off x="9763636" y="2357259"/>
            <a:ext cx="17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Redução de ruídos</a:t>
            </a:r>
          </a:p>
        </p:txBody>
      </p:sp>
      <p:pic>
        <p:nvPicPr>
          <p:cNvPr id="20" name="Picture 3" descr="C:\Denise\disciplinas\PDI-grad\PDI\imagens\introducao\slide0127_image066.png">
            <a:extLst>
              <a:ext uri="{FF2B5EF4-FFF2-40B4-BE49-F238E27FC236}">
                <a16:creationId xmlns:a16="http://schemas.microsoft.com/office/drawing/2014/main" id="{005156D1-FF7A-45DB-C2DE-504A9DA32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417688" y="5263884"/>
            <a:ext cx="2103878" cy="1621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" descr="C:\Denise\disciplinas\PDI-grad\PDI\imagens\introducao\slide0127_image064.png">
            <a:extLst>
              <a:ext uri="{FF2B5EF4-FFF2-40B4-BE49-F238E27FC236}">
                <a16:creationId xmlns:a16="http://schemas.microsoft.com/office/drawing/2014/main" id="{C6AE9952-72F4-6D4D-CA9A-E55C3758F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>
          <a:xfrm>
            <a:off x="333908" y="5263884"/>
            <a:ext cx="2049324" cy="1578747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239512A8-958B-53A4-2A4A-6AD47F98750B}"/>
              </a:ext>
            </a:extLst>
          </p:cNvPr>
          <p:cNvSpPr txBox="1"/>
          <p:nvPr/>
        </p:nvSpPr>
        <p:spPr>
          <a:xfrm>
            <a:off x="1388976" y="4966519"/>
            <a:ext cx="1671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Pseudo</a:t>
            </a:r>
            <a:r>
              <a:rPr lang="pt-BR" sz="1600" dirty="0"/>
              <a:t> Coloração</a:t>
            </a:r>
          </a:p>
        </p:txBody>
      </p:sp>
    </p:spTree>
    <p:extLst>
      <p:ext uri="{BB962C8B-B14F-4D97-AF65-F5344CB8AC3E}">
        <p14:creationId xmlns:p14="http://schemas.microsoft.com/office/powerpoint/2010/main" val="31246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F0B97-FD78-16FA-96B3-BC93E1A2F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C4FCA99-2AFF-FFF4-F848-CE16E03D1D3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ABA881-EFB9-00C2-CE81-F856B381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Espectro Eletromagnético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41E4A79-E520-4FB9-C365-F9F6A70979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74BF93-4646-6B5C-E4B5-7F5332D80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54" y="1660534"/>
            <a:ext cx="5622281" cy="4631376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O processamento de imagens não se limita apenas à luz visível.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Essa versatilidade permite a extração de informações em diferentes níveis de detalhamento.</a:t>
            </a:r>
            <a:endParaRPr lang="pt-BR" sz="2400" dirty="0"/>
          </a:p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D32066-12CD-AE7F-CF18-905379C8F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575" y="2489815"/>
            <a:ext cx="5622282" cy="409372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8E1C8A8-1738-CA81-FA7B-176291A80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19" y="4538161"/>
            <a:ext cx="2873829" cy="191588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7927DA0-54E4-9F17-08F3-8A03CF682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257" y="4536677"/>
            <a:ext cx="1917370" cy="191737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B13BE29-76BC-8003-281B-CC2B2EFFBD6E}"/>
              </a:ext>
            </a:extLst>
          </p:cNvPr>
          <p:cNvSpPr txBox="1"/>
          <p:nvPr/>
        </p:nvSpPr>
        <p:spPr>
          <a:xfrm>
            <a:off x="966464" y="4203188"/>
            <a:ext cx="1888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Imagem de Raio-X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E649A8-60DE-AEA0-2762-D88E587408B1}"/>
              </a:ext>
            </a:extLst>
          </p:cNvPr>
          <p:cNvSpPr txBox="1"/>
          <p:nvPr/>
        </p:nvSpPr>
        <p:spPr>
          <a:xfrm>
            <a:off x="3921307" y="4222519"/>
            <a:ext cx="1455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Foto IR do sol</a:t>
            </a:r>
          </a:p>
        </p:txBody>
      </p:sp>
    </p:spTree>
    <p:extLst>
      <p:ext uri="{BB962C8B-B14F-4D97-AF65-F5344CB8AC3E}">
        <p14:creationId xmlns:p14="http://schemas.microsoft.com/office/powerpoint/2010/main" val="2520354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F1149-D2CE-286D-D047-B97AE1D9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1CAD36C-B703-29EC-5FF4-7DCA87A913C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2A3767-CF9C-A700-CA05-9DA5D912D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Visão Computacional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00511E0-5F26-CB47-DE5A-91C0E5F35A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D1EA84-BB43-7283-C86C-486F13AF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223" y="1781561"/>
            <a:ext cx="7679746" cy="4631376"/>
          </a:xfrm>
        </p:spPr>
        <p:txBody>
          <a:bodyPr/>
          <a:lstStyle/>
          <a:p>
            <a:r>
              <a:rPr lang="pt-BR" sz="2400" dirty="0"/>
              <a:t>A visão computacional está diretamente relacionada com a </a:t>
            </a:r>
            <a:r>
              <a:rPr lang="pt-BR" sz="2400" b="1" dirty="0"/>
              <a:t>Inteligência</a:t>
            </a:r>
          </a:p>
          <a:p>
            <a:pPr lvl="1"/>
            <a:endParaRPr lang="pt-BR" sz="1600" dirty="0"/>
          </a:p>
          <a:p>
            <a:pPr lvl="1"/>
            <a:r>
              <a:rPr lang="pt-BR" sz="2200" dirty="0"/>
              <a:t>O interesse está na </a:t>
            </a:r>
            <a:r>
              <a:rPr lang="pt-BR" sz="2200" b="1" dirty="0"/>
              <a:t>extração de informações </a:t>
            </a:r>
            <a:r>
              <a:rPr lang="pt-BR" sz="2200" dirty="0"/>
              <a:t>relevantes da imagem para um determinado contexto.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As informações são comumente utilizadas para modelos neurais e estatísticos.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 processamento de imagens faz parte da visão computacional, mas com um foco maior na extração e processamento de informações.</a:t>
            </a:r>
          </a:p>
          <a:p>
            <a:pPr lvl="1"/>
            <a:endParaRPr lang="pt-BR" sz="1600" dirty="0"/>
          </a:p>
          <a:p>
            <a:endParaRPr lang="pt-BR" dirty="0"/>
          </a:p>
        </p:txBody>
      </p:sp>
      <p:pic>
        <p:nvPicPr>
          <p:cNvPr id="26" name="Picture 2" descr="D:\Pesquisa\Publicações\Artigos Publicados\Tese Doutorado\Dalcimar\Figs\leaves40Classes.png">
            <a:extLst>
              <a:ext uri="{FF2B5EF4-FFF2-40B4-BE49-F238E27FC236}">
                <a16:creationId xmlns:a16="http://schemas.microsoft.com/office/drawing/2014/main" id="{0090DA82-6159-FCCB-12EB-F57EEF19CA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4" b="40341"/>
          <a:stretch>
            <a:fillRect/>
          </a:stretch>
        </p:blipFill>
        <p:spPr bwMode="auto">
          <a:xfrm>
            <a:off x="8548650" y="1430370"/>
            <a:ext cx="3113314" cy="264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3" descr="D:\Pesquisa\Publicações\Artigos Publicados\Artigo Minkowski3D RGB MultiEscala Folhas - ICISP 2010\Figs\diff_classes_folhas.png">
            <a:extLst>
              <a:ext uri="{FF2B5EF4-FFF2-40B4-BE49-F238E27FC236}">
                <a16:creationId xmlns:a16="http://schemas.microsoft.com/office/drawing/2014/main" id="{F63026E7-B80F-991B-BD26-6DEFD1B2B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8650" y="5007986"/>
            <a:ext cx="3113314" cy="185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ta: para Cima 2">
            <a:extLst>
              <a:ext uri="{FF2B5EF4-FFF2-40B4-BE49-F238E27FC236}">
                <a16:creationId xmlns:a16="http://schemas.microsoft.com/office/drawing/2014/main" id="{CEE09422-AB89-9C70-B654-9E34E5857B0F}"/>
              </a:ext>
            </a:extLst>
          </p:cNvPr>
          <p:cNvSpPr/>
          <p:nvPr/>
        </p:nvSpPr>
        <p:spPr>
          <a:xfrm>
            <a:off x="9888430" y="4310617"/>
            <a:ext cx="433754" cy="492369"/>
          </a:xfrm>
          <a:prstGeom prst="upArrow">
            <a:avLst/>
          </a:prstGeom>
          <a:solidFill>
            <a:schemeClr val="accent2"/>
          </a:solidFill>
          <a:ln>
            <a:solidFill>
              <a:srgbClr val="C05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208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86A7B-B92C-2F1D-CA78-76CD5A106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DCBDC23-1EA9-1F20-B229-A89C2D7CF70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20337C-6DFA-9434-EF2A-1DD2ACE4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Visão Computacional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FB0B107-FF22-16E1-6E03-B7DEA98532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C4544C8-1896-2746-1ECC-492944E4B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274" y="1518629"/>
            <a:ext cx="6762833" cy="4631376"/>
          </a:xfrm>
        </p:spPr>
        <p:txBody>
          <a:bodyPr/>
          <a:lstStyle/>
          <a:p>
            <a:r>
              <a:rPr lang="pt-BR" sz="2400" dirty="0"/>
              <a:t>Características informativas da imagem:</a:t>
            </a:r>
          </a:p>
          <a:p>
            <a:pPr lvl="1"/>
            <a:endParaRPr lang="pt-BR" sz="2000" dirty="0"/>
          </a:p>
          <a:p>
            <a:pPr marL="971550" lvl="1" indent="-514350">
              <a:buFont typeface="+mj-lt"/>
              <a:buAutoNum type="romanUcPeriod"/>
            </a:pPr>
            <a:r>
              <a:rPr lang="pt-BR" sz="2000" dirty="0"/>
              <a:t>Assinatura de cor de determinadas regiões </a:t>
            </a:r>
          </a:p>
          <a:p>
            <a:pPr marL="971550" lvl="1" indent="-514350">
              <a:buFont typeface="+mj-lt"/>
              <a:buAutoNum type="romanUcPeriod"/>
            </a:pPr>
            <a:r>
              <a:rPr lang="pt-BR" sz="2000" dirty="0"/>
              <a:t>Forma dos objetos na imagem</a:t>
            </a:r>
          </a:p>
          <a:p>
            <a:pPr marL="971550" lvl="1" indent="-514350">
              <a:buFont typeface="+mj-lt"/>
              <a:buAutoNum type="romanUcPeriod"/>
            </a:pPr>
            <a:r>
              <a:rPr lang="pt-BR" sz="2000" dirty="0"/>
              <a:t>Padrão que se repete na imagem (Texturas)</a:t>
            </a:r>
          </a:p>
          <a:p>
            <a:pPr lvl="1"/>
            <a:endParaRPr lang="pt-BR" sz="2000" dirty="0"/>
          </a:p>
          <a:p>
            <a:r>
              <a:rPr lang="pt-BR" sz="2400" dirty="0"/>
              <a:t>Exemplo prático:</a:t>
            </a:r>
            <a:endParaRPr lang="pt-BR" sz="2000" dirty="0"/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Caracterização morfológica de espermatozoides de touro</a:t>
            </a:r>
            <a:endParaRPr lang="en-US" sz="2000" dirty="0"/>
          </a:p>
          <a:p>
            <a:endParaRPr lang="pt-BR" sz="2400" dirty="0"/>
          </a:p>
          <a:p>
            <a:endParaRPr lang="pt-BR" sz="1600" dirty="0"/>
          </a:p>
          <a:p>
            <a:pPr lvl="1"/>
            <a:endParaRPr lang="pt-BR" sz="1600" dirty="0"/>
          </a:p>
          <a:p>
            <a:endParaRPr lang="pt-BR" dirty="0"/>
          </a:p>
        </p:txBody>
      </p:sp>
      <p:pic>
        <p:nvPicPr>
          <p:cNvPr id="4" name="Picture 2" descr="D:\cowork\bullsperm\dados\Uiara\manual\CT4_30-03\4.bmp">
            <a:extLst>
              <a:ext uri="{FF2B5EF4-FFF2-40B4-BE49-F238E27FC236}">
                <a16:creationId xmlns:a16="http://schemas.microsoft.com/office/drawing/2014/main" id="{4388508B-E04F-84DC-B3CB-8B1562693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68277" y="5099539"/>
            <a:ext cx="2131618" cy="1758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4174324-695B-3AC0-0F8C-5180904360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61" y="3200399"/>
            <a:ext cx="4855079" cy="3657601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CA26A0DD-DCBD-C0F2-DFC8-596390407D3B}"/>
              </a:ext>
            </a:extLst>
          </p:cNvPr>
          <p:cNvCxnSpPr/>
          <p:nvPr/>
        </p:nvCxnSpPr>
        <p:spPr>
          <a:xfrm>
            <a:off x="5529942" y="5978769"/>
            <a:ext cx="1426028" cy="0"/>
          </a:xfrm>
          <a:prstGeom prst="straightConnector1">
            <a:avLst/>
          </a:prstGeom>
          <a:ln w="57150">
            <a:solidFill>
              <a:srgbClr val="C050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198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831DB-09D6-5E36-4B96-B7E8FDFE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BF63DDC-95A0-35FC-0FE1-5E53F04CA14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218813-3700-77DE-6DF9-4B507F7C8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Resolução e Tamanho da imagem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FF41EE7-28C5-CAA7-821F-9C4FC61347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255E66F-9142-BDC5-3EE9-5E4434956E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9457" y="1527176"/>
                <a:ext cx="9993086" cy="3300260"/>
              </a:xfrm>
            </p:spPr>
            <p:txBody>
              <a:bodyPr>
                <a:normAutofit/>
              </a:bodyPr>
              <a:lstStyle/>
              <a:p>
                <a:r>
                  <a:rPr lang="pt-BR" sz="2400" b="1" dirty="0"/>
                  <a:t>A resolução</a:t>
                </a:r>
                <a:r>
                  <a:rPr lang="pt-BR" sz="2400" dirty="0"/>
                  <a:t> é definida pela quantidade total de pixel que compõem a imagem.</a:t>
                </a:r>
              </a:p>
              <a:p>
                <a:pPr lvl="1"/>
                <a:endParaRPr lang="pt-BR" sz="22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Está fortemente associada à </a:t>
                </a:r>
                <a:r>
                  <a:rPr lang="pt-BR" sz="2200" b="1" dirty="0"/>
                  <a:t>densidade de pixels </a:t>
                </a:r>
                <a:r>
                  <a:rPr lang="pt-BR" sz="2200" dirty="0"/>
                  <a:t>– quantidade de pontos que compõem cada polegada da imagem.</a:t>
                </a:r>
              </a:p>
              <a:p>
                <a:pPr lvl="1"/>
                <a:endParaRPr lang="pt-BR" sz="2000" dirty="0"/>
              </a:p>
              <a:p>
                <a:r>
                  <a:rPr lang="pt-BR" sz="2400" b="1" dirty="0"/>
                  <a:t>O tamanho </a:t>
                </a:r>
                <a:r>
                  <a:rPr lang="pt-BR" sz="2400" dirty="0"/>
                  <a:t>da imagem se refere às dimensões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𝑎𝑙𝑡𝑢𝑟𝑎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𝑙𝑎𝑟𝑔𝑢𝑟𝑎</m:t>
                    </m:r>
                  </m:oMath>
                </a14:m>
                <a:r>
                  <a:rPr lang="pt-BR" sz="2400" dirty="0"/>
                  <a:t> em pixels de uma determinada imagem</a:t>
                </a:r>
              </a:p>
              <a:p>
                <a:pPr marL="457200" lvl="1" indent="0">
                  <a:buNone/>
                </a:pPr>
                <a:endParaRPr lang="pt-BR" dirty="0"/>
              </a:p>
              <a:p>
                <a:pPr marL="457200" lvl="1" indent="0"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255E66F-9142-BDC5-3EE9-5E4434956E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9457" y="1527176"/>
                <a:ext cx="9993086" cy="3300260"/>
              </a:xfrm>
              <a:blipFill>
                <a:blip r:embed="rId3"/>
                <a:stretch>
                  <a:fillRect l="-793" t="-25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B84CC031-1B07-2A58-AB2D-C9BA78358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738" y="4794650"/>
            <a:ext cx="4875724" cy="206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53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63BA-859E-8C20-316B-D22A1A65F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4714966-DCF8-951C-45A7-33CD6F77585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4A9F40-7211-CEB1-1D88-CE9C44E97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Densidade de pixels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9023CDA-9DC4-CD2A-BD03-C4A7F86F92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7A21D0-41D6-AB3D-F029-CB5362C5B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2" y="1655722"/>
            <a:ext cx="11500338" cy="4631376"/>
          </a:xfrm>
        </p:spPr>
        <p:txBody>
          <a:bodyPr/>
          <a:lstStyle/>
          <a:p>
            <a:r>
              <a:rPr lang="pt-BR" sz="2400" dirty="0"/>
              <a:t>Existem dois padrões para a medição da densidade:</a:t>
            </a:r>
          </a:p>
          <a:p>
            <a:pPr lvl="1"/>
            <a:endParaRPr lang="pt-BR" sz="2200" dirty="0"/>
          </a:p>
          <a:p>
            <a:pPr lvl="1"/>
            <a:r>
              <a:rPr lang="pt-BR" sz="2200" b="1" dirty="0"/>
              <a:t>DPI (</a:t>
            </a:r>
            <a:r>
              <a:rPr lang="pt-BR" sz="2200" b="1" dirty="0" err="1"/>
              <a:t>Dots</a:t>
            </a:r>
            <a:r>
              <a:rPr lang="pt-BR" sz="2200" b="1" dirty="0"/>
              <a:t> Per Inch/Pontos Por Polegada) 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Mede a quantidade de pontos físicos aplicados por uma impressora no papel. Controla a precisão e o detalhamento do material impresso.</a:t>
            </a:r>
          </a:p>
          <a:p>
            <a:pPr lvl="1"/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pt-BR" sz="2200" b="1" dirty="0"/>
              <a:t>PPI (Pixels Per Inch/Pixels Por Polegada) 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Mede a quantidade de pixels em uma polegada de uma tela ou imagem digital (Determina a nitidez).</a:t>
            </a:r>
            <a:endParaRPr lang="pt-BR" sz="2200" dirty="0"/>
          </a:p>
          <a:p>
            <a:pPr marL="457200" lvl="1" indent="0">
              <a:buNone/>
            </a:pPr>
            <a:endParaRPr lang="pt-BR" sz="2200" dirty="0"/>
          </a:p>
          <a:p>
            <a:pPr lvl="1"/>
            <a:endParaRPr lang="pt-BR" sz="2200" dirty="0"/>
          </a:p>
          <a:p>
            <a:pPr lvl="1"/>
            <a:endParaRPr lang="pt-BR" sz="2200" dirty="0"/>
          </a:p>
          <a:p>
            <a:pPr lvl="1"/>
            <a:endParaRPr lang="pt-BR" dirty="0"/>
          </a:p>
        </p:txBody>
      </p:sp>
      <p:pic>
        <p:nvPicPr>
          <p:cNvPr id="2050" name="Picture 2" descr="Resolução e tamanho da imagem">
            <a:extLst>
              <a:ext uri="{FF2B5EF4-FFF2-40B4-BE49-F238E27FC236}">
                <a16:creationId xmlns:a16="http://schemas.microsoft.com/office/drawing/2014/main" id="{A7F963FB-527F-3A19-6336-14881BC1D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985" y="4552261"/>
            <a:ext cx="6764215" cy="192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98A6E6F-CBE3-F2D0-F8C6-50B5EE163FAD}"/>
                  </a:ext>
                </a:extLst>
              </p:cNvPr>
              <p:cNvSpPr txBox="1"/>
              <p:nvPr/>
            </p:nvSpPr>
            <p:spPr>
              <a:xfrm>
                <a:off x="304800" y="5133233"/>
                <a:ext cx="4548555" cy="81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>
                          <a:latin typeface="Cambria Math" panose="02040503050406030204" pitchFamily="18" charset="0"/>
                        </a:rPr>
                        <m:t>𝑃𝑃𝐼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𝑙𝑎𝑟𝑔𝑢𝑟𝑎</m:t>
                                  </m:r>
                                </m:e>
                                <m:sup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𝑎𝑙𝑡𝑢𝑟𝑎</m:t>
                                  </m:r>
                                </m:e>
                                <m:sup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𝑑𝑖𝑎𝑔𝑜𝑛𝑎𝑙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𝑝𝑜𝑙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98A6E6F-CBE3-F2D0-F8C6-50B5EE163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133233"/>
                <a:ext cx="4548555" cy="814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8E46453D-A0F6-C2B0-3B60-102F4F22D540}"/>
              </a:ext>
            </a:extLst>
          </p:cNvPr>
          <p:cNvSpPr/>
          <p:nvPr/>
        </p:nvSpPr>
        <p:spPr>
          <a:xfrm>
            <a:off x="2766647" y="4352969"/>
            <a:ext cx="363415" cy="540029"/>
          </a:xfrm>
          <a:prstGeom prst="downArrow">
            <a:avLst/>
          </a:prstGeom>
          <a:solidFill>
            <a:schemeClr val="accent2"/>
          </a:solidFill>
          <a:ln>
            <a:solidFill>
              <a:srgbClr val="C05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374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64A39-9E52-FD17-12B4-4B5F751E2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2962790-A3BB-68F8-FF2D-3F8B60BBB5C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5BB231-6942-7A0A-B3C3-C10D17C22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Transformação do Sinal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99A2552-E0C8-60A2-00CA-FFCADC77BE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03F17F-1B96-3AC9-6149-4CC06B17F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261" y="1750366"/>
            <a:ext cx="7303477" cy="4767664"/>
          </a:xfrm>
        </p:spPr>
        <p:txBody>
          <a:bodyPr>
            <a:normAutofit/>
          </a:bodyPr>
          <a:lstStyle/>
          <a:p>
            <a:r>
              <a:rPr lang="pt-BR" sz="2400" dirty="0"/>
              <a:t>A imagem, ao ser digitalizada, passa por um processo denominada </a:t>
            </a:r>
            <a:r>
              <a:rPr lang="pt-BR" sz="2400" b="1" dirty="0" err="1"/>
              <a:t>discretização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pPr lvl="1"/>
            <a:r>
              <a:rPr lang="pt-BR" sz="2200" dirty="0"/>
              <a:t>A </a:t>
            </a:r>
            <a:r>
              <a:rPr lang="pt-BR" sz="2200" dirty="0" err="1"/>
              <a:t>discretização</a:t>
            </a:r>
            <a:r>
              <a:rPr lang="pt-BR" sz="2200" dirty="0"/>
              <a:t> consiste na representação discreta de um sinal contínuo</a:t>
            </a:r>
          </a:p>
          <a:p>
            <a:endParaRPr lang="pt-BR" sz="2400" dirty="0"/>
          </a:p>
          <a:p>
            <a:r>
              <a:rPr lang="pt-BR" sz="2400" dirty="0"/>
              <a:t>Existem 3 Etapas básicas para transformar um sinal contínuo (analógico) em um sinal discreto (digital)</a:t>
            </a:r>
          </a:p>
          <a:p>
            <a:pPr lvl="1"/>
            <a:endParaRPr lang="pt-BR" sz="20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Amostragem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Quantização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Codificação</a:t>
            </a:r>
          </a:p>
        </p:txBody>
      </p:sp>
    </p:spTree>
    <p:extLst>
      <p:ext uri="{BB962C8B-B14F-4D97-AF65-F5344CB8AC3E}">
        <p14:creationId xmlns:p14="http://schemas.microsoft.com/office/powerpoint/2010/main" val="3003456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98B53-530D-8A51-E6D4-041C077D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103117B-2637-9F90-68A0-9C426470DBF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EB5AA3-210D-3858-0298-1A50FD4A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Amostragem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0B96216-66D1-B37B-E089-943552CC4C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7C2F3-EB4D-0921-83B7-C16E3E40C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385" y="2171516"/>
            <a:ext cx="7525327" cy="4449123"/>
          </a:xfrm>
        </p:spPr>
        <p:txBody>
          <a:bodyPr>
            <a:normAutofit/>
          </a:bodyPr>
          <a:lstStyle/>
          <a:p>
            <a:r>
              <a:rPr lang="pt-BR" sz="2400" dirty="0"/>
              <a:t>Refere-se à divisão das coordenadas espaciais da imagem contínua em uma grade discreta de pontos.</a:t>
            </a:r>
          </a:p>
          <a:p>
            <a:pPr>
              <a:buFont typeface="Courier New" panose="02070309020205020404" pitchFamily="49" charset="0"/>
              <a:buChar char="o"/>
            </a:pPr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processo define a resolução espacial da imagem, ou seja: o número de pixels por linha e coluna.</a:t>
            </a:r>
          </a:p>
          <a:p>
            <a:pPr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Uma quantidade maior de amostras geram um nível de nitidez maior; Poucas amostras geram um efeito ‘</a:t>
            </a:r>
            <a:r>
              <a:rPr lang="pt-BR" sz="2200" dirty="0" err="1"/>
              <a:t>pixelado</a:t>
            </a:r>
            <a:r>
              <a:rPr lang="pt-BR" sz="2200" dirty="0"/>
              <a:t>’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B98FA6-9601-0139-740A-AF9C196B24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21868"/>
          <a:stretch>
            <a:fillRect/>
          </a:stretch>
        </p:blipFill>
        <p:spPr>
          <a:xfrm>
            <a:off x="7901355" y="1985231"/>
            <a:ext cx="3914619" cy="424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14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7A143-FFE3-9D0E-DB9D-9CC38718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7B22039-9AAA-D89F-4038-A8039E66A79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48C201-5956-EF21-F3B2-8176D9DD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Efeitos da Amostragem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88D09B8-AABC-F6F4-C2FF-7761C3DE68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F2FC927-3228-63A6-C07F-532FF95B82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863"/>
          <a:stretch>
            <a:fillRect/>
          </a:stretch>
        </p:blipFill>
        <p:spPr>
          <a:xfrm>
            <a:off x="6096000" y="2064543"/>
            <a:ext cx="5933888" cy="3873501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C0761713-B2B8-A135-B99C-655E997AD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162112" y="2064542"/>
            <a:ext cx="5943600" cy="3868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C37B4D7-1B4A-8C5D-98CB-706E3B2409C6}"/>
              </a:ext>
            </a:extLst>
          </p:cNvPr>
          <p:cNvSpPr txBox="1"/>
          <p:nvPr/>
        </p:nvSpPr>
        <p:spPr>
          <a:xfrm>
            <a:off x="1282700" y="1690011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1250 </a:t>
            </a:r>
            <a:r>
              <a:rPr lang="pt-BR" dirty="0" err="1"/>
              <a:t>dpi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4E1E6C6-2903-178A-B019-08ADFEC498BE}"/>
              </a:ext>
            </a:extLst>
          </p:cNvPr>
          <p:cNvSpPr txBox="1"/>
          <p:nvPr/>
        </p:nvSpPr>
        <p:spPr>
          <a:xfrm>
            <a:off x="4197189" y="1690011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300 </a:t>
            </a:r>
            <a:r>
              <a:rPr lang="pt-BR" dirty="0" err="1"/>
              <a:t>dpi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CD4FC0-EDF6-1E71-5FE6-FF0C69D83B27}"/>
              </a:ext>
            </a:extLst>
          </p:cNvPr>
          <p:cNvSpPr txBox="1"/>
          <p:nvPr/>
        </p:nvSpPr>
        <p:spPr>
          <a:xfrm>
            <a:off x="7245295" y="1690011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150 </a:t>
            </a:r>
            <a:r>
              <a:rPr lang="pt-BR" dirty="0" err="1"/>
              <a:t>dpi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55F8AC1-C832-BA48-BCD2-12794C1BCE5C}"/>
              </a:ext>
            </a:extLst>
          </p:cNvPr>
          <p:cNvSpPr txBox="1"/>
          <p:nvPr/>
        </p:nvSpPr>
        <p:spPr>
          <a:xfrm>
            <a:off x="10140789" y="1690011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72dpi</a:t>
            </a:r>
          </a:p>
        </p:txBody>
      </p:sp>
    </p:spTree>
    <p:extLst>
      <p:ext uri="{BB962C8B-B14F-4D97-AF65-F5344CB8AC3E}">
        <p14:creationId xmlns:p14="http://schemas.microsoft.com/office/powerpoint/2010/main" val="2511161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1BE6-0561-6C52-DDAA-18B3FC9E2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65BB0B0-5C1F-4E86-50A8-CC926232BA7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B7F445-6E28-661A-BB68-4D364172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Quantização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FE07DB2-CBB6-EBD0-8D52-D006B7C3CB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F9341BF-CC9C-E102-271F-73B3B0929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4607" y="1916449"/>
                <a:ext cx="8331263" cy="4449123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Refere-se à divisão dos valores contínuos de brilho ou cor em um número limitado de valores inteiros.</a:t>
                </a:r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A quantização define a profundidade de </a:t>
                </a:r>
                <a:r>
                  <a:rPr lang="pt-BR" sz="2200" i="1" dirty="0"/>
                  <a:t>bits</a:t>
                </a:r>
                <a:r>
                  <a:rPr lang="pt-BR" sz="2200" dirty="0"/>
                  <a:t> da imagem, ou seja: os níveis de intensidade que podem ser usados para representar os tons da imagem.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Uma baixa profundidade de </a:t>
                </a:r>
                <a:r>
                  <a:rPr lang="pt-BR" sz="2200" i="1" dirty="0"/>
                  <a:t>bits</a:t>
                </a:r>
                <a:r>
                  <a:rPr lang="pt-BR" sz="2200" dirty="0"/>
                  <a:t> gera perda de </a:t>
                </a:r>
                <a:r>
                  <a:rPr lang="pt-BR" sz="2200" b="1" dirty="0"/>
                  <a:t>gradação suave</a:t>
                </a:r>
                <a:r>
                  <a:rPr lang="pt-BR" sz="2200" dirty="0"/>
                  <a:t>, ou seja: a transição entre os níveis é mais abrupta.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b="1" dirty="0">
                    <a:solidFill>
                      <a:srgbClr val="C0504D"/>
                    </a:solidFill>
                  </a:rPr>
                  <a:t>Exemplo</a:t>
                </a:r>
                <a:r>
                  <a:rPr lang="pt-BR" sz="2200" dirty="0">
                    <a:solidFill>
                      <a:srgbClr val="C0504D"/>
                    </a:solidFill>
                  </a:rPr>
                  <a:t>: A profundidade de 8 bits (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solidFill>
                          <a:srgbClr val="C0504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b="0" i="1" smtClean="0">
                        <a:solidFill>
                          <a:srgbClr val="C0504D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pt-BR" sz="2200" b="0" i="1" smtClean="0">
                            <a:solidFill>
                              <a:srgbClr val="C0504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200" b="0" i="1" smtClean="0">
                            <a:solidFill>
                              <a:srgbClr val="C0504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200" b="0" i="1" smtClean="0">
                            <a:solidFill>
                              <a:srgbClr val="C0504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pt-BR" sz="2200" dirty="0">
                    <a:solidFill>
                      <a:srgbClr val="C0504D"/>
                    </a:solidFill>
                  </a:rPr>
                  <a:t>) geram 16 níveis de intensidade, indo de 0 (preto) até 15 (branco)</a:t>
                </a:r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F9341BF-CC9C-E102-271F-73B3B0929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4607" y="1916449"/>
                <a:ext cx="8331263" cy="4449123"/>
              </a:xfrm>
              <a:blipFill>
                <a:blip r:embed="rId3"/>
                <a:stretch>
                  <a:fillRect l="-951" t="-1918" r="-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D2E5AE53-AB4E-BB17-9363-09E06230E3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t="39" b="21829"/>
          <a:stretch>
            <a:fillRect/>
          </a:stretch>
        </p:blipFill>
        <p:spPr>
          <a:xfrm>
            <a:off x="8588188" y="2192211"/>
            <a:ext cx="3590405" cy="389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48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A9FB-163E-C43F-C95F-FD6FF176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CF503E1-94CB-8284-B6A3-E17B868EDD9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7C9E41-8E83-059B-67D7-59ACE5115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Efeitos da Quantização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E50497C-AA2D-0246-914D-C24A4DDB60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A5F6DE-E00D-EB11-AC9A-03D8C368A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09900" y="1894878"/>
            <a:ext cx="4601267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 descr="cerebro2">
            <a:extLst>
              <a:ext uri="{FF2B5EF4-FFF2-40B4-BE49-F238E27FC236}">
                <a16:creationId xmlns:a16="http://schemas.microsoft.com/office/drawing/2014/main" id="{0973DC3D-6BE3-2087-B275-52349FD59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54316" y="1902974"/>
            <a:ext cx="3704887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27D7885-3B6D-C100-3CCC-71F6244E38D9}"/>
              </a:ext>
            </a:extLst>
          </p:cNvPr>
          <p:cNvSpPr txBox="1"/>
          <p:nvPr/>
        </p:nvSpPr>
        <p:spPr>
          <a:xfrm>
            <a:off x="3138466" y="15429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256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58D6E0-14B9-A3F5-CE8A-D680AFE6F71C}"/>
              </a:ext>
            </a:extLst>
          </p:cNvPr>
          <p:cNvSpPr txBox="1"/>
          <p:nvPr/>
        </p:nvSpPr>
        <p:spPr>
          <a:xfrm>
            <a:off x="4698132" y="15429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38A4CC7-EAD2-2C0D-3E05-7A7F2BF55BA7}"/>
              </a:ext>
            </a:extLst>
          </p:cNvPr>
          <p:cNvSpPr txBox="1"/>
          <p:nvPr/>
        </p:nvSpPr>
        <p:spPr>
          <a:xfrm>
            <a:off x="3067028" y="63801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681ADA6-9B6B-AF37-2765-ECC4B509F946}"/>
              </a:ext>
            </a:extLst>
          </p:cNvPr>
          <p:cNvSpPr txBox="1"/>
          <p:nvPr/>
        </p:nvSpPr>
        <p:spPr>
          <a:xfrm>
            <a:off x="4986164" y="63801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95DA97A-88AF-9AFB-8F3F-E3DA141B3FFA}"/>
              </a:ext>
            </a:extLst>
          </p:cNvPr>
          <p:cNvSpPr txBox="1"/>
          <p:nvPr/>
        </p:nvSpPr>
        <p:spPr>
          <a:xfrm>
            <a:off x="6858372" y="15429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825ACFE-6F57-9FC2-63B1-ECCF9FFF57A2}"/>
              </a:ext>
            </a:extLst>
          </p:cNvPr>
          <p:cNvSpPr txBox="1"/>
          <p:nvPr/>
        </p:nvSpPr>
        <p:spPr>
          <a:xfrm>
            <a:off x="8802588" y="15429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B5B6CF9-6014-3424-06BA-CA536BB1EB1C}"/>
              </a:ext>
            </a:extLst>
          </p:cNvPr>
          <p:cNvSpPr txBox="1"/>
          <p:nvPr/>
        </p:nvSpPr>
        <p:spPr>
          <a:xfrm>
            <a:off x="6786364" y="63801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85ACEA1-24A5-7B05-F8C1-74F664EFE1A1}"/>
              </a:ext>
            </a:extLst>
          </p:cNvPr>
          <p:cNvSpPr txBox="1"/>
          <p:nvPr/>
        </p:nvSpPr>
        <p:spPr>
          <a:xfrm>
            <a:off x="8802588" y="63801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43233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2AC1-C574-AA82-2DC7-EF4E402B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A3B5B3F-3BB9-CECE-B15F-316145DF45B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A04DEC-1474-6735-8302-11A43655E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Codificação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26EEE5E-3D41-712C-C9A3-3C73693A5D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082117-E822-8545-3B55-B8066A2DE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19" y="2159793"/>
            <a:ext cx="7950769" cy="4449123"/>
          </a:xfrm>
        </p:spPr>
        <p:txBody>
          <a:bodyPr>
            <a:normAutofit/>
          </a:bodyPr>
          <a:lstStyle/>
          <a:p>
            <a:r>
              <a:rPr lang="pt-BR" sz="2400" dirty="0"/>
              <a:t>Refere-se ao processo de transformar os dados de uma imagem para um formato que computador consiga ler, salvar e exibir o arquivo:</a:t>
            </a:r>
          </a:p>
          <a:p>
            <a:endParaRPr lang="pt-BR" sz="2400" dirty="0"/>
          </a:p>
          <a:p>
            <a:pPr lvl="1"/>
            <a:r>
              <a:rPr lang="pt-BR" sz="2200" dirty="0"/>
              <a:t>Engloba os processos de amostragem e quantização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Aplica técnicas de compressão de dados (com ou sem perdas)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Define a formatação da imagem (JPG, PNG, BMP, etc.)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43B305F-21D5-CFAD-88DD-1F22371DF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623514"/>
            <a:ext cx="381000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30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5A75A-A294-67A1-93E6-AC772DA0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F56943D-2B22-AF1E-FC64-369758FC2A9D}"/>
              </a:ext>
            </a:extLst>
          </p:cNvPr>
          <p:cNvSpPr/>
          <p:nvPr/>
        </p:nvSpPr>
        <p:spPr>
          <a:xfrm>
            <a:off x="0" y="2283069"/>
            <a:ext cx="12192000" cy="2596661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57CA28-AB8E-EEF1-211C-FA9157CF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8618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Prático – Quantização e Amostragem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u="sng" dirty="0">
                <a:solidFill>
                  <a:schemeClr val="bg1"/>
                </a:solidFill>
              </a:rPr>
              <a:t>Atividade no Colab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61AD209-752E-B93F-B292-F4E9414105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001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AB97-E0B2-C1EB-6C96-93B573151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3280B-7BE9-9BDD-FD96-C9F072EF8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2 – Representação da imagem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E60A67-4B95-48CA-4A1F-786BD65CD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290F271-064F-7F5C-C636-B1788DCCF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394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5852-14DC-6EEF-AE29-C4A7A19B5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B83DBB-B9CA-692C-54FC-6FB13EE34E3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5DF28B-306F-D176-6878-F1506746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  <a:ln>
            <a:solidFill>
              <a:srgbClr val="C0504D"/>
            </a:solidFill>
          </a:ln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Formação da Imagem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006FE78-24E1-9BE8-F6EA-2BD226A282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2A3A6001-9AD6-7894-FE0F-4376A7D43D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140" y="1875693"/>
                <a:ext cx="7883883" cy="4982307"/>
              </a:xfrm>
            </p:spPr>
            <p:txBody>
              <a:bodyPr>
                <a:normAutofit/>
              </a:bodyPr>
              <a:lstStyle/>
              <a:p>
                <a:r>
                  <a:rPr lang="pt-BR" sz="2400" b="1" dirty="0"/>
                  <a:t>Vamos estender o conceito da imagem: </a:t>
                </a:r>
                <a:r>
                  <a:rPr lang="pt-BR" sz="2400" dirty="0"/>
                  <a:t>A imagem é uma função de </a:t>
                </a:r>
                <a:r>
                  <a:rPr lang="pt-BR" sz="2400" i="1" u="sng" dirty="0"/>
                  <a:t>intensidade luminosa</a:t>
                </a:r>
                <a:r>
                  <a:rPr lang="pt-BR" sz="2400" i="1" dirty="0"/>
                  <a:t> bidimensional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pt-BR" sz="2400" dirty="0"/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A formação da imagem combina uma </a:t>
                </a:r>
                <a:r>
                  <a:rPr lang="pt-BR" sz="2200" u="sng" dirty="0"/>
                  <a:t>fonte luminosa</a:t>
                </a:r>
                <a:r>
                  <a:rPr lang="pt-BR" sz="2200" dirty="0"/>
                  <a:t> com a </a:t>
                </a:r>
                <a:r>
                  <a:rPr lang="pt-BR" sz="2200" u="sng" dirty="0"/>
                  <a:t>reflexão ou absorção de energia</a:t>
                </a:r>
                <a:r>
                  <a:rPr lang="pt-BR" sz="2200" dirty="0"/>
                  <a:t> pelos objetos da cena.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dirty="0"/>
              </a:p>
              <a:p>
                <a:r>
                  <a:rPr lang="pt-BR" sz="2400" dirty="0"/>
                  <a:t>A reflexão ou absorção da energia eletromagnética define a coloração dos objetos.</a:t>
                </a:r>
              </a:p>
              <a:p>
                <a:endParaRPr lang="pt-BR" sz="26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Comumente em telas digitais, a mistura das cores ocorre diretamente nos pixels.</a:t>
                </a:r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2A3A6001-9AD6-7894-FE0F-4376A7D43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140" y="1875693"/>
                <a:ext cx="7883883" cy="4982307"/>
              </a:xfrm>
              <a:blipFill>
                <a:blip r:embed="rId3"/>
                <a:stretch>
                  <a:fillRect l="-1005" t="-1714" r="-5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3E55104E-9882-8D61-3A3C-5A9442F786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510" r="15024"/>
          <a:stretch>
            <a:fillRect/>
          </a:stretch>
        </p:blipFill>
        <p:spPr>
          <a:xfrm>
            <a:off x="8259673" y="2691581"/>
            <a:ext cx="3622610" cy="2725146"/>
          </a:xfrm>
          <a:prstGeom prst="rect">
            <a:avLst/>
          </a:prstGeom>
          <a:ln w="19050">
            <a:solidFill>
              <a:srgbClr val="C0504D"/>
            </a:solidFill>
          </a:ln>
        </p:spPr>
      </p:pic>
    </p:spTree>
    <p:extLst>
      <p:ext uri="{BB962C8B-B14F-4D97-AF65-F5344CB8AC3E}">
        <p14:creationId xmlns:p14="http://schemas.microsoft.com/office/powerpoint/2010/main" val="4159776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1B1AD-3ED7-7E0F-1107-B1ED563C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5883E4F-CD32-4CA4-4F76-2BF1A6CED87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EC2096-13A4-50EA-7E69-EA7431FB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Luz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6868374-2021-6BF9-D639-17D3805FB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5A625A-2399-515E-0A79-6A92B64A3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66" y="1829592"/>
            <a:ext cx="7237966" cy="4736308"/>
          </a:xfrm>
        </p:spPr>
        <p:txBody>
          <a:bodyPr>
            <a:normAutofit/>
          </a:bodyPr>
          <a:lstStyle/>
          <a:p>
            <a:r>
              <a:rPr lang="pt-BR" sz="2400" dirty="0"/>
              <a:t>A luz é o </a:t>
            </a:r>
            <a:r>
              <a:rPr lang="pt-BR" sz="2400" u="sng" dirty="0"/>
              <a:t>principal componente</a:t>
            </a:r>
            <a:r>
              <a:rPr lang="pt-BR" sz="2400" dirty="0"/>
              <a:t>  na construção da imagem, podendo ser categorizada como: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Luz cromática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possui comprimentos de onda que geram a percepção de cores</a:t>
            </a: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Luz acromática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não tem cor. Representa apenas a intensidade luminosa (variando entre tons de cinza)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pt-BR" sz="2400" dirty="0"/>
              <a:t>Conceitualmente, a luz é um tipo de radiação eletromagnética que é percebida pelo olho humano.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dirty="0"/>
          </a:p>
          <a:p>
            <a:endParaRPr lang="pt-BR" sz="2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3A10A83-4732-E3A0-8724-9304E18D87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34"/>
          <a:stretch>
            <a:fillRect/>
          </a:stretch>
        </p:blipFill>
        <p:spPr>
          <a:xfrm>
            <a:off x="6756401" y="995588"/>
            <a:ext cx="5435599" cy="517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60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9308-449B-6E8A-D79A-8BA464FF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2836B14-2807-1D10-001A-15060A5FA3B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740331-9944-00F2-4D5E-7F8CE1C3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Medidas de Luz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7B77C66-FE34-4EF2-CDFB-79B6375574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DC26B9-73F8-FD50-0662-9D74C4DF9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54" y="1848388"/>
            <a:ext cx="7675570" cy="4432300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Medidas básicas de luz cromática:</a:t>
            </a:r>
          </a:p>
          <a:p>
            <a:endParaRPr lang="pt-BR" sz="21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100" b="1" dirty="0"/>
              <a:t>Radiância  </a:t>
            </a:r>
            <a:r>
              <a:rPr lang="pt-BR" sz="2100" dirty="0"/>
              <a:t>mede a energia física total da luz em todas as frequências (energia emitida)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1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100" b="1" dirty="0"/>
              <a:t>Luminância </a:t>
            </a:r>
            <a:r>
              <a:rPr lang="pt-BR" sz="2100" dirty="0"/>
              <a:t>mede essa mesma luz ajustada para o que os olhos humanos conseguem enxergar. (energia percebida)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1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100" b="1" dirty="0"/>
              <a:t>iluminância</a:t>
            </a:r>
            <a:r>
              <a:rPr lang="pt-BR" sz="2100" dirty="0"/>
              <a:t> mede a quantidade de luz que chega a uma superfície (luz incidente)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1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100" b="1" dirty="0"/>
              <a:t>Brilho: </a:t>
            </a:r>
            <a:r>
              <a:rPr lang="pt-BR" sz="2100" dirty="0"/>
              <a:t>não é uma unidade exata, mas sim a sensação visual subjetiva de claridade  (noção acromática de intensidade)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dirty="0"/>
          </a:p>
          <a:p>
            <a:endParaRPr lang="pt-BR" sz="2600" dirty="0"/>
          </a:p>
        </p:txBody>
      </p:sp>
      <p:pic>
        <p:nvPicPr>
          <p:cNvPr id="7" name="Picture 2" descr="Entenda o que é luminotécnica – Guia da Engenharia">
            <a:extLst>
              <a:ext uri="{FF2B5EF4-FFF2-40B4-BE49-F238E27FC236}">
                <a16:creationId xmlns:a16="http://schemas.microsoft.com/office/drawing/2014/main" id="{34B05A49-E8C8-7759-699D-36381565B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8296" y="2453546"/>
            <a:ext cx="4493704" cy="313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395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E4B0-B554-DA71-CB64-F8B2A2D9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9DDE4AE-7D71-724C-AA9B-A2865FE94E5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F5A01F-153F-5EEC-D081-5169D0B0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Espaço de Cores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893C6CE-DE37-EE87-52A7-D47B29DFBE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0000AE-998B-51AA-2E2D-B400A3CAA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593" y="1503620"/>
            <a:ext cx="10283409" cy="4432300"/>
          </a:xfrm>
        </p:spPr>
        <p:txBody>
          <a:bodyPr>
            <a:normAutofit/>
          </a:bodyPr>
          <a:lstStyle/>
          <a:p>
            <a:r>
              <a:rPr lang="pt-BR" sz="2200" dirty="0"/>
              <a:t>Trata-se de uma organização matemática de cores que padroniza a forma que os dispositivos digitais  (telas, câmeras e impressoras) exibem e reproduzem tons.</a:t>
            </a:r>
          </a:p>
          <a:p>
            <a:endParaRPr lang="pt-BR" sz="2200" dirty="0"/>
          </a:p>
          <a:p>
            <a:r>
              <a:rPr lang="pt-BR" sz="2200" dirty="0"/>
              <a:t>O espaçamento de cores define uma faixa específica de cores visíveis, que é consistente entre diferentes equipamentos.</a:t>
            </a:r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A95BAAA-AF0B-BEDC-FEA5-ACD248850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298" y="3858139"/>
            <a:ext cx="2999861" cy="299986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4210AE5-35A3-B116-9B3B-ACAA89416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843" y="3675235"/>
            <a:ext cx="2999861" cy="308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62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9D395-FA9A-16E0-BC98-C5C47C2C5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CA1ACA1-2099-FE55-C284-51FD1BB4848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819102-8A3C-FEDF-8D1A-ABE21E00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Espaço de Cores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3AAD961-EBEC-4325-5C8C-B7D6FBE180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A69361-3958-5601-A1AB-2C6EEB25A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593" y="1503620"/>
            <a:ext cx="10283409" cy="4432300"/>
          </a:xfrm>
        </p:spPr>
        <p:txBody>
          <a:bodyPr>
            <a:normAutofit/>
          </a:bodyPr>
          <a:lstStyle/>
          <a:p>
            <a:r>
              <a:rPr lang="pt-BR" sz="2200" dirty="0"/>
              <a:t>Existem diferentes modelos de espaço de cor, como RGB, HSV,CMYK, </a:t>
            </a:r>
            <a:r>
              <a:rPr lang="pt-BR" sz="2200" dirty="0" err="1"/>
              <a:t>YCbCr</a:t>
            </a:r>
            <a:r>
              <a:rPr lang="pt-BR" sz="2200" dirty="0"/>
              <a:t>, etc.</a:t>
            </a:r>
          </a:p>
          <a:p>
            <a:r>
              <a:rPr lang="pt-BR" sz="2400" dirty="0"/>
              <a:t>Cada um foi criado para resolver um problema específico, por exemplo:</a:t>
            </a:r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A escala RGB é ótimo para telas, câmeras e monitores  (Por causa do sistema aditivo)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A escala HSV facilita o reconhecimento de cores e segmentação de objetos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A escala CMYK  é voltada para a formação de cores por dispositivos de impressão</a:t>
            </a:r>
            <a:endParaRPr lang="pt-BR" sz="2200" dirty="0"/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8196" name="Picture 4" descr="Diferença entre os modos RGB e CMYK – Instruções Gráfica das Gráficas">
            <a:extLst>
              <a:ext uri="{FF2B5EF4-FFF2-40B4-BE49-F238E27FC236}">
                <a16:creationId xmlns:a16="http://schemas.microsoft.com/office/drawing/2014/main" id="{D9B13FAA-7C62-428A-4D0F-0D4814E6E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634" y="4350809"/>
            <a:ext cx="5636731" cy="2311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055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C2854-5C2F-A011-2C55-504BEE21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9CB69DB-85CD-F891-2E36-99DFB6EBA3E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3B7832-762B-44B6-4F10-5F63E64E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Escala Cinza (</a:t>
            </a:r>
            <a:r>
              <a:rPr lang="pt-BR" dirty="0" err="1">
                <a:solidFill>
                  <a:schemeClr val="bg1"/>
                </a:solidFill>
              </a:rPr>
              <a:t>GrayScale</a:t>
            </a:r>
            <a:r>
              <a:rPr lang="pt-BR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83681D9-B0A5-5EF5-05B2-E0F9FF79EA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D02BA9-4452-9416-955E-A977972E6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00" y="1953896"/>
            <a:ext cx="5725200" cy="4432300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É a forma mais simples, na qual cada pixel possui apenas um valor de intensidade.</a:t>
            </a:r>
          </a:p>
          <a:p>
            <a:endParaRPr lang="pt-BR" sz="2400" dirty="0"/>
          </a:p>
          <a:p>
            <a:r>
              <a:rPr lang="pt-BR" sz="2400" dirty="0"/>
              <a:t>As imagens são formadas por apenas um canal</a:t>
            </a:r>
          </a:p>
          <a:p>
            <a:endParaRPr lang="pt-BR" sz="2400" dirty="0"/>
          </a:p>
          <a:p>
            <a:r>
              <a:rPr lang="pt-BR" sz="2400" dirty="0"/>
              <a:t>A profundidade de bits determina a quantidade de níveis disponíveis. </a:t>
            </a:r>
          </a:p>
          <a:p>
            <a:endParaRPr lang="pt-BR" sz="2600" dirty="0"/>
          </a:p>
          <a:p>
            <a:r>
              <a:rPr lang="pt-BR" sz="2400" dirty="0"/>
              <a:t>Utilizada por ser processada com maior velocidade e por ocupar pouco espaço</a:t>
            </a:r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FF69B10-E467-5A71-D4E5-8268F40E82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5" r="3330"/>
          <a:stretch>
            <a:fillRect/>
          </a:stretch>
        </p:blipFill>
        <p:spPr>
          <a:xfrm>
            <a:off x="5943600" y="2288492"/>
            <a:ext cx="6283570" cy="376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444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1893-A3CE-179E-56BC-9D321C15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B8CB476-EE72-5238-79ED-384D848D5F8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9FD9E9-EDF9-6AFA-E279-530D00A6A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Escala RGB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1A7C533-98CF-84FE-ADD1-BC5D3109F2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49438B-846F-9DBB-F724-6B85C7B17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67" y="2035958"/>
            <a:ext cx="6813805" cy="4432300"/>
          </a:xfrm>
        </p:spPr>
        <p:txBody>
          <a:bodyPr>
            <a:normAutofit/>
          </a:bodyPr>
          <a:lstStyle/>
          <a:p>
            <a:r>
              <a:rPr lang="pt-BR" sz="2400" dirty="0"/>
              <a:t>Utiliza valores numéricos de 0 a 255 para definir a intensidade das cores luz primárias: Vermelho (</a:t>
            </a:r>
            <a:r>
              <a:rPr lang="pt-BR" sz="2400" b="1" i="1" dirty="0" err="1"/>
              <a:t>R</a:t>
            </a:r>
            <a:r>
              <a:rPr lang="pt-BR" sz="2400" i="1" dirty="0" err="1"/>
              <a:t>ed</a:t>
            </a:r>
            <a:r>
              <a:rPr lang="pt-BR" sz="2400" dirty="0"/>
              <a:t>), Verde (</a:t>
            </a:r>
            <a:r>
              <a:rPr lang="pt-BR" sz="2400" b="1" i="1" dirty="0"/>
              <a:t>G</a:t>
            </a:r>
            <a:r>
              <a:rPr lang="pt-BR" sz="2400" i="1" dirty="0"/>
              <a:t>reen</a:t>
            </a:r>
            <a:r>
              <a:rPr lang="pt-BR" sz="2400" dirty="0"/>
              <a:t>) e Azul (</a:t>
            </a:r>
            <a:r>
              <a:rPr lang="pt-BR" sz="2400" b="1" i="1" dirty="0"/>
              <a:t>B</a:t>
            </a:r>
            <a:r>
              <a:rPr lang="pt-BR" sz="2400" i="1" dirty="0"/>
              <a:t>lue</a:t>
            </a:r>
            <a:r>
              <a:rPr lang="pt-BR" sz="2400" dirty="0"/>
              <a:t>).</a:t>
            </a:r>
          </a:p>
          <a:p>
            <a:endParaRPr lang="pt-BR" sz="2400" dirty="0"/>
          </a:p>
          <a:p>
            <a:r>
              <a:rPr lang="pt-BR" sz="2400" dirty="0"/>
              <a:t>Variando esses três números, é possível criar mais de 16 milhões de tons diferentes para telas digitais.</a:t>
            </a:r>
          </a:p>
          <a:p>
            <a:endParaRPr lang="pt-BR" sz="2400" dirty="0"/>
          </a:p>
          <a:p>
            <a:r>
              <a:rPr lang="pt-BR" sz="2400" dirty="0"/>
              <a:t>O valor 0 significa ausência total de luz (cor preta) e 255 significa intensidade máxima</a:t>
            </a:r>
          </a:p>
          <a:p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9DA374-5147-9A51-3D12-126B0AEC2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692"/>
          <a:stretch>
            <a:fillRect/>
          </a:stretch>
        </p:blipFill>
        <p:spPr>
          <a:xfrm>
            <a:off x="7177119" y="2139767"/>
            <a:ext cx="5014881" cy="352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62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0022-6301-DBC7-BBEE-C0870B56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CE6CEA2-3D74-95C9-5219-21100A85F47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9C1B0B-D741-FFEF-4B82-AFCB8234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  <a:ln>
            <a:solidFill>
              <a:srgbClr val="C0504D"/>
            </a:solidFill>
          </a:ln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Escala RGB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4EC576A-6BE6-07EB-2285-F75376E55E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B505365-6A2D-AA07-E83A-566C49AFF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97" y="2495632"/>
            <a:ext cx="6694967" cy="3374950"/>
          </a:xfrm>
        </p:spPr>
        <p:txBody>
          <a:bodyPr>
            <a:normAutofit/>
          </a:bodyPr>
          <a:lstStyle/>
          <a:p>
            <a:r>
              <a:rPr lang="pt-BR" sz="2400" dirty="0"/>
              <a:t>Nessa escala as informações de cores estão guardadas nos </a:t>
            </a:r>
            <a:r>
              <a:rPr lang="pt-BR" sz="2400" u="sng" dirty="0"/>
              <a:t>canais da imagem.</a:t>
            </a:r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Cada canal é responsável por armazenar os dados de cor, brilho ou transparência de cada pixel.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Cada pixel é formado pela combinação numérica desses componentes individuais.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B6F81D8-7EDE-FA4A-BE05-1D1D86365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788"/>
          <a:stretch>
            <a:fillRect/>
          </a:stretch>
        </p:blipFill>
        <p:spPr>
          <a:xfrm>
            <a:off x="9562838" y="2495632"/>
            <a:ext cx="2295565" cy="337495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1CB4349-D14B-FA0D-46A5-220AE82288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7267273" y="2495631"/>
            <a:ext cx="2295565" cy="337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02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115E4-AB08-9AE3-5DA7-2750E035A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E65EDBA-8CB5-6BEC-1067-DAB81CE655F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97666E-067E-E44F-381C-DA2CF8AD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Escala HSV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9328FE6-DC0E-5E7E-0E44-E6E3550537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6429F5-8EEF-DC8A-CDB4-9E0413CA7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67" y="1535723"/>
            <a:ext cx="6989652" cy="5076092"/>
          </a:xfrm>
        </p:spPr>
        <p:txBody>
          <a:bodyPr>
            <a:normAutofit/>
          </a:bodyPr>
          <a:lstStyle/>
          <a:p>
            <a:r>
              <a:rPr lang="pt-BR" sz="2400" dirty="0"/>
              <a:t>A escala HSV descreve as tonalidades de forma parecida com o jeito que o olho humano enxerga.</a:t>
            </a:r>
          </a:p>
          <a:p>
            <a:endParaRPr lang="pt-BR" sz="2400" dirty="0"/>
          </a:p>
          <a:p>
            <a:r>
              <a:rPr lang="pt-BR" sz="2400" dirty="0"/>
              <a:t>Ela separa a cor real da sua pureza e da sua claridade, de acordo com os elementos:</a:t>
            </a:r>
          </a:p>
          <a:p>
            <a:endParaRPr lang="pt-BR" sz="2400" dirty="0"/>
          </a:p>
          <a:p>
            <a:pPr lvl="1"/>
            <a:r>
              <a:rPr lang="pt-BR" sz="2000" b="1" dirty="0"/>
              <a:t>H (Matiz / </a:t>
            </a:r>
            <a:r>
              <a:rPr lang="pt-BR" sz="2000" b="1" dirty="0" err="1"/>
              <a:t>Hue</a:t>
            </a:r>
            <a:r>
              <a:rPr lang="pt-BR" sz="2000" b="1" dirty="0"/>
              <a:t>): </a:t>
            </a:r>
            <a:r>
              <a:rPr lang="pt-BR" sz="2000" dirty="0"/>
              <a:t>É a cor pura em si (medida em graus).</a:t>
            </a:r>
          </a:p>
          <a:p>
            <a:pPr lvl="1"/>
            <a:r>
              <a:rPr lang="pt-BR" sz="2000" b="1" dirty="0"/>
              <a:t>S (Saturação / </a:t>
            </a:r>
            <a:r>
              <a:rPr lang="pt-BR" sz="2000" b="1" dirty="0" err="1"/>
              <a:t>Saturation</a:t>
            </a:r>
            <a:r>
              <a:rPr lang="pt-BR" sz="2000" b="1" dirty="0"/>
              <a:t>): </a:t>
            </a:r>
            <a:r>
              <a:rPr lang="pt-BR" sz="2000" dirty="0"/>
              <a:t>É a força ou pureza da cor.</a:t>
            </a:r>
          </a:p>
          <a:p>
            <a:pPr lvl="1"/>
            <a:r>
              <a:rPr lang="pt-BR" sz="2000" b="1" dirty="0"/>
              <a:t>V (Valor / </a:t>
            </a:r>
            <a:r>
              <a:rPr lang="pt-BR" sz="2000" b="1" dirty="0" err="1"/>
              <a:t>Value</a:t>
            </a:r>
            <a:r>
              <a:rPr lang="pt-BR" sz="2000" b="1" dirty="0"/>
              <a:t>): </a:t>
            </a:r>
            <a:r>
              <a:rPr lang="pt-BR" sz="2000" dirty="0"/>
              <a:t>É o brilho ou a luminosidade da cor.</a:t>
            </a:r>
          </a:p>
          <a:p>
            <a:endParaRPr lang="pt-BR" sz="2400" dirty="0"/>
          </a:p>
          <a:p>
            <a:r>
              <a:rPr lang="pt-BR" sz="2400" dirty="0"/>
              <a:t>Essa escala facilita a separação de objetos por cores em imagens digitais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A85E07B-464B-F334-44B4-0E8D65253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630" y="1325561"/>
            <a:ext cx="3436930" cy="30349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8C2FB0C-935F-3B84-4795-5C478F49B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352" y="4604185"/>
            <a:ext cx="2723918" cy="216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87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F9AE-83F3-72AE-6776-807B6AE2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9F689D6-CE8E-DE9F-F6B9-FF43013CFF4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D262E9-B176-DEC7-66AB-17F196757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Escala CMYK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9149D74-6715-239F-59D4-B84FFA458C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D9C294-61C1-2668-EC0B-A1D837C91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67" y="1805353"/>
            <a:ext cx="6989652" cy="4806461"/>
          </a:xfrm>
        </p:spPr>
        <p:txBody>
          <a:bodyPr>
            <a:normAutofit/>
          </a:bodyPr>
          <a:lstStyle/>
          <a:p>
            <a:r>
              <a:rPr lang="pt-BR" sz="2400" dirty="0"/>
              <a:t>Sistema de cores subtrativo usado em impressoras e gráficas. As cores variam de 0% a 100% de pigmento sobre o papel</a:t>
            </a:r>
          </a:p>
          <a:p>
            <a:endParaRPr lang="pt-BR" sz="2400" dirty="0"/>
          </a:p>
          <a:p>
            <a:r>
              <a:rPr lang="pt-BR" sz="2400" dirty="0"/>
              <a:t>É constituído pelos pigmentos:</a:t>
            </a:r>
          </a:p>
          <a:p>
            <a:endParaRPr lang="pt-BR" sz="2400" dirty="0"/>
          </a:p>
          <a:p>
            <a:pPr lvl="1"/>
            <a:r>
              <a:rPr lang="pt-BR" sz="2000" b="1" dirty="0"/>
              <a:t>C (Ciano): </a:t>
            </a:r>
            <a:r>
              <a:rPr lang="pt-BR" sz="2000" dirty="0"/>
              <a:t>É a cor pura em si (medida em graus).</a:t>
            </a:r>
          </a:p>
          <a:p>
            <a:pPr lvl="1"/>
            <a:r>
              <a:rPr lang="pt-BR" sz="2000" b="1" dirty="0"/>
              <a:t>M (Magenta): </a:t>
            </a:r>
            <a:r>
              <a:rPr lang="pt-BR" sz="2000" dirty="0"/>
              <a:t>É a força ou pureza da cor.</a:t>
            </a:r>
          </a:p>
          <a:p>
            <a:pPr lvl="1"/>
            <a:r>
              <a:rPr lang="pt-BR" sz="2000" b="1" dirty="0"/>
              <a:t>Y (Amarelo/</a:t>
            </a:r>
            <a:r>
              <a:rPr lang="pt-BR" sz="2000" b="1" dirty="0" err="1"/>
              <a:t>Yellow</a:t>
            </a:r>
            <a:r>
              <a:rPr lang="pt-BR" sz="2000" b="1" dirty="0"/>
              <a:t>): </a:t>
            </a:r>
            <a:r>
              <a:rPr lang="pt-BR" sz="2000" dirty="0"/>
              <a:t>É o brilho ou a luminosidade da cor.</a:t>
            </a:r>
          </a:p>
          <a:p>
            <a:pPr lvl="1"/>
            <a:r>
              <a:rPr lang="pt-BR" sz="2000" b="1" dirty="0"/>
              <a:t>K (Preto/Black): </a:t>
            </a:r>
            <a:r>
              <a:rPr lang="pt-BR" sz="2000" dirty="0"/>
              <a:t>É o brilho ou a luminosidade da cor.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5EA9249-C323-8C94-63C1-DD061A806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425" y="1693985"/>
            <a:ext cx="4525108" cy="452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162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2D851-5E6C-304B-DEEF-D1A6D3ECD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AC5D61D-D0BF-36E0-02C5-8DA5BD491908}"/>
              </a:ext>
            </a:extLst>
          </p:cNvPr>
          <p:cNvSpPr/>
          <p:nvPr/>
        </p:nvSpPr>
        <p:spPr>
          <a:xfrm>
            <a:off x="0" y="2283069"/>
            <a:ext cx="12192000" cy="2596661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5F3ED0-0E19-C470-5703-4073D59E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8618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Prático – Variação do espaço de cores das Imagens</a:t>
            </a:r>
            <a:endParaRPr lang="pt-BR" u="sng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7803E3B-3848-7788-F4EC-4586568781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57723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2825</Words>
  <Application>Microsoft Office PowerPoint</Application>
  <PresentationFormat>Widescreen</PresentationFormat>
  <Paragraphs>362</Paragraphs>
  <Slides>33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Courier New</vt:lpstr>
      <vt:lpstr>Gill Sans MT</vt:lpstr>
      <vt:lpstr>Google Sans</vt:lpstr>
      <vt:lpstr>Tema do Office</vt:lpstr>
      <vt:lpstr>Pacote</vt:lpstr>
      <vt:lpstr>Plano de ensino</vt:lpstr>
      <vt:lpstr>Sistema de avaliação</vt:lpstr>
      <vt:lpstr>Distribuição de Notas</vt:lpstr>
      <vt:lpstr>Bibliografia</vt:lpstr>
      <vt:lpstr>módulo 1 – FUNDAMENTOS</vt:lpstr>
      <vt:lpstr>Imagem Digital</vt:lpstr>
      <vt:lpstr>Tipos de Imagem Digital</vt:lpstr>
      <vt:lpstr>Processamento Digital de Imagens</vt:lpstr>
      <vt:lpstr>Processamento Digital de Imagens</vt:lpstr>
      <vt:lpstr>Espectro Eletromagnético</vt:lpstr>
      <vt:lpstr>Visão Computacional</vt:lpstr>
      <vt:lpstr>Visão Computacional</vt:lpstr>
      <vt:lpstr>Resolução e Tamanho da imagem</vt:lpstr>
      <vt:lpstr>Densidade de pixels</vt:lpstr>
      <vt:lpstr>Transformação do Sinal</vt:lpstr>
      <vt:lpstr>Amostragem</vt:lpstr>
      <vt:lpstr>Efeitos da Amostragem</vt:lpstr>
      <vt:lpstr>Quantização</vt:lpstr>
      <vt:lpstr>Efeitos da Quantização</vt:lpstr>
      <vt:lpstr>Codificação</vt:lpstr>
      <vt:lpstr>Exemplo Prático – Quantização e Amostragem Atividade no Colab</vt:lpstr>
      <vt:lpstr>módulo 2 – Representação da imagem</vt:lpstr>
      <vt:lpstr>Formação da Imagem</vt:lpstr>
      <vt:lpstr>Luz</vt:lpstr>
      <vt:lpstr>Medidas de Luz</vt:lpstr>
      <vt:lpstr>Espaço de Cores</vt:lpstr>
      <vt:lpstr>Espaço de Cores</vt:lpstr>
      <vt:lpstr>Escala Cinza (GrayScale)</vt:lpstr>
      <vt:lpstr>Escala RGB</vt:lpstr>
      <vt:lpstr>Escala RGB</vt:lpstr>
      <vt:lpstr>Escala HSV</vt:lpstr>
      <vt:lpstr>Escala CMYK</vt:lpstr>
      <vt:lpstr>Exemplo Prático – Variação do espaço de cores das Imagens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110</cp:revision>
  <dcterms:created xsi:type="dcterms:W3CDTF">2026-07-26T12:48:37Z</dcterms:created>
  <dcterms:modified xsi:type="dcterms:W3CDTF">2026-08-10T13:21:04Z</dcterms:modified>
</cp:coreProperties>
</file>