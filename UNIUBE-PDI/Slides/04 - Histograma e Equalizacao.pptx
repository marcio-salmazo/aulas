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24"/>
  </p:notesMasterIdLst>
  <p:sldIdLst>
    <p:sldId id="320" r:id="rId3"/>
    <p:sldId id="321" r:id="rId4"/>
    <p:sldId id="348" r:id="rId5"/>
    <p:sldId id="337" r:id="rId6"/>
    <p:sldId id="338" r:id="rId7"/>
    <p:sldId id="340" r:id="rId8"/>
    <p:sldId id="341" r:id="rId9"/>
    <p:sldId id="342" r:id="rId10"/>
    <p:sldId id="349" r:id="rId11"/>
    <p:sldId id="350" r:id="rId12"/>
    <p:sldId id="343" r:id="rId13"/>
    <p:sldId id="344" r:id="rId14"/>
    <p:sldId id="351" r:id="rId15"/>
    <p:sldId id="345" r:id="rId16"/>
    <p:sldId id="352" r:id="rId17"/>
    <p:sldId id="353" r:id="rId18"/>
    <p:sldId id="354" r:id="rId19"/>
    <p:sldId id="355" r:id="rId20"/>
    <p:sldId id="356" r:id="rId21"/>
    <p:sldId id="346" r:id="rId22"/>
    <p:sldId id="336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io Salmazo Ramos" initials="MS" lastIdx="2" clrIdx="0">
    <p:extLst>
      <p:ext uri="{19B8F6BF-5375-455C-9EA6-DF929625EA0E}">
        <p15:presenceInfo xmlns:p15="http://schemas.microsoft.com/office/powerpoint/2012/main" userId="S::marciosr@ufu.br::41390c5d-c465-4ad4-9c2e-eaf7a78388f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04D"/>
    <a:srgbClr val="4F8234"/>
    <a:srgbClr val="6595DE"/>
    <a:srgbClr val="9AB88B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7568" autoAdjust="0"/>
  </p:normalViewPr>
  <p:slideViewPr>
    <p:cSldViewPr snapToGrid="0">
      <p:cViewPr varScale="1">
        <p:scale>
          <a:sx n="88" d="100"/>
          <a:sy n="88" d="100"/>
        </p:scale>
        <p:origin x="14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Pixels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Planilha1!$A$2:$A$5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0</c:v>
                </c:pt>
                <c:pt idx="1">
                  <c:v>6</c:v>
                </c:pt>
                <c:pt idx="2">
                  <c:v>10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1-4629-A515-F98F7C217E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2808703"/>
        <c:axId val="82810143"/>
      </c:barChart>
      <c:catAx>
        <c:axId val="82808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2810143"/>
        <c:crosses val="autoZero"/>
        <c:auto val="1"/>
        <c:lblAlgn val="ctr"/>
        <c:lblOffset val="100"/>
        <c:noMultiLvlLbl val="0"/>
      </c:catAx>
      <c:valAx>
        <c:axId val="82810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2808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Pixels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Planilha1!$A$2:$A$5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0</c:v>
                </c:pt>
                <c:pt idx="1">
                  <c:v>6</c:v>
                </c:pt>
                <c:pt idx="2">
                  <c:v>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A2-4C1F-BED0-064F6FA77D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2808703"/>
        <c:axId val="82810143"/>
      </c:barChart>
      <c:catAx>
        <c:axId val="82808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2810143"/>
        <c:crosses val="autoZero"/>
        <c:auto val="1"/>
        <c:lblAlgn val="ctr"/>
        <c:lblOffset val="100"/>
        <c:noMultiLvlLbl val="0"/>
      </c:catAx>
      <c:valAx>
        <c:axId val="82810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2808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C2729-4DC1-AA01-E9F4-BDAE82BBD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B8F4D8-1206-546E-9D0B-6AAE3CA11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D53F69-D1D4-D964-BFA4-4FD8989E1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B47195-8B22-DE2B-8C7F-03C4C59DA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500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B640E-3743-0D36-E7C5-55CB713E0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7E636F-ECBC-960C-3397-188CBBD6D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EAB7515-6E29-64E0-07FF-21F483594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DA691D-B3A9-EFEC-6364-2BEDDC2A5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0684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DF123-49EF-D53E-43D0-A41910956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A9FC74-89F0-A903-7B97-443B5E7CE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69B7BDD-2CF7-9A26-2B1F-89D88343E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7C5811-104D-B43C-C2F8-8CE2B446C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8697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8E0D9-CEC0-4B9C-07F8-6F636360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0B0D604-E965-9889-B979-B14E785A1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8E21E90-B622-EE94-B9E2-891F65DA4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1C66BE-F06D-1917-F691-A0CE96AB7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3368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E05F2-B79E-628C-A067-18245CCD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6C49C2E-1282-8285-7D69-B6561DE5A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7C8D410-4B7E-4FC6-ABFA-14D6E38DC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6D0DB6-EB42-0251-75DC-38E3B11B6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46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B7DC9-292B-AC78-C7A7-365822222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C7DB1DD-A2CF-22E0-8B42-AA052E78D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1C7312B-B971-86AC-30DD-E3C0AAF46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345C58-8BE1-6AA3-90A9-358094449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9892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018F4-BD57-ACEB-43F5-6FC197F0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3A9C52-2AE3-BDB7-F9CD-12958A4D0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92DDE8C-6769-906B-5D85-1CB49E45D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B875BC-FF91-5C28-5B4D-135D519A4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509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0C824-6C21-F861-2063-9B3F804D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50C8C2-77D7-F128-D434-896007D04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B51E04B-A462-FB8B-64BD-CA8349260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013A3C-C934-3028-C73E-CCD38C7920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899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2701B-BD5D-4DE1-90CE-A01366A6C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5511FE6-71DC-C004-7B8D-6F1AC9E29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05B331-534B-4509-E225-F5E2C8E95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9BC53C-8A05-0B4D-CE90-AA5D0917C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4794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A5C68-D367-95D0-A7ED-82FEB9E5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84B25C7-5BD9-5CE6-59D2-470466442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3B2D8BC-86AB-1A31-8D4A-8E80DDFC9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BD36864-10D6-000F-F6F1-751AC92DE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189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5098E-8481-FD16-30B7-C8BB05F48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DEBD58B-6C59-4833-F794-2616C880F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9EB3BB9-C17E-11D0-7199-B1F59B22F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4060B5-E1DF-A85C-6777-6C2905442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28019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FF476-4CC1-2B61-90FA-375337060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DA1CA3-6ED9-FB70-516C-F1590E46D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E8A386-9D03-55EC-D2CE-6F1CB8DFF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FA1368-A70D-90FC-A4B4-DF9919207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97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BA88C-6A3D-9E3F-E68D-1009FB8A0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CD3211B-C956-1B46-EAF7-18F950C81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A75B5C-F59A-08FD-E02D-81A965D5B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8E242EA-D546-B55A-FC63-51148007B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0934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4505-0FD7-5876-00E7-72827A01A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05EBE1-968D-70A1-B001-017D7FE69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EDC5BB5-2687-E619-C1E0-09435D42D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50BCF2-797F-2485-7DDA-46D4FBEFD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48669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3DAE-DF41-3A0B-E240-53A87C7BC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2B9439B-BCEE-4873-0AE4-C69DC6116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9C7785C-99E7-7DE4-AF27-07055C0B2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715341-3BAB-C859-0BA1-3D9EF73E5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964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9AE49-D346-63C7-D49C-827E98B1B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82CE3AF-2AD1-F51F-8FDF-4DDD14CF8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A42D660-718D-AB04-AB1D-673D2F458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26C421-8F90-CD6C-E73A-EC39EF477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45348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BA7FC-833F-C021-4E85-9A2CD35C9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C0612E-184F-D0F5-2AB3-3251C6E5E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602269-698B-54C6-8896-738147240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AF4065-EEF9-BE9E-B16E-8DF5A7443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23774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BD96C-09CF-42EB-87B8-896AAB277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CF8D771-0AA0-0E05-58DF-65D2FAFFD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8149316-72FC-DD7E-ADD7-193B43FF1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função 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monotonicamente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crescente</a:t>
            </a:r>
            <a:r>
              <a:rPr lang="pt-BR" dirty="0"/>
              <a:t> é aquela em que, ao aumentar o valor de entrada (x), o valor de saída (f(x)) nunca diminui</a:t>
            </a: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758D3F-CF6E-5125-1F11-C5D4F836E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55836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51D6E-E329-6BE9-9CD8-97D466051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20D145-36A6-8417-456D-9EBA70B7B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86F559-ABB1-FD12-3AA6-EFD50FDE2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Matematicamente:  s=(L-1) * 0,8 </a:t>
            </a:r>
          </a:p>
          <a:p>
            <a:r>
              <a:rPr lang="pt-BR" b="0" dirty="0"/>
              <a:t>Para 8 bits: s=255(0,8)=204 </a:t>
            </a:r>
          </a:p>
          <a:p>
            <a:r>
              <a:rPr lang="pt-BR" b="0" dirty="0"/>
              <a:t>Então:150→204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5DA823-F5CC-B092-F4E0-18053C0FE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54445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1932-5290-5D89-C5E7-9013FD4A9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86F9EC7-54F3-9941-3DB3-DBDEDD91F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7B26D5-F603-B43F-FC14-77743830C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C4FEF3-AC5A-B6EC-CF3C-ECC8274D8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70000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5DBF-F087-D425-FE1F-C594C66B8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E1EC70-E1DD-80B5-AE67-F989BC04F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ECADB7-139D-33D9-1BFF-A3158C9AC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Etapas básicas para transformar um sinal contínuo (analógico) em um sinal digital</a:t>
            </a:r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5A10F7-6A75-1784-5EB0-733CDBEAF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509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23998-2FA4-E492-3E8A-AE7FF34C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CE2FD-61BC-5114-CCE2-1401A7E83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4 – HISTOGRAMA E EQUALIZAÇÃO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D69721-C83E-C63B-9409-7E910F0E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13E97F6-65FE-8D93-E374-6AFA6BB96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7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33180-53BA-21BF-A84E-968241FBE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1CB63AC-F956-699C-AFCE-3540DB29644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8A14FC-38B0-0F3B-A145-7298E588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0650552-5CD6-0B48-6261-174CD00E30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05AC19E-EA79-E17E-B527-D6B35B7B2D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3576" y="2010419"/>
                <a:ext cx="6234728" cy="4684295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Representa a distribuição dos níveis de intensidade presentes em uma imagem.</a:t>
                </a:r>
              </a:p>
              <a:p>
                <a:endParaRPr lang="pt-BR" sz="2200" dirty="0"/>
              </a:p>
              <a:p>
                <a:r>
                  <a:rPr lang="pt-BR" sz="2400" dirty="0"/>
                  <a:t>mostra a frequência com que cada nível de cinza aparece na imagem</a:t>
                </a:r>
                <a:endParaRPr lang="pt-BR" sz="2200" dirty="0"/>
              </a:p>
              <a:p>
                <a:endParaRPr lang="pt-BR" sz="2000" i="1" dirty="0"/>
              </a:p>
              <a:p>
                <a:r>
                  <a:rPr lang="pt-BR" sz="2400" dirty="0"/>
                  <a:t>Matematicamente temos: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err="1">
                        <a:latin typeface="Cambria Math" panose="02040503050406030204" pitchFamily="18" charset="0"/>
                      </a:rPr>
                      <m:t>𝑟𝑘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​)=</m:t>
                    </m:r>
                    <m:r>
                      <a:rPr lang="pt-BR" sz="2400" i="1" dirty="0" err="1">
                        <a:latin typeface="Cambria Math" panose="02040503050406030204" pitchFamily="18" charset="0"/>
                      </a:rPr>
                      <m:t>𝑛𝑘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r>
                  <a:rPr lang="pt-BR" sz="2400" dirty="0"/>
                  <a:t>, onde:</a:t>
                </a:r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𝑟𝑘</m:t>
                    </m:r>
                  </m:oMath>
                </a14:m>
                <a:r>
                  <a:rPr lang="pt-BR" sz="2200" dirty="0"/>
                  <a:t> número de níveis de cinza da imagem;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200" dirty="0"/>
                  <a:t> é um determinado nível de cinza; 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200" dirty="0"/>
                  <a:t> é o número de pixels naquela intensidade.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pt-BR" sz="2400" i="1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05AC19E-EA79-E17E-B527-D6B35B7B2D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576" y="2010419"/>
                <a:ext cx="6234728" cy="4684295"/>
              </a:xfrm>
              <a:blipFill>
                <a:blip r:embed="rId3"/>
                <a:stretch>
                  <a:fillRect l="-1370" t="-18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F04002B2-9334-22D0-FCC2-9B6CD3DB10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571" r="8859" b="9365"/>
          <a:stretch>
            <a:fillRect/>
          </a:stretch>
        </p:blipFill>
        <p:spPr>
          <a:xfrm>
            <a:off x="6714979" y="1796142"/>
            <a:ext cx="5333445" cy="410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32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05BA0-F986-38FE-EBF1-7EF8761E9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72F1648-01D1-DF82-E45C-7A7075A8E2F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726EDC-473F-137E-8E47-BA74A7EE8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AD49D5A-341D-239E-87F3-F231407586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252D25B-14B9-1876-CB23-99B981428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6670" y="1525488"/>
            <a:ext cx="5506110" cy="3986150"/>
          </a:xfrm>
        </p:spPr>
        <p:txBody>
          <a:bodyPr>
            <a:normAutofit/>
          </a:bodyPr>
          <a:lstStyle/>
          <a:p>
            <a:r>
              <a:rPr lang="pt-BR" sz="2400" dirty="0"/>
              <a:t>Considerando uma imagem de 8 bits (256 níveis de cinza):</a:t>
            </a: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endParaRPr lang="pt-BR" sz="20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FFE5CF4D-C9F7-0E66-DBB9-FDEA13366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5281" y="5593295"/>
            <a:ext cx="1219200" cy="952500"/>
          </a:xfrm>
          <a:prstGeom prst="rect">
            <a:avLst/>
          </a:prstGeom>
        </p:spPr>
      </p:pic>
      <p:pic>
        <p:nvPicPr>
          <p:cNvPr id="4" name="table">
            <a:extLst>
              <a:ext uri="{FF2B5EF4-FFF2-40B4-BE49-F238E27FC236}">
                <a16:creationId xmlns:a16="http://schemas.microsoft.com/office/drawing/2014/main" id="{E5F2FB60-A985-AE0E-9514-4F1A3591B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281" y="3505063"/>
            <a:ext cx="1219200" cy="1905000"/>
          </a:xfrm>
          <a:prstGeom prst="rect">
            <a:avLst/>
          </a:prstGeom>
        </p:spPr>
      </p:pic>
      <p:pic>
        <p:nvPicPr>
          <p:cNvPr id="8" name="table">
            <a:extLst>
              <a:ext uri="{FF2B5EF4-FFF2-40B4-BE49-F238E27FC236}">
                <a16:creationId xmlns:a16="http://schemas.microsoft.com/office/drawing/2014/main" id="{C0DF9E9D-F360-2B51-C4F7-A312AB886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5281" y="1992895"/>
            <a:ext cx="1219200" cy="1297305"/>
          </a:xfrm>
          <a:prstGeom prst="rect">
            <a:avLst/>
          </a:prstGeom>
        </p:spPr>
      </p:pic>
      <p:sp>
        <p:nvSpPr>
          <p:cNvPr id="9" name="CaixaDeTexto 7">
            <a:extLst>
              <a:ext uri="{FF2B5EF4-FFF2-40B4-BE49-F238E27FC236}">
                <a16:creationId xmlns:a16="http://schemas.microsoft.com/office/drawing/2014/main" id="{7BD650AD-2164-7E9D-4AED-F178814FF3E9}"/>
              </a:ext>
            </a:extLst>
          </p:cNvPr>
          <p:cNvSpPr txBox="1"/>
          <p:nvPr/>
        </p:nvSpPr>
        <p:spPr>
          <a:xfrm>
            <a:off x="9292427" y="5284531"/>
            <a:ext cx="40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...</a:t>
            </a:r>
          </a:p>
        </p:txBody>
      </p:sp>
      <p:sp>
        <p:nvSpPr>
          <p:cNvPr id="10" name="CaixaDeTexto 17">
            <a:extLst>
              <a:ext uri="{FF2B5EF4-FFF2-40B4-BE49-F238E27FC236}">
                <a16:creationId xmlns:a16="http://schemas.microsoft.com/office/drawing/2014/main" id="{1EFBF0C7-95EF-4D01-1A7F-A93EDD3AD876}"/>
              </a:ext>
            </a:extLst>
          </p:cNvPr>
          <p:cNvSpPr txBox="1"/>
          <p:nvPr/>
        </p:nvSpPr>
        <p:spPr>
          <a:xfrm>
            <a:off x="8597249" y="2380643"/>
            <a:ext cx="25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</a:t>
            </a:r>
          </a:p>
        </p:txBody>
      </p:sp>
      <p:sp>
        <p:nvSpPr>
          <p:cNvPr id="11" name="CaixaDeTexto 18">
            <a:extLst>
              <a:ext uri="{FF2B5EF4-FFF2-40B4-BE49-F238E27FC236}">
                <a16:creationId xmlns:a16="http://schemas.microsoft.com/office/drawing/2014/main" id="{07F6AF22-6F2C-32A0-9249-24AF372083B1}"/>
              </a:ext>
            </a:extLst>
          </p:cNvPr>
          <p:cNvSpPr txBox="1"/>
          <p:nvPr/>
        </p:nvSpPr>
        <p:spPr>
          <a:xfrm>
            <a:off x="8508925" y="3518563"/>
            <a:ext cx="316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II</a:t>
            </a:r>
          </a:p>
        </p:txBody>
      </p:sp>
      <p:sp>
        <p:nvSpPr>
          <p:cNvPr id="13" name="CaixaDeTexto 19">
            <a:extLst>
              <a:ext uri="{FF2B5EF4-FFF2-40B4-BE49-F238E27FC236}">
                <a16:creationId xmlns:a16="http://schemas.microsoft.com/office/drawing/2014/main" id="{8BCA99A6-A40B-884B-5A20-29489BE00C96}"/>
              </a:ext>
            </a:extLst>
          </p:cNvPr>
          <p:cNvSpPr txBox="1"/>
          <p:nvPr/>
        </p:nvSpPr>
        <p:spPr>
          <a:xfrm>
            <a:off x="8476063" y="5640979"/>
            <a:ext cx="38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III</a:t>
            </a:r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D3376018-23E1-2FE5-AC64-50E2F311B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202" y="3608512"/>
            <a:ext cx="4140591" cy="2964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485E43F5-B1DF-2C2B-4AFE-A3D4162B5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342" y="2749975"/>
            <a:ext cx="846310" cy="6082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CaixaDeTexto 7">
            <a:extLst>
              <a:ext uri="{FF2B5EF4-FFF2-40B4-BE49-F238E27FC236}">
                <a16:creationId xmlns:a16="http://schemas.microsoft.com/office/drawing/2014/main" id="{52D46B6F-08CC-672E-1A75-969D6122F747}"/>
              </a:ext>
            </a:extLst>
          </p:cNvPr>
          <p:cNvSpPr txBox="1"/>
          <p:nvPr/>
        </p:nvSpPr>
        <p:spPr>
          <a:xfrm>
            <a:off x="9292427" y="3127914"/>
            <a:ext cx="40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...</a:t>
            </a:r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3C8BE79E-38BF-9DD1-F2EF-4316FBB029ED}"/>
              </a:ext>
            </a:extLst>
          </p:cNvPr>
          <p:cNvSpPr/>
          <p:nvPr/>
        </p:nvSpPr>
        <p:spPr>
          <a:xfrm>
            <a:off x="6694714" y="4844143"/>
            <a:ext cx="1219200" cy="4403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3066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2F81F-8FBC-4706-7127-DF98567D3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E7E2B2E-85AA-E3B2-4240-168F2A309B6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C2D2BA-3AD0-6348-E216-2E0BD104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3341464-F97B-C82B-B884-BDA7B98935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87B887A-8612-DC9B-1B11-6F8828953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137" y="1573703"/>
            <a:ext cx="7689726" cy="4015394"/>
          </a:xfrm>
        </p:spPr>
        <p:txBody>
          <a:bodyPr>
            <a:normAutofit/>
          </a:bodyPr>
          <a:lstStyle/>
          <a:p>
            <a:r>
              <a:rPr lang="pt-BR" sz="2400" dirty="0"/>
              <a:t>Histograma descreve a distribuição das intensidades, mas não descreve a posição espacial dos pixels.</a:t>
            </a:r>
            <a:endParaRPr lang="pt-BR" sz="2400" i="1" dirty="0"/>
          </a:p>
          <a:p>
            <a:endParaRPr lang="pt-BR" sz="2000" i="1" dirty="0"/>
          </a:p>
          <a:p>
            <a:r>
              <a:rPr lang="pt-BR" sz="2400" dirty="0"/>
              <a:t>Duas imagens completamente diferentes podem possuir exatamente o mesmo histograma.</a:t>
            </a:r>
          </a:p>
          <a:p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5525D8A-5111-653A-00AF-32F8FC4B18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41" t="59048" r="10511" b="3175"/>
          <a:stretch>
            <a:fillRect/>
          </a:stretch>
        </p:blipFill>
        <p:spPr>
          <a:xfrm>
            <a:off x="2251138" y="3842918"/>
            <a:ext cx="7689725" cy="301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960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DFF4E-939F-C74B-A5DF-34021DE7D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DB94F04-8A10-6F54-E6AD-E239B3D3AA8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3388A5-82AE-6DC2-43C0-270E3CE1F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Leitura de um 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FCB4DEB-EEC4-7338-44A8-7DB9F09775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207169C-1EA9-5216-863E-B4F127B61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1412" y="1727999"/>
            <a:ext cx="5289176" cy="4015394"/>
          </a:xfrm>
        </p:spPr>
        <p:txBody>
          <a:bodyPr>
            <a:normAutofit/>
          </a:bodyPr>
          <a:lstStyle/>
          <a:p>
            <a:r>
              <a:rPr lang="pt-BR" sz="2400" b="1" dirty="0"/>
              <a:t>Eixo X: 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Representa a dispersão da amostra.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Permite analisar a assimetria da curva (</a:t>
            </a:r>
            <a:r>
              <a:rPr lang="pt-BR" sz="2200" dirty="0" err="1"/>
              <a:t>skewness</a:t>
            </a:r>
            <a:r>
              <a:rPr lang="pt-BR" sz="2200" dirty="0"/>
              <a:t>).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8A9EC0E-8DD6-8C2E-B4DA-BB31AA0A6A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092" t="943" r="38856" b="53798"/>
          <a:stretch>
            <a:fillRect/>
          </a:stretch>
        </p:blipFill>
        <p:spPr>
          <a:xfrm>
            <a:off x="2473140" y="4060038"/>
            <a:ext cx="2355028" cy="260091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5DAAFA4-3C89-3EB0-281D-493AF62E4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34" t="1128" r="65814" b="53613"/>
          <a:stretch>
            <a:fillRect/>
          </a:stretch>
        </p:blipFill>
        <p:spPr>
          <a:xfrm>
            <a:off x="4954505" y="4060039"/>
            <a:ext cx="2355028" cy="260091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295FC9A-E59E-8EF8-3730-5C6F177728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476" t="53503" r="12472" b="1238"/>
          <a:stretch>
            <a:fillRect/>
          </a:stretch>
        </p:blipFill>
        <p:spPr>
          <a:xfrm>
            <a:off x="7433806" y="4060038"/>
            <a:ext cx="2355028" cy="260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13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EE63D-0371-D7FF-7C79-DBDFE90B1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350996D-F4F1-24E9-7A2E-0A54718900F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DE398D-47D1-0955-0B9C-84BC83740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Leitura de um 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A2634C3-DCEC-AC61-68CF-1C0153603E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1F5B0EA-1075-C401-7569-D97B0B057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1412" y="1671909"/>
            <a:ext cx="5289176" cy="4015394"/>
          </a:xfrm>
        </p:spPr>
        <p:txBody>
          <a:bodyPr>
            <a:normAutofit/>
          </a:bodyPr>
          <a:lstStyle/>
          <a:p>
            <a:r>
              <a:rPr lang="pt-BR" sz="2400" b="1" dirty="0"/>
              <a:t>Eixo Y: 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Representa a proeminência das intensidades.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Permite analisar os picos da curva.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62BF4DB-6353-9E09-9926-6FA1AA3EFF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589" t="1238" r="12359" b="53503"/>
          <a:stretch>
            <a:fillRect/>
          </a:stretch>
        </p:blipFill>
        <p:spPr>
          <a:xfrm>
            <a:off x="2426298" y="4108722"/>
            <a:ext cx="2355028" cy="260091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6BE1B67-8084-AB69-558A-058054C42E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84" t="53653" r="65864" b="1088"/>
          <a:stretch>
            <a:fillRect/>
          </a:stretch>
        </p:blipFill>
        <p:spPr>
          <a:xfrm>
            <a:off x="4918486" y="4108722"/>
            <a:ext cx="2355028" cy="260091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B74C713-BD96-F599-1D28-331E114F82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007" t="53526" r="38941" b="1215"/>
          <a:stretch>
            <a:fillRect/>
          </a:stretch>
        </p:blipFill>
        <p:spPr>
          <a:xfrm>
            <a:off x="7410674" y="4108722"/>
            <a:ext cx="2355028" cy="260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8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9A3DD-6D7F-7494-8D54-3D95A0FAE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1109C7E-A2B7-5CEF-67B0-E1FA2485D56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73FA2F-DBA5-55F6-E526-AE82FEE8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Interpretação do 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C58F0DD-814C-593D-15AB-4FA9E1D7DE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89864CD-DC75-10C7-C710-74DC546C8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948" y="1671672"/>
            <a:ext cx="9644102" cy="4015394"/>
          </a:xfrm>
        </p:spPr>
        <p:txBody>
          <a:bodyPr>
            <a:normAutofit/>
          </a:bodyPr>
          <a:lstStyle/>
          <a:p>
            <a:r>
              <a:rPr lang="pt-BR" sz="2400" dirty="0"/>
              <a:t>A interpretação se baseia na analise de onde os pixels estão concentrados.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Imagem Escura: </a:t>
            </a:r>
            <a:r>
              <a:rPr lang="pt-BR" sz="2200" dirty="0"/>
              <a:t>Quando a maior parte dos pixels possui valores baixos.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Imagem Clara: </a:t>
            </a:r>
            <a:r>
              <a:rPr lang="pt-BR" sz="2200" dirty="0"/>
              <a:t>Quando a maior parte dos pixels possui valores altos.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2BECD3D-394F-8A18-213D-B7996AC2ED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49927"/>
          <a:stretch>
            <a:fillRect/>
          </a:stretch>
        </p:blipFill>
        <p:spPr bwMode="auto">
          <a:xfrm>
            <a:off x="476820" y="3794190"/>
            <a:ext cx="5619179" cy="2421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19390A96-5903-DA35-E471-8C2004F56A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" t="49495" r="49870" b="-791"/>
          <a:stretch>
            <a:fillRect/>
          </a:stretch>
        </p:blipFill>
        <p:spPr bwMode="auto">
          <a:xfrm>
            <a:off x="6095999" y="3794189"/>
            <a:ext cx="5731775" cy="2530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3470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F1DB4-21E1-3B12-774B-7B562B91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9399D8E-E7A0-A155-7CB6-DDF37B94DCC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B76993-2AC2-5FB0-FB4A-A9DA42F48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Interpretação do 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1C1318A-86CF-05E3-8ACE-520DA52CDE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3231B38-BAC1-679B-B9F6-10C8DA206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3" y="2671890"/>
            <a:ext cx="5856514" cy="272221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endParaRPr lang="pt-BR" sz="24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pt-BR" sz="2200" b="1" dirty="0"/>
              <a:t>Imagem com Baixo Contraste: </a:t>
            </a:r>
            <a:r>
              <a:rPr lang="pt-BR" sz="2200" dirty="0"/>
              <a:t>As intensidades estão concentradas em uma faixa pequena.</a:t>
            </a:r>
          </a:p>
          <a:p>
            <a:pPr>
              <a:buFont typeface="Courier New" panose="02070309020205020404" pitchFamily="49" charset="0"/>
              <a:buChar char="o"/>
            </a:pPr>
            <a:endParaRPr lang="pt-BR" sz="2200" dirty="0"/>
          </a:p>
          <a:p>
            <a:pPr>
              <a:buFont typeface="Courier New" panose="02070309020205020404" pitchFamily="49" charset="0"/>
              <a:buChar char="o"/>
            </a:pPr>
            <a:r>
              <a:rPr lang="pt-BR" sz="2200" b="1" dirty="0"/>
              <a:t>Imagem com Alto Contraste : </a:t>
            </a:r>
            <a:r>
              <a:rPr lang="pt-BR" sz="2200" dirty="0"/>
              <a:t>As intensidades estão bem distribuídas na faixa de intensidades</a:t>
            </a:r>
          </a:p>
          <a:p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10F4F15-C452-A26D-CFA5-67C8DDDCAD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19" t="28196" r="8595" b="36272"/>
          <a:stretch>
            <a:fillRect/>
          </a:stretch>
        </p:blipFill>
        <p:spPr>
          <a:xfrm>
            <a:off x="6071772" y="4092510"/>
            <a:ext cx="6018773" cy="188736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F5A508D-F39B-0D51-576A-EFEE94D28A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01" t="64467" r="6600"/>
          <a:stretch>
            <a:fillRect/>
          </a:stretch>
        </p:blipFill>
        <p:spPr>
          <a:xfrm>
            <a:off x="5943600" y="2186121"/>
            <a:ext cx="6146945" cy="184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331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CAAF2-FAC9-F742-4DB8-67C5DEEB8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045CCE6-C5B0-B5C9-3E2E-9364CB89836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FAD364-9F9E-4066-5772-CA398E2E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do 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B6B10C8-7CC1-7E00-603F-C04454528A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978ABB9-FDBE-C449-4852-7E635C72D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257" y="1826147"/>
            <a:ext cx="9383486" cy="995582"/>
          </a:xfrm>
        </p:spPr>
        <p:txBody>
          <a:bodyPr>
            <a:normAutofit/>
          </a:bodyPr>
          <a:lstStyle/>
          <a:p>
            <a:r>
              <a:rPr lang="pt-BR" sz="2400" dirty="0"/>
              <a:t>Um histograma pode ser visto como uma </a:t>
            </a:r>
            <a:r>
              <a:rPr lang="pt-BR" sz="2400" b="1" dirty="0"/>
              <a:t>função de distribuição de frequência </a:t>
            </a:r>
            <a:r>
              <a:rPr lang="pt-BR" sz="2400" dirty="0"/>
              <a:t>ou como uma </a:t>
            </a:r>
            <a:r>
              <a:rPr lang="pt-BR" sz="2400" b="1" dirty="0"/>
              <a:t>função de distribuição de probabilidade</a:t>
            </a:r>
          </a:p>
          <a:p>
            <a:pPr>
              <a:buFont typeface="Courier New" panose="02070309020205020404" pitchFamily="49" charset="0"/>
              <a:buChar char="o"/>
            </a:pPr>
            <a:endParaRPr lang="pt-BR" sz="2200" dirty="0"/>
          </a:p>
          <a:p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AD67723-3F45-D13D-645D-7F1989F43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638" y="3198071"/>
            <a:ext cx="1677924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Espaço Reservado para Conteúdo 5">
                <a:extLst>
                  <a:ext uri="{FF2B5EF4-FFF2-40B4-BE49-F238E27FC236}">
                    <a16:creationId xmlns:a16="http://schemas.microsoft.com/office/drawing/2014/main" id="{6D1D15D6-4EAC-3462-40DE-3A3B98F18D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1857" y="4643542"/>
                <a:ext cx="9383486" cy="19532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2400" dirty="0"/>
                  <a:t>De maneira geral dizemos 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i="1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pt-BR" sz="2400" i="1" baseline="-25000" dirty="0">
                        <a:latin typeface="Cambria Math" panose="02040503050406030204" pitchFamily="18" charset="0"/>
                      </a:rPr>
                      <m:t>r</m:t>
                    </m:r>
                    <m:r>
                      <a:rPr lang="pt-BR" sz="2400" i="1" baseline="-25000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pt-BR" sz="2400" i="1" dirty="0" err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sz="2400" i="1" baseline="-25000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400" dirty="0"/>
                  <a:t>dá uma estimativa da probabilidade de ocorrência do nível de cinza na imagem.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000" i="1" dirty="0">
                    <a:latin typeface="Cambria Math" panose="02040503050406030204" pitchFamily="18" charset="0"/>
                  </a:rPr>
                  <a:t> </a:t>
                </a:r>
                <a:r>
                  <a:rPr lang="pt-BR" sz="2000" dirty="0">
                    <a:sym typeface="Wingdings" panose="05000000000000000000" pitchFamily="2" charset="2"/>
                  </a:rPr>
                  <a:t> </a:t>
                </a:r>
                <a:r>
                  <a:rPr lang="pt-BR" sz="2000" dirty="0"/>
                  <a:t>número de pixels naquela intensidade;</a:t>
                </a:r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000" dirty="0"/>
                  <a:t> </a:t>
                </a:r>
                <a:r>
                  <a:rPr lang="pt-BR" sz="2000" dirty="0">
                    <a:sym typeface="Wingdings" panose="05000000000000000000" pitchFamily="2" charset="2"/>
                  </a:rPr>
                  <a:t> total de pixels na imagem.</a:t>
                </a:r>
                <a:endParaRPr lang="pt-BR" sz="2000" dirty="0"/>
              </a:p>
              <a:p>
                <a:endParaRPr lang="pt-BR" sz="2400" i="1" dirty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pt-BR" sz="2400" i="1" dirty="0"/>
              </a:p>
            </p:txBody>
          </p:sp>
        </mc:Choice>
        <mc:Fallback>
          <p:sp>
            <p:nvSpPr>
              <p:cNvPr id="9" name="Espaço Reservado para Conteúdo 5">
                <a:extLst>
                  <a:ext uri="{FF2B5EF4-FFF2-40B4-BE49-F238E27FC236}">
                    <a16:creationId xmlns:a16="http://schemas.microsoft.com/office/drawing/2014/main" id="{6D1D15D6-4EAC-3462-40DE-3A3B98F18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857" y="4643542"/>
                <a:ext cx="9383486" cy="1953201"/>
              </a:xfrm>
              <a:prstGeom prst="rect">
                <a:avLst/>
              </a:prstGeom>
              <a:blipFill>
                <a:blip r:embed="rId4"/>
                <a:stretch>
                  <a:fillRect l="-844" t="-43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345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EF112-CABB-3AB9-1DE8-4E6D8CFC1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1D3047D-3319-1EF9-33A6-3ECE783E0EE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69209D-1081-C5F2-AC09-CC00A3F39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do 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41037DA-8DED-4294-CFC2-53FFA4C906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3D73A29-1752-4C73-7DF0-D2C0C4102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857" y="1856632"/>
            <a:ext cx="9688286" cy="995582"/>
          </a:xfrm>
        </p:spPr>
        <p:txBody>
          <a:bodyPr>
            <a:normAutofit/>
          </a:bodyPr>
          <a:lstStyle/>
          <a:p>
            <a:r>
              <a:rPr lang="pt-BR" sz="2400" b="1" dirty="0"/>
              <a:t>Exemplo: </a:t>
            </a:r>
            <a:r>
              <a:rPr lang="pt-BR" sz="2400" dirty="0"/>
              <a:t>Seja uma imagem de 128x128 pixels cujas quantidades de pixels em cada nível de cinza são dadas na tabela ao lado para 8 níveis de cinza.</a:t>
            </a:r>
          </a:p>
          <a:p>
            <a:endParaRPr lang="pt-BR" sz="2400" b="1" dirty="0"/>
          </a:p>
          <a:p>
            <a:pPr>
              <a:buFont typeface="Courier New" panose="02070309020205020404" pitchFamily="49" charset="0"/>
              <a:buChar char="o"/>
            </a:pPr>
            <a:endParaRPr lang="pt-BR" sz="2200" dirty="0"/>
          </a:p>
          <a:p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Espaço Reservado para Conteúdo 5">
                <a:extLst>
                  <a:ext uri="{FF2B5EF4-FFF2-40B4-BE49-F238E27FC236}">
                    <a16:creationId xmlns:a16="http://schemas.microsoft.com/office/drawing/2014/main" id="{F17F3089-4715-A4AE-C1E0-B95D083823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92648" y="3429000"/>
                <a:ext cx="5029389" cy="156754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= 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128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128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= 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16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384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𝑝𝑖𝑥𝑒𝑙𝑠</m:t>
                    </m:r>
                  </m:oMath>
                </a14:m>
                <a:endParaRPr lang="pt-BR" sz="22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200" i="1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pt-BR" sz="2200" i="1" baseline="-25000" dirty="0">
                        <a:latin typeface="Cambria Math" panose="02040503050406030204" pitchFamily="18" charset="0"/>
                      </a:rPr>
                      <m:t>r</m:t>
                    </m:r>
                    <m:r>
                      <a:rPr lang="pt-BR" sz="2200" i="1" baseline="-25000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1120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16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384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068</m:t>
                    </m:r>
                  </m:oMath>
                </a14:m>
                <a:endParaRPr lang="pt-BR" sz="22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200" i="1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pt-BR" sz="2200" i="1" baseline="-25000" dirty="0">
                        <a:latin typeface="Cambria Math" panose="02040503050406030204" pitchFamily="18" charset="0"/>
                      </a:rPr>
                      <m:t>r</m:t>
                    </m:r>
                    <m:r>
                      <a:rPr lang="pt-BR" sz="2200" i="1" baseline="-25000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7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3214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16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384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196</m:t>
                    </m:r>
                  </m:oMath>
                </a14:m>
                <a:endParaRPr lang="pt-BR" sz="2200" dirty="0"/>
              </a:p>
              <a:p>
                <a:pPr marL="0" indent="0">
                  <a:buNone/>
                </a:pPr>
                <a:endParaRPr lang="pt-BR" sz="2400" dirty="0"/>
              </a:p>
              <a:p>
                <a:endParaRPr lang="pt-BR" sz="2400" i="1" dirty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pt-BR" sz="2400" i="1" dirty="0"/>
              </a:p>
            </p:txBody>
          </p:sp>
        </mc:Choice>
        <mc:Fallback>
          <p:sp>
            <p:nvSpPr>
              <p:cNvPr id="9" name="Espaço Reservado para Conteúdo 5">
                <a:extLst>
                  <a:ext uri="{FF2B5EF4-FFF2-40B4-BE49-F238E27FC236}">
                    <a16:creationId xmlns:a16="http://schemas.microsoft.com/office/drawing/2014/main" id="{F17F3089-4715-A4AE-C1E0-B95D08382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648" y="3429000"/>
                <a:ext cx="5029389" cy="1567543"/>
              </a:xfrm>
              <a:prstGeom prst="rect">
                <a:avLst/>
              </a:prstGeom>
              <a:blipFill>
                <a:blip r:embed="rId3"/>
                <a:stretch>
                  <a:fillRect l="-1333" t="-38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table">
            <a:extLst>
              <a:ext uri="{FF2B5EF4-FFF2-40B4-BE49-F238E27FC236}">
                <a16:creationId xmlns:a16="http://schemas.microsoft.com/office/drawing/2014/main" id="{8F1B75FB-5F86-0850-85C9-20B3101BD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9703" y="2895598"/>
            <a:ext cx="3960440" cy="3962402"/>
          </a:xfrm>
          <a:prstGeom prst="rect">
            <a:avLst/>
          </a:prstGeom>
        </p:spPr>
      </p:pic>
      <p:sp>
        <p:nvSpPr>
          <p:cNvPr id="4" name="Espaço Reservado para Conteúdo 5">
            <a:extLst>
              <a:ext uri="{FF2B5EF4-FFF2-40B4-BE49-F238E27FC236}">
                <a16:creationId xmlns:a16="http://schemas.microsoft.com/office/drawing/2014/main" id="{819CF419-C9D9-0AE8-5986-6E0074C53290}"/>
              </a:ext>
            </a:extLst>
          </p:cNvPr>
          <p:cNvSpPr txBox="1">
            <a:spLocks/>
          </p:cNvSpPr>
          <p:nvPr/>
        </p:nvSpPr>
        <p:spPr>
          <a:xfrm>
            <a:off x="1251857" y="5666632"/>
            <a:ext cx="5399013" cy="853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200" b="1" dirty="0" err="1"/>
              <a:t>Obs</a:t>
            </a:r>
            <a:r>
              <a:rPr lang="pt-BR" sz="2200" b="1" dirty="0"/>
              <a:t>: </a:t>
            </a:r>
            <a:r>
              <a:rPr lang="pt-BR" sz="2200" dirty="0"/>
              <a:t>A soma das probabilidades é igual a 1.</a:t>
            </a:r>
          </a:p>
          <a:p>
            <a:endParaRPr lang="pt-BR" sz="2400" b="1" dirty="0"/>
          </a:p>
          <a:p>
            <a:pPr>
              <a:buFont typeface="Courier New" panose="02070309020205020404" pitchFamily="49" charset="0"/>
              <a:buChar char="o"/>
            </a:pPr>
            <a:endParaRPr lang="pt-BR" sz="2200" dirty="0"/>
          </a:p>
          <a:p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</p:spTree>
    <p:extLst>
      <p:ext uri="{BB962C8B-B14F-4D97-AF65-F5344CB8AC3E}">
        <p14:creationId xmlns:p14="http://schemas.microsoft.com/office/powerpoint/2010/main" val="2250895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CF636-7CDD-4C1A-1B31-9CF580B3E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275EAC2-E08B-1B6C-5E8D-82E84AE30D0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321B12-3DD1-CAC9-AFC5-D1CB52BB2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Equalização da imagem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1F02785-7958-0888-088B-2C0C1A004C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3415234-6F10-84B6-08EF-801AC6649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743" y="1811919"/>
            <a:ext cx="8447314" cy="2722215"/>
          </a:xfrm>
        </p:spPr>
        <p:txBody>
          <a:bodyPr>
            <a:normAutofit/>
          </a:bodyPr>
          <a:lstStyle/>
          <a:p>
            <a:r>
              <a:rPr lang="pt-BR" sz="2400" dirty="0"/>
              <a:t>Introduz o conceito de </a:t>
            </a:r>
            <a:r>
              <a:rPr lang="pt-BR" sz="2400" b="1" dirty="0"/>
              <a:t>transformação das intensidades</a:t>
            </a:r>
            <a:r>
              <a:rPr lang="pt-BR" sz="2400" dirty="0"/>
              <a:t>.</a:t>
            </a:r>
            <a:endParaRPr lang="pt-BR" sz="2200" dirty="0"/>
          </a:p>
          <a:p>
            <a:r>
              <a:rPr lang="pt-BR" sz="2400" dirty="0"/>
              <a:t>A equalização de histograma procura redistribuir as intensidades de uma imagem para aumentar a utilização da faixa dinâmica.</a:t>
            </a:r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B0FA141-EB98-66D8-DA40-DDBC6947B3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19" t="54082" r="7782" b="7143"/>
          <a:stretch>
            <a:fillRect/>
          </a:stretch>
        </p:blipFill>
        <p:spPr>
          <a:xfrm>
            <a:off x="1558643" y="3702926"/>
            <a:ext cx="8769914" cy="29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21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8BC13-586A-118C-5EB2-1F8BFDE65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1A2878C-8C37-AE76-D85C-C841E418FA9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FA227C-B018-918B-5EC5-5D5D45A43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Equalização da imagem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33A237F-A5A2-0BB1-74C9-866ED7507F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C56A055-9583-4715-86DE-A1343D441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2116756"/>
            <a:ext cx="5627915" cy="3815958"/>
          </a:xfrm>
        </p:spPr>
        <p:txBody>
          <a:bodyPr>
            <a:normAutofit/>
          </a:bodyPr>
          <a:lstStyle/>
          <a:p>
            <a:r>
              <a:rPr lang="pt-BR" sz="2400" b="1" dirty="0"/>
              <a:t>Observação</a:t>
            </a:r>
            <a:r>
              <a:rPr lang="pt-BR" sz="2400" dirty="0"/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objetivo matemático é produzir uma distribuição mais próxima de uniforme.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resultado depende da imagem e da discretização dos níveis.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i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Nem sempre a uniformidade perfeita.</a:t>
            </a:r>
            <a:endParaRPr lang="pt-BR" sz="2400" dirty="0"/>
          </a:p>
        </p:txBody>
      </p:sp>
      <p:pic>
        <p:nvPicPr>
          <p:cNvPr id="8194" name="Picture 2" descr="A Comparative Study of Histogram Equalization Based Image Enhancement  Techniques for Brightness Preservation and Contrast Enhancement">
            <a:extLst>
              <a:ext uri="{FF2B5EF4-FFF2-40B4-BE49-F238E27FC236}">
                <a16:creationId xmlns:a16="http://schemas.microsoft.com/office/drawing/2014/main" id="{FD71491D-74F1-4CD6-F28C-2CADF52175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71"/>
          <a:stretch>
            <a:fillRect/>
          </a:stretch>
        </p:blipFill>
        <p:spPr bwMode="auto">
          <a:xfrm>
            <a:off x="5943600" y="2116757"/>
            <a:ext cx="6195371" cy="4055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250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C7368-C941-3990-603A-CD6DB1317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0C9A2E2-CCBE-36F8-2A58-3AE9C16D625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FDC4EA-C857-5E96-CC05-B0074988B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da Equalização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3449076-48CA-37F2-F033-C966F74097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1010732D-B95E-D343-BF50-DADC42F02C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4885" y="1586335"/>
                <a:ext cx="6238686" cy="5064835"/>
              </a:xfrm>
            </p:spPr>
            <p:txBody>
              <a:bodyPr>
                <a:normAutofit/>
              </a:bodyPr>
              <a:lstStyle/>
              <a:p>
                <a:r>
                  <a:rPr lang="pt-BR" sz="2400" b="1" dirty="0"/>
                  <a:t>Supondo a imagem:</a:t>
                </a:r>
              </a:p>
              <a:p>
                <a:pPr marL="0" indent="0">
                  <a:buNone/>
                </a:pPr>
                <a:endParaRPr lang="pt-BR" sz="24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400" b="0" dirty="0"/>
              </a:p>
              <a:p>
                <a:endParaRPr lang="pt-BR" sz="2400" dirty="0"/>
              </a:p>
              <a:p>
                <a:r>
                  <a:rPr lang="pt-BR" sz="2400" dirty="0"/>
                  <a:t>Supondo também que a imagem tenha uma profundidade de 2 bits (4 níveis de cinza).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O primeiro passo é contabilizar quantos pixels existem para cada intensidade.</a:t>
                </a:r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1010732D-B95E-D343-BF50-DADC42F02C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4885" y="1586335"/>
                <a:ext cx="6238686" cy="5064835"/>
              </a:xfrm>
              <a:blipFill>
                <a:blip r:embed="rId3"/>
                <a:stretch>
                  <a:fillRect l="-1369" t="-16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3A7ADE1-D890-6160-5AEF-65254A2EC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019145"/>
              </p:ext>
            </p:extLst>
          </p:nvPr>
        </p:nvGraphicFramePr>
        <p:xfrm>
          <a:off x="8036643" y="4639455"/>
          <a:ext cx="3269344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34672">
                  <a:extLst>
                    <a:ext uri="{9D8B030D-6E8A-4147-A177-3AD203B41FA5}">
                      <a16:colId xmlns:a16="http://schemas.microsoft.com/office/drawing/2014/main" val="1403321573"/>
                    </a:ext>
                  </a:extLst>
                </a:gridCol>
                <a:gridCol w="1634672">
                  <a:extLst>
                    <a:ext uri="{9D8B030D-6E8A-4147-A177-3AD203B41FA5}">
                      <a16:colId xmlns:a16="http://schemas.microsoft.com/office/drawing/2014/main" val="3809217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Intensidade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Pixels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994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600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87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5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307283"/>
                  </a:ext>
                </a:extLst>
              </a:tr>
            </a:tbl>
          </a:graphicData>
        </a:graphic>
      </p:graphicFrame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3740968A-DD03-2691-E3DF-05D806EE08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1915084"/>
              </p:ext>
            </p:extLst>
          </p:nvPr>
        </p:nvGraphicFramePr>
        <p:xfrm>
          <a:off x="7715515" y="2218545"/>
          <a:ext cx="3911600" cy="2062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57589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A84AD-1323-323D-DCA7-4734FE72F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13F5008-3970-30C7-A582-04C1164F71D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3B4FAD-D302-BC96-E157-8857F5078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da Equalização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097A2A5-89D7-DDE9-CC0D-24D3554BE0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F368076C-4EDA-02D0-0618-ECBD5FA402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9535" y="1586336"/>
                <a:ext cx="7647215" cy="5064835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A segunda etapa  transformar o histograma em probabilidade.</a:t>
                </a:r>
              </a:p>
              <a:p>
                <a:endParaRPr lang="pt-BR" sz="2400" dirty="0"/>
              </a:p>
              <a:p>
                <a:r>
                  <a:rPr lang="pt-BR" sz="2400" i="1" dirty="0"/>
                  <a:t>“Qual é a probabilidade de encontrar um pixel com determinada intensidade?”</a:t>
                </a:r>
              </a:p>
              <a:p>
                <a:endParaRPr lang="pt-BR" sz="2400" i="1" dirty="0"/>
              </a:p>
              <a:p>
                <a:r>
                  <a:rPr lang="pt-BR" sz="2400" dirty="0"/>
                  <a:t>Para isso, temos: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𝑀𝑁</m:t>
                    </m:r>
                  </m:oMath>
                </a14:m>
                <a:endParaRPr lang="pt-BR" sz="24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pt-BR" sz="2000" dirty="0"/>
                  <a:t> </a:t>
                </a:r>
                <a:r>
                  <a:rPr lang="pt-BR" sz="2000" dirty="0">
                    <a:sym typeface="Wingdings" panose="05000000000000000000" pitchFamily="2" charset="2"/>
                  </a:rPr>
                  <a:t> </a:t>
                </a:r>
                <a:r>
                  <a:rPr lang="pt-BR" sz="2000" dirty="0"/>
                  <a:t>probabilidade dos níveis;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000" dirty="0"/>
                  <a:t> </a:t>
                </a:r>
                <a:r>
                  <a:rPr lang="pt-BR" sz="2000" dirty="0">
                    <a:sym typeface="Wingdings" panose="05000000000000000000" pitchFamily="2" charset="2"/>
                  </a:rPr>
                  <a:t></a:t>
                </a:r>
                <a:r>
                  <a:rPr lang="pt-BR" sz="2000" dirty="0"/>
                  <a:t>número de níveis de cinza da imagem;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000" i="1" dirty="0">
                    <a:latin typeface="Cambria Math" panose="02040503050406030204" pitchFamily="18" charset="0"/>
                  </a:rPr>
                  <a:t> </a:t>
                </a:r>
                <a:r>
                  <a:rPr lang="pt-BR" sz="2000" dirty="0">
                    <a:sym typeface="Wingdings" panose="05000000000000000000" pitchFamily="2" charset="2"/>
                  </a:rPr>
                  <a:t> </a:t>
                </a:r>
                <a:r>
                  <a:rPr lang="pt-BR" sz="2000" dirty="0"/>
                  <a:t>número de pixels naquela intensidade;</a:t>
                </a:r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sz="2000" dirty="0"/>
                  <a:t> </a:t>
                </a:r>
                <a:r>
                  <a:rPr lang="pt-BR" sz="2000" dirty="0">
                    <a:sym typeface="Wingdings" panose="05000000000000000000" pitchFamily="2" charset="2"/>
                  </a:rPr>
                  <a:t> Pixels na altura;</a:t>
                </a:r>
                <a:endParaRPr lang="pt-BR" sz="20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sz="2000" dirty="0"/>
                  <a:t> </a:t>
                </a:r>
                <a:r>
                  <a:rPr lang="pt-BR" sz="2000" dirty="0">
                    <a:sym typeface="Wingdings" panose="05000000000000000000" pitchFamily="2" charset="2"/>
                  </a:rPr>
                  <a:t> Pixels na largura.</a:t>
                </a:r>
                <a:endParaRPr lang="pt-BR" sz="2000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F368076C-4EDA-02D0-0618-ECBD5FA402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535" y="1586336"/>
                <a:ext cx="7647215" cy="5064835"/>
              </a:xfrm>
              <a:blipFill>
                <a:blip r:embed="rId3"/>
                <a:stretch>
                  <a:fillRect l="-1116" t="-16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5960790F-A580-AD3B-0563-258EC2308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336695"/>
              </p:ext>
            </p:extLst>
          </p:nvPr>
        </p:nvGraphicFramePr>
        <p:xfrm>
          <a:off x="7173686" y="3937743"/>
          <a:ext cx="4669971" cy="235708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6657">
                  <a:extLst>
                    <a:ext uri="{9D8B030D-6E8A-4147-A177-3AD203B41FA5}">
                      <a16:colId xmlns:a16="http://schemas.microsoft.com/office/drawing/2014/main" val="1403321573"/>
                    </a:ext>
                  </a:extLst>
                </a:gridCol>
                <a:gridCol w="1556657">
                  <a:extLst>
                    <a:ext uri="{9D8B030D-6E8A-4147-A177-3AD203B41FA5}">
                      <a16:colId xmlns:a16="http://schemas.microsoft.com/office/drawing/2014/main" val="3809217697"/>
                    </a:ext>
                  </a:extLst>
                </a:gridCol>
                <a:gridCol w="1556657">
                  <a:extLst>
                    <a:ext uri="{9D8B030D-6E8A-4147-A177-3AD203B41FA5}">
                      <a16:colId xmlns:a16="http://schemas.microsoft.com/office/drawing/2014/main" val="411231777"/>
                    </a:ext>
                  </a:extLst>
                </a:gridCol>
              </a:tblGrid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Intensidade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Pixels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Probabilidade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994245"/>
                  </a:ext>
                </a:extLst>
              </a:tr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600816"/>
                  </a:ext>
                </a:extLst>
              </a:tr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0,375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874734"/>
                  </a:ext>
                </a:extLst>
              </a:tr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0,625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5084"/>
                  </a:ext>
                </a:extLst>
              </a:tr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307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994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2749B-A49E-6099-D408-D8FAD568F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FBF2556-295D-EF80-3D91-FB855A6951D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F23F5A-F19D-DC9A-AFDA-281CA8BD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da Equalização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A515FA9-E36D-B220-E661-03399AE93F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38345666-65F7-ED86-AE01-9C51947BA0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8340" y="1597222"/>
                <a:ext cx="7709808" cy="5064835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A terceira etapa é calcular a Função de Distribuição Acumulada (CDF).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Em vez de olhar para a probabilidade de cada intensidade individualmente, a ideia é acumular as probabilidades.</a:t>
                </a:r>
              </a:p>
              <a:p>
                <a:endParaRPr lang="pt-BR" sz="2400" i="1" dirty="0"/>
              </a:p>
              <a:p>
                <a:r>
                  <a:rPr lang="pt-BR" sz="2400" dirty="0"/>
                  <a:t>Para isso, temos:</a:t>
                </a:r>
              </a:p>
              <a:p>
                <a:endParaRPr lang="pt-BR" sz="24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(0) = 0</m:t>
                    </m:r>
                  </m:oMath>
                </a14:m>
                <a:endParaRPr lang="pt-BR" sz="20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(1) = 0 + 0,375 = 0,375</m:t>
                    </m:r>
                  </m:oMath>
                </a14:m>
                <a:endParaRPr lang="pt-BR" sz="20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(2) = 0 + 0,3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75 + 0,625 = 1</m:t>
                    </m:r>
                  </m:oMath>
                </a14:m>
                <a:endParaRPr lang="pt-BR" sz="20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(3) = 0 + 0,375 +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0,625 + 0 = 1</m:t>
                    </m:r>
                  </m:oMath>
                </a14:m>
                <a:endParaRPr lang="pt-BR" sz="2000" dirty="0"/>
              </a:p>
              <a:p>
                <a:pPr lvl="1"/>
                <a:endParaRPr lang="pt-BR" sz="2000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38345666-65F7-ED86-AE01-9C51947BA0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8340" y="1597222"/>
                <a:ext cx="7709808" cy="5064835"/>
              </a:xfrm>
              <a:blipFill>
                <a:blip r:embed="rId3"/>
                <a:stretch>
                  <a:fillRect l="-1028" t="-16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3EC5BB3E-3A4F-6EB3-D304-0B90372A9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299306"/>
              </p:ext>
            </p:extLst>
          </p:nvPr>
        </p:nvGraphicFramePr>
        <p:xfrm>
          <a:off x="6433460" y="3943186"/>
          <a:ext cx="5410200" cy="235708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1403321573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80921769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41123177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213822588"/>
                    </a:ext>
                  </a:extLst>
                </a:gridCol>
              </a:tblGrid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Intensidade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Pixels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Probabilidade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CDF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994245"/>
                  </a:ext>
                </a:extLst>
              </a:tr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600816"/>
                  </a:ext>
                </a:extLst>
              </a:tr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0,375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874734"/>
                  </a:ext>
                </a:extLst>
              </a:tr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0,625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5084"/>
                  </a:ext>
                </a:extLst>
              </a:tr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307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096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474FB-0A1E-A91C-3AD6-6B2E2664A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4A7D017-B10F-C2C1-9C09-F2C66FBEA8E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D51D84-2573-79E8-C27B-B304C090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da Equalização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FD91173-2E1B-0592-1D0C-0755BCC2C6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92ADF9AE-D3F2-50E8-E541-FED116F186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4513" y="1545772"/>
                <a:ext cx="9622974" cy="5116286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A Função de Distribuição Acumulada (CDF) nos diz: </a:t>
                </a:r>
                <a:r>
                  <a:rPr lang="pt-BR" sz="2400" i="1" dirty="0"/>
                  <a:t>"Até determinada intensidade, qual porcentagem dos pixels da imagem já foi acumulada?“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Após o cálculo da CDF, é necessário transformar os valores obtidos em níveis de intensidade, por meio da equação:</a:t>
                </a:r>
              </a:p>
              <a:p>
                <a:pPr marL="0" indent="0">
                  <a:buNone/>
                </a:pP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​=(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−1)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𝐶𝐷𝐹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​)</m:t>
                      </m:r>
                    </m:oMath>
                  </m:oMathPara>
                </a14:m>
                <a:endParaRPr lang="pt-BR" sz="2400" dirty="0"/>
              </a:p>
              <a:p>
                <a:pPr marL="0" indent="0" algn="ctr">
                  <a:buNone/>
                </a:pPr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000" dirty="0">
                    <a:sym typeface="Wingdings" panose="05000000000000000000" pitchFamily="2" charset="2"/>
                  </a:rPr>
                  <a:t></a:t>
                </a:r>
                <a:r>
                  <a:rPr lang="pt-BR" sz="2000" dirty="0"/>
                  <a:t>​ = nova intensidade;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pt-BR" sz="2000" dirty="0"/>
                  <a:t> </a:t>
                </a:r>
                <a:r>
                  <a:rPr lang="pt-BR" sz="2000" dirty="0">
                    <a:sym typeface="Wingdings" panose="05000000000000000000" pitchFamily="2" charset="2"/>
                  </a:rPr>
                  <a:t></a:t>
                </a:r>
                <a:r>
                  <a:rPr lang="pt-BR" sz="2000" dirty="0"/>
                  <a:t> quantidade de níveis possíveis;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sz="2000" i="1" dirty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000" i="1" dirty="0">
                        <a:latin typeface="Cambria Math" panose="02040503050406030204" pitchFamily="18" charset="0"/>
                      </a:rPr>
                      <m:t>​)</m:t>
                    </m:r>
                  </m:oMath>
                </a14:m>
                <a:r>
                  <a:rPr lang="pt-BR" sz="2000" dirty="0"/>
                  <a:t> </a:t>
                </a:r>
                <a:r>
                  <a:rPr lang="pt-BR" sz="2000" dirty="0">
                    <a:sym typeface="Wingdings" panose="05000000000000000000" pitchFamily="2" charset="2"/>
                  </a:rPr>
                  <a:t></a:t>
                </a:r>
                <a:r>
                  <a:rPr lang="pt-BR" sz="2000" dirty="0"/>
                  <a:t>distribuição acumulada.</a:t>
                </a:r>
              </a:p>
              <a:p>
                <a:endParaRPr lang="pt-BR" sz="2400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92ADF9AE-D3F2-50E8-E541-FED116F186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4513" y="1545772"/>
                <a:ext cx="9622974" cy="5116286"/>
              </a:xfrm>
              <a:blipFill>
                <a:blip r:embed="rId3"/>
                <a:stretch>
                  <a:fillRect l="-887" t="-16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664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B3131-5D55-516F-934A-94877C472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243E431-6713-38AB-132D-B24057565A6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D4C42A-C195-9CEF-D597-BA873C37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da Equalização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90D2413-4EEA-8564-6EC2-07769C1F11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175A3F7E-4BC1-C6D9-5D5D-412E0D040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41096" y="1531909"/>
                <a:ext cx="7709808" cy="2953006"/>
              </a:xfrm>
            </p:spPr>
            <p:txBody>
              <a:bodyPr>
                <a:normAutofit/>
              </a:bodyPr>
              <a:lstStyle/>
              <a:p>
                <a:r>
                  <a:rPr lang="pt-BR" sz="2000" i="1" dirty="0">
                    <a:latin typeface="Cambria Math" panose="02040503050406030204" pitchFamily="18" charset="0"/>
                  </a:rPr>
                  <a:t>L = 4 (Níveis de cinza)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000" i="1" dirty="0">
                        <a:latin typeface="Cambria Math" panose="02040503050406030204" pitchFamily="18" charset="0"/>
                      </a:rPr>
                      <m:t>​=(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−1)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000" i="1" dirty="0">
                        <a:latin typeface="Cambria Math" panose="02040503050406030204" pitchFamily="18" charset="0"/>
                      </a:rPr>
                      <m:t>​)</m:t>
                    </m:r>
                  </m:oMath>
                </a14:m>
                <a:endParaRPr lang="pt-BR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000" i="1" dirty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000" i="1" dirty="0">
                        <a:latin typeface="Cambria Math" panose="02040503050406030204" pitchFamily="18" charset="0"/>
                      </a:rPr>
                      <m:t>​)</m:t>
                    </m:r>
                  </m:oMath>
                </a14:m>
                <a:endParaRPr lang="pt-BR" sz="2000" dirty="0"/>
              </a:p>
              <a:p>
                <a:endParaRPr lang="pt-BR" sz="2000" dirty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Para a intensidade 1: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(1)=3(0,375)=1,125</m:t>
                    </m:r>
                  </m:oMath>
                </a14:m>
                <a:r>
                  <a:rPr lang="pt-BR" sz="2000" dirty="0"/>
                  <a:t> (Aprox. 1)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Para a intensidade 2: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(2)=3(1)=3</m:t>
                    </m:r>
                  </m:oMath>
                </a14:m>
                <a:endParaRPr lang="pt-BR" sz="2000" dirty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As demais intensidades ficam em 0</a:t>
                </a:r>
              </a:p>
              <a:p>
                <a:endParaRPr lang="pt-BR" sz="2000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175A3F7E-4BC1-C6D9-5D5D-412E0D040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41096" y="1531909"/>
                <a:ext cx="7709808" cy="2953006"/>
              </a:xfrm>
              <a:blipFill>
                <a:blip r:embed="rId3"/>
                <a:stretch>
                  <a:fillRect l="-791" t="-206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393B2E88-5616-019A-8E49-7C37463F1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586886"/>
              </p:ext>
            </p:extLst>
          </p:nvPr>
        </p:nvGraphicFramePr>
        <p:xfrm>
          <a:off x="491219" y="4707260"/>
          <a:ext cx="6985905" cy="21507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97181">
                  <a:extLst>
                    <a:ext uri="{9D8B030D-6E8A-4147-A177-3AD203B41FA5}">
                      <a16:colId xmlns:a16="http://schemas.microsoft.com/office/drawing/2014/main" val="1403321573"/>
                    </a:ext>
                  </a:extLst>
                </a:gridCol>
                <a:gridCol w="1397181">
                  <a:extLst>
                    <a:ext uri="{9D8B030D-6E8A-4147-A177-3AD203B41FA5}">
                      <a16:colId xmlns:a16="http://schemas.microsoft.com/office/drawing/2014/main" val="3809217697"/>
                    </a:ext>
                  </a:extLst>
                </a:gridCol>
                <a:gridCol w="1397181">
                  <a:extLst>
                    <a:ext uri="{9D8B030D-6E8A-4147-A177-3AD203B41FA5}">
                      <a16:colId xmlns:a16="http://schemas.microsoft.com/office/drawing/2014/main" val="411231777"/>
                    </a:ext>
                  </a:extLst>
                </a:gridCol>
                <a:gridCol w="1397181">
                  <a:extLst>
                    <a:ext uri="{9D8B030D-6E8A-4147-A177-3AD203B41FA5}">
                      <a16:colId xmlns:a16="http://schemas.microsoft.com/office/drawing/2014/main" val="3213822588"/>
                    </a:ext>
                  </a:extLst>
                </a:gridCol>
                <a:gridCol w="1397181">
                  <a:extLst>
                    <a:ext uri="{9D8B030D-6E8A-4147-A177-3AD203B41FA5}">
                      <a16:colId xmlns:a16="http://schemas.microsoft.com/office/drawing/2014/main" val="2041575995"/>
                    </a:ext>
                  </a:extLst>
                </a:gridCol>
              </a:tblGrid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Intensidade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Pixels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Probabilidade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CDF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Transformação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994245"/>
                  </a:ext>
                </a:extLst>
              </a:tr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600816"/>
                  </a:ext>
                </a:extLst>
              </a:tr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874734"/>
                  </a:ext>
                </a:extLst>
              </a:tr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0,625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5084"/>
                  </a:ext>
                </a:extLst>
              </a:tr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307283"/>
                  </a:ext>
                </a:extLst>
              </a:tr>
            </a:tbl>
          </a:graphicData>
        </a:graphic>
      </p:graphicFrame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874BDC6E-883D-785E-822E-7DD2917DD2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8205976"/>
              </p:ext>
            </p:extLst>
          </p:nvPr>
        </p:nvGraphicFramePr>
        <p:xfrm>
          <a:off x="7995104" y="4691262"/>
          <a:ext cx="3911600" cy="2166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568687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68AD3-98D8-0C7F-5C54-A30C8C08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D72D6ED-CDFE-B76F-B69A-6818870551E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A3D01A-0E94-D0EA-2A3E-753E372F9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da Equalização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49081F9-F914-BC46-1C6F-01DC6039E7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500BC48-C405-C7F5-2AE4-B06FB5A6F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6" y="1524000"/>
            <a:ext cx="11212287" cy="5094514"/>
          </a:xfrm>
        </p:spPr>
        <p:txBody>
          <a:bodyPr>
            <a:normAutofit/>
          </a:bodyPr>
          <a:lstStyle/>
          <a:p>
            <a:r>
              <a:rPr lang="pt-BR" sz="2400" dirty="0"/>
              <a:t>Observação: é necessário utilizar CDF ao invés de simplesmente a probabilidade por que as probabilidades não nos dizem como </a:t>
            </a:r>
            <a:r>
              <a:rPr lang="pt-BR" sz="2400" b="1" dirty="0"/>
              <a:t>redistribuir progressivamente</a:t>
            </a:r>
            <a:r>
              <a:rPr lang="pt-BR" sz="2400" dirty="0"/>
              <a:t> os valores.</a:t>
            </a:r>
          </a:p>
          <a:p>
            <a:endParaRPr lang="pt-BR" sz="2400" dirty="0"/>
          </a:p>
          <a:p>
            <a:r>
              <a:rPr lang="pt-BR" sz="2400" dirty="0"/>
              <a:t>Por exemplo: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BB31A6C3-4DB4-2EA1-924D-89C8069A4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266366"/>
              </p:ext>
            </p:extLst>
          </p:nvPr>
        </p:nvGraphicFramePr>
        <p:xfrm>
          <a:off x="792833" y="3429000"/>
          <a:ext cx="4191543" cy="21507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97181">
                  <a:extLst>
                    <a:ext uri="{9D8B030D-6E8A-4147-A177-3AD203B41FA5}">
                      <a16:colId xmlns:a16="http://schemas.microsoft.com/office/drawing/2014/main" val="1403321573"/>
                    </a:ext>
                  </a:extLst>
                </a:gridCol>
                <a:gridCol w="1397181">
                  <a:extLst>
                    <a:ext uri="{9D8B030D-6E8A-4147-A177-3AD203B41FA5}">
                      <a16:colId xmlns:a16="http://schemas.microsoft.com/office/drawing/2014/main" val="411231777"/>
                    </a:ext>
                  </a:extLst>
                </a:gridCol>
                <a:gridCol w="1397181">
                  <a:extLst>
                    <a:ext uri="{9D8B030D-6E8A-4147-A177-3AD203B41FA5}">
                      <a16:colId xmlns:a16="http://schemas.microsoft.com/office/drawing/2014/main" val="3213822588"/>
                    </a:ext>
                  </a:extLst>
                </a:gridCol>
              </a:tblGrid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Intensidade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Probabilidade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CDF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994245"/>
                  </a:ext>
                </a:extLst>
              </a:tr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600816"/>
                  </a:ext>
                </a:extLst>
              </a:tr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874734"/>
                  </a:ext>
                </a:extLst>
              </a:tr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5084"/>
                  </a:ext>
                </a:extLst>
              </a:tr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30728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08171775-EB61-4FA4-EC56-6B65D90E4413}"/>
                  </a:ext>
                </a:extLst>
              </p:cNvPr>
              <p:cNvSpPr txBox="1"/>
              <p:nvPr/>
            </p:nvSpPr>
            <p:spPr>
              <a:xfrm>
                <a:off x="6367502" y="3429000"/>
                <a:ext cx="4441371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A CDF expressa uma função </a:t>
                </a:r>
                <a:r>
                  <a:rPr lang="pt-BR" b="1" dirty="0" err="1"/>
                  <a:t>monotonicamente</a:t>
                </a:r>
                <a:r>
                  <a:rPr lang="pt-BR" b="1" dirty="0"/>
                  <a:t> crescente</a:t>
                </a:r>
                <a:r>
                  <a:rPr lang="pt-BR" dirty="0"/>
                  <a:t>:</a:t>
                </a:r>
              </a:p>
              <a:p>
                <a:endParaRPr lang="pt-BR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80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Isso permite construir uma transformação de intensidade que preserva a ordem:</a:t>
                </a:r>
              </a:p>
              <a:p>
                <a:endParaRPr lang="pt-BR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50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150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200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08171775-EB61-4FA4-EC56-6B65D90E4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7502" y="3429000"/>
                <a:ext cx="4441371" cy="2585323"/>
              </a:xfrm>
              <a:prstGeom prst="rect">
                <a:avLst/>
              </a:prstGeom>
              <a:blipFill>
                <a:blip r:embed="rId3"/>
                <a:stretch>
                  <a:fillRect l="-1236" t="-1415" r="-6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0568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4337B-43C4-3911-5BC9-8E31AD377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1A38A5D-6D0D-F549-AC93-650ADE2B264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874AF6-1196-6A07-3E69-9D255A6F3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Analogia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D510F74B-618C-1272-2CF9-DD7242FA5F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943B3727-DF28-68DE-5A62-AC27B7DB30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099" y="1600200"/>
                <a:ext cx="11353801" cy="5094514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Podemos imaginar que todos os pixels da imagem estejam em uma fila, ordenados pela intensidade:</a:t>
                </a:r>
              </a:p>
              <a:p>
                <a:r>
                  <a:rPr lang="pt-BR" sz="2400" dirty="0"/>
                  <a:t>Por exemplo: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pt-BR" sz="2400" dirty="0"/>
              </a:p>
              <a:p>
                <a:endParaRPr lang="pt-BR" sz="2400" dirty="0"/>
              </a:p>
              <a:p>
                <a:r>
                  <a:rPr lang="pt-BR" sz="2400" dirty="0"/>
                  <a:t>A CDF responde à seguinte questão: </a:t>
                </a:r>
                <a:r>
                  <a:rPr lang="pt-BR" sz="2400" i="1" dirty="0"/>
                  <a:t>"Até determinado ponto, quanto da população de pixels já apareceu?" </a:t>
                </a:r>
              </a:p>
              <a:p>
                <a:r>
                  <a:rPr lang="pt-BR" sz="2400" i="1" dirty="0"/>
                  <a:t>Por exemplo: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150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>
                    <a:sym typeface="Wingdings" panose="05000000000000000000" pitchFamily="2" charset="2"/>
                  </a:rPr>
                  <a:t> 80% </a:t>
                </a:r>
                <a:r>
                  <a:rPr lang="pt-BR" sz="2400" dirty="0"/>
                  <a:t>dos pixels possuem intensidade menor ou igual a 150.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A logica na equalização é </a:t>
                </a:r>
                <a:r>
                  <a:rPr lang="pt-BR" sz="2400" i="1" dirty="0"/>
                  <a:t>"Se 80% dos pixels estão abaixo dessa intensidade, é necessário posicionar essa intensidade aproximadamente em 80% da faixa disponível."</a:t>
                </a:r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943B3727-DF28-68DE-5A62-AC27B7DB30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099" y="1600200"/>
                <a:ext cx="11353801" cy="5094514"/>
              </a:xfrm>
              <a:blipFill>
                <a:blip r:embed="rId3"/>
                <a:stretch>
                  <a:fillRect l="-752" t="-1677" r="-10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0903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493F5-2A1F-C88C-2722-CC671E30E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1A798A0-9A49-AAAE-F6E7-6CEA4010AB4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F8CA54-FE84-285F-2F25-481D57040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Equalização Global e Local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D57E0B52-AF53-56A9-322A-004389A3D6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242A86E-79EA-061A-72FB-C0321DA30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6658" y="1642029"/>
            <a:ext cx="9906000" cy="1939371"/>
          </a:xfrm>
        </p:spPr>
        <p:txBody>
          <a:bodyPr>
            <a:normAutofit/>
          </a:bodyPr>
          <a:lstStyle/>
          <a:p>
            <a:r>
              <a:rPr lang="pt-BR" sz="2400" dirty="0"/>
              <a:t>A equalização global considera  toda a imagem, o que pode ser um problema ao ser aplicada em imagens com regiões distintas.</a:t>
            </a:r>
          </a:p>
          <a:p>
            <a:r>
              <a:rPr lang="pt-BR" sz="2400" dirty="0"/>
              <a:t>Uma transformação que é boa para uma região pode não ser boa para outra.</a:t>
            </a:r>
          </a:p>
          <a:p>
            <a:r>
              <a:rPr lang="pt-BR" sz="2400" dirty="0"/>
              <a:t>O processamento do histograma também pode ser aplicado localmente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6C1989EC-8E69-0E05-3708-F3C8B8527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3703" r="65741" b="24199"/>
          <a:stretch>
            <a:fillRect/>
          </a:stretch>
        </p:blipFill>
        <p:spPr bwMode="auto">
          <a:xfrm>
            <a:off x="2166257" y="3897868"/>
            <a:ext cx="2514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69588283-B9CA-AF9D-97F5-6B986BEB6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64815" r="3703" b="24199"/>
          <a:stretch>
            <a:fillRect/>
          </a:stretch>
        </p:blipFill>
        <p:spPr bwMode="auto">
          <a:xfrm>
            <a:off x="7805057" y="3897868"/>
            <a:ext cx="2590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2E7151A2-667C-2886-9331-BE3D5CEBC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34259" r="34259" b="24199"/>
          <a:stretch>
            <a:fillRect/>
          </a:stretch>
        </p:blipFill>
        <p:spPr bwMode="auto">
          <a:xfrm>
            <a:off x="5061857" y="3897868"/>
            <a:ext cx="2590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00701BD-DA4B-076D-DC87-28AFD2559A10}"/>
              </a:ext>
            </a:extLst>
          </p:cNvPr>
          <p:cNvSpPr txBox="1"/>
          <p:nvPr/>
        </p:nvSpPr>
        <p:spPr>
          <a:xfrm>
            <a:off x="2558736" y="6488668"/>
            <a:ext cx="1729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Imagem Original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2AEE881-F3D4-23D5-756D-F641B8077F7D}"/>
              </a:ext>
            </a:extLst>
          </p:cNvPr>
          <p:cNvSpPr txBox="1"/>
          <p:nvPr/>
        </p:nvSpPr>
        <p:spPr>
          <a:xfrm>
            <a:off x="5368531" y="6488668"/>
            <a:ext cx="1938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Equalização Global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7B4BC84-6BE7-2235-9507-467C75941FD5}"/>
              </a:ext>
            </a:extLst>
          </p:cNvPr>
          <p:cNvSpPr txBox="1"/>
          <p:nvPr/>
        </p:nvSpPr>
        <p:spPr>
          <a:xfrm>
            <a:off x="8241033" y="6488668"/>
            <a:ext cx="1811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Equalização Local</a:t>
            </a:r>
          </a:p>
        </p:txBody>
      </p:sp>
    </p:spTree>
    <p:extLst>
      <p:ext uri="{BB962C8B-B14F-4D97-AF65-F5344CB8AC3E}">
        <p14:creationId xmlns:p14="http://schemas.microsoft.com/office/powerpoint/2010/main" val="2800837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AD763-5C16-ED3F-77AE-36B7AAE0E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A3373E5-FFCE-D421-2EC8-6902993B158E}"/>
              </a:ext>
            </a:extLst>
          </p:cNvPr>
          <p:cNvSpPr/>
          <p:nvPr/>
        </p:nvSpPr>
        <p:spPr>
          <a:xfrm>
            <a:off x="0" y="2283069"/>
            <a:ext cx="12192000" cy="2596661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6BDEA7-DF8D-7D1F-D1E2-3E7DD6F8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8618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Exemplo Prático – Visualização do Histograma</a:t>
            </a:r>
            <a:endParaRPr lang="pt-BR" u="sng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DA869EE-165A-2210-2517-6E010F2DF1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70167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2541</TotalTime>
  <Words>1183</Words>
  <Application>Microsoft Office PowerPoint</Application>
  <PresentationFormat>Widescreen</PresentationFormat>
  <Paragraphs>267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Courier New</vt:lpstr>
      <vt:lpstr>Gill Sans MT</vt:lpstr>
      <vt:lpstr>Wingdings</vt:lpstr>
      <vt:lpstr>Tema do Office</vt:lpstr>
      <vt:lpstr>Pacote</vt:lpstr>
      <vt:lpstr>módulo 4 – HISTOGRAMA E EQUALIZAÇÃO</vt:lpstr>
      <vt:lpstr>Histograma</vt:lpstr>
      <vt:lpstr>Histograma</vt:lpstr>
      <vt:lpstr>Histograma</vt:lpstr>
      <vt:lpstr>Leitura de um Histograma</vt:lpstr>
      <vt:lpstr>Leitura de um Histograma</vt:lpstr>
      <vt:lpstr>Interpretação do Histograma</vt:lpstr>
      <vt:lpstr>Interpretação do Histograma</vt:lpstr>
      <vt:lpstr>Matemática do Histograma</vt:lpstr>
      <vt:lpstr>Matemática do Histograma</vt:lpstr>
      <vt:lpstr>Equalização da imagem</vt:lpstr>
      <vt:lpstr>Equalização da imagem</vt:lpstr>
      <vt:lpstr>Matemática da Equalização</vt:lpstr>
      <vt:lpstr>Matemática da Equalização</vt:lpstr>
      <vt:lpstr>Matemática da Equalização</vt:lpstr>
      <vt:lpstr>Matemática da Equalização</vt:lpstr>
      <vt:lpstr>Matemática da Equalização</vt:lpstr>
      <vt:lpstr>Matemática da Equalização</vt:lpstr>
      <vt:lpstr>Analogia</vt:lpstr>
      <vt:lpstr>Equalização Global e Local</vt:lpstr>
      <vt:lpstr>Exemplo Prático – Visualização do Histograma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154</cp:revision>
  <dcterms:created xsi:type="dcterms:W3CDTF">2026-07-26T12:48:37Z</dcterms:created>
  <dcterms:modified xsi:type="dcterms:W3CDTF">2026-08-31T22:02:29Z</dcterms:modified>
</cp:coreProperties>
</file>