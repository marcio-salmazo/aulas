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3"/>
  </p:notesMasterIdLst>
  <p:sldIdLst>
    <p:sldId id="320" r:id="rId3"/>
    <p:sldId id="321" r:id="rId4"/>
    <p:sldId id="337" r:id="rId5"/>
    <p:sldId id="338" r:id="rId6"/>
    <p:sldId id="342" r:id="rId7"/>
    <p:sldId id="339" r:id="rId8"/>
    <p:sldId id="340" r:id="rId9"/>
    <p:sldId id="343" r:id="rId10"/>
    <p:sldId id="341" r:id="rId11"/>
    <p:sldId id="33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4F8234"/>
    <a:srgbClr val="6595DE"/>
    <a:srgbClr val="9AB88B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640E-3743-0D36-E7C5-55CB713E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7E636F-ECBC-960C-3397-188CBBD6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7515-6E29-64E0-07FF-21F48359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A691D-B3A9-EFEC-6364-2BEDDC2A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68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F8B9-0582-3E49-23BC-9EFDE8D5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9A4491-31DF-C0E5-253E-2AAA33669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31C77D-3247-40B7-986E-ECBA3D307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pixels vizinhos determinam um certo grau de influência sobre o pixel central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6148E8-A0CE-E0B9-21AE-211591281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670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734E-23E0-3DF0-7C5C-0DE399B8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191925-DD48-8E58-5E48-4FC56C28E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C20EB0-C55C-0EF5-9827-5A6A7DA91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E9316D-DDB9-603D-0B6C-7C5976F03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22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1347-4EF4-BC70-2AEC-AB3C3214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8018EE-14F9-710E-76FD-3B6A1B0EF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2866AC-2F18-04C6-9A3E-1AC66FA85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27B944-312A-545F-0857-DF88DC1E0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8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FAC8-BB30-4CD2-21D0-1D12800E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0CCCE8-6C70-576A-A20F-6F70157F7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1C9FAF-060C-BF3C-CC4A-23E9E00B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546C67-DBD1-2076-19B6-F3F74383F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900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BDA8-DDF8-E77B-F545-3A686FDE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CA386A-4FB6-FCC3-0089-5CD8CB8CA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FE03FF-40B1-F062-66AF-D19B5AA1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F47397-1914-71E4-681B-03A7E3F8E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6ADD-B072-5199-FC62-ED5381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838740-2A52-724E-E128-E6DB81CA3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A03A67-7253-F79E-35A0-DD879E0DD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D8DA09-3BB0-37AB-1D60-C3C3BDD8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64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D8D5-1D59-2459-DC5B-D82255C0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A1307D-F224-9F19-FB76-2CB91A7AE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657D3A-67FF-7751-0141-2EA95A06D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7534BB-780E-558A-F944-40D94A4A3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71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DBF-F087-D425-FE1F-C594C66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E1EC70-E1DD-80B5-AE67-F989BC04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CADB7-139D-33D9-1BFF-A3158C9AC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A10F7-6A75-1784-5EB0-733CDBEA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9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5 – CONVOLUÇÃO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3180-53BA-21BF-A84E-968241FB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CB63AC-F956-699C-AFCE-3540DB2964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8A14FC-38B0-0F3B-A145-7298E588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650552-5CD6-0B48-6261-174CD0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5AC19E-EA79-E17E-B527-D6B35B7B2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8" y="1559906"/>
            <a:ext cx="6115710" cy="5004177"/>
          </a:xfrm>
        </p:spPr>
        <p:txBody>
          <a:bodyPr>
            <a:normAutofit/>
          </a:bodyPr>
          <a:lstStyle/>
          <a:p>
            <a:r>
              <a:rPr lang="pt-BR" sz="2200" dirty="0"/>
              <a:t>Operação matemática capaz de modificar ou extrair características da imagem.</a:t>
            </a:r>
          </a:p>
          <a:p>
            <a:endParaRPr lang="pt-BR" sz="2200" dirty="0"/>
          </a:p>
          <a:p>
            <a:r>
              <a:rPr lang="pt-BR" sz="2200" dirty="0"/>
              <a:t>Utiliza um filtro convolucional (kernel),para ser  deslocado sobre a imagem principal.</a:t>
            </a:r>
          </a:p>
          <a:p>
            <a:endParaRPr lang="pt-BR" sz="2400" dirty="0"/>
          </a:p>
          <a:p>
            <a:r>
              <a:rPr lang="pt-BR" sz="2200" dirty="0"/>
              <a:t>Principais aplicações: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Desfoque e suavização.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Remoção de ruídos.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Detecção de bordas.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Realce de Imagem.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etc.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FDE0C-7D89-B369-D77B-04963F1C1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48" y="2146356"/>
            <a:ext cx="5593108" cy="38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B747-88B2-640F-F763-3BAD971E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C5F1E1-8939-3283-D9F1-27C18FC803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81FFB-3772-40E0-ECEA-64AC5576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Vizinhança de Pixels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61A2D6B-F090-0A4C-1BF6-82DD9C9259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B45774-F838-B1A5-9109-ACE46737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78" y="2245704"/>
            <a:ext cx="787101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A convolução considera a vizinhança de um pixel </a:t>
            </a:r>
            <a:r>
              <a:rPr lang="pt-BR" sz="2200" i="1" dirty="0"/>
              <a:t>(p)</a:t>
            </a:r>
            <a:r>
              <a:rPr lang="pt-BR" sz="2200" dirty="0"/>
              <a:t>, definindo quais pixels ao seu redor são considerados conectados a ele.</a:t>
            </a:r>
          </a:p>
          <a:p>
            <a:pPr algn="just"/>
            <a:endParaRPr lang="pt-BR" sz="2400" i="1" dirty="0"/>
          </a:p>
          <a:p>
            <a:pPr algn="just"/>
            <a:r>
              <a:rPr lang="pt-BR" sz="2400" dirty="0"/>
              <a:t>As duas formas mais comuns de definir essa vizinhança são a N₄ (Vizinhança-4) e a N₈ (Vizinhança-8).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Os processos de suavização, detecção ou realce dependem da diferença de valores entre um pixel e sua vizinhança.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51A928-296A-AB6E-34B9-B11A889BB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09"/>
          <a:stretch>
            <a:fillRect/>
          </a:stretch>
        </p:blipFill>
        <p:spPr>
          <a:xfrm>
            <a:off x="8901039" y="4296036"/>
            <a:ext cx="2331737" cy="232997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81B7A45-CD3F-9975-9D03-04966662EF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409"/>
          <a:stretch>
            <a:fillRect/>
          </a:stretch>
        </p:blipFill>
        <p:spPr>
          <a:xfrm>
            <a:off x="8901038" y="1645809"/>
            <a:ext cx="2331737" cy="232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2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AAFB-05E3-C732-6082-8BA2A26E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D4EEF31-8ECB-D94B-625B-6E2BE621F70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00D858-522E-45C5-7F99-820AE198E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Kernel (Filtros)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3BD4E12-13C2-774D-3978-58AC8DED02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5ED8F5-BD87-CE32-25FA-477A8712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185" y="2147882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 kernel nada mais é do que uma matriz pequena com valores definidos de acordo com sua aplicação.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Também pode ser chamado de ‘</a:t>
            </a:r>
            <a:r>
              <a:rPr lang="pt-BR" sz="2200" i="1" dirty="0"/>
              <a:t>máscara</a:t>
            </a:r>
            <a:r>
              <a:rPr lang="pt-BR" sz="2200" dirty="0"/>
              <a:t>’, ‘</a:t>
            </a:r>
            <a:r>
              <a:rPr lang="pt-BR" sz="2200" i="1" dirty="0"/>
              <a:t>filtro</a:t>
            </a:r>
            <a:r>
              <a:rPr lang="pt-BR" sz="2200" dirty="0"/>
              <a:t>’ ou ‘</a:t>
            </a:r>
            <a:r>
              <a:rPr lang="pt-BR" sz="2200" i="1" dirty="0"/>
              <a:t>matriz de convolução’</a:t>
            </a:r>
            <a:r>
              <a:rPr lang="pt-BR" sz="2200" dirty="0"/>
              <a:t>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Os valores da matriz definem os pesos utilizados para determinar como os pixels vizinhos irão contribuir para o novo pixel.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AB77AF-ACA4-799B-5947-EEEB4F30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4" y="2306407"/>
            <a:ext cx="4662492" cy="34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7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63F2-C1AA-D03E-1090-947ADFA4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A712FE-9199-AB0B-3E35-79E4CE70923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B7A363-3908-D809-F359-A8E59277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Kernel (Filtros)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791039C-5BEA-A747-650E-F7992A027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AD9D4A-4C5D-CE2E-B0AC-C822C285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2387368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Os kernels podem assumir diferentes tamanhos, normalmente 3x3, 5x5 e 7x7.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Quanto maior o kernel, maior a região da imagem considerada para calcular cada pixel.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Normalmente são utilizados kernels ímpares, dessa forma é possível garantir a presença de um pixel central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111D24-CE14-3A05-0076-50BF87CDE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90" r="51702"/>
          <a:stretch>
            <a:fillRect/>
          </a:stretch>
        </p:blipFill>
        <p:spPr>
          <a:xfrm>
            <a:off x="8913151" y="1606182"/>
            <a:ext cx="1866158" cy="50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C368-B502-A9C6-B2AE-C3E19381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C5FE99-DAC7-0792-08E2-EF3CAD1F15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8EE1D4-B1B6-C693-F4C2-50880162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DEF5F4E-CFF9-FFA2-CE18-43263A37B6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528A1E-941D-92DB-E520-DDEF2895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99" y="2158768"/>
            <a:ext cx="6685752" cy="4100665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Exemplo </a:t>
            </a:r>
            <a:r>
              <a:rPr lang="pt-BR" sz="2200" dirty="0">
                <a:sym typeface="Wingdings" panose="05000000000000000000" pitchFamily="2" charset="2"/>
              </a:rPr>
              <a:t> </a:t>
            </a:r>
            <a:r>
              <a:rPr lang="pt-BR" sz="2200" i="1" dirty="0"/>
              <a:t>Filtro de média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62185E-F244-7D5F-B622-86C17068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87"/>
          <a:stretch>
            <a:fillRect/>
          </a:stretch>
        </p:blipFill>
        <p:spPr>
          <a:xfrm>
            <a:off x="223899" y="2635097"/>
            <a:ext cx="5302162" cy="172932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29A7E5F-10D7-CFD5-B139-2583C4AC16CB}"/>
              </a:ext>
            </a:extLst>
          </p:cNvPr>
          <p:cNvSpPr/>
          <p:nvPr/>
        </p:nvSpPr>
        <p:spPr>
          <a:xfrm>
            <a:off x="1063999" y="3320143"/>
            <a:ext cx="368833" cy="359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D1A8C6E-C684-5579-8336-DE9313159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92245"/>
              </p:ext>
            </p:extLst>
          </p:nvPr>
        </p:nvGraphicFramePr>
        <p:xfrm>
          <a:off x="381524" y="5080176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E409CAF-D032-E1C9-6B69-53D8E1E12E3C}"/>
              </a:ext>
            </a:extLst>
          </p:cNvPr>
          <p:cNvCxnSpPr/>
          <p:nvPr/>
        </p:nvCxnSpPr>
        <p:spPr>
          <a:xfrm>
            <a:off x="1260452" y="4352342"/>
            <a:ext cx="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25E5201-2EA1-2998-AFF0-8408269830B5}"/>
                  </a:ext>
                </a:extLst>
              </p:cNvPr>
              <p:cNvSpPr txBox="1"/>
              <p:nvPr/>
            </p:nvSpPr>
            <p:spPr>
              <a:xfrm>
                <a:off x="3326697" y="4580546"/>
                <a:ext cx="819294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(1∗10+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255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1∗10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25E5201-2EA1-2998-AFF0-840826983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7" y="4580546"/>
                <a:ext cx="8192948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E221B0-D5BA-4123-D399-F0A71C81F6B3}"/>
                  </a:ext>
                </a:extLst>
              </p:cNvPr>
              <p:cNvSpPr txBox="1"/>
              <p:nvPr/>
            </p:nvSpPr>
            <p:spPr>
              <a:xfrm>
                <a:off x="3326697" y="5363563"/>
                <a:ext cx="523380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(10+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255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EE221B0-D5BA-4123-D399-F0A71C81F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7" y="5363563"/>
                <a:ext cx="5233805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C6DA877-1384-6FC8-ED13-46C9F8459932}"/>
                  </a:ext>
                </a:extLst>
              </p:cNvPr>
              <p:cNvSpPr txBox="1"/>
              <p:nvPr/>
            </p:nvSpPr>
            <p:spPr>
              <a:xfrm>
                <a:off x="3326696" y="6096451"/>
                <a:ext cx="318978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335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=37.2222 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𝐴𝑝𝑟𝑜𝑥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 37)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C6DA877-1384-6FC8-ED13-46C9F845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696" y="6096451"/>
                <a:ext cx="3189784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7B0C094-BF05-CDFA-E44A-1FEE04DD0C54}"/>
              </a:ext>
            </a:extLst>
          </p:cNvPr>
          <p:cNvSpPr txBox="1"/>
          <p:nvPr/>
        </p:nvSpPr>
        <p:spPr>
          <a:xfrm>
            <a:off x="6210580" y="2487315"/>
            <a:ext cx="5022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Princípio matemático:</a:t>
            </a:r>
          </a:p>
          <a:p>
            <a:endParaRPr lang="pt-BR" dirty="0"/>
          </a:p>
          <a:p>
            <a:r>
              <a:rPr lang="pt-BR" dirty="0"/>
              <a:t>“Multiplica cada peso do kernel pelo seu respectivo pixel na imagem original e soma os resultados.”</a:t>
            </a:r>
          </a:p>
        </p:txBody>
      </p:sp>
    </p:spTree>
    <p:extLst>
      <p:ext uri="{BB962C8B-B14F-4D97-AF65-F5344CB8AC3E}">
        <p14:creationId xmlns:p14="http://schemas.microsoft.com/office/powerpoint/2010/main" val="48488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42ED-D141-F487-8FA3-8BFE0FA1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C096630-85D8-340E-6207-D7B403C9260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973DD-01B3-43B9-5BCD-031917ED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Matemática da Convolução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004C76-0527-2B84-7316-1B8274EE0B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9A39E95-A1FF-F805-6114-5DFC93BA0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8242" y="2017254"/>
                <a:ext cx="5170715" cy="359977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i="1" dirty="0"/>
                  <a:t>Formalmente, temos: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d>
                          <m:dPr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sub>
                    </m:sSub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pt-BR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pt-BR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2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pt-BR" sz="22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nary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pt-BR" sz="2200" b="0" dirty="0"/>
              </a:p>
              <a:p>
                <a:pPr algn="just"/>
                <a:endParaRPr lang="pt-BR" sz="2200" dirty="0"/>
              </a:p>
              <a:p>
                <a:pPr algn="just"/>
                <a:r>
                  <a:rPr lang="pt-BR" sz="2200" dirty="0"/>
                  <a:t>Sendo: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𝑖𝑚𝑎𝑔𝑒𝑚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𝑒𝑛𝑡𝑟𝑎𝑑𝑎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𝑘𝑒𝑟𝑛𝑒𝑙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𝑖𝑚𝑎𝑔𝑒𝑚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𝑟𝑒𝑠𝑢𝑙𝑡𝑎𝑛𝑡𝑒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𝑝𝑜𝑠𝑖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çã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𝑝𝑖𝑥𝑒𝑙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𝑝𝑜𝑠𝑖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çõ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𝑑𝑒𝑛𝑡𝑟𝑜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𝑘𝑒𝑟𝑛𝑒𝑙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59A39E95-A1FF-F805-6114-5DFC93BA0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8242" y="2017254"/>
                <a:ext cx="5170715" cy="3599776"/>
              </a:xfrm>
              <a:blipFill>
                <a:blip r:embed="rId3"/>
                <a:stretch>
                  <a:fillRect l="-1415" t="-40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5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71D7-68B4-9D12-23C9-DEDD978C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B5DFAD-96DB-5259-9CC1-3165C18183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D49195-8FD3-53A5-B6A1-0235006E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Convolução x Correlação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D49029C-DBA9-AD87-DED8-BCEE2CFB5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35D2925-9249-2426-DCAC-F3C27EA01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39810" y="1737998"/>
                <a:ext cx="6512379" cy="164748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sz="2200" dirty="0"/>
                  <a:t>Conceitualmente, a convolução matemática inverte o kernel antes da operação.  Ou seja:</a:t>
                </a:r>
              </a:p>
              <a:p>
                <a:pPr marL="0" indent="0" algn="just">
                  <a:buNone/>
                </a:pPr>
                <a:endParaRPr lang="pt-BR" sz="22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)→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1800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35D2925-9249-2426-DCAC-F3C27EA01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39810" y="1737998"/>
                <a:ext cx="6512379" cy="1647487"/>
              </a:xfrm>
              <a:blipFill>
                <a:blip r:embed="rId3"/>
                <a:stretch>
                  <a:fillRect l="-1124" t="-4815" r="-1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6A0182-AB32-8C96-92FB-ADB1F6416BC1}"/>
              </a:ext>
            </a:extLst>
          </p:cNvPr>
          <p:cNvGraphicFramePr>
            <a:graphicFrameLocks noGrp="1"/>
          </p:cNvGraphicFramePr>
          <p:nvPr/>
        </p:nvGraphicFramePr>
        <p:xfrm>
          <a:off x="3320667" y="3581400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916624B-833C-C78B-81C8-50EB4C5D38B4}"/>
              </a:ext>
            </a:extLst>
          </p:cNvPr>
          <p:cNvGraphicFramePr>
            <a:graphicFrameLocks noGrp="1"/>
          </p:cNvGraphicFramePr>
          <p:nvPr/>
        </p:nvGraphicFramePr>
        <p:xfrm>
          <a:off x="7113479" y="3611153"/>
          <a:ext cx="1757856" cy="13736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85952">
                  <a:extLst>
                    <a:ext uri="{9D8B030D-6E8A-4147-A177-3AD203B41FA5}">
                      <a16:colId xmlns:a16="http://schemas.microsoft.com/office/drawing/2014/main" val="1402390987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363078568"/>
                    </a:ext>
                  </a:extLst>
                </a:gridCol>
                <a:gridCol w="585952">
                  <a:extLst>
                    <a:ext uri="{9D8B030D-6E8A-4147-A177-3AD203B41FA5}">
                      <a16:colId xmlns:a16="http://schemas.microsoft.com/office/drawing/2014/main" val="2089817832"/>
                    </a:ext>
                  </a:extLst>
                </a:gridCol>
              </a:tblGrid>
              <a:tr h="473080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61109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094515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784633"/>
                  </a:ext>
                </a:extLst>
              </a:tr>
            </a:tbl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6398204-F614-02AA-5533-FEBF836DC1D6}"/>
              </a:ext>
            </a:extLst>
          </p:cNvPr>
          <p:cNvCxnSpPr>
            <a:cxnSpLocks/>
          </p:cNvCxnSpPr>
          <p:nvPr/>
        </p:nvCxnSpPr>
        <p:spPr>
          <a:xfrm>
            <a:off x="5539683" y="4296258"/>
            <a:ext cx="11126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98139060-F38F-B708-7E26-16179AEF0075}"/>
              </a:ext>
            </a:extLst>
          </p:cNvPr>
          <p:cNvSpPr txBox="1">
            <a:spLocks/>
          </p:cNvSpPr>
          <p:nvPr/>
        </p:nvSpPr>
        <p:spPr>
          <a:xfrm>
            <a:off x="2839810" y="5484308"/>
            <a:ext cx="6512379" cy="126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200" dirty="0"/>
              <a:t>Na prática, diversas implementações utilizam o procedimento de correlação cruzada, sem inverter o kernel.</a:t>
            </a:r>
          </a:p>
        </p:txBody>
      </p:sp>
    </p:spTree>
    <p:extLst>
      <p:ext uri="{BB962C8B-B14F-4D97-AF65-F5344CB8AC3E}">
        <p14:creationId xmlns:p14="http://schemas.microsoft.com/office/powerpoint/2010/main" val="11188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069E-A8AF-2340-0832-DFACE287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C4D541-D715-7276-6634-3A7F907A5DF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5AE3CB-2BCB-EE0F-2084-D4BB0C7F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Problema das bordas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7259DE8-14F0-DE3F-044C-D00DC328E0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073609-E3FE-F739-551E-4C3CE526A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9810" y="1737998"/>
            <a:ext cx="6512379" cy="1647487"/>
          </a:xfrm>
        </p:spPr>
        <p:txBody>
          <a:bodyPr>
            <a:normAutofit/>
          </a:bodyPr>
          <a:lstStyle/>
          <a:p>
            <a:pPr algn="just"/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441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763-5C16-ED3F-77AE-36B7AAE0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3373E5-FFCE-D421-2EC8-6902993B158E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BDEA7-DF8D-7D1F-D1E2-3E7DD6F8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Filtragem Espacial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DA869EE-165A-2210-2517-6E010F2D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16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478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5 – CONVOLUÇÃO</vt:lpstr>
      <vt:lpstr>Convolução</vt:lpstr>
      <vt:lpstr>Vizinhança de Pixels</vt:lpstr>
      <vt:lpstr>Kernel (Filtros)</vt:lpstr>
      <vt:lpstr>Kernel (Filtros)</vt:lpstr>
      <vt:lpstr>Matemática da Convolução</vt:lpstr>
      <vt:lpstr>Matemática da Convolução</vt:lpstr>
      <vt:lpstr>Convolução x Correlação</vt:lpstr>
      <vt:lpstr>Problema das bordas</vt:lpstr>
      <vt:lpstr>Exemplo Prático – Filtragem Espacial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161</cp:revision>
  <dcterms:created xsi:type="dcterms:W3CDTF">2026-07-26T12:48:37Z</dcterms:created>
  <dcterms:modified xsi:type="dcterms:W3CDTF">2026-09-14T21:57:20Z</dcterms:modified>
</cp:coreProperties>
</file>