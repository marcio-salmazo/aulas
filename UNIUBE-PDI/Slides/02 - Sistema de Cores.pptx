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5"/>
  </p:notesMasterIdLst>
  <p:sldIdLst>
    <p:sldId id="302" r:id="rId3"/>
    <p:sldId id="303" r:id="rId4"/>
    <p:sldId id="304" r:id="rId5"/>
    <p:sldId id="305" r:id="rId6"/>
    <p:sldId id="315" r:id="rId7"/>
    <p:sldId id="316" r:id="rId8"/>
    <p:sldId id="310" r:id="rId9"/>
    <p:sldId id="314" r:id="rId10"/>
    <p:sldId id="312" r:id="rId11"/>
    <p:sldId id="317" r:id="rId12"/>
    <p:sldId id="318" r:id="rId13"/>
    <p:sldId id="319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io Salmazo Ramos" initials="MS" lastIdx="2" clrIdx="0">
    <p:extLst>
      <p:ext uri="{19B8F6BF-5375-455C-9EA6-DF929625EA0E}">
        <p15:presenceInfo xmlns:p15="http://schemas.microsoft.com/office/powerpoint/2012/main" userId="S::marciosr@ufu.br::41390c5d-c465-4ad4-9c2e-eaf7a78388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234"/>
    <a:srgbClr val="6595DE"/>
    <a:srgbClr val="9AB88B"/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568" autoAdjust="0"/>
  </p:normalViewPr>
  <p:slideViewPr>
    <p:cSldViewPr snapToGrid="0">
      <p:cViewPr varScale="1">
        <p:scale>
          <a:sx n="88" d="100"/>
          <a:sy n="88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81DDE-E135-B8A3-D668-48C4E8BB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06E72D-9A41-5973-5283-BE5A64CB3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DDA496-F08A-F9C0-7165-764F6E36B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0D7B23-C7D0-86C4-6CB0-FF9AE3325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615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2046E-ACF9-0918-93DB-F7A79442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61BA2ED-DFA1-3EC6-F07B-02B8E504A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BEABA5-BBA9-69B3-40DD-CA17F2646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636BC7-81E2-9EFF-0DED-BA2DBE653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200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BAC12-1C26-E972-A158-E4FBBC493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A491B5-F80E-BC03-025B-1ED21005C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4E9AE2-DEED-A191-DB5C-413928202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Luz acromática não é invisível (como Infra Vermelho ou Ultra Violeta)</a:t>
            </a:r>
          </a:p>
          <a:p>
            <a:r>
              <a:rPr lang="pt-BR" b="0" dirty="0"/>
              <a:t>A luz acromática apenas não tem cor, por exemplo:</a:t>
            </a:r>
          </a:p>
          <a:p>
            <a:endParaRPr lang="pt-B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Em câmeras de segurança com modo noturno baseado em infravermelho, as imagens são exibidas em preto e branco (acromáticas) exatamente porque a luz captada não traz informações de cores do espectro visível.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luz acromática natural existe e o maior exemplo dela é a própria luz do Sol</a:t>
            </a:r>
            <a:r>
              <a:rPr lang="pt-BR" b="0" dirty="0"/>
              <a:t>.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Fisicamente</a:t>
            </a:r>
            <a:r>
              <a:rPr lang="pt-BR" dirty="0"/>
              <a:t>, a luz acromática natural (branca) é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policromática</a:t>
            </a:r>
            <a:r>
              <a:rPr lang="pt-BR" dirty="0"/>
              <a:t>. Isso significa que ela é composta pela união de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</a:t>
            </a:r>
            <a:r>
              <a:rPr lang="pt-BR" dirty="0"/>
              <a:t> as cores do arco-íris, mas visualmente ela se torna acromática.</a:t>
            </a: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207530-82E8-537B-794A-F0BEFA90C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873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D862-F3CF-C640-A178-044D521A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5AD89D4-2653-60CA-7977-800A87C9C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B1B21C-4DD5-9399-87DC-80E41E393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A radiância </a:t>
            </a:r>
            <a:r>
              <a:rPr lang="pt-BR" dirty="0"/>
              <a:t>abrange todo o espectro eletromagnético, não apenas o visível.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Unidade:</a:t>
            </a:r>
            <a:r>
              <a:rPr lang="pt-BR" dirty="0"/>
              <a:t> Watts por </a:t>
            </a:r>
            <a:r>
              <a:rPr lang="pt-BR" dirty="0" err="1"/>
              <a:t>esferorradiano</a:t>
            </a:r>
            <a:r>
              <a:rPr lang="pt-BR" dirty="0"/>
              <a:t> por metro quadrado ((W(</a:t>
            </a:r>
            <a:r>
              <a:rPr lang="pt-BR" dirty="0" err="1"/>
              <a:t>sr</a:t>
            </a:r>
            <a:r>
              <a:rPr lang="pt-BR" dirty="0"/>
              <a:t> * m^2))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A Luminância</a:t>
            </a:r>
            <a:r>
              <a:rPr lang="pt-BR" dirty="0"/>
              <a:t> abrange apenas na luz visível que é emitida ou refletida por uma fonte ou objeto e que atinge o olho humano.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Unidade: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Candelas por metro quadrado (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/m²).</a:t>
            </a:r>
            <a:r>
              <a:rPr lang="pt-BR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A iluminância </a:t>
            </a:r>
            <a:r>
              <a:rPr lang="pt-BR" dirty="0"/>
              <a:t>mede a densidade do fluxo luminoso que incide sobre uma superfície (a quantidade de luz que "chega" ou "cai" em um lugar).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Unidade:</a:t>
            </a:r>
            <a:r>
              <a:rPr lang="pt-BR" dirty="0"/>
              <a:t> Lux (</a:t>
            </a:r>
            <a:r>
              <a:rPr lang="pt-BR" dirty="0" err="1"/>
              <a:t>lx</a:t>
            </a:r>
            <a:r>
              <a:rPr lang="pt-BR" dirty="0"/>
              <a:t> ou </a:t>
            </a:r>
            <a:r>
              <a:rPr lang="pt-BR" dirty="0" err="1"/>
              <a:t>lm</a:t>
            </a:r>
            <a:r>
              <a:rPr lang="pt-BR" dirty="0"/>
              <a:t>/m²)</a:t>
            </a: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227900-22D0-13A1-F295-7554AACD9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3351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5B8A4-56B7-0745-C458-CC62CDC99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400B40-FF0E-AFB7-6563-F021C262A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3FACA0-6A43-2DDE-0A77-72CCD6331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Diagrama de Cromaticidade Científico (CIE):</a:t>
            </a:r>
            <a:r>
              <a:rPr lang="pt-BR" dirty="0"/>
              <a:t> Um gráfico técnico bidimensional (como o CIE 1931) que mapeia todas as cores físicas que o olho humano consegue enxergar a partir de comprimentos de onda da luz</a:t>
            </a:r>
          </a:p>
          <a:p>
            <a:endParaRPr lang="pt-BR" b="1" dirty="0"/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diagrama cromático </a:t>
            </a:r>
            <a:r>
              <a:rPr lang="pt-BR" dirty="0"/>
              <a:t>é uma representação visual que organiza as cores com base em suas relações de mistura, harmonia e contraste</a:t>
            </a:r>
          </a:p>
          <a:p>
            <a:endParaRPr lang="pt-BR" b="1" dirty="0"/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sRGB</a:t>
            </a:r>
            <a:r>
              <a:rPr lang="pt-BR" dirty="0"/>
              <a:t> é um padrão específico de cores dentro do grande sistema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RGB</a:t>
            </a:r>
            <a:r>
              <a:rPr lang="pt-BR" dirty="0"/>
              <a:t>. Na prática, ele garante que as cores fiquem iguais em quase qualquer dispositivo.</a:t>
            </a: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75681E-9B3F-3E51-EAA0-744806CC4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6425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44059-43EA-5BDE-4D43-5F481BDF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7F15B3-B467-BBCB-53A2-59ECDFA6A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1EEDA59-1A57-6764-D4C0-39EA74FDB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Diagrama de Cromaticidade Científico (CIE):</a:t>
            </a:r>
            <a:r>
              <a:rPr lang="pt-BR" dirty="0"/>
              <a:t> Um gráfico técnico bidimensional (como o CIE 1931) que mapeia todas as cores físicas que o olho humano consegue enxergar a partir de comprimentos de onda da luz</a:t>
            </a:r>
          </a:p>
          <a:p>
            <a:endParaRPr lang="pt-BR" b="1" dirty="0"/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diagrama cromático </a:t>
            </a:r>
            <a:r>
              <a:rPr lang="pt-BR" dirty="0"/>
              <a:t>é uma representação visual que organiza as cores com base em suas relações de mistura, harmonia e contraste</a:t>
            </a: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8E2044-FD5F-D9CD-69BC-DCD2779A3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4805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A8ECC-FC53-DD4F-7391-FB404759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73122D4-AE61-6E48-EC84-4BD9E070B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D1A56FB-417F-FA23-EE3C-FFFF7F80A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57521C-24E5-548F-6A59-3723373E8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247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A14BA-D7FA-E370-0F44-145446D5B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FBF537-3FE2-8BF6-1BD5-D27658E92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407F47-FB65-2B76-182B-59C507879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O RGB atua em um sistema aditivo de cores (As cores se somam e adicionam luz.)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397E29-EC1F-CCFC-3C31-C020AA61D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077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EDE7E-1A3F-A2BB-195D-35D9B5AAB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29024C-22B1-E06B-4CD9-EEE626659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90DA6E-EF90-4788-E883-E5C650C78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A75FF7-47CC-6716-BAE3-21B2D0CEF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951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71D89-1131-3168-700B-58551EF0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9954CE-4F52-D978-F21A-2A7014E93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6C81B26-D109-643A-2D87-FC1EA3E67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Esse modelo tenta representar a cor da mesma forma que os seres humanos costumam descrevê-la.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Ao invés de </a:t>
            </a:r>
            <a:r>
              <a:rPr lang="pt-BR" dirty="0"/>
              <a:t>(235,120,35), ela se aproxima mais da percepção natural, como: "É um laranja bem vivo.“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Exemplo de aplicação do HSV: </a:t>
            </a:r>
            <a:r>
              <a:rPr lang="pt-BR" dirty="0"/>
              <a:t>Vamos imaginar o cenário de detecção de objetos vermelhos.</a:t>
            </a:r>
            <a:endParaRPr lang="pt-B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Em RGB, a mesma maçã pode aparecer com valores diferentes dependendo da iluminação, tornando a segmentação mais difícil. No HSV, basta procurar um intervalo do componente </a:t>
            </a:r>
            <a:r>
              <a:rPr lang="pt-BR" b="0" dirty="0" err="1"/>
              <a:t>Hue</a:t>
            </a:r>
            <a:r>
              <a:rPr lang="pt-BR" b="0" dirty="0"/>
              <a:t> correspondente ao vermelho, enquanto se definem faixas de saturação e brilho adequadas. Isso torna a segmentação por cor muito mais robusta.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B11EEB-67CC-0763-4F9A-88B04CE21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129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DCFE-26BA-FBB9-8666-512F65D4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AA13C7-69E3-F3E6-DFA0-F81CEA018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8E2F4C4-15B8-4A1B-4C24-F90367000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7F8600-A363-D379-0661-532E8978B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15908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68181-781E-A1B4-0D88-12F113E76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A9B8CDC-4043-7406-D511-60A81DA7A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7FF5E0-AE14-2EB1-D2E9-D1C570BAF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Etapas básicas para transformar um sinal contínuo (analógico) em um sinal digital</a:t>
            </a:r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0A0C31-8DFE-5417-4382-9900EBD4E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0561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AB97-E0B2-C1EB-6C96-93B573151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3280B-7BE9-9BDD-FD96-C9F072EF8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2 – sistema de cores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E60A67-4B95-48CA-4A1F-786BD65CD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290F271-064F-7F5C-C636-B1788DCCF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394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95852-14DC-6EEF-AE29-C4A7A19B5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B83DBB-B9CA-692C-54FC-6FB13EE34E3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5DF28B-306F-D176-6878-F1506746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  <a:ln>
            <a:solidFill>
              <a:srgbClr val="C0504D"/>
            </a:solidFill>
          </a:ln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Formação da Imagem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006FE78-24E1-9BE8-F6EA-2BD226A282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2A3A6001-9AD6-7894-FE0F-4376A7D43D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140" y="1875693"/>
                <a:ext cx="7883883" cy="4982307"/>
              </a:xfrm>
            </p:spPr>
            <p:txBody>
              <a:bodyPr>
                <a:normAutofit/>
              </a:bodyPr>
              <a:lstStyle/>
              <a:p>
                <a:r>
                  <a:rPr lang="pt-BR" sz="2400" b="1" dirty="0"/>
                  <a:t>Vamos estender o conceito da imagem: </a:t>
                </a:r>
                <a:r>
                  <a:rPr lang="pt-BR" sz="2400" dirty="0"/>
                  <a:t>A imagem é uma função de </a:t>
                </a:r>
                <a:r>
                  <a:rPr lang="pt-BR" sz="2400" i="1" u="sng" dirty="0"/>
                  <a:t>intensidade luminosa</a:t>
                </a:r>
                <a:r>
                  <a:rPr lang="pt-BR" sz="2400" i="1" dirty="0"/>
                  <a:t> bidimensional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pt-BR" sz="2400" dirty="0"/>
              </a:p>
              <a:p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A formação da imagem combina uma </a:t>
                </a:r>
                <a:r>
                  <a:rPr lang="pt-BR" sz="2200" u="sng" dirty="0"/>
                  <a:t>fonte luminosa</a:t>
                </a:r>
                <a:r>
                  <a:rPr lang="pt-BR" sz="2200" dirty="0"/>
                  <a:t> com a </a:t>
                </a:r>
                <a:r>
                  <a:rPr lang="pt-BR" sz="2200" u="sng" dirty="0"/>
                  <a:t>reflexão ou absorção de energia</a:t>
                </a:r>
                <a:r>
                  <a:rPr lang="pt-BR" sz="2200" dirty="0"/>
                  <a:t> pelos objetos da cena.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dirty="0"/>
              </a:p>
              <a:p>
                <a:r>
                  <a:rPr lang="pt-BR" sz="2400" dirty="0"/>
                  <a:t>A reflexão ou absorção da energia eletromagnética define a coloração dos objetos.</a:t>
                </a:r>
              </a:p>
              <a:p>
                <a:endParaRPr lang="pt-BR" sz="26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200" dirty="0"/>
                  <a:t>Comumente em telas digitais, a mistura das cores ocorre diretamente nos pixels.</a:t>
                </a:r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2A3A6001-9AD6-7894-FE0F-4376A7D43D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140" y="1875693"/>
                <a:ext cx="7883883" cy="4982307"/>
              </a:xfrm>
              <a:blipFill>
                <a:blip r:embed="rId3"/>
                <a:stretch>
                  <a:fillRect l="-1005" t="-1714" r="-5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3E55104E-9882-8D61-3A3C-5A9442F786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510" r="15024"/>
          <a:stretch>
            <a:fillRect/>
          </a:stretch>
        </p:blipFill>
        <p:spPr>
          <a:xfrm>
            <a:off x="8259673" y="2691581"/>
            <a:ext cx="3622610" cy="2725146"/>
          </a:xfrm>
          <a:prstGeom prst="rect">
            <a:avLst/>
          </a:prstGeom>
          <a:ln w="19050">
            <a:solidFill>
              <a:srgbClr val="C0504D"/>
            </a:solidFill>
          </a:ln>
        </p:spPr>
      </p:pic>
    </p:spTree>
    <p:extLst>
      <p:ext uri="{BB962C8B-B14F-4D97-AF65-F5344CB8AC3E}">
        <p14:creationId xmlns:p14="http://schemas.microsoft.com/office/powerpoint/2010/main" val="4159776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1B1AD-3ED7-7E0F-1107-B1ED563C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5883E4F-CD32-4CA4-4F76-2BF1A6CED87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EC2096-13A4-50EA-7E69-EA7431FB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Luz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6868374-2021-6BF9-D639-17D3805FB5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5A625A-2399-515E-0A79-6A92B64A3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66" y="1829592"/>
            <a:ext cx="7237966" cy="4736308"/>
          </a:xfrm>
        </p:spPr>
        <p:txBody>
          <a:bodyPr>
            <a:normAutofit/>
          </a:bodyPr>
          <a:lstStyle/>
          <a:p>
            <a:r>
              <a:rPr lang="pt-BR" sz="2400" dirty="0"/>
              <a:t>A luz é o </a:t>
            </a:r>
            <a:r>
              <a:rPr lang="pt-BR" sz="2400" u="sng" dirty="0"/>
              <a:t>principal componente</a:t>
            </a:r>
            <a:r>
              <a:rPr lang="pt-BR" sz="2400" dirty="0"/>
              <a:t>  na construção da imagem, podendo ser categorizada como: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Luz cromática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possui comprimentos de onda que geram a percepção de cores</a:t>
            </a: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Luz acromática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não tem cor. Representa apenas a intensidade luminosa (variando entre tons de cinza)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pt-BR" sz="2400" dirty="0"/>
              <a:t>Conceitualmente, a luz é um tipo de radiação eletromagnética que é percebida pelo olho humano.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dirty="0"/>
          </a:p>
          <a:p>
            <a:endParaRPr lang="pt-BR" sz="2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3A10A83-4732-E3A0-8724-9304E18D87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34"/>
          <a:stretch>
            <a:fillRect/>
          </a:stretch>
        </p:blipFill>
        <p:spPr>
          <a:xfrm>
            <a:off x="6756401" y="995588"/>
            <a:ext cx="5435599" cy="517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60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59308-449B-6E8A-D79A-8BA464FF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2836B14-2807-1D10-001A-15060A5FA3B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740331-9944-00F2-4D5E-7F8CE1C3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Medidas de Luz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7B77C66-FE34-4EF2-CDFB-79B6375574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DC26B9-73F8-FD50-0662-9D74C4DF9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54" y="1848388"/>
            <a:ext cx="7675570" cy="4432300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Medidas básicas de luz cromática:</a:t>
            </a:r>
          </a:p>
          <a:p>
            <a:endParaRPr lang="pt-BR" sz="21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100" b="1" dirty="0"/>
              <a:t>Radiância  </a:t>
            </a:r>
            <a:r>
              <a:rPr lang="pt-BR" sz="2100" dirty="0"/>
              <a:t>mede a energia física total da luz em todas as frequências (energia emitida)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1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100" b="1" dirty="0"/>
              <a:t>Luminância </a:t>
            </a:r>
            <a:r>
              <a:rPr lang="pt-BR" sz="2100" dirty="0"/>
              <a:t>mede essa mesma luz ajustada para o que os olhos humanos conseguem enxergar. (energia percebida)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1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100" b="1" dirty="0"/>
              <a:t>iluminância</a:t>
            </a:r>
            <a:r>
              <a:rPr lang="pt-BR" sz="2100" dirty="0"/>
              <a:t> mede a quantidade de luz que chega a uma superfície (luz incidente)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1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100" b="1" dirty="0"/>
              <a:t>Brilho: </a:t>
            </a:r>
            <a:r>
              <a:rPr lang="pt-BR" sz="2100" dirty="0"/>
              <a:t>não é uma unidade exata, mas sim a sensação visual subjetiva de claridade  (noção acromática de intensidade)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endParaRPr lang="pt-BR" sz="2400" dirty="0"/>
          </a:p>
          <a:p>
            <a:endParaRPr lang="pt-BR" sz="2600" dirty="0"/>
          </a:p>
        </p:txBody>
      </p:sp>
      <p:pic>
        <p:nvPicPr>
          <p:cNvPr id="7" name="Picture 2" descr="Entenda o que é luminotécnica – Guia da Engenharia">
            <a:extLst>
              <a:ext uri="{FF2B5EF4-FFF2-40B4-BE49-F238E27FC236}">
                <a16:creationId xmlns:a16="http://schemas.microsoft.com/office/drawing/2014/main" id="{34B05A49-E8C8-7759-699D-36381565B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8296" y="2453546"/>
            <a:ext cx="4493704" cy="313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39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E4B0-B554-DA71-CB64-F8B2A2D9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9DDE4AE-7D71-724C-AA9B-A2865FE94E5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F5A01F-153F-5EEC-D081-5169D0B0C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Espaço de Cores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893C6CE-DE37-EE87-52A7-D47B29DFBE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0000AE-998B-51AA-2E2D-B400A3CAA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593" y="1503620"/>
            <a:ext cx="10283409" cy="4432300"/>
          </a:xfrm>
        </p:spPr>
        <p:txBody>
          <a:bodyPr>
            <a:normAutofit/>
          </a:bodyPr>
          <a:lstStyle/>
          <a:p>
            <a:r>
              <a:rPr lang="pt-BR" sz="2200" dirty="0"/>
              <a:t>Trata-se de uma organização matemática de cores que padroniza a forma que os dispositivos digitais  (telas, câmeras e impressoras) exibem e reproduzem tons.</a:t>
            </a:r>
          </a:p>
          <a:p>
            <a:endParaRPr lang="pt-BR" sz="2200" dirty="0"/>
          </a:p>
          <a:p>
            <a:r>
              <a:rPr lang="pt-BR" sz="2200" dirty="0"/>
              <a:t>O espaçamento de cores define uma faixa específica de cores visíveis, que é consistente entre diferentes equipamentos.</a:t>
            </a:r>
          </a:p>
          <a:p>
            <a:pPr marL="0" indent="0">
              <a:buNone/>
            </a:pPr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A95BAAA-AF0B-BEDC-FEA5-ACD248850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298" y="3858139"/>
            <a:ext cx="2999861" cy="299986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4210AE5-35A3-B116-9B3B-ACAA89416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843" y="3675235"/>
            <a:ext cx="2999861" cy="308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62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9D395-FA9A-16E0-BC98-C5C47C2C5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CA1ACA1-2099-FE55-C284-51FD1BB4848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819102-8A3C-FEDF-8D1A-ABE21E00F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Espaço de Cores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3AAD961-EBEC-4325-5C8C-B7D6FBE180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A69361-3958-5601-A1AB-2C6EEB25A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593" y="1503620"/>
            <a:ext cx="10283409" cy="4432300"/>
          </a:xfrm>
        </p:spPr>
        <p:txBody>
          <a:bodyPr>
            <a:normAutofit/>
          </a:bodyPr>
          <a:lstStyle/>
          <a:p>
            <a:r>
              <a:rPr lang="pt-BR" sz="2200" dirty="0"/>
              <a:t>Existem diferentes modelos de espaço de cor, como RGB, HSV,CMYK, </a:t>
            </a:r>
            <a:r>
              <a:rPr lang="pt-BR" sz="2200" dirty="0" err="1"/>
              <a:t>YCbCr</a:t>
            </a:r>
            <a:r>
              <a:rPr lang="pt-BR" sz="2200" dirty="0"/>
              <a:t>, etc.</a:t>
            </a:r>
          </a:p>
          <a:p>
            <a:r>
              <a:rPr lang="pt-BR" sz="2400" dirty="0"/>
              <a:t>Cada um foi criado para resolver um problema específico, por exemplo:</a:t>
            </a:r>
          </a:p>
          <a:p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A escala RGB é ótimo para telas, câmeras e monitores  (Por causa do sistema aditivo)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A escala HSV facilita o reconhecimento de cores e segmentação de objetos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A escala CMYK  é voltada para a formação de cores por dispositivos de impressão</a:t>
            </a:r>
            <a:endParaRPr lang="pt-BR" sz="2200" dirty="0"/>
          </a:p>
          <a:p>
            <a:pPr marL="0" indent="0">
              <a:buNone/>
            </a:pPr>
            <a:endParaRPr lang="pt-BR" sz="2400" dirty="0"/>
          </a:p>
        </p:txBody>
      </p:sp>
      <p:pic>
        <p:nvPicPr>
          <p:cNvPr id="8196" name="Picture 4" descr="Diferença entre os modos RGB e CMYK – Instruções Gráfica das Gráficas">
            <a:extLst>
              <a:ext uri="{FF2B5EF4-FFF2-40B4-BE49-F238E27FC236}">
                <a16:creationId xmlns:a16="http://schemas.microsoft.com/office/drawing/2014/main" id="{D9B13FAA-7C62-428A-4D0F-0D4814E6E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634" y="4350809"/>
            <a:ext cx="5636731" cy="2311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05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C2854-5C2F-A011-2C55-504BEE21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9CB69DB-85CD-F891-2E36-99DFB6EBA3E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3B7832-762B-44B6-4F10-5F63E64E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Escala Cinza (</a:t>
            </a:r>
            <a:r>
              <a:rPr lang="pt-BR" dirty="0" err="1">
                <a:solidFill>
                  <a:schemeClr val="bg1"/>
                </a:solidFill>
              </a:rPr>
              <a:t>GrayScale</a:t>
            </a:r>
            <a:r>
              <a:rPr lang="pt-BR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83681D9-B0A5-5EF5-05B2-E0F9FF79EA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D02BA9-4452-9416-955E-A977972E6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00" y="1953896"/>
            <a:ext cx="5725200" cy="4432300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É a forma mais simples, na qual cada pixel possui apenas um valor de intensidade.</a:t>
            </a:r>
          </a:p>
          <a:p>
            <a:endParaRPr lang="pt-BR" sz="2400" dirty="0"/>
          </a:p>
          <a:p>
            <a:r>
              <a:rPr lang="pt-BR" sz="2400" dirty="0"/>
              <a:t>As imagens são formadas por apenas um canal</a:t>
            </a:r>
          </a:p>
          <a:p>
            <a:endParaRPr lang="pt-BR" sz="2400" dirty="0"/>
          </a:p>
          <a:p>
            <a:r>
              <a:rPr lang="pt-BR" sz="2400" dirty="0"/>
              <a:t>A profundidade de bits determina a quantidade de níveis disponíveis. </a:t>
            </a:r>
          </a:p>
          <a:p>
            <a:endParaRPr lang="pt-BR" sz="2600" dirty="0"/>
          </a:p>
          <a:p>
            <a:r>
              <a:rPr lang="pt-BR" sz="2400" dirty="0"/>
              <a:t>Utilizada por ser processada com maior velocidade e por ocupar pouco espaço</a:t>
            </a:r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FF69B10-E467-5A71-D4E5-8268F40E82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45" r="3330"/>
          <a:stretch>
            <a:fillRect/>
          </a:stretch>
        </p:blipFill>
        <p:spPr>
          <a:xfrm>
            <a:off x="5943600" y="2288492"/>
            <a:ext cx="6283570" cy="376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444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1893-A3CE-179E-56BC-9D321C15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B8CB476-EE72-5238-79ED-384D848D5F8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9FD9E9-EDF9-6AFA-E279-530D00A6A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Escala RGB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1A7C533-98CF-84FE-ADD1-BC5D3109F2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49438B-846F-9DBB-F724-6B85C7B17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467" y="2035958"/>
            <a:ext cx="6813805" cy="4432300"/>
          </a:xfrm>
        </p:spPr>
        <p:txBody>
          <a:bodyPr>
            <a:normAutofit/>
          </a:bodyPr>
          <a:lstStyle/>
          <a:p>
            <a:r>
              <a:rPr lang="pt-BR" sz="2400" dirty="0"/>
              <a:t>Utiliza valores numéricos de 0 a 255 para definir a intensidade das cores luz primárias: Vermelho (</a:t>
            </a:r>
            <a:r>
              <a:rPr lang="pt-BR" sz="2400" b="1" i="1" dirty="0" err="1"/>
              <a:t>R</a:t>
            </a:r>
            <a:r>
              <a:rPr lang="pt-BR" sz="2400" i="1" dirty="0" err="1"/>
              <a:t>ed</a:t>
            </a:r>
            <a:r>
              <a:rPr lang="pt-BR" sz="2400" dirty="0"/>
              <a:t>), Verde (</a:t>
            </a:r>
            <a:r>
              <a:rPr lang="pt-BR" sz="2400" b="1" i="1" dirty="0"/>
              <a:t>G</a:t>
            </a:r>
            <a:r>
              <a:rPr lang="pt-BR" sz="2400" i="1" dirty="0"/>
              <a:t>reen</a:t>
            </a:r>
            <a:r>
              <a:rPr lang="pt-BR" sz="2400" dirty="0"/>
              <a:t>) e Azul (</a:t>
            </a:r>
            <a:r>
              <a:rPr lang="pt-BR" sz="2400" b="1" i="1" dirty="0"/>
              <a:t>B</a:t>
            </a:r>
            <a:r>
              <a:rPr lang="pt-BR" sz="2400" i="1" dirty="0"/>
              <a:t>lue</a:t>
            </a:r>
            <a:r>
              <a:rPr lang="pt-BR" sz="2400" dirty="0"/>
              <a:t>).</a:t>
            </a:r>
          </a:p>
          <a:p>
            <a:endParaRPr lang="pt-BR" sz="2400" dirty="0"/>
          </a:p>
          <a:p>
            <a:r>
              <a:rPr lang="pt-BR" sz="2400" dirty="0"/>
              <a:t>Variando esses três números, é possível criar mais de 16 milhões de tons diferentes para telas digitais.</a:t>
            </a:r>
          </a:p>
          <a:p>
            <a:endParaRPr lang="pt-BR" sz="2400" dirty="0"/>
          </a:p>
          <a:p>
            <a:r>
              <a:rPr lang="pt-BR" sz="2400" dirty="0"/>
              <a:t>O valor 0 significa ausência total de luz (cor preta) e 255 significa intensidade máxima</a:t>
            </a:r>
          </a:p>
          <a:p>
            <a:endParaRPr lang="pt-BR" sz="2400" dirty="0"/>
          </a:p>
          <a:p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9DA374-5147-9A51-3D12-126B0AEC27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692"/>
          <a:stretch>
            <a:fillRect/>
          </a:stretch>
        </p:blipFill>
        <p:spPr>
          <a:xfrm>
            <a:off x="7177119" y="2139767"/>
            <a:ext cx="5014881" cy="352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62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0022-6301-DBC7-BBEE-C0870B56B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CE6CEA2-3D74-95C9-5219-21100A85F47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9C1B0B-D741-FFEF-4B82-AFCB8234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  <a:ln>
            <a:solidFill>
              <a:srgbClr val="C0504D"/>
            </a:solidFill>
          </a:ln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Escala RGB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4EC576A-6BE6-07EB-2285-F75376E55E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B505365-6A2D-AA07-E83A-566C49AFF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97" y="2495632"/>
            <a:ext cx="6694967" cy="3374950"/>
          </a:xfrm>
        </p:spPr>
        <p:txBody>
          <a:bodyPr>
            <a:normAutofit/>
          </a:bodyPr>
          <a:lstStyle/>
          <a:p>
            <a:r>
              <a:rPr lang="pt-BR" sz="2400" dirty="0"/>
              <a:t>Nessa escala as informações de cores estão guardadas nos </a:t>
            </a:r>
            <a:r>
              <a:rPr lang="pt-BR" sz="2400" u="sng" dirty="0"/>
              <a:t>canais da imagem.</a:t>
            </a:r>
          </a:p>
          <a:p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Cada canal é responsável por armazenar os dados de cor, brilho ou transparência de cada pixel.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Cada pixel é formado pela combinação numérica desses componentes individuais.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B6F81D8-7EDE-FA4A-BE05-1D1D86365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788"/>
          <a:stretch>
            <a:fillRect/>
          </a:stretch>
        </p:blipFill>
        <p:spPr>
          <a:xfrm>
            <a:off x="9562838" y="2495632"/>
            <a:ext cx="2295565" cy="337495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1CB4349-D14B-FA0D-46A5-220AE82288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7267273" y="2495631"/>
            <a:ext cx="2295565" cy="337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02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115E4-AB08-9AE3-5DA7-2750E035A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E65EDBA-8CB5-6BEC-1067-DAB81CE655F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97666E-067E-E44F-381C-DA2CF8ADB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Escala HSV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9328FE6-DC0E-5E7E-0E44-E6E3550537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6429F5-8EEF-DC8A-CDB4-9E0413CA7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467" y="1535723"/>
            <a:ext cx="6989652" cy="5076092"/>
          </a:xfrm>
        </p:spPr>
        <p:txBody>
          <a:bodyPr>
            <a:normAutofit/>
          </a:bodyPr>
          <a:lstStyle/>
          <a:p>
            <a:r>
              <a:rPr lang="pt-BR" sz="2400" dirty="0"/>
              <a:t>A escala HSV descreve as tonalidades de forma parecida com o jeito que o olho humano enxerga.</a:t>
            </a:r>
          </a:p>
          <a:p>
            <a:endParaRPr lang="pt-BR" sz="2400" dirty="0"/>
          </a:p>
          <a:p>
            <a:r>
              <a:rPr lang="pt-BR" sz="2400" dirty="0"/>
              <a:t>Ela separa a cor real da sua pureza e da sua claridade, de acordo com os elementos:</a:t>
            </a:r>
          </a:p>
          <a:p>
            <a:endParaRPr lang="pt-BR" sz="2400" dirty="0"/>
          </a:p>
          <a:p>
            <a:pPr lvl="1"/>
            <a:r>
              <a:rPr lang="pt-BR" sz="2000" b="1" dirty="0"/>
              <a:t>H (Matiz / </a:t>
            </a:r>
            <a:r>
              <a:rPr lang="pt-BR" sz="2000" b="1" dirty="0" err="1"/>
              <a:t>Hue</a:t>
            </a:r>
            <a:r>
              <a:rPr lang="pt-BR" sz="2000" b="1" dirty="0"/>
              <a:t>): </a:t>
            </a:r>
            <a:r>
              <a:rPr lang="pt-BR" sz="2000" dirty="0"/>
              <a:t>É a cor pura em si (medida em graus).</a:t>
            </a:r>
          </a:p>
          <a:p>
            <a:pPr lvl="1"/>
            <a:r>
              <a:rPr lang="pt-BR" sz="2000" b="1" dirty="0"/>
              <a:t>S (Saturação / </a:t>
            </a:r>
            <a:r>
              <a:rPr lang="pt-BR" sz="2000" b="1" dirty="0" err="1"/>
              <a:t>Saturation</a:t>
            </a:r>
            <a:r>
              <a:rPr lang="pt-BR" sz="2000" b="1" dirty="0"/>
              <a:t>): </a:t>
            </a:r>
            <a:r>
              <a:rPr lang="pt-BR" sz="2000" dirty="0"/>
              <a:t>É a força ou pureza da cor.</a:t>
            </a:r>
          </a:p>
          <a:p>
            <a:pPr lvl="1"/>
            <a:r>
              <a:rPr lang="pt-BR" sz="2000" b="1" dirty="0"/>
              <a:t>V (Valor / </a:t>
            </a:r>
            <a:r>
              <a:rPr lang="pt-BR" sz="2000" b="1" dirty="0" err="1"/>
              <a:t>Value</a:t>
            </a:r>
            <a:r>
              <a:rPr lang="pt-BR" sz="2000" b="1" dirty="0"/>
              <a:t>): </a:t>
            </a:r>
            <a:r>
              <a:rPr lang="pt-BR" sz="2000" dirty="0"/>
              <a:t>É o brilho ou a luminosidade da cor.</a:t>
            </a:r>
          </a:p>
          <a:p>
            <a:endParaRPr lang="pt-BR" sz="2400" dirty="0"/>
          </a:p>
          <a:p>
            <a:r>
              <a:rPr lang="pt-BR" sz="2400" dirty="0"/>
              <a:t>Essa escala facilita a separação de objetos por cores em imagens digitais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A85E07B-464B-F334-44B4-0E8D65253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630" y="1325561"/>
            <a:ext cx="3436930" cy="30349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8C2FB0C-935F-3B84-4795-5C478F49B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352" y="4604185"/>
            <a:ext cx="2723918" cy="216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87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BF9AE-83F3-72AE-6776-807B6AE2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9F689D6-CE8E-DE9F-F6B9-FF43013CFF4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D262E9-B176-DEC7-66AB-17F196757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Escala CMYK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9149D74-6715-239F-59D4-B84FFA458C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D9C294-61C1-2668-EC0B-A1D837C91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467" y="1805353"/>
            <a:ext cx="6989652" cy="4806461"/>
          </a:xfrm>
        </p:spPr>
        <p:txBody>
          <a:bodyPr>
            <a:normAutofit/>
          </a:bodyPr>
          <a:lstStyle/>
          <a:p>
            <a:r>
              <a:rPr lang="pt-BR" sz="2400" dirty="0"/>
              <a:t>Sistema de cores subtrativo usado em impressoras e gráficas. As cores variam de 0% a 100% de pigmento sobre o papel</a:t>
            </a:r>
          </a:p>
          <a:p>
            <a:endParaRPr lang="pt-BR" sz="2400" dirty="0"/>
          </a:p>
          <a:p>
            <a:r>
              <a:rPr lang="pt-BR" sz="2400" dirty="0"/>
              <a:t>É constituído pelos pigmentos:</a:t>
            </a:r>
          </a:p>
          <a:p>
            <a:endParaRPr lang="pt-BR" sz="2400" dirty="0"/>
          </a:p>
          <a:p>
            <a:pPr lvl="1"/>
            <a:r>
              <a:rPr lang="pt-BR" sz="2000" b="1" dirty="0"/>
              <a:t>C (Ciano): </a:t>
            </a:r>
            <a:r>
              <a:rPr lang="pt-BR" sz="2000" dirty="0"/>
              <a:t>É a cor pura em si (medida em graus).</a:t>
            </a:r>
          </a:p>
          <a:p>
            <a:pPr lvl="1"/>
            <a:r>
              <a:rPr lang="pt-BR" sz="2000" b="1" dirty="0"/>
              <a:t>M (Magenta): </a:t>
            </a:r>
            <a:r>
              <a:rPr lang="pt-BR" sz="2000" dirty="0"/>
              <a:t>É a força ou pureza da cor.</a:t>
            </a:r>
          </a:p>
          <a:p>
            <a:pPr lvl="1"/>
            <a:r>
              <a:rPr lang="pt-BR" sz="2000" b="1" dirty="0"/>
              <a:t>Y (Amarelo/</a:t>
            </a:r>
            <a:r>
              <a:rPr lang="pt-BR" sz="2000" b="1" dirty="0" err="1"/>
              <a:t>Yellow</a:t>
            </a:r>
            <a:r>
              <a:rPr lang="pt-BR" sz="2000" b="1" dirty="0"/>
              <a:t>): </a:t>
            </a:r>
            <a:r>
              <a:rPr lang="pt-BR" sz="2000" dirty="0"/>
              <a:t>É o brilho ou a luminosidade da cor.</a:t>
            </a:r>
          </a:p>
          <a:p>
            <a:pPr lvl="1"/>
            <a:r>
              <a:rPr lang="pt-BR" sz="2000" b="1" dirty="0"/>
              <a:t>K (Preto/Black): </a:t>
            </a:r>
            <a:r>
              <a:rPr lang="pt-BR" sz="2000" dirty="0"/>
              <a:t>É o brilho ou a luminosidade da cor.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5EA9249-C323-8C94-63C1-DD061A806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425" y="1693985"/>
            <a:ext cx="4525108" cy="452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16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2D851-5E6C-304B-DEEF-D1A6D3ECD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AC5D61D-D0BF-36E0-02C5-8DA5BD491908}"/>
              </a:ext>
            </a:extLst>
          </p:cNvPr>
          <p:cNvSpPr/>
          <p:nvPr/>
        </p:nvSpPr>
        <p:spPr>
          <a:xfrm>
            <a:off x="0" y="2283069"/>
            <a:ext cx="12192000" cy="2596661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5F3ED0-0E19-C470-5703-4073D59E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8618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Prático – Variação do espaço de cores das Imagens</a:t>
            </a:r>
            <a:endParaRPr lang="pt-BR" u="sng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7803E3B-3848-7788-F4EC-4586568781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57723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2142</TotalTime>
  <Words>1231</Words>
  <Application>Microsoft Office PowerPoint</Application>
  <PresentationFormat>Widescreen</PresentationFormat>
  <Paragraphs>121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Courier New</vt:lpstr>
      <vt:lpstr>Gill Sans MT</vt:lpstr>
      <vt:lpstr>Tema do Office</vt:lpstr>
      <vt:lpstr>Pacote</vt:lpstr>
      <vt:lpstr>módulo 2 – sistema de cores</vt:lpstr>
      <vt:lpstr>Formação da Imagem</vt:lpstr>
      <vt:lpstr>Luz</vt:lpstr>
      <vt:lpstr>Medidas de Luz</vt:lpstr>
      <vt:lpstr>Espaço de Cores</vt:lpstr>
      <vt:lpstr>Espaço de Cores</vt:lpstr>
      <vt:lpstr>Escala Cinza (GrayScale)</vt:lpstr>
      <vt:lpstr>Escala RGB</vt:lpstr>
      <vt:lpstr>Escala RGB</vt:lpstr>
      <vt:lpstr>Escala HSV</vt:lpstr>
      <vt:lpstr>Escala CMYK</vt:lpstr>
      <vt:lpstr>Exemplo Prático – Variação do espaço de cores das Imagens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142</cp:revision>
  <dcterms:created xsi:type="dcterms:W3CDTF">2026-07-26T12:48:37Z</dcterms:created>
  <dcterms:modified xsi:type="dcterms:W3CDTF">2026-08-22T19:11:22Z</dcterms:modified>
</cp:coreProperties>
</file>