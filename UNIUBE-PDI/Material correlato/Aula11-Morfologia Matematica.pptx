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4"/>
  </p:sldMasterIdLst>
  <p:notesMasterIdLst>
    <p:notesMasterId r:id="rId39"/>
  </p:notesMasterIdLst>
  <p:sldIdLst>
    <p:sldId id="256" r:id="rId5"/>
    <p:sldId id="257" r:id="rId6"/>
    <p:sldId id="258" r:id="rId7"/>
    <p:sldId id="259" r:id="rId8"/>
    <p:sldId id="260" r:id="rId9"/>
    <p:sldId id="261" r:id="rId10"/>
    <p:sldId id="266" r:id="rId11"/>
    <p:sldId id="262" r:id="rId12"/>
    <p:sldId id="263" r:id="rId13"/>
    <p:sldId id="264" r:id="rId14"/>
    <p:sldId id="265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5" r:id="rId31"/>
    <p:sldId id="282" r:id="rId32"/>
    <p:sldId id="284" r:id="rId33"/>
    <p:sldId id="287" r:id="rId34"/>
    <p:sldId id="289" r:id="rId35"/>
    <p:sldId id="290" r:id="rId36"/>
    <p:sldId id="291" r:id="rId37"/>
    <p:sldId id="294" r:id="rId3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99FF"/>
    <a:srgbClr val="DDDDDD"/>
    <a:srgbClr val="FF0000"/>
    <a:srgbClr val="0066FF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D565183-D037-4786-AC7C-DA6216DDB0E1}" v="2" dt="2023-10-19T00:13:42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62" d="100"/>
          <a:sy n="62" d="100"/>
        </p:scale>
        <p:origin x="96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Augusto Nassif Travencolo" userId="9765cb90-d5ec-451e-8c7b-af57428794a1" providerId="ADAL" clId="{8D565183-D037-4786-AC7C-DA6216DDB0E1}"/>
    <pc:docChg chg="undo custSel modSld">
      <pc:chgData name="Bruno Augusto Nassif Travencolo" userId="9765cb90-d5ec-451e-8c7b-af57428794a1" providerId="ADAL" clId="{8D565183-D037-4786-AC7C-DA6216DDB0E1}" dt="2023-10-19T00:13:43.126" v="5" actId="9405"/>
      <pc:docMkLst>
        <pc:docMk/>
      </pc:docMkLst>
      <pc:sldChg chg="addSp delSp modSp mod">
        <pc:chgData name="Bruno Augusto Nassif Travencolo" userId="9765cb90-d5ec-451e-8c7b-af57428794a1" providerId="ADAL" clId="{8D565183-D037-4786-AC7C-DA6216DDB0E1}" dt="2023-10-19T00:13:43.126" v="5" actId="9405"/>
        <pc:sldMkLst>
          <pc:docMk/>
          <pc:sldMk cId="0" sldId="273"/>
        </pc:sldMkLst>
        <pc:grpChg chg="mod">
          <ac:chgData name="Bruno Augusto Nassif Travencolo" userId="9765cb90-d5ec-451e-8c7b-af57428794a1" providerId="ADAL" clId="{8D565183-D037-4786-AC7C-DA6216DDB0E1}" dt="2023-10-19T00:13:42.583" v="4"/>
          <ac:grpSpMkLst>
            <pc:docMk/>
            <pc:sldMk cId="0" sldId="273"/>
            <ac:grpSpMk id="4" creationId="{AB33A70B-04ED-3DAE-20D2-2FCEF647930D}"/>
          </ac:grpSpMkLst>
        </pc:grpChg>
        <pc:inkChg chg="add mod">
          <ac:chgData name="Bruno Augusto Nassif Travencolo" userId="9765cb90-d5ec-451e-8c7b-af57428794a1" providerId="ADAL" clId="{8D565183-D037-4786-AC7C-DA6216DDB0E1}" dt="2023-10-19T00:13:42.583" v="4"/>
          <ac:inkMkLst>
            <pc:docMk/>
            <pc:sldMk cId="0" sldId="273"/>
            <ac:inkMk id="2" creationId="{F218B92C-9D25-ECB9-73BA-38A874D9FB6E}"/>
          </ac:inkMkLst>
        </pc:inkChg>
        <pc:inkChg chg="add del mod">
          <ac:chgData name="Bruno Augusto Nassif Travencolo" userId="9765cb90-d5ec-451e-8c7b-af57428794a1" providerId="ADAL" clId="{8D565183-D037-4786-AC7C-DA6216DDB0E1}" dt="2023-10-19T00:13:42.583" v="4"/>
          <ac:inkMkLst>
            <pc:docMk/>
            <pc:sldMk cId="0" sldId="273"/>
            <ac:inkMk id="3" creationId="{669AAFDB-A89C-4C12-CA4D-463D5472061D}"/>
          </ac:inkMkLst>
        </pc:inkChg>
        <pc:inkChg chg="add">
          <ac:chgData name="Bruno Augusto Nassif Travencolo" userId="9765cb90-d5ec-451e-8c7b-af57428794a1" providerId="ADAL" clId="{8D565183-D037-4786-AC7C-DA6216DDB0E1}" dt="2023-10-19T00:13:43.126" v="5" actId="9405"/>
          <ac:inkMkLst>
            <pc:docMk/>
            <pc:sldMk cId="0" sldId="273"/>
            <ac:inkMk id="5" creationId="{0CBA9E68-D9B6-E03A-CE6C-4C71CCAC8109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9T00:13:38.6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1 416,'0'0'0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0-19T00:13:43.12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1 104,'0'0'1216,"0"3"-424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pt-B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pt-BR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pt-B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4E2E941A-9021-4F34-BEB6-39B54B5E14B9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96995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1026"/>
          <p:cNvSpPr>
            <a:spLocks noChangeArrowheads="1"/>
          </p:cNvSpPr>
          <p:nvPr/>
        </p:nvSpPr>
        <p:spPr bwMode="auto">
          <a:xfrm>
            <a:off x="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>
              <a:latin typeface="Times New Roman" pitchFamily="18" charset="0"/>
            </a:endParaRPr>
          </a:p>
        </p:txBody>
      </p:sp>
      <p:sp>
        <p:nvSpPr>
          <p:cNvPr id="5123" name="AutoShape 1027"/>
          <p:cNvSpPr>
            <a:spLocks noChangeArrowheads="1"/>
          </p:cNvSpPr>
          <p:nvPr/>
        </p:nvSpPr>
        <p:spPr bwMode="auto">
          <a:xfrm>
            <a:off x="685800" y="990600"/>
            <a:ext cx="5181600" cy="19050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>
              <a:latin typeface="Times New Roman" pitchFamily="18" charset="0"/>
            </a:endParaRPr>
          </a:p>
        </p:txBody>
      </p:sp>
      <p:sp>
        <p:nvSpPr>
          <p:cNvPr id="5124" name="Rectangle 1028"/>
          <p:cNvSpPr>
            <a:spLocks noGrp="1" noChangeArrowheads="1"/>
          </p:cNvSpPr>
          <p:nvPr>
            <p:ph type="subTitle" idx="1"/>
          </p:nvPr>
        </p:nvSpPr>
        <p:spPr>
          <a:xfrm>
            <a:off x="4673600" y="2927350"/>
            <a:ext cx="3657600" cy="1822450"/>
          </a:xfrm>
        </p:spPr>
        <p:txBody>
          <a:bodyPr anchor="b"/>
          <a:lstStyle>
            <a:lvl1pPr marL="0" indent="0">
              <a:buFont typeface="Wingdings" pitchFamily="2" charset="2"/>
              <a:buNone/>
              <a:defRPr>
                <a:solidFill>
                  <a:schemeClr val="tx2"/>
                </a:solidFill>
              </a:defRPr>
            </a:lvl1pPr>
          </a:lstStyle>
          <a:p>
            <a:pPr lvl="0"/>
            <a:r>
              <a:rPr lang="pt-BR" noProof="0"/>
              <a:t>Clique para editar o estilo do subtítulo mestre</a:t>
            </a:r>
          </a:p>
        </p:txBody>
      </p:sp>
      <p:grpSp>
        <p:nvGrpSpPr>
          <p:cNvPr id="5125" name="Group 1029"/>
          <p:cNvGrpSpPr>
            <a:grpSpLocks/>
          </p:cNvGrpSpPr>
          <p:nvPr/>
        </p:nvGrpSpPr>
        <p:grpSpPr bwMode="auto">
          <a:xfrm>
            <a:off x="3632200" y="4889500"/>
            <a:ext cx="4876800" cy="319088"/>
            <a:chOff x="2288" y="3080"/>
            <a:chExt cx="3072" cy="201"/>
          </a:xfrm>
        </p:grpSpPr>
        <p:sp>
          <p:nvSpPr>
            <p:cNvPr id="5126" name="AutoShape 1030"/>
            <p:cNvSpPr>
              <a:spLocks noChangeArrowheads="1"/>
            </p:cNvSpPr>
            <p:nvPr/>
          </p:nvSpPr>
          <p:spPr bwMode="auto">
            <a:xfrm flipH="1">
              <a:off x="2288" y="3080"/>
              <a:ext cx="2914" cy="200"/>
            </a:xfrm>
            <a:prstGeom prst="roundRect">
              <a:avLst>
                <a:gd name="adj" fmla="val 0"/>
              </a:avLst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5127" name="AutoShape 1031"/>
            <p:cNvSpPr>
              <a:spLocks noChangeArrowheads="1"/>
            </p:cNvSpPr>
            <p:nvPr/>
          </p:nvSpPr>
          <p:spPr bwMode="auto">
            <a:xfrm>
              <a:off x="5196" y="3080"/>
              <a:ext cx="164" cy="201"/>
            </a:xfrm>
            <a:prstGeom prst="flowChartDelay">
              <a:avLst/>
            </a:prstGeom>
            <a:solidFill>
              <a:schemeClr val="bg2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5128" name="Rectangle 1032"/>
          <p:cNvSpPr>
            <a:spLocks noGrp="1" noChangeArrowheads="1"/>
          </p:cNvSpPr>
          <p:nvPr>
            <p:ph type="dt" sz="quarter" idx="2"/>
          </p:nvPr>
        </p:nvSpPr>
        <p:spPr>
          <a:xfrm>
            <a:off x="2667000" y="6553200"/>
            <a:ext cx="1905000" cy="3048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pt-BR"/>
          </a:p>
        </p:txBody>
      </p:sp>
      <p:sp>
        <p:nvSpPr>
          <p:cNvPr id="5129" name="Rectangle 1033"/>
          <p:cNvSpPr>
            <a:spLocks noGrp="1" noChangeArrowheads="1"/>
          </p:cNvSpPr>
          <p:nvPr>
            <p:ph type="ftr" sz="quarter" idx="3"/>
          </p:nvPr>
        </p:nvSpPr>
        <p:spPr>
          <a:xfrm>
            <a:off x="5195888" y="6553200"/>
            <a:ext cx="3279775" cy="304800"/>
          </a:xfrm>
        </p:spPr>
        <p:txBody>
          <a:bodyPr/>
          <a:lstStyle>
            <a:lvl1pPr algn="r"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5130" name="Rectangle 1034"/>
          <p:cNvSpPr>
            <a:spLocks noGrp="1" noChangeArrowheads="1"/>
          </p:cNvSpPr>
          <p:nvPr>
            <p:ph type="sldNum" sz="quarter" idx="4"/>
          </p:nvPr>
        </p:nvSpPr>
        <p:spPr>
          <a:xfrm>
            <a:off x="9525" y="5962650"/>
            <a:ext cx="587375" cy="885825"/>
          </a:xfrm>
        </p:spPr>
        <p:txBody>
          <a:bodyPr anchorCtr="0"/>
          <a:lstStyle>
            <a:lvl1pPr>
              <a:defRPr/>
            </a:lvl1pPr>
          </a:lstStyle>
          <a:p>
            <a:fld id="{D706008E-D38F-455E-92DF-89AAAAD55153}" type="slidenum">
              <a:rPr lang="pt-BR"/>
              <a:pPr/>
              <a:t>‹nº›</a:t>
            </a:fld>
            <a:endParaRPr lang="pt-BR"/>
          </a:p>
        </p:txBody>
      </p:sp>
      <p:sp>
        <p:nvSpPr>
          <p:cNvPr id="5131" name="Rectangle 1035"/>
          <p:cNvSpPr>
            <a:spLocks noGrp="1" noChangeArrowheads="1"/>
          </p:cNvSpPr>
          <p:nvPr>
            <p:ph type="ctrTitle" sz="quarter"/>
          </p:nvPr>
        </p:nvSpPr>
        <p:spPr>
          <a:xfrm>
            <a:off x="936625" y="1425575"/>
            <a:ext cx="7772400" cy="1143000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pt-BR" noProof="0"/>
              <a:t>Clique para editar o estilo do título mestre</a:t>
            </a:r>
          </a:p>
        </p:txBody>
      </p:sp>
      <p:sp>
        <p:nvSpPr>
          <p:cNvPr id="5132" name="Text Box 1036"/>
          <p:cNvSpPr txBox="1">
            <a:spLocks noChangeArrowheads="1"/>
          </p:cNvSpPr>
          <p:nvPr userDrawn="1"/>
        </p:nvSpPr>
        <p:spPr bwMode="auto">
          <a:xfrm>
            <a:off x="1203325" y="1481138"/>
            <a:ext cx="27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latin typeface="Tahoma" pitchFamily="34" charset="0"/>
              </a:rPr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693A8AB-031E-4DDA-8B1E-F33EDC7615BA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712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84527E-FBDA-4784-BE90-C4C666D33584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493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914400" y="2362200"/>
            <a:ext cx="39243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991100" y="2362200"/>
            <a:ext cx="3924300" cy="3733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35E165-0F08-4D98-899B-D037DA9A8C3C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71381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D8DC92-CB8E-4972-A5E0-455A04302DCD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83234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62C4B3-D279-48CE-9408-80E74D865B90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56983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F04A7F-8BDB-4012-8157-F2BD056F50D3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499896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C1C05A-92A1-434D-AABF-4F1D9EB5A2AA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2993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E664B99-1D22-448E-BA60-BDE0C0D50157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27572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8D89D-DC94-4184-81E1-014FBA9D9231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230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86550" y="152400"/>
            <a:ext cx="2228850" cy="59436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0" y="152400"/>
            <a:ext cx="6534150" cy="5943600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89785E0-DBD7-44F8-A297-72822A459A23}" type="slidenum">
              <a:rPr lang="pt-BR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3555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98" name="Group 2"/>
          <p:cNvGrpSpPr>
            <a:grpSpLocks/>
          </p:cNvGrpSpPr>
          <p:nvPr/>
        </p:nvGrpSpPr>
        <p:grpSpPr bwMode="auto">
          <a:xfrm>
            <a:off x="0" y="0"/>
            <a:ext cx="3200400" cy="6858000"/>
            <a:chOff x="0" y="0"/>
            <a:chExt cx="2016" cy="4320"/>
          </a:xfrm>
        </p:grpSpPr>
        <p:sp>
          <p:nvSpPr>
            <p:cNvPr id="4099" name="Rectangle 3"/>
            <p:cNvSpPr>
              <a:spLocks noChangeArrowheads="1"/>
            </p:cNvSpPr>
            <p:nvPr/>
          </p:nvSpPr>
          <p:spPr bwMode="auto">
            <a:xfrm>
              <a:off x="0" y="0"/>
              <a:ext cx="480" cy="43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  <p:sp>
          <p:nvSpPr>
            <p:cNvPr id="4100" name="Rectangle 4"/>
            <p:cNvSpPr>
              <a:spLocks noChangeArrowheads="1"/>
            </p:cNvSpPr>
            <p:nvPr/>
          </p:nvSpPr>
          <p:spPr bwMode="auto">
            <a:xfrm>
              <a:off x="432" y="0"/>
              <a:ext cx="1584" cy="67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pt-BR"/>
            </a:p>
          </p:txBody>
        </p:sp>
      </p:grpSp>
      <p:sp>
        <p:nvSpPr>
          <p:cNvPr id="4101" name="AutoShape 5"/>
          <p:cNvSpPr>
            <a:spLocks noChangeArrowheads="1"/>
          </p:cNvSpPr>
          <p:nvPr/>
        </p:nvSpPr>
        <p:spPr bwMode="auto">
          <a:xfrm>
            <a:off x="762000" y="762000"/>
            <a:ext cx="5105400" cy="60960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kumimoji="1" lang="pt-BR">
              <a:latin typeface="Times New Roman" pitchFamily="18" charset="0"/>
            </a:endParaRP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0" y="152400"/>
            <a:ext cx="80010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 estilo do título mestre</a:t>
            </a:r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2362200"/>
            <a:ext cx="800100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104" name="Rectangle 8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010400" y="6553200"/>
            <a:ext cx="19050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400"/>
            </a:lvl1pPr>
          </a:lstStyle>
          <a:p>
            <a:endParaRPr lang="pt-BR"/>
          </a:p>
        </p:txBody>
      </p:sp>
      <p:sp>
        <p:nvSpPr>
          <p:cNvPr id="4105" name="Rectangle 9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936875" y="6529388"/>
            <a:ext cx="2895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ctr">
              <a:defRPr sz="1400"/>
            </a:lvl1pPr>
          </a:lstStyle>
          <a:p>
            <a:r>
              <a:rPr lang="pt-BR"/>
              <a:t>Aula 9 - Visão Computacional</a:t>
            </a:r>
          </a:p>
        </p:txBody>
      </p:sp>
      <p:sp>
        <p:nvSpPr>
          <p:cNvPr id="4106" name="Rectangle 10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4138" y="5946775"/>
            <a:ext cx="587375" cy="885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1" compatLnSpc="1">
            <a:prstTxWarp prst="textNoShape">
              <a:avLst/>
            </a:prstTxWarp>
            <a:spAutoFit/>
          </a:bodyPr>
          <a:lstStyle>
            <a:lvl1pPr>
              <a:defRPr sz="2600" b="1">
                <a:solidFill>
                  <a:schemeClr val="bg1"/>
                </a:solidFill>
              </a:defRPr>
            </a:lvl1pPr>
          </a:lstStyle>
          <a:p>
            <a:fld id="{9377A018-9D77-44A4-822B-310A302ECC04}" type="slidenum">
              <a:rPr lang="pt-BR"/>
              <a:pPr/>
              <a:t>‹nº›</a:t>
            </a:fld>
            <a:endParaRPr lang="pt-BR"/>
          </a:p>
        </p:txBody>
      </p:sp>
      <p:sp>
        <p:nvSpPr>
          <p:cNvPr id="4110" name="Text Box 14"/>
          <p:cNvSpPr txBox="1">
            <a:spLocks noChangeArrowheads="1"/>
          </p:cNvSpPr>
          <p:nvPr userDrawn="1"/>
        </p:nvSpPr>
        <p:spPr bwMode="auto">
          <a:xfrm>
            <a:off x="1203325" y="1481138"/>
            <a:ext cx="279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latin typeface="Tahoma" pitchFamily="34" charset="0"/>
              </a:rPr>
              <a:t> </a:t>
            </a:r>
          </a:p>
        </p:txBody>
      </p:sp>
      <p:sp>
        <p:nvSpPr>
          <p:cNvPr id="4111" name="Text Box 15"/>
          <p:cNvSpPr txBox="1">
            <a:spLocks noChangeArrowheads="1"/>
          </p:cNvSpPr>
          <p:nvPr userDrawn="1"/>
        </p:nvSpPr>
        <p:spPr bwMode="auto">
          <a:xfrm>
            <a:off x="2193925" y="4687888"/>
            <a:ext cx="268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 </a:t>
            </a:r>
          </a:p>
        </p:txBody>
      </p:sp>
      <p:sp>
        <p:nvSpPr>
          <p:cNvPr id="4114" name="Text Box 18"/>
          <p:cNvSpPr txBox="1">
            <a:spLocks noChangeArrowheads="1"/>
          </p:cNvSpPr>
          <p:nvPr userDrawn="1"/>
        </p:nvSpPr>
        <p:spPr bwMode="auto">
          <a:xfrm>
            <a:off x="2651125" y="1870075"/>
            <a:ext cx="1841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hd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Char char="–"/>
        <a:defRPr sz="24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75000"/>
        <a:buFont typeface="Wingdings" pitchFamily="2" charset="2"/>
        <a:buChar char="l"/>
        <a:defRPr sz="20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80000"/>
        <a:buChar char="–"/>
        <a:defRPr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itchFamily="2" charset="2"/>
        <a:buChar char="l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iris.sel.eesc.sc.usp.br/sel886/Aula9.zip" TargetMode="Externa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wmf"/><Relationship Id="rId4" Type="http://schemas.openxmlformats.org/officeDocument/2006/relationships/oleObject" Target="../embeddings/oleObject5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8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3.wmf"/><Relationship Id="rId4" Type="http://schemas.openxmlformats.org/officeDocument/2006/relationships/oleObject" Target="../embeddings/oleObject12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wmf"/><Relationship Id="rId2" Type="http://schemas.openxmlformats.org/officeDocument/2006/relationships/oleObject" Target="../embeddings/oleObject13.bin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wmf"/><Relationship Id="rId5" Type="http://schemas.openxmlformats.org/officeDocument/2006/relationships/oleObject" Target="../embeddings/oleObject15.bin"/><Relationship Id="rId4" Type="http://schemas.openxmlformats.org/officeDocument/2006/relationships/oleObject" Target="../embeddings/oleObject14.bin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6.bin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wmf"/><Relationship Id="rId2" Type="http://schemas.openxmlformats.org/officeDocument/2006/relationships/oleObject" Target="../embeddings/oleObject17.bin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2.xml"/><Relationship Id="rId5" Type="http://schemas.openxmlformats.org/officeDocument/2006/relationships/image" Target="../media/image27.png"/><Relationship Id="rId4" Type="http://schemas.openxmlformats.org/officeDocument/2006/relationships/customXml" Target="../ink/ink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wmf"/><Relationship Id="rId4" Type="http://schemas.openxmlformats.org/officeDocument/2006/relationships/oleObject" Target="../embeddings/oleObject18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wmf"/><Relationship Id="rId2" Type="http://schemas.openxmlformats.org/officeDocument/2006/relationships/oleObject" Target="../embeddings/oleObject19.bin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20.bin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41.wmf"/><Relationship Id="rId3" Type="http://schemas.openxmlformats.org/officeDocument/2006/relationships/image" Target="../media/image36.wmf"/><Relationship Id="rId7" Type="http://schemas.openxmlformats.org/officeDocument/2006/relationships/image" Target="../media/image38.w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43.w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40.wmf"/><Relationship Id="rId5" Type="http://schemas.openxmlformats.org/officeDocument/2006/relationships/image" Target="../media/image37.wmf"/><Relationship Id="rId15" Type="http://schemas.openxmlformats.org/officeDocument/2006/relationships/image" Target="../media/image42.wmf"/><Relationship Id="rId10" Type="http://schemas.openxmlformats.org/officeDocument/2006/relationships/oleObject" Target="../embeddings/oleObject25.bin"/><Relationship Id="rId4" Type="http://schemas.openxmlformats.org/officeDocument/2006/relationships/oleObject" Target="../embeddings/oleObject22.bin"/><Relationship Id="rId9" Type="http://schemas.openxmlformats.org/officeDocument/2006/relationships/image" Target="../media/image39.wmf"/><Relationship Id="rId14" Type="http://schemas.openxmlformats.org/officeDocument/2006/relationships/oleObject" Target="../embeddings/oleObject27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2.bin"/><Relationship Id="rId13" Type="http://schemas.openxmlformats.org/officeDocument/2006/relationships/image" Target="../media/image48.wmf"/><Relationship Id="rId3" Type="http://schemas.openxmlformats.org/officeDocument/2006/relationships/image" Target="../media/image43.wmf"/><Relationship Id="rId7" Type="http://schemas.openxmlformats.org/officeDocument/2006/relationships/image" Target="../media/image45.wmf"/><Relationship Id="rId12" Type="http://schemas.openxmlformats.org/officeDocument/2006/relationships/oleObject" Target="../embeddings/oleObject34.bin"/><Relationship Id="rId2" Type="http://schemas.openxmlformats.org/officeDocument/2006/relationships/oleObject" Target="../embeddings/oleObject29.bin"/><Relationship Id="rId1" Type="http://schemas.openxmlformats.org/officeDocument/2006/relationships/slideLayout" Target="../slideLayouts/slideLayout6.xml"/><Relationship Id="rId6" Type="http://schemas.openxmlformats.org/officeDocument/2006/relationships/oleObject" Target="../embeddings/oleObject31.bin"/><Relationship Id="rId11" Type="http://schemas.openxmlformats.org/officeDocument/2006/relationships/image" Target="../media/image47.wmf"/><Relationship Id="rId5" Type="http://schemas.openxmlformats.org/officeDocument/2006/relationships/image" Target="../media/image44.wmf"/><Relationship Id="rId15" Type="http://schemas.openxmlformats.org/officeDocument/2006/relationships/image" Target="../media/image38.wmf"/><Relationship Id="rId10" Type="http://schemas.openxmlformats.org/officeDocument/2006/relationships/oleObject" Target="../embeddings/oleObject33.bin"/><Relationship Id="rId4" Type="http://schemas.openxmlformats.org/officeDocument/2006/relationships/oleObject" Target="../embeddings/oleObject30.bin"/><Relationship Id="rId9" Type="http://schemas.openxmlformats.org/officeDocument/2006/relationships/image" Target="../media/image46.wmf"/><Relationship Id="rId14" Type="http://schemas.openxmlformats.org/officeDocument/2006/relationships/oleObject" Target="../embeddings/oleObject35.bin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36.bin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wmf"/><Relationship Id="rId2" Type="http://schemas.openxmlformats.org/officeDocument/2006/relationships/oleObject" Target="../embeddings/oleObject37.bin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wmf"/><Relationship Id="rId2" Type="http://schemas.openxmlformats.org/officeDocument/2006/relationships/oleObject" Target="../embeddings/oleObject38.bin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39.bin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5" Type="http://schemas.openxmlformats.org/officeDocument/2006/relationships/image" Target="../media/image55.png"/><Relationship Id="rId4" Type="http://schemas.openxmlformats.org/officeDocument/2006/relationships/image" Target="../media/image5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wmf"/><Relationship Id="rId2" Type="http://schemas.openxmlformats.org/officeDocument/2006/relationships/oleObject" Target="../embeddings/oleObject40.bin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7" Type="http://schemas.openxmlformats.org/officeDocument/2006/relationships/image" Target="../media/image62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1.png"/><Relationship Id="rId5" Type="http://schemas.openxmlformats.org/officeDocument/2006/relationships/image" Target="../media/image60.png"/><Relationship Id="rId4" Type="http://schemas.openxmlformats.org/officeDocument/2006/relationships/image" Target="../media/image5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oleObject" Target="../embeddings/oleObject41.bin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5D554F-F3C7-4C8C-BA83-4E9FE1A92C91}" type="slidenum">
              <a:rPr lang="pt-BR"/>
              <a:pPr/>
              <a:t>1</a:t>
            </a:fld>
            <a:endParaRPr lang="pt-BR"/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3200400" y="152400"/>
            <a:ext cx="5715000" cy="838200"/>
          </a:xfrm>
        </p:spPr>
        <p:txBody>
          <a:bodyPr/>
          <a:lstStyle/>
          <a:p>
            <a:pPr algn="ctr"/>
            <a:r>
              <a:rPr lang="pt-BR" sz="3200">
                <a:solidFill>
                  <a:srgbClr val="0066FF"/>
                </a:solidFill>
              </a:rPr>
              <a:t>Aula 9  </a:t>
            </a:r>
            <a:br>
              <a:rPr lang="pt-BR" sz="3200">
                <a:solidFill>
                  <a:srgbClr val="0066FF"/>
                </a:solidFill>
              </a:rPr>
            </a:br>
            <a:r>
              <a:rPr lang="pt-BR" sz="3200">
                <a:solidFill>
                  <a:srgbClr val="0066FF"/>
                </a:solidFill>
              </a:rPr>
              <a:t>Morfologia Matemática</a:t>
            </a:r>
          </a:p>
        </p:txBody>
      </p:sp>
      <p:sp>
        <p:nvSpPr>
          <p:cNvPr id="2053" name="Text Box 5">
            <a:hlinkClick r:id="rId2"/>
          </p:cNvPr>
          <p:cNvSpPr txBox="1">
            <a:spLocks noChangeArrowheads="1"/>
          </p:cNvSpPr>
          <p:nvPr/>
        </p:nvSpPr>
        <p:spPr bwMode="auto">
          <a:xfrm>
            <a:off x="685800" y="5116513"/>
            <a:ext cx="1477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latin typeface="Arioso" pitchFamily="2" charset="0"/>
              </a:rPr>
              <a:t>Download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5334000" y="5040313"/>
            <a:ext cx="31353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latin typeface="Arioso" pitchFamily="2" charset="0"/>
              </a:rPr>
              <a:t>Prof. Adilson Gonzaga</a:t>
            </a:r>
          </a:p>
        </p:txBody>
      </p:sp>
      <p:pic>
        <p:nvPicPr>
          <p:cNvPr id="2055" name="Picture 7" descr="E:\Curso_Visão_UFSc\1998\cleiton\Image17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905000"/>
            <a:ext cx="2389188" cy="23891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9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6BE99-6926-45A1-91BC-51ABF43468C7}" type="slidenum">
              <a:rPr lang="pt-BR"/>
              <a:pPr/>
              <a:t>2</a:t>
            </a:fld>
            <a:endParaRPr lang="pt-BR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2133600" cy="533400"/>
          </a:xfrm>
        </p:spPr>
        <p:txBody>
          <a:bodyPr/>
          <a:lstStyle/>
          <a:p>
            <a:r>
              <a:rPr lang="pt-BR"/>
              <a:t>Morfologia:</a:t>
            </a:r>
          </a:p>
        </p:txBody>
      </p:sp>
      <p:sp>
        <p:nvSpPr>
          <p:cNvPr id="6148" name="Text Box 4"/>
          <p:cNvSpPr txBox="1">
            <a:spLocks noChangeArrowheads="1"/>
          </p:cNvSpPr>
          <p:nvPr/>
        </p:nvSpPr>
        <p:spPr bwMode="auto">
          <a:xfrm>
            <a:off x="3184525" y="192088"/>
            <a:ext cx="59293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Na Biologia:</a:t>
            </a:r>
            <a:r>
              <a:rPr lang="pt-BR"/>
              <a:t> área que trata com a forma e </a:t>
            </a:r>
          </a:p>
          <a:p>
            <a:r>
              <a:rPr lang="pt-BR"/>
              <a:t>a estrutura de plantas e animais.</a:t>
            </a:r>
          </a:p>
        </p:txBody>
      </p:sp>
      <p:sp>
        <p:nvSpPr>
          <p:cNvPr id="6149" name="Text Box 5"/>
          <p:cNvSpPr txBox="1">
            <a:spLocks noChangeArrowheads="1"/>
          </p:cNvSpPr>
          <p:nvPr/>
        </p:nvSpPr>
        <p:spPr bwMode="auto">
          <a:xfrm>
            <a:off x="746125" y="1258888"/>
            <a:ext cx="3587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Morfologia Matemática:</a:t>
            </a:r>
          </a:p>
        </p:txBody>
      </p:sp>
      <p:sp>
        <p:nvSpPr>
          <p:cNvPr id="6150" name="Text Box 6"/>
          <p:cNvSpPr txBox="1">
            <a:spLocks noChangeArrowheads="1"/>
          </p:cNvSpPr>
          <p:nvPr/>
        </p:nvSpPr>
        <p:spPr bwMode="auto">
          <a:xfrm>
            <a:off x="838200" y="1905000"/>
            <a:ext cx="8001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/>
              <a:t>Ferramenta para extração de componentes de imagens que sejam úteis na representação e descrição da forma de uma região.</a:t>
            </a:r>
          </a:p>
        </p:txBody>
      </p:sp>
      <p:sp>
        <p:nvSpPr>
          <p:cNvPr id="6152" name="Text Box 8"/>
          <p:cNvSpPr txBox="1">
            <a:spLocks noChangeArrowheads="1"/>
          </p:cNvSpPr>
          <p:nvPr/>
        </p:nvSpPr>
        <p:spPr bwMode="auto">
          <a:xfrm>
            <a:off x="838200" y="3581400"/>
            <a:ext cx="77279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/>
              <a:t> As técnicas morfológicas também são utilizadas para</a:t>
            </a:r>
            <a:br>
              <a:rPr lang="pt-BR"/>
            </a:br>
            <a:r>
              <a:rPr lang="pt-BR"/>
              <a:t>filtragem, afinamento e poda.</a:t>
            </a: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838200" y="4876800"/>
            <a:ext cx="78644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/>
              <a:t> A linguagem da Morfologia Matemática é a Teoria dos</a:t>
            </a:r>
            <a:br>
              <a:rPr lang="pt-BR"/>
            </a:br>
            <a:r>
              <a:rPr lang="pt-BR"/>
              <a:t>Conjuntos.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D7BAEC-6829-4712-9AD4-EFBA6AA75DEB}" type="slidenum">
              <a:rPr lang="pt-BR"/>
              <a:pPr/>
              <a:t>3</a:t>
            </a:fld>
            <a:endParaRPr lang="pt-BR"/>
          </a:p>
        </p:txBody>
      </p:sp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581400" cy="533400"/>
          </a:xfrm>
        </p:spPr>
        <p:txBody>
          <a:bodyPr/>
          <a:lstStyle/>
          <a:p>
            <a:r>
              <a:rPr lang="pt-BR" sz="2400"/>
              <a:t>Definições Básicas: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79787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/>
              <a:t> O conjunto de todos os píxels pretos de uma Imagem 	Binária é uma descrição completa dessa Imagem. </a:t>
            </a: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381000" y="2514600"/>
            <a:ext cx="8016875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/>
              <a:t> Em </a:t>
            </a:r>
            <a:r>
              <a:rPr lang="pt-BR">
                <a:solidFill>
                  <a:srgbClr val="FF0000"/>
                </a:solidFill>
              </a:rPr>
              <a:t>Imagens Binária</a:t>
            </a:r>
            <a:r>
              <a:rPr lang="pt-BR"/>
              <a:t>s, os conjuntos são membros do       	espaço bi-dimensional de números inteiros </a:t>
            </a:r>
            <a:r>
              <a:rPr lang="pt-BR">
                <a:solidFill>
                  <a:srgbClr val="FF0000"/>
                </a:solidFill>
              </a:rPr>
              <a:t>Z</a:t>
            </a:r>
            <a:r>
              <a:rPr lang="pt-BR" baseline="30000">
                <a:solidFill>
                  <a:srgbClr val="FF0000"/>
                </a:solidFill>
              </a:rPr>
              <a:t>2</a:t>
            </a:r>
            <a:r>
              <a:rPr lang="pt-BR"/>
              <a:t>, em 	que cada  elemento é um vetor cujas coordenadas 	são (x,y).</a:t>
            </a:r>
          </a:p>
        </p:txBody>
      </p:sp>
      <p:sp>
        <p:nvSpPr>
          <p:cNvPr id="7173" name="Text Box 5"/>
          <p:cNvSpPr txBox="1">
            <a:spLocks noChangeArrowheads="1"/>
          </p:cNvSpPr>
          <p:nvPr/>
        </p:nvSpPr>
        <p:spPr bwMode="auto">
          <a:xfrm>
            <a:off x="381000" y="4343400"/>
            <a:ext cx="847407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/>
              <a:t> Imagens digitais em </a:t>
            </a:r>
            <a:r>
              <a:rPr lang="pt-BR">
                <a:solidFill>
                  <a:srgbClr val="FF0000"/>
                </a:solidFill>
              </a:rPr>
              <a:t>nível de cinza</a:t>
            </a:r>
            <a:r>
              <a:rPr lang="pt-BR"/>
              <a:t> podem ser </a:t>
            </a:r>
          </a:p>
          <a:p>
            <a:pPr>
              <a:buFont typeface="Wingdings" pitchFamily="2" charset="2"/>
              <a:buNone/>
            </a:pPr>
            <a:r>
              <a:rPr lang="pt-BR"/>
              <a:t>    	representadas por conjuntos cujos componentes </a:t>
            </a:r>
            <a:br>
              <a:rPr lang="pt-BR"/>
            </a:br>
            <a:r>
              <a:rPr lang="pt-BR"/>
              <a:t>	estejam em </a:t>
            </a:r>
            <a:r>
              <a:rPr lang="pt-BR">
                <a:solidFill>
                  <a:srgbClr val="FF0000"/>
                </a:solidFill>
              </a:rPr>
              <a:t>Z</a:t>
            </a:r>
            <a:r>
              <a:rPr lang="pt-BR" baseline="30000">
                <a:solidFill>
                  <a:srgbClr val="FF0000"/>
                </a:solidFill>
              </a:rPr>
              <a:t>3</a:t>
            </a:r>
            <a:r>
              <a:rPr lang="pt-BR"/>
              <a:t>. Dois  componentes de cada elemento </a:t>
            </a:r>
            <a:br>
              <a:rPr lang="pt-BR"/>
            </a:br>
            <a:r>
              <a:rPr lang="pt-BR"/>
              <a:t>	são as coordenadas do píxel e o terceiro corresponde </a:t>
            </a:r>
            <a:br>
              <a:rPr lang="pt-BR"/>
            </a:br>
            <a:r>
              <a:rPr lang="pt-BR"/>
              <a:t>	ao valor da Intensidade.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14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C41458-C003-4EE3-B4E2-1F51CEBDF5BF}" type="slidenum">
              <a:rPr lang="pt-BR"/>
              <a:pPr/>
              <a:t>4</a:t>
            </a:fld>
            <a:endParaRPr lang="pt-BR"/>
          </a:p>
        </p:txBody>
      </p:sp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 sz="2400"/>
              <a:t>Definições Básicas:</a:t>
            </a:r>
          </a:p>
        </p:txBody>
      </p:sp>
      <p:sp>
        <p:nvSpPr>
          <p:cNvPr id="8195" name="Text Box 3"/>
          <p:cNvSpPr txBox="1">
            <a:spLocks noChangeArrowheads="1"/>
          </p:cNvSpPr>
          <p:nvPr/>
        </p:nvSpPr>
        <p:spPr bwMode="auto">
          <a:xfrm>
            <a:off x="381000" y="914400"/>
            <a:ext cx="71755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/>
              <a:t> Sejam A e B conjuntos de Z</a:t>
            </a:r>
            <a:r>
              <a:rPr lang="pt-BR" baseline="30000"/>
              <a:t>2</a:t>
            </a:r>
            <a:r>
              <a:rPr lang="pt-BR"/>
              <a:t>, com componentes:</a:t>
            </a:r>
          </a:p>
        </p:txBody>
      </p:sp>
      <p:sp>
        <p:nvSpPr>
          <p:cNvPr id="8196" name="Text Box 4"/>
          <p:cNvSpPr txBox="1">
            <a:spLocks noChangeArrowheads="1"/>
          </p:cNvSpPr>
          <p:nvPr/>
        </p:nvSpPr>
        <p:spPr bwMode="auto">
          <a:xfrm>
            <a:off x="1981200" y="1447800"/>
            <a:ext cx="163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= (a</a:t>
            </a:r>
            <a:r>
              <a:rPr lang="pt-BR" baseline="-25000"/>
              <a:t>1</a:t>
            </a:r>
            <a:r>
              <a:rPr lang="pt-BR"/>
              <a:t>, a</a:t>
            </a:r>
            <a:r>
              <a:rPr lang="pt-BR" baseline="-25000"/>
              <a:t>2</a:t>
            </a:r>
            <a:r>
              <a:rPr lang="pt-BR"/>
              <a:t>)</a:t>
            </a:r>
          </a:p>
        </p:txBody>
      </p:sp>
      <p:sp>
        <p:nvSpPr>
          <p:cNvPr id="8197" name="Text Box 5"/>
          <p:cNvSpPr txBox="1">
            <a:spLocks noChangeArrowheads="1"/>
          </p:cNvSpPr>
          <p:nvPr/>
        </p:nvSpPr>
        <p:spPr bwMode="auto">
          <a:xfrm>
            <a:off x="4114800" y="1447800"/>
            <a:ext cx="1636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b = (b</a:t>
            </a:r>
            <a:r>
              <a:rPr lang="pt-BR" baseline="-25000"/>
              <a:t>1</a:t>
            </a:r>
            <a:r>
              <a:rPr lang="pt-BR"/>
              <a:t>, b</a:t>
            </a:r>
            <a:r>
              <a:rPr lang="pt-BR" baseline="-25000"/>
              <a:t>2</a:t>
            </a:r>
            <a:r>
              <a:rPr lang="pt-BR"/>
              <a:t>)</a:t>
            </a:r>
          </a:p>
        </p:txBody>
      </p:sp>
      <p:sp>
        <p:nvSpPr>
          <p:cNvPr id="8198" name="Text Box 6"/>
          <p:cNvSpPr txBox="1">
            <a:spLocks noChangeArrowheads="1"/>
          </p:cNvSpPr>
          <p:nvPr/>
        </p:nvSpPr>
        <p:spPr bwMode="auto">
          <a:xfrm>
            <a:off x="990600" y="2743200"/>
            <a:ext cx="33512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Translação</a:t>
            </a:r>
            <a:r>
              <a:rPr lang="pt-BR"/>
              <a:t> de A por x:</a:t>
            </a:r>
          </a:p>
        </p:txBody>
      </p:sp>
      <p:sp>
        <p:nvSpPr>
          <p:cNvPr id="8199" name="Rectangle 7"/>
          <p:cNvSpPr>
            <a:spLocks noChangeArrowheads="1"/>
          </p:cNvSpPr>
          <p:nvPr/>
        </p:nvSpPr>
        <p:spPr bwMode="auto">
          <a:xfrm>
            <a:off x="762000" y="2133600"/>
            <a:ext cx="2551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Sendo x = (x</a:t>
            </a:r>
            <a:r>
              <a:rPr lang="pt-BR" baseline="-25000"/>
              <a:t>1</a:t>
            </a:r>
            <a:r>
              <a:rPr lang="pt-BR"/>
              <a:t>, x</a:t>
            </a:r>
            <a:r>
              <a:rPr lang="pt-BR" baseline="-25000"/>
              <a:t>2</a:t>
            </a:r>
            <a:r>
              <a:rPr lang="pt-BR"/>
              <a:t>)</a:t>
            </a:r>
          </a:p>
        </p:txBody>
      </p:sp>
      <p:graphicFrame>
        <p:nvGraphicFramePr>
          <p:cNvPr id="8200" name="Object 8"/>
          <p:cNvGraphicFramePr>
            <a:graphicFrameLocks noChangeAspect="1"/>
          </p:cNvGraphicFramePr>
          <p:nvPr/>
        </p:nvGraphicFramePr>
        <p:xfrm>
          <a:off x="1295400" y="3276600"/>
          <a:ext cx="4165600" cy="520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31840" imgH="253800" progId="Equation.3">
                  <p:embed/>
                </p:oleObj>
              </mc:Choice>
              <mc:Fallback>
                <p:oleObj name="Equation" r:id="rId2" imgW="2031840" imgH="253800" progId="Equation.3">
                  <p:embed/>
                  <p:pic>
                    <p:nvPicPr>
                      <p:cNvPr id="820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5400" y="3276600"/>
                        <a:ext cx="4165600" cy="520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203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3962400"/>
            <a:ext cx="2439988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8204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9800" y="3962400"/>
            <a:ext cx="2428875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205" name="Text Box 13"/>
          <p:cNvSpPr txBox="1">
            <a:spLocks noChangeArrowheads="1"/>
          </p:cNvSpPr>
          <p:nvPr/>
        </p:nvSpPr>
        <p:spPr bwMode="auto">
          <a:xfrm>
            <a:off x="2270125" y="4154488"/>
            <a:ext cx="2855913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Origem do conjunto</a:t>
            </a:r>
          </a:p>
        </p:txBody>
      </p:sp>
      <p:sp>
        <p:nvSpPr>
          <p:cNvPr id="8206" name="Line 14"/>
          <p:cNvSpPr>
            <a:spLocks noChangeShapeType="1"/>
          </p:cNvSpPr>
          <p:nvPr/>
        </p:nvSpPr>
        <p:spPr bwMode="auto">
          <a:xfrm flipH="1">
            <a:off x="1752600" y="4419600"/>
            <a:ext cx="533400" cy="3048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10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A11FE3-F007-4C9C-B24F-B741E48AB661}" type="slidenum">
              <a:rPr lang="pt-BR"/>
              <a:pPr/>
              <a:t>5</a:t>
            </a:fld>
            <a:endParaRPr lang="pt-BR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 sz="2400"/>
              <a:t>Definições Básicas:</a:t>
            </a:r>
          </a:p>
        </p:txBody>
      </p:sp>
      <p:sp>
        <p:nvSpPr>
          <p:cNvPr id="9223" name="Text Box 7"/>
          <p:cNvSpPr txBox="1">
            <a:spLocks noChangeArrowheads="1"/>
          </p:cNvSpPr>
          <p:nvPr/>
        </p:nvSpPr>
        <p:spPr bwMode="auto">
          <a:xfrm>
            <a:off x="990600" y="1081088"/>
            <a:ext cx="22510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Reflexão</a:t>
            </a:r>
            <a:r>
              <a:rPr lang="pt-BR"/>
              <a:t> de B:</a:t>
            </a:r>
          </a:p>
        </p:txBody>
      </p:sp>
      <p:graphicFrame>
        <p:nvGraphicFramePr>
          <p:cNvPr id="9224" name="Object 8"/>
          <p:cNvGraphicFramePr>
            <a:graphicFrameLocks noChangeAspect="1"/>
          </p:cNvGraphicFramePr>
          <p:nvPr/>
        </p:nvGraphicFramePr>
        <p:xfrm>
          <a:off x="1371600" y="1676400"/>
          <a:ext cx="4267200" cy="644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65080" imgH="266400" progId="Equation.3">
                  <p:embed/>
                </p:oleObj>
              </mc:Choice>
              <mc:Fallback>
                <p:oleObj name="Equation" r:id="rId2" imgW="1765080" imgH="266400" progId="Equation.3">
                  <p:embed/>
                  <p:pic>
                    <p:nvPicPr>
                      <p:cNvPr id="922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1600" y="1676400"/>
                        <a:ext cx="4267200" cy="644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2895600"/>
            <a:ext cx="2400300" cy="2390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2895600"/>
            <a:ext cx="2409825" cy="240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227" name="Text Box 11"/>
          <p:cNvSpPr txBox="1">
            <a:spLocks noChangeArrowheads="1"/>
          </p:cNvSpPr>
          <p:nvPr/>
        </p:nvSpPr>
        <p:spPr bwMode="auto">
          <a:xfrm>
            <a:off x="2286000" y="3124200"/>
            <a:ext cx="2855913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Origem do conjunto</a:t>
            </a:r>
          </a:p>
        </p:txBody>
      </p:sp>
      <p:sp>
        <p:nvSpPr>
          <p:cNvPr id="9228" name="Line 12"/>
          <p:cNvSpPr>
            <a:spLocks noChangeShapeType="1"/>
          </p:cNvSpPr>
          <p:nvPr/>
        </p:nvSpPr>
        <p:spPr bwMode="auto">
          <a:xfrm flipH="1">
            <a:off x="2362200" y="3581400"/>
            <a:ext cx="457200" cy="3810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B21DEB-E7C3-45DD-A5D8-1D52703B0D45}" type="slidenum">
              <a:rPr lang="pt-BR"/>
              <a:pPr/>
              <a:t>6</a:t>
            </a:fld>
            <a:endParaRPr lang="pt-BR"/>
          </a:p>
        </p:txBody>
      </p:sp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 sz="2400"/>
              <a:t>Definições Básicas:</a:t>
            </a:r>
          </a:p>
        </p:txBody>
      </p:sp>
      <p:sp>
        <p:nvSpPr>
          <p:cNvPr id="10247" name="Text Box 7"/>
          <p:cNvSpPr txBox="1">
            <a:spLocks noChangeArrowheads="1"/>
          </p:cNvSpPr>
          <p:nvPr/>
        </p:nvSpPr>
        <p:spPr bwMode="auto">
          <a:xfrm>
            <a:off x="914400" y="990600"/>
            <a:ext cx="42497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Complemento</a:t>
            </a:r>
            <a:r>
              <a:rPr lang="pt-BR"/>
              <a:t> do conjunto A:</a:t>
            </a:r>
          </a:p>
        </p:txBody>
      </p:sp>
      <p:graphicFrame>
        <p:nvGraphicFramePr>
          <p:cNvPr id="10248" name="Object 8"/>
          <p:cNvGraphicFramePr>
            <a:graphicFrameLocks noChangeAspect="1"/>
          </p:cNvGraphicFramePr>
          <p:nvPr/>
        </p:nvGraphicFramePr>
        <p:xfrm>
          <a:off x="1692275" y="1789113"/>
          <a:ext cx="1962150" cy="568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76240" imgH="253800" progId="Equation.3">
                  <p:embed/>
                </p:oleObj>
              </mc:Choice>
              <mc:Fallback>
                <p:oleObj name="Equation" r:id="rId2" imgW="876240" imgH="253800" progId="Equation.3">
                  <p:embed/>
                  <p:pic>
                    <p:nvPicPr>
                      <p:cNvPr id="1024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2275" y="1789113"/>
                        <a:ext cx="1962150" cy="568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0249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3048000"/>
            <a:ext cx="2449513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8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DD4327-F660-4134-A4E6-EF45647998BD}" type="slidenum">
              <a:rPr lang="pt-BR"/>
              <a:pPr/>
              <a:t>7</a:t>
            </a:fld>
            <a:endParaRPr lang="pt-BR"/>
          </a:p>
        </p:txBody>
      </p:sp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 sz="2400"/>
              <a:t>Definições Básicas: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914400" y="990600"/>
            <a:ext cx="7696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Interseção</a:t>
            </a:r>
            <a:r>
              <a:rPr lang="pt-BR" b="1">
                <a:cs typeface="Times New Roman" pitchFamily="18" charset="0"/>
              </a:rPr>
              <a:t>  </a:t>
            </a:r>
            <a:r>
              <a:rPr lang="pt-BR">
                <a:cs typeface="Times New Roman" pitchFamily="18" charset="0"/>
              </a:rPr>
              <a:t>de dois conjuntos A e B é o conjunto de pixels pertencentes a ambos A e B:</a:t>
            </a:r>
            <a:endParaRPr lang="pt-BR"/>
          </a:p>
        </p:txBody>
      </p:sp>
      <p:graphicFrame>
        <p:nvGraphicFramePr>
          <p:cNvPr id="15364" name="Object 4"/>
          <p:cNvGraphicFramePr>
            <a:graphicFrameLocks noChangeAspect="1"/>
          </p:cNvGraphicFramePr>
          <p:nvPr/>
        </p:nvGraphicFramePr>
        <p:xfrm>
          <a:off x="1828800" y="2209800"/>
          <a:ext cx="45339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52480" imgH="253800" progId="Equation.3">
                  <p:embed/>
                </p:oleObj>
              </mc:Choice>
              <mc:Fallback>
                <p:oleObj name="Equation" r:id="rId2" imgW="1752480" imgH="253800" progId="Equation.3">
                  <p:embed/>
                  <p:pic>
                    <p:nvPicPr>
                      <p:cNvPr id="15364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2209800"/>
                        <a:ext cx="45339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5" name="Text Box 5"/>
          <p:cNvSpPr txBox="1">
            <a:spLocks noChangeArrowheads="1"/>
          </p:cNvSpPr>
          <p:nvPr/>
        </p:nvSpPr>
        <p:spPr bwMode="auto">
          <a:xfrm>
            <a:off x="1066800" y="3276600"/>
            <a:ext cx="7696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União </a:t>
            </a:r>
            <a:r>
              <a:rPr lang="pt-BR">
                <a:cs typeface="Times New Roman" pitchFamily="18" charset="0"/>
              </a:rPr>
              <a:t> de dois conjuntos A e B é o conjunto de pixels que pertencem ou A ou B ou ambos:</a:t>
            </a:r>
            <a:r>
              <a:rPr lang="pt-BR"/>
              <a:t> </a:t>
            </a:r>
          </a:p>
        </p:txBody>
      </p:sp>
      <p:graphicFrame>
        <p:nvGraphicFramePr>
          <p:cNvPr id="15366" name="Object 6"/>
          <p:cNvGraphicFramePr>
            <a:graphicFrameLocks noChangeAspect="1"/>
          </p:cNvGraphicFramePr>
          <p:nvPr/>
        </p:nvGraphicFramePr>
        <p:xfrm>
          <a:off x="1828800" y="4495800"/>
          <a:ext cx="4533900" cy="657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52480" imgH="253800" progId="Equation.3">
                  <p:embed/>
                </p:oleObj>
              </mc:Choice>
              <mc:Fallback>
                <p:oleObj name="Equation" r:id="rId4" imgW="1752480" imgH="253800" progId="Equation.3">
                  <p:embed/>
                  <p:pic>
                    <p:nvPicPr>
                      <p:cNvPr id="153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495800"/>
                        <a:ext cx="4533900" cy="657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8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13C16-DB77-45E8-854B-C8C14A6107EA}" type="slidenum">
              <a:rPr lang="pt-BR"/>
              <a:pPr/>
              <a:t>8</a:t>
            </a:fld>
            <a:endParaRPr lang="pt-BR"/>
          </a:p>
        </p:txBody>
      </p:sp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 sz="2400"/>
              <a:t>Definições Básicas:</a:t>
            </a:r>
          </a:p>
        </p:txBody>
      </p:sp>
      <p:sp>
        <p:nvSpPr>
          <p:cNvPr id="11267" name="Text Box 3"/>
          <p:cNvSpPr txBox="1">
            <a:spLocks noChangeArrowheads="1"/>
          </p:cNvSpPr>
          <p:nvPr/>
        </p:nvSpPr>
        <p:spPr bwMode="auto">
          <a:xfrm>
            <a:off x="838200" y="1066800"/>
            <a:ext cx="47101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Diferença</a:t>
            </a:r>
            <a:r>
              <a:rPr lang="pt-BR"/>
              <a:t> de dois conjuntos A-B:</a:t>
            </a:r>
          </a:p>
        </p:txBody>
      </p:sp>
      <p:graphicFrame>
        <p:nvGraphicFramePr>
          <p:cNvPr id="11268" name="Object 4"/>
          <p:cNvGraphicFramePr>
            <a:graphicFrameLocks noChangeAspect="1"/>
          </p:cNvGraphicFramePr>
          <p:nvPr/>
        </p:nvGraphicFramePr>
        <p:xfrm>
          <a:off x="1387475" y="2017713"/>
          <a:ext cx="4114800" cy="523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993680" imgH="253800" progId="Equation.3">
                  <p:embed/>
                </p:oleObj>
              </mc:Choice>
              <mc:Fallback>
                <p:oleObj name="Equation" r:id="rId2" imgW="1993680" imgH="253800" progId="Equation.3">
                  <p:embed/>
                  <p:pic>
                    <p:nvPicPr>
                      <p:cNvPr id="1126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87475" y="2017713"/>
                        <a:ext cx="4114800" cy="523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1269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2971800"/>
            <a:ext cx="2449513" cy="241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270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2895600"/>
            <a:ext cx="2409825" cy="2400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11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D7FEEC-EE53-485F-B657-73C616B7E486}" type="slidenum">
              <a:rPr lang="pt-BR"/>
              <a:pPr/>
              <a:t>9</a:t>
            </a:fld>
            <a:endParaRPr lang="pt-BR"/>
          </a:p>
        </p:txBody>
      </p:sp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/>
              <a:t>Dilatação:</a:t>
            </a:r>
          </a:p>
        </p:txBody>
      </p:sp>
      <p:sp>
        <p:nvSpPr>
          <p:cNvPr id="12291" name="Text Box 3"/>
          <p:cNvSpPr txBox="1">
            <a:spLocks noChangeArrowheads="1"/>
          </p:cNvSpPr>
          <p:nvPr/>
        </p:nvSpPr>
        <p:spPr bwMode="auto">
          <a:xfrm>
            <a:off x="1127125" y="954088"/>
            <a:ext cx="585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e B conjuntos de Z</a:t>
            </a:r>
            <a:r>
              <a:rPr lang="pt-BR" baseline="30000"/>
              <a:t>2</a:t>
            </a:r>
            <a:r>
              <a:rPr lang="pt-BR"/>
              <a:t> (Imagens Binárias).</a:t>
            </a:r>
          </a:p>
        </p:txBody>
      </p:sp>
      <p:sp>
        <p:nvSpPr>
          <p:cNvPr id="12292" name="Text Box 4"/>
          <p:cNvSpPr txBox="1">
            <a:spLocks noChangeArrowheads="1"/>
          </p:cNvSpPr>
          <p:nvPr/>
        </p:nvSpPr>
        <p:spPr bwMode="auto">
          <a:xfrm>
            <a:off x="1050925" y="1563688"/>
            <a:ext cx="5673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</a:t>
            </a:r>
            <a:r>
              <a:rPr lang="pt-BR" b="1">
                <a:solidFill>
                  <a:srgbClr val="FF0000"/>
                </a:solidFill>
              </a:rPr>
              <a:t>Dilatação</a:t>
            </a:r>
            <a:r>
              <a:rPr lang="pt-BR"/>
              <a:t> de A por B é definida como:</a:t>
            </a:r>
          </a:p>
        </p:txBody>
      </p:sp>
      <p:graphicFrame>
        <p:nvGraphicFramePr>
          <p:cNvPr id="12293" name="Object 5"/>
          <p:cNvGraphicFramePr>
            <a:graphicFrameLocks noChangeAspect="1"/>
          </p:cNvGraphicFramePr>
          <p:nvPr/>
        </p:nvGraphicFramePr>
        <p:xfrm>
          <a:off x="1981200" y="2286000"/>
          <a:ext cx="4203700" cy="750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549080" imgH="304560" progId="Equation.3">
                  <p:embed/>
                </p:oleObj>
              </mc:Choice>
              <mc:Fallback>
                <p:oleObj name="Equation" r:id="rId2" imgW="1549080" imgH="304560" progId="Equation.3">
                  <p:embed/>
                  <p:pic>
                    <p:nvPicPr>
                      <p:cNvPr id="1229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2286000"/>
                        <a:ext cx="4203700" cy="750888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4" name="Text Box 6"/>
          <p:cNvSpPr txBox="1">
            <a:spLocks noChangeArrowheads="1"/>
          </p:cNvSpPr>
          <p:nvPr/>
        </p:nvSpPr>
        <p:spPr bwMode="auto">
          <a:xfrm>
            <a:off x="898525" y="3392488"/>
            <a:ext cx="55959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pt-BR"/>
              <a:t> Reflexão de B em torno de sua origem</a:t>
            </a:r>
          </a:p>
          <a:p>
            <a:pPr>
              <a:buFontTx/>
              <a:buChar char="•"/>
            </a:pPr>
            <a:r>
              <a:rPr lang="pt-BR"/>
              <a:t> Translação dessa reflexão por x</a:t>
            </a:r>
          </a:p>
        </p:txBody>
      </p:sp>
      <p:sp>
        <p:nvSpPr>
          <p:cNvPr id="12295" name="Text Box 7"/>
          <p:cNvSpPr txBox="1">
            <a:spLocks noChangeArrowheads="1"/>
          </p:cNvSpPr>
          <p:nvPr/>
        </p:nvSpPr>
        <p:spPr bwMode="auto">
          <a:xfrm>
            <a:off x="914400" y="4343400"/>
            <a:ext cx="77358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A dilatado por B</a:t>
            </a:r>
            <a:r>
              <a:rPr lang="pt-BR"/>
              <a:t> = conjunto de todos os deslocamentos </a:t>
            </a:r>
            <a:br>
              <a:rPr lang="pt-BR"/>
            </a:br>
            <a:r>
              <a:rPr lang="pt-BR"/>
              <a:t>de x tais que  B refletido e A se sobreponham em pelo</a:t>
            </a:r>
            <a:br>
              <a:rPr lang="pt-BR"/>
            </a:br>
            <a:r>
              <a:rPr lang="pt-BR"/>
              <a:t>menos um elemento não nulo.</a:t>
            </a:r>
          </a:p>
        </p:txBody>
      </p:sp>
      <p:graphicFrame>
        <p:nvGraphicFramePr>
          <p:cNvPr id="12296" name="Object 8"/>
          <p:cNvGraphicFramePr>
            <a:graphicFrameLocks noChangeAspect="1"/>
          </p:cNvGraphicFramePr>
          <p:nvPr/>
        </p:nvGraphicFramePr>
        <p:xfrm>
          <a:off x="2362200" y="5662613"/>
          <a:ext cx="4038600" cy="7286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25400" imgH="304560" progId="Equation.3">
                  <p:embed/>
                </p:oleObj>
              </mc:Choice>
              <mc:Fallback>
                <p:oleObj name="Equation" r:id="rId4" imgW="1625400" imgH="304560" progId="Equation.3">
                  <p:embed/>
                  <p:pic>
                    <p:nvPicPr>
                      <p:cNvPr id="1229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62200" y="5662613"/>
                        <a:ext cx="4038600" cy="728662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297" name="Text Box 9"/>
          <p:cNvSpPr txBox="1">
            <a:spLocks noChangeArrowheads="1"/>
          </p:cNvSpPr>
          <p:nvPr/>
        </p:nvSpPr>
        <p:spPr bwMode="auto">
          <a:xfrm>
            <a:off x="3717925" y="268288"/>
            <a:ext cx="29718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Primeira Definição: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30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25ED1D-431B-415F-B63F-0E43636883DE}" type="slidenum">
              <a:rPr lang="pt-BR"/>
              <a:pPr/>
              <a:t>10</a:t>
            </a:fld>
            <a:endParaRPr lang="pt-BR"/>
          </a:p>
        </p:txBody>
      </p:sp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76600" cy="533400"/>
          </a:xfrm>
        </p:spPr>
        <p:txBody>
          <a:bodyPr/>
          <a:lstStyle/>
          <a:p>
            <a:r>
              <a:rPr lang="pt-BR"/>
              <a:t>Dilatação:</a:t>
            </a:r>
          </a:p>
        </p:txBody>
      </p:sp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86000"/>
            <a:ext cx="2390775" cy="257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2667000"/>
            <a:ext cx="985838" cy="11414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31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2438400"/>
            <a:ext cx="3327400" cy="299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3318" name="Text Box 6"/>
          <p:cNvSpPr txBox="1">
            <a:spLocks noChangeArrowheads="1"/>
          </p:cNvSpPr>
          <p:nvPr/>
        </p:nvSpPr>
        <p:spPr bwMode="auto">
          <a:xfrm>
            <a:off x="974725" y="801688"/>
            <a:ext cx="7400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O conjunto B é chamado de </a:t>
            </a:r>
            <a:r>
              <a:rPr lang="pt-BR" b="1" dirty="0">
                <a:solidFill>
                  <a:srgbClr val="FF0000"/>
                </a:solidFill>
              </a:rPr>
              <a:t>Elemento Estruturante</a:t>
            </a:r>
            <a:r>
              <a:rPr lang="pt-BR" dirty="0"/>
              <a:t>.</a:t>
            </a:r>
          </a:p>
        </p:txBody>
      </p:sp>
      <p:sp>
        <p:nvSpPr>
          <p:cNvPr id="13319" name="Text Box 7"/>
          <p:cNvSpPr txBox="1">
            <a:spLocks noChangeArrowheads="1"/>
          </p:cNvSpPr>
          <p:nvPr/>
        </p:nvSpPr>
        <p:spPr bwMode="auto">
          <a:xfrm>
            <a:off x="822325" y="1563688"/>
            <a:ext cx="1719263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Exemplo 1:</a:t>
            </a:r>
          </a:p>
        </p:txBody>
      </p:sp>
      <p:sp>
        <p:nvSpPr>
          <p:cNvPr id="13320" name="Rectangle 8"/>
          <p:cNvSpPr>
            <a:spLocks noChangeArrowheads="1"/>
          </p:cNvSpPr>
          <p:nvPr/>
        </p:nvSpPr>
        <p:spPr bwMode="auto">
          <a:xfrm>
            <a:off x="5562600" y="24384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1" name="Rectangle 9"/>
          <p:cNvSpPr>
            <a:spLocks noChangeArrowheads="1"/>
          </p:cNvSpPr>
          <p:nvPr/>
        </p:nvSpPr>
        <p:spPr bwMode="auto">
          <a:xfrm>
            <a:off x="5791200" y="24384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2" name="Rectangle 10"/>
          <p:cNvSpPr>
            <a:spLocks noChangeArrowheads="1"/>
          </p:cNvSpPr>
          <p:nvPr/>
        </p:nvSpPr>
        <p:spPr bwMode="auto">
          <a:xfrm>
            <a:off x="6248400" y="24384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3" name="Rectangle 11"/>
          <p:cNvSpPr>
            <a:spLocks noChangeArrowheads="1"/>
          </p:cNvSpPr>
          <p:nvPr/>
        </p:nvSpPr>
        <p:spPr bwMode="auto">
          <a:xfrm>
            <a:off x="6553200" y="24384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4" name="Rectangle 12"/>
          <p:cNvSpPr>
            <a:spLocks noChangeArrowheads="1"/>
          </p:cNvSpPr>
          <p:nvPr/>
        </p:nvSpPr>
        <p:spPr bwMode="auto">
          <a:xfrm>
            <a:off x="6934200" y="24384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5" name="Rectangle 13"/>
          <p:cNvSpPr>
            <a:spLocks noChangeArrowheads="1"/>
          </p:cNvSpPr>
          <p:nvPr/>
        </p:nvSpPr>
        <p:spPr bwMode="auto">
          <a:xfrm>
            <a:off x="7315200" y="24384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6" name="Rectangle 14"/>
          <p:cNvSpPr>
            <a:spLocks noChangeArrowheads="1"/>
          </p:cNvSpPr>
          <p:nvPr/>
        </p:nvSpPr>
        <p:spPr bwMode="auto">
          <a:xfrm>
            <a:off x="7620000" y="24384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7" name="Rectangle 15"/>
          <p:cNvSpPr>
            <a:spLocks noChangeArrowheads="1"/>
          </p:cNvSpPr>
          <p:nvPr/>
        </p:nvSpPr>
        <p:spPr bwMode="auto">
          <a:xfrm>
            <a:off x="5562600" y="27432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8" name="Rectangle 16"/>
          <p:cNvSpPr>
            <a:spLocks noChangeArrowheads="1"/>
          </p:cNvSpPr>
          <p:nvPr/>
        </p:nvSpPr>
        <p:spPr bwMode="auto">
          <a:xfrm>
            <a:off x="5867400" y="27432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29" name="Rectangle 17"/>
          <p:cNvSpPr>
            <a:spLocks noChangeArrowheads="1"/>
          </p:cNvSpPr>
          <p:nvPr/>
        </p:nvSpPr>
        <p:spPr bwMode="auto">
          <a:xfrm>
            <a:off x="6172200" y="27432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30" name="Rectangle 18"/>
          <p:cNvSpPr>
            <a:spLocks noChangeArrowheads="1"/>
          </p:cNvSpPr>
          <p:nvPr/>
        </p:nvSpPr>
        <p:spPr bwMode="auto">
          <a:xfrm>
            <a:off x="6553200" y="27432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31" name="Rectangle 19"/>
          <p:cNvSpPr>
            <a:spLocks noChangeArrowheads="1"/>
          </p:cNvSpPr>
          <p:nvPr/>
        </p:nvSpPr>
        <p:spPr bwMode="auto">
          <a:xfrm>
            <a:off x="6858000" y="27432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32" name="Rectangle 20"/>
          <p:cNvSpPr>
            <a:spLocks noChangeArrowheads="1"/>
          </p:cNvSpPr>
          <p:nvPr/>
        </p:nvSpPr>
        <p:spPr bwMode="auto">
          <a:xfrm>
            <a:off x="7239000" y="27432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33" name="Rectangle 21"/>
          <p:cNvSpPr>
            <a:spLocks noChangeArrowheads="1"/>
          </p:cNvSpPr>
          <p:nvPr/>
        </p:nvSpPr>
        <p:spPr bwMode="auto">
          <a:xfrm>
            <a:off x="7620000" y="27432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34" name="Rectangle 22"/>
          <p:cNvSpPr>
            <a:spLocks noChangeArrowheads="1"/>
          </p:cNvSpPr>
          <p:nvPr/>
        </p:nvSpPr>
        <p:spPr bwMode="auto">
          <a:xfrm>
            <a:off x="5562600" y="44196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35" name="Rectangle 23"/>
          <p:cNvSpPr>
            <a:spLocks noChangeArrowheads="1"/>
          </p:cNvSpPr>
          <p:nvPr/>
        </p:nvSpPr>
        <p:spPr bwMode="auto">
          <a:xfrm>
            <a:off x="5867400" y="44196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36" name="Rectangle 24"/>
          <p:cNvSpPr>
            <a:spLocks noChangeArrowheads="1"/>
          </p:cNvSpPr>
          <p:nvPr/>
        </p:nvSpPr>
        <p:spPr bwMode="auto">
          <a:xfrm>
            <a:off x="6324600" y="44196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37" name="Rectangle 25"/>
          <p:cNvSpPr>
            <a:spLocks noChangeArrowheads="1"/>
          </p:cNvSpPr>
          <p:nvPr/>
        </p:nvSpPr>
        <p:spPr bwMode="auto">
          <a:xfrm>
            <a:off x="6553200" y="44196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38" name="Rectangle 26"/>
          <p:cNvSpPr>
            <a:spLocks noChangeArrowheads="1"/>
          </p:cNvSpPr>
          <p:nvPr/>
        </p:nvSpPr>
        <p:spPr bwMode="auto">
          <a:xfrm>
            <a:off x="7010400" y="44196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/>
          </a:p>
        </p:txBody>
      </p:sp>
      <p:sp>
        <p:nvSpPr>
          <p:cNvPr id="13339" name="Rectangle 27"/>
          <p:cNvSpPr>
            <a:spLocks noChangeArrowheads="1"/>
          </p:cNvSpPr>
          <p:nvPr/>
        </p:nvSpPr>
        <p:spPr bwMode="auto">
          <a:xfrm>
            <a:off x="7239000" y="44196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  <p:sp>
        <p:nvSpPr>
          <p:cNvPr id="13340" name="Rectangle 28"/>
          <p:cNvSpPr>
            <a:spLocks noChangeArrowheads="1"/>
          </p:cNvSpPr>
          <p:nvPr/>
        </p:nvSpPr>
        <p:spPr bwMode="auto">
          <a:xfrm>
            <a:off x="7620000" y="4419600"/>
            <a:ext cx="533400" cy="533400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"/>
                                            </p:cond>
                                          </p:stCondLst>
                                        </p:cTn>
                                        <p:tgtEl>
                                          <p:spTgt spid="13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9"/>
                                            </p:cond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3"/>
                                            </p:cond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17"/>
                                            </p:cond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1"/>
                                            </p:cond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5"/>
                                            </p:cond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29"/>
                                            </p:cond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3"/>
                                            </p:cond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37"/>
                                            </p:cond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1"/>
                                            </p:cond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5"/>
                                            </p:cond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49"/>
                                            </p:cond>
                                          </p:stCondLst>
                                        </p:cTn>
                                        <p:tgtEl>
                                          <p:spTgt spid="13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3"/>
                                            </p:cond>
                                          </p:stCondLst>
                                        </p:cTn>
                                        <p:tgtEl>
                                          <p:spTgt spid="1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57"/>
                                            </p:cond>
                                          </p:stCondLst>
                                        </p:cTn>
                                        <p:tgtEl>
                                          <p:spTgt spid="13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1"/>
                                            </p:cond>
                                          </p:stCondLst>
                                        </p:cTn>
                                        <p:tgtEl>
                                          <p:spTgt spid="13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5"/>
                                            </p:cond>
                                          </p:stCondLst>
                                        </p:cTn>
                                        <p:tgtEl>
                                          <p:spTgt spid="13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69"/>
                                            </p:cond>
                                          </p:stCondLst>
                                        </p:cTn>
                                        <p:tgtEl>
                                          <p:spTgt spid="13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3"/>
                                            </p:cond>
                                          </p:stCondLst>
                                        </p:cTn>
                                        <p:tgtEl>
                                          <p:spTgt spid="13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77"/>
                                            </p:cond>
                                          </p:stCondLst>
                                        </p:cTn>
                                        <p:tgtEl>
                                          <p:spTgt spid="133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1"/>
                                            </p:cond>
                                          </p:stCondLst>
                                        </p:cTn>
                                        <p:tgtEl>
                                          <p:spTgt spid="13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sameClick" afterEffect="1">
                                          <p:stCondLst>
                                            <p:cond evt="end" delay="0">
                                              <p:tn val="85"/>
                                            </p:cond>
                                          </p:stCondLst>
                                        </p:cTn>
                                        <p:tgtEl>
                                          <p:spTgt spid="13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0" grpId="0" animBg="1"/>
      <p:bldP spid="13321" grpId="0" animBg="1"/>
      <p:bldP spid="13322" grpId="0" animBg="1"/>
      <p:bldP spid="13323" grpId="0" animBg="1"/>
      <p:bldP spid="13324" grpId="0" animBg="1"/>
      <p:bldP spid="13325" grpId="0" animBg="1"/>
      <p:bldP spid="13326" grpId="0" animBg="1"/>
      <p:bldP spid="13327" grpId="0" animBg="1"/>
      <p:bldP spid="13328" grpId="0" animBg="1"/>
      <p:bldP spid="13329" grpId="0" animBg="1"/>
      <p:bldP spid="13330" grpId="0" animBg="1"/>
      <p:bldP spid="13331" grpId="0" animBg="1"/>
      <p:bldP spid="13332" grpId="0" animBg="1"/>
      <p:bldP spid="13333" grpId="0" animBg="1"/>
      <p:bldP spid="13334" grpId="0" animBg="1"/>
      <p:bldP spid="13335" grpId="0" animBg="1"/>
      <p:bldP spid="13336" grpId="0" animBg="1"/>
      <p:bldP spid="13337" grpId="0" animBg="1"/>
      <p:bldP spid="13338" grpId="0" animBg="1" autoUpdateAnimBg="0"/>
      <p:bldP spid="13339" grpId="0" animBg="1"/>
      <p:bldP spid="133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10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B49AAC-2C71-43CA-9224-F8221D4829EE}" type="slidenum">
              <a:rPr lang="pt-BR"/>
              <a:pPr/>
              <a:t>11</a:t>
            </a:fld>
            <a:endParaRPr lang="pt-BR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124200" cy="533400"/>
          </a:xfrm>
        </p:spPr>
        <p:txBody>
          <a:bodyPr/>
          <a:lstStyle/>
          <a:p>
            <a:r>
              <a:rPr lang="pt-BR"/>
              <a:t>Dilatação:</a:t>
            </a:r>
          </a:p>
        </p:txBody>
      </p:sp>
      <p:sp>
        <p:nvSpPr>
          <p:cNvPr id="14339" name="Text Box 3"/>
          <p:cNvSpPr txBox="1">
            <a:spLocks noChangeArrowheads="1"/>
          </p:cNvSpPr>
          <p:nvPr/>
        </p:nvSpPr>
        <p:spPr bwMode="auto">
          <a:xfrm>
            <a:off x="762000" y="914400"/>
            <a:ext cx="1719263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Exemplo 2:</a:t>
            </a:r>
          </a:p>
        </p:txBody>
      </p:sp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1752600"/>
            <a:ext cx="1044575" cy="2741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1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066800"/>
            <a:ext cx="3454400" cy="4595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342" name="Picture 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286000"/>
            <a:ext cx="2390775" cy="257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343" name="Text Box 7"/>
          <p:cNvSpPr txBox="1">
            <a:spLocks noChangeArrowheads="1"/>
          </p:cNvSpPr>
          <p:nvPr/>
        </p:nvSpPr>
        <p:spPr bwMode="auto">
          <a:xfrm>
            <a:off x="1279525" y="5526088"/>
            <a:ext cx="3227388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Elemento Estruturante</a:t>
            </a:r>
          </a:p>
        </p:txBody>
      </p:sp>
      <p:sp>
        <p:nvSpPr>
          <p:cNvPr id="14344" name="Line 8"/>
          <p:cNvSpPr>
            <a:spLocks noChangeShapeType="1"/>
          </p:cNvSpPr>
          <p:nvPr/>
        </p:nvSpPr>
        <p:spPr bwMode="auto">
          <a:xfrm flipV="1">
            <a:off x="3657600" y="4114800"/>
            <a:ext cx="304800" cy="14478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3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C50351-035D-46E9-83AC-B48BF6AACFC8}" type="slidenum">
              <a:rPr lang="pt-BR"/>
              <a:pPr/>
              <a:t>12</a:t>
            </a:fld>
            <a:endParaRPr lang="pt-BR"/>
          </a:p>
        </p:txBody>
      </p:sp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/>
              <a:t>Dilatação:</a:t>
            </a:r>
          </a:p>
        </p:txBody>
      </p:sp>
      <p:sp>
        <p:nvSpPr>
          <p:cNvPr id="16387" name="Text Box 3"/>
          <p:cNvSpPr txBox="1">
            <a:spLocks noChangeArrowheads="1"/>
          </p:cNvSpPr>
          <p:nvPr/>
        </p:nvSpPr>
        <p:spPr bwMode="auto">
          <a:xfrm>
            <a:off x="3717925" y="268288"/>
            <a:ext cx="3036888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Segunda Definição:</a:t>
            </a:r>
          </a:p>
        </p:txBody>
      </p:sp>
      <p:sp>
        <p:nvSpPr>
          <p:cNvPr id="16388" name="Text Box 4"/>
          <p:cNvSpPr txBox="1">
            <a:spLocks noChangeArrowheads="1"/>
          </p:cNvSpPr>
          <p:nvPr/>
        </p:nvSpPr>
        <p:spPr bwMode="auto">
          <a:xfrm>
            <a:off x="838200" y="16002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</a:t>
            </a:r>
            <a:r>
              <a:rPr lang="pt-BR">
                <a:solidFill>
                  <a:srgbClr val="FF0000"/>
                </a:solidFill>
                <a:cs typeface="Times New Roman" pitchFamily="18" charset="0"/>
              </a:rPr>
              <a:t>dilatação</a:t>
            </a:r>
            <a:r>
              <a:rPr lang="pt-BR">
                <a:cs typeface="Times New Roman" pitchFamily="18" charset="0"/>
              </a:rPr>
              <a:t> do conjunto A pelo conjunto B é definida por:</a:t>
            </a:r>
            <a:r>
              <a:rPr lang="pt-BR"/>
              <a:t> </a:t>
            </a:r>
          </a:p>
        </p:txBody>
      </p:sp>
      <p:graphicFrame>
        <p:nvGraphicFramePr>
          <p:cNvPr id="16389" name="Object 5"/>
          <p:cNvGraphicFramePr>
            <a:graphicFrameLocks noChangeAspect="1"/>
          </p:cNvGraphicFramePr>
          <p:nvPr/>
        </p:nvGraphicFramePr>
        <p:xfrm>
          <a:off x="838200" y="2133600"/>
          <a:ext cx="8024813" cy="612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27120" imgH="253800" progId="Equation.3">
                  <p:embed/>
                </p:oleObj>
              </mc:Choice>
              <mc:Fallback>
                <p:oleObj name="Equation" r:id="rId2" imgW="3327120" imgH="253800" progId="Equation.3">
                  <p:embed/>
                  <p:pic>
                    <p:nvPicPr>
                      <p:cNvPr id="1638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133600"/>
                        <a:ext cx="8024813" cy="612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0" name="Group 6"/>
          <p:cNvGrpSpPr>
            <a:grpSpLocks/>
          </p:cNvGrpSpPr>
          <p:nvPr/>
        </p:nvGrpSpPr>
        <p:grpSpPr bwMode="auto">
          <a:xfrm>
            <a:off x="2057400" y="4572000"/>
            <a:ext cx="1219200" cy="1143000"/>
            <a:chOff x="4080" y="7650"/>
            <a:chExt cx="680" cy="680"/>
          </a:xfrm>
        </p:grpSpPr>
        <p:sp>
          <p:nvSpPr>
            <p:cNvPr id="16391" name="Rectangle 7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392" name="Oval 8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393" name="Oval 9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394" name="Oval 10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395" name="Oval 11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396" name="Oval 12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397" name="Oval 13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398" name="Oval 14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399" name="Oval 15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00" name="Oval 16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01" name="Oval 17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02" name="Oval 18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03" name="Oval 19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04" name="Oval 20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05" name="Oval 21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06" name="Oval 22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07" name="AutoShape 23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6408" name="Group 24"/>
          <p:cNvGrpSpPr>
            <a:grpSpLocks/>
          </p:cNvGrpSpPr>
          <p:nvPr/>
        </p:nvGrpSpPr>
        <p:grpSpPr bwMode="auto">
          <a:xfrm>
            <a:off x="6629400" y="4648200"/>
            <a:ext cx="660400" cy="304800"/>
            <a:chOff x="7480" y="6750"/>
            <a:chExt cx="340" cy="170"/>
          </a:xfrm>
        </p:grpSpPr>
        <p:sp>
          <p:nvSpPr>
            <p:cNvPr id="16409" name="Rectangle 25"/>
            <p:cNvSpPr>
              <a:spLocks noChangeArrowheads="1"/>
            </p:cNvSpPr>
            <p:nvPr/>
          </p:nvSpPr>
          <p:spPr bwMode="auto">
            <a:xfrm>
              <a:off x="7480" y="6750"/>
              <a:ext cx="340" cy="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10" name="Oval 26"/>
            <p:cNvSpPr>
              <a:spLocks noChangeArrowheads="1"/>
            </p:cNvSpPr>
            <p:nvPr/>
          </p:nvSpPr>
          <p:spPr bwMode="auto">
            <a:xfrm>
              <a:off x="7650" y="675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411" name="AutoShape 27"/>
            <p:cNvSpPr>
              <a:spLocks noChangeArrowheads="1"/>
            </p:cNvSpPr>
            <p:nvPr/>
          </p:nvSpPr>
          <p:spPr bwMode="auto">
            <a:xfrm>
              <a:off x="7480" y="6750"/>
              <a:ext cx="170" cy="170"/>
            </a:xfrm>
            <a:prstGeom prst="flowChartSummingJunction">
              <a:avLst/>
            </a:prstGeom>
            <a:solidFill>
              <a:srgbClr val="00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412" name="Text Box 28"/>
          <p:cNvSpPr txBox="1">
            <a:spLocks noChangeArrowheads="1"/>
          </p:cNvSpPr>
          <p:nvPr/>
        </p:nvSpPr>
        <p:spPr bwMode="auto">
          <a:xfrm>
            <a:off x="990600" y="2971800"/>
            <a:ext cx="1819275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Exemplo 1:</a:t>
            </a:r>
          </a:p>
        </p:txBody>
      </p:sp>
      <p:sp>
        <p:nvSpPr>
          <p:cNvPr id="16413" name="Text Box 29"/>
          <p:cNvSpPr txBox="1">
            <a:spLocks noChangeArrowheads="1"/>
          </p:cNvSpPr>
          <p:nvPr/>
        </p:nvSpPr>
        <p:spPr bwMode="auto">
          <a:xfrm>
            <a:off x="914400" y="39624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sp>
        <p:nvSpPr>
          <p:cNvPr id="16414" name="Text Box 30"/>
          <p:cNvSpPr txBox="1">
            <a:spLocks noChangeArrowheads="1"/>
          </p:cNvSpPr>
          <p:nvPr/>
        </p:nvSpPr>
        <p:spPr bwMode="auto">
          <a:xfrm>
            <a:off x="1127125" y="954088"/>
            <a:ext cx="585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e B conjuntos de Z</a:t>
            </a:r>
            <a:r>
              <a:rPr lang="pt-BR" baseline="30000"/>
              <a:t>2</a:t>
            </a:r>
            <a:r>
              <a:rPr lang="pt-BR"/>
              <a:t> (Imagens Binárias).</a:t>
            </a:r>
          </a:p>
        </p:txBody>
      </p:sp>
      <p:sp>
        <p:nvSpPr>
          <p:cNvPr id="16415" name="Text Box 31"/>
          <p:cNvSpPr txBox="1">
            <a:spLocks noChangeArrowheads="1"/>
          </p:cNvSpPr>
          <p:nvPr/>
        </p:nvSpPr>
        <p:spPr bwMode="auto">
          <a:xfrm>
            <a:off x="5562600" y="39624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B = {(0,0),(0,1)}</a:t>
            </a:r>
            <a:r>
              <a:rPr lang="pt-BR"/>
              <a:t> </a:t>
            </a:r>
          </a:p>
        </p:txBody>
      </p:sp>
      <p:sp>
        <p:nvSpPr>
          <p:cNvPr id="16416" name="Text Box 32"/>
          <p:cNvSpPr txBox="1">
            <a:spLocks noChangeArrowheads="1"/>
          </p:cNvSpPr>
          <p:nvPr/>
        </p:nvSpPr>
        <p:spPr bwMode="auto">
          <a:xfrm>
            <a:off x="5334000" y="5410200"/>
            <a:ext cx="11938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Origem</a:t>
            </a:r>
          </a:p>
        </p:txBody>
      </p:sp>
      <p:sp>
        <p:nvSpPr>
          <p:cNvPr id="16417" name="Line 33"/>
          <p:cNvSpPr>
            <a:spLocks noChangeShapeType="1"/>
          </p:cNvSpPr>
          <p:nvPr/>
        </p:nvSpPr>
        <p:spPr bwMode="auto">
          <a:xfrm flipV="1">
            <a:off x="6172200" y="4953000"/>
            <a:ext cx="533400" cy="4572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16418" name="Text Box 34"/>
          <p:cNvSpPr txBox="1">
            <a:spLocks noChangeArrowheads="1"/>
          </p:cNvSpPr>
          <p:nvPr/>
        </p:nvSpPr>
        <p:spPr bwMode="auto">
          <a:xfrm>
            <a:off x="5257800" y="3505200"/>
            <a:ext cx="3184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Elemento estruturante</a:t>
            </a:r>
          </a:p>
        </p:txBody>
      </p:sp>
      <p:sp>
        <p:nvSpPr>
          <p:cNvPr id="16419" name="Text Box 35"/>
          <p:cNvSpPr txBox="1">
            <a:spLocks noChangeArrowheads="1"/>
          </p:cNvSpPr>
          <p:nvPr/>
        </p:nvSpPr>
        <p:spPr bwMode="auto">
          <a:xfrm>
            <a:off x="1050925" y="3544888"/>
            <a:ext cx="128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Imagem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64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D283DD-C176-49B2-9B2C-05915DBDED39}" type="slidenum">
              <a:rPr lang="pt-BR"/>
              <a:pPr/>
              <a:t>13</a:t>
            </a:fld>
            <a:endParaRPr lang="pt-BR"/>
          </a:p>
        </p:txBody>
      </p:sp>
      <p:graphicFrame>
        <p:nvGraphicFramePr>
          <p:cNvPr id="17412" name="Object 4"/>
          <p:cNvGraphicFramePr>
            <a:graphicFrameLocks noChangeAspect="1"/>
          </p:cNvGraphicFramePr>
          <p:nvPr/>
        </p:nvGraphicFramePr>
        <p:xfrm>
          <a:off x="3200400" y="152400"/>
          <a:ext cx="50038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215640" progId="Equation.3">
                  <p:embed/>
                </p:oleObj>
              </mc:Choice>
              <mc:Fallback>
                <p:oleObj name="Equation" r:id="rId2" imgW="2082600" imgH="215640" progId="Equation.3">
                  <p:embed/>
                  <p:pic>
                    <p:nvPicPr>
                      <p:cNvPr id="1741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52400"/>
                        <a:ext cx="50038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914400" y="18288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{A + [(0,0)]} = {(1,1),(1,2),(2,1),(2,2)} </a:t>
            </a:r>
          </a:p>
        </p:txBody>
      </p:sp>
      <p:sp>
        <p:nvSpPr>
          <p:cNvPr id="17414" name="Text Box 6"/>
          <p:cNvSpPr txBox="1">
            <a:spLocks noChangeArrowheads="1"/>
          </p:cNvSpPr>
          <p:nvPr/>
        </p:nvSpPr>
        <p:spPr bwMode="auto">
          <a:xfrm>
            <a:off x="2286000" y="9906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grpSp>
        <p:nvGrpSpPr>
          <p:cNvPr id="17415" name="Group 7"/>
          <p:cNvGrpSpPr>
            <a:grpSpLocks/>
          </p:cNvGrpSpPr>
          <p:nvPr/>
        </p:nvGrpSpPr>
        <p:grpSpPr bwMode="auto">
          <a:xfrm>
            <a:off x="4953000" y="2514600"/>
            <a:ext cx="1365250" cy="1270000"/>
            <a:chOff x="4080" y="7650"/>
            <a:chExt cx="680" cy="680"/>
          </a:xfrm>
        </p:grpSpPr>
        <p:sp>
          <p:nvSpPr>
            <p:cNvPr id="17416" name="Rectangle 8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17" name="Oval 9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18" name="Oval 10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19" name="Oval 11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0" name="Oval 12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1" name="Oval 13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2" name="Oval 14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3" name="Oval 15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4" name="Oval 16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5" name="Oval 17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6" name="Oval 18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7" name="Oval 19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8" name="Oval 20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29" name="Oval 21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30" name="Oval 22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31" name="Oval 23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32" name="AutoShape 24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433" name="Text Box 25"/>
          <p:cNvSpPr txBox="1">
            <a:spLocks noChangeArrowheads="1"/>
          </p:cNvSpPr>
          <p:nvPr/>
        </p:nvSpPr>
        <p:spPr bwMode="auto">
          <a:xfrm>
            <a:off x="1905000" y="2286000"/>
            <a:ext cx="2819400" cy="1778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(1,1) + (0,0) = (1,1) 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(1,2) + (0,0) = (1,2) 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(2,1) + (0,0) = (2,1) 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(2,2) + (0,0) = (2,2)</a:t>
            </a:r>
            <a:endParaRPr lang="pt-BR" sz="2000"/>
          </a:p>
        </p:txBody>
      </p:sp>
      <p:sp>
        <p:nvSpPr>
          <p:cNvPr id="17434" name="Text Box 26"/>
          <p:cNvSpPr txBox="1">
            <a:spLocks noChangeArrowheads="1"/>
          </p:cNvSpPr>
          <p:nvPr/>
        </p:nvSpPr>
        <p:spPr bwMode="auto">
          <a:xfrm>
            <a:off x="6477000" y="2514600"/>
            <a:ext cx="22860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A translação de qualquer pixel por  (0,0) não altera sua posição</a:t>
            </a:r>
            <a:r>
              <a:rPr lang="pt-BR" sz="2000"/>
              <a:t> </a:t>
            </a:r>
          </a:p>
        </p:txBody>
      </p:sp>
      <p:grpSp>
        <p:nvGrpSpPr>
          <p:cNvPr id="17435" name="Group 27"/>
          <p:cNvGrpSpPr>
            <a:grpSpLocks/>
          </p:cNvGrpSpPr>
          <p:nvPr/>
        </p:nvGrpSpPr>
        <p:grpSpPr bwMode="auto">
          <a:xfrm>
            <a:off x="6172200" y="762000"/>
            <a:ext cx="1365250" cy="1270000"/>
            <a:chOff x="4080" y="7650"/>
            <a:chExt cx="680" cy="680"/>
          </a:xfrm>
        </p:grpSpPr>
        <p:sp>
          <p:nvSpPr>
            <p:cNvPr id="17436" name="Rectangle 28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37" name="Oval 29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38" name="Oval 30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39" name="Oval 31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0" name="Oval 32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1" name="Oval 33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2" name="Oval 34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3" name="Oval 35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4" name="Oval 36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5" name="Oval 37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6" name="Oval 38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7" name="Oval 39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8" name="Oval 40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49" name="Oval 41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50" name="Oval 42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51" name="Oval 43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52" name="AutoShape 44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7453" name="Text Box 45"/>
          <p:cNvSpPr txBox="1">
            <a:spLocks noChangeArrowheads="1"/>
          </p:cNvSpPr>
          <p:nvPr/>
        </p:nvSpPr>
        <p:spPr bwMode="auto">
          <a:xfrm>
            <a:off x="838200" y="411480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{A + [(0,1)]} = {(1,2),(2,2),(1,3),(2,3)}</a:t>
            </a:r>
            <a:r>
              <a:rPr lang="pt-BR"/>
              <a:t> </a:t>
            </a:r>
          </a:p>
        </p:txBody>
      </p:sp>
      <p:sp>
        <p:nvSpPr>
          <p:cNvPr id="17454" name="Text Box 46"/>
          <p:cNvSpPr txBox="1">
            <a:spLocks noChangeArrowheads="1"/>
          </p:cNvSpPr>
          <p:nvPr/>
        </p:nvSpPr>
        <p:spPr bwMode="auto">
          <a:xfrm>
            <a:off x="1905000" y="4648200"/>
            <a:ext cx="2819400" cy="17780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(1,1) + (0,1) = (1,2)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(1,2) + (0,1) = (1,3)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(2,1) + (0,1) = (2,2)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(2,2) + (0,1) = (2,3) </a:t>
            </a:r>
          </a:p>
        </p:txBody>
      </p:sp>
      <p:grpSp>
        <p:nvGrpSpPr>
          <p:cNvPr id="17455" name="Group 47"/>
          <p:cNvGrpSpPr>
            <a:grpSpLocks/>
          </p:cNvGrpSpPr>
          <p:nvPr/>
        </p:nvGrpSpPr>
        <p:grpSpPr bwMode="auto">
          <a:xfrm>
            <a:off x="5029200" y="4876800"/>
            <a:ext cx="1371600" cy="1270000"/>
            <a:chOff x="4930" y="12070"/>
            <a:chExt cx="680" cy="680"/>
          </a:xfrm>
        </p:grpSpPr>
        <p:sp>
          <p:nvSpPr>
            <p:cNvPr id="17456" name="Rectangle 48"/>
            <p:cNvSpPr>
              <a:spLocks noChangeArrowheads="1"/>
            </p:cNvSpPr>
            <p:nvPr/>
          </p:nvSpPr>
          <p:spPr bwMode="auto">
            <a:xfrm>
              <a:off x="4930" y="1207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57" name="Oval 49"/>
            <p:cNvSpPr>
              <a:spLocks noChangeArrowheads="1"/>
            </p:cNvSpPr>
            <p:nvPr/>
          </p:nvSpPr>
          <p:spPr bwMode="auto">
            <a:xfrm flipV="1">
              <a:off x="4930" y="124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58" name="Oval 50"/>
            <p:cNvSpPr>
              <a:spLocks noChangeArrowheads="1"/>
            </p:cNvSpPr>
            <p:nvPr/>
          </p:nvSpPr>
          <p:spPr bwMode="auto">
            <a:xfrm flipV="1">
              <a:off x="5100" y="120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59" name="Oval 51"/>
            <p:cNvSpPr>
              <a:spLocks noChangeArrowheads="1"/>
            </p:cNvSpPr>
            <p:nvPr/>
          </p:nvSpPr>
          <p:spPr bwMode="auto">
            <a:xfrm flipV="1">
              <a:off x="5270" y="120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0" name="Oval 52"/>
            <p:cNvSpPr>
              <a:spLocks noChangeArrowheads="1"/>
            </p:cNvSpPr>
            <p:nvPr/>
          </p:nvSpPr>
          <p:spPr bwMode="auto">
            <a:xfrm flipV="1">
              <a:off x="5440" y="120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1" name="Oval 53"/>
            <p:cNvSpPr>
              <a:spLocks noChangeArrowheads="1"/>
            </p:cNvSpPr>
            <p:nvPr/>
          </p:nvSpPr>
          <p:spPr bwMode="auto">
            <a:xfrm flipV="1">
              <a:off x="4930" y="122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2" name="Oval 54"/>
            <p:cNvSpPr>
              <a:spLocks noChangeArrowheads="1"/>
            </p:cNvSpPr>
            <p:nvPr/>
          </p:nvSpPr>
          <p:spPr bwMode="auto">
            <a:xfrm flipV="1">
              <a:off x="5440" y="122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3" name="Oval 55"/>
            <p:cNvSpPr>
              <a:spLocks noChangeArrowheads="1"/>
            </p:cNvSpPr>
            <p:nvPr/>
          </p:nvSpPr>
          <p:spPr bwMode="auto">
            <a:xfrm flipV="1">
              <a:off x="5270" y="122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4" name="Oval 56"/>
            <p:cNvSpPr>
              <a:spLocks noChangeArrowheads="1"/>
            </p:cNvSpPr>
            <p:nvPr/>
          </p:nvSpPr>
          <p:spPr bwMode="auto">
            <a:xfrm flipV="1">
              <a:off x="5100" y="122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5" name="Oval 57"/>
            <p:cNvSpPr>
              <a:spLocks noChangeArrowheads="1"/>
            </p:cNvSpPr>
            <p:nvPr/>
          </p:nvSpPr>
          <p:spPr bwMode="auto">
            <a:xfrm flipV="1">
              <a:off x="5440" y="124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6" name="Oval 58"/>
            <p:cNvSpPr>
              <a:spLocks noChangeArrowheads="1"/>
            </p:cNvSpPr>
            <p:nvPr/>
          </p:nvSpPr>
          <p:spPr bwMode="auto">
            <a:xfrm flipV="1">
              <a:off x="5270" y="124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7" name="Oval 59"/>
            <p:cNvSpPr>
              <a:spLocks noChangeArrowheads="1"/>
            </p:cNvSpPr>
            <p:nvPr/>
          </p:nvSpPr>
          <p:spPr bwMode="auto">
            <a:xfrm flipV="1">
              <a:off x="5100" y="124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8" name="Oval 60"/>
            <p:cNvSpPr>
              <a:spLocks noChangeArrowheads="1"/>
            </p:cNvSpPr>
            <p:nvPr/>
          </p:nvSpPr>
          <p:spPr bwMode="auto">
            <a:xfrm flipV="1">
              <a:off x="493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69" name="Oval 61"/>
            <p:cNvSpPr>
              <a:spLocks noChangeArrowheads="1"/>
            </p:cNvSpPr>
            <p:nvPr/>
          </p:nvSpPr>
          <p:spPr bwMode="auto">
            <a:xfrm flipV="1">
              <a:off x="510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70" name="Oval 62"/>
            <p:cNvSpPr>
              <a:spLocks noChangeArrowheads="1"/>
            </p:cNvSpPr>
            <p:nvPr/>
          </p:nvSpPr>
          <p:spPr bwMode="auto">
            <a:xfrm flipV="1">
              <a:off x="527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71" name="Oval 63"/>
            <p:cNvSpPr>
              <a:spLocks noChangeArrowheads="1"/>
            </p:cNvSpPr>
            <p:nvPr/>
          </p:nvSpPr>
          <p:spPr bwMode="auto">
            <a:xfrm flipV="1">
              <a:off x="5440" y="125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472" name="AutoShape 64"/>
            <p:cNvSpPr>
              <a:spLocks noChangeArrowheads="1"/>
            </p:cNvSpPr>
            <p:nvPr/>
          </p:nvSpPr>
          <p:spPr bwMode="auto">
            <a:xfrm>
              <a:off x="4930" y="1207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2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818205-F0D7-4B94-9ECB-6CEF64861B72}" type="slidenum">
              <a:rPr lang="pt-BR"/>
              <a:pPr/>
              <a:t>14</a:t>
            </a:fld>
            <a:endParaRPr lang="pt-BR"/>
          </a:p>
        </p:txBody>
      </p:sp>
      <p:sp>
        <p:nvSpPr>
          <p:cNvPr id="18436" name="Text Box 4"/>
          <p:cNvSpPr txBox="1">
            <a:spLocks noChangeArrowheads="1"/>
          </p:cNvSpPr>
          <p:nvPr/>
        </p:nvSpPr>
        <p:spPr bwMode="auto">
          <a:xfrm>
            <a:off x="1295400" y="3505200"/>
            <a:ext cx="594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 {(1,1),(1,2),(1,3),(2,1),(2,2),(2,3)}</a:t>
            </a:r>
            <a:r>
              <a:rPr lang="pt-BR"/>
              <a:t> </a:t>
            </a:r>
          </a:p>
        </p:txBody>
      </p:sp>
      <p:graphicFrame>
        <p:nvGraphicFramePr>
          <p:cNvPr id="18437" name="Object 5"/>
          <p:cNvGraphicFramePr>
            <a:graphicFrameLocks noChangeAspect="1"/>
          </p:cNvGraphicFramePr>
          <p:nvPr/>
        </p:nvGraphicFramePr>
        <p:xfrm>
          <a:off x="3200400" y="152400"/>
          <a:ext cx="5003800" cy="519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82600" imgH="215640" progId="Equation.3">
                  <p:embed/>
                </p:oleObj>
              </mc:Choice>
              <mc:Fallback>
                <p:oleObj name="Equation" r:id="rId2" imgW="2082600" imgH="215640" progId="Equation.3">
                  <p:embed/>
                  <p:pic>
                    <p:nvPicPr>
                      <p:cNvPr id="1843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52400"/>
                        <a:ext cx="5003800" cy="519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38" name="Text Box 6"/>
          <p:cNvSpPr txBox="1">
            <a:spLocks noChangeArrowheads="1"/>
          </p:cNvSpPr>
          <p:nvPr/>
        </p:nvSpPr>
        <p:spPr bwMode="auto">
          <a:xfrm>
            <a:off x="1219200" y="1447800"/>
            <a:ext cx="533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{A + [(0,0)]} = {(1,1),(1,2),(2,1),(2,2)} </a:t>
            </a:r>
          </a:p>
        </p:txBody>
      </p:sp>
      <p:sp>
        <p:nvSpPr>
          <p:cNvPr id="18439" name="Text Box 7"/>
          <p:cNvSpPr txBox="1">
            <a:spLocks noChangeArrowheads="1"/>
          </p:cNvSpPr>
          <p:nvPr/>
        </p:nvSpPr>
        <p:spPr bwMode="auto">
          <a:xfrm>
            <a:off x="1295400" y="2209800"/>
            <a:ext cx="5257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{A + [(0,1)]} = {(1,2),(2,2),(1,3),(2,3)}</a:t>
            </a:r>
            <a:r>
              <a:rPr lang="pt-BR"/>
              <a:t> </a:t>
            </a:r>
          </a:p>
        </p:txBody>
      </p:sp>
      <p:grpSp>
        <p:nvGrpSpPr>
          <p:cNvPr id="18440" name="Group 8"/>
          <p:cNvGrpSpPr>
            <a:grpSpLocks/>
          </p:cNvGrpSpPr>
          <p:nvPr/>
        </p:nvGrpSpPr>
        <p:grpSpPr bwMode="auto">
          <a:xfrm>
            <a:off x="3581400" y="4191000"/>
            <a:ext cx="1574800" cy="1524000"/>
            <a:chOff x="5440" y="13600"/>
            <a:chExt cx="680" cy="680"/>
          </a:xfrm>
        </p:grpSpPr>
        <p:sp>
          <p:nvSpPr>
            <p:cNvPr id="18441" name="Rectangle 9"/>
            <p:cNvSpPr>
              <a:spLocks noChangeArrowheads="1"/>
            </p:cNvSpPr>
            <p:nvPr/>
          </p:nvSpPr>
          <p:spPr bwMode="auto">
            <a:xfrm>
              <a:off x="5440" y="1360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42" name="Oval 10"/>
            <p:cNvSpPr>
              <a:spLocks noChangeArrowheads="1"/>
            </p:cNvSpPr>
            <p:nvPr/>
          </p:nvSpPr>
          <p:spPr bwMode="auto">
            <a:xfrm flipV="1">
              <a:off x="5440" y="139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43" name="Oval 11"/>
            <p:cNvSpPr>
              <a:spLocks noChangeArrowheads="1"/>
            </p:cNvSpPr>
            <p:nvPr/>
          </p:nvSpPr>
          <p:spPr bwMode="auto">
            <a:xfrm flipV="1">
              <a:off x="5610" y="136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44" name="Oval 12"/>
            <p:cNvSpPr>
              <a:spLocks noChangeArrowheads="1"/>
            </p:cNvSpPr>
            <p:nvPr/>
          </p:nvSpPr>
          <p:spPr bwMode="auto">
            <a:xfrm flipV="1">
              <a:off x="5780" y="136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45" name="Oval 13"/>
            <p:cNvSpPr>
              <a:spLocks noChangeArrowheads="1"/>
            </p:cNvSpPr>
            <p:nvPr/>
          </p:nvSpPr>
          <p:spPr bwMode="auto">
            <a:xfrm flipV="1">
              <a:off x="5950" y="136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46" name="Oval 14"/>
            <p:cNvSpPr>
              <a:spLocks noChangeArrowheads="1"/>
            </p:cNvSpPr>
            <p:nvPr/>
          </p:nvSpPr>
          <p:spPr bwMode="auto">
            <a:xfrm flipV="1">
              <a:off x="5440" y="137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47" name="Oval 15"/>
            <p:cNvSpPr>
              <a:spLocks noChangeArrowheads="1"/>
            </p:cNvSpPr>
            <p:nvPr/>
          </p:nvSpPr>
          <p:spPr bwMode="auto">
            <a:xfrm flipV="1">
              <a:off x="5950" y="1377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48" name="Oval 16"/>
            <p:cNvSpPr>
              <a:spLocks noChangeArrowheads="1"/>
            </p:cNvSpPr>
            <p:nvPr/>
          </p:nvSpPr>
          <p:spPr bwMode="auto">
            <a:xfrm flipV="1">
              <a:off x="5780" y="1377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49" name="Oval 17"/>
            <p:cNvSpPr>
              <a:spLocks noChangeArrowheads="1"/>
            </p:cNvSpPr>
            <p:nvPr/>
          </p:nvSpPr>
          <p:spPr bwMode="auto">
            <a:xfrm flipV="1">
              <a:off x="5610" y="1377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50" name="Oval 18"/>
            <p:cNvSpPr>
              <a:spLocks noChangeArrowheads="1"/>
            </p:cNvSpPr>
            <p:nvPr/>
          </p:nvSpPr>
          <p:spPr bwMode="auto">
            <a:xfrm flipV="1">
              <a:off x="5950" y="139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51" name="Oval 19"/>
            <p:cNvSpPr>
              <a:spLocks noChangeArrowheads="1"/>
            </p:cNvSpPr>
            <p:nvPr/>
          </p:nvSpPr>
          <p:spPr bwMode="auto">
            <a:xfrm flipV="1">
              <a:off x="5780" y="139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52" name="Oval 20"/>
            <p:cNvSpPr>
              <a:spLocks noChangeArrowheads="1"/>
            </p:cNvSpPr>
            <p:nvPr/>
          </p:nvSpPr>
          <p:spPr bwMode="auto">
            <a:xfrm flipV="1">
              <a:off x="5610" y="139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53" name="Oval 21"/>
            <p:cNvSpPr>
              <a:spLocks noChangeArrowheads="1"/>
            </p:cNvSpPr>
            <p:nvPr/>
          </p:nvSpPr>
          <p:spPr bwMode="auto">
            <a:xfrm flipV="1">
              <a:off x="5440" y="141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54" name="Oval 22"/>
            <p:cNvSpPr>
              <a:spLocks noChangeArrowheads="1"/>
            </p:cNvSpPr>
            <p:nvPr/>
          </p:nvSpPr>
          <p:spPr bwMode="auto">
            <a:xfrm flipV="1">
              <a:off x="5610" y="141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55" name="Oval 23"/>
            <p:cNvSpPr>
              <a:spLocks noChangeArrowheads="1"/>
            </p:cNvSpPr>
            <p:nvPr/>
          </p:nvSpPr>
          <p:spPr bwMode="auto">
            <a:xfrm flipV="1">
              <a:off x="5780" y="141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56" name="Oval 24"/>
            <p:cNvSpPr>
              <a:spLocks noChangeArrowheads="1"/>
            </p:cNvSpPr>
            <p:nvPr/>
          </p:nvSpPr>
          <p:spPr bwMode="auto">
            <a:xfrm flipV="1">
              <a:off x="5950" y="141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457" name="AutoShape 25"/>
            <p:cNvSpPr>
              <a:spLocks noChangeArrowheads="1"/>
            </p:cNvSpPr>
            <p:nvPr/>
          </p:nvSpPr>
          <p:spPr bwMode="auto">
            <a:xfrm>
              <a:off x="5440" y="1360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18458" name="Object 26"/>
          <p:cNvGraphicFramePr>
            <a:graphicFrameLocks noChangeAspect="1"/>
          </p:cNvGraphicFramePr>
          <p:nvPr/>
        </p:nvGraphicFramePr>
        <p:xfrm>
          <a:off x="228600" y="3505200"/>
          <a:ext cx="12573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0" imgH="177480" progId="Equation.3">
                  <p:embed/>
                </p:oleObj>
              </mc:Choice>
              <mc:Fallback>
                <p:oleObj name="Equation" r:id="rId4" imgW="533160" imgH="177480" progId="Equation.3">
                  <p:embed/>
                  <p:pic>
                    <p:nvPicPr>
                      <p:cNvPr id="18458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" y="3505200"/>
                        <a:ext cx="12573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62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934AF-71B4-4B62-AF9F-245A51CC2892}" type="slidenum">
              <a:rPr lang="pt-BR"/>
              <a:pPr/>
              <a:t>15</a:t>
            </a:fld>
            <a:endParaRPr lang="pt-BR"/>
          </a:p>
        </p:txBody>
      </p:sp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152400"/>
            <a:ext cx="1981200" cy="53340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pt-BR" sz="2400">
                <a:solidFill>
                  <a:srgbClr val="FF0000"/>
                </a:solidFill>
              </a:rPr>
              <a:t>Exemplo 2: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1295400" y="1330325"/>
            <a:ext cx="1371600" cy="1412875"/>
            <a:chOff x="4080" y="7650"/>
            <a:chExt cx="680" cy="680"/>
          </a:xfrm>
        </p:grpSpPr>
        <p:sp>
          <p:nvSpPr>
            <p:cNvPr id="19460" name="Rectangle 4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61" name="Oval 5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62" name="Oval 6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63" name="Oval 7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64" name="Oval 8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65" name="Oval 9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66" name="Oval 10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67" name="Oval 11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68" name="Oval 12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69" name="Oval 13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0" name="Oval 14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1" name="Oval 15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2" name="Oval 16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3" name="Oval 17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4" name="Oval 18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5" name="Oval 19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76" name="AutoShape 20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477" name="Text Box 21"/>
          <p:cNvSpPr txBox="1">
            <a:spLocks noChangeArrowheads="1"/>
          </p:cNvSpPr>
          <p:nvPr/>
        </p:nvSpPr>
        <p:spPr bwMode="auto">
          <a:xfrm>
            <a:off x="1660525" y="8016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</a:t>
            </a:r>
          </a:p>
        </p:txBody>
      </p:sp>
      <p:grpSp>
        <p:nvGrpSpPr>
          <p:cNvPr id="19478" name="Group 22"/>
          <p:cNvGrpSpPr>
            <a:grpSpLocks/>
          </p:cNvGrpSpPr>
          <p:nvPr/>
        </p:nvGrpSpPr>
        <p:grpSpPr bwMode="auto">
          <a:xfrm>
            <a:off x="3429000" y="1371600"/>
            <a:ext cx="1066800" cy="1066800"/>
            <a:chOff x="4250" y="1954"/>
            <a:chExt cx="510" cy="510"/>
          </a:xfrm>
        </p:grpSpPr>
        <p:sp>
          <p:nvSpPr>
            <p:cNvPr id="19479" name="Rectangle 23"/>
            <p:cNvSpPr>
              <a:spLocks noChangeArrowheads="1"/>
            </p:cNvSpPr>
            <p:nvPr/>
          </p:nvSpPr>
          <p:spPr bwMode="auto">
            <a:xfrm>
              <a:off x="4250" y="1958"/>
              <a:ext cx="510" cy="506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0" name="Oval 24"/>
            <p:cNvSpPr>
              <a:spLocks noChangeArrowheads="1"/>
            </p:cNvSpPr>
            <p:nvPr/>
          </p:nvSpPr>
          <p:spPr bwMode="auto">
            <a:xfrm>
              <a:off x="4420" y="1958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1" name="AutoShape 25"/>
            <p:cNvSpPr>
              <a:spLocks noChangeArrowheads="1"/>
            </p:cNvSpPr>
            <p:nvPr/>
          </p:nvSpPr>
          <p:spPr bwMode="auto">
            <a:xfrm>
              <a:off x="4423" y="2124"/>
              <a:ext cx="170" cy="170"/>
            </a:xfrm>
            <a:prstGeom prst="flowChartSummingJunction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2" name="Oval 26"/>
            <p:cNvSpPr>
              <a:spLocks noChangeArrowheads="1"/>
            </p:cNvSpPr>
            <p:nvPr/>
          </p:nvSpPr>
          <p:spPr bwMode="auto">
            <a:xfrm>
              <a:off x="4250" y="1954"/>
              <a:ext cx="170" cy="17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3" name="Oval 27"/>
            <p:cNvSpPr>
              <a:spLocks noChangeArrowheads="1"/>
            </p:cNvSpPr>
            <p:nvPr/>
          </p:nvSpPr>
          <p:spPr bwMode="auto">
            <a:xfrm>
              <a:off x="4590" y="1954"/>
              <a:ext cx="170" cy="17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4" name="Oval 28"/>
            <p:cNvSpPr>
              <a:spLocks noChangeArrowheads="1"/>
            </p:cNvSpPr>
            <p:nvPr/>
          </p:nvSpPr>
          <p:spPr bwMode="auto">
            <a:xfrm>
              <a:off x="4250" y="2124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5" name="Oval 29"/>
            <p:cNvSpPr>
              <a:spLocks noChangeArrowheads="1"/>
            </p:cNvSpPr>
            <p:nvPr/>
          </p:nvSpPr>
          <p:spPr bwMode="auto">
            <a:xfrm>
              <a:off x="4590" y="2124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6" name="Oval 30"/>
            <p:cNvSpPr>
              <a:spLocks noChangeArrowheads="1"/>
            </p:cNvSpPr>
            <p:nvPr/>
          </p:nvSpPr>
          <p:spPr bwMode="auto">
            <a:xfrm>
              <a:off x="4250" y="2294"/>
              <a:ext cx="170" cy="17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87" name="Oval 31"/>
            <p:cNvSpPr>
              <a:spLocks noChangeArrowheads="1"/>
            </p:cNvSpPr>
            <p:nvPr/>
          </p:nvSpPr>
          <p:spPr bwMode="auto">
            <a:xfrm>
              <a:off x="4420" y="2294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488" name="Oval 32"/>
            <p:cNvSpPr>
              <a:spLocks noChangeArrowheads="1"/>
            </p:cNvSpPr>
            <p:nvPr/>
          </p:nvSpPr>
          <p:spPr bwMode="auto">
            <a:xfrm>
              <a:off x="4590" y="2294"/>
              <a:ext cx="170" cy="17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9489" name="Text Box 33"/>
          <p:cNvSpPr txBox="1">
            <a:spLocks noChangeArrowheads="1"/>
          </p:cNvSpPr>
          <p:nvPr/>
        </p:nvSpPr>
        <p:spPr bwMode="auto">
          <a:xfrm>
            <a:off x="3641725" y="7254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B</a:t>
            </a:r>
          </a:p>
        </p:txBody>
      </p:sp>
      <p:sp>
        <p:nvSpPr>
          <p:cNvPr id="19490" name="Text Box 34"/>
          <p:cNvSpPr txBox="1">
            <a:spLocks noChangeArrowheads="1"/>
          </p:cNvSpPr>
          <p:nvPr/>
        </p:nvSpPr>
        <p:spPr bwMode="auto">
          <a:xfrm>
            <a:off x="381000" y="2819400"/>
            <a:ext cx="3810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sp>
        <p:nvSpPr>
          <p:cNvPr id="19491" name="Text Box 35"/>
          <p:cNvSpPr txBox="1">
            <a:spLocks noChangeArrowheads="1"/>
          </p:cNvSpPr>
          <p:nvPr/>
        </p:nvSpPr>
        <p:spPr bwMode="auto">
          <a:xfrm>
            <a:off x="4876800" y="1524000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B={(-1,0),(0,-1),(0,1),(1,0)}</a:t>
            </a:r>
            <a:r>
              <a:rPr lang="pt-BR"/>
              <a:t> </a:t>
            </a:r>
          </a:p>
        </p:txBody>
      </p:sp>
      <p:sp>
        <p:nvSpPr>
          <p:cNvPr id="19492" name="Text Box 36"/>
          <p:cNvSpPr txBox="1">
            <a:spLocks noChangeArrowheads="1"/>
          </p:cNvSpPr>
          <p:nvPr/>
        </p:nvSpPr>
        <p:spPr bwMode="auto">
          <a:xfrm>
            <a:off x="5029200" y="990600"/>
            <a:ext cx="3184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Elemento estruturante</a:t>
            </a:r>
          </a:p>
        </p:txBody>
      </p:sp>
      <p:sp>
        <p:nvSpPr>
          <p:cNvPr id="19493" name="Text Box 37"/>
          <p:cNvSpPr txBox="1">
            <a:spLocks noChangeArrowheads="1"/>
          </p:cNvSpPr>
          <p:nvPr/>
        </p:nvSpPr>
        <p:spPr bwMode="auto">
          <a:xfrm>
            <a:off x="1066800" y="3505200"/>
            <a:ext cx="72390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{[A+ (-1,0)] </a:t>
            </a:r>
            <a:r>
              <a:rPr lang="pt-BR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</a:t>
            </a:r>
            <a:r>
              <a:rPr lang="pt-BR" sz="2000">
                <a:cs typeface="Times New Roman" pitchFamily="18" charset="0"/>
              </a:rPr>
              <a:t> [A+ (0,-1)] </a:t>
            </a:r>
            <a:r>
              <a:rPr lang="pt-BR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</a:t>
            </a:r>
            <a:r>
              <a:rPr lang="pt-BR" sz="2000">
                <a:cs typeface="Times New Roman" pitchFamily="18" charset="0"/>
              </a:rPr>
              <a:t>  [A+ (0,1)] </a:t>
            </a:r>
            <a:r>
              <a:rPr lang="pt-BR" sz="200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</a:t>
            </a:r>
            <a:r>
              <a:rPr lang="pt-BR" sz="2000">
                <a:cs typeface="Times New Roman" pitchFamily="18" charset="0"/>
              </a:rPr>
              <a:t> [A+ (1,0)]}</a:t>
            </a:r>
            <a:endParaRPr lang="pt-BR" sz="2000"/>
          </a:p>
        </p:txBody>
      </p:sp>
      <p:graphicFrame>
        <p:nvGraphicFramePr>
          <p:cNvPr id="19494" name="Object 38"/>
          <p:cNvGraphicFramePr>
            <a:graphicFrameLocks noChangeAspect="1"/>
          </p:cNvGraphicFramePr>
          <p:nvPr/>
        </p:nvGraphicFramePr>
        <p:xfrm>
          <a:off x="0" y="3505200"/>
          <a:ext cx="1066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0" imgH="177480" progId="Equation.3">
                  <p:embed/>
                </p:oleObj>
              </mc:Choice>
              <mc:Fallback>
                <p:oleObj name="Equation" r:id="rId2" imgW="533160" imgH="177480" progId="Equation.3">
                  <p:embed/>
                  <p:pic>
                    <p:nvPicPr>
                      <p:cNvPr id="1949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3505200"/>
                        <a:ext cx="1066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95" name="Text Box 39"/>
          <p:cNvSpPr txBox="1">
            <a:spLocks noChangeArrowheads="1"/>
          </p:cNvSpPr>
          <p:nvPr/>
        </p:nvSpPr>
        <p:spPr bwMode="auto">
          <a:xfrm>
            <a:off x="228600" y="4038600"/>
            <a:ext cx="4724400" cy="176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[A+ (-1,0)] = [(0,1),(0,2),(1,1),(1,2)]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[A+ (0,-1)] = [(1,0),(1,1),(2,0),(2,1)]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[A+ {(0,1)] = [(1,2),(1,3),(2,2),(2,3)]</a:t>
            </a:r>
          </a:p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[A+ (1,0)]  = [(2,1),(2,2),(3,1),(3,2)]</a:t>
            </a:r>
            <a:endParaRPr lang="pt-BR" sz="2000"/>
          </a:p>
        </p:txBody>
      </p:sp>
      <p:sp>
        <p:nvSpPr>
          <p:cNvPr id="19496" name="Text Box 40"/>
          <p:cNvSpPr txBox="1">
            <a:spLocks noChangeArrowheads="1"/>
          </p:cNvSpPr>
          <p:nvPr/>
        </p:nvSpPr>
        <p:spPr bwMode="auto">
          <a:xfrm>
            <a:off x="1066800" y="6019800"/>
            <a:ext cx="76962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 {(0,1),(0,2),(1,0),(1,1),(1,2),(1,3),(2,0),(2,1),(2,2),(2,3),(3,1),(3,2)}</a:t>
            </a:r>
            <a:r>
              <a:rPr lang="pt-BR" sz="2000"/>
              <a:t> </a:t>
            </a:r>
          </a:p>
        </p:txBody>
      </p:sp>
      <p:grpSp>
        <p:nvGrpSpPr>
          <p:cNvPr id="19497" name="Group 41"/>
          <p:cNvGrpSpPr>
            <a:grpSpLocks/>
          </p:cNvGrpSpPr>
          <p:nvPr/>
        </p:nvGrpSpPr>
        <p:grpSpPr bwMode="auto">
          <a:xfrm>
            <a:off x="5638800" y="4267200"/>
            <a:ext cx="1371600" cy="1447800"/>
            <a:chOff x="8500" y="4250"/>
            <a:chExt cx="680" cy="680"/>
          </a:xfrm>
        </p:grpSpPr>
        <p:sp>
          <p:nvSpPr>
            <p:cNvPr id="19498" name="Rectangle 42"/>
            <p:cNvSpPr>
              <a:spLocks noChangeArrowheads="1"/>
            </p:cNvSpPr>
            <p:nvPr/>
          </p:nvSpPr>
          <p:spPr bwMode="auto">
            <a:xfrm>
              <a:off x="8500" y="4250"/>
              <a:ext cx="680" cy="6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499" name="Oval 43"/>
            <p:cNvSpPr>
              <a:spLocks noChangeArrowheads="1"/>
            </p:cNvSpPr>
            <p:nvPr/>
          </p:nvSpPr>
          <p:spPr bwMode="auto">
            <a:xfrm flipV="1">
              <a:off x="8670" y="425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00" name="Oval 44"/>
            <p:cNvSpPr>
              <a:spLocks noChangeArrowheads="1"/>
            </p:cNvSpPr>
            <p:nvPr/>
          </p:nvSpPr>
          <p:spPr bwMode="auto">
            <a:xfrm flipV="1">
              <a:off x="8840" y="425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01" name="Oval 45"/>
            <p:cNvSpPr>
              <a:spLocks noChangeArrowheads="1"/>
            </p:cNvSpPr>
            <p:nvPr/>
          </p:nvSpPr>
          <p:spPr bwMode="auto">
            <a:xfrm flipV="1">
              <a:off x="9010" y="425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502" name="Oval 46"/>
            <p:cNvSpPr>
              <a:spLocks noChangeArrowheads="1"/>
            </p:cNvSpPr>
            <p:nvPr/>
          </p:nvSpPr>
          <p:spPr bwMode="auto">
            <a:xfrm flipV="1">
              <a:off x="8500" y="44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03" name="Oval 47"/>
            <p:cNvSpPr>
              <a:spLocks noChangeArrowheads="1"/>
            </p:cNvSpPr>
            <p:nvPr/>
          </p:nvSpPr>
          <p:spPr bwMode="auto">
            <a:xfrm flipV="1">
              <a:off x="8670" y="44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04" name="Oval 48"/>
            <p:cNvSpPr>
              <a:spLocks noChangeArrowheads="1"/>
            </p:cNvSpPr>
            <p:nvPr/>
          </p:nvSpPr>
          <p:spPr bwMode="auto">
            <a:xfrm flipV="1">
              <a:off x="8840" y="44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05" name="Oval 49"/>
            <p:cNvSpPr>
              <a:spLocks noChangeArrowheads="1"/>
            </p:cNvSpPr>
            <p:nvPr/>
          </p:nvSpPr>
          <p:spPr bwMode="auto">
            <a:xfrm flipV="1">
              <a:off x="9010" y="44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06" name="Oval 50"/>
            <p:cNvSpPr>
              <a:spLocks noChangeArrowheads="1"/>
            </p:cNvSpPr>
            <p:nvPr/>
          </p:nvSpPr>
          <p:spPr bwMode="auto">
            <a:xfrm flipV="1">
              <a:off x="8500" y="45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07" name="Oval 51"/>
            <p:cNvSpPr>
              <a:spLocks noChangeArrowheads="1"/>
            </p:cNvSpPr>
            <p:nvPr/>
          </p:nvSpPr>
          <p:spPr bwMode="auto">
            <a:xfrm flipV="1">
              <a:off x="8670" y="45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08" name="Oval 52"/>
            <p:cNvSpPr>
              <a:spLocks noChangeArrowheads="1"/>
            </p:cNvSpPr>
            <p:nvPr/>
          </p:nvSpPr>
          <p:spPr bwMode="auto">
            <a:xfrm flipV="1">
              <a:off x="8840" y="45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09" name="Oval 53"/>
            <p:cNvSpPr>
              <a:spLocks noChangeArrowheads="1"/>
            </p:cNvSpPr>
            <p:nvPr/>
          </p:nvSpPr>
          <p:spPr bwMode="auto">
            <a:xfrm flipV="1">
              <a:off x="9010" y="4590"/>
              <a:ext cx="169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10" name="Oval 54"/>
            <p:cNvSpPr>
              <a:spLocks noChangeArrowheads="1"/>
            </p:cNvSpPr>
            <p:nvPr/>
          </p:nvSpPr>
          <p:spPr bwMode="auto">
            <a:xfrm flipV="1">
              <a:off x="8500" y="476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511" name="Oval 55"/>
            <p:cNvSpPr>
              <a:spLocks noChangeArrowheads="1"/>
            </p:cNvSpPr>
            <p:nvPr/>
          </p:nvSpPr>
          <p:spPr bwMode="auto">
            <a:xfrm flipV="1">
              <a:off x="8670" y="476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12" name="Oval 56"/>
            <p:cNvSpPr>
              <a:spLocks noChangeArrowheads="1"/>
            </p:cNvSpPr>
            <p:nvPr/>
          </p:nvSpPr>
          <p:spPr bwMode="auto">
            <a:xfrm flipV="1">
              <a:off x="8840" y="476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513" name="Oval 57"/>
            <p:cNvSpPr>
              <a:spLocks noChangeArrowheads="1"/>
            </p:cNvSpPr>
            <p:nvPr/>
          </p:nvSpPr>
          <p:spPr bwMode="auto">
            <a:xfrm flipV="1">
              <a:off x="9010" y="476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9514" name="AutoShape 58"/>
            <p:cNvSpPr>
              <a:spLocks noChangeArrowheads="1"/>
            </p:cNvSpPr>
            <p:nvPr/>
          </p:nvSpPr>
          <p:spPr bwMode="auto">
            <a:xfrm>
              <a:off x="8500" y="42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19515" name="Object 59"/>
          <p:cNvGraphicFramePr>
            <a:graphicFrameLocks noChangeAspect="1"/>
          </p:cNvGraphicFramePr>
          <p:nvPr/>
        </p:nvGraphicFramePr>
        <p:xfrm>
          <a:off x="0" y="6019800"/>
          <a:ext cx="1066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533160" imgH="177480" progId="Equation.3">
                  <p:embed/>
                </p:oleObj>
              </mc:Choice>
              <mc:Fallback>
                <p:oleObj name="Equation" r:id="rId4" imgW="533160" imgH="177480" progId="Equation.3">
                  <p:embed/>
                  <p:pic>
                    <p:nvPicPr>
                      <p:cNvPr id="19515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0" y="6019800"/>
                        <a:ext cx="1066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516" name="Object 60"/>
          <p:cNvGraphicFramePr>
            <a:graphicFrameLocks noChangeAspect="1"/>
          </p:cNvGraphicFramePr>
          <p:nvPr/>
        </p:nvGraphicFramePr>
        <p:xfrm>
          <a:off x="7200900" y="4724400"/>
          <a:ext cx="83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9040" imgH="177480" progId="Equation.3">
                  <p:embed/>
                </p:oleObj>
              </mc:Choice>
              <mc:Fallback>
                <p:oleObj name="Equation" r:id="rId5" imgW="419040" imgH="177480" progId="Equation.3">
                  <p:embed/>
                  <p:pic>
                    <p:nvPicPr>
                      <p:cNvPr id="19516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0900" y="4724400"/>
                        <a:ext cx="838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10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CB5FA8-7032-42F5-A477-C37D4ACFC3A4}" type="slidenum">
              <a:rPr lang="pt-BR"/>
              <a:pPr/>
              <a:t>16</a:t>
            </a:fld>
            <a:endParaRPr lang="pt-BR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  <a:noFill/>
          <a:ln/>
        </p:spPr>
        <p:txBody>
          <a:bodyPr/>
          <a:lstStyle/>
          <a:p>
            <a:r>
              <a:rPr lang="pt-BR"/>
              <a:t>Dilatação:</a:t>
            </a:r>
          </a:p>
        </p:txBody>
      </p:sp>
      <p:sp>
        <p:nvSpPr>
          <p:cNvPr id="20484" name="Text Box 4"/>
          <p:cNvSpPr txBox="1">
            <a:spLocks noChangeArrowheads="1"/>
          </p:cNvSpPr>
          <p:nvPr/>
        </p:nvSpPr>
        <p:spPr bwMode="auto">
          <a:xfrm>
            <a:off x="3717925" y="268288"/>
            <a:ext cx="2938463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Terceira Definição:</a:t>
            </a:r>
          </a:p>
        </p:txBody>
      </p:sp>
      <p:sp>
        <p:nvSpPr>
          <p:cNvPr id="20485" name="Text Box 5"/>
          <p:cNvSpPr txBox="1">
            <a:spLocks noChangeArrowheads="1"/>
          </p:cNvSpPr>
          <p:nvPr/>
        </p:nvSpPr>
        <p:spPr bwMode="auto">
          <a:xfrm>
            <a:off x="1127125" y="877888"/>
            <a:ext cx="31178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Adição de Minkowsky</a:t>
            </a:r>
          </a:p>
        </p:txBody>
      </p:sp>
      <p:graphicFrame>
        <p:nvGraphicFramePr>
          <p:cNvPr id="20486" name="Object 6"/>
          <p:cNvGraphicFramePr>
            <a:graphicFrameLocks noChangeAspect="1"/>
          </p:cNvGraphicFramePr>
          <p:nvPr/>
        </p:nvGraphicFramePr>
        <p:xfrm>
          <a:off x="1600200" y="1524000"/>
          <a:ext cx="18034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342720" progId="Equation.3">
                  <p:embed/>
                </p:oleObj>
              </mc:Choice>
              <mc:Fallback>
                <p:oleObj name="Equation" r:id="rId2" imgW="1015920" imgH="342720" progId="Equation.3">
                  <p:embed/>
                  <p:pic>
                    <p:nvPicPr>
                      <p:cNvPr id="2048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524000"/>
                        <a:ext cx="18034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87" name="Text Box 7"/>
          <p:cNvSpPr txBox="1">
            <a:spLocks noChangeArrowheads="1"/>
          </p:cNvSpPr>
          <p:nvPr/>
        </p:nvSpPr>
        <p:spPr bwMode="auto">
          <a:xfrm>
            <a:off x="898525" y="2325688"/>
            <a:ext cx="1557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Algoritmo:</a:t>
            </a:r>
          </a:p>
        </p:txBody>
      </p:sp>
      <p:sp>
        <p:nvSpPr>
          <p:cNvPr id="20488" name="Text Box 8"/>
          <p:cNvSpPr txBox="1">
            <a:spLocks noChangeArrowheads="1"/>
          </p:cNvSpPr>
          <p:nvPr/>
        </p:nvSpPr>
        <p:spPr bwMode="auto">
          <a:xfrm>
            <a:off x="898525" y="3011488"/>
            <a:ext cx="744378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pt-BR"/>
              <a:t> Deslocar o Elemento Estruturante sobre a Imagem</a:t>
            </a:r>
          </a:p>
          <a:p>
            <a:pPr>
              <a:buFontTx/>
              <a:buChar char="•"/>
            </a:pPr>
            <a:r>
              <a:rPr lang="pt-BR"/>
              <a:t> Onde a origem do elemento encontrar um nível 1 na</a:t>
            </a:r>
            <a:br>
              <a:rPr lang="pt-BR"/>
            </a:br>
            <a:r>
              <a:rPr lang="pt-BR"/>
              <a:t>Imagem, unir o elemento com a Imagem.</a:t>
            </a:r>
          </a:p>
        </p:txBody>
      </p:sp>
      <p:sp>
        <p:nvSpPr>
          <p:cNvPr id="20489" name="Text Box 9"/>
          <p:cNvSpPr txBox="1">
            <a:spLocks noChangeArrowheads="1"/>
          </p:cNvSpPr>
          <p:nvPr/>
        </p:nvSpPr>
        <p:spPr bwMode="auto">
          <a:xfrm>
            <a:off x="822325" y="4611688"/>
            <a:ext cx="7270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Obs:</a:t>
            </a:r>
            <a:r>
              <a:rPr lang="pt-BR"/>
              <a:t> Um nível lógico 1 equivale à região da Imagem</a:t>
            </a:r>
            <a:br>
              <a:rPr lang="pt-BR"/>
            </a:br>
            <a:r>
              <a:rPr lang="pt-BR"/>
              <a:t>Binária.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249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9FA03-88CA-48D0-B1D4-589ED7639DC9}" type="slidenum">
              <a:rPr lang="pt-BR"/>
              <a:pPr/>
              <a:t>17</a:t>
            </a:fld>
            <a:endParaRPr lang="pt-BR"/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2209800" cy="53340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pt-BR" sz="2400">
                <a:solidFill>
                  <a:srgbClr val="FF0000"/>
                </a:solidFill>
              </a:rPr>
              <a:t>Exemplo:</a:t>
            </a:r>
          </a:p>
        </p:txBody>
      </p:sp>
      <p:graphicFrame>
        <p:nvGraphicFramePr>
          <p:cNvPr id="21738" name="Group 234"/>
          <p:cNvGraphicFramePr>
            <a:graphicFrameLocks noGrp="1"/>
          </p:cNvGraphicFramePr>
          <p:nvPr/>
        </p:nvGraphicFramePr>
        <p:xfrm>
          <a:off x="1219200" y="1295400"/>
          <a:ext cx="4038600" cy="4267200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1758" name="Group 254"/>
          <p:cNvGraphicFramePr>
            <a:graphicFrameLocks noGrp="1"/>
          </p:cNvGraphicFramePr>
          <p:nvPr/>
        </p:nvGraphicFramePr>
        <p:xfrm>
          <a:off x="5867400" y="1371600"/>
          <a:ext cx="685800" cy="67056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1755" name="Text Box 251"/>
          <p:cNvSpPr txBox="1">
            <a:spLocks noChangeArrowheads="1"/>
          </p:cNvSpPr>
          <p:nvPr/>
        </p:nvSpPr>
        <p:spPr bwMode="auto">
          <a:xfrm>
            <a:off x="5699125" y="801688"/>
            <a:ext cx="3217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Elemento Estruturante</a:t>
            </a:r>
          </a:p>
        </p:txBody>
      </p:sp>
      <p:sp>
        <p:nvSpPr>
          <p:cNvPr id="21756" name="Text Box 252"/>
          <p:cNvSpPr txBox="1">
            <a:spLocks noChangeArrowheads="1"/>
          </p:cNvSpPr>
          <p:nvPr/>
        </p:nvSpPr>
        <p:spPr bwMode="auto">
          <a:xfrm>
            <a:off x="1828800" y="762000"/>
            <a:ext cx="2320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Imagem Binária</a:t>
            </a:r>
          </a:p>
        </p:txBody>
      </p:sp>
      <p:sp>
        <p:nvSpPr>
          <p:cNvPr id="21757" name="Text Box 253"/>
          <p:cNvSpPr txBox="1">
            <a:spLocks noChangeArrowheads="1"/>
          </p:cNvSpPr>
          <p:nvPr/>
        </p:nvSpPr>
        <p:spPr bwMode="auto">
          <a:xfrm>
            <a:off x="5410200" y="3429000"/>
            <a:ext cx="3471863" cy="1552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Obs:</a:t>
            </a:r>
            <a:r>
              <a:rPr lang="pt-BR"/>
              <a:t> A Imagem é</a:t>
            </a:r>
            <a:br>
              <a:rPr lang="pt-BR"/>
            </a:br>
            <a:r>
              <a:rPr lang="pt-BR"/>
              <a:t>representada por </a:t>
            </a:r>
            <a:br>
              <a:rPr lang="pt-BR"/>
            </a:br>
            <a:r>
              <a:rPr lang="pt-BR"/>
              <a:t>níveis 1 e o fundo por</a:t>
            </a:r>
            <a:br>
              <a:rPr lang="pt-BR"/>
            </a:br>
            <a:r>
              <a:rPr lang="pt-BR"/>
              <a:t>níveis 0 (não mostrado).</a:t>
            </a:r>
          </a:p>
        </p:txBody>
      </p:sp>
      <p:sp>
        <p:nvSpPr>
          <p:cNvPr id="21759" name="Text Box 255"/>
          <p:cNvSpPr txBox="1">
            <a:spLocks noChangeArrowheads="1"/>
          </p:cNvSpPr>
          <p:nvPr/>
        </p:nvSpPr>
        <p:spPr bwMode="auto">
          <a:xfrm>
            <a:off x="5622925" y="2325688"/>
            <a:ext cx="11938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Origem</a:t>
            </a:r>
          </a:p>
        </p:txBody>
      </p:sp>
      <p:sp>
        <p:nvSpPr>
          <p:cNvPr id="21760" name="Line 256"/>
          <p:cNvSpPr>
            <a:spLocks noChangeShapeType="1"/>
          </p:cNvSpPr>
          <p:nvPr/>
        </p:nvSpPr>
        <p:spPr bwMode="auto">
          <a:xfrm flipV="1">
            <a:off x="5867400" y="1905000"/>
            <a:ext cx="228600" cy="4572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21761" name="Text Box 257"/>
          <p:cNvSpPr txBox="1">
            <a:spLocks noChangeArrowheads="1"/>
          </p:cNvSpPr>
          <p:nvPr/>
        </p:nvSpPr>
        <p:spPr bwMode="auto">
          <a:xfrm>
            <a:off x="2879725" y="55260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</a:t>
            </a:r>
          </a:p>
        </p:txBody>
      </p:sp>
      <p:sp>
        <p:nvSpPr>
          <p:cNvPr id="21762" name="Text Box 258"/>
          <p:cNvSpPr txBox="1">
            <a:spLocks noChangeArrowheads="1"/>
          </p:cNvSpPr>
          <p:nvPr/>
        </p:nvSpPr>
        <p:spPr bwMode="auto">
          <a:xfrm>
            <a:off x="6613525" y="14112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B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77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9C8F2-F946-4C56-B56D-340A1C6F5E63}" type="slidenum">
              <a:rPr lang="pt-BR"/>
              <a:pPr/>
              <a:t>18</a:t>
            </a:fld>
            <a:endParaRPr lang="pt-BR"/>
          </a:p>
        </p:txBody>
      </p:sp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352800" cy="533400"/>
          </a:xfrm>
        </p:spPr>
        <p:txBody>
          <a:bodyPr/>
          <a:lstStyle/>
          <a:p>
            <a:r>
              <a:rPr lang="pt-BR" sz="2400"/>
              <a:t>Adição de Minkowsky</a:t>
            </a:r>
          </a:p>
        </p:txBody>
      </p:sp>
      <p:graphicFrame>
        <p:nvGraphicFramePr>
          <p:cNvPr id="22531" name="Group 3"/>
          <p:cNvGraphicFramePr>
            <a:graphicFrameLocks noGrp="1"/>
          </p:cNvGraphicFramePr>
          <p:nvPr/>
        </p:nvGraphicFramePr>
        <p:xfrm>
          <a:off x="228600" y="1295400"/>
          <a:ext cx="4038600" cy="4267200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rgbClr val="0099FF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0099FF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2915" name="Group 387"/>
          <p:cNvGraphicFramePr>
            <a:graphicFrameLocks noGrp="1"/>
          </p:cNvGraphicFramePr>
          <p:nvPr/>
        </p:nvGraphicFramePr>
        <p:xfrm>
          <a:off x="2286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916" name="Group 388"/>
          <p:cNvGraphicFramePr>
            <a:graphicFrameLocks noGrp="1"/>
          </p:cNvGraphicFramePr>
          <p:nvPr/>
        </p:nvGraphicFramePr>
        <p:xfrm>
          <a:off x="5334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927" name="Group 399"/>
          <p:cNvGraphicFramePr>
            <a:graphicFrameLocks noGrp="1"/>
          </p:cNvGraphicFramePr>
          <p:nvPr/>
        </p:nvGraphicFramePr>
        <p:xfrm>
          <a:off x="8382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938" name="Group 410"/>
          <p:cNvGraphicFramePr>
            <a:graphicFrameLocks noGrp="1"/>
          </p:cNvGraphicFramePr>
          <p:nvPr/>
        </p:nvGraphicFramePr>
        <p:xfrm>
          <a:off x="11430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949" name="Group 421"/>
          <p:cNvGraphicFramePr>
            <a:graphicFrameLocks noGrp="1"/>
          </p:cNvGraphicFramePr>
          <p:nvPr/>
        </p:nvGraphicFramePr>
        <p:xfrm>
          <a:off x="13716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960" name="Group 432"/>
          <p:cNvGraphicFramePr>
            <a:graphicFrameLocks noGrp="1"/>
          </p:cNvGraphicFramePr>
          <p:nvPr/>
        </p:nvGraphicFramePr>
        <p:xfrm>
          <a:off x="16764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971" name="Group 443"/>
          <p:cNvGraphicFramePr>
            <a:graphicFrameLocks noGrp="1"/>
          </p:cNvGraphicFramePr>
          <p:nvPr/>
        </p:nvGraphicFramePr>
        <p:xfrm>
          <a:off x="19812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982" name="Group 454"/>
          <p:cNvGraphicFramePr>
            <a:graphicFrameLocks noGrp="1"/>
          </p:cNvGraphicFramePr>
          <p:nvPr/>
        </p:nvGraphicFramePr>
        <p:xfrm>
          <a:off x="22860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2993" name="Group 465"/>
          <p:cNvGraphicFramePr>
            <a:graphicFrameLocks noGrp="1"/>
          </p:cNvGraphicFramePr>
          <p:nvPr/>
        </p:nvGraphicFramePr>
        <p:xfrm>
          <a:off x="25908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004" name="Group 476"/>
          <p:cNvGraphicFramePr>
            <a:graphicFrameLocks noGrp="1"/>
          </p:cNvGraphicFramePr>
          <p:nvPr/>
        </p:nvGraphicFramePr>
        <p:xfrm>
          <a:off x="28194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015" name="Group 487"/>
          <p:cNvGraphicFramePr>
            <a:graphicFrameLocks noGrp="1"/>
          </p:cNvGraphicFramePr>
          <p:nvPr/>
        </p:nvGraphicFramePr>
        <p:xfrm>
          <a:off x="31242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026" name="Group 498"/>
          <p:cNvGraphicFramePr>
            <a:graphicFrameLocks noGrp="1"/>
          </p:cNvGraphicFramePr>
          <p:nvPr/>
        </p:nvGraphicFramePr>
        <p:xfrm>
          <a:off x="34290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037" name="Group 509"/>
          <p:cNvGraphicFramePr>
            <a:graphicFrameLocks noGrp="1"/>
          </p:cNvGraphicFramePr>
          <p:nvPr/>
        </p:nvGraphicFramePr>
        <p:xfrm>
          <a:off x="3657600" y="12954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048" name="Group 520"/>
          <p:cNvGraphicFramePr>
            <a:graphicFrameLocks noGrp="1"/>
          </p:cNvGraphicFramePr>
          <p:nvPr/>
        </p:nvGraphicFramePr>
        <p:xfrm>
          <a:off x="2286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059" name="Text Box 531"/>
          <p:cNvSpPr txBox="1">
            <a:spLocks noChangeArrowheads="1"/>
          </p:cNvSpPr>
          <p:nvPr/>
        </p:nvSpPr>
        <p:spPr bwMode="auto">
          <a:xfrm>
            <a:off x="6553200" y="2209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060" name="Text Box 532"/>
          <p:cNvSpPr txBox="1">
            <a:spLocks noChangeArrowheads="1"/>
          </p:cNvSpPr>
          <p:nvPr/>
        </p:nvSpPr>
        <p:spPr bwMode="auto">
          <a:xfrm>
            <a:off x="6858000" y="25146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graphicFrame>
        <p:nvGraphicFramePr>
          <p:cNvPr id="23061" name="Group 533"/>
          <p:cNvGraphicFramePr>
            <a:graphicFrameLocks noGrp="1"/>
          </p:cNvGraphicFramePr>
          <p:nvPr/>
        </p:nvGraphicFramePr>
        <p:xfrm>
          <a:off x="5334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420" name="Group 892"/>
          <p:cNvGraphicFramePr>
            <a:graphicFrameLocks noGrp="1"/>
          </p:cNvGraphicFramePr>
          <p:nvPr/>
        </p:nvGraphicFramePr>
        <p:xfrm>
          <a:off x="4800600" y="1295400"/>
          <a:ext cx="4038600" cy="4287838"/>
        </p:xfrm>
        <a:graphic>
          <a:graphicData uri="http://schemas.openxmlformats.org/drawingml/2006/table">
            <a:tbl>
              <a:tblPr/>
              <a:tblGrid>
                <a:gridCol w="288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8733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8733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88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254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23299" name="Group 771"/>
          <p:cNvGraphicFramePr>
            <a:graphicFrameLocks noGrp="1"/>
          </p:cNvGraphicFramePr>
          <p:nvPr/>
        </p:nvGraphicFramePr>
        <p:xfrm>
          <a:off x="8382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10" name="Group 782"/>
          <p:cNvGraphicFramePr>
            <a:graphicFrameLocks noGrp="1"/>
          </p:cNvGraphicFramePr>
          <p:nvPr/>
        </p:nvGraphicFramePr>
        <p:xfrm>
          <a:off x="11430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21" name="Group 793"/>
          <p:cNvGraphicFramePr>
            <a:graphicFrameLocks noGrp="1"/>
          </p:cNvGraphicFramePr>
          <p:nvPr/>
        </p:nvGraphicFramePr>
        <p:xfrm>
          <a:off x="14478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32" name="Group 804"/>
          <p:cNvGraphicFramePr>
            <a:graphicFrameLocks noGrp="1"/>
          </p:cNvGraphicFramePr>
          <p:nvPr/>
        </p:nvGraphicFramePr>
        <p:xfrm>
          <a:off x="17526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43" name="Group 815"/>
          <p:cNvGraphicFramePr>
            <a:graphicFrameLocks noGrp="1"/>
          </p:cNvGraphicFramePr>
          <p:nvPr/>
        </p:nvGraphicFramePr>
        <p:xfrm>
          <a:off x="19812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54" name="Group 826"/>
          <p:cNvGraphicFramePr>
            <a:graphicFrameLocks noGrp="1"/>
          </p:cNvGraphicFramePr>
          <p:nvPr/>
        </p:nvGraphicFramePr>
        <p:xfrm>
          <a:off x="22860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65" name="Group 837"/>
          <p:cNvGraphicFramePr>
            <a:graphicFrameLocks noGrp="1"/>
          </p:cNvGraphicFramePr>
          <p:nvPr/>
        </p:nvGraphicFramePr>
        <p:xfrm>
          <a:off x="25146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76" name="Group 848"/>
          <p:cNvGraphicFramePr>
            <a:graphicFrameLocks noGrp="1"/>
          </p:cNvGraphicFramePr>
          <p:nvPr/>
        </p:nvGraphicFramePr>
        <p:xfrm>
          <a:off x="28194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87" name="Group 859"/>
          <p:cNvGraphicFramePr>
            <a:graphicFrameLocks noGrp="1"/>
          </p:cNvGraphicFramePr>
          <p:nvPr/>
        </p:nvGraphicFramePr>
        <p:xfrm>
          <a:off x="31242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398" name="Group 870"/>
          <p:cNvGraphicFramePr>
            <a:graphicFrameLocks noGrp="1"/>
          </p:cNvGraphicFramePr>
          <p:nvPr/>
        </p:nvGraphicFramePr>
        <p:xfrm>
          <a:off x="33528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3409" name="Group 881"/>
          <p:cNvGraphicFramePr>
            <a:graphicFrameLocks noGrp="1"/>
          </p:cNvGraphicFramePr>
          <p:nvPr/>
        </p:nvGraphicFramePr>
        <p:xfrm>
          <a:off x="3657600" y="2209800"/>
          <a:ext cx="587375" cy="611188"/>
        </p:xfrm>
        <a:graphic>
          <a:graphicData uri="http://schemas.openxmlformats.org/drawingml/2006/table">
            <a:tbl>
              <a:tblPr/>
              <a:tblGrid>
                <a:gridCol w="282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3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rgbClr val="FF000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421" name="Text Box 893"/>
          <p:cNvSpPr txBox="1">
            <a:spLocks noChangeArrowheads="1"/>
          </p:cNvSpPr>
          <p:nvPr/>
        </p:nvSpPr>
        <p:spPr bwMode="auto">
          <a:xfrm>
            <a:off x="7391400" y="2209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22" name="Text Box 894"/>
          <p:cNvSpPr txBox="1">
            <a:spLocks noChangeArrowheads="1"/>
          </p:cNvSpPr>
          <p:nvPr/>
        </p:nvSpPr>
        <p:spPr bwMode="auto">
          <a:xfrm>
            <a:off x="7696200" y="25146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23" name="Text Box 895"/>
          <p:cNvSpPr txBox="1">
            <a:spLocks noChangeArrowheads="1"/>
          </p:cNvSpPr>
          <p:nvPr/>
        </p:nvSpPr>
        <p:spPr bwMode="auto">
          <a:xfrm>
            <a:off x="6858000" y="28194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24" name="Text Box 896"/>
          <p:cNvSpPr txBox="1">
            <a:spLocks noChangeArrowheads="1"/>
          </p:cNvSpPr>
          <p:nvPr/>
        </p:nvSpPr>
        <p:spPr bwMode="auto">
          <a:xfrm>
            <a:off x="8001000" y="28194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25" name="Text Box 897"/>
          <p:cNvSpPr txBox="1">
            <a:spLocks noChangeArrowheads="1"/>
          </p:cNvSpPr>
          <p:nvPr/>
        </p:nvSpPr>
        <p:spPr bwMode="auto">
          <a:xfrm>
            <a:off x="6324600" y="28194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26" name="Text Box 898"/>
          <p:cNvSpPr txBox="1">
            <a:spLocks noChangeArrowheads="1"/>
          </p:cNvSpPr>
          <p:nvPr/>
        </p:nvSpPr>
        <p:spPr bwMode="auto">
          <a:xfrm>
            <a:off x="6858000" y="31242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27" name="Text Box 899"/>
          <p:cNvSpPr txBox="1">
            <a:spLocks noChangeArrowheads="1"/>
          </p:cNvSpPr>
          <p:nvPr/>
        </p:nvSpPr>
        <p:spPr bwMode="auto">
          <a:xfrm>
            <a:off x="7162800" y="28194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28" name="Text Box 900"/>
          <p:cNvSpPr txBox="1">
            <a:spLocks noChangeArrowheads="1"/>
          </p:cNvSpPr>
          <p:nvPr/>
        </p:nvSpPr>
        <p:spPr bwMode="auto">
          <a:xfrm>
            <a:off x="7467600" y="28194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29" name="Text Box 901"/>
          <p:cNvSpPr txBox="1">
            <a:spLocks noChangeArrowheads="1"/>
          </p:cNvSpPr>
          <p:nvPr/>
        </p:nvSpPr>
        <p:spPr bwMode="auto">
          <a:xfrm>
            <a:off x="7696200" y="31242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30" name="Text Box 902"/>
          <p:cNvSpPr txBox="1">
            <a:spLocks noChangeArrowheads="1"/>
          </p:cNvSpPr>
          <p:nvPr/>
        </p:nvSpPr>
        <p:spPr bwMode="auto">
          <a:xfrm>
            <a:off x="6019800" y="31242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31" name="Text Box 903"/>
          <p:cNvSpPr txBox="1">
            <a:spLocks noChangeArrowheads="1"/>
          </p:cNvSpPr>
          <p:nvPr/>
        </p:nvSpPr>
        <p:spPr bwMode="auto">
          <a:xfrm>
            <a:off x="8001000" y="34290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32" name="Text Box 904"/>
          <p:cNvSpPr txBox="1">
            <a:spLocks noChangeArrowheads="1"/>
          </p:cNvSpPr>
          <p:nvPr/>
        </p:nvSpPr>
        <p:spPr bwMode="auto">
          <a:xfrm>
            <a:off x="7467600" y="3733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33" name="Text Box 905"/>
          <p:cNvSpPr txBox="1">
            <a:spLocks noChangeArrowheads="1"/>
          </p:cNvSpPr>
          <p:nvPr/>
        </p:nvSpPr>
        <p:spPr bwMode="auto">
          <a:xfrm>
            <a:off x="8001000" y="37338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34" name="Text Box 906"/>
          <p:cNvSpPr txBox="1">
            <a:spLocks noChangeArrowheads="1"/>
          </p:cNvSpPr>
          <p:nvPr/>
        </p:nvSpPr>
        <p:spPr bwMode="auto">
          <a:xfrm>
            <a:off x="8001000" y="40386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3435" name="Text Box 907"/>
          <p:cNvSpPr txBox="1">
            <a:spLocks noChangeArrowheads="1"/>
          </p:cNvSpPr>
          <p:nvPr/>
        </p:nvSpPr>
        <p:spPr bwMode="auto">
          <a:xfrm>
            <a:off x="8001000" y="4343400"/>
            <a:ext cx="228600" cy="30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1400" b="1">
                <a:solidFill>
                  <a:srgbClr val="FF0000"/>
                </a:solidFill>
              </a:rPr>
              <a:t>1</a:t>
            </a:r>
          </a:p>
        </p:txBody>
      </p:sp>
      <p:graphicFrame>
        <p:nvGraphicFramePr>
          <p:cNvPr id="23436" name="Group 908"/>
          <p:cNvGraphicFramePr>
            <a:graphicFrameLocks noGrp="1"/>
          </p:cNvGraphicFramePr>
          <p:nvPr/>
        </p:nvGraphicFramePr>
        <p:xfrm>
          <a:off x="6172200" y="228600"/>
          <a:ext cx="685800" cy="67056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3447" name="Text Box 919"/>
          <p:cNvSpPr txBox="1">
            <a:spLocks noChangeArrowheads="1"/>
          </p:cNvSpPr>
          <p:nvPr/>
        </p:nvSpPr>
        <p:spPr bwMode="auto">
          <a:xfrm>
            <a:off x="1660525" y="56022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</a:t>
            </a:r>
          </a:p>
        </p:txBody>
      </p:sp>
      <p:sp>
        <p:nvSpPr>
          <p:cNvPr id="23448" name="Text Box 920"/>
          <p:cNvSpPr txBox="1">
            <a:spLocks noChangeArrowheads="1"/>
          </p:cNvSpPr>
          <p:nvPr/>
        </p:nvSpPr>
        <p:spPr bwMode="auto">
          <a:xfrm>
            <a:off x="7070725" y="2682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B</a:t>
            </a:r>
          </a:p>
        </p:txBody>
      </p:sp>
      <p:graphicFrame>
        <p:nvGraphicFramePr>
          <p:cNvPr id="23449" name="Object 921"/>
          <p:cNvGraphicFramePr>
            <a:graphicFrameLocks noChangeAspect="1"/>
          </p:cNvGraphicFramePr>
          <p:nvPr/>
        </p:nvGraphicFramePr>
        <p:xfrm>
          <a:off x="6286500" y="5715000"/>
          <a:ext cx="83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19040" imgH="177480" progId="Equation.3">
                  <p:embed/>
                </p:oleObj>
              </mc:Choice>
              <mc:Fallback>
                <p:oleObj name="Equation" r:id="rId2" imgW="419040" imgH="177480" progId="Equation.3">
                  <p:embed/>
                  <p:pic>
                    <p:nvPicPr>
                      <p:cNvPr id="23449" name="Object 9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86500" y="5715000"/>
                        <a:ext cx="838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2" name="Tinta 1">
                <a:extLst>
                  <a:ext uri="{FF2B5EF4-FFF2-40B4-BE49-F238E27FC236}">
                    <a16:creationId xmlns:a16="http://schemas.microsoft.com/office/drawing/2014/main" id="{F218B92C-9D25-ECB9-73BA-38A874D9FB6E}"/>
                  </a:ext>
                </a:extLst>
              </p14:cNvPr>
              <p14:cNvContentPartPr/>
              <p14:nvPr/>
            </p14:nvContentPartPr>
            <p14:xfrm>
              <a:off x="-1091569" y="3115294"/>
              <a:ext cx="360" cy="360"/>
            </p14:xfrm>
          </p:contentPart>
        </mc:Choice>
        <mc:Fallback>
          <p:pic>
            <p:nvPicPr>
              <p:cNvPr id="2" name="Tinta 1">
                <a:extLst>
                  <a:ext uri="{FF2B5EF4-FFF2-40B4-BE49-F238E27FC236}">
                    <a16:creationId xmlns:a16="http://schemas.microsoft.com/office/drawing/2014/main" id="{F218B92C-9D25-ECB9-73BA-38A874D9FB6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1100569" y="3106654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5" name="Tinta 4">
                <a:extLst>
                  <a:ext uri="{FF2B5EF4-FFF2-40B4-BE49-F238E27FC236}">
                    <a16:creationId xmlns:a16="http://schemas.microsoft.com/office/drawing/2014/main" id="{0CBA9E68-D9B6-E03A-CE6C-4C71CCAC8109}"/>
                  </a:ext>
                </a:extLst>
              </p14:cNvPr>
              <p14:cNvContentPartPr/>
              <p14:nvPr/>
            </p14:nvContentPartPr>
            <p14:xfrm>
              <a:off x="-293809" y="1721014"/>
              <a:ext cx="360" cy="1440"/>
            </p14:xfrm>
          </p:contentPart>
        </mc:Choice>
        <mc:Fallback>
          <p:pic>
            <p:nvPicPr>
              <p:cNvPr id="5" name="Tinta 4">
                <a:extLst>
                  <a:ext uri="{FF2B5EF4-FFF2-40B4-BE49-F238E27FC236}">
                    <a16:creationId xmlns:a16="http://schemas.microsoft.com/office/drawing/2014/main" id="{0CBA9E68-D9B6-E03A-CE6C-4C71CCAC8109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-302449" y="1712374"/>
                <a:ext cx="18000" cy="1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29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3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 nodeType="clickPar">
                      <p:stCondLst>
                        <p:cond delay="indefinite"/>
                      </p:stCondLst>
                      <p:childTnLst>
                        <p:par>
                          <p:cTn id="1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 nodeType="clickPar">
                      <p:stCondLst>
                        <p:cond delay="indefinite"/>
                      </p:stCondLst>
                      <p:childTnLst>
                        <p:par>
                          <p:cTn id="1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59" grpId="0" autoUpdateAnimBg="0"/>
      <p:bldP spid="23060" grpId="0" autoUpdateAnimBg="0"/>
      <p:bldP spid="23421" grpId="0" autoUpdateAnimBg="0"/>
      <p:bldP spid="23422" grpId="0" autoUpdateAnimBg="0"/>
      <p:bldP spid="23423" grpId="0" autoUpdateAnimBg="0"/>
      <p:bldP spid="23424" grpId="0" autoUpdateAnimBg="0"/>
      <p:bldP spid="23425" grpId="0" autoUpdateAnimBg="0"/>
      <p:bldP spid="23426" grpId="0" autoUpdateAnimBg="0"/>
      <p:bldP spid="23427" grpId="0" autoUpdateAnimBg="0"/>
      <p:bldP spid="23428" grpId="0" autoUpdateAnimBg="0"/>
      <p:bldP spid="23429" grpId="0" autoUpdateAnimBg="0"/>
      <p:bldP spid="23430" grpId="0" autoUpdateAnimBg="0"/>
      <p:bldP spid="23431" grpId="0" autoUpdateAnimBg="0"/>
      <p:bldP spid="23432" grpId="0" autoUpdateAnimBg="0"/>
      <p:bldP spid="23433" grpId="0" autoUpdateAnimBg="0"/>
      <p:bldP spid="23434" grpId="0" autoUpdateAnimBg="0"/>
      <p:bldP spid="23435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9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334ED6-884A-4D92-B6D7-71FCB878FB8B}" type="slidenum">
              <a:rPr lang="pt-BR"/>
              <a:pPr/>
              <a:t>19</a:t>
            </a:fld>
            <a:endParaRPr lang="pt-BR"/>
          </a:p>
        </p:txBody>
      </p:sp>
      <p:pic>
        <p:nvPicPr>
          <p:cNvPr id="23556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48200" y="609600"/>
            <a:ext cx="4283075" cy="4516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3557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685800"/>
            <a:ext cx="4283075" cy="4497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558" name="Text Box 6"/>
          <p:cNvSpPr txBox="1">
            <a:spLocks noChangeArrowheads="1"/>
          </p:cNvSpPr>
          <p:nvPr/>
        </p:nvSpPr>
        <p:spPr bwMode="auto">
          <a:xfrm>
            <a:off x="838200" y="5867400"/>
            <a:ext cx="820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Dilatação preenche Vales e Buracos e aumenta a região.</a:t>
            </a:r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/>
              <a:t>Dilatação:</a:t>
            </a:r>
          </a:p>
        </p:txBody>
      </p:sp>
      <p:sp>
        <p:nvSpPr>
          <p:cNvPr id="23560" name="Text Box 8"/>
          <p:cNvSpPr txBox="1">
            <a:spLocks noChangeArrowheads="1"/>
          </p:cNvSpPr>
          <p:nvPr/>
        </p:nvSpPr>
        <p:spPr bwMode="auto">
          <a:xfrm>
            <a:off x="2438400" y="51054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/>
              <a:t>A</a:t>
            </a:r>
          </a:p>
        </p:txBody>
      </p:sp>
      <p:graphicFrame>
        <p:nvGraphicFramePr>
          <p:cNvPr id="23561" name="Object 9"/>
          <p:cNvGraphicFramePr>
            <a:graphicFrameLocks noChangeAspect="1"/>
          </p:cNvGraphicFramePr>
          <p:nvPr/>
        </p:nvGraphicFramePr>
        <p:xfrm>
          <a:off x="6477000" y="5181600"/>
          <a:ext cx="8382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40" imgH="177480" progId="Equation.3">
                  <p:embed/>
                </p:oleObj>
              </mc:Choice>
              <mc:Fallback>
                <p:oleObj name="Equation" r:id="rId4" imgW="419040" imgH="177480" progId="Equation.3">
                  <p:embed/>
                  <p:pic>
                    <p:nvPicPr>
                      <p:cNvPr id="23561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5181600"/>
                        <a:ext cx="8382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9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7DEE75-4272-48F9-93F9-2969021369F5}" type="slidenum">
              <a:rPr lang="pt-BR"/>
              <a:pPr/>
              <a:t>20</a:t>
            </a:fld>
            <a:endParaRPr lang="pt-BR"/>
          </a:p>
        </p:txBody>
      </p:sp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/>
              <a:t>Erosão:</a:t>
            </a:r>
          </a:p>
        </p:txBody>
      </p:sp>
      <p:sp>
        <p:nvSpPr>
          <p:cNvPr id="24579" name="Text Box 3"/>
          <p:cNvSpPr txBox="1">
            <a:spLocks noChangeArrowheads="1"/>
          </p:cNvSpPr>
          <p:nvPr/>
        </p:nvSpPr>
        <p:spPr bwMode="auto">
          <a:xfrm>
            <a:off x="1127125" y="954088"/>
            <a:ext cx="585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e B conjuntos de Z</a:t>
            </a:r>
            <a:r>
              <a:rPr lang="pt-BR" baseline="30000"/>
              <a:t>2</a:t>
            </a:r>
            <a:r>
              <a:rPr lang="pt-BR"/>
              <a:t> (Imagens Binárias).</a:t>
            </a:r>
          </a:p>
        </p:txBody>
      </p:sp>
      <p:sp>
        <p:nvSpPr>
          <p:cNvPr id="24580" name="Text Box 4"/>
          <p:cNvSpPr txBox="1">
            <a:spLocks noChangeArrowheads="1"/>
          </p:cNvSpPr>
          <p:nvPr/>
        </p:nvSpPr>
        <p:spPr bwMode="auto">
          <a:xfrm>
            <a:off x="1066800" y="1905000"/>
            <a:ext cx="53514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</a:t>
            </a:r>
            <a:r>
              <a:rPr lang="pt-BR" b="1">
                <a:solidFill>
                  <a:srgbClr val="FF0000"/>
                </a:solidFill>
              </a:rPr>
              <a:t>Erosão</a:t>
            </a:r>
            <a:r>
              <a:rPr lang="pt-BR"/>
              <a:t> de A por B é definida como:</a:t>
            </a:r>
          </a:p>
        </p:txBody>
      </p:sp>
      <p:graphicFrame>
        <p:nvGraphicFramePr>
          <p:cNvPr id="24581" name="Object 5"/>
          <p:cNvGraphicFramePr>
            <a:graphicFrameLocks noChangeAspect="1"/>
          </p:cNvGraphicFramePr>
          <p:nvPr/>
        </p:nvGraphicFramePr>
        <p:xfrm>
          <a:off x="2438400" y="2819400"/>
          <a:ext cx="3411538" cy="625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57120" imgH="253800" progId="Equation.3">
                  <p:embed/>
                </p:oleObj>
              </mc:Choice>
              <mc:Fallback>
                <p:oleObj name="Equation" r:id="rId2" imgW="1257120" imgH="253800" progId="Equation.3">
                  <p:embed/>
                  <p:pic>
                    <p:nvPicPr>
                      <p:cNvPr id="2458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38400" y="2819400"/>
                        <a:ext cx="3411538" cy="6254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82" name="Text Box 6"/>
          <p:cNvSpPr txBox="1">
            <a:spLocks noChangeArrowheads="1"/>
          </p:cNvSpPr>
          <p:nvPr/>
        </p:nvSpPr>
        <p:spPr bwMode="auto">
          <a:xfrm>
            <a:off x="3717925" y="268288"/>
            <a:ext cx="29718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Primeira Definição:</a:t>
            </a:r>
          </a:p>
        </p:txBody>
      </p:sp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993775" y="4038600"/>
            <a:ext cx="8150225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O conjunto resultante da erosão de A por B é o conjunto </a:t>
            </a:r>
            <a:br>
              <a:rPr lang="pt-BR"/>
            </a:br>
            <a:r>
              <a:rPr lang="pt-BR"/>
              <a:t>de todos os pontos x tais que B, quando transladado por x,</a:t>
            </a:r>
            <a:br>
              <a:rPr lang="pt-BR"/>
            </a:br>
            <a:r>
              <a:rPr lang="pt-BR"/>
              <a:t>fique contido em A.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11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C61582-684F-417E-AE50-ACC978631CD1}" type="slidenum">
              <a:rPr lang="pt-BR"/>
              <a:pPr/>
              <a:t>21</a:t>
            </a:fld>
            <a:endParaRPr lang="pt-BR"/>
          </a:p>
        </p:txBody>
      </p:sp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1828800" cy="45720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pt-BR" sz="2400">
                <a:solidFill>
                  <a:srgbClr val="FF0000"/>
                </a:solidFill>
              </a:rPr>
              <a:t>Exemplo:</a:t>
            </a:r>
          </a:p>
        </p:txBody>
      </p:sp>
      <p:pic>
        <p:nvPicPr>
          <p:cNvPr id="25603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200" y="1752600"/>
            <a:ext cx="1004888" cy="1131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286000"/>
            <a:ext cx="2390775" cy="2574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5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8800" y="1143000"/>
            <a:ext cx="2859088" cy="2654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6" name="Picture 6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14800" y="3581400"/>
            <a:ext cx="985838" cy="2614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5607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62600" y="3657600"/>
            <a:ext cx="2624138" cy="2751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5608" name="Text Box 8"/>
          <p:cNvSpPr txBox="1">
            <a:spLocks noChangeArrowheads="1"/>
          </p:cNvSpPr>
          <p:nvPr/>
        </p:nvSpPr>
        <p:spPr bwMode="auto">
          <a:xfrm>
            <a:off x="3489325" y="496888"/>
            <a:ext cx="18113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Elemento</a:t>
            </a:r>
            <a:br>
              <a:rPr lang="pt-BR"/>
            </a:br>
            <a:r>
              <a:rPr lang="pt-BR"/>
              <a:t>estruturante</a:t>
            </a:r>
          </a:p>
          <a:p>
            <a:r>
              <a:rPr lang="pt-BR"/>
              <a:t>     (B)</a:t>
            </a:r>
          </a:p>
        </p:txBody>
      </p:sp>
      <p:sp>
        <p:nvSpPr>
          <p:cNvPr id="25609" name="Text Box 9"/>
          <p:cNvSpPr txBox="1">
            <a:spLocks noChangeArrowheads="1"/>
          </p:cNvSpPr>
          <p:nvPr/>
        </p:nvSpPr>
        <p:spPr bwMode="auto">
          <a:xfrm>
            <a:off x="1127125" y="1411288"/>
            <a:ext cx="23209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Imagem Binária</a:t>
            </a:r>
            <a:br>
              <a:rPr lang="pt-BR"/>
            </a:br>
            <a:r>
              <a:rPr lang="pt-BR"/>
              <a:t>       (A)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3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6AC87-39BB-40EB-B5C2-59DB0316906D}" type="slidenum">
              <a:rPr lang="pt-BR"/>
              <a:pPr/>
              <a:t>22</a:t>
            </a:fld>
            <a:endParaRPr lang="pt-BR"/>
          </a:p>
        </p:txBody>
      </p:sp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124200" cy="533400"/>
          </a:xfrm>
        </p:spPr>
        <p:txBody>
          <a:bodyPr/>
          <a:lstStyle/>
          <a:p>
            <a:r>
              <a:rPr lang="pt-BR"/>
              <a:t>Erosão:</a:t>
            </a:r>
          </a:p>
        </p:txBody>
      </p:sp>
      <p:sp>
        <p:nvSpPr>
          <p:cNvPr id="26627" name="Text Box 3"/>
          <p:cNvSpPr txBox="1">
            <a:spLocks noChangeArrowheads="1"/>
          </p:cNvSpPr>
          <p:nvPr/>
        </p:nvSpPr>
        <p:spPr bwMode="auto">
          <a:xfrm>
            <a:off x="3717925" y="268288"/>
            <a:ext cx="3036888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Segunda Definição:</a:t>
            </a:r>
          </a:p>
        </p:txBody>
      </p:sp>
      <p:sp>
        <p:nvSpPr>
          <p:cNvPr id="26628" name="Text Box 4"/>
          <p:cNvSpPr txBox="1">
            <a:spLocks noChangeArrowheads="1"/>
          </p:cNvSpPr>
          <p:nvPr/>
        </p:nvSpPr>
        <p:spPr bwMode="auto">
          <a:xfrm>
            <a:off x="838200" y="1600200"/>
            <a:ext cx="784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</a:t>
            </a:r>
            <a:r>
              <a:rPr lang="pt-BR">
                <a:solidFill>
                  <a:srgbClr val="FF0000"/>
                </a:solidFill>
                <a:cs typeface="Times New Roman" pitchFamily="18" charset="0"/>
              </a:rPr>
              <a:t>Erosão</a:t>
            </a:r>
            <a:r>
              <a:rPr lang="pt-BR">
                <a:cs typeface="Times New Roman" pitchFamily="18" charset="0"/>
              </a:rPr>
              <a:t> do conjunto A pelo conjunto B é definida por:</a:t>
            </a:r>
            <a:r>
              <a:rPr lang="pt-BR"/>
              <a:t> </a:t>
            </a:r>
          </a:p>
        </p:txBody>
      </p:sp>
      <p:graphicFrame>
        <p:nvGraphicFramePr>
          <p:cNvPr id="26629" name="Object 5"/>
          <p:cNvGraphicFramePr>
            <a:graphicFrameLocks noChangeAspect="1"/>
          </p:cNvGraphicFramePr>
          <p:nvPr/>
        </p:nvGraphicFramePr>
        <p:xfrm>
          <a:off x="914400" y="2133600"/>
          <a:ext cx="6959600" cy="669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41320" imgH="253800" progId="Equation.3">
                  <p:embed/>
                </p:oleObj>
              </mc:Choice>
              <mc:Fallback>
                <p:oleObj name="Equation" r:id="rId2" imgW="2641320" imgH="253800" progId="Equation.3">
                  <p:embed/>
                  <p:pic>
                    <p:nvPicPr>
                      <p:cNvPr id="26629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2133600"/>
                        <a:ext cx="6959600" cy="669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Text Box 6"/>
          <p:cNvSpPr txBox="1">
            <a:spLocks noChangeArrowheads="1"/>
          </p:cNvSpPr>
          <p:nvPr/>
        </p:nvSpPr>
        <p:spPr bwMode="auto">
          <a:xfrm>
            <a:off x="990600" y="2971800"/>
            <a:ext cx="1819275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Exemplo 1:</a:t>
            </a:r>
          </a:p>
        </p:txBody>
      </p:sp>
      <p:sp>
        <p:nvSpPr>
          <p:cNvPr id="26631" name="Text Box 7"/>
          <p:cNvSpPr txBox="1">
            <a:spLocks noChangeArrowheads="1"/>
          </p:cNvSpPr>
          <p:nvPr/>
        </p:nvSpPr>
        <p:spPr bwMode="auto">
          <a:xfrm>
            <a:off x="1127125" y="954088"/>
            <a:ext cx="58547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e B conjuntos de Z</a:t>
            </a:r>
            <a:r>
              <a:rPr lang="pt-BR" baseline="30000"/>
              <a:t>2</a:t>
            </a:r>
            <a:r>
              <a:rPr lang="pt-BR"/>
              <a:t> (Imagens Binárias).</a:t>
            </a:r>
          </a:p>
        </p:txBody>
      </p:sp>
      <p:grpSp>
        <p:nvGrpSpPr>
          <p:cNvPr id="26654" name="Group 30"/>
          <p:cNvGrpSpPr>
            <a:grpSpLocks/>
          </p:cNvGrpSpPr>
          <p:nvPr/>
        </p:nvGrpSpPr>
        <p:grpSpPr bwMode="auto">
          <a:xfrm>
            <a:off x="2057400" y="4572000"/>
            <a:ext cx="1219200" cy="1143000"/>
            <a:chOff x="4080" y="7650"/>
            <a:chExt cx="680" cy="680"/>
          </a:xfrm>
        </p:grpSpPr>
        <p:sp>
          <p:nvSpPr>
            <p:cNvPr id="26655" name="Rectangle 31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56" name="Oval 32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57" name="Oval 33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58" name="Oval 34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59" name="Oval 35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0" name="Oval 36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1" name="Oval 37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2" name="Oval 38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3" name="Oval 39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4" name="Oval 40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5" name="Oval 41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6" name="Oval 42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7" name="Oval 43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8" name="Oval 44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69" name="Oval 45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70" name="Oval 46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71" name="AutoShape 47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6672" name="Group 48"/>
          <p:cNvGrpSpPr>
            <a:grpSpLocks/>
          </p:cNvGrpSpPr>
          <p:nvPr/>
        </p:nvGrpSpPr>
        <p:grpSpPr bwMode="auto">
          <a:xfrm>
            <a:off x="6629400" y="4648200"/>
            <a:ext cx="660400" cy="304800"/>
            <a:chOff x="7480" y="6750"/>
            <a:chExt cx="340" cy="170"/>
          </a:xfrm>
        </p:grpSpPr>
        <p:sp>
          <p:nvSpPr>
            <p:cNvPr id="26673" name="Rectangle 49"/>
            <p:cNvSpPr>
              <a:spLocks noChangeArrowheads="1"/>
            </p:cNvSpPr>
            <p:nvPr/>
          </p:nvSpPr>
          <p:spPr bwMode="auto">
            <a:xfrm>
              <a:off x="7480" y="6750"/>
              <a:ext cx="340" cy="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74" name="Oval 50"/>
            <p:cNvSpPr>
              <a:spLocks noChangeArrowheads="1"/>
            </p:cNvSpPr>
            <p:nvPr/>
          </p:nvSpPr>
          <p:spPr bwMode="auto">
            <a:xfrm>
              <a:off x="7650" y="675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675" name="AutoShape 51"/>
            <p:cNvSpPr>
              <a:spLocks noChangeArrowheads="1"/>
            </p:cNvSpPr>
            <p:nvPr/>
          </p:nvSpPr>
          <p:spPr bwMode="auto">
            <a:xfrm>
              <a:off x="7480" y="6750"/>
              <a:ext cx="170" cy="170"/>
            </a:xfrm>
            <a:prstGeom prst="flowChartSummingJunction">
              <a:avLst/>
            </a:prstGeom>
            <a:solidFill>
              <a:srgbClr val="00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6676" name="Text Box 52"/>
          <p:cNvSpPr txBox="1">
            <a:spLocks noChangeArrowheads="1"/>
          </p:cNvSpPr>
          <p:nvPr/>
        </p:nvSpPr>
        <p:spPr bwMode="auto">
          <a:xfrm>
            <a:off x="914400" y="39624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sp>
        <p:nvSpPr>
          <p:cNvPr id="26677" name="Text Box 53"/>
          <p:cNvSpPr txBox="1">
            <a:spLocks noChangeArrowheads="1"/>
          </p:cNvSpPr>
          <p:nvPr/>
        </p:nvSpPr>
        <p:spPr bwMode="auto">
          <a:xfrm>
            <a:off x="5562600" y="39624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B = {(0,0),(0,1)}</a:t>
            </a:r>
            <a:r>
              <a:rPr lang="pt-BR"/>
              <a:t> </a:t>
            </a:r>
          </a:p>
        </p:txBody>
      </p:sp>
      <p:sp>
        <p:nvSpPr>
          <p:cNvPr id="26678" name="Text Box 54"/>
          <p:cNvSpPr txBox="1">
            <a:spLocks noChangeArrowheads="1"/>
          </p:cNvSpPr>
          <p:nvPr/>
        </p:nvSpPr>
        <p:spPr bwMode="auto">
          <a:xfrm>
            <a:off x="5334000" y="5410200"/>
            <a:ext cx="1193800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Origem</a:t>
            </a:r>
          </a:p>
        </p:txBody>
      </p:sp>
      <p:sp>
        <p:nvSpPr>
          <p:cNvPr id="26679" name="Line 55"/>
          <p:cNvSpPr>
            <a:spLocks noChangeShapeType="1"/>
          </p:cNvSpPr>
          <p:nvPr/>
        </p:nvSpPr>
        <p:spPr bwMode="auto">
          <a:xfrm flipV="1">
            <a:off x="6172200" y="4953000"/>
            <a:ext cx="533400" cy="457200"/>
          </a:xfrm>
          <a:prstGeom prst="line">
            <a:avLst/>
          </a:prstGeom>
          <a:noFill/>
          <a:ln w="9525">
            <a:solidFill>
              <a:srgbClr val="FF0000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pt-BR"/>
          </a:p>
        </p:txBody>
      </p:sp>
      <p:sp>
        <p:nvSpPr>
          <p:cNvPr id="26680" name="Text Box 56"/>
          <p:cNvSpPr txBox="1">
            <a:spLocks noChangeArrowheads="1"/>
          </p:cNvSpPr>
          <p:nvPr/>
        </p:nvSpPr>
        <p:spPr bwMode="auto">
          <a:xfrm>
            <a:off x="5257800" y="3505200"/>
            <a:ext cx="3184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Elemento estruturante</a:t>
            </a:r>
          </a:p>
        </p:txBody>
      </p:sp>
      <p:sp>
        <p:nvSpPr>
          <p:cNvPr id="26681" name="Text Box 57"/>
          <p:cNvSpPr txBox="1">
            <a:spLocks noChangeArrowheads="1"/>
          </p:cNvSpPr>
          <p:nvPr/>
        </p:nvSpPr>
        <p:spPr bwMode="auto">
          <a:xfrm>
            <a:off x="1050925" y="3544888"/>
            <a:ext cx="128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Imagem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63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5C66A0-6EBA-4391-9211-393815063D4C}" type="slidenum">
              <a:rPr lang="pt-BR"/>
              <a:pPr/>
              <a:t>23</a:t>
            </a:fld>
            <a:endParaRPr lang="pt-BR"/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4114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A = {(1,1),(1,2),(2,1),(2,2)}</a:t>
            </a:r>
            <a:r>
              <a:rPr lang="pt-BR"/>
              <a:t> </a:t>
            </a:r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5181600" y="228600"/>
            <a:ext cx="2514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B = {(0,0),(0,1)}</a:t>
            </a:r>
            <a:r>
              <a:rPr lang="pt-BR"/>
              <a:t> </a:t>
            </a:r>
          </a:p>
        </p:txBody>
      </p:sp>
      <p:graphicFrame>
        <p:nvGraphicFramePr>
          <p:cNvPr id="27654" name="Object 6"/>
          <p:cNvGraphicFramePr>
            <a:graphicFrameLocks noChangeAspect="1"/>
          </p:cNvGraphicFramePr>
          <p:nvPr/>
        </p:nvGraphicFramePr>
        <p:xfrm>
          <a:off x="1905000" y="838200"/>
          <a:ext cx="869950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280" imgH="177480" progId="Equation.3">
                  <p:embed/>
                </p:oleObj>
              </mc:Choice>
              <mc:Fallback>
                <p:oleObj name="Equation" r:id="rId2" imgW="368280" imgH="177480" progId="Equation.3">
                  <p:embed/>
                  <p:pic>
                    <p:nvPicPr>
                      <p:cNvPr id="2765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05000" y="838200"/>
                        <a:ext cx="869950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5" name="Object 7"/>
          <p:cNvGraphicFramePr>
            <a:graphicFrameLocks noChangeAspect="1"/>
          </p:cNvGraphicFramePr>
          <p:nvPr/>
        </p:nvGraphicFramePr>
        <p:xfrm>
          <a:off x="5791200" y="838200"/>
          <a:ext cx="79375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8280" imgH="177480" progId="Equation.3">
                  <p:embed/>
                </p:oleObj>
              </mc:Choice>
              <mc:Fallback>
                <p:oleObj name="Equation" r:id="rId4" imgW="368280" imgH="177480" progId="Equation.3">
                  <p:embed/>
                  <p:pic>
                    <p:nvPicPr>
                      <p:cNvPr id="2765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838200"/>
                        <a:ext cx="79375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6" name="Object 8"/>
          <p:cNvGraphicFramePr>
            <a:graphicFrameLocks noChangeAspect="1"/>
          </p:cNvGraphicFramePr>
          <p:nvPr/>
        </p:nvGraphicFramePr>
        <p:xfrm>
          <a:off x="3581400" y="1371600"/>
          <a:ext cx="1409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320" imgH="177480" progId="Equation.3">
                  <p:embed/>
                </p:oleObj>
              </mc:Choice>
              <mc:Fallback>
                <p:oleObj name="Equation" r:id="rId6" imgW="571320" imgH="177480" progId="Equation.3">
                  <p:embed/>
                  <p:pic>
                    <p:nvPicPr>
                      <p:cNvPr id="27656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81400" y="1371600"/>
                        <a:ext cx="1409700" cy="4381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7" name="Text Box 9"/>
          <p:cNvSpPr txBox="1">
            <a:spLocks noChangeArrowheads="1"/>
          </p:cNvSpPr>
          <p:nvPr/>
        </p:nvSpPr>
        <p:spPr bwMode="auto">
          <a:xfrm>
            <a:off x="898525" y="2020888"/>
            <a:ext cx="4432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dirty="0"/>
              <a:t>(1,1) +[(0,0),(0,1)] = [(1,1),(1,2)]</a:t>
            </a:r>
          </a:p>
        </p:txBody>
      </p:sp>
      <p:graphicFrame>
        <p:nvGraphicFramePr>
          <p:cNvPr id="27658" name="Object 10"/>
          <p:cNvGraphicFramePr>
            <a:graphicFrameLocks noChangeAspect="1"/>
          </p:cNvGraphicFramePr>
          <p:nvPr/>
        </p:nvGraphicFramePr>
        <p:xfrm>
          <a:off x="6400800" y="2057400"/>
          <a:ext cx="142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36560" imgH="203040" progId="Equation.3">
                  <p:embed/>
                </p:oleObj>
              </mc:Choice>
              <mc:Fallback>
                <p:oleObj name="Equation" r:id="rId8" imgW="736560" imgH="203040" progId="Equation.3">
                  <p:embed/>
                  <p:pic>
                    <p:nvPicPr>
                      <p:cNvPr id="27658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2057400"/>
                        <a:ext cx="1422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9" name="AutoShape 11"/>
          <p:cNvSpPr>
            <a:spLocks noChangeArrowheads="1"/>
          </p:cNvSpPr>
          <p:nvPr/>
        </p:nvSpPr>
        <p:spPr bwMode="auto">
          <a:xfrm>
            <a:off x="5486400" y="21336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/>
          </a:p>
        </p:txBody>
      </p:sp>
      <p:sp>
        <p:nvSpPr>
          <p:cNvPr id="27661" name="Text Box 13"/>
          <p:cNvSpPr txBox="1">
            <a:spLocks noChangeArrowheads="1"/>
          </p:cNvSpPr>
          <p:nvPr/>
        </p:nvSpPr>
        <p:spPr bwMode="auto">
          <a:xfrm>
            <a:off x="914400" y="2743200"/>
            <a:ext cx="4432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(1,2) +[(0,0),(0,1)] = [(1,2),(1,3)]</a:t>
            </a:r>
          </a:p>
        </p:txBody>
      </p:sp>
      <p:sp>
        <p:nvSpPr>
          <p:cNvPr id="27662" name="AutoShape 14"/>
          <p:cNvSpPr>
            <a:spLocks noChangeArrowheads="1"/>
          </p:cNvSpPr>
          <p:nvPr/>
        </p:nvSpPr>
        <p:spPr bwMode="auto">
          <a:xfrm>
            <a:off x="5562600" y="28194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/>
          </a:p>
        </p:txBody>
      </p:sp>
      <p:graphicFrame>
        <p:nvGraphicFramePr>
          <p:cNvPr id="27663" name="Object 15"/>
          <p:cNvGraphicFramePr>
            <a:graphicFrameLocks noChangeAspect="1"/>
          </p:cNvGraphicFramePr>
          <p:nvPr/>
        </p:nvGraphicFramePr>
        <p:xfrm>
          <a:off x="6477000" y="2743200"/>
          <a:ext cx="1497013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74360" imgH="203040" progId="Equation.3">
                  <p:embed/>
                </p:oleObj>
              </mc:Choice>
              <mc:Fallback>
                <p:oleObj name="Equation" r:id="rId10" imgW="774360" imgH="203040" progId="Equation.3">
                  <p:embed/>
                  <p:pic>
                    <p:nvPicPr>
                      <p:cNvPr id="27663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2743200"/>
                        <a:ext cx="1497013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4" name="Text Box 16"/>
          <p:cNvSpPr txBox="1">
            <a:spLocks noChangeArrowheads="1"/>
          </p:cNvSpPr>
          <p:nvPr/>
        </p:nvSpPr>
        <p:spPr bwMode="auto">
          <a:xfrm>
            <a:off x="990600" y="3429000"/>
            <a:ext cx="4432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(2,1) +[(0,0),(0,1)] = [(2,1),(2,2)]</a:t>
            </a:r>
          </a:p>
        </p:txBody>
      </p:sp>
      <p:sp>
        <p:nvSpPr>
          <p:cNvPr id="27665" name="AutoShape 17"/>
          <p:cNvSpPr>
            <a:spLocks noChangeArrowheads="1"/>
          </p:cNvSpPr>
          <p:nvPr/>
        </p:nvSpPr>
        <p:spPr bwMode="auto">
          <a:xfrm>
            <a:off x="5562600" y="35052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/>
          </a:p>
        </p:txBody>
      </p:sp>
      <p:graphicFrame>
        <p:nvGraphicFramePr>
          <p:cNvPr id="27666" name="Object 18"/>
          <p:cNvGraphicFramePr>
            <a:graphicFrameLocks noChangeAspect="1"/>
          </p:cNvGraphicFramePr>
          <p:nvPr/>
        </p:nvGraphicFramePr>
        <p:xfrm>
          <a:off x="6477000" y="3429000"/>
          <a:ext cx="14954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74360" imgH="203040" progId="Equation.3">
                  <p:embed/>
                </p:oleObj>
              </mc:Choice>
              <mc:Fallback>
                <p:oleObj name="Equation" r:id="rId12" imgW="774360" imgH="203040" progId="Equation.3">
                  <p:embed/>
                  <p:pic>
                    <p:nvPicPr>
                      <p:cNvPr id="27666" name="Object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3429000"/>
                        <a:ext cx="14954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67" name="Text Box 19"/>
          <p:cNvSpPr txBox="1">
            <a:spLocks noChangeArrowheads="1"/>
          </p:cNvSpPr>
          <p:nvPr/>
        </p:nvSpPr>
        <p:spPr bwMode="auto">
          <a:xfrm>
            <a:off x="990600" y="4114800"/>
            <a:ext cx="44323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(2,2) +[(0,0),(0,1)] = [(2,2),(2,3)]</a:t>
            </a:r>
          </a:p>
        </p:txBody>
      </p:sp>
      <p:sp>
        <p:nvSpPr>
          <p:cNvPr id="27668" name="AutoShape 20"/>
          <p:cNvSpPr>
            <a:spLocks noChangeArrowheads="1"/>
          </p:cNvSpPr>
          <p:nvPr/>
        </p:nvSpPr>
        <p:spPr bwMode="auto">
          <a:xfrm>
            <a:off x="5562600" y="4191000"/>
            <a:ext cx="685800" cy="228600"/>
          </a:xfrm>
          <a:prstGeom prst="rightArrow">
            <a:avLst>
              <a:gd name="adj1" fmla="val 50000"/>
              <a:gd name="adj2" fmla="val 75000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pt-BR"/>
          </a:p>
        </p:txBody>
      </p:sp>
      <p:graphicFrame>
        <p:nvGraphicFramePr>
          <p:cNvPr id="27669" name="Object 21"/>
          <p:cNvGraphicFramePr>
            <a:graphicFrameLocks noChangeAspect="1"/>
          </p:cNvGraphicFramePr>
          <p:nvPr/>
        </p:nvGraphicFramePr>
        <p:xfrm>
          <a:off x="6477000" y="4114800"/>
          <a:ext cx="15462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99920" imgH="203040" progId="Equation.3">
                  <p:embed/>
                </p:oleObj>
              </mc:Choice>
              <mc:Fallback>
                <p:oleObj name="Equation" r:id="rId14" imgW="799920" imgH="203040" progId="Equation.3">
                  <p:embed/>
                  <p:pic>
                    <p:nvPicPr>
                      <p:cNvPr id="27669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4114800"/>
                        <a:ext cx="15462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7670" name="Group 22"/>
          <p:cNvGrpSpPr>
            <a:grpSpLocks/>
          </p:cNvGrpSpPr>
          <p:nvPr/>
        </p:nvGrpSpPr>
        <p:grpSpPr bwMode="auto">
          <a:xfrm>
            <a:off x="5334000" y="5105400"/>
            <a:ext cx="1219200" cy="1143000"/>
            <a:chOff x="5949" y="2720"/>
            <a:chExt cx="681" cy="680"/>
          </a:xfrm>
        </p:grpSpPr>
        <p:sp>
          <p:nvSpPr>
            <p:cNvPr id="27671" name="Rectangle 23"/>
            <p:cNvSpPr>
              <a:spLocks noChangeArrowheads="1"/>
            </p:cNvSpPr>
            <p:nvPr/>
          </p:nvSpPr>
          <p:spPr bwMode="auto">
            <a:xfrm>
              <a:off x="5950" y="2720"/>
              <a:ext cx="680" cy="68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72" name="Oval 24"/>
            <p:cNvSpPr>
              <a:spLocks noChangeArrowheads="1"/>
            </p:cNvSpPr>
            <p:nvPr/>
          </p:nvSpPr>
          <p:spPr bwMode="auto">
            <a:xfrm flipV="1">
              <a:off x="5949" y="306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73" name="Oval 25"/>
            <p:cNvSpPr>
              <a:spLocks noChangeArrowheads="1"/>
            </p:cNvSpPr>
            <p:nvPr/>
          </p:nvSpPr>
          <p:spPr bwMode="auto">
            <a:xfrm flipV="1">
              <a:off x="6121" y="272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74" name="Oval 26"/>
            <p:cNvSpPr>
              <a:spLocks noChangeArrowheads="1"/>
            </p:cNvSpPr>
            <p:nvPr/>
          </p:nvSpPr>
          <p:spPr bwMode="auto">
            <a:xfrm flipV="1">
              <a:off x="6291" y="272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75" name="Oval 27"/>
            <p:cNvSpPr>
              <a:spLocks noChangeArrowheads="1"/>
            </p:cNvSpPr>
            <p:nvPr/>
          </p:nvSpPr>
          <p:spPr bwMode="auto">
            <a:xfrm flipV="1">
              <a:off x="5949" y="289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76" name="Oval 28"/>
            <p:cNvSpPr>
              <a:spLocks noChangeArrowheads="1"/>
            </p:cNvSpPr>
            <p:nvPr/>
          </p:nvSpPr>
          <p:spPr bwMode="auto">
            <a:xfrm flipV="1">
              <a:off x="6120" y="28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77" name="Oval 29"/>
            <p:cNvSpPr>
              <a:spLocks noChangeArrowheads="1"/>
            </p:cNvSpPr>
            <p:nvPr/>
          </p:nvSpPr>
          <p:spPr bwMode="auto">
            <a:xfrm flipV="1">
              <a:off x="6290" y="289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78" name="Oval 30"/>
            <p:cNvSpPr>
              <a:spLocks noChangeArrowheads="1"/>
            </p:cNvSpPr>
            <p:nvPr/>
          </p:nvSpPr>
          <p:spPr bwMode="auto">
            <a:xfrm flipV="1">
              <a:off x="6460" y="272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79" name="Oval 31"/>
            <p:cNvSpPr>
              <a:spLocks noChangeArrowheads="1"/>
            </p:cNvSpPr>
            <p:nvPr/>
          </p:nvSpPr>
          <p:spPr bwMode="auto">
            <a:xfrm flipV="1">
              <a:off x="6459" y="289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80" name="Oval 32"/>
            <p:cNvSpPr>
              <a:spLocks noChangeArrowheads="1"/>
            </p:cNvSpPr>
            <p:nvPr/>
          </p:nvSpPr>
          <p:spPr bwMode="auto">
            <a:xfrm flipV="1">
              <a:off x="6120" y="306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81" name="Oval 33"/>
            <p:cNvSpPr>
              <a:spLocks noChangeArrowheads="1"/>
            </p:cNvSpPr>
            <p:nvPr/>
          </p:nvSpPr>
          <p:spPr bwMode="auto">
            <a:xfrm flipV="1">
              <a:off x="6289" y="306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82" name="Oval 34"/>
            <p:cNvSpPr>
              <a:spLocks noChangeArrowheads="1"/>
            </p:cNvSpPr>
            <p:nvPr/>
          </p:nvSpPr>
          <p:spPr bwMode="auto">
            <a:xfrm flipV="1">
              <a:off x="6459" y="306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83" name="Oval 35"/>
            <p:cNvSpPr>
              <a:spLocks noChangeArrowheads="1"/>
            </p:cNvSpPr>
            <p:nvPr/>
          </p:nvSpPr>
          <p:spPr bwMode="auto">
            <a:xfrm flipV="1">
              <a:off x="5949" y="32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84" name="Oval 36"/>
            <p:cNvSpPr>
              <a:spLocks noChangeArrowheads="1"/>
            </p:cNvSpPr>
            <p:nvPr/>
          </p:nvSpPr>
          <p:spPr bwMode="auto">
            <a:xfrm flipV="1">
              <a:off x="6120" y="32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85" name="Oval 37"/>
            <p:cNvSpPr>
              <a:spLocks noChangeArrowheads="1"/>
            </p:cNvSpPr>
            <p:nvPr/>
          </p:nvSpPr>
          <p:spPr bwMode="auto">
            <a:xfrm flipV="1">
              <a:off x="6290" y="32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86" name="Oval 38"/>
            <p:cNvSpPr>
              <a:spLocks noChangeArrowheads="1"/>
            </p:cNvSpPr>
            <p:nvPr/>
          </p:nvSpPr>
          <p:spPr bwMode="auto">
            <a:xfrm flipV="1">
              <a:off x="6459" y="32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7687" name="AutoShape 39"/>
            <p:cNvSpPr>
              <a:spLocks noChangeArrowheads="1"/>
            </p:cNvSpPr>
            <p:nvPr/>
          </p:nvSpPr>
          <p:spPr bwMode="auto">
            <a:xfrm>
              <a:off x="5950" y="2720"/>
              <a:ext cx="169" cy="169"/>
            </a:xfrm>
            <a:prstGeom prst="flowChartSummingJunction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688" name="Group 40"/>
          <p:cNvGrpSpPr>
            <a:grpSpLocks/>
          </p:cNvGrpSpPr>
          <p:nvPr/>
        </p:nvGrpSpPr>
        <p:grpSpPr bwMode="auto">
          <a:xfrm>
            <a:off x="1219200" y="5029200"/>
            <a:ext cx="1219200" cy="1143000"/>
            <a:chOff x="4080" y="7650"/>
            <a:chExt cx="680" cy="680"/>
          </a:xfrm>
        </p:grpSpPr>
        <p:sp>
          <p:nvSpPr>
            <p:cNvPr id="27689" name="Rectangle 41"/>
            <p:cNvSpPr>
              <a:spLocks noChangeArrowheads="1"/>
            </p:cNvSpPr>
            <p:nvPr/>
          </p:nvSpPr>
          <p:spPr bwMode="auto">
            <a:xfrm>
              <a:off x="4080" y="7650"/>
              <a:ext cx="680" cy="68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0" name="Oval 42"/>
            <p:cNvSpPr>
              <a:spLocks noChangeArrowheads="1"/>
            </p:cNvSpPr>
            <p:nvPr/>
          </p:nvSpPr>
          <p:spPr bwMode="auto">
            <a:xfrm flipV="1">
              <a:off x="408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1" name="Oval 43"/>
            <p:cNvSpPr>
              <a:spLocks noChangeArrowheads="1"/>
            </p:cNvSpPr>
            <p:nvPr/>
          </p:nvSpPr>
          <p:spPr bwMode="auto">
            <a:xfrm flipV="1">
              <a:off x="425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2" name="Oval 44"/>
            <p:cNvSpPr>
              <a:spLocks noChangeArrowheads="1"/>
            </p:cNvSpPr>
            <p:nvPr/>
          </p:nvSpPr>
          <p:spPr bwMode="auto">
            <a:xfrm flipV="1">
              <a:off x="442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3" name="Oval 45"/>
            <p:cNvSpPr>
              <a:spLocks noChangeArrowheads="1"/>
            </p:cNvSpPr>
            <p:nvPr/>
          </p:nvSpPr>
          <p:spPr bwMode="auto">
            <a:xfrm flipV="1">
              <a:off x="4590" y="765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4" name="Oval 46"/>
            <p:cNvSpPr>
              <a:spLocks noChangeArrowheads="1"/>
            </p:cNvSpPr>
            <p:nvPr/>
          </p:nvSpPr>
          <p:spPr bwMode="auto">
            <a:xfrm flipV="1">
              <a:off x="408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5" name="Oval 47"/>
            <p:cNvSpPr>
              <a:spLocks noChangeArrowheads="1"/>
            </p:cNvSpPr>
            <p:nvPr/>
          </p:nvSpPr>
          <p:spPr bwMode="auto">
            <a:xfrm flipV="1">
              <a:off x="425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6" name="Oval 48"/>
            <p:cNvSpPr>
              <a:spLocks noChangeArrowheads="1"/>
            </p:cNvSpPr>
            <p:nvPr/>
          </p:nvSpPr>
          <p:spPr bwMode="auto">
            <a:xfrm flipV="1">
              <a:off x="4420" y="782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7" name="Oval 49"/>
            <p:cNvSpPr>
              <a:spLocks noChangeArrowheads="1"/>
            </p:cNvSpPr>
            <p:nvPr/>
          </p:nvSpPr>
          <p:spPr bwMode="auto">
            <a:xfrm flipV="1">
              <a:off x="4590" y="782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8" name="Oval 50"/>
            <p:cNvSpPr>
              <a:spLocks noChangeArrowheads="1"/>
            </p:cNvSpPr>
            <p:nvPr/>
          </p:nvSpPr>
          <p:spPr bwMode="auto">
            <a:xfrm flipV="1">
              <a:off x="425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699" name="Oval 51"/>
            <p:cNvSpPr>
              <a:spLocks noChangeArrowheads="1"/>
            </p:cNvSpPr>
            <p:nvPr/>
          </p:nvSpPr>
          <p:spPr bwMode="auto">
            <a:xfrm flipV="1">
              <a:off x="4420" y="799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700" name="Oval 52"/>
            <p:cNvSpPr>
              <a:spLocks noChangeArrowheads="1"/>
            </p:cNvSpPr>
            <p:nvPr/>
          </p:nvSpPr>
          <p:spPr bwMode="auto">
            <a:xfrm flipV="1">
              <a:off x="4590" y="799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701" name="Oval 53"/>
            <p:cNvSpPr>
              <a:spLocks noChangeArrowheads="1"/>
            </p:cNvSpPr>
            <p:nvPr/>
          </p:nvSpPr>
          <p:spPr bwMode="auto">
            <a:xfrm flipV="1">
              <a:off x="408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702" name="Oval 54"/>
            <p:cNvSpPr>
              <a:spLocks noChangeArrowheads="1"/>
            </p:cNvSpPr>
            <p:nvPr/>
          </p:nvSpPr>
          <p:spPr bwMode="auto">
            <a:xfrm flipV="1">
              <a:off x="425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703" name="Oval 55"/>
            <p:cNvSpPr>
              <a:spLocks noChangeArrowheads="1"/>
            </p:cNvSpPr>
            <p:nvPr/>
          </p:nvSpPr>
          <p:spPr bwMode="auto">
            <a:xfrm flipV="1">
              <a:off x="442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704" name="Oval 56"/>
            <p:cNvSpPr>
              <a:spLocks noChangeArrowheads="1"/>
            </p:cNvSpPr>
            <p:nvPr/>
          </p:nvSpPr>
          <p:spPr bwMode="auto">
            <a:xfrm flipV="1">
              <a:off x="4590" y="816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705" name="AutoShape 57"/>
            <p:cNvSpPr>
              <a:spLocks noChangeArrowheads="1"/>
            </p:cNvSpPr>
            <p:nvPr/>
          </p:nvSpPr>
          <p:spPr bwMode="auto">
            <a:xfrm>
              <a:off x="4080" y="765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7706" name="Group 58"/>
          <p:cNvGrpSpPr>
            <a:grpSpLocks/>
          </p:cNvGrpSpPr>
          <p:nvPr/>
        </p:nvGrpSpPr>
        <p:grpSpPr bwMode="auto">
          <a:xfrm>
            <a:off x="3505200" y="5486400"/>
            <a:ext cx="660400" cy="304800"/>
            <a:chOff x="7480" y="6750"/>
            <a:chExt cx="340" cy="170"/>
          </a:xfrm>
        </p:grpSpPr>
        <p:sp>
          <p:nvSpPr>
            <p:cNvPr id="27707" name="Rectangle 59"/>
            <p:cNvSpPr>
              <a:spLocks noChangeArrowheads="1"/>
            </p:cNvSpPr>
            <p:nvPr/>
          </p:nvSpPr>
          <p:spPr bwMode="auto">
            <a:xfrm>
              <a:off x="7480" y="6750"/>
              <a:ext cx="340" cy="17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708" name="Oval 60"/>
            <p:cNvSpPr>
              <a:spLocks noChangeArrowheads="1"/>
            </p:cNvSpPr>
            <p:nvPr/>
          </p:nvSpPr>
          <p:spPr bwMode="auto">
            <a:xfrm>
              <a:off x="7650" y="675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709" name="AutoShape 61"/>
            <p:cNvSpPr>
              <a:spLocks noChangeArrowheads="1"/>
            </p:cNvSpPr>
            <p:nvPr/>
          </p:nvSpPr>
          <p:spPr bwMode="auto">
            <a:xfrm>
              <a:off x="7480" y="6750"/>
              <a:ext cx="170" cy="170"/>
            </a:xfrm>
            <a:prstGeom prst="flowChartSummingJunction">
              <a:avLst/>
            </a:prstGeom>
            <a:solidFill>
              <a:srgbClr val="00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7710" name="Text Box 62"/>
          <p:cNvSpPr txBox="1">
            <a:spLocks noChangeArrowheads="1"/>
          </p:cNvSpPr>
          <p:nvPr/>
        </p:nvSpPr>
        <p:spPr bwMode="auto">
          <a:xfrm>
            <a:off x="1660525" y="61356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</a:t>
            </a:r>
          </a:p>
        </p:txBody>
      </p:sp>
      <p:sp>
        <p:nvSpPr>
          <p:cNvPr id="27711" name="Text Box 63"/>
          <p:cNvSpPr txBox="1">
            <a:spLocks noChangeArrowheads="1"/>
          </p:cNvSpPr>
          <p:nvPr/>
        </p:nvSpPr>
        <p:spPr bwMode="auto">
          <a:xfrm>
            <a:off x="3641725" y="57546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B</a:t>
            </a:r>
          </a:p>
        </p:txBody>
      </p:sp>
      <p:graphicFrame>
        <p:nvGraphicFramePr>
          <p:cNvPr id="27712" name="Object 64"/>
          <p:cNvGraphicFramePr>
            <a:graphicFrameLocks noChangeAspect="1"/>
          </p:cNvGraphicFramePr>
          <p:nvPr/>
        </p:nvGraphicFramePr>
        <p:xfrm>
          <a:off x="6629400" y="5562600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55320" imgH="177480" progId="Equation.3">
                  <p:embed/>
                </p:oleObj>
              </mc:Choice>
              <mc:Fallback>
                <p:oleObj name="Equation" r:id="rId16" imgW="355320" imgH="177480" progId="Equation.3">
                  <p:embed/>
                  <p:pic>
                    <p:nvPicPr>
                      <p:cNvPr id="27712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5562600"/>
                        <a:ext cx="81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7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AB660-6219-4894-AB4D-F9D06ACB191A}" type="slidenum">
              <a:rPr lang="pt-BR"/>
              <a:pPr/>
              <a:t>24</a:t>
            </a:fld>
            <a:endParaRPr lang="pt-BR"/>
          </a:p>
        </p:txBody>
      </p:sp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228600"/>
            <a:ext cx="2286000" cy="45720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pt-BR" sz="2400">
                <a:solidFill>
                  <a:srgbClr val="FF0000"/>
                </a:solidFill>
              </a:rPr>
              <a:t>Exemplo 2:</a:t>
            </a:r>
          </a:p>
        </p:txBody>
      </p:sp>
      <p:grpSp>
        <p:nvGrpSpPr>
          <p:cNvPr id="28675" name="Group 3"/>
          <p:cNvGrpSpPr>
            <a:grpSpLocks/>
          </p:cNvGrpSpPr>
          <p:nvPr/>
        </p:nvGrpSpPr>
        <p:grpSpPr bwMode="auto">
          <a:xfrm>
            <a:off x="1219200" y="1295400"/>
            <a:ext cx="1263650" cy="1225550"/>
            <a:chOff x="2210" y="5100"/>
            <a:chExt cx="850" cy="850"/>
          </a:xfrm>
        </p:grpSpPr>
        <p:sp>
          <p:nvSpPr>
            <p:cNvPr id="28676" name="Rectangle 4"/>
            <p:cNvSpPr>
              <a:spLocks noChangeArrowheads="1"/>
            </p:cNvSpPr>
            <p:nvPr/>
          </p:nvSpPr>
          <p:spPr bwMode="auto">
            <a:xfrm>
              <a:off x="2210" y="5100"/>
              <a:ext cx="850" cy="8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77" name="Oval 5"/>
            <p:cNvSpPr>
              <a:spLocks noChangeArrowheads="1"/>
            </p:cNvSpPr>
            <p:nvPr/>
          </p:nvSpPr>
          <p:spPr bwMode="auto">
            <a:xfrm flipV="1">
              <a:off x="2210" y="57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78" name="Oval 6"/>
            <p:cNvSpPr>
              <a:spLocks noChangeArrowheads="1"/>
            </p:cNvSpPr>
            <p:nvPr/>
          </p:nvSpPr>
          <p:spPr bwMode="auto">
            <a:xfrm flipV="1">
              <a:off x="2380" y="51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79" name="Oval 7"/>
            <p:cNvSpPr>
              <a:spLocks noChangeArrowheads="1"/>
            </p:cNvSpPr>
            <p:nvPr/>
          </p:nvSpPr>
          <p:spPr bwMode="auto">
            <a:xfrm flipV="1">
              <a:off x="2550" y="51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0" name="Oval 8"/>
            <p:cNvSpPr>
              <a:spLocks noChangeArrowheads="1"/>
            </p:cNvSpPr>
            <p:nvPr/>
          </p:nvSpPr>
          <p:spPr bwMode="auto">
            <a:xfrm flipV="1">
              <a:off x="2720" y="51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1" name="Oval 9"/>
            <p:cNvSpPr>
              <a:spLocks noChangeArrowheads="1"/>
            </p:cNvSpPr>
            <p:nvPr/>
          </p:nvSpPr>
          <p:spPr bwMode="auto">
            <a:xfrm flipV="1">
              <a:off x="2890" y="510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2" name="Oval 10"/>
            <p:cNvSpPr>
              <a:spLocks noChangeArrowheads="1"/>
            </p:cNvSpPr>
            <p:nvPr/>
          </p:nvSpPr>
          <p:spPr bwMode="auto">
            <a:xfrm flipV="1">
              <a:off x="2210" y="52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3" name="Oval 11"/>
            <p:cNvSpPr>
              <a:spLocks noChangeArrowheads="1"/>
            </p:cNvSpPr>
            <p:nvPr/>
          </p:nvSpPr>
          <p:spPr bwMode="auto">
            <a:xfrm flipV="1">
              <a:off x="2380" y="527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4" name="Oval 12"/>
            <p:cNvSpPr>
              <a:spLocks noChangeArrowheads="1"/>
            </p:cNvSpPr>
            <p:nvPr/>
          </p:nvSpPr>
          <p:spPr bwMode="auto">
            <a:xfrm flipV="1">
              <a:off x="2550" y="52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5" name="Oval 13"/>
            <p:cNvSpPr>
              <a:spLocks noChangeArrowheads="1"/>
            </p:cNvSpPr>
            <p:nvPr/>
          </p:nvSpPr>
          <p:spPr bwMode="auto">
            <a:xfrm flipV="1">
              <a:off x="2720" y="52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6" name="Oval 14"/>
            <p:cNvSpPr>
              <a:spLocks noChangeArrowheads="1"/>
            </p:cNvSpPr>
            <p:nvPr/>
          </p:nvSpPr>
          <p:spPr bwMode="auto">
            <a:xfrm flipV="1">
              <a:off x="2890" y="527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7" name="Oval 15"/>
            <p:cNvSpPr>
              <a:spLocks noChangeArrowheads="1"/>
            </p:cNvSpPr>
            <p:nvPr/>
          </p:nvSpPr>
          <p:spPr bwMode="auto">
            <a:xfrm flipV="1">
              <a:off x="2210" y="54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8" name="Oval 16"/>
            <p:cNvSpPr>
              <a:spLocks noChangeArrowheads="1"/>
            </p:cNvSpPr>
            <p:nvPr/>
          </p:nvSpPr>
          <p:spPr bwMode="auto">
            <a:xfrm flipV="1">
              <a:off x="2380" y="54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89" name="Oval 17"/>
            <p:cNvSpPr>
              <a:spLocks noChangeArrowheads="1"/>
            </p:cNvSpPr>
            <p:nvPr/>
          </p:nvSpPr>
          <p:spPr bwMode="auto">
            <a:xfrm flipV="1">
              <a:off x="2550" y="54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0" name="Oval 18"/>
            <p:cNvSpPr>
              <a:spLocks noChangeArrowheads="1"/>
            </p:cNvSpPr>
            <p:nvPr/>
          </p:nvSpPr>
          <p:spPr bwMode="auto">
            <a:xfrm flipV="1">
              <a:off x="2720" y="5440"/>
              <a:ext cx="169" cy="17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1" name="Oval 19"/>
            <p:cNvSpPr>
              <a:spLocks noChangeArrowheads="1"/>
            </p:cNvSpPr>
            <p:nvPr/>
          </p:nvSpPr>
          <p:spPr bwMode="auto">
            <a:xfrm flipV="1">
              <a:off x="2890" y="544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2" name="Oval 20"/>
            <p:cNvSpPr>
              <a:spLocks noChangeArrowheads="1"/>
            </p:cNvSpPr>
            <p:nvPr/>
          </p:nvSpPr>
          <p:spPr bwMode="auto">
            <a:xfrm flipV="1">
              <a:off x="2210" y="56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3" name="Oval 21"/>
            <p:cNvSpPr>
              <a:spLocks noChangeArrowheads="1"/>
            </p:cNvSpPr>
            <p:nvPr/>
          </p:nvSpPr>
          <p:spPr bwMode="auto">
            <a:xfrm flipV="1">
              <a:off x="2380" y="56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4" name="Oval 22"/>
            <p:cNvSpPr>
              <a:spLocks noChangeArrowheads="1"/>
            </p:cNvSpPr>
            <p:nvPr/>
          </p:nvSpPr>
          <p:spPr bwMode="auto">
            <a:xfrm flipV="1">
              <a:off x="2550" y="561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5" name="Oval 23"/>
            <p:cNvSpPr>
              <a:spLocks noChangeArrowheads="1"/>
            </p:cNvSpPr>
            <p:nvPr/>
          </p:nvSpPr>
          <p:spPr bwMode="auto">
            <a:xfrm flipV="1">
              <a:off x="2720" y="56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6" name="Oval 24"/>
            <p:cNvSpPr>
              <a:spLocks noChangeArrowheads="1"/>
            </p:cNvSpPr>
            <p:nvPr/>
          </p:nvSpPr>
          <p:spPr bwMode="auto">
            <a:xfrm flipV="1">
              <a:off x="2890" y="561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7" name="Oval 25"/>
            <p:cNvSpPr>
              <a:spLocks noChangeArrowheads="1"/>
            </p:cNvSpPr>
            <p:nvPr/>
          </p:nvSpPr>
          <p:spPr bwMode="auto">
            <a:xfrm flipV="1">
              <a:off x="2380" y="57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8" name="Oval 26"/>
            <p:cNvSpPr>
              <a:spLocks noChangeArrowheads="1"/>
            </p:cNvSpPr>
            <p:nvPr/>
          </p:nvSpPr>
          <p:spPr bwMode="auto">
            <a:xfrm flipV="1">
              <a:off x="2550" y="5780"/>
              <a:ext cx="169" cy="169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699" name="Oval 27"/>
            <p:cNvSpPr>
              <a:spLocks noChangeArrowheads="1"/>
            </p:cNvSpPr>
            <p:nvPr/>
          </p:nvSpPr>
          <p:spPr bwMode="auto">
            <a:xfrm flipV="1">
              <a:off x="2720" y="578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0" name="Oval 28"/>
            <p:cNvSpPr>
              <a:spLocks noChangeArrowheads="1"/>
            </p:cNvSpPr>
            <p:nvPr/>
          </p:nvSpPr>
          <p:spPr bwMode="auto">
            <a:xfrm flipV="1">
              <a:off x="2889" y="578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1" name="AutoShape 29"/>
            <p:cNvSpPr>
              <a:spLocks noChangeArrowheads="1"/>
            </p:cNvSpPr>
            <p:nvPr/>
          </p:nvSpPr>
          <p:spPr bwMode="auto">
            <a:xfrm>
              <a:off x="2210" y="5100"/>
              <a:ext cx="169" cy="169"/>
            </a:xfrm>
            <a:prstGeom prst="flowChartSummingJunction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8702" name="Group 30"/>
          <p:cNvGrpSpPr>
            <a:grpSpLocks/>
          </p:cNvGrpSpPr>
          <p:nvPr/>
        </p:nvGrpSpPr>
        <p:grpSpPr bwMode="auto">
          <a:xfrm>
            <a:off x="6248400" y="1676400"/>
            <a:ext cx="457200" cy="533400"/>
            <a:chOff x="4250" y="5950"/>
            <a:chExt cx="340" cy="340"/>
          </a:xfrm>
        </p:grpSpPr>
        <p:sp>
          <p:nvSpPr>
            <p:cNvPr id="28703" name="Rectangle 31"/>
            <p:cNvSpPr>
              <a:spLocks noChangeArrowheads="1"/>
            </p:cNvSpPr>
            <p:nvPr/>
          </p:nvSpPr>
          <p:spPr bwMode="auto">
            <a:xfrm>
              <a:off x="4250" y="5950"/>
              <a:ext cx="340" cy="3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4" name="Oval 32"/>
            <p:cNvSpPr>
              <a:spLocks noChangeArrowheads="1"/>
            </p:cNvSpPr>
            <p:nvPr/>
          </p:nvSpPr>
          <p:spPr bwMode="auto">
            <a:xfrm>
              <a:off x="4420" y="595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5" name="AutoShape 33"/>
            <p:cNvSpPr>
              <a:spLocks noChangeArrowheads="1"/>
            </p:cNvSpPr>
            <p:nvPr/>
          </p:nvSpPr>
          <p:spPr bwMode="auto">
            <a:xfrm>
              <a:off x="4250" y="5950"/>
              <a:ext cx="170" cy="170"/>
            </a:xfrm>
            <a:prstGeom prst="flowChartSummingJunction">
              <a:avLst/>
            </a:prstGeom>
            <a:solidFill>
              <a:srgbClr val="000000"/>
            </a:solidFill>
            <a:ln w="9525">
              <a:solidFill>
                <a:srgbClr val="FFFFFF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6" name="Oval 34"/>
            <p:cNvSpPr>
              <a:spLocks noChangeArrowheads="1"/>
            </p:cNvSpPr>
            <p:nvPr/>
          </p:nvSpPr>
          <p:spPr bwMode="auto">
            <a:xfrm>
              <a:off x="4420" y="612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07" name="Oval 35"/>
            <p:cNvSpPr>
              <a:spLocks noChangeArrowheads="1"/>
            </p:cNvSpPr>
            <p:nvPr/>
          </p:nvSpPr>
          <p:spPr bwMode="auto">
            <a:xfrm>
              <a:off x="4250" y="6120"/>
              <a:ext cx="170" cy="170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8708" name="Text Box 36"/>
          <p:cNvSpPr txBox="1">
            <a:spLocks noChangeArrowheads="1"/>
          </p:cNvSpPr>
          <p:nvPr/>
        </p:nvSpPr>
        <p:spPr bwMode="auto">
          <a:xfrm>
            <a:off x="914400" y="2667000"/>
            <a:ext cx="40163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A={(1,1),(3,3),(3,4),(4,3),(4,4)}</a:t>
            </a:r>
          </a:p>
        </p:txBody>
      </p:sp>
      <p:sp>
        <p:nvSpPr>
          <p:cNvPr id="28709" name="Text Box 37"/>
          <p:cNvSpPr txBox="1">
            <a:spLocks noChangeArrowheads="1"/>
          </p:cNvSpPr>
          <p:nvPr/>
        </p:nvSpPr>
        <p:spPr bwMode="auto">
          <a:xfrm>
            <a:off x="5181600" y="2667000"/>
            <a:ext cx="29622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sz="2000">
                <a:cs typeface="Times New Roman" pitchFamily="18" charset="0"/>
              </a:rPr>
              <a:t>B={(0,0),(0,1),(1,0),(1,1)}</a:t>
            </a:r>
            <a:endParaRPr lang="pt-BR" sz="2000"/>
          </a:p>
        </p:txBody>
      </p:sp>
      <p:sp>
        <p:nvSpPr>
          <p:cNvPr id="28710" name="Text Box 38"/>
          <p:cNvSpPr txBox="1">
            <a:spLocks noChangeArrowheads="1"/>
          </p:cNvSpPr>
          <p:nvPr/>
        </p:nvSpPr>
        <p:spPr bwMode="auto">
          <a:xfrm>
            <a:off x="1143000" y="838200"/>
            <a:ext cx="128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Imagem</a:t>
            </a:r>
          </a:p>
        </p:txBody>
      </p:sp>
      <p:sp>
        <p:nvSpPr>
          <p:cNvPr id="28711" name="Text Box 39"/>
          <p:cNvSpPr txBox="1">
            <a:spLocks noChangeArrowheads="1"/>
          </p:cNvSpPr>
          <p:nvPr/>
        </p:nvSpPr>
        <p:spPr bwMode="auto">
          <a:xfrm>
            <a:off x="4800600" y="990600"/>
            <a:ext cx="3217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Elemento Estruturante</a:t>
            </a:r>
          </a:p>
        </p:txBody>
      </p:sp>
      <p:sp>
        <p:nvSpPr>
          <p:cNvPr id="28712" name="Text Box 40"/>
          <p:cNvSpPr txBox="1">
            <a:spLocks noChangeArrowheads="1"/>
          </p:cNvSpPr>
          <p:nvPr/>
        </p:nvSpPr>
        <p:spPr bwMode="auto">
          <a:xfrm>
            <a:off x="685800" y="3810000"/>
            <a:ext cx="4173538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cs typeface="Times New Roman" pitchFamily="18" charset="0"/>
              </a:rPr>
              <a:t>B</a:t>
            </a:r>
            <a:r>
              <a:rPr lang="pt-BR" baseline="-30000">
                <a:cs typeface="Times New Roman" pitchFamily="18" charset="0"/>
              </a:rPr>
              <a:t>(1,1) </a:t>
            </a:r>
            <a:r>
              <a:rPr lang="pt-BR">
                <a:cs typeface="Times New Roman" pitchFamily="18" charset="0"/>
              </a:rPr>
              <a:t>= {(1,1),(1,2),(2,1),(2,2)} </a:t>
            </a:r>
          </a:p>
          <a:p>
            <a:r>
              <a:rPr lang="pt-BR">
                <a:cs typeface="Times New Roman" pitchFamily="18" charset="0"/>
              </a:rPr>
              <a:t>B</a:t>
            </a:r>
            <a:r>
              <a:rPr lang="pt-BR" baseline="-30000">
                <a:cs typeface="Times New Roman" pitchFamily="18" charset="0"/>
              </a:rPr>
              <a:t>(3,3) </a:t>
            </a:r>
            <a:r>
              <a:rPr lang="pt-BR">
                <a:cs typeface="Times New Roman" pitchFamily="18" charset="0"/>
              </a:rPr>
              <a:t>= {(3,3),(3,4),(4,3),(4,4)} </a:t>
            </a:r>
          </a:p>
          <a:p>
            <a:r>
              <a:rPr lang="pt-BR">
                <a:cs typeface="Times New Roman" pitchFamily="18" charset="0"/>
              </a:rPr>
              <a:t>B</a:t>
            </a:r>
            <a:r>
              <a:rPr lang="pt-BR" baseline="-30000">
                <a:cs typeface="Times New Roman" pitchFamily="18" charset="0"/>
              </a:rPr>
              <a:t>(3,4) </a:t>
            </a:r>
            <a:r>
              <a:rPr lang="pt-BR">
                <a:cs typeface="Times New Roman" pitchFamily="18" charset="0"/>
              </a:rPr>
              <a:t>= {(3,4),(3,5),(4,4),(4,5)} </a:t>
            </a:r>
          </a:p>
          <a:p>
            <a:r>
              <a:rPr lang="pt-BR">
                <a:cs typeface="Times New Roman" pitchFamily="18" charset="0"/>
              </a:rPr>
              <a:t>B</a:t>
            </a:r>
            <a:r>
              <a:rPr lang="pt-BR" baseline="-30000">
                <a:cs typeface="Times New Roman" pitchFamily="18" charset="0"/>
              </a:rPr>
              <a:t>(4,3) </a:t>
            </a:r>
            <a:r>
              <a:rPr lang="pt-BR">
                <a:cs typeface="Times New Roman" pitchFamily="18" charset="0"/>
              </a:rPr>
              <a:t>= {(4,3),(4,4),(5,3),(5,4)} </a:t>
            </a:r>
          </a:p>
          <a:p>
            <a:r>
              <a:rPr lang="pt-BR">
                <a:cs typeface="Times New Roman" pitchFamily="18" charset="0"/>
              </a:rPr>
              <a:t>B</a:t>
            </a:r>
            <a:r>
              <a:rPr lang="pt-BR" baseline="-30000">
                <a:cs typeface="Times New Roman" pitchFamily="18" charset="0"/>
              </a:rPr>
              <a:t>(4,4) </a:t>
            </a:r>
            <a:r>
              <a:rPr lang="pt-BR">
                <a:cs typeface="Times New Roman" pitchFamily="18" charset="0"/>
              </a:rPr>
              <a:t>= {(4,4),(4,5),(5,4),(5,5)} </a:t>
            </a:r>
            <a:endParaRPr lang="pt-BR"/>
          </a:p>
        </p:txBody>
      </p:sp>
      <p:grpSp>
        <p:nvGrpSpPr>
          <p:cNvPr id="28713" name="Group 41"/>
          <p:cNvGrpSpPr>
            <a:grpSpLocks/>
          </p:cNvGrpSpPr>
          <p:nvPr/>
        </p:nvGrpSpPr>
        <p:grpSpPr bwMode="auto">
          <a:xfrm>
            <a:off x="7467600" y="4267200"/>
            <a:ext cx="1295400" cy="1219200"/>
            <a:chOff x="7140" y="4930"/>
            <a:chExt cx="850" cy="850"/>
          </a:xfrm>
        </p:grpSpPr>
        <p:sp>
          <p:nvSpPr>
            <p:cNvPr id="28714" name="Rectangle 42"/>
            <p:cNvSpPr>
              <a:spLocks noChangeArrowheads="1"/>
            </p:cNvSpPr>
            <p:nvPr/>
          </p:nvSpPr>
          <p:spPr bwMode="auto">
            <a:xfrm>
              <a:off x="7140" y="4930"/>
              <a:ext cx="850" cy="850"/>
            </a:xfrm>
            <a:prstGeom prst="rect">
              <a:avLst/>
            </a:prstGeom>
            <a:noFill/>
            <a:ln w="9525">
              <a:solidFill>
                <a:srgbClr val="00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15" name="Oval 43"/>
            <p:cNvSpPr>
              <a:spLocks noChangeArrowheads="1"/>
            </p:cNvSpPr>
            <p:nvPr/>
          </p:nvSpPr>
          <p:spPr bwMode="auto">
            <a:xfrm flipV="1">
              <a:off x="7140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16" name="Oval 44"/>
            <p:cNvSpPr>
              <a:spLocks noChangeArrowheads="1"/>
            </p:cNvSpPr>
            <p:nvPr/>
          </p:nvSpPr>
          <p:spPr bwMode="auto">
            <a:xfrm flipV="1">
              <a:off x="7310" y="49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17" name="Oval 45"/>
            <p:cNvSpPr>
              <a:spLocks noChangeArrowheads="1"/>
            </p:cNvSpPr>
            <p:nvPr/>
          </p:nvSpPr>
          <p:spPr bwMode="auto">
            <a:xfrm flipV="1">
              <a:off x="7480" y="49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18" name="Oval 46"/>
            <p:cNvSpPr>
              <a:spLocks noChangeArrowheads="1"/>
            </p:cNvSpPr>
            <p:nvPr/>
          </p:nvSpPr>
          <p:spPr bwMode="auto">
            <a:xfrm flipV="1">
              <a:off x="7650" y="49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19" name="Oval 47"/>
            <p:cNvSpPr>
              <a:spLocks noChangeArrowheads="1"/>
            </p:cNvSpPr>
            <p:nvPr/>
          </p:nvSpPr>
          <p:spPr bwMode="auto">
            <a:xfrm flipV="1">
              <a:off x="7820" y="493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0" name="Oval 48"/>
            <p:cNvSpPr>
              <a:spLocks noChangeArrowheads="1"/>
            </p:cNvSpPr>
            <p:nvPr/>
          </p:nvSpPr>
          <p:spPr bwMode="auto">
            <a:xfrm flipV="1">
              <a:off x="714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1" name="Oval 49"/>
            <p:cNvSpPr>
              <a:spLocks noChangeArrowheads="1"/>
            </p:cNvSpPr>
            <p:nvPr/>
          </p:nvSpPr>
          <p:spPr bwMode="auto">
            <a:xfrm flipV="1">
              <a:off x="731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2" name="Oval 50"/>
            <p:cNvSpPr>
              <a:spLocks noChangeArrowheads="1"/>
            </p:cNvSpPr>
            <p:nvPr/>
          </p:nvSpPr>
          <p:spPr bwMode="auto">
            <a:xfrm flipV="1">
              <a:off x="748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3" name="Oval 51"/>
            <p:cNvSpPr>
              <a:spLocks noChangeArrowheads="1"/>
            </p:cNvSpPr>
            <p:nvPr/>
          </p:nvSpPr>
          <p:spPr bwMode="auto">
            <a:xfrm flipV="1">
              <a:off x="765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4" name="Oval 52"/>
            <p:cNvSpPr>
              <a:spLocks noChangeArrowheads="1"/>
            </p:cNvSpPr>
            <p:nvPr/>
          </p:nvSpPr>
          <p:spPr bwMode="auto">
            <a:xfrm flipV="1">
              <a:off x="7820" y="510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5" name="Oval 53"/>
            <p:cNvSpPr>
              <a:spLocks noChangeArrowheads="1"/>
            </p:cNvSpPr>
            <p:nvPr/>
          </p:nvSpPr>
          <p:spPr bwMode="auto">
            <a:xfrm flipV="1">
              <a:off x="7140" y="527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6" name="Oval 54"/>
            <p:cNvSpPr>
              <a:spLocks noChangeArrowheads="1"/>
            </p:cNvSpPr>
            <p:nvPr/>
          </p:nvSpPr>
          <p:spPr bwMode="auto">
            <a:xfrm flipV="1">
              <a:off x="7310" y="527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7" name="Oval 55"/>
            <p:cNvSpPr>
              <a:spLocks noChangeArrowheads="1"/>
            </p:cNvSpPr>
            <p:nvPr/>
          </p:nvSpPr>
          <p:spPr bwMode="auto">
            <a:xfrm flipV="1">
              <a:off x="7480" y="527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8" name="Oval 56"/>
            <p:cNvSpPr>
              <a:spLocks noChangeArrowheads="1"/>
            </p:cNvSpPr>
            <p:nvPr/>
          </p:nvSpPr>
          <p:spPr bwMode="auto">
            <a:xfrm flipV="1">
              <a:off x="7650" y="5270"/>
              <a:ext cx="169" cy="170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29" name="Oval 57"/>
            <p:cNvSpPr>
              <a:spLocks noChangeArrowheads="1"/>
            </p:cNvSpPr>
            <p:nvPr/>
          </p:nvSpPr>
          <p:spPr bwMode="auto">
            <a:xfrm flipV="1">
              <a:off x="7820" y="527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30" name="Oval 58"/>
            <p:cNvSpPr>
              <a:spLocks noChangeArrowheads="1"/>
            </p:cNvSpPr>
            <p:nvPr/>
          </p:nvSpPr>
          <p:spPr bwMode="auto">
            <a:xfrm flipV="1">
              <a:off x="7140" y="544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31" name="Oval 59"/>
            <p:cNvSpPr>
              <a:spLocks noChangeArrowheads="1"/>
            </p:cNvSpPr>
            <p:nvPr/>
          </p:nvSpPr>
          <p:spPr bwMode="auto">
            <a:xfrm flipV="1">
              <a:off x="7310" y="544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32" name="Oval 60"/>
            <p:cNvSpPr>
              <a:spLocks noChangeArrowheads="1"/>
            </p:cNvSpPr>
            <p:nvPr/>
          </p:nvSpPr>
          <p:spPr bwMode="auto">
            <a:xfrm flipV="1">
              <a:off x="7480" y="544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33" name="Oval 61"/>
            <p:cNvSpPr>
              <a:spLocks noChangeArrowheads="1"/>
            </p:cNvSpPr>
            <p:nvPr/>
          </p:nvSpPr>
          <p:spPr bwMode="auto">
            <a:xfrm flipV="1">
              <a:off x="7650" y="5440"/>
              <a:ext cx="169" cy="169"/>
            </a:xfrm>
            <a:prstGeom prst="ellipse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734" name="Oval 62"/>
            <p:cNvSpPr>
              <a:spLocks noChangeArrowheads="1"/>
            </p:cNvSpPr>
            <p:nvPr/>
          </p:nvSpPr>
          <p:spPr bwMode="auto">
            <a:xfrm flipV="1">
              <a:off x="7820" y="544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35" name="Oval 63"/>
            <p:cNvSpPr>
              <a:spLocks noChangeArrowheads="1"/>
            </p:cNvSpPr>
            <p:nvPr/>
          </p:nvSpPr>
          <p:spPr bwMode="auto">
            <a:xfrm flipV="1">
              <a:off x="7310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36" name="Oval 64"/>
            <p:cNvSpPr>
              <a:spLocks noChangeArrowheads="1"/>
            </p:cNvSpPr>
            <p:nvPr/>
          </p:nvSpPr>
          <p:spPr bwMode="auto">
            <a:xfrm flipV="1">
              <a:off x="7480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37" name="Oval 65"/>
            <p:cNvSpPr>
              <a:spLocks noChangeArrowheads="1"/>
            </p:cNvSpPr>
            <p:nvPr/>
          </p:nvSpPr>
          <p:spPr bwMode="auto">
            <a:xfrm flipV="1">
              <a:off x="7650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38" name="Oval 66"/>
            <p:cNvSpPr>
              <a:spLocks noChangeArrowheads="1"/>
            </p:cNvSpPr>
            <p:nvPr/>
          </p:nvSpPr>
          <p:spPr bwMode="auto">
            <a:xfrm flipV="1">
              <a:off x="7819" y="5610"/>
              <a:ext cx="169" cy="169"/>
            </a:xfrm>
            <a:prstGeom prst="ellips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28739" name="AutoShape 67"/>
            <p:cNvSpPr>
              <a:spLocks noChangeArrowheads="1"/>
            </p:cNvSpPr>
            <p:nvPr/>
          </p:nvSpPr>
          <p:spPr bwMode="auto">
            <a:xfrm>
              <a:off x="7140" y="4930"/>
              <a:ext cx="169" cy="169"/>
            </a:xfrm>
            <a:prstGeom prst="flowChartSummingJunction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/>
            </a:p>
          </p:txBody>
        </p:sp>
      </p:grpSp>
      <p:graphicFrame>
        <p:nvGraphicFramePr>
          <p:cNvPr id="28740" name="Object 68"/>
          <p:cNvGraphicFramePr>
            <a:graphicFrameLocks noChangeAspect="1"/>
          </p:cNvGraphicFramePr>
          <p:nvPr/>
        </p:nvGraphicFramePr>
        <p:xfrm>
          <a:off x="7772400" y="5562600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320" imgH="177480" progId="Equation.3">
                  <p:embed/>
                </p:oleObj>
              </mc:Choice>
              <mc:Fallback>
                <p:oleObj name="Equation" r:id="rId2" imgW="355320" imgH="177480" progId="Equation.3">
                  <p:embed/>
                  <p:pic>
                    <p:nvPicPr>
                      <p:cNvPr id="28740" name="Object 6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5562600"/>
                        <a:ext cx="81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41" name="Object 69"/>
          <p:cNvGraphicFramePr>
            <a:graphicFrameLocks noChangeAspect="1"/>
          </p:cNvGraphicFramePr>
          <p:nvPr/>
        </p:nvGraphicFramePr>
        <p:xfrm>
          <a:off x="4989513" y="3886200"/>
          <a:ext cx="14224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560" imgH="203040" progId="Equation.3">
                  <p:embed/>
                </p:oleObj>
              </mc:Choice>
              <mc:Fallback>
                <p:oleObj name="Equation" r:id="rId4" imgW="736560" imgH="203040" progId="Equation.3">
                  <p:embed/>
                  <p:pic>
                    <p:nvPicPr>
                      <p:cNvPr id="28741" name="Object 6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9513" y="3886200"/>
                        <a:ext cx="14224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42" name="Object 70"/>
          <p:cNvGraphicFramePr>
            <a:graphicFrameLocks noChangeAspect="1"/>
          </p:cNvGraphicFramePr>
          <p:nvPr/>
        </p:nvGraphicFramePr>
        <p:xfrm>
          <a:off x="4953000" y="4267200"/>
          <a:ext cx="14954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774360" imgH="203040" progId="Equation.3">
                  <p:embed/>
                </p:oleObj>
              </mc:Choice>
              <mc:Fallback>
                <p:oleObj name="Equation" r:id="rId6" imgW="774360" imgH="203040" progId="Equation.3">
                  <p:embed/>
                  <p:pic>
                    <p:nvPicPr>
                      <p:cNvPr id="28742" name="Object 7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267200"/>
                        <a:ext cx="14954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43" name="Object 71"/>
          <p:cNvGraphicFramePr>
            <a:graphicFrameLocks noChangeAspect="1"/>
          </p:cNvGraphicFramePr>
          <p:nvPr/>
        </p:nvGraphicFramePr>
        <p:xfrm>
          <a:off x="4953000" y="4648200"/>
          <a:ext cx="15208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87320" imgH="203040" progId="Equation.3">
                  <p:embed/>
                </p:oleObj>
              </mc:Choice>
              <mc:Fallback>
                <p:oleObj name="Equation" r:id="rId8" imgW="787320" imgH="203040" progId="Equation.3">
                  <p:embed/>
                  <p:pic>
                    <p:nvPicPr>
                      <p:cNvPr id="28743" name="Object 7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4648200"/>
                        <a:ext cx="15208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44" name="Object 72"/>
          <p:cNvGraphicFramePr>
            <a:graphicFrameLocks noChangeAspect="1"/>
          </p:cNvGraphicFramePr>
          <p:nvPr/>
        </p:nvGraphicFramePr>
        <p:xfrm>
          <a:off x="4953000" y="5029200"/>
          <a:ext cx="15208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87320" imgH="203040" progId="Equation.3">
                  <p:embed/>
                </p:oleObj>
              </mc:Choice>
              <mc:Fallback>
                <p:oleObj name="Equation" r:id="rId10" imgW="787320" imgH="203040" progId="Equation.3">
                  <p:embed/>
                  <p:pic>
                    <p:nvPicPr>
                      <p:cNvPr id="28744" name="Object 7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029200"/>
                        <a:ext cx="15208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45" name="Object 73"/>
          <p:cNvGraphicFramePr>
            <a:graphicFrameLocks noChangeAspect="1"/>
          </p:cNvGraphicFramePr>
          <p:nvPr/>
        </p:nvGraphicFramePr>
        <p:xfrm>
          <a:off x="4940300" y="5410200"/>
          <a:ext cx="1546225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799920" imgH="203040" progId="Equation.3">
                  <p:embed/>
                </p:oleObj>
              </mc:Choice>
              <mc:Fallback>
                <p:oleObj name="Equation" r:id="rId12" imgW="799920" imgH="203040" progId="Equation.3">
                  <p:embed/>
                  <p:pic>
                    <p:nvPicPr>
                      <p:cNvPr id="28745" name="Object 7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40300" y="5410200"/>
                        <a:ext cx="1546225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46" name="Text Box 74"/>
          <p:cNvSpPr txBox="1">
            <a:spLocks noChangeArrowheads="1"/>
          </p:cNvSpPr>
          <p:nvPr/>
        </p:nvSpPr>
        <p:spPr bwMode="auto">
          <a:xfrm>
            <a:off x="2438400" y="5943600"/>
            <a:ext cx="3598863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</a:t>
            </a:r>
            <a:r>
              <a:rPr lang="pt-BR" b="1">
                <a:solidFill>
                  <a:srgbClr val="FF0000"/>
                </a:solidFill>
              </a:rPr>
              <a:t>erosão</a:t>
            </a:r>
            <a:r>
              <a:rPr lang="pt-BR"/>
              <a:t> remove ruídos.</a:t>
            </a:r>
          </a:p>
        </p:txBody>
      </p:sp>
      <p:graphicFrame>
        <p:nvGraphicFramePr>
          <p:cNvPr id="28747" name="Object 75"/>
          <p:cNvGraphicFramePr>
            <a:graphicFrameLocks noChangeAspect="1"/>
          </p:cNvGraphicFramePr>
          <p:nvPr/>
        </p:nvGraphicFramePr>
        <p:xfrm>
          <a:off x="2667000" y="3429000"/>
          <a:ext cx="1409700" cy="438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571320" imgH="177480" progId="Equation.3">
                  <p:embed/>
                </p:oleObj>
              </mc:Choice>
              <mc:Fallback>
                <p:oleObj name="Equation" r:id="rId14" imgW="571320" imgH="177480" progId="Equation.3">
                  <p:embed/>
                  <p:pic>
                    <p:nvPicPr>
                      <p:cNvPr id="28747" name="Object 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3429000"/>
                        <a:ext cx="1409700" cy="4381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rgbClr val="FF00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46" grpId="0" animBg="1" autoUpdateAnimBg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10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ACF6A7-407B-4962-97E8-50153FB5077E}" type="slidenum">
              <a:rPr lang="pt-BR"/>
              <a:pPr/>
              <a:t>25</a:t>
            </a:fld>
            <a:endParaRPr lang="pt-BR"/>
          </a:p>
        </p:txBody>
      </p:sp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/>
              <a:t>Erosão: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3717925" y="268288"/>
            <a:ext cx="2938463" cy="46672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b="1">
                <a:solidFill>
                  <a:srgbClr val="FF0000"/>
                </a:solidFill>
              </a:rPr>
              <a:t>Terceira Definição: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1127125" y="877888"/>
            <a:ext cx="3575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Subtração de Minkowsky</a:t>
            </a: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1600200" y="1524000"/>
          <a:ext cx="1803400" cy="608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15920" imgH="342720" progId="Equation.3">
                  <p:embed/>
                </p:oleObj>
              </mc:Choice>
              <mc:Fallback>
                <p:oleObj name="Equation" r:id="rId2" imgW="1015920" imgH="342720" progId="Equation.3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00200" y="1524000"/>
                        <a:ext cx="1803400" cy="608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2" name="Text Box 6"/>
          <p:cNvSpPr txBox="1">
            <a:spLocks noChangeArrowheads="1"/>
          </p:cNvSpPr>
          <p:nvPr/>
        </p:nvSpPr>
        <p:spPr bwMode="auto">
          <a:xfrm>
            <a:off x="898525" y="2325688"/>
            <a:ext cx="1557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Algoritmo:</a:t>
            </a:r>
          </a:p>
        </p:txBody>
      </p:sp>
      <p:sp>
        <p:nvSpPr>
          <p:cNvPr id="29703" name="Text Box 7"/>
          <p:cNvSpPr txBox="1">
            <a:spLocks noChangeArrowheads="1"/>
          </p:cNvSpPr>
          <p:nvPr/>
        </p:nvSpPr>
        <p:spPr bwMode="auto">
          <a:xfrm>
            <a:off x="898525" y="3011488"/>
            <a:ext cx="7489825" cy="1917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Tx/>
              <a:buChar char="•"/>
            </a:pPr>
            <a:r>
              <a:rPr lang="pt-BR"/>
              <a:t> Deslocar o Elemento Estruturante sobre a Imagem</a:t>
            </a:r>
          </a:p>
          <a:p>
            <a:pPr>
              <a:buFontTx/>
              <a:buChar char="•"/>
            </a:pPr>
            <a:r>
              <a:rPr lang="pt-BR"/>
              <a:t> Comparar o Elemento com a Imagem.</a:t>
            </a:r>
          </a:p>
          <a:p>
            <a:pPr>
              <a:buFontTx/>
              <a:buChar char="•"/>
            </a:pPr>
            <a:r>
              <a:rPr lang="pt-BR"/>
              <a:t> Se (Elemento = Imagem) ==&gt;  o píxel na posição da</a:t>
            </a:r>
            <a:br>
              <a:rPr lang="pt-BR"/>
            </a:br>
            <a:r>
              <a:rPr lang="pt-BR"/>
              <a:t>origem do Elemento Estruturante na  Imagem Erodida</a:t>
            </a:r>
            <a:br>
              <a:rPr lang="pt-BR"/>
            </a:br>
            <a:r>
              <a:rPr lang="pt-BR"/>
              <a:t>é feito igual a 1.</a:t>
            </a:r>
          </a:p>
        </p:txBody>
      </p:sp>
      <p:sp>
        <p:nvSpPr>
          <p:cNvPr id="29704" name="Text Box 8"/>
          <p:cNvSpPr txBox="1">
            <a:spLocks noChangeArrowheads="1"/>
          </p:cNvSpPr>
          <p:nvPr/>
        </p:nvSpPr>
        <p:spPr bwMode="auto">
          <a:xfrm>
            <a:off x="838200" y="5257800"/>
            <a:ext cx="72707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>
                <a:solidFill>
                  <a:srgbClr val="FF0000"/>
                </a:solidFill>
              </a:rPr>
              <a:t>Obs:</a:t>
            </a:r>
            <a:r>
              <a:rPr lang="pt-BR"/>
              <a:t> Um nível lógico 1 equivale à região da Imagem</a:t>
            </a:r>
            <a:br>
              <a:rPr lang="pt-BR"/>
            </a:br>
            <a:r>
              <a:rPr lang="pt-BR"/>
              <a:t>Binária.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473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40784A-3C93-4CB8-A8F0-73712E12A509}" type="slidenum">
              <a:rPr lang="pt-BR"/>
              <a:pPr/>
              <a:t>26</a:t>
            </a:fld>
            <a:endParaRPr lang="pt-BR"/>
          </a:p>
        </p:txBody>
      </p: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152400"/>
            <a:ext cx="1752600" cy="38100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pt-BR" sz="2400">
                <a:solidFill>
                  <a:srgbClr val="FF0000"/>
                </a:solidFill>
              </a:rPr>
              <a:t>Exemplo:</a:t>
            </a:r>
          </a:p>
        </p:txBody>
      </p:sp>
      <p:graphicFrame>
        <p:nvGraphicFramePr>
          <p:cNvPr id="31165" name="Group 445"/>
          <p:cNvGraphicFramePr>
            <a:graphicFrameLocks noGrp="1"/>
          </p:cNvGraphicFramePr>
          <p:nvPr/>
        </p:nvGraphicFramePr>
        <p:xfrm>
          <a:off x="533400" y="1219200"/>
          <a:ext cx="3733800" cy="4267200"/>
        </p:xfrm>
        <a:graphic>
          <a:graphicData uri="http://schemas.openxmlformats.org/drawingml/2006/table">
            <a:tbl>
              <a:tblPr/>
              <a:tblGrid>
                <a:gridCol w="2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graphicFrame>
        <p:nvGraphicFramePr>
          <p:cNvPr id="31151" name="Group 431"/>
          <p:cNvGraphicFramePr>
            <a:graphicFrameLocks noGrp="1"/>
          </p:cNvGraphicFramePr>
          <p:nvPr/>
        </p:nvGraphicFramePr>
        <p:xfrm>
          <a:off x="4038600" y="304800"/>
          <a:ext cx="685800" cy="670560"/>
        </p:xfrm>
        <a:graphic>
          <a:graphicData uri="http://schemas.openxmlformats.org/drawingml/2006/table">
            <a:tbl>
              <a:tblPr/>
              <a:tblGrid>
                <a:gridCol w="342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67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 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1166" name="Group 446"/>
          <p:cNvGraphicFramePr>
            <a:graphicFrameLocks noGrp="1"/>
          </p:cNvGraphicFramePr>
          <p:nvPr/>
        </p:nvGraphicFramePr>
        <p:xfrm>
          <a:off x="4953000" y="1219200"/>
          <a:ext cx="3733800" cy="4267200"/>
        </p:xfrm>
        <a:graphic>
          <a:graphicData uri="http://schemas.openxmlformats.org/drawingml/2006/table">
            <a:tbl>
              <a:tblPr/>
              <a:tblGrid>
                <a:gridCol w="266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651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698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6511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2667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pt-BR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70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pt-BR" sz="1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31393" name="Text Box 673"/>
          <p:cNvSpPr txBox="1">
            <a:spLocks noChangeArrowheads="1"/>
          </p:cNvSpPr>
          <p:nvPr/>
        </p:nvSpPr>
        <p:spPr bwMode="auto">
          <a:xfrm>
            <a:off x="1812925" y="54498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</a:t>
            </a:r>
          </a:p>
        </p:txBody>
      </p:sp>
      <p:sp>
        <p:nvSpPr>
          <p:cNvPr id="31394" name="Text Box 674"/>
          <p:cNvSpPr txBox="1">
            <a:spLocks noChangeArrowheads="1"/>
          </p:cNvSpPr>
          <p:nvPr/>
        </p:nvSpPr>
        <p:spPr bwMode="auto">
          <a:xfrm>
            <a:off x="4860925" y="344488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B</a:t>
            </a:r>
          </a:p>
        </p:txBody>
      </p:sp>
      <p:graphicFrame>
        <p:nvGraphicFramePr>
          <p:cNvPr id="31395" name="Object 675"/>
          <p:cNvGraphicFramePr>
            <a:graphicFrameLocks noChangeAspect="1"/>
          </p:cNvGraphicFramePr>
          <p:nvPr/>
        </p:nvGraphicFramePr>
        <p:xfrm>
          <a:off x="6553200" y="5562600"/>
          <a:ext cx="812800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5320" imgH="177480" progId="Equation.3">
                  <p:embed/>
                </p:oleObj>
              </mc:Choice>
              <mc:Fallback>
                <p:oleObj name="Equation" r:id="rId2" imgW="355320" imgH="177480" progId="Equation.3">
                  <p:embed/>
                  <p:pic>
                    <p:nvPicPr>
                      <p:cNvPr id="31395" name="Object 67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5562600"/>
                        <a:ext cx="812800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396" name="Text Box 676"/>
          <p:cNvSpPr txBox="1">
            <a:spLocks noChangeArrowheads="1"/>
          </p:cNvSpPr>
          <p:nvPr/>
        </p:nvSpPr>
        <p:spPr bwMode="auto">
          <a:xfrm>
            <a:off x="914400" y="5991225"/>
            <a:ext cx="70802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000"/>
              <a:t>A </a:t>
            </a:r>
            <a:r>
              <a:rPr lang="pt-BR" sz="2000">
                <a:solidFill>
                  <a:srgbClr val="FF0000"/>
                </a:solidFill>
              </a:rPr>
              <a:t>Erosão </a:t>
            </a:r>
            <a:r>
              <a:rPr lang="pt-BR" sz="2000"/>
              <a:t>remove picos de bordas, aumenta buracos internos</a:t>
            </a:r>
            <a:br>
              <a:rPr lang="pt-BR" sz="2000"/>
            </a:br>
            <a:r>
              <a:rPr lang="pt-BR" sz="2000"/>
              <a:t> e reduz a região.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396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9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68B8F2-E6A3-45AA-892D-90EBFE33F89B}" type="slidenum">
              <a:rPr lang="pt-BR"/>
              <a:pPr/>
              <a:t>27</a:t>
            </a:fld>
            <a:endParaRPr lang="pt-BR"/>
          </a:p>
        </p:txBody>
      </p:sp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8600"/>
            <a:ext cx="3200400" cy="533400"/>
          </a:xfrm>
        </p:spPr>
        <p:txBody>
          <a:bodyPr/>
          <a:lstStyle/>
          <a:p>
            <a:r>
              <a:rPr lang="pt-BR"/>
              <a:t>Considerações:</a:t>
            </a:r>
          </a:p>
        </p:txBody>
      </p:sp>
      <p:sp>
        <p:nvSpPr>
          <p:cNvPr id="34819" name="Text Box 3"/>
          <p:cNvSpPr txBox="1">
            <a:spLocks noChangeArrowheads="1"/>
          </p:cNvSpPr>
          <p:nvPr/>
        </p:nvSpPr>
        <p:spPr bwMode="auto">
          <a:xfrm>
            <a:off x="457200" y="1752600"/>
            <a:ext cx="77882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>
                <a:cs typeface="Times New Roman" pitchFamily="18" charset="0"/>
              </a:rPr>
              <a:t> A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Erosão</a:t>
            </a:r>
            <a:r>
              <a:rPr lang="pt-BR">
                <a:cs typeface="Times New Roman" pitchFamily="18" charset="0"/>
              </a:rPr>
              <a:t> não é o inverso da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Dilatação</a:t>
            </a:r>
            <a:r>
              <a:rPr lang="pt-BR">
                <a:cs typeface="Times New Roman" pitchFamily="18" charset="0"/>
              </a:rPr>
              <a:t>.</a:t>
            </a:r>
          </a:p>
        </p:txBody>
      </p:sp>
      <p:sp>
        <p:nvSpPr>
          <p:cNvPr id="34820" name="Text Box 4"/>
          <p:cNvSpPr txBox="1">
            <a:spLocks noChangeArrowheads="1"/>
          </p:cNvSpPr>
          <p:nvPr/>
        </p:nvSpPr>
        <p:spPr bwMode="auto">
          <a:xfrm>
            <a:off x="457200" y="2514600"/>
            <a:ext cx="6335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>
                <a:cs typeface="Times New Roman" pitchFamily="18" charset="0"/>
              </a:rPr>
              <a:t>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Erosão</a:t>
            </a:r>
            <a:r>
              <a:rPr lang="pt-BR">
                <a:cs typeface="Times New Roman" pitchFamily="18" charset="0"/>
              </a:rPr>
              <a:t> e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Dilatação</a:t>
            </a:r>
            <a:r>
              <a:rPr lang="pt-BR">
                <a:cs typeface="Times New Roman" pitchFamily="18" charset="0"/>
              </a:rPr>
              <a:t> são operações duais: </a:t>
            </a:r>
          </a:p>
        </p:txBody>
      </p:sp>
      <p:graphicFrame>
        <p:nvGraphicFramePr>
          <p:cNvPr id="34821" name="Object 5"/>
          <p:cNvGraphicFramePr>
            <a:graphicFrameLocks noChangeAspect="1"/>
          </p:cNvGraphicFramePr>
          <p:nvPr/>
        </p:nvGraphicFramePr>
        <p:xfrm>
          <a:off x="1981200" y="3429000"/>
          <a:ext cx="29083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91880" imgH="241200" progId="Equation.3">
                  <p:embed/>
                </p:oleObj>
              </mc:Choice>
              <mc:Fallback>
                <p:oleObj name="Equation" r:id="rId2" imgW="1091880" imgH="241200" progId="Equation.3">
                  <p:embed/>
                  <p:pic>
                    <p:nvPicPr>
                      <p:cNvPr id="3482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429000"/>
                        <a:ext cx="2908300" cy="642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822" name="Text Box 6"/>
          <p:cNvSpPr txBox="1">
            <a:spLocks noChangeArrowheads="1"/>
          </p:cNvSpPr>
          <p:nvPr/>
        </p:nvSpPr>
        <p:spPr bwMode="auto">
          <a:xfrm>
            <a:off x="838200" y="4572000"/>
            <a:ext cx="79248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just">
              <a:spcBef>
                <a:spcPct val="50000"/>
              </a:spcBef>
            </a:pPr>
            <a:r>
              <a:rPr lang="pt-BR">
                <a:cs typeface="Times New Roman" pitchFamily="18" charset="0"/>
              </a:rPr>
              <a:t>O complemento de uma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Erosão</a:t>
            </a:r>
            <a:r>
              <a:rPr lang="pt-BR">
                <a:cs typeface="Times New Roman" pitchFamily="18" charset="0"/>
              </a:rPr>
              <a:t> é o mesmo que uma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Dilatação</a:t>
            </a:r>
            <a:r>
              <a:rPr lang="pt-BR">
                <a:cs typeface="Times New Roman" pitchFamily="18" charset="0"/>
              </a:rPr>
              <a:t> do complemento da imagem pelo elemento estruturante refletido.</a:t>
            </a:r>
            <a:endParaRPr lang="pt-BR"/>
          </a:p>
        </p:txBody>
      </p:sp>
      <p:sp>
        <p:nvSpPr>
          <p:cNvPr id="34823" name="Text Box 7"/>
          <p:cNvSpPr txBox="1">
            <a:spLocks noChangeArrowheads="1"/>
          </p:cNvSpPr>
          <p:nvPr/>
        </p:nvSpPr>
        <p:spPr bwMode="auto">
          <a:xfrm>
            <a:off x="457200" y="990600"/>
            <a:ext cx="7859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/>
              <a:t> A </a:t>
            </a:r>
            <a:r>
              <a:rPr lang="pt-BR" b="1">
                <a:solidFill>
                  <a:srgbClr val="FF0000"/>
                </a:solidFill>
              </a:rPr>
              <a:t>Dilatação </a:t>
            </a:r>
            <a:r>
              <a:rPr lang="pt-BR"/>
              <a:t>expande uma Imagem e a </a:t>
            </a:r>
            <a:r>
              <a:rPr lang="pt-BR" b="1">
                <a:solidFill>
                  <a:srgbClr val="FF0000"/>
                </a:solidFill>
              </a:rPr>
              <a:t>Erosão </a:t>
            </a:r>
            <a:r>
              <a:rPr lang="pt-BR"/>
              <a:t>reduz.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1ED4D5-F8C0-41F8-A74D-EC2C24338A9D}" type="slidenum">
              <a:rPr lang="pt-BR"/>
              <a:pPr/>
              <a:t>28</a:t>
            </a:fld>
            <a:endParaRPr lang="pt-BR"/>
          </a:p>
        </p:txBody>
      </p:sp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76600" cy="533400"/>
          </a:xfrm>
        </p:spPr>
        <p:txBody>
          <a:bodyPr/>
          <a:lstStyle/>
          <a:p>
            <a:r>
              <a:rPr lang="pt-BR"/>
              <a:t>Abertura:</a:t>
            </a: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381000" y="1371600"/>
            <a:ext cx="8339138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/>
              <a:t>  A </a:t>
            </a:r>
            <a:r>
              <a:rPr lang="pt-BR" b="1">
                <a:solidFill>
                  <a:srgbClr val="FF0000"/>
                </a:solidFill>
              </a:rPr>
              <a:t>Abertura</a:t>
            </a:r>
            <a:r>
              <a:rPr lang="pt-BR"/>
              <a:t> é uma operação Morfológica que geralmente</a:t>
            </a:r>
            <a:br>
              <a:rPr lang="pt-BR"/>
            </a:br>
            <a:r>
              <a:rPr lang="pt-BR"/>
              <a:t>      suaviza o contorno de uma Imagem, quebra istmos</a:t>
            </a:r>
            <a:br>
              <a:rPr lang="pt-BR"/>
            </a:br>
            <a:r>
              <a:rPr lang="pt-BR"/>
              <a:t>      estreitos e elimina protusões finas. </a:t>
            </a:r>
          </a:p>
        </p:txBody>
      </p:sp>
      <p:sp>
        <p:nvSpPr>
          <p:cNvPr id="31749" name="Text Box 5"/>
          <p:cNvSpPr txBox="1">
            <a:spLocks noChangeArrowheads="1"/>
          </p:cNvSpPr>
          <p:nvPr/>
        </p:nvSpPr>
        <p:spPr bwMode="auto">
          <a:xfrm>
            <a:off x="822325" y="3544888"/>
            <a:ext cx="82851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A </a:t>
            </a:r>
            <a:r>
              <a:rPr lang="pt-BR" b="1">
                <a:solidFill>
                  <a:srgbClr val="FF0000"/>
                </a:solidFill>
              </a:rPr>
              <a:t>Abertura</a:t>
            </a:r>
            <a:r>
              <a:rPr lang="pt-BR"/>
              <a:t> de um conjunto A por um elemento estruturante</a:t>
            </a:r>
            <a:br>
              <a:rPr lang="pt-BR"/>
            </a:br>
            <a:r>
              <a:rPr lang="pt-BR"/>
              <a:t>B, é definida como:</a:t>
            </a:r>
          </a:p>
        </p:txBody>
      </p:sp>
      <p:graphicFrame>
        <p:nvGraphicFramePr>
          <p:cNvPr id="31750" name="Object 6"/>
          <p:cNvGraphicFramePr>
            <a:graphicFrameLocks noChangeAspect="1"/>
          </p:cNvGraphicFramePr>
          <p:nvPr/>
        </p:nvGraphicFramePr>
        <p:xfrm>
          <a:off x="2209800" y="4800600"/>
          <a:ext cx="3403600" cy="5794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203040" progId="Equation.3">
                  <p:embed/>
                </p:oleObj>
              </mc:Choice>
              <mc:Fallback>
                <p:oleObj name="Equation" r:id="rId2" imgW="1193760" imgH="203040" progId="Equation.3">
                  <p:embed/>
                  <p:pic>
                    <p:nvPicPr>
                      <p:cNvPr id="3175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800600"/>
                        <a:ext cx="3403600" cy="5794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16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F1055-D31C-4BF4-B155-BE19FA0BFD41}" type="slidenum">
              <a:rPr lang="pt-BR"/>
              <a:pPr/>
              <a:t>29</a:t>
            </a:fld>
            <a:endParaRPr lang="pt-BR"/>
          </a:p>
        </p:txBody>
      </p:sp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>
          <a:xfrm>
            <a:off x="1066800" y="228600"/>
            <a:ext cx="1676400" cy="38100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pt-BR" sz="2400">
                <a:solidFill>
                  <a:srgbClr val="FF0000"/>
                </a:solidFill>
              </a:rPr>
              <a:t>Exemplo:</a:t>
            </a:r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334645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600200"/>
            <a:ext cx="6048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797" name="Text Box 5"/>
          <p:cNvSpPr txBox="1">
            <a:spLocks noChangeArrowheads="1"/>
          </p:cNvSpPr>
          <p:nvPr/>
        </p:nvSpPr>
        <p:spPr bwMode="auto">
          <a:xfrm>
            <a:off x="6553200" y="2133600"/>
            <a:ext cx="396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2000"/>
              <a:t>B</a:t>
            </a:r>
          </a:p>
        </p:txBody>
      </p:sp>
      <p:sp>
        <p:nvSpPr>
          <p:cNvPr id="33798" name="Text Box 6"/>
          <p:cNvSpPr txBox="1">
            <a:spLocks noChangeArrowheads="1"/>
          </p:cNvSpPr>
          <p:nvPr/>
        </p:nvSpPr>
        <p:spPr bwMode="auto">
          <a:xfrm>
            <a:off x="5241925" y="1030288"/>
            <a:ext cx="3217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Elemento Estruturante</a:t>
            </a:r>
          </a:p>
        </p:txBody>
      </p:sp>
      <p:sp>
        <p:nvSpPr>
          <p:cNvPr id="33799" name="Text Box 7"/>
          <p:cNvSpPr txBox="1">
            <a:spLocks noChangeArrowheads="1"/>
          </p:cNvSpPr>
          <p:nvPr/>
        </p:nvSpPr>
        <p:spPr bwMode="auto">
          <a:xfrm>
            <a:off x="1660525" y="801688"/>
            <a:ext cx="128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Imagem</a:t>
            </a:r>
          </a:p>
        </p:txBody>
      </p:sp>
      <p:pic>
        <p:nvPicPr>
          <p:cNvPr id="33800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48000"/>
            <a:ext cx="3414713" cy="1463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801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3048000"/>
            <a:ext cx="2459038" cy="1336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802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4648200"/>
            <a:ext cx="2974975" cy="160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3803" name="Picture 1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572000"/>
            <a:ext cx="3141663" cy="1638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3804" name="Text Box 12"/>
          <p:cNvSpPr txBox="1">
            <a:spLocks noChangeArrowheads="1"/>
          </p:cNvSpPr>
          <p:nvPr/>
        </p:nvSpPr>
        <p:spPr bwMode="auto">
          <a:xfrm>
            <a:off x="1889125" y="2754313"/>
            <a:ext cx="989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000"/>
              <a:t>Erosão</a:t>
            </a:r>
          </a:p>
        </p:txBody>
      </p:sp>
      <p:sp>
        <p:nvSpPr>
          <p:cNvPr id="33805" name="Text Box 13"/>
          <p:cNvSpPr txBox="1">
            <a:spLocks noChangeArrowheads="1"/>
          </p:cNvSpPr>
          <p:nvPr/>
        </p:nvSpPr>
        <p:spPr bwMode="auto">
          <a:xfrm>
            <a:off x="2346325" y="4506913"/>
            <a:ext cx="124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000"/>
              <a:t>Dilatação</a:t>
            </a:r>
          </a:p>
        </p:txBody>
      </p:sp>
      <p:sp>
        <p:nvSpPr>
          <p:cNvPr id="33806" name="Text Box 14"/>
          <p:cNvSpPr txBox="1">
            <a:spLocks noChangeArrowheads="1"/>
          </p:cNvSpPr>
          <p:nvPr/>
        </p:nvSpPr>
        <p:spPr bwMode="auto">
          <a:xfrm>
            <a:off x="5943600" y="6172200"/>
            <a:ext cx="11572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000"/>
              <a:t>Abertura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804" grpId="0" autoUpdateAnimBg="0"/>
      <p:bldP spid="33805" grpId="0" autoUpdateAnimBg="0"/>
      <p:bldP spid="33806" grpId="0" autoUpdateAnimBg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8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6329BE-7A24-4548-B3C6-C92D883D2F0F}" type="slidenum">
              <a:rPr lang="pt-BR"/>
              <a:pPr/>
              <a:t>30</a:t>
            </a:fld>
            <a:endParaRPr lang="pt-BR"/>
          </a:p>
        </p:txBody>
      </p:sp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Considerações: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381000" y="1295400"/>
            <a:ext cx="7620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>
                <a:cs typeface="Times New Roman" pitchFamily="18" charset="0"/>
              </a:rPr>
              <a:t> A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Abertura</a:t>
            </a:r>
            <a:r>
              <a:rPr lang="pt-BR">
                <a:cs typeface="Times New Roman" pitchFamily="18" charset="0"/>
              </a:rPr>
              <a:t> tende a abrir pequenos vazios ou </a:t>
            </a:r>
            <a:br>
              <a:rPr lang="pt-BR">
                <a:cs typeface="Times New Roman" pitchFamily="18" charset="0"/>
              </a:rPr>
            </a:br>
            <a:r>
              <a:rPr lang="pt-BR">
                <a:cs typeface="Times New Roman" pitchFamily="18" charset="0"/>
              </a:rPr>
              <a:t>     espaços entre objetos próximos numa imagem.</a:t>
            </a:r>
            <a:r>
              <a:rPr lang="pt-BR"/>
              <a:t> </a:t>
            </a:r>
          </a:p>
        </p:txBody>
      </p:sp>
      <p:sp>
        <p:nvSpPr>
          <p:cNvPr id="36868" name="Text Box 4"/>
          <p:cNvSpPr txBox="1">
            <a:spLocks noChangeArrowheads="1"/>
          </p:cNvSpPr>
          <p:nvPr/>
        </p:nvSpPr>
        <p:spPr bwMode="auto">
          <a:xfrm>
            <a:off x="381000" y="2590800"/>
            <a:ext cx="7620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>
                <a:cs typeface="Times New Roman" pitchFamily="18" charset="0"/>
              </a:rPr>
              <a:t> A operação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Abertura</a:t>
            </a:r>
            <a:r>
              <a:rPr lang="pt-BR">
                <a:cs typeface="Times New Roman" pitchFamily="18" charset="0"/>
              </a:rPr>
              <a:t> é usada também para</a:t>
            </a:r>
            <a:br>
              <a:rPr lang="pt-BR">
                <a:cs typeface="Times New Roman" pitchFamily="18" charset="0"/>
              </a:rPr>
            </a:br>
            <a:r>
              <a:rPr lang="pt-BR">
                <a:cs typeface="Times New Roman" pitchFamily="18" charset="0"/>
              </a:rPr>
              <a:t>     remover ruídos da imagem. </a:t>
            </a:r>
            <a:endParaRPr lang="pt-BR"/>
          </a:p>
        </p:txBody>
      </p:sp>
      <p:sp>
        <p:nvSpPr>
          <p:cNvPr id="36869" name="Text Box 5"/>
          <p:cNvSpPr txBox="1">
            <a:spLocks noChangeArrowheads="1"/>
          </p:cNvSpPr>
          <p:nvPr/>
        </p:nvSpPr>
        <p:spPr bwMode="auto">
          <a:xfrm>
            <a:off x="381000" y="3657600"/>
            <a:ext cx="80010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>
                <a:cs typeface="Times New Roman" pitchFamily="18" charset="0"/>
              </a:rPr>
              <a:t> Pontos pretos aleatórios e isolados podem ser</a:t>
            </a:r>
            <a:br>
              <a:rPr lang="pt-BR">
                <a:cs typeface="Times New Roman" pitchFamily="18" charset="0"/>
              </a:rPr>
            </a:br>
            <a:r>
              <a:rPr lang="pt-BR">
                <a:cs typeface="Times New Roman" pitchFamily="18" charset="0"/>
              </a:rPr>
              <a:t>    removidos pela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Erosão</a:t>
            </a:r>
            <a:r>
              <a:rPr lang="pt-BR">
                <a:cs typeface="Times New Roman" pitchFamily="18" charset="0"/>
              </a:rPr>
              <a:t> e a forma dos objetos é </a:t>
            </a:r>
            <a:br>
              <a:rPr lang="pt-BR">
                <a:cs typeface="Times New Roman" pitchFamily="18" charset="0"/>
              </a:rPr>
            </a:br>
            <a:r>
              <a:rPr lang="pt-BR">
                <a:cs typeface="Times New Roman" pitchFamily="18" charset="0"/>
              </a:rPr>
              <a:t>    recuperada pela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Dilatação</a:t>
            </a:r>
            <a:r>
              <a:rPr lang="pt-BR">
                <a:cs typeface="Times New Roman" pitchFamily="18" charset="0"/>
              </a:rPr>
              <a:t> sem restaurar o ruído.</a:t>
            </a:r>
          </a:p>
        </p:txBody>
      </p:sp>
      <p:sp>
        <p:nvSpPr>
          <p:cNvPr id="36870" name="Text Box 6"/>
          <p:cNvSpPr txBox="1">
            <a:spLocks noChangeArrowheads="1"/>
          </p:cNvSpPr>
          <p:nvPr/>
        </p:nvSpPr>
        <p:spPr bwMode="auto">
          <a:xfrm>
            <a:off x="381000" y="5181600"/>
            <a:ext cx="78486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>
                <a:cs typeface="Times New Roman" pitchFamily="18" charset="0"/>
              </a:rPr>
              <a:t>  Este processo é útil apenas para remover pontos</a:t>
            </a:r>
            <a:br>
              <a:rPr lang="pt-BR">
                <a:cs typeface="Times New Roman" pitchFamily="18" charset="0"/>
              </a:rPr>
            </a:br>
            <a:r>
              <a:rPr lang="pt-BR">
                <a:cs typeface="Times New Roman" pitchFamily="18" charset="0"/>
              </a:rPr>
              <a:t>     pretos de ruído mas não serve para pontos brancos</a:t>
            </a:r>
            <a:br>
              <a:rPr lang="pt-BR">
                <a:cs typeface="Times New Roman" pitchFamily="18" charset="0"/>
              </a:rPr>
            </a:br>
            <a:r>
              <a:rPr lang="pt-BR">
                <a:cs typeface="Times New Roman" pitchFamily="18" charset="0"/>
              </a:rPr>
              <a:t>     espúrios.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7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2085F-56EB-4200-AD2B-F0522062DFD5}" type="slidenum">
              <a:rPr lang="pt-BR"/>
              <a:pPr/>
              <a:t>31</a:t>
            </a:fld>
            <a:endParaRPr lang="pt-BR"/>
          </a:p>
        </p:txBody>
      </p:sp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52400"/>
            <a:ext cx="3200400" cy="533400"/>
          </a:xfrm>
        </p:spPr>
        <p:txBody>
          <a:bodyPr/>
          <a:lstStyle/>
          <a:p>
            <a:r>
              <a:rPr lang="pt-BR"/>
              <a:t>Fechamento: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381000" y="1219200"/>
            <a:ext cx="8558213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/>
              <a:t> A operação de </a:t>
            </a:r>
            <a:r>
              <a:rPr lang="pt-BR" b="1">
                <a:solidFill>
                  <a:srgbClr val="FF0000"/>
                </a:solidFill>
              </a:rPr>
              <a:t>Fechamento</a:t>
            </a:r>
            <a:r>
              <a:rPr lang="pt-BR"/>
              <a:t> também tende a suavizar os</a:t>
            </a:r>
            <a:br>
              <a:rPr lang="pt-BR"/>
            </a:br>
            <a:r>
              <a:rPr lang="pt-BR"/>
              <a:t>    contornos, mas geralmente funde partes, elimina pequenos</a:t>
            </a:r>
            <a:br>
              <a:rPr lang="pt-BR"/>
            </a:br>
            <a:r>
              <a:rPr lang="pt-BR"/>
              <a:t>     buracos e preenche fendas em um contorno.</a:t>
            </a:r>
          </a:p>
        </p:txBody>
      </p:sp>
      <p:sp>
        <p:nvSpPr>
          <p:cNvPr id="38916" name="Text Box 4"/>
          <p:cNvSpPr txBox="1">
            <a:spLocks noChangeArrowheads="1"/>
          </p:cNvSpPr>
          <p:nvPr/>
        </p:nvSpPr>
        <p:spPr bwMode="auto">
          <a:xfrm>
            <a:off x="822325" y="2859088"/>
            <a:ext cx="762158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O Fechamento de A por um elemento estruturante B, é</a:t>
            </a:r>
            <a:br>
              <a:rPr lang="pt-BR"/>
            </a:br>
            <a:r>
              <a:rPr lang="pt-BR"/>
              <a:t>definido como:</a:t>
            </a:r>
          </a:p>
        </p:txBody>
      </p:sp>
      <p:graphicFrame>
        <p:nvGraphicFramePr>
          <p:cNvPr id="38917" name="Object 5"/>
          <p:cNvGraphicFramePr>
            <a:graphicFrameLocks noChangeAspect="1"/>
          </p:cNvGraphicFramePr>
          <p:nvPr/>
        </p:nvGraphicFramePr>
        <p:xfrm>
          <a:off x="2743200" y="4343400"/>
          <a:ext cx="3721100" cy="633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760" imgH="203040" progId="Equation.3">
                  <p:embed/>
                </p:oleObj>
              </mc:Choice>
              <mc:Fallback>
                <p:oleObj name="Equation" r:id="rId2" imgW="1193760" imgH="203040" progId="Equation.3">
                  <p:embed/>
                  <p:pic>
                    <p:nvPicPr>
                      <p:cNvPr id="3891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3200" y="4343400"/>
                        <a:ext cx="3721100" cy="633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1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0734B6-C44E-4990-A955-B572473326EC}" type="slidenum">
              <a:rPr lang="pt-BR"/>
              <a:pPr/>
              <a:t>32</a:t>
            </a:fld>
            <a:endParaRPr lang="pt-BR"/>
          </a:p>
        </p:txBody>
      </p:sp>
      <p:sp>
        <p:nvSpPr>
          <p:cNvPr id="39938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152400"/>
            <a:ext cx="1828800" cy="457200"/>
          </a:xfrm>
          <a:ln>
            <a:solidFill>
              <a:srgbClr val="FF0000"/>
            </a:solidFill>
            <a:miter lim="800000"/>
            <a:headEnd/>
            <a:tailEnd/>
          </a:ln>
        </p:spPr>
        <p:txBody>
          <a:bodyPr/>
          <a:lstStyle/>
          <a:p>
            <a:r>
              <a:rPr lang="pt-BR" sz="2400">
                <a:solidFill>
                  <a:srgbClr val="FF0000"/>
                </a:solidFill>
              </a:rPr>
              <a:t>Exemplo:</a:t>
            </a:r>
          </a:p>
        </p:txBody>
      </p:sp>
      <p:pic>
        <p:nvPicPr>
          <p:cNvPr id="39939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3346450" cy="1581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4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00800" y="1600200"/>
            <a:ext cx="604838" cy="488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941" name="Text Box 5"/>
          <p:cNvSpPr txBox="1">
            <a:spLocks noChangeArrowheads="1"/>
          </p:cNvSpPr>
          <p:nvPr/>
        </p:nvSpPr>
        <p:spPr bwMode="auto">
          <a:xfrm>
            <a:off x="6553200" y="2133600"/>
            <a:ext cx="39687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pt-BR" sz="2000"/>
              <a:t>B</a:t>
            </a:r>
          </a:p>
        </p:txBody>
      </p:sp>
      <p:sp>
        <p:nvSpPr>
          <p:cNvPr id="39942" name="Text Box 6"/>
          <p:cNvSpPr txBox="1">
            <a:spLocks noChangeArrowheads="1"/>
          </p:cNvSpPr>
          <p:nvPr/>
        </p:nvSpPr>
        <p:spPr bwMode="auto">
          <a:xfrm>
            <a:off x="5241925" y="1030288"/>
            <a:ext cx="32178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Elemento Estruturante</a:t>
            </a:r>
          </a:p>
        </p:txBody>
      </p:sp>
      <p:sp>
        <p:nvSpPr>
          <p:cNvPr id="39943" name="Text Box 7"/>
          <p:cNvSpPr txBox="1">
            <a:spLocks noChangeArrowheads="1"/>
          </p:cNvSpPr>
          <p:nvPr/>
        </p:nvSpPr>
        <p:spPr bwMode="auto">
          <a:xfrm>
            <a:off x="1660525" y="801688"/>
            <a:ext cx="12858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Imagem</a:t>
            </a:r>
          </a:p>
        </p:txBody>
      </p:sp>
      <p:pic>
        <p:nvPicPr>
          <p:cNvPr id="39945" name="Picture 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048000"/>
            <a:ext cx="3541713" cy="172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46" name="Picture 1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2971800"/>
            <a:ext cx="3482975" cy="19224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47" name="Picture 1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4876800"/>
            <a:ext cx="3551238" cy="1757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9948" name="Picture 1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4876800"/>
            <a:ext cx="3228975" cy="1628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9949" name="Text Box 13"/>
          <p:cNvSpPr txBox="1">
            <a:spLocks noChangeArrowheads="1"/>
          </p:cNvSpPr>
          <p:nvPr/>
        </p:nvSpPr>
        <p:spPr bwMode="auto">
          <a:xfrm>
            <a:off x="1812925" y="2678113"/>
            <a:ext cx="12446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000"/>
              <a:t>Dilatação</a:t>
            </a:r>
          </a:p>
        </p:txBody>
      </p:sp>
      <p:sp>
        <p:nvSpPr>
          <p:cNvPr id="39950" name="Text Box 14"/>
          <p:cNvSpPr txBox="1">
            <a:spLocks noChangeArrowheads="1"/>
          </p:cNvSpPr>
          <p:nvPr/>
        </p:nvSpPr>
        <p:spPr bwMode="auto">
          <a:xfrm>
            <a:off x="3336925" y="4659313"/>
            <a:ext cx="989013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000"/>
              <a:t>Erosão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8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C5A3BE-B133-4664-AF2F-44316FD36DDE}" type="slidenum">
              <a:rPr lang="pt-BR"/>
              <a:pPr/>
              <a:t>33</a:t>
            </a:fld>
            <a:endParaRPr lang="pt-BR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Considerações:</a:t>
            </a:r>
          </a:p>
        </p:txBody>
      </p:sp>
      <p:sp>
        <p:nvSpPr>
          <p:cNvPr id="40963" name="Text Box 3"/>
          <p:cNvSpPr txBox="1">
            <a:spLocks noChangeArrowheads="1"/>
          </p:cNvSpPr>
          <p:nvPr/>
        </p:nvSpPr>
        <p:spPr bwMode="auto">
          <a:xfrm>
            <a:off x="457200" y="1371600"/>
            <a:ext cx="8077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>
                <a:cs typeface="Times New Roman" pitchFamily="18" charset="0"/>
              </a:rPr>
              <a:t>  A operação de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Fechamento</a:t>
            </a:r>
            <a:r>
              <a:rPr lang="pt-BR">
                <a:cs typeface="Times New Roman" pitchFamily="18" charset="0"/>
              </a:rPr>
              <a:t> irá preencher ou fechar</a:t>
            </a:r>
            <a:br>
              <a:rPr lang="pt-BR">
                <a:cs typeface="Times New Roman" pitchFamily="18" charset="0"/>
              </a:rPr>
            </a:br>
            <a:r>
              <a:rPr lang="pt-BR">
                <a:cs typeface="Times New Roman" pitchFamily="18" charset="0"/>
              </a:rPr>
              <a:t>     os vazios.</a:t>
            </a:r>
            <a:r>
              <a:rPr lang="pt-BR"/>
              <a:t> </a:t>
            </a:r>
          </a:p>
        </p:txBody>
      </p:sp>
      <p:sp>
        <p:nvSpPr>
          <p:cNvPr id="40964" name="Text Box 4"/>
          <p:cNvSpPr txBox="1">
            <a:spLocks noChangeArrowheads="1"/>
          </p:cNvSpPr>
          <p:nvPr/>
        </p:nvSpPr>
        <p:spPr bwMode="auto">
          <a:xfrm>
            <a:off x="457200" y="2667000"/>
            <a:ext cx="84582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itchFamily="2" charset="2"/>
              <a:buChar char="q"/>
            </a:pPr>
            <a:r>
              <a:rPr lang="pt-BR">
                <a:cs typeface="Times New Roman" pitchFamily="18" charset="0"/>
              </a:rPr>
              <a:t>  A operação </a:t>
            </a:r>
            <a:r>
              <a:rPr lang="pt-BR" b="1">
                <a:solidFill>
                  <a:srgbClr val="FF0000"/>
                </a:solidFill>
                <a:cs typeface="Times New Roman" pitchFamily="18" charset="0"/>
              </a:rPr>
              <a:t>Fechamento</a:t>
            </a:r>
            <a:r>
              <a:rPr lang="pt-BR">
                <a:cs typeface="Times New Roman" pitchFamily="18" charset="0"/>
              </a:rPr>
              <a:t> pode remover muitos dos pixels</a:t>
            </a:r>
            <a:br>
              <a:rPr lang="pt-BR">
                <a:cs typeface="Times New Roman" pitchFamily="18" charset="0"/>
              </a:rPr>
            </a:br>
            <a:r>
              <a:rPr lang="pt-BR">
                <a:cs typeface="Times New Roman" pitchFamily="18" charset="0"/>
              </a:rPr>
              <a:t>     brancos de ruído. </a:t>
            </a:r>
          </a:p>
        </p:txBody>
      </p:sp>
      <p:sp>
        <p:nvSpPr>
          <p:cNvPr id="40965" name="Text Box 5"/>
          <p:cNvSpPr txBox="1">
            <a:spLocks noChangeArrowheads="1"/>
          </p:cNvSpPr>
          <p:nvPr/>
        </p:nvSpPr>
        <p:spPr bwMode="auto">
          <a:xfrm>
            <a:off x="457200" y="3962400"/>
            <a:ext cx="83375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pt-BR"/>
              <a:t>  A </a:t>
            </a:r>
            <a:r>
              <a:rPr lang="pt-BR" b="1">
                <a:solidFill>
                  <a:srgbClr val="FF0000"/>
                </a:solidFill>
              </a:rPr>
              <a:t>Abertura</a:t>
            </a:r>
            <a:r>
              <a:rPr lang="pt-BR"/>
              <a:t> e o </a:t>
            </a:r>
            <a:r>
              <a:rPr lang="pt-BR" b="1">
                <a:solidFill>
                  <a:srgbClr val="FF0000"/>
                </a:solidFill>
              </a:rPr>
              <a:t>Fechamento</a:t>
            </a:r>
            <a:r>
              <a:rPr lang="pt-BR"/>
              <a:t> são operações duais </a:t>
            </a:r>
            <a:br>
              <a:rPr lang="pt-BR"/>
            </a:br>
            <a:r>
              <a:rPr lang="pt-BR"/>
              <a:t>    relativamente à complementação e reflexão de conjuntos:</a:t>
            </a:r>
          </a:p>
        </p:txBody>
      </p:sp>
      <p:graphicFrame>
        <p:nvGraphicFramePr>
          <p:cNvPr id="40966" name="Object 6"/>
          <p:cNvGraphicFramePr>
            <a:graphicFrameLocks noChangeAspect="1"/>
          </p:cNvGraphicFramePr>
          <p:nvPr/>
        </p:nvGraphicFramePr>
        <p:xfrm>
          <a:off x="2667000" y="5181600"/>
          <a:ext cx="33655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55600" imgH="241200" progId="Equation.3">
                  <p:embed/>
                </p:oleObj>
              </mc:Choice>
              <mc:Fallback>
                <p:oleObj name="Equation" r:id="rId2" imgW="1155600" imgH="241200" progId="Equation.3">
                  <p:embed/>
                  <p:pic>
                    <p:nvPicPr>
                      <p:cNvPr id="4096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7000" y="5181600"/>
                        <a:ext cx="3365500" cy="703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Aula 9 - Visão Computacional</a:t>
            </a:r>
          </a:p>
        </p:txBody>
      </p:sp>
      <p:sp>
        <p:nvSpPr>
          <p:cNvPr id="8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0B4A76-6060-4151-929B-6E16F6180E57}" type="slidenum">
              <a:rPr lang="pt-BR"/>
              <a:pPr/>
              <a:t>34</a:t>
            </a:fld>
            <a:endParaRPr lang="pt-BR"/>
          </a:p>
        </p:txBody>
      </p:sp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Exemplo: Filtro Morfológico.</a:t>
            </a:r>
          </a:p>
        </p:txBody>
      </p:sp>
      <p:pic>
        <p:nvPicPr>
          <p:cNvPr id="4403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447800"/>
            <a:ext cx="7697788" cy="3648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403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990600"/>
            <a:ext cx="565150" cy="5270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4037" name="Text Box 5"/>
          <p:cNvSpPr txBox="1">
            <a:spLocks noChangeArrowheads="1"/>
          </p:cNvSpPr>
          <p:nvPr/>
        </p:nvSpPr>
        <p:spPr bwMode="auto">
          <a:xfrm>
            <a:off x="1508125" y="925513"/>
            <a:ext cx="6415088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 sz="2000"/>
              <a:t>Elemento Estruturante, maior que qualquer ruído em A.</a:t>
            </a:r>
          </a:p>
        </p:txBody>
      </p:sp>
      <p:sp>
        <p:nvSpPr>
          <p:cNvPr id="44038" name="Text Box 6"/>
          <p:cNvSpPr txBox="1">
            <a:spLocks noChangeArrowheads="1"/>
          </p:cNvSpPr>
          <p:nvPr/>
        </p:nvSpPr>
        <p:spPr bwMode="auto">
          <a:xfrm>
            <a:off x="898525" y="5297488"/>
            <a:ext cx="79152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pt-BR"/>
              <a:t>Um filtro para ruídos isolados, pode ser realizado através</a:t>
            </a:r>
            <a:br>
              <a:rPr lang="pt-BR"/>
            </a:br>
            <a:r>
              <a:rPr lang="pt-BR"/>
              <a:t>de uma </a:t>
            </a:r>
            <a:r>
              <a:rPr lang="pt-BR" b="1">
                <a:solidFill>
                  <a:srgbClr val="FF0000"/>
                </a:solidFill>
              </a:rPr>
              <a:t>Abertura</a:t>
            </a:r>
            <a:r>
              <a:rPr lang="pt-BR"/>
              <a:t> seguida de um </a:t>
            </a:r>
            <a:r>
              <a:rPr lang="pt-BR" b="1">
                <a:solidFill>
                  <a:srgbClr val="FF0000"/>
                </a:solidFill>
              </a:rPr>
              <a:t>Fechamento</a:t>
            </a:r>
            <a:r>
              <a:rPr lang="pt-BR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apsulas">
  <a:themeElements>
    <a:clrScheme name="Capsulas 2">
      <a:dk1>
        <a:srgbClr val="003366"/>
      </a:dk1>
      <a:lt1>
        <a:srgbClr val="FFFFFF"/>
      </a:lt1>
      <a:dk2>
        <a:srgbClr val="006666"/>
      </a:dk2>
      <a:lt2>
        <a:srgbClr val="003366"/>
      </a:lt2>
      <a:accent1>
        <a:srgbClr val="99CC99"/>
      </a:accent1>
      <a:accent2>
        <a:srgbClr val="33CCCC"/>
      </a:accent2>
      <a:accent3>
        <a:srgbClr val="FFFFFF"/>
      </a:accent3>
      <a:accent4>
        <a:srgbClr val="002A56"/>
      </a:accent4>
      <a:accent5>
        <a:srgbClr val="CAE2CA"/>
      </a:accent5>
      <a:accent6>
        <a:srgbClr val="2DB9B9"/>
      </a:accent6>
      <a:hlink>
        <a:srgbClr val="666699"/>
      </a:hlink>
      <a:folHlink>
        <a:srgbClr val="CC99FF"/>
      </a:folHlink>
    </a:clrScheme>
    <a:fontScheme name="Capsula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pt-BR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Capsulas 1">
        <a:dk1>
          <a:srgbClr val="000066"/>
        </a:dk1>
        <a:lt1>
          <a:srgbClr val="FFFFEB"/>
        </a:lt1>
        <a:dk2>
          <a:srgbClr val="336699"/>
        </a:dk2>
        <a:lt2>
          <a:srgbClr val="FFFFEB"/>
        </a:lt2>
        <a:accent1>
          <a:srgbClr val="666699"/>
        </a:accent1>
        <a:accent2>
          <a:srgbClr val="99CCFF"/>
        </a:accent2>
        <a:accent3>
          <a:srgbClr val="ADB8CA"/>
        </a:accent3>
        <a:accent4>
          <a:srgbClr val="DADAC9"/>
        </a:accent4>
        <a:accent5>
          <a:srgbClr val="B8B8CA"/>
        </a:accent5>
        <a:accent6>
          <a:srgbClr val="8AB9E7"/>
        </a:accent6>
        <a:hlink>
          <a:srgbClr val="CCCCFF"/>
        </a:hlink>
        <a:folHlink>
          <a:srgbClr val="C68D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psulas 2">
        <a:dk1>
          <a:srgbClr val="003366"/>
        </a:dk1>
        <a:lt1>
          <a:srgbClr val="FFFFFF"/>
        </a:lt1>
        <a:dk2>
          <a:srgbClr val="006666"/>
        </a:dk2>
        <a:lt2>
          <a:srgbClr val="003366"/>
        </a:lt2>
        <a:accent1>
          <a:srgbClr val="99CC99"/>
        </a:accent1>
        <a:accent2>
          <a:srgbClr val="33CCCC"/>
        </a:accent2>
        <a:accent3>
          <a:srgbClr val="FFFFFF"/>
        </a:accent3>
        <a:accent4>
          <a:srgbClr val="002A56"/>
        </a:accent4>
        <a:accent5>
          <a:srgbClr val="CAE2CA"/>
        </a:accent5>
        <a:accent6>
          <a:srgbClr val="2DB9B9"/>
        </a:accent6>
        <a:hlink>
          <a:srgbClr val="666699"/>
        </a:hlink>
        <a:folHlink>
          <a:srgbClr val="CC99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a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psulas 4">
        <a:dk1>
          <a:srgbClr val="000000"/>
        </a:dk1>
        <a:lt1>
          <a:srgbClr val="FFFFFF"/>
        </a:lt1>
        <a:dk2>
          <a:srgbClr val="9900CC"/>
        </a:dk2>
        <a:lt2>
          <a:srgbClr val="0033CC"/>
        </a:lt2>
        <a:accent1>
          <a:srgbClr val="FFCC66"/>
        </a:accent1>
        <a:accent2>
          <a:srgbClr val="33CC33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2DB92D"/>
        </a:accent6>
        <a:hlink>
          <a:srgbClr val="9900CC"/>
        </a:hlink>
        <a:folHlink>
          <a:srgbClr val="9900C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97B6610C1FC8AB48BA79369D9F0FA2AE" ma:contentTypeVersion="0" ma:contentTypeDescription="Crie um novo documento." ma:contentTypeScope="" ma:versionID="bb0d639e4679164d038a7d1ea4c9b26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97561fba88d9dece65508bac662637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8464297-CF0D-4756-B34E-7BF1EA43DD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59250C0-F934-4110-B366-E84CA450B23E}"/>
</file>

<file path=customXml/itemProps3.xml><?xml version="1.0" encoding="utf-8"?>
<ds:datastoreItem xmlns:ds="http://schemas.openxmlformats.org/officeDocument/2006/customXml" ds:itemID="{B0422E1C-9C28-4708-816B-689262271076}">
  <ds:schemaRefs>
    <ds:schemaRef ds:uri="http://schemas.openxmlformats.org/package/2006/metadata/core-properties"/>
    <ds:schemaRef ds:uri="http://purl.org/dc/terms/"/>
    <ds:schemaRef ds:uri="http://purl.org/dc/elements/1.1/"/>
    <ds:schemaRef ds:uri="http://schemas.microsoft.com/office/2006/metadata/properties"/>
    <ds:schemaRef ds:uri="d3277c54-f02d-4e77-a007-b35c2ed6fb24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C:\Arquivos de programas\Microsoft Office\Templates\Estruturas de apresentação\Capsulas.pot</Template>
  <TotalTime>2289</TotalTime>
  <Words>2080</Words>
  <Application>Microsoft Office PowerPoint</Application>
  <PresentationFormat>Apresentação na tela (4:3)</PresentationFormat>
  <Paragraphs>517</Paragraphs>
  <Slides>34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34</vt:i4>
      </vt:variant>
    </vt:vector>
  </HeadingPairs>
  <TitlesOfParts>
    <vt:vector size="41" baseType="lpstr">
      <vt:lpstr>Arial</vt:lpstr>
      <vt:lpstr>Arioso</vt:lpstr>
      <vt:lpstr>Tahoma</vt:lpstr>
      <vt:lpstr>Times New Roman</vt:lpstr>
      <vt:lpstr>Wingdings</vt:lpstr>
      <vt:lpstr>Capsulas</vt:lpstr>
      <vt:lpstr>Equation</vt:lpstr>
      <vt:lpstr>Aula 9   Morfologia Matemática</vt:lpstr>
      <vt:lpstr>Morfologia:</vt:lpstr>
      <vt:lpstr>Definições Básicas:</vt:lpstr>
      <vt:lpstr>Definições Básicas:</vt:lpstr>
      <vt:lpstr>Definições Básicas:</vt:lpstr>
      <vt:lpstr>Definições Básicas:</vt:lpstr>
      <vt:lpstr>Definições Básicas:</vt:lpstr>
      <vt:lpstr>Definições Básicas:</vt:lpstr>
      <vt:lpstr>Dilatação:</vt:lpstr>
      <vt:lpstr>Dilatação:</vt:lpstr>
      <vt:lpstr>Dilatação:</vt:lpstr>
      <vt:lpstr>Dilatação:</vt:lpstr>
      <vt:lpstr>Apresentação do PowerPoint</vt:lpstr>
      <vt:lpstr>Apresentação do PowerPoint</vt:lpstr>
      <vt:lpstr>Exemplo 2:</vt:lpstr>
      <vt:lpstr>Dilatação:</vt:lpstr>
      <vt:lpstr>Exemplo:</vt:lpstr>
      <vt:lpstr>Adição de Minkowsky</vt:lpstr>
      <vt:lpstr>Dilatação:</vt:lpstr>
      <vt:lpstr>Erosão:</vt:lpstr>
      <vt:lpstr>Exemplo:</vt:lpstr>
      <vt:lpstr>Erosão:</vt:lpstr>
      <vt:lpstr>Apresentação do PowerPoint</vt:lpstr>
      <vt:lpstr>Exemplo 2:</vt:lpstr>
      <vt:lpstr>Erosão:</vt:lpstr>
      <vt:lpstr>Exemplo:</vt:lpstr>
      <vt:lpstr>Considerações:</vt:lpstr>
      <vt:lpstr>Abertura:</vt:lpstr>
      <vt:lpstr>Exemplo:</vt:lpstr>
      <vt:lpstr>Considerações:</vt:lpstr>
      <vt:lpstr>Fechamento:</vt:lpstr>
      <vt:lpstr>Exemplo:</vt:lpstr>
      <vt:lpstr>Considerações:</vt:lpstr>
      <vt:lpstr>Exemplo: Filtro Morfológico.</vt:lpstr>
    </vt:vector>
  </TitlesOfParts>
  <Company>SEL-EESC-USP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9   Morfologia Matemática</dc:title>
  <dc:creator>Adilson Gonzaga</dc:creator>
  <cp:lastModifiedBy>Bruno Augusto Nassif Travencolo</cp:lastModifiedBy>
  <cp:revision>45</cp:revision>
  <dcterms:created xsi:type="dcterms:W3CDTF">2001-09-22T18:16:34Z</dcterms:created>
  <dcterms:modified xsi:type="dcterms:W3CDTF">2023-10-19T00:13:49Z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0x01010097B6610C1FC8AB48BA79369D9F0FA2AE</vt:lpwstr>
  </property>
  <property fmtid="{D5CDD505-2E9C-101B-9397-08002B2CF9AE}" pid="3" name="Order">
    <vt:r8>1200</vt:r8>
  </property>
  <property fmtid="{D5CDD505-2E9C-101B-9397-08002B2CF9AE}" pid="4" name="xd_Signature">
    <vt:bool>false</vt:bool>
  </property>
  <property fmtid="{D5CDD505-2E9C-101B-9397-08002B2CF9AE}" pid="5" name="xd_ProgID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ComplianceAssetId">
    <vt:lpwstr/>
  </property>
  <property fmtid="{D5CDD505-2E9C-101B-9397-08002B2CF9AE}" pid="9" name="TemplateUrl">
    <vt:lpwstr/>
  </property>
</Properties>
</file>