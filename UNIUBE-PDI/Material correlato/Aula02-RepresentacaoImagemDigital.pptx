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8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92" r:id="rId4"/>
    <p:sldId id="293" r:id="rId5"/>
    <p:sldId id="294" r:id="rId6"/>
    <p:sldId id="263" r:id="rId7"/>
    <p:sldId id="295" r:id="rId8"/>
    <p:sldId id="296" r:id="rId9"/>
    <p:sldId id="266" r:id="rId10"/>
    <p:sldId id="267" r:id="rId11"/>
    <p:sldId id="268" r:id="rId12"/>
    <p:sldId id="297" r:id="rId13"/>
    <p:sldId id="298" r:id="rId14"/>
    <p:sldId id="299" r:id="rId15"/>
    <p:sldId id="300" r:id="rId16"/>
    <p:sldId id="301" r:id="rId17"/>
    <p:sldId id="302" r:id="rId18"/>
    <p:sldId id="275" r:id="rId19"/>
    <p:sldId id="276" r:id="rId20"/>
    <p:sldId id="277" r:id="rId21"/>
    <p:sldId id="303" r:id="rId22"/>
    <p:sldId id="304" r:id="rId23"/>
    <p:sldId id="280" r:id="rId24"/>
    <p:sldId id="305" r:id="rId25"/>
    <p:sldId id="306" r:id="rId26"/>
    <p:sldId id="311" r:id="rId27"/>
    <p:sldId id="307" r:id="rId28"/>
    <p:sldId id="308" r:id="rId29"/>
    <p:sldId id="285" r:id="rId30"/>
    <p:sldId id="309" r:id="rId31"/>
    <p:sldId id="310" r:id="rId32"/>
    <p:sldId id="288" r:id="rId3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E05AE-B2BB-4C1E-80D2-3497655D4AAF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C5C61-DF1A-4E59-A378-918D825A0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01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4031518-8AA5-47CF-B419-163F9A674EEE}" type="datetimeFigureOut">
              <a:rPr lang="pt-BR" smtClean="0"/>
              <a:t>27/08/2018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7BAF25F-3916-497A-A64D-3EDC8408984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digital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Uma imagem é uma função de intensidade luminosa bidimensional f(x,y) que combina uma fonte de iluminação e a reflexão ou absorção de energia a partir desta fonte pelos elementos da cena sendo adquirida.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195736" y="4221088"/>
            <a:ext cx="468052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pt-BR" sz="2900" i="1" dirty="0"/>
              <a:t>f(x,y) = i(x,y) . r(x,y) </a:t>
            </a:r>
          </a:p>
          <a:p>
            <a:pPr algn="just">
              <a:buFontTx/>
              <a:buNone/>
            </a:pPr>
            <a:endParaRPr lang="pt-BR" sz="26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iluminação pode originar de uma fonte de energia eletromagnética ou de outras fontes como ultrassom;</a:t>
            </a:r>
          </a:p>
          <a:p>
            <a:r>
              <a:rPr lang="pt-BR" dirty="0"/>
              <a:t>Dependendo da natureza da fonte, a energia da iluminação é refletida do, ou transmitida através do objeto.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 de aquisição de imagens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/>
              <a:t>Espectro visível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Infra-vermelho</a:t>
            </a:r>
          </a:p>
        </p:txBody>
      </p:sp>
      <p:pic>
        <p:nvPicPr>
          <p:cNvPr id="4" name="Picture 2" descr="C:\Denise\disciplinas\PDI-grad\PDI\imagens\Grayscale_8bits_palette_sample_imag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801" y="2428868"/>
            <a:ext cx="1694753" cy="2259671"/>
          </a:xfrm>
          <a:prstGeom prst="rect">
            <a:avLst/>
          </a:prstGeom>
          <a:noFill/>
        </p:spPr>
      </p:pic>
      <p:pic>
        <p:nvPicPr>
          <p:cNvPr id="5" name="Picture 4" descr="http://www.igeo.pt/atlas/Images/Cap1/Cap1b_p32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5122" y="2500306"/>
            <a:ext cx="3172342" cy="1770167"/>
          </a:xfrm>
          <a:prstGeom prst="rect">
            <a:avLst/>
          </a:prstGeom>
          <a:noFill/>
        </p:spPr>
      </p:pic>
      <p:pic>
        <p:nvPicPr>
          <p:cNvPr id="6" name="Picture 6" descr="http://4.bp.blogspot.com/_jcRekg3qQv4/TMn7hX3UzCI/AAAAAAAAAWg/XthSdXWWW6A/s320/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6" y="4357694"/>
            <a:ext cx="3122858" cy="2293350"/>
          </a:xfrm>
          <a:prstGeom prst="rect">
            <a:avLst/>
          </a:prstGeom>
          <a:noFill/>
        </p:spPr>
      </p:pic>
      <p:pic>
        <p:nvPicPr>
          <p:cNvPr id="7" name="Picture 8" descr="http://www.imagensgratis.com.br/imagens/original/foto-do-paisagens-naturai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2311" y="4795466"/>
            <a:ext cx="2746747" cy="20625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 de aquisição de imagens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 err="1"/>
              <a:t>Raio</a:t>
            </a:r>
            <a:r>
              <a:rPr lang="en-US" dirty="0"/>
              <a:t> </a:t>
            </a:r>
            <a:r>
              <a:rPr lang="en-US" dirty="0" err="1"/>
              <a:t>gama</a:t>
            </a:r>
            <a:endParaRPr lang="pt-BR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Raio</a:t>
            </a:r>
            <a:r>
              <a:rPr lang="en-US" dirty="0"/>
              <a:t> X</a:t>
            </a:r>
            <a:endParaRPr lang="pt-BR" dirty="0"/>
          </a:p>
        </p:txBody>
      </p:sp>
      <p:pic>
        <p:nvPicPr>
          <p:cNvPr id="12" name="Picture 4" descr="Fig0106(b)(PET_image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3286124"/>
            <a:ext cx="1939925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 descr="Fig0107(c)(headCT-Vandy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2428868"/>
            <a:ext cx="2224527" cy="2224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 descr="Fig0106(c)(cygnusloop-gamma)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845" y="2571745"/>
            <a:ext cx="2428891" cy="242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7" descr="Fig0107(e)(cygnusloop-Xray)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72264" y="4357694"/>
            <a:ext cx="2366960" cy="2366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eletromagnéticas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Ondas eletromagnéticas podem ser visualizadas como ondas senoidais que se propagam com o comprimento de onda </a:t>
            </a:r>
            <a:r>
              <a:rPr lang="el-GR" dirty="0">
                <a:latin typeface="Calibri"/>
                <a:cs typeface="Calibri"/>
              </a:rPr>
              <a:t>λ</a:t>
            </a:r>
            <a:endParaRPr lang="pt-B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02" y="4208929"/>
            <a:ext cx="7763306" cy="154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994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Ondas eletromagnéticas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r>
              <a:rPr lang="pt-BR" dirty="0"/>
              <a:t>A Luz e o espectro eletromagnético</a:t>
            </a:r>
          </a:p>
          <a:p>
            <a:r>
              <a:rPr lang="pt-BR" dirty="0"/>
              <a:t>1666 Experimento de Sir Isaac Newton</a:t>
            </a:r>
          </a:p>
        </p:txBody>
      </p:sp>
      <p:pic>
        <p:nvPicPr>
          <p:cNvPr id="5" name="Picture 2" descr="C:\Users\Bruno\Desktop\Dispersion_pr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630" y="2859052"/>
            <a:ext cx="4843182" cy="345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4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Eletromagnético</a:t>
            </a:r>
          </a:p>
        </p:txBody>
      </p:sp>
      <p:pic>
        <p:nvPicPr>
          <p:cNvPr id="5" name="Picture 3" descr="C:\Users\Bruno\Desktop\Electromagnetic-Spectrum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519773" y="152636"/>
            <a:ext cx="4752526" cy="799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77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584" y="1687513"/>
            <a:ext cx="6484937" cy="381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5846763"/>
            <a:ext cx="8104187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/>
              <p:cNvSpPr txBox="1"/>
              <p:nvPr/>
            </p:nvSpPr>
            <p:spPr>
              <a:xfrm>
                <a:off x="275665" y="4356847"/>
                <a:ext cx="2425664" cy="10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r>
                  <a:rPr lang="pt-BR" dirty="0"/>
                  <a:t>c = 2.998x10</a:t>
                </a:r>
                <a:r>
                  <a:rPr lang="pt-BR" baseline="30000" dirty="0"/>
                  <a:t>8</a:t>
                </a:r>
                <a:r>
                  <a:rPr lang="pt-BR" dirty="0"/>
                  <a:t> m/s</a:t>
                </a:r>
                <a:endParaRPr lang="pt-BR" baseline="30000" dirty="0"/>
              </a:p>
            </p:txBody>
          </p:sp>
        </mc:Choice>
        <mc:Fallback xmlns="">
          <p:sp>
            <p:nvSpPr>
              <p:cNvPr id="2" name="CaixaDe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65" y="4356847"/>
                <a:ext cx="2425664" cy="1094210"/>
              </a:xfrm>
              <a:prstGeom prst="rect">
                <a:avLst/>
              </a:prstGeom>
              <a:blipFill rotWithShape="1">
                <a:blip r:embed="rId4"/>
                <a:stretch>
                  <a:fillRect l="-20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1831019" y="3157097"/>
                <a:ext cx="4255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/>
                          <a:ea typeface="Cambria Math"/>
                        </a:rPr>
                        <m:t>𝜆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019" y="3157097"/>
                <a:ext cx="425565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819221" y="2579603"/>
                <a:ext cx="4373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𝑣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21" y="2579603"/>
                <a:ext cx="437363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 Eletromagnético</a:t>
            </a:r>
          </a:p>
        </p:txBody>
      </p:sp>
    </p:spTree>
    <p:extLst>
      <p:ext uri="{BB962C8B-B14F-4D97-AF65-F5344CB8AC3E}">
        <p14:creationId xmlns:p14="http://schemas.microsoft.com/office/powerpoint/2010/main" val="2946726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Luz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pt-BR" dirty="0"/>
              <a:t>Luz é um tipo particular de radiação eletromagnética que pode ser percebida pelo olho humano.</a:t>
            </a:r>
          </a:p>
          <a:p>
            <a:pPr lvl="1"/>
            <a:r>
              <a:rPr lang="pt-BR" dirty="0"/>
              <a:t>Violeta</a:t>
            </a:r>
          </a:p>
          <a:p>
            <a:pPr lvl="1"/>
            <a:r>
              <a:rPr lang="pt-BR" dirty="0"/>
              <a:t>Azul </a:t>
            </a:r>
          </a:p>
          <a:p>
            <a:pPr lvl="1"/>
            <a:r>
              <a:rPr lang="pt-BR" dirty="0"/>
              <a:t>Verde </a:t>
            </a:r>
          </a:p>
          <a:p>
            <a:pPr lvl="1"/>
            <a:r>
              <a:rPr lang="pt-BR" dirty="0"/>
              <a:t>Amarelo </a:t>
            </a:r>
          </a:p>
          <a:p>
            <a:pPr lvl="1"/>
            <a:r>
              <a:rPr lang="pt-BR" dirty="0"/>
              <a:t>Laranja </a:t>
            </a:r>
          </a:p>
          <a:p>
            <a:pPr lvl="1"/>
            <a:r>
              <a:rPr lang="pt-BR" dirty="0"/>
              <a:t>Vermelho</a:t>
            </a:r>
          </a:p>
        </p:txBody>
      </p:sp>
      <p:pic>
        <p:nvPicPr>
          <p:cNvPr id="1163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86" y="2783540"/>
            <a:ext cx="1563048" cy="3823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0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Luz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Luz sem cor</a:t>
            </a:r>
          </a:p>
          <a:p>
            <a:pPr lvl="1"/>
            <a:r>
              <a:rPr lang="pt-BR" dirty="0"/>
              <a:t>luz monocromática ou acromática</a:t>
            </a:r>
          </a:p>
          <a:p>
            <a:pPr lvl="1"/>
            <a:r>
              <a:rPr lang="pt-BR" dirty="0"/>
              <a:t>Único atributo da luz monocromática é sua intensidade</a:t>
            </a:r>
          </a:p>
          <a:p>
            <a:pPr lvl="1"/>
            <a:r>
              <a:rPr lang="pt-BR" dirty="0"/>
              <a:t>Intensidade/Nível de cinza</a:t>
            </a:r>
          </a:p>
          <a:p>
            <a:r>
              <a:rPr lang="pt-BR" dirty="0"/>
              <a:t>Outras medidas básicas de luz cromática</a:t>
            </a:r>
          </a:p>
          <a:p>
            <a:pPr lvl="1"/>
            <a:r>
              <a:rPr lang="pt-BR" dirty="0" err="1"/>
              <a:t>Radiância</a:t>
            </a:r>
            <a:r>
              <a:rPr lang="pt-BR" dirty="0"/>
              <a:t> (energia emitida)</a:t>
            </a:r>
          </a:p>
          <a:p>
            <a:pPr lvl="1"/>
            <a:r>
              <a:rPr lang="pt-BR" dirty="0" err="1"/>
              <a:t>Luminância</a:t>
            </a:r>
            <a:r>
              <a:rPr lang="pt-BR" dirty="0"/>
              <a:t> (energia percebida)</a:t>
            </a:r>
          </a:p>
          <a:p>
            <a:pPr lvl="1"/>
            <a:r>
              <a:rPr lang="pt-BR" dirty="0"/>
              <a:t>Brilho: noção acromática de intensidade</a:t>
            </a:r>
          </a:p>
        </p:txBody>
      </p:sp>
    </p:spTree>
    <p:extLst>
      <p:ext uri="{BB962C8B-B14F-4D97-AF65-F5344CB8AC3E}">
        <p14:creationId xmlns:p14="http://schemas.microsoft.com/office/powerpoint/2010/main" val="779201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Aquisição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: </a:t>
            </a:r>
            <a:r>
              <a:rPr lang="en-US" dirty="0" err="1"/>
              <a:t>Sensores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962400" cy="4572000"/>
          </a:xfrm>
        </p:spPr>
        <p:txBody>
          <a:bodyPr>
            <a:normAutofit/>
          </a:bodyPr>
          <a:lstStyle/>
          <a:p>
            <a:r>
              <a:rPr lang="pt-BR" dirty="0"/>
              <a:t>A energia que entra é transformada em uma voltagem pela combinação da energia elétrica de entrada e o material do sensor (responsável por detectar um particular tipo de energia)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 l="19521"/>
          <a:stretch>
            <a:fillRect/>
          </a:stretch>
        </p:blipFill>
        <p:spPr bwMode="auto">
          <a:xfrm>
            <a:off x="4500562" y="1771824"/>
            <a:ext cx="4500594" cy="48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Único</a:t>
            </a:r>
            <a:r>
              <a:rPr lang="en-US" dirty="0"/>
              <a:t> sensor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4105276" cy="4572000"/>
          </a:xfrm>
        </p:spPr>
        <p:txBody>
          <a:bodyPr>
            <a:normAutofit/>
          </a:bodyPr>
          <a:lstStyle/>
          <a:p>
            <a:r>
              <a:rPr lang="pt-BR" dirty="0"/>
              <a:t>A voltagem de saída é proporcional a luz que entra;</a:t>
            </a:r>
          </a:p>
          <a:p>
            <a:r>
              <a:rPr lang="pt-BR" dirty="0"/>
              <a:t>O uso do filtro melhora a seletividade do sensor (por exemplo, enfatizar um banda do espectro)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 l="19521"/>
          <a:stretch>
            <a:fillRect/>
          </a:stretch>
        </p:blipFill>
        <p:spPr bwMode="auto">
          <a:xfrm>
            <a:off x="4500562" y="1771824"/>
            <a:ext cx="4500594" cy="48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Faixa</a:t>
            </a:r>
            <a:r>
              <a:rPr lang="en-US" dirty="0"/>
              <a:t> de </a:t>
            </a:r>
            <a:r>
              <a:rPr lang="en-US" dirty="0" err="1"/>
              <a:t>sensores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4105276" cy="457200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 faixa de sensores  é utilizada em aplicações médicas e industriais para obter </a:t>
            </a:r>
            <a:r>
              <a:rPr lang="pt-BR" dirty="0" err="1"/>
              <a:t>slices</a:t>
            </a:r>
            <a:r>
              <a:rPr lang="pt-BR" dirty="0"/>
              <a:t> de objetos 3D;</a:t>
            </a:r>
          </a:p>
          <a:p>
            <a:pPr lvl="1"/>
            <a:r>
              <a:rPr lang="pt-BR" dirty="0"/>
              <a:t>A saída do sensor deve ser processada por algoritmos de reconstrução com o objetivo de transformar os dados obtidos em imagens seccionais (</a:t>
            </a:r>
            <a:r>
              <a:rPr lang="pt-BR" dirty="0" err="1"/>
              <a:t>slices</a:t>
            </a:r>
            <a:r>
              <a:rPr lang="pt-BR" dirty="0"/>
              <a:t>) significativas.</a:t>
            </a:r>
          </a:p>
          <a:p>
            <a:pPr lvl="1"/>
            <a:r>
              <a:rPr lang="pt-BR" dirty="0"/>
              <a:t>Ex: CT, MRI, PET (</a:t>
            </a:r>
            <a:r>
              <a:rPr lang="pt-BR" dirty="0" err="1"/>
              <a:t>Positron</a:t>
            </a:r>
            <a:r>
              <a:rPr lang="pt-BR" dirty="0"/>
              <a:t> </a:t>
            </a:r>
            <a:r>
              <a:rPr lang="pt-BR" dirty="0" err="1"/>
              <a:t>Emission</a:t>
            </a:r>
            <a:r>
              <a:rPr lang="pt-BR" dirty="0"/>
              <a:t> </a:t>
            </a:r>
            <a:r>
              <a:rPr lang="pt-BR" dirty="0" err="1"/>
              <a:t>Tomography</a:t>
            </a:r>
            <a:r>
              <a:rPr lang="pt-BR" dirty="0"/>
              <a:t>)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 l="19521"/>
          <a:stretch>
            <a:fillRect/>
          </a:stretch>
        </p:blipFill>
        <p:spPr bwMode="auto">
          <a:xfrm>
            <a:off x="4500562" y="1771824"/>
            <a:ext cx="4500594" cy="48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de </a:t>
            </a:r>
            <a:r>
              <a:rPr lang="en-US" dirty="0" err="1"/>
              <a:t>sensores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4105276" cy="45720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Sensor típico é o CCD (</a:t>
            </a:r>
            <a:r>
              <a:rPr lang="pt-BR" i="1" dirty="0"/>
              <a:t>Charge </a:t>
            </a:r>
            <a:r>
              <a:rPr lang="pt-BR" i="1" dirty="0" err="1"/>
              <a:t>Coupled</a:t>
            </a:r>
            <a:r>
              <a:rPr lang="pt-BR" i="1" dirty="0"/>
              <a:t> </a:t>
            </a:r>
            <a:r>
              <a:rPr lang="pt-BR" i="1" dirty="0" err="1"/>
              <a:t>Device</a:t>
            </a:r>
            <a:r>
              <a:rPr lang="pt-BR" dirty="0"/>
              <a:t>);</a:t>
            </a:r>
          </a:p>
          <a:p>
            <a:pPr lvl="1"/>
            <a:r>
              <a:rPr lang="pt-BR" dirty="0"/>
              <a:t>A resposta de cada sensor à proporcional à integral da energia de luz projetada na superfície  do sensor (reduz ruído);</a:t>
            </a:r>
          </a:p>
          <a:p>
            <a:pPr lvl="1"/>
            <a:r>
              <a:rPr lang="pt-BR" dirty="0"/>
              <a:t>Largamente utilizado em câmaras digitais </a:t>
            </a:r>
          </a:p>
          <a:p>
            <a:endParaRPr lang="pt-BR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 l="19521"/>
          <a:stretch>
            <a:fillRect/>
          </a:stretch>
        </p:blipFill>
        <p:spPr bwMode="auto">
          <a:xfrm>
            <a:off x="4500562" y="1771824"/>
            <a:ext cx="4500594" cy="48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Geração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digital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6724385" cy="4536504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r>
              <a:rPr lang="en-US" dirty="0" err="1"/>
              <a:t>Amostragem</a:t>
            </a:r>
            <a:r>
              <a:rPr lang="en-US" dirty="0"/>
              <a:t>: </a:t>
            </a:r>
            <a:r>
              <a:rPr lang="en-US" dirty="0" err="1"/>
              <a:t>matriz</a:t>
            </a:r>
            <a:r>
              <a:rPr lang="en-US" dirty="0"/>
              <a:t> de pixels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127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Um </a:t>
            </a:r>
            <a:r>
              <a:rPr lang="en-US" dirty="0" err="1"/>
              <a:t>modelo</a:t>
            </a:r>
            <a:r>
              <a:rPr lang="en-US" dirty="0"/>
              <a:t> simples </a:t>
            </a:r>
            <a:r>
              <a:rPr lang="en-US" dirty="0" err="1"/>
              <a:t>para</a:t>
            </a:r>
            <a:r>
              <a:rPr lang="en-US" dirty="0"/>
              <a:t> a </a:t>
            </a:r>
            <a:r>
              <a:rPr lang="en-US" dirty="0" err="1"/>
              <a:t>formação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imagem pode ser definida como uma função de intensidade luminosa 2D, </a:t>
            </a:r>
            <a:r>
              <a:rPr lang="pt-BR" i="1" dirty="0"/>
              <a:t>f(x,y)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214810" y="3180236"/>
            <a:ext cx="4857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f(x,y) = r(x,y) . i(x,y)</a:t>
            </a:r>
          </a:p>
          <a:p>
            <a:pPr algn="ctr"/>
            <a:r>
              <a:rPr lang="pt-BR" sz="2400" i="1" dirty="0"/>
              <a:t>0 &lt; i(x,y) &lt; ∞ e 0 &lt; r(x,y) &lt; 1</a:t>
            </a:r>
          </a:p>
          <a:p>
            <a:pPr algn="ctr"/>
            <a:r>
              <a:rPr lang="pt-BR" sz="2400" i="1" dirty="0"/>
              <a:t>0 &lt;  f(x,y) &lt; ∞</a:t>
            </a:r>
          </a:p>
          <a:p>
            <a:pPr algn="ctr"/>
            <a:endParaRPr lang="pt-BR" sz="2400" i="1" dirty="0"/>
          </a:p>
          <a:p>
            <a:pPr algn="ctr"/>
            <a:r>
              <a:rPr lang="pt-BR" sz="2400" i="1" dirty="0"/>
              <a:t>0 ≤  y  ≤ N</a:t>
            </a:r>
          </a:p>
          <a:p>
            <a:pPr algn="ctr"/>
            <a:r>
              <a:rPr lang="pt-BR" sz="2400" i="1" dirty="0"/>
              <a:t>0 ≤  x  ≤ M</a:t>
            </a:r>
          </a:p>
          <a:p>
            <a:pPr algn="ctr"/>
            <a:r>
              <a:rPr lang="pt-BR" sz="2400" i="1" dirty="0" err="1"/>
              <a:t>Lmin</a:t>
            </a:r>
            <a:r>
              <a:rPr lang="pt-BR" sz="2400" i="1" dirty="0"/>
              <a:t> ≤  f(x,y) ≤ </a:t>
            </a:r>
            <a:r>
              <a:rPr lang="pt-BR" sz="2400" i="1" dirty="0" err="1"/>
              <a:t>Lmax</a:t>
            </a:r>
            <a:endParaRPr lang="pt-BR" dirty="0"/>
          </a:p>
        </p:txBody>
      </p:sp>
      <p:pic>
        <p:nvPicPr>
          <p:cNvPr id="5" name="Picture 2" descr="C:\Denise\disciplinas\PDI-grad\PDI\imagens\Grayscale_8bits_palette_sample_imag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520" y="3169593"/>
            <a:ext cx="2016224" cy="2688299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2706632" y="2737545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266472" y="4393729"/>
            <a:ext cx="27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8" name="Conector de seta reta 7"/>
          <p:cNvCxnSpPr/>
          <p:nvPr/>
        </p:nvCxnSpPr>
        <p:spPr>
          <a:xfrm rot="10800000" flipV="1">
            <a:off x="3000365" y="3423299"/>
            <a:ext cx="2232248" cy="720080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quê</a:t>
            </a:r>
            <a:r>
              <a:rPr lang="en-US" dirty="0"/>
              <a:t> </a:t>
            </a:r>
            <a:r>
              <a:rPr lang="en-US" dirty="0" err="1"/>
              <a:t>digitalizar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?</a:t>
            </a:r>
          </a:p>
        </p:txBody>
      </p:sp>
      <p:pic>
        <p:nvPicPr>
          <p:cNvPr id="4" name="Picture 2" descr="C:\Denise\disciplinas\PDI-grad\PDI\imagens\Grayscale_8bits_palette_sample_image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492895"/>
            <a:ext cx="1800200" cy="2400267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1331640" y="220486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23528" y="342900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7" name="Retângulo 6"/>
          <p:cNvSpPr/>
          <p:nvPr/>
        </p:nvSpPr>
        <p:spPr>
          <a:xfrm>
            <a:off x="3779912" y="3140968"/>
            <a:ext cx="4572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pt-BR" dirty="0">
                <a:cs typeface="Times New Roman" pitchFamily="18" charset="0"/>
              </a:rPr>
              <a:t>0 ≤  y  &lt; N</a:t>
            </a:r>
          </a:p>
          <a:p>
            <a:pPr>
              <a:buFontTx/>
              <a:buNone/>
            </a:pPr>
            <a:endParaRPr lang="pt-BR" dirty="0"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pt-BR" dirty="0">
                <a:cs typeface="Times New Roman" pitchFamily="18" charset="0"/>
              </a:rPr>
              <a:t>0 ≤  x  &lt; M</a:t>
            </a:r>
          </a:p>
          <a:p>
            <a:pPr>
              <a:buFontTx/>
              <a:buNone/>
            </a:pPr>
            <a:r>
              <a:rPr lang="pt-BR" dirty="0">
                <a:cs typeface="Times New Roman" pitchFamily="18" charset="0"/>
              </a:rPr>
              <a:t>  </a:t>
            </a:r>
          </a:p>
          <a:p>
            <a:pPr>
              <a:buFontTx/>
              <a:buNone/>
            </a:pPr>
            <a:endParaRPr lang="pt-BR" dirty="0"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pt-BR" dirty="0" err="1">
                <a:cs typeface="Times New Roman" pitchFamily="18" charset="0"/>
              </a:rPr>
              <a:t>Lmin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pt-BR" sz="2000" dirty="0">
                <a:cs typeface="Times New Roman" pitchFamily="18" charset="0"/>
              </a:rPr>
              <a:t>≤  f(x,y) ≤ </a:t>
            </a:r>
            <a:r>
              <a:rPr lang="pt-BR" sz="2000" dirty="0" err="1">
                <a:cs typeface="Times New Roman" pitchFamily="18" charset="0"/>
              </a:rPr>
              <a:t>Lmax</a:t>
            </a:r>
            <a:endParaRPr lang="en-US" dirty="0"/>
          </a:p>
        </p:txBody>
      </p:sp>
      <p:sp>
        <p:nvSpPr>
          <p:cNvPr id="9" name="Texto explicativo retangular com cantos arredondados 8"/>
          <p:cNvSpPr/>
          <p:nvPr/>
        </p:nvSpPr>
        <p:spPr>
          <a:xfrm>
            <a:off x="3357554" y="1577882"/>
            <a:ext cx="2582598" cy="1279614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</a:t>
            </a:r>
            <a:r>
              <a:rPr lang="en-US" dirty="0"/>
              <a:t>  </a:t>
            </a:r>
            <a:r>
              <a:rPr lang="en-US" dirty="0" err="1"/>
              <a:t>teoria</a:t>
            </a:r>
            <a:r>
              <a:rPr lang="en-US" dirty="0"/>
              <a:t> dos </a:t>
            </a:r>
            <a:r>
              <a:rPr lang="en-US" dirty="0" err="1"/>
              <a:t>números</a:t>
            </a:r>
            <a:r>
              <a:rPr lang="en-US" dirty="0"/>
              <a:t>: entre </a:t>
            </a:r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infinitos</a:t>
            </a:r>
            <a:r>
              <a:rPr lang="en-US" dirty="0"/>
              <a:t> </a:t>
            </a:r>
            <a:r>
              <a:rPr lang="en-US" dirty="0" err="1"/>
              <a:t>pontos</a:t>
            </a:r>
            <a:endParaRPr lang="en-US" dirty="0"/>
          </a:p>
        </p:txBody>
      </p:sp>
      <p:sp>
        <p:nvSpPr>
          <p:cNvPr id="10" name="Chave direita 9"/>
          <p:cNvSpPr/>
          <p:nvPr/>
        </p:nvSpPr>
        <p:spPr>
          <a:xfrm>
            <a:off x="5220072" y="3068960"/>
            <a:ext cx="144016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o explicativo em forma de nuvem 11"/>
          <p:cNvSpPr/>
          <p:nvPr/>
        </p:nvSpPr>
        <p:spPr>
          <a:xfrm>
            <a:off x="5652120" y="2776368"/>
            <a:ext cx="2592288" cy="1224136"/>
          </a:xfrm>
          <a:prstGeom prst="cloudCallou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 </a:t>
            </a:r>
            <a:r>
              <a:rPr lang="en-US" dirty="0" err="1"/>
              <a:t>teria</a:t>
            </a:r>
            <a:r>
              <a:rPr lang="en-US" dirty="0"/>
              <a:t> </a:t>
            </a:r>
            <a:r>
              <a:rPr lang="en-US" dirty="0" err="1"/>
              <a:t>infinitos</a:t>
            </a:r>
            <a:r>
              <a:rPr lang="en-US" dirty="0"/>
              <a:t> </a:t>
            </a:r>
            <a:r>
              <a:rPr lang="en-US" dirty="0" err="1"/>
              <a:t>pontos</a:t>
            </a:r>
            <a:endParaRPr lang="en-US" dirty="0"/>
          </a:p>
        </p:txBody>
      </p:sp>
      <p:sp>
        <p:nvSpPr>
          <p:cNvPr id="13" name="Texto explicativo em forma de nuvem 12"/>
          <p:cNvSpPr/>
          <p:nvPr/>
        </p:nvSpPr>
        <p:spPr>
          <a:xfrm>
            <a:off x="467544" y="4797152"/>
            <a:ext cx="4392488" cy="18002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 </a:t>
            </a:r>
            <a:r>
              <a:rPr lang="en-US" dirty="0" err="1"/>
              <a:t>teria</a:t>
            </a:r>
            <a:r>
              <a:rPr lang="en-US" dirty="0"/>
              <a:t> um de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infinitos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INFINITOS NROS DE BITS </a:t>
            </a:r>
          </a:p>
        </p:txBody>
      </p:sp>
      <p:sp>
        <p:nvSpPr>
          <p:cNvPr id="14" name="Seta para a direita 13"/>
          <p:cNvSpPr/>
          <p:nvPr/>
        </p:nvSpPr>
        <p:spPr>
          <a:xfrm>
            <a:off x="899592" y="5805264"/>
            <a:ext cx="360040" cy="2880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uxograma: Processo alternativo 14"/>
          <p:cNvSpPr/>
          <p:nvPr/>
        </p:nvSpPr>
        <p:spPr>
          <a:xfrm>
            <a:off x="5436096" y="5157192"/>
            <a:ext cx="3312368" cy="1152128"/>
          </a:xfrm>
          <a:prstGeom prst="flowChartAlternateProces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 REPRESENTAÇÃO NAO É POSSIVEL EM QUALQUER COMPUTADOR DIGITAL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desejável</a:t>
            </a:r>
            <a:r>
              <a:rPr lang="en-US" dirty="0"/>
              <a:t>?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ser </a:t>
            </a:r>
            <a:r>
              <a:rPr lang="en-US" dirty="0" err="1"/>
              <a:t>representada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forma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2D;</a:t>
            </a:r>
          </a:p>
          <a:p>
            <a:endParaRPr lang="en-US" dirty="0"/>
          </a:p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assumir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finitos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digitalização</a:t>
            </a:r>
            <a:r>
              <a:rPr lang="en-US" dirty="0"/>
              <a:t>?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matriz</a:t>
            </a:r>
            <a:endParaRPr lang="en-US" dirty="0"/>
          </a:p>
          <a:p>
            <a:pPr lvl="1"/>
            <a:r>
              <a:rPr lang="en-US" dirty="0" err="1"/>
              <a:t>amostragem</a:t>
            </a:r>
            <a:endParaRPr lang="en-US" dirty="0"/>
          </a:p>
          <a:p>
            <a:pPr lvl="4">
              <a:buNone/>
            </a:pPr>
            <a:endParaRPr lang="en-US" sz="2900" dirty="0"/>
          </a:p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representado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um </a:t>
            </a:r>
            <a:r>
              <a:rPr lang="en-US" dirty="0" err="1"/>
              <a:t>elemento</a:t>
            </a:r>
            <a:r>
              <a:rPr lang="en-US" dirty="0"/>
              <a:t> de um </a:t>
            </a:r>
            <a:r>
              <a:rPr lang="en-US" dirty="0" err="1"/>
              <a:t>conjunto</a:t>
            </a:r>
            <a:r>
              <a:rPr lang="en-US" dirty="0"/>
              <a:t> </a:t>
            </a:r>
            <a:r>
              <a:rPr lang="en-US" dirty="0" err="1"/>
              <a:t>finito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discretos</a:t>
            </a:r>
            <a:endParaRPr lang="en-US" dirty="0"/>
          </a:p>
          <a:p>
            <a:pPr lvl="1"/>
            <a:r>
              <a:rPr lang="en-US" dirty="0" err="1"/>
              <a:t>quantização</a:t>
            </a:r>
            <a:endParaRPr lang="en-US" dirty="0"/>
          </a:p>
          <a:p>
            <a:endParaRPr lang="en-US" i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Portanto, a digitalização envolve dois processos:</a:t>
            </a:r>
          </a:p>
          <a:p>
            <a:pPr lvl="1"/>
            <a:r>
              <a:rPr lang="pt-BR" dirty="0"/>
              <a:t>Amostragem</a:t>
            </a:r>
          </a:p>
          <a:p>
            <a:pPr lvl="2"/>
            <a:r>
              <a:rPr lang="pt-BR" dirty="0"/>
              <a:t>consiste em </a:t>
            </a:r>
            <a:r>
              <a:rPr lang="pt-BR" dirty="0" err="1"/>
              <a:t>discretizar</a:t>
            </a:r>
            <a:r>
              <a:rPr lang="pt-BR" dirty="0"/>
              <a:t> o domínio da imagem nas direções </a:t>
            </a:r>
            <a:r>
              <a:rPr lang="pt-BR" i="1" dirty="0"/>
              <a:t>x</a:t>
            </a:r>
            <a:r>
              <a:rPr lang="pt-BR" dirty="0"/>
              <a:t> e </a:t>
            </a:r>
            <a:r>
              <a:rPr lang="pt-BR" i="1" dirty="0"/>
              <a:t>y</a:t>
            </a:r>
            <a:r>
              <a:rPr lang="pt-BR" dirty="0"/>
              <a:t>, gerando uma matriz de </a:t>
            </a:r>
            <a:r>
              <a:rPr lang="pt-BR" i="1" dirty="0" err="1"/>
              <a:t>MxN</a:t>
            </a:r>
            <a:r>
              <a:rPr lang="pt-BR" dirty="0"/>
              <a:t> amostras;</a:t>
            </a:r>
          </a:p>
          <a:p>
            <a:pPr lvl="1"/>
            <a:r>
              <a:rPr lang="pt-BR" dirty="0"/>
              <a:t>Quantização</a:t>
            </a:r>
          </a:p>
          <a:p>
            <a:pPr lvl="2"/>
            <a:r>
              <a:rPr lang="pt-BR" dirty="0"/>
              <a:t>consiste em escolher o número </a:t>
            </a:r>
            <a:r>
              <a:rPr lang="pt-BR" i="1" dirty="0"/>
              <a:t>L</a:t>
            </a:r>
            <a:r>
              <a:rPr lang="pt-BR" dirty="0"/>
              <a:t> de níveis de cinza (em imagens monocromáticas) permitidos para cada imagem, (</a:t>
            </a:r>
            <a:r>
              <a:rPr lang="pt-BR" i="1" dirty="0"/>
              <a:t>L  = 2</a:t>
            </a:r>
            <a:r>
              <a:rPr lang="pt-BR" i="1" baseline="30000" dirty="0"/>
              <a:t>k</a:t>
            </a:r>
            <a:r>
              <a:rPr lang="pt-BR" dirty="0"/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Amostragem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prática</a:t>
            </a:r>
            <a:r>
              <a:rPr lang="en-US" dirty="0"/>
              <a:t> o </a:t>
            </a:r>
            <a:r>
              <a:rPr lang="en-US" dirty="0" err="1"/>
              <a:t>método</a:t>
            </a:r>
            <a:r>
              <a:rPr lang="en-US" dirty="0"/>
              <a:t> de </a:t>
            </a:r>
            <a:r>
              <a:rPr lang="en-US" dirty="0" err="1"/>
              <a:t>amostragem</a:t>
            </a:r>
            <a:r>
              <a:rPr lang="en-US" dirty="0"/>
              <a:t> é </a:t>
            </a:r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sensor </a:t>
            </a:r>
            <a:r>
              <a:rPr lang="en-US" dirty="0" err="1"/>
              <a:t>usado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gerar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;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3734" y="3448072"/>
            <a:ext cx="272415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Quantização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lum contrast="12000"/>
          </a:blip>
          <a:srcRect b="5351"/>
          <a:stretch>
            <a:fillRect/>
          </a:stretch>
        </p:blipFill>
        <p:spPr bwMode="auto">
          <a:xfrm>
            <a:off x="357158" y="1714488"/>
            <a:ext cx="4937053" cy="482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upo 7"/>
          <p:cNvGrpSpPr/>
          <p:nvPr/>
        </p:nvGrpSpPr>
        <p:grpSpPr>
          <a:xfrm>
            <a:off x="5652120" y="1772816"/>
            <a:ext cx="3275856" cy="3613398"/>
            <a:chOff x="5868144" y="1772816"/>
            <a:chExt cx="3275856" cy="3613398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72225" y="2204864"/>
              <a:ext cx="2771775" cy="318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CaixaDeTexto 5"/>
            <p:cNvSpPr txBox="1"/>
            <p:nvPr/>
          </p:nvSpPr>
          <p:spPr>
            <a:xfrm>
              <a:off x="7452320" y="17728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5868144" y="3717032"/>
              <a:ext cx="46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Digitalização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Cada elemento da matriz de amostras </a:t>
            </a:r>
            <a:r>
              <a:rPr lang="pt-BR" i="1" dirty="0"/>
              <a:t>f(x,y)</a:t>
            </a:r>
            <a:r>
              <a:rPr lang="pt-BR" dirty="0"/>
              <a:t> é denominado como pixel (</a:t>
            </a:r>
            <a:r>
              <a:rPr lang="pt-BR" i="1" dirty="0" err="1"/>
              <a:t>picture</a:t>
            </a:r>
            <a:r>
              <a:rPr lang="pt-BR" i="1" dirty="0"/>
              <a:t> </a:t>
            </a:r>
            <a:r>
              <a:rPr lang="pt-BR" i="1" dirty="0" err="1"/>
              <a:t>element</a:t>
            </a:r>
            <a:r>
              <a:rPr lang="pt-BR" dirty="0"/>
              <a:t>), </a:t>
            </a:r>
          </a:p>
          <a:p>
            <a:endParaRPr lang="pt-BR" dirty="0"/>
          </a:p>
          <a:p>
            <a:pPr algn="ctr">
              <a:buNone/>
            </a:pPr>
            <a:r>
              <a:rPr lang="pt-BR" sz="2800" dirty="0"/>
              <a:t>0 &lt; x &lt; M-1 e 0 &lt; y &lt; N-1</a:t>
            </a:r>
          </a:p>
          <a:p>
            <a:pPr algn="ctr">
              <a:buNone/>
            </a:pPr>
            <a:endParaRPr lang="pt-BR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4000504"/>
            <a:ext cx="5929354" cy="1776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Digitalização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espaço necessário para armazenar uma imagem é dados por:</a:t>
            </a:r>
          </a:p>
          <a:p>
            <a:pPr lvl="1"/>
            <a:r>
              <a:rPr lang="pt-BR" i="1" dirty="0"/>
              <a:t>M x N x k </a:t>
            </a:r>
            <a:r>
              <a:rPr lang="pt-BR" dirty="0"/>
              <a:t> bits ou </a:t>
            </a:r>
            <a:r>
              <a:rPr lang="pt-BR" i="1" dirty="0"/>
              <a:t>N</a:t>
            </a:r>
            <a:r>
              <a:rPr lang="pt-BR" i="1" baseline="30000" dirty="0"/>
              <a:t>2</a:t>
            </a:r>
            <a:r>
              <a:rPr lang="pt-BR" i="1" dirty="0"/>
              <a:t> x k</a:t>
            </a:r>
            <a:r>
              <a:rPr lang="pt-BR" dirty="0"/>
              <a:t> bits para matrizes quadradas</a:t>
            </a:r>
          </a:p>
          <a:p>
            <a:endParaRPr lang="pt-B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492150"/>
            <a:ext cx="7501963" cy="31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A565C-3830-4BAF-A5F7-8F2FA109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literatura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5AF062-19C9-4CB8-AC37-4E288A54285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510404"/>
            <a:ext cx="4341767" cy="55044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5E573F0-7074-491F-AA90-05DB395B3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076830"/>
            <a:ext cx="4877190" cy="5504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649309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Digitalização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NOTA:</a:t>
            </a:r>
          </a:p>
          <a:p>
            <a:pPr lvl="1"/>
            <a:r>
              <a:rPr lang="pt-BR" dirty="0"/>
              <a:t>O tamanho de uma imagem não diz tudo sobre a sua resolução;</a:t>
            </a:r>
          </a:p>
          <a:p>
            <a:pPr lvl="1"/>
            <a:r>
              <a:rPr lang="pt-BR" dirty="0"/>
              <a:t>A qualidade de uma imagem 1024x1024 pixels não pode ser avaliada sem conhecer a dimensão espacial capturada na imagem.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Digitalização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Resolução espacial</a:t>
            </a:r>
          </a:p>
          <a:p>
            <a:pPr lvl="1"/>
            <a:r>
              <a:rPr lang="pt-BR" dirty="0"/>
              <a:t>Intuitivamente, é uma medida do menor detalhe discernível em uma imagem;</a:t>
            </a:r>
          </a:p>
          <a:p>
            <a:r>
              <a:rPr lang="pt-BR" dirty="0"/>
              <a:t>A resolução espacial pode ser medida por:</a:t>
            </a:r>
          </a:p>
          <a:p>
            <a:pPr lvl="1"/>
            <a:r>
              <a:rPr lang="pt-BR" dirty="0"/>
              <a:t>pares de linhas por unidade de distância (100/mm     largura da linha = 0.02 mm);</a:t>
            </a:r>
          </a:p>
          <a:p>
            <a:pPr lvl="1"/>
            <a:r>
              <a:rPr lang="pt-BR" dirty="0"/>
              <a:t>pontos (pixels) por unidade de distância – dpi (usada em industria publicitária e de impressão). </a:t>
            </a:r>
          </a:p>
          <a:p>
            <a:r>
              <a:rPr lang="pt-BR" dirty="0"/>
              <a:t>Exemplos: </a:t>
            </a:r>
          </a:p>
          <a:p>
            <a:pPr lvl="1"/>
            <a:r>
              <a:rPr lang="pt-BR" dirty="0"/>
              <a:t>jornal – 75 dpi, </a:t>
            </a:r>
          </a:p>
          <a:p>
            <a:pPr lvl="1"/>
            <a:r>
              <a:rPr lang="pt-BR" dirty="0"/>
              <a:t>revista – 133 dpi, </a:t>
            </a:r>
          </a:p>
          <a:p>
            <a:pPr lvl="1"/>
            <a:r>
              <a:rPr lang="pt-BR" dirty="0"/>
              <a:t>livros – 2400 dpi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Efeitos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amostragem</a:t>
            </a:r>
            <a:endParaRPr lang="en-US" dirty="0"/>
          </a:p>
        </p:txBody>
      </p:sp>
      <p:sp>
        <p:nvSpPr>
          <p:cNvPr id="6" name="Retângulo 5"/>
          <p:cNvSpPr/>
          <p:nvPr/>
        </p:nvSpPr>
        <p:spPr>
          <a:xfrm>
            <a:off x="467544" y="1514291"/>
            <a:ext cx="20650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/>
              <a:t>Tamanho da imagem original 2.96 x 2.25 polegadas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572000" y="68580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CaixaDeTexto 8"/>
          <p:cNvSpPr txBox="1"/>
          <p:nvPr/>
        </p:nvSpPr>
        <p:spPr>
          <a:xfrm>
            <a:off x="7127776" y="1490066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</a:t>
            </a:r>
            <a:r>
              <a:rPr lang="en-US" dirty="0" err="1"/>
              <a:t>imagens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zoom out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comparação</a:t>
            </a:r>
            <a:endParaRPr lang="en-US" dirty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12" y="1571611"/>
            <a:ext cx="4017606" cy="5229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1071538" y="2924944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/>
              <a:t>1250 </a:t>
            </a:r>
            <a:r>
              <a:rPr lang="pt-BR" dirty="0" err="1"/>
              <a:t>dpi</a:t>
            </a:r>
            <a:endParaRPr lang="pt-BR" dirty="0"/>
          </a:p>
          <a:p>
            <a:pPr algn="r"/>
            <a:r>
              <a:rPr lang="en-US" dirty="0"/>
              <a:t>3692 x 2812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6896878" y="292494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1584499" y="454047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/>
              <a:t>150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6896878" y="4540478"/>
            <a:ext cx="1381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72 </a:t>
            </a:r>
            <a:r>
              <a:rPr lang="pt-BR" dirty="0" err="1"/>
              <a:t>dpi</a:t>
            </a:r>
            <a:endParaRPr lang="pt-BR" dirty="0"/>
          </a:p>
          <a:p>
            <a:r>
              <a:rPr lang="en-US" dirty="0"/>
              <a:t>213x162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 Espacial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27 pixels no diâmetro da cratera.</a:t>
            </a:r>
          </a:p>
          <a:p>
            <a:endParaRPr lang="pt-BR" sz="2400" dirty="0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55 pixels no diâmetro da cratera.</a:t>
            </a:r>
          </a:p>
          <a:p>
            <a:endParaRPr lang="pt-BR" sz="2400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algn="ctr"/>
            <a:r>
              <a:rPr lang="pt-BR" dirty="0"/>
              <a:t>(a) Menor Resolução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pt-BR" dirty="0"/>
              <a:t>(b) Maior Resolução</a:t>
            </a:r>
          </a:p>
        </p:txBody>
      </p:sp>
      <p:pic>
        <p:nvPicPr>
          <p:cNvPr id="12" name="Picture 3" descr="E:\Curso_Visão\moon-resolution-lo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818" y="3214686"/>
            <a:ext cx="26003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E:\Curso_Visão\moon-resolution-high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214686"/>
            <a:ext cx="26003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997601" y="5925941"/>
            <a:ext cx="7289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Se a cratera tiver 550 Km de diâmetro: a) 20 Km/pixel; b) 10 Km/pixel</a:t>
            </a:r>
          </a:p>
          <a:p>
            <a:pPr algn="ctr"/>
            <a:r>
              <a:rPr lang="pt-BR" dirty="0"/>
              <a:t>É possível medir as características em b) com maior precisão.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Digitalização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Resolução de intensidade </a:t>
            </a:r>
          </a:p>
          <a:p>
            <a:pPr lvl="1"/>
            <a:r>
              <a:rPr lang="pt-BR" dirty="0"/>
              <a:t>refere-se à menor alteração discernível nos níveis de intensidade;</a:t>
            </a:r>
          </a:p>
          <a:p>
            <a:pPr lvl="1"/>
            <a:r>
              <a:rPr lang="pt-BR" dirty="0"/>
              <a:t>em geral o número de  níveis de intensidades é representado por um inteiro, potência de 2.</a:t>
            </a:r>
          </a:p>
          <a:p>
            <a:pPr lvl="1"/>
            <a:r>
              <a:rPr lang="pt-BR" dirty="0"/>
              <a:t>o número mais comum de bits é 8 ou 16 bits (256 ou 65536 níveis de intensidade)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Efeitos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quantização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5213" y="1665866"/>
            <a:ext cx="4675481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cerebro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737874"/>
            <a:ext cx="370488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2807296" y="6488668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</a:t>
            </a:r>
            <a:r>
              <a:rPr lang="en-US" dirty="0" err="1"/>
              <a:t>tamanho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: 452x374 pixels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00166" y="13778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256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059832" y="13778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428728" y="62150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347864" y="62150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220072" y="13778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164288" y="13778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148064" y="62150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164288" y="62150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B7DC6B-A5B1-4F9C-A0EC-FB692F018EC8}"/>
</file>

<file path=customXml/itemProps2.xml><?xml version="1.0" encoding="utf-8"?>
<ds:datastoreItem xmlns:ds="http://schemas.openxmlformats.org/officeDocument/2006/customXml" ds:itemID="{C87209F4-212F-4CC4-B029-D35ABAAF9BF4}"/>
</file>

<file path=customXml/itemProps3.xml><?xml version="1.0" encoding="utf-8"?>
<ds:datastoreItem xmlns:ds="http://schemas.openxmlformats.org/officeDocument/2006/customXml" ds:itemID="{F48F61F7-68CE-464A-83F3-0ED2BBF25674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</TotalTime>
  <Words>1064</Words>
  <Application>Microsoft Office PowerPoint</Application>
  <PresentationFormat>Apresentação na tela (4:3)</PresentationFormat>
  <Paragraphs>155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Calibri</vt:lpstr>
      <vt:lpstr>Cambria Math</vt:lpstr>
      <vt:lpstr>Times New Roman</vt:lpstr>
      <vt:lpstr>Tw Cen MT</vt:lpstr>
      <vt:lpstr>Wingdings</vt:lpstr>
      <vt:lpstr>Wingdings 2</vt:lpstr>
      <vt:lpstr>Mediano</vt:lpstr>
      <vt:lpstr>Representação da imagem digital</vt:lpstr>
      <vt:lpstr>Representação da imagem </vt:lpstr>
      <vt:lpstr>Representação da imagem </vt:lpstr>
      <vt:lpstr>Exemplos de aquisição de imagens</vt:lpstr>
      <vt:lpstr>Exemplos de aquisição de imagens</vt:lpstr>
      <vt:lpstr>Ondas eletromagnéticas</vt:lpstr>
      <vt:lpstr>Ondas eletromagnéticas</vt:lpstr>
      <vt:lpstr>Espectro Eletromagnético</vt:lpstr>
      <vt:lpstr>Espectro Eletromagnético</vt:lpstr>
      <vt:lpstr>Luz</vt:lpstr>
      <vt:lpstr>Luz</vt:lpstr>
      <vt:lpstr>Aquisição da imagem: Sensores </vt:lpstr>
      <vt:lpstr>Único sensor</vt:lpstr>
      <vt:lpstr>Faixa de sensores</vt:lpstr>
      <vt:lpstr>Array de sensores</vt:lpstr>
      <vt:lpstr>Geração de uma imagem digital</vt:lpstr>
      <vt:lpstr>Um modelo simples para a formação da imagem</vt:lpstr>
      <vt:lpstr>Por quê digitalizar uma imagem?</vt:lpstr>
      <vt:lpstr>O que é desejável?</vt:lpstr>
      <vt:lpstr>O que é digitalização?</vt:lpstr>
      <vt:lpstr>Representação da imagem</vt:lpstr>
      <vt:lpstr>Amostragem</vt:lpstr>
      <vt:lpstr>Quantização</vt:lpstr>
      <vt:lpstr>Digitalização da imagem</vt:lpstr>
      <vt:lpstr>Digitalização da imagem</vt:lpstr>
      <vt:lpstr>Exemplos na literatura</vt:lpstr>
      <vt:lpstr>Digitalização da imagem</vt:lpstr>
      <vt:lpstr>Digitalização da imagem</vt:lpstr>
      <vt:lpstr>Efeitos da amostragem</vt:lpstr>
      <vt:lpstr>Resolução Espacial</vt:lpstr>
      <vt:lpstr>Digitalização da imagem</vt:lpstr>
      <vt:lpstr>Efeitos da quantização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Representação da imagem digital</dc:title>
  <dc:creator>Eduardo</dc:creator>
  <cp:lastModifiedBy>Bruno Travençolo</cp:lastModifiedBy>
  <cp:revision>17</cp:revision>
  <dcterms:created xsi:type="dcterms:W3CDTF">2014-09-12T16:30:19Z</dcterms:created>
  <dcterms:modified xsi:type="dcterms:W3CDTF">2018-08-27T20:40:16Z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