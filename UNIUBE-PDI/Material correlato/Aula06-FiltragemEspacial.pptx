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6"/>
  </p:notesMasterIdLst>
  <p:handoutMasterIdLst>
    <p:handoutMasterId r:id="rId77"/>
  </p:handoutMasterIdLst>
  <p:sldIdLst>
    <p:sldId id="256" r:id="rId5"/>
    <p:sldId id="336" r:id="rId6"/>
    <p:sldId id="303" r:id="rId7"/>
    <p:sldId id="262" r:id="rId8"/>
    <p:sldId id="316" r:id="rId9"/>
    <p:sldId id="338" r:id="rId10"/>
    <p:sldId id="339" r:id="rId11"/>
    <p:sldId id="266" r:id="rId12"/>
    <p:sldId id="343" r:id="rId13"/>
    <p:sldId id="342" r:id="rId14"/>
    <p:sldId id="344" r:id="rId15"/>
    <p:sldId id="345" r:id="rId16"/>
    <p:sldId id="331" r:id="rId17"/>
    <p:sldId id="278" r:id="rId18"/>
    <p:sldId id="276" r:id="rId19"/>
    <p:sldId id="346" r:id="rId20"/>
    <p:sldId id="341" r:id="rId21"/>
    <p:sldId id="347" r:id="rId22"/>
    <p:sldId id="348" r:id="rId23"/>
    <p:sldId id="388" r:id="rId24"/>
    <p:sldId id="349" r:id="rId25"/>
    <p:sldId id="350" r:id="rId26"/>
    <p:sldId id="351" r:id="rId27"/>
    <p:sldId id="279" r:id="rId28"/>
    <p:sldId id="283" r:id="rId29"/>
    <p:sldId id="386" r:id="rId30"/>
    <p:sldId id="272" r:id="rId31"/>
    <p:sldId id="260" r:id="rId32"/>
    <p:sldId id="352" r:id="rId33"/>
    <p:sldId id="282" r:id="rId34"/>
    <p:sldId id="284" r:id="rId35"/>
    <p:sldId id="385" r:id="rId36"/>
    <p:sldId id="355" r:id="rId37"/>
    <p:sldId id="356" r:id="rId38"/>
    <p:sldId id="387" r:id="rId39"/>
    <p:sldId id="357" r:id="rId40"/>
    <p:sldId id="358" r:id="rId41"/>
    <p:sldId id="359" r:id="rId42"/>
    <p:sldId id="362" r:id="rId43"/>
    <p:sldId id="363" r:id="rId44"/>
    <p:sldId id="371" r:id="rId45"/>
    <p:sldId id="264" r:id="rId46"/>
    <p:sldId id="265" r:id="rId47"/>
    <p:sldId id="384" r:id="rId48"/>
    <p:sldId id="360" r:id="rId49"/>
    <p:sldId id="364" r:id="rId50"/>
    <p:sldId id="365" r:id="rId51"/>
    <p:sldId id="372" r:id="rId52"/>
    <p:sldId id="373" r:id="rId53"/>
    <p:sldId id="370" r:id="rId54"/>
    <p:sldId id="374" r:id="rId55"/>
    <p:sldId id="375" r:id="rId56"/>
    <p:sldId id="376" r:id="rId57"/>
    <p:sldId id="377" r:id="rId58"/>
    <p:sldId id="378" r:id="rId59"/>
    <p:sldId id="295" r:id="rId60"/>
    <p:sldId id="379" r:id="rId61"/>
    <p:sldId id="380" r:id="rId62"/>
    <p:sldId id="381" r:id="rId63"/>
    <p:sldId id="304" r:id="rId64"/>
    <p:sldId id="305" r:id="rId65"/>
    <p:sldId id="312" r:id="rId66"/>
    <p:sldId id="306" r:id="rId67"/>
    <p:sldId id="311" r:id="rId68"/>
    <p:sldId id="309" r:id="rId69"/>
    <p:sldId id="314" r:id="rId70"/>
    <p:sldId id="383" r:id="rId71"/>
    <p:sldId id="307" r:id="rId72"/>
    <p:sldId id="328" r:id="rId73"/>
    <p:sldId id="329" r:id="rId74"/>
    <p:sldId id="281" r:id="rId75"/>
  </p:sldIdLst>
  <p:sldSz cx="9144000" cy="6858000" type="screen4x3"/>
  <p:notesSz cx="6858000" cy="9661525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F860D1-B5E7-324F-E6F2-0453BFA30C88}" v="36" dt="2026-06-17T19:31:13.9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97" autoAdjust="0"/>
    <p:restoredTop sz="90663" autoAdjust="0"/>
  </p:normalViewPr>
  <p:slideViewPr>
    <p:cSldViewPr>
      <p:cViewPr varScale="1">
        <p:scale>
          <a:sx n="78" d="100"/>
          <a:sy n="78" d="100"/>
        </p:scale>
        <p:origin x="108" y="5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microsoft.com/office/2016/11/relationships/changesInfo" Target="changesInfos/changesInfo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no Augusto Nassif Travencolo" userId="S::travencolo@ufu.br::9765cb90-d5ec-451e-8c7b-af57428794a1" providerId="AD" clId="Web-{2DF860D1-B5E7-324F-E6F2-0453BFA30C88}"/>
    <pc:docChg chg="addSld modSld">
      <pc:chgData name="Bruno Augusto Nassif Travencolo" userId="S::travencolo@ufu.br::9765cb90-d5ec-451e-8c7b-af57428794a1" providerId="AD" clId="Web-{2DF860D1-B5E7-324F-E6F2-0453BFA30C88}" dt="2026-06-17T19:31:13.980" v="31" actId="1076"/>
      <pc:docMkLst>
        <pc:docMk/>
      </pc:docMkLst>
      <pc:sldChg chg="modSp">
        <pc:chgData name="Bruno Augusto Nassif Travencolo" userId="S::travencolo@ufu.br::9765cb90-d5ec-451e-8c7b-af57428794a1" providerId="AD" clId="Web-{2DF860D1-B5E7-324F-E6F2-0453BFA30C88}" dt="2026-06-17T17:51:08.355" v="1"/>
        <pc:sldMkLst>
          <pc:docMk/>
          <pc:sldMk cId="3879028955" sldId="349"/>
        </pc:sldMkLst>
        <pc:graphicFrameChg chg="modGraphic">
          <ac:chgData name="Bruno Augusto Nassif Travencolo" userId="S::travencolo@ufu.br::9765cb90-d5ec-451e-8c7b-af57428794a1" providerId="AD" clId="Web-{2DF860D1-B5E7-324F-E6F2-0453BFA30C88}" dt="2026-06-17T17:51:08.355" v="1"/>
          <ac:graphicFrameMkLst>
            <pc:docMk/>
            <pc:sldMk cId="3879028955" sldId="349"/>
            <ac:graphicFrameMk id="13" creationId="{00000000-0000-0000-0000-000000000000}"/>
          </ac:graphicFrameMkLst>
        </pc:graphicFrameChg>
      </pc:sldChg>
      <pc:sldChg chg="addSp delSp modSp new">
        <pc:chgData name="Bruno Augusto Nassif Travencolo" userId="S::travencolo@ufu.br::9765cb90-d5ec-451e-8c7b-af57428794a1" providerId="AD" clId="Web-{2DF860D1-B5E7-324F-E6F2-0453BFA30C88}" dt="2026-06-17T19:31:13.980" v="31" actId="1076"/>
        <pc:sldMkLst>
          <pc:docMk/>
          <pc:sldMk cId="209056313" sldId="388"/>
        </pc:sldMkLst>
        <pc:spChg chg="del">
          <ac:chgData name="Bruno Augusto Nassif Travencolo" userId="S::travencolo@ufu.br::9765cb90-d5ec-451e-8c7b-af57428794a1" providerId="AD" clId="Web-{2DF860D1-B5E7-324F-E6F2-0453BFA30C88}" dt="2026-06-17T19:27:00.263" v="3"/>
          <ac:spMkLst>
            <pc:docMk/>
            <pc:sldMk cId="209056313" sldId="388"/>
            <ac:spMk id="3" creationId="{E2E356C3-2C85-AEEE-C910-4E16A229DA8C}"/>
          </ac:spMkLst>
        </pc:spChg>
        <pc:picChg chg="add mod ord">
          <ac:chgData name="Bruno Augusto Nassif Travencolo" userId="S::travencolo@ufu.br::9765cb90-d5ec-451e-8c7b-af57428794a1" providerId="AD" clId="Web-{2DF860D1-B5E7-324F-E6F2-0453BFA30C88}" dt="2026-06-17T19:27:02.435" v="4" actId="1076"/>
          <ac:picMkLst>
            <pc:docMk/>
            <pc:sldMk cId="209056313" sldId="388"/>
            <ac:picMk id="4" creationId="{43F894A7-2EAD-7909-6ED8-896FE7E46940}"/>
          </ac:picMkLst>
        </pc:picChg>
        <pc:picChg chg="add del mod">
          <ac:chgData name="Bruno Augusto Nassif Travencolo" userId="S::travencolo@ufu.br::9765cb90-d5ec-451e-8c7b-af57428794a1" providerId="AD" clId="Web-{2DF860D1-B5E7-324F-E6F2-0453BFA30C88}" dt="2026-06-17T19:29:48.887" v="23"/>
          <ac:picMkLst>
            <pc:docMk/>
            <pc:sldMk cId="209056313" sldId="388"/>
            <ac:picMk id="5" creationId="{1D4AB554-BC49-24EA-F8C7-D1D08C74CBB6}"/>
          </ac:picMkLst>
        </pc:picChg>
        <pc:picChg chg="add del mod">
          <ac:chgData name="Bruno Augusto Nassif Travencolo" userId="S::travencolo@ufu.br::9765cb90-d5ec-451e-8c7b-af57428794a1" providerId="AD" clId="Web-{2DF860D1-B5E7-324F-E6F2-0453BFA30C88}" dt="2026-06-17T19:28:39.762" v="10"/>
          <ac:picMkLst>
            <pc:docMk/>
            <pc:sldMk cId="209056313" sldId="388"/>
            <ac:picMk id="6" creationId="{803DF2D0-E3D7-34FA-313C-35C24F41CE4B}"/>
          </ac:picMkLst>
        </pc:picChg>
        <pc:picChg chg="add mod">
          <ac:chgData name="Bruno Augusto Nassif Travencolo" userId="S::travencolo@ufu.br::9765cb90-d5ec-451e-8c7b-af57428794a1" providerId="AD" clId="Web-{2DF860D1-B5E7-324F-E6F2-0453BFA30C88}" dt="2026-06-17T19:28:53.090" v="12" actId="1076"/>
          <ac:picMkLst>
            <pc:docMk/>
            <pc:sldMk cId="209056313" sldId="388"/>
            <ac:picMk id="7" creationId="{A55DA56C-26AD-A0AF-0EF6-1632BD7C3B66}"/>
          </ac:picMkLst>
        </pc:picChg>
        <pc:picChg chg="add del">
          <ac:chgData name="Bruno Augusto Nassif Travencolo" userId="S::travencolo@ufu.br::9765cb90-d5ec-451e-8c7b-af57428794a1" providerId="AD" clId="Web-{2DF860D1-B5E7-324F-E6F2-0453BFA30C88}" dt="2026-06-17T19:29:50.481" v="24"/>
          <ac:picMkLst>
            <pc:docMk/>
            <pc:sldMk cId="209056313" sldId="388"/>
            <ac:picMk id="9" creationId="{E200ADC9-7813-6CAE-2F03-A8F872D2623B}"/>
          </ac:picMkLst>
        </pc:picChg>
        <pc:picChg chg="add del">
          <ac:chgData name="Bruno Augusto Nassif Travencolo" userId="S::travencolo@ufu.br::9765cb90-d5ec-451e-8c7b-af57428794a1" providerId="AD" clId="Web-{2DF860D1-B5E7-324F-E6F2-0453BFA30C88}" dt="2026-06-17T19:29:47.590" v="22"/>
          <ac:picMkLst>
            <pc:docMk/>
            <pc:sldMk cId="209056313" sldId="388"/>
            <ac:picMk id="10" creationId="{55633396-7279-7632-2D9E-6CB263BC67C8}"/>
          </ac:picMkLst>
        </pc:picChg>
        <pc:picChg chg="add mod">
          <ac:chgData name="Bruno Augusto Nassif Travencolo" userId="S::travencolo@ufu.br::9765cb90-d5ec-451e-8c7b-af57428794a1" providerId="AD" clId="Web-{2DF860D1-B5E7-324F-E6F2-0453BFA30C88}" dt="2026-06-17T19:29:01.793" v="17" actId="1076"/>
          <ac:picMkLst>
            <pc:docMk/>
            <pc:sldMk cId="209056313" sldId="388"/>
            <ac:picMk id="12" creationId="{C97A95A0-F0BE-CF4B-4459-60B62237C993}"/>
          </ac:picMkLst>
        </pc:picChg>
        <pc:picChg chg="add del mod">
          <ac:chgData name="Bruno Augusto Nassif Travencolo" userId="S::travencolo@ufu.br::9765cb90-d5ec-451e-8c7b-af57428794a1" providerId="AD" clId="Web-{2DF860D1-B5E7-324F-E6F2-0453BFA30C88}" dt="2026-06-17T19:31:04.840" v="29"/>
          <ac:picMkLst>
            <pc:docMk/>
            <pc:sldMk cId="209056313" sldId="388"/>
            <ac:picMk id="13" creationId="{5870924B-2E56-4460-65F8-9EF39583E7EE}"/>
          </ac:picMkLst>
        </pc:picChg>
        <pc:picChg chg="add mod">
          <ac:chgData name="Bruno Augusto Nassif Travencolo" userId="S::travencolo@ufu.br::9765cb90-d5ec-451e-8c7b-af57428794a1" providerId="AD" clId="Web-{2DF860D1-B5E7-324F-E6F2-0453BFA30C88}" dt="2026-06-17T19:29:34.950" v="21" actId="1076"/>
          <ac:picMkLst>
            <pc:docMk/>
            <pc:sldMk cId="209056313" sldId="388"/>
            <ac:picMk id="14" creationId="{FC0091C8-D406-6CE8-6DF2-7B18804AA572}"/>
          </ac:picMkLst>
        </pc:picChg>
        <pc:picChg chg="add mod">
          <ac:chgData name="Bruno Augusto Nassif Travencolo" userId="S::travencolo@ufu.br::9765cb90-d5ec-451e-8c7b-af57428794a1" providerId="AD" clId="Web-{2DF860D1-B5E7-324F-E6F2-0453BFA30C88}" dt="2026-06-17T19:30:57.246" v="28"/>
          <ac:picMkLst>
            <pc:docMk/>
            <pc:sldMk cId="209056313" sldId="388"/>
            <ac:picMk id="15" creationId="{5878716E-008D-AB31-FF39-E946775FBB4F}"/>
          </ac:picMkLst>
        </pc:picChg>
        <pc:picChg chg="add mod">
          <ac:chgData name="Bruno Augusto Nassif Travencolo" userId="S::travencolo@ufu.br::9765cb90-d5ec-451e-8c7b-af57428794a1" providerId="AD" clId="Web-{2DF860D1-B5E7-324F-E6F2-0453BFA30C88}" dt="2026-06-17T19:31:13.980" v="31" actId="1076"/>
          <ac:picMkLst>
            <pc:docMk/>
            <pc:sldMk cId="209056313" sldId="388"/>
            <ac:picMk id="16" creationId="{6FAFF491-0D54-F533-D865-2EBC2C16E8D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82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82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39F1A57-F33E-4393-8FA2-1F69FD535ECB}" type="datetimeFigureOut">
              <a:rPr lang="pt-BR"/>
              <a:pPr>
                <a:defRPr/>
              </a:pPr>
              <a:t>17/06/2026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9177338"/>
            <a:ext cx="2971800" cy="482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9177338"/>
            <a:ext cx="2971800" cy="482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7E35290-FFF3-4850-9B03-F21DE39FB8F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86287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12T21:08:06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32 11602,'0'0'5738,"-23"0"-5738,0-10-2393,7-1-79,-7 0-3322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82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82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B7D31CAC-F0C2-41EF-A01C-D8DF37D60C8E}" type="datetimeFigureOut">
              <a:rPr lang="pt-BR"/>
              <a:pPr>
                <a:defRPr/>
              </a:pPr>
              <a:t>17/06/2026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012825" y="723900"/>
            <a:ext cx="4832350" cy="36242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589463"/>
            <a:ext cx="5486400" cy="4348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177338"/>
            <a:ext cx="2971800" cy="482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9177338"/>
            <a:ext cx="2971800" cy="482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32429B5-5C1F-43B1-A586-EC1D265D517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80630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2560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C5E5E98-18BA-4647-9469-D0AC204A8FF1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ço Reservado para Imagem de Slide 1">
            <a:extLst>
              <a:ext uri="{FF2B5EF4-FFF2-40B4-BE49-F238E27FC236}">
                <a16:creationId xmlns:a16="http://schemas.microsoft.com/office/drawing/2014/main" id="{8B2D2A5F-8A9A-F9B5-EB0B-B479B97C18A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Espaço Reservado para Anotações 2">
            <a:extLst>
              <a:ext uri="{FF2B5EF4-FFF2-40B4-BE49-F238E27FC236}">
                <a16:creationId xmlns:a16="http://schemas.microsoft.com/office/drawing/2014/main" id="{4CFB4B03-5753-FD35-5428-8E7B61BAB43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29700" name="Espaço Reservado para Número de Slide 3">
            <a:extLst>
              <a:ext uri="{FF2B5EF4-FFF2-40B4-BE49-F238E27FC236}">
                <a16:creationId xmlns:a16="http://schemas.microsoft.com/office/drawing/2014/main" id="{CD10B5CE-B903-2DD0-7872-F96B29419D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A8214FF-13C4-4840-92C9-436CC68C030E}" type="slidenum">
              <a:rPr lang="pt-BR" altLang="pt-BR">
                <a:latin typeface="Calibri" panose="020F0502020204030204" pitchFamily="34" charset="0"/>
              </a:rPr>
              <a:pPr eaLnBrk="1" hangingPunct="1"/>
              <a:t>3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ço Reservado para Imagem de Slide 1">
            <a:extLst>
              <a:ext uri="{FF2B5EF4-FFF2-40B4-BE49-F238E27FC236}">
                <a16:creationId xmlns:a16="http://schemas.microsoft.com/office/drawing/2014/main" id="{4FC16D67-A996-3E63-B66A-12A99411425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Espaço Reservado para Anotações 2">
            <a:extLst>
              <a:ext uri="{FF2B5EF4-FFF2-40B4-BE49-F238E27FC236}">
                <a16:creationId xmlns:a16="http://schemas.microsoft.com/office/drawing/2014/main" id="{60695A88-E08B-8AB4-3E5A-E499EB2CE6E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30724" name="Espaço Reservado para Número de Slide 3">
            <a:extLst>
              <a:ext uri="{FF2B5EF4-FFF2-40B4-BE49-F238E27FC236}">
                <a16:creationId xmlns:a16="http://schemas.microsoft.com/office/drawing/2014/main" id="{1D716006-DB40-BA87-C369-43C164F25B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11364EF-4CF0-4F4B-A879-B93F792DB71A}" type="slidenum">
              <a:rPr lang="pt-BR" altLang="pt-BR">
                <a:latin typeface="Calibri" panose="020F0502020204030204" pitchFamily="34" charset="0"/>
              </a:rPr>
              <a:pPr eaLnBrk="1" hangingPunct="1"/>
              <a:t>4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ço Reservado para Imagem de Slide 1">
            <a:extLst>
              <a:ext uri="{FF2B5EF4-FFF2-40B4-BE49-F238E27FC236}">
                <a16:creationId xmlns:a16="http://schemas.microsoft.com/office/drawing/2014/main" id="{8CFEACF5-A7B1-376D-9447-7123A3AC270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Espaço Reservado para Anotações 2">
            <a:extLst>
              <a:ext uri="{FF2B5EF4-FFF2-40B4-BE49-F238E27FC236}">
                <a16:creationId xmlns:a16="http://schemas.microsoft.com/office/drawing/2014/main" id="{3347BC44-4398-90F0-C973-028B964A2F8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841BEE0-49AA-A96C-5CCD-A106B610B0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9EB3EFF-4363-4822-95D5-823D8B57D85E}" type="slidenum">
              <a:rPr lang="pt-BR" altLang="pt-BR">
                <a:latin typeface="Calibri" panose="020F0502020204030204" pitchFamily="34" charset="0"/>
              </a:rPr>
              <a:pPr eaLnBrk="1" hangingPunct="1"/>
              <a:t>5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28676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BE73D7B-19A2-4E42-BFFD-CAFD4A279EDE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2970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FD05471-E2FE-48CE-A45C-DD38E0E46FCB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2970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FD05471-E2FE-48CE-A45C-DD38E0E46FCB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pt-B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2970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FD05471-E2FE-48CE-A45C-DD38E0E46FCB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pt-B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3994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8E69767-E244-4ADF-B326-367A85A57CA6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pt-B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4096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D025F91-80B6-493C-9EF4-4E54911E9A2E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pt-B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4096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D025F91-80B6-493C-9EF4-4E54911E9A2E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pt-B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ço Reservado para Imagem de Slide 1">
            <a:extLst>
              <a:ext uri="{FF2B5EF4-FFF2-40B4-BE49-F238E27FC236}">
                <a16:creationId xmlns:a16="http://schemas.microsoft.com/office/drawing/2014/main" id="{7C2126F2-3E05-2E54-1CEC-951C2696DB0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899" name="Espaço Reservado para Anotações 2">
            <a:extLst>
              <a:ext uri="{FF2B5EF4-FFF2-40B4-BE49-F238E27FC236}">
                <a16:creationId xmlns:a16="http://schemas.microsoft.com/office/drawing/2014/main" id="{14FF0A82-CFBA-A56D-E100-694FBE06634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43012" name="Espaço Reservado para Número de Slide 3">
            <a:extLst>
              <a:ext uri="{FF2B5EF4-FFF2-40B4-BE49-F238E27FC236}">
                <a16:creationId xmlns:a16="http://schemas.microsoft.com/office/drawing/2014/main" id="{08E03918-AB6C-8AED-393B-94F56571C8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ACE6C76-82D5-48A3-B51C-421AAD8FD76D}" type="slidenum">
              <a:rPr lang="pt-BR" altLang="pt-BR">
                <a:latin typeface="Calibri" panose="020F0502020204030204" pitchFamily="34" charset="0"/>
              </a:rPr>
              <a:pPr eaLnBrk="1" hangingPunct="1"/>
              <a:t>23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ço Reservado para Imagem de Slide 1">
            <a:extLst>
              <a:ext uri="{FF2B5EF4-FFF2-40B4-BE49-F238E27FC236}">
                <a16:creationId xmlns:a16="http://schemas.microsoft.com/office/drawing/2014/main" id="{B7CD2876-3551-5B6E-E758-82E8EB255AD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Espaço Reservado para Anotações 2">
            <a:extLst>
              <a:ext uri="{FF2B5EF4-FFF2-40B4-BE49-F238E27FC236}">
                <a16:creationId xmlns:a16="http://schemas.microsoft.com/office/drawing/2014/main" id="{03FA5906-EA56-1AFD-F39A-ADBBD09C086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43012" name="Espaço Reservado para Número de Slide 3">
            <a:extLst>
              <a:ext uri="{FF2B5EF4-FFF2-40B4-BE49-F238E27FC236}">
                <a16:creationId xmlns:a16="http://schemas.microsoft.com/office/drawing/2014/main" id="{B89D576A-8B8C-22CC-9CD7-4403C43917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68C8C51-7C3B-4B92-AAFA-4886EB170E25}" type="slidenum">
              <a:rPr lang="pt-BR" altLang="pt-BR">
                <a:latin typeface="Calibri" panose="020F0502020204030204" pitchFamily="34" charset="0"/>
              </a:rPr>
              <a:pPr eaLnBrk="1" hangingPunct="1"/>
              <a:t>24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ço Reservado para Imagem de Slide 1">
            <a:extLst>
              <a:ext uri="{FF2B5EF4-FFF2-40B4-BE49-F238E27FC236}">
                <a16:creationId xmlns:a16="http://schemas.microsoft.com/office/drawing/2014/main" id="{C032B95F-F433-D257-BBA1-F7922C18C0C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7" name="Espaço Reservado para Anotações 2">
            <a:extLst>
              <a:ext uri="{FF2B5EF4-FFF2-40B4-BE49-F238E27FC236}">
                <a16:creationId xmlns:a16="http://schemas.microsoft.com/office/drawing/2014/main" id="{C3587599-D4A4-1A77-27C9-11F1769E1A0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75F1AEB-4C00-F91C-525E-665883ABF7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CBA1402-1670-4EA1-9333-CBC9AD3AA997}" type="slidenum">
              <a:rPr lang="pt-BR" altLang="pt-BR">
                <a:latin typeface="Calibri" panose="020F0502020204030204" pitchFamily="34" charset="0"/>
              </a:rPr>
              <a:pPr eaLnBrk="1" hangingPunct="1"/>
              <a:t>25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ço Reservado para Imagem de Slide 1">
            <a:extLst>
              <a:ext uri="{FF2B5EF4-FFF2-40B4-BE49-F238E27FC236}">
                <a16:creationId xmlns:a16="http://schemas.microsoft.com/office/drawing/2014/main" id="{4EB4CF82-5AFC-51E3-1F6D-896588DA86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Espaço Reservado para Anotações 2">
            <a:extLst>
              <a:ext uri="{FF2B5EF4-FFF2-40B4-BE49-F238E27FC236}">
                <a16:creationId xmlns:a16="http://schemas.microsoft.com/office/drawing/2014/main" id="{26A5D0E3-0E53-4B0B-79B7-9CC22929C7E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45060" name="Espaço Reservado para Número de Slide 3">
            <a:extLst>
              <a:ext uri="{FF2B5EF4-FFF2-40B4-BE49-F238E27FC236}">
                <a16:creationId xmlns:a16="http://schemas.microsoft.com/office/drawing/2014/main" id="{0450C49D-033F-B553-EB87-8DE3C3FAA5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4D7B9BE-56C5-42FF-8687-3B651F47381C}" type="slidenum">
              <a:rPr lang="pt-BR" altLang="pt-BR">
                <a:latin typeface="Calibri" panose="020F0502020204030204" pitchFamily="34" charset="0"/>
              </a:rPr>
              <a:pPr eaLnBrk="1" hangingPunct="1"/>
              <a:t>26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ço Reservado para Imagem de Slide 1">
            <a:extLst>
              <a:ext uri="{FF2B5EF4-FFF2-40B4-BE49-F238E27FC236}">
                <a16:creationId xmlns:a16="http://schemas.microsoft.com/office/drawing/2014/main" id="{8A218238-EA9E-896C-B01C-5B3638C1429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5" name="Espaço Reservado para Anotações 2">
            <a:extLst>
              <a:ext uri="{FF2B5EF4-FFF2-40B4-BE49-F238E27FC236}">
                <a16:creationId xmlns:a16="http://schemas.microsoft.com/office/drawing/2014/main" id="{C4B404A4-B032-29FB-5EDF-D7E84AC2BA2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46084" name="Espaço Reservado para Número de Slide 3">
            <a:extLst>
              <a:ext uri="{FF2B5EF4-FFF2-40B4-BE49-F238E27FC236}">
                <a16:creationId xmlns:a16="http://schemas.microsoft.com/office/drawing/2014/main" id="{8E653007-6804-BBEA-9C01-949C4B41C6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14F817F-9620-4A8C-A0E0-F487C2444013}" type="slidenum">
              <a:rPr lang="pt-BR" altLang="pt-BR">
                <a:latin typeface="Calibri" panose="020F0502020204030204" pitchFamily="34" charset="0"/>
              </a:rPr>
              <a:pPr eaLnBrk="1" hangingPunct="1"/>
              <a:t>27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ço Reservado para Imagem de Slide 1">
            <a:extLst>
              <a:ext uri="{FF2B5EF4-FFF2-40B4-BE49-F238E27FC236}">
                <a16:creationId xmlns:a16="http://schemas.microsoft.com/office/drawing/2014/main" id="{CC765B3C-F521-523B-4B97-314EE558A83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7" name="Espaço Reservado para Anotações 2">
            <a:extLst>
              <a:ext uri="{FF2B5EF4-FFF2-40B4-BE49-F238E27FC236}">
                <a16:creationId xmlns:a16="http://schemas.microsoft.com/office/drawing/2014/main" id="{1FDC97F8-CC32-C70F-6038-0BE3C8868B3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752553D-94C9-E672-3A3E-3A97C3362B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7B4B650-BF00-4F49-AA64-9992532F02CC}" type="slidenum">
              <a:rPr lang="pt-BR" altLang="pt-BR">
                <a:latin typeface="Calibri" panose="020F0502020204030204" pitchFamily="34" charset="0"/>
              </a:rPr>
              <a:pPr eaLnBrk="1" hangingPunct="1"/>
              <a:t>29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ço Reservado para Imagem de Slide 1">
            <a:extLst>
              <a:ext uri="{FF2B5EF4-FFF2-40B4-BE49-F238E27FC236}">
                <a16:creationId xmlns:a16="http://schemas.microsoft.com/office/drawing/2014/main" id="{99A10191-6444-3382-5210-300B227575B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Espaço Reservado para Anotações 2">
            <a:extLst>
              <a:ext uri="{FF2B5EF4-FFF2-40B4-BE49-F238E27FC236}">
                <a16:creationId xmlns:a16="http://schemas.microsoft.com/office/drawing/2014/main" id="{696991F1-F265-F7B9-768A-01C4132C868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43012" name="Espaço Reservado para Número de Slide 3">
            <a:extLst>
              <a:ext uri="{FF2B5EF4-FFF2-40B4-BE49-F238E27FC236}">
                <a16:creationId xmlns:a16="http://schemas.microsoft.com/office/drawing/2014/main" id="{8C23EFCD-5951-75B6-0FC5-5EBAC55631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CE724BB-7E82-4E56-97ED-A8879AB8BA4F}" type="slidenum">
              <a:rPr lang="pt-BR" altLang="pt-BR">
                <a:latin typeface="Calibri" panose="020F0502020204030204" pitchFamily="34" charset="0"/>
              </a:rPr>
              <a:pPr eaLnBrk="1" hangingPunct="1"/>
              <a:t>30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113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pt-BR"/>
              <a:t>Falar do filtro de máximo</a:t>
            </a:r>
          </a:p>
        </p:txBody>
      </p:sp>
      <p:sp>
        <p:nvSpPr>
          <p:cNvPr id="4301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BF7C31C-5E4A-4035-B047-7AEA70485031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35</a:t>
            </a:fld>
            <a:endParaRPr lang="pt-B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pt-BR"/>
              <a:t>Falar do filtro de máximo</a:t>
            </a:r>
          </a:p>
        </p:txBody>
      </p:sp>
      <p:sp>
        <p:nvSpPr>
          <p:cNvPr id="4301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C1403A0-796B-45FE-99DC-4FC94200B78B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36</a:t>
            </a:fld>
            <a:endParaRPr lang="pt-B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523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145F2A8-B9A0-4BBA-A1B8-66AABE7DA75F}" type="slidenum">
              <a:rPr lang="pt-BR" smtClean="0"/>
              <a:pPr>
                <a:defRPr/>
              </a:pPr>
              <a:t>38</a:t>
            </a:fld>
            <a:endParaRPr lang="pt-B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FCBF20F-4FB8-439A-ADB0-F7401CBCCF8E}" type="slidenum">
              <a:rPr lang="pt-BR" smtClean="0"/>
              <a:pPr>
                <a:defRPr/>
              </a:pPr>
              <a:t>45</a:t>
            </a:fld>
            <a:endParaRPr lang="pt-B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830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6AA0B1-0363-4786-8477-B4612F14FC5E}" type="slidenum">
              <a:rPr lang="pt-BR" smtClean="0"/>
              <a:pPr>
                <a:defRPr/>
              </a:pPr>
              <a:t>46</a:t>
            </a:fld>
            <a:endParaRPr lang="pt-B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830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6AA0B1-0363-4786-8477-B4612F14FC5E}" type="slidenum">
              <a:rPr lang="pt-BR" smtClean="0"/>
              <a:pPr>
                <a:defRPr/>
              </a:pPr>
              <a:t>47</a:t>
            </a:fld>
            <a:endParaRPr lang="pt-BR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830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6AA0B1-0363-4786-8477-B4612F14FC5E}" type="slidenum">
              <a:rPr lang="pt-BR" smtClean="0"/>
              <a:pPr>
                <a:defRPr/>
              </a:pPr>
              <a:t>48</a:t>
            </a:fld>
            <a:endParaRPr lang="pt-BR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0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3C45D04-E91F-441A-871A-1001D6A7E0F4}" type="slidenum">
              <a:rPr lang="pt-BR" smtClean="0"/>
              <a:pPr>
                <a:defRPr/>
              </a:pPr>
              <a:t>55</a:t>
            </a:fld>
            <a:endParaRPr lang="pt-BR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0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3C45D04-E91F-441A-871A-1001D6A7E0F4}" type="slidenum">
              <a:rPr lang="pt-BR" smtClean="0"/>
              <a:pPr>
                <a:defRPr/>
              </a:pPr>
              <a:t>56</a:t>
            </a:fld>
            <a:endParaRPr lang="pt-BR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42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E4C23A-8CBA-4425-A138-60A27EA2F43E}" type="slidenum">
              <a:rPr lang="pt-BR" smtClean="0"/>
              <a:pPr>
                <a:defRPr/>
              </a:pPr>
              <a:t>59</a:t>
            </a:fld>
            <a:endParaRPr lang="pt-BR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45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5AC11C7-7E4F-490D-A893-8865E569AD2E}" type="slidenum">
              <a:rPr lang="pt-BR" smtClean="0"/>
              <a:pPr>
                <a:defRPr/>
              </a:pPr>
              <a:t>60</a:t>
            </a:fld>
            <a:endParaRPr lang="pt-BR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547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BCB559-6706-49D6-8872-1EC5A436FB05}" type="slidenum">
              <a:rPr lang="pt-BR" smtClean="0"/>
              <a:pPr>
                <a:defRPr/>
              </a:pPr>
              <a:t>61</a:t>
            </a:fld>
            <a:endParaRPr lang="pt-BR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649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6A58943-FB7D-4C98-B505-736549BBDB6E}" type="slidenum">
              <a:rPr lang="pt-BR" smtClean="0"/>
              <a:pPr>
                <a:defRPr/>
              </a:pPr>
              <a:t>62</a:t>
            </a:fld>
            <a:endParaRPr lang="pt-BR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52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420C40-D1C1-4930-99B6-10F6A2964953}" type="slidenum">
              <a:rPr lang="pt-BR" smtClean="0"/>
              <a:pPr>
                <a:defRPr/>
              </a:pPr>
              <a:t>63</a:t>
            </a:fld>
            <a:endParaRPr lang="pt-BR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854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2EBE940-8054-4784-855C-CDF721F10F8B}" type="slidenum">
              <a:rPr lang="pt-BR" smtClean="0"/>
              <a:pPr>
                <a:defRPr/>
              </a:pPr>
              <a:t>64</a:t>
            </a:fld>
            <a:endParaRPr lang="pt-BR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957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8BAC00-E6EB-4786-B38E-296F2D9086D4}" type="slidenum">
              <a:rPr lang="pt-BR" smtClean="0"/>
              <a:pPr>
                <a:defRPr/>
              </a:pPr>
              <a:t>65</a:t>
            </a:fld>
            <a:endParaRPr lang="pt-BR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957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8BAC00-E6EB-4786-B38E-296F2D9086D4}" type="slidenum">
              <a:rPr lang="pt-BR" smtClean="0"/>
              <a:pPr>
                <a:defRPr/>
              </a:pPr>
              <a:t>67</a:t>
            </a:fld>
            <a:endParaRPr lang="pt-BR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059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43CADE-B18D-4315-ACBA-9B8B475B40BC}" type="slidenum">
              <a:rPr lang="pt-BR" smtClean="0"/>
              <a:pPr>
                <a:defRPr/>
              </a:pPr>
              <a:t>68</a:t>
            </a:fld>
            <a:endParaRPr lang="pt-BR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49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3F0BD9F-DBFA-46DD-98B9-521EF8F1F068}" type="slidenum">
              <a:rPr lang="pt-BR" smtClean="0"/>
              <a:pPr>
                <a:defRPr/>
              </a:pPr>
              <a:t>69</a:t>
            </a:fld>
            <a:endParaRPr lang="pt-BR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C49BA56-65B0-4DB1-A884-1B608F343646}" type="slidenum">
              <a:rPr lang="pt-BR" smtClean="0"/>
              <a:pPr>
                <a:defRPr/>
              </a:pPr>
              <a:t>70</a:t>
            </a:fld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0ADD2241-0155-4733-9F5C-3541B2C5C78B}" type="datetimeFigureOut">
              <a:rPr lang="pt-BR" smtClean="0"/>
              <a:pPr>
                <a:defRPr/>
              </a:pPr>
              <a:t>17/06/2026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B7100543-BDAF-4B07-B74F-DC2D3CC64D93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DEEC68F-67E4-4363-B94F-9C3BBAC6AC19}" type="datetimeFigureOut">
              <a:rPr lang="pt-BR" smtClean="0"/>
              <a:pPr>
                <a:defRPr/>
              </a:pPr>
              <a:t>17/06/2026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9FAD7DCE-9BF6-4BCB-A028-CEC209FD1F11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81859C0-2C75-46BE-B145-DA066BF1F982}" type="datetimeFigureOut">
              <a:rPr lang="pt-BR" smtClean="0"/>
              <a:pPr>
                <a:defRPr/>
              </a:pPr>
              <a:t>17/06/2026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A580381-B43B-4F42-8E65-028C0B27AEE8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>
              <a:defRPr/>
            </a:pPr>
            <a:fld id="{4F1AEC33-178E-420C-A6AD-5996210A529C}" type="datetimeFigureOut">
              <a:rPr lang="pt-BR" smtClean="0"/>
              <a:pPr>
                <a:defRPr/>
              </a:pPr>
              <a:t>17/06/2026</a:t>
            </a:fld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>
              <a:defRPr/>
            </a:pPr>
            <a:fld id="{A6C5B13A-3177-4579-9084-9EEC1B274296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>
              <a:defRPr/>
            </a:pPr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>
              <a:defRPr/>
            </a:pPr>
            <a:fld id="{7853138C-E868-47B5-8DCF-2C3F87FE1A77}" type="datetimeFigureOut">
              <a:rPr lang="pt-BR" smtClean="0"/>
              <a:pPr>
                <a:defRPr/>
              </a:pPr>
              <a:t>17/06/2026</a:t>
            </a:fld>
            <a:endParaRPr lang="pt-BR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>
              <a:defRPr/>
            </a:pPr>
            <a:fld id="{9B1117E0-B667-4980-AD10-4493A728CA24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>
              <a:defRPr/>
            </a:pPr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53AD2A7-9F9E-4806-9C40-1F7FBA8B8D14}" type="datetimeFigureOut">
              <a:rPr lang="pt-BR" smtClean="0"/>
              <a:pPr>
                <a:defRPr/>
              </a:pPr>
              <a:t>17/06/2026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012B20D4-501C-40A1-9878-F0D0E8717EAE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A7DB86-D5C9-4310-9B12-AA1E663643E7}" type="datetimeFigureOut">
              <a:rPr lang="pt-BR" smtClean="0"/>
              <a:pPr>
                <a:defRPr/>
              </a:pPr>
              <a:t>17/06/2026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7C07D5A2-4E51-4381-AE14-9DEDAB3BE17E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2D7227-47DA-4EC0-8EE9-9424834AFDDA}" type="datetimeFigureOut">
              <a:rPr lang="pt-BR" smtClean="0"/>
              <a:pPr>
                <a:defRPr/>
              </a:pPr>
              <a:t>17/06/2026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2835E4FD-EB04-4899-B275-D55DED67ADD4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pPr>
              <a:defRPr/>
            </a:pPr>
            <a:fld id="{F87CBD32-B24D-4125-BED9-C1940F66D9C6}" type="datetimeFigureOut">
              <a:rPr lang="pt-BR" smtClean="0"/>
              <a:pPr>
                <a:defRPr/>
              </a:pPr>
              <a:t>17/06/2026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93029694-C98E-48C0-897A-79B3A1F084DA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pPr>
              <a:defRPr/>
            </a:pP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6E11749-0268-4737-A462-7E9D9797F0F5}" type="datetimeFigureOut">
              <a:rPr lang="pt-BR" smtClean="0"/>
              <a:pPr>
                <a:defRPr/>
              </a:pPr>
              <a:t>17/06/2026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F143D2-7F5D-4F8A-B030-89CDD974A4C6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pPr>
              <a:defRPr/>
            </a:pPr>
            <a:fld id="{72B64875-B016-4B5F-905E-5ED312C408A5}" type="datetimeFigureOut">
              <a:rPr lang="pt-BR" smtClean="0"/>
              <a:pPr>
                <a:defRPr/>
              </a:pPr>
              <a:t>17/06/2026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pPr>
              <a:defRPr/>
            </a:pPr>
            <a:fld id="{8B06ECB4-070B-428A-8423-A9174FFDF23E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B17B07C5-8200-4651-B9AE-742E61FD85BE}" type="datetimeFigureOut">
              <a:rPr lang="pt-BR" smtClean="0"/>
              <a:pPr>
                <a:defRPr/>
              </a:pPr>
              <a:t>17/06/2026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18F768C-4133-4074-B342-A2887F7FEBC1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4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image" Target="../media/image48.wmf"/><Relationship Id="rId3" Type="http://schemas.openxmlformats.org/officeDocument/2006/relationships/image" Target="../media/image43.wmf"/><Relationship Id="rId7" Type="http://schemas.openxmlformats.org/officeDocument/2006/relationships/image" Target="../media/image45.wmf"/><Relationship Id="rId12" Type="http://schemas.openxmlformats.org/officeDocument/2006/relationships/oleObject" Target="../embeddings/oleObject14.bin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47.wmf"/><Relationship Id="rId5" Type="http://schemas.openxmlformats.org/officeDocument/2006/relationships/image" Target="../media/image44.wmf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46.w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wm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w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66.wmf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wmf"/><Relationship Id="rId4" Type="http://schemas.openxmlformats.org/officeDocument/2006/relationships/oleObject" Target="../embeddings/oleObject22.bin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70.w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wmf"/><Relationship Id="rId4" Type="http://schemas.openxmlformats.org/officeDocument/2006/relationships/oleObject" Target="../embeddings/oleObject24.bin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pt-BR" dirty="0"/>
              <a:t>Filtragem espacial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Filtros Digitais no domínio do espaço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Definição</a:t>
            </a:r>
          </a:p>
          <a:p>
            <a:pPr lvl="1"/>
            <a:r>
              <a:rPr lang="pt-BR" dirty="0"/>
              <a:t>Também conhecidos como operadores locais ou filtros locais </a:t>
            </a:r>
          </a:p>
          <a:p>
            <a:pPr lvl="1"/>
            <a:r>
              <a:rPr lang="pt-BR" dirty="0"/>
              <a:t>Combinam a intensidade de um certo número de pixels, para gerar a intensidade da imagem de saída.</a:t>
            </a:r>
          </a:p>
        </p:txBody>
      </p:sp>
      <p:grpSp>
        <p:nvGrpSpPr>
          <p:cNvPr id="8" name="Grupo 7"/>
          <p:cNvGrpSpPr/>
          <p:nvPr/>
        </p:nvGrpSpPr>
        <p:grpSpPr>
          <a:xfrm>
            <a:off x="1066800" y="4182144"/>
            <a:ext cx="6948488" cy="2675247"/>
            <a:chOff x="1066800" y="4182144"/>
            <a:chExt cx="6948488" cy="2675247"/>
          </a:xfrm>
        </p:grpSpPr>
        <p:pic>
          <p:nvPicPr>
            <p:cNvPr id="4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6800" y="4182144"/>
              <a:ext cx="6948488" cy="25574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1425609" y="6453134"/>
              <a:ext cx="217239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pt-BR" dirty="0"/>
                <a:t>imagem de entrada</a:t>
              </a:r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5701906" y="6488059"/>
              <a:ext cx="2018501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pt-BR" dirty="0"/>
                <a:t>imagem de saída</a:t>
              </a:r>
            </a:p>
          </p:txBody>
        </p:sp>
        <p:sp>
          <p:nvSpPr>
            <p:cNvPr id="7" name="Retângulo 6"/>
            <p:cNvSpPr/>
            <p:nvPr/>
          </p:nvSpPr>
          <p:spPr>
            <a:xfrm>
              <a:off x="4067944" y="5805264"/>
              <a:ext cx="1152128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8742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C776F8-90CC-3B48-10DB-DA2EBB1FA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/>
              <a:t>Domínio Espacial x Domínio da Transformada</a:t>
            </a:r>
          </a:p>
        </p:txBody>
      </p:sp>
      <p:sp>
        <p:nvSpPr>
          <p:cNvPr id="6147" name="Espaço Reservado para Conteúdo 2">
            <a:extLst>
              <a:ext uri="{FF2B5EF4-FFF2-40B4-BE49-F238E27FC236}">
                <a16:creationId xmlns:a16="http://schemas.microsoft.com/office/drawing/2014/main" id="{5D203C45-C15B-045B-5A58-42A483D6F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Refere-se ao plano da imagem</a:t>
            </a:r>
          </a:p>
          <a:p>
            <a:pPr eaLnBrk="1" hangingPunct="1"/>
            <a:r>
              <a:rPr lang="pt-BR" altLang="pt-BR"/>
              <a:t>Envolve a manipulação direta dos pixels da imagem</a:t>
            </a:r>
          </a:p>
          <a:p>
            <a:pPr eaLnBrk="1" hangingPunct="1"/>
            <a:endParaRPr lang="pt-BR" altLang="pt-BR"/>
          </a:p>
        </p:txBody>
      </p:sp>
      <p:grpSp>
        <p:nvGrpSpPr>
          <p:cNvPr id="6148" name="Grupo 29">
            <a:extLst>
              <a:ext uri="{FF2B5EF4-FFF2-40B4-BE49-F238E27FC236}">
                <a16:creationId xmlns:a16="http://schemas.microsoft.com/office/drawing/2014/main" id="{8DB8F5D6-AADB-E959-3076-1F5BC54CD1B3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3786188"/>
            <a:ext cx="8431213" cy="1931987"/>
            <a:chOff x="539284" y="3786190"/>
            <a:chExt cx="8431755" cy="1931997"/>
          </a:xfrm>
        </p:grpSpPr>
        <p:sp>
          <p:nvSpPr>
            <p:cNvPr id="6149" name="CaixaDeTexto 3">
              <a:extLst>
                <a:ext uri="{FF2B5EF4-FFF2-40B4-BE49-F238E27FC236}">
                  <a16:creationId xmlns:a16="http://schemas.microsoft.com/office/drawing/2014/main" id="{9FDF8441-85E1-34B5-80EC-223601EAD5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472" y="4102894"/>
              <a:ext cx="92868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>
                  <a:latin typeface="Calibri" panose="020F0502020204030204" pitchFamily="34" charset="0"/>
                </a:rPr>
                <a:t>f(x,y)</a:t>
              </a:r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1D852893-28A9-6D58-8F67-D7AB016671DF}"/>
                </a:ext>
              </a:extLst>
            </p:cNvPr>
            <p:cNvSpPr txBox="1"/>
            <p:nvPr/>
          </p:nvSpPr>
          <p:spPr>
            <a:xfrm>
              <a:off x="1520422" y="4102104"/>
              <a:ext cx="1500284" cy="36989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pt-BR" dirty="0"/>
                <a:t>Transformada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D0591D9F-14B6-4FE4-7DEA-815F7C996540}"/>
                </a:ext>
              </a:extLst>
            </p:cNvPr>
            <p:cNvSpPr txBox="1"/>
            <p:nvPr/>
          </p:nvSpPr>
          <p:spPr>
            <a:xfrm>
              <a:off x="3878012" y="4103692"/>
              <a:ext cx="1285958" cy="368302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pt-BR" dirty="0"/>
                <a:t>Operação R</a:t>
              </a:r>
            </a:p>
          </p:txBody>
        </p:sp>
        <p:cxnSp>
          <p:nvCxnSpPr>
            <p:cNvPr id="9" name="Conector de seta reta 8">
              <a:extLst>
                <a:ext uri="{FF2B5EF4-FFF2-40B4-BE49-F238E27FC236}">
                  <a16:creationId xmlns:a16="http://schemas.microsoft.com/office/drawing/2014/main" id="{C25B62C8-DE27-BFF1-8244-9BB2CC517C92}"/>
                </a:ext>
              </a:extLst>
            </p:cNvPr>
            <p:cNvCxnSpPr/>
            <p:nvPr/>
          </p:nvCxnSpPr>
          <p:spPr>
            <a:xfrm>
              <a:off x="3092148" y="4286255"/>
              <a:ext cx="714421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53" name="CaixaDeTexto 9">
              <a:extLst>
                <a:ext uri="{FF2B5EF4-FFF2-40B4-BE49-F238E27FC236}">
                  <a16:creationId xmlns:a16="http://schemas.microsoft.com/office/drawing/2014/main" id="{1543C660-0BC6-3112-905A-F88FE6947E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2472" y="3786190"/>
              <a:ext cx="785812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>
                  <a:latin typeface="Calibri" panose="020F0502020204030204" pitchFamily="34" charset="0"/>
                </a:rPr>
                <a:t>T(u,v)</a:t>
              </a:r>
            </a:p>
          </p:txBody>
        </p:sp>
        <p:sp>
          <p:nvSpPr>
            <p:cNvPr id="6154" name="CaixaDeTexto 11">
              <a:extLst>
                <a:ext uri="{FF2B5EF4-FFF2-40B4-BE49-F238E27FC236}">
                  <a16:creationId xmlns:a16="http://schemas.microsoft.com/office/drawing/2014/main" id="{F1162C01-EB8C-864F-561A-7B4474C497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5613" y="3786190"/>
              <a:ext cx="100012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>
                  <a:latin typeface="Calibri" panose="020F0502020204030204" pitchFamily="34" charset="0"/>
                </a:rPr>
                <a:t>R[T(u,v)]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4A5B3B7-567C-AC13-8672-7189FF18EED4}"/>
                </a:ext>
              </a:extLst>
            </p:cNvPr>
            <p:cNvSpPr txBox="1"/>
            <p:nvPr/>
          </p:nvSpPr>
          <p:spPr>
            <a:xfrm>
              <a:off x="6235600" y="3963991"/>
              <a:ext cx="1500284" cy="646115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pt-BR" dirty="0"/>
                <a:t>Transformada inversa</a:t>
              </a:r>
            </a:p>
          </p:txBody>
        </p:sp>
        <p:sp>
          <p:nvSpPr>
            <p:cNvPr id="6156" name="CaixaDeTexto 19">
              <a:extLst>
                <a:ext uri="{FF2B5EF4-FFF2-40B4-BE49-F238E27FC236}">
                  <a16:creationId xmlns:a16="http://schemas.microsoft.com/office/drawing/2014/main" id="{200319AD-4A2E-3DE2-2225-77552443F4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9284" y="4714884"/>
              <a:ext cx="1071563" cy="646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>
                  <a:latin typeface="Calibri" panose="020F0502020204030204" pitchFamily="34" charset="0"/>
                </a:rPr>
                <a:t>Domínio espacial</a:t>
              </a:r>
            </a:p>
          </p:txBody>
        </p:sp>
        <p:sp>
          <p:nvSpPr>
            <p:cNvPr id="6157" name="CaixaDeTexto 20">
              <a:extLst>
                <a:ext uri="{FF2B5EF4-FFF2-40B4-BE49-F238E27FC236}">
                  <a16:creationId xmlns:a16="http://schemas.microsoft.com/office/drawing/2014/main" id="{AAD691F5-2F77-5B18-8252-A8D0AE5AAD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3998" y="5072074"/>
              <a:ext cx="1643063" cy="646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pt-BR" altLang="pt-BR">
                  <a:latin typeface="Calibri" panose="020F0502020204030204" pitchFamily="34" charset="0"/>
                </a:rPr>
                <a:t>Domínio da transformada</a:t>
              </a:r>
            </a:p>
          </p:txBody>
        </p:sp>
        <p:sp>
          <p:nvSpPr>
            <p:cNvPr id="6158" name="CaixaDeTexto 3">
              <a:extLst>
                <a:ext uri="{FF2B5EF4-FFF2-40B4-BE49-F238E27FC236}">
                  <a16:creationId xmlns:a16="http://schemas.microsoft.com/office/drawing/2014/main" id="{CB7920D0-75BC-753E-BD34-6D46E904B6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42352" y="4102894"/>
              <a:ext cx="92868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>
                  <a:latin typeface="Calibri" panose="020F0502020204030204" pitchFamily="34" charset="0"/>
                </a:rPr>
                <a:t>g(x,y)</a:t>
              </a:r>
            </a:p>
          </p:txBody>
        </p:sp>
        <p:cxnSp>
          <p:nvCxnSpPr>
            <p:cNvPr id="17" name="Conector de seta reta 16">
              <a:extLst>
                <a:ext uri="{FF2B5EF4-FFF2-40B4-BE49-F238E27FC236}">
                  <a16:creationId xmlns:a16="http://schemas.microsoft.com/office/drawing/2014/main" id="{E388E19C-67DC-AF0B-E10D-896DAAAC9917}"/>
                </a:ext>
              </a:extLst>
            </p:cNvPr>
            <p:cNvCxnSpPr/>
            <p:nvPr/>
          </p:nvCxnSpPr>
          <p:spPr>
            <a:xfrm>
              <a:off x="5235411" y="4286255"/>
              <a:ext cx="928748" cy="317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de seta reta 19">
              <a:extLst>
                <a:ext uri="{FF2B5EF4-FFF2-40B4-BE49-F238E27FC236}">
                  <a16:creationId xmlns:a16="http://schemas.microsoft.com/office/drawing/2014/main" id="{0AEFADA4-62BF-DF6D-B79C-1C2AF6175BCD}"/>
                </a:ext>
              </a:extLst>
            </p:cNvPr>
            <p:cNvCxnSpPr/>
            <p:nvPr/>
          </p:nvCxnSpPr>
          <p:spPr>
            <a:xfrm>
              <a:off x="1163212" y="4286255"/>
              <a:ext cx="285768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>
              <a:extLst>
                <a:ext uri="{FF2B5EF4-FFF2-40B4-BE49-F238E27FC236}">
                  <a16:creationId xmlns:a16="http://schemas.microsoft.com/office/drawing/2014/main" id="{C1116A86-4EBD-B9F0-4BC2-8560DD77716B}"/>
                </a:ext>
              </a:extLst>
            </p:cNvPr>
            <p:cNvCxnSpPr/>
            <p:nvPr/>
          </p:nvCxnSpPr>
          <p:spPr>
            <a:xfrm>
              <a:off x="7807326" y="4286255"/>
              <a:ext cx="285768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Chave esquerda 23">
              <a:extLst>
                <a:ext uri="{FF2B5EF4-FFF2-40B4-BE49-F238E27FC236}">
                  <a16:creationId xmlns:a16="http://schemas.microsoft.com/office/drawing/2014/main" id="{8633DE45-F8AB-D4BA-AB7C-49EE18459E6D}"/>
                </a:ext>
              </a:extLst>
            </p:cNvPr>
            <p:cNvSpPr/>
            <p:nvPr/>
          </p:nvSpPr>
          <p:spPr>
            <a:xfrm rot="16200000" flipV="1">
              <a:off x="785369" y="4357678"/>
              <a:ext cx="214313" cy="500094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  <p:sp>
          <p:nvSpPr>
            <p:cNvPr id="25" name="Chave esquerda 24">
              <a:extLst>
                <a:ext uri="{FF2B5EF4-FFF2-40B4-BE49-F238E27FC236}">
                  <a16:creationId xmlns:a16="http://schemas.microsoft.com/office/drawing/2014/main" id="{181002F5-C803-4F97-782E-03F21A7401E9}"/>
                </a:ext>
              </a:extLst>
            </p:cNvPr>
            <p:cNvSpPr/>
            <p:nvPr/>
          </p:nvSpPr>
          <p:spPr>
            <a:xfrm rot="16200000" flipV="1">
              <a:off x="8286789" y="4357677"/>
              <a:ext cx="214313" cy="500095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  <p:sp>
          <p:nvSpPr>
            <p:cNvPr id="6164" name="CaixaDeTexto 19">
              <a:extLst>
                <a:ext uri="{FF2B5EF4-FFF2-40B4-BE49-F238E27FC236}">
                  <a16:creationId xmlns:a16="http://schemas.microsoft.com/office/drawing/2014/main" id="{2F1EBFFF-3795-CEFC-ED84-D1B68457FA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8914" y="4714884"/>
              <a:ext cx="1071563" cy="646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eaLnBrk="1" hangingPunct="1"/>
              <a:r>
                <a:rPr lang="pt-BR" altLang="pt-BR">
                  <a:latin typeface="Calibri" panose="020F0502020204030204" pitchFamily="34" charset="0"/>
                </a:rPr>
                <a:t>Domínio espacial</a:t>
              </a:r>
            </a:p>
          </p:txBody>
        </p:sp>
        <p:sp>
          <p:nvSpPr>
            <p:cNvPr id="29" name="Chave direita 28">
              <a:extLst>
                <a:ext uri="{FF2B5EF4-FFF2-40B4-BE49-F238E27FC236}">
                  <a16:creationId xmlns:a16="http://schemas.microsoft.com/office/drawing/2014/main" id="{74E074BD-6C29-C0B7-B377-D94A118B24F2}"/>
                </a:ext>
              </a:extLst>
            </p:cNvPr>
            <p:cNvSpPr/>
            <p:nvPr/>
          </p:nvSpPr>
          <p:spPr>
            <a:xfrm rot="5400000">
              <a:off x="4428918" y="1928631"/>
              <a:ext cx="285751" cy="5858252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962DC4-B3EA-7AAE-6F46-430CB1C2B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/>
              <a:t>Domínio Espacial x Domínio da Transformada</a:t>
            </a:r>
          </a:p>
        </p:txBody>
      </p:sp>
      <p:pic>
        <p:nvPicPr>
          <p:cNvPr id="7171" name="Picture 3">
            <a:extLst>
              <a:ext uri="{FF2B5EF4-FFF2-40B4-BE49-F238E27FC236}">
                <a16:creationId xmlns:a16="http://schemas.microsoft.com/office/drawing/2014/main" id="{2F11ED7C-478F-01D0-75EA-5E06416BF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714500"/>
            <a:ext cx="6103938" cy="457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2" name="CaixaDeTexto 3">
            <a:extLst>
              <a:ext uri="{FF2B5EF4-FFF2-40B4-BE49-F238E27FC236}">
                <a16:creationId xmlns:a16="http://schemas.microsoft.com/office/drawing/2014/main" id="{78A21868-C84F-73A8-8F4B-EE72226A55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2250" y="1857375"/>
            <a:ext cx="22860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/>
              <a:t>Domínio da freqüência</a:t>
            </a:r>
          </a:p>
          <a:p>
            <a:pPr eaLnBrk="1" hangingPunct="1"/>
            <a:endParaRPr lang="pt-BR" altLang="pt-BR"/>
          </a:p>
          <a:p>
            <a:pPr eaLnBrk="1" hangingPunct="1"/>
            <a:r>
              <a:rPr lang="pt-BR" altLang="pt-BR"/>
              <a:t>Transformada de Fourier (próxima aula)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ítulo 1">
            <a:extLst>
              <a:ext uri="{FF2B5EF4-FFF2-40B4-BE49-F238E27FC236}">
                <a16:creationId xmlns:a16="http://schemas.microsoft.com/office/drawing/2014/main" id="{AE105E18-E106-26B3-C02A-7C874D920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Domínio Espacial</a:t>
            </a:r>
          </a:p>
        </p:txBody>
      </p:sp>
      <p:sp>
        <p:nvSpPr>
          <p:cNvPr id="4" name="CaixaDeTexto 7">
            <a:extLst>
              <a:ext uri="{FF2B5EF4-FFF2-40B4-BE49-F238E27FC236}">
                <a16:creationId xmlns:a16="http://schemas.microsoft.com/office/drawing/2014/main" id="{867B7CA9-91EF-0B9A-BBF5-6A561E1F66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0" y="5572125"/>
            <a:ext cx="10001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pt-BR" dirty="0">
                <a:latin typeface="+mn-lt"/>
                <a:cs typeface="Times New Roman" pitchFamily="18" charset="0"/>
              </a:rPr>
              <a:t>f (x,y)</a:t>
            </a:r>
          </a:p>
        </p:txBody>
      </p:sp>
      <p:grpSp>
        <p:nvGrpSpPr>
          <p:cNvPr id="8196" name="Grupo 33">
            <a:extLst>
              <a:ext uri="{FF2B5EF4-FFF2-40B4-BE49-F238E27FC236}">
                <a16:creationId xmlns:a16="http://schemas.microsoft.com/office/drawing/2014/main" id="{827FA917-7D4B-2845-1F42-5909FE33BD22}"/>
              </a:ext>
            </a:extLst>
          </p:cNvPr>
          <p:cNvGrpSpPr>
            <a:grpSpLocks/>
          </p:cNvGrpSpPr>
          <p:nvPr/>
        </p:nvGrpSpPr>
        <p:grpSpPr bwMode="auto">
          <a:xfrm>
            <a:off x="2643188" y="2428875"/>
            <a:ext cx="3929062" cy="3214688"/>
            <a:chOff x="500063" y="2143125"/>
            <a:chExt cx="3929062" cy="3214688"/>
          </a:xfrm>
        </p:grpSpPr>
        <p:pic>
          <p:nvPicPr>
            <p:cNvPr id="8197" name="Picture 5">
              <a:extLst>
                <a:ext uri="{FF2B5EF4-FFF2-40B4-BE49-F238E27FC236}">
                  <a16:creationId xmlns:a16="http://schemas.microsoft.com/office/drawing/2014/main" id="{2EDD75AF-6855-F109-A9C1-72A4906873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7551" y="2214563"/>
              <a:ext cx="3568711" cy="3143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26619155-E74A-0036-C655-6AE1831F0743}"/>
                </a:ext>
              </a:extLst>
            </p:cNvPr>
            <p:cNvSpPr/>
            <p:nvPr/>
          </p:nvSpPr>
          <p:spPr bwMode="auto">
            <a:xfrm>
              <a:off x="717550" y="2214563"/>
              <a:ext cx="428625" cy="214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6E675182-902C-6EAF-BEB0-029683060082}"/>
                </a:ext>
              </a:extLst>
            </p:cNvPr>
            <p:cNvSpPr/>
            <p:nvPr/>
          </p:nvSpPr>
          <p:spPr bwMode="auto">
            <a:xfrm>
              <a:off x="1428750" y="4643438"/>
              <a:ext cx="571500" cy="214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BAA250AC-90FB-EDB7-8424-259C5435B29B}"/>
                </a:ext>
              </a:extLst>
            </p:cNvPr>
            <p:cNvSpPr/>
            <p:nvPr/>
          </p:nvSpPr>
          <p:spPr bwMode="auto">
            <a:xfrm>
              <a:off x="1939925" y="3316288"/>
              <a:ext cx="1703388" cy="222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  <p:sp>
          <p:nvSpPr>
            <p:cNvPr id="8201" name="CaixaDeTexto 40">
              <a:extLst>
                <a:ext uri="{FF2B5EF4-FFF2-40B4-BE49-F238E27FC236}">
                  <a16:creationId xmlns:a16="http://schemas.microsoft.com/office/drawing/2014/main" id="{5C04CFC6-E07C-A3F9-A4EA-F7693A8956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5505" y="3255963"/>
              <a:ext cx="1690677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latin typeface="Calibri" panose="020F0502020204030204" pitchFamily="34" charset="0"/>
                </a:rPr>
                <a:t>vizinhança 3x3 de (x, y)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491F5067-A467-3583-97C1-B2E803279A04}"/>
                </a:ext>
              </a:extLst>
            </p:cNvPr>
            <p:cNvSpPr/>
            <p:nvPr/>
          </p:nvSpPr>
          <p:spPr bwMode="auto">
            <a:xfrm>
              <a:off x="3071813" y="4906963"/>
              <a:ext cx="1071562" cy="214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  <p:sp>
          <p:nvSpPr>
            <p:cNvPr id="8203" name="CaixaDeTexto 42">
              <a:extLst>
                <a:ext uri="{FF2B5EF4-FFF2-40B4-BE49-F238E27FC236}">
                  <a16:creationId xmlns:a16="http://schemas.microsoft.com/office/drawing/2014/main" id="{DEAD412D-C043-87A3-109B-7CB90375C6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933" y="4857760"/>
              <a:ext cx="1500192" cy="277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latin typeface="Calibri" panose="020F0502020204030204" pitchFamily="34" charset="0"/>
                </a:rPr>
                <a:t>Domínio espacial</a:t>
              </a:r>
            </a:p>
          </p:txBody>
        </p:sp>
        <p:sp>
          <p:nvSpPr>
            <p:cNvPr id="8204" name="CaixaDeTexto 9">
              <a:extLst>
                <a:ext uri="{FF2B5EF4-FFF2-40B4-BE49-F238E27FC236}">
                  <a16:creationId xmlns:a16="http://schemas.microsoft.com/office/drawing/2014/main" id="{B287136C-BEDC-42A4-22DD-DB582BA378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063" y="2143125"/>
              <a:ext cx="1500192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400">
                  <a:latin typeface="Calibri" panose="020F0502020204030204" pitchFamily="34" charset="0"/>
                </a:rPr>
                <a:t>Origem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FC5AD535-EE4C-2324-29F5-F4E4581975F4}"/>
                  </a:ext>
                </a:extLst>
              </p14:cNvPr>
              <p14:cNvContentPartPr/>
              <p14:nvPr/>
            </p14:nvContentPartPr>
            <p14:xfrm>
              <a:off x="1046268" y="2700781"/>
              <a:ext cx="30960" cy="1188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FC5AD535-EE4C-2324-29F5-F4E4581975F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0148" y="2694661"/>
                <a:ext cx="43200" cy="24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Filtros Digitais no domínio do espaço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3527304" cy="4495800"/>
          </a:xfrm>
        </p:spPr>
        <p:txBody>
          <a:bodyPr>
            <a:normAutofit/>
          </a:bodyPr>
          <a:lstStyle/>
          <a:p>
            <a:r>
              <a:rPr lang="pt-BR" dirty="0"/>
              <a:t>São técnicas baseadas na </a:t>
            </a:r>
            <a:r>
              <a:rPr lang="pt-BR" dirty="0" err="1"/>
              <a:t>convolução</a:t>
            </a:r>
            <a:r>
              <a:rPr lang="pt-BR" dirty="0"/>
              <a:t> de </a:t>
            </a:r>
          </a:p>
          <a:p>
            <a:pPr lvl="1"/>
            <a:endParaRPr lang="pt-BR" dirty="0"/>
          </a:p>
          <a:p>
            <a:pPr lvl="1"/>
            <a:r>
              <a:rPr lang="pt-BR" dirty="0" err="1"/>
              <a:t>templates</a:t>
            </a:r>
            <a:endParaRPr lang="pt-BR" dirty="0"/>
          </a:p>
          <a:p>
            <a:pPr lvl="2"/>
            <a:r>
              <a:rPr lang="pt-BR" dirty="0"/>
              <a:t>janelas, matrizes </a:t>
            </a:r>
          </a:p>
          <a:p>
            <a:pPr lvl="1"/>
            <a:endParaRPr lang="pt-BR" dirty="0"/>
          </a:p>
          <a:p>
            <a:pPr lvl="1"/>
            <a:r>
              <a:rPr lang="pt-BR" dirty="0" err="1"/>
              <a:t>tuplas</a:t>
            </a:r>
            <a:r>
              <a:rPr lang="pt-BR" dirty="0"/>
              <a:t> </a:t>
            </a:r>
          </a:p>
          <a:p>
            <a:pPr lvl="2"/>
            <a:r>
              <a:rPr lang="pt-BR" dirty="0"/>
              <a:t>conjunto de pixels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2060848"/>
            <a:ext cx="5108451" cy="3956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33245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Filtros Digitais no domínio do espaço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Uma grande variedade de filtros digitais podem ser implementados utilizando a convolução no domínio do espaço</a:t>
            </a:r>
          </a:p>
          <a:p>
            <a:pPr lvl="1"/>
            <a:r>
              <a:rPr lang="pt-BR" dirty="0"/>
              <a:t>São os operadores locais mais utilizados em processamento de  imagens, com diversas  aplicações</a:t>
            </a:r>
          </a:p>
          <a:p>
            <a:pPr lvl="2"/>
            <a:r>
              <a:rPr lang="pt-BR" dirty="0"/>
              <a:t>Pré-processamento</a:t>
            </a:r>
          </a:p>
          <a:p>
            <a:pPr lvl="2"/>
            <a:r>
              <a:rPr lang="pt-BR" dirty="0"/>
              <a:t>Eliminação de ruídos</a:t>
            </a:r>
          </a:p>
          <a:p>
            <a:pPr lvl="2"/>
            <a:r>
              <a:rPr lang="pt-BR" dirty="0"/>
              <a:t>Suavização</a:t>
            </a:r>
          </a:p>
          <a:p>
            <a:pPr lvl="2"/>
            <a:r>
              <a:rPr lang="pt-BR" dirty="0"/>
              <a:t>Segmentação</a:t>
            </a:r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61018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Filtros Digitais no domínio do espaço</a:t>
            </a:r>
          </a:p>
        </p:txBody>
      </p:sp>
      <p:pic>
        <p:nvPicPr>
          <p:cNvPr id="4099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1563" y="2286000"/>
            <a:ext cx="6834187" cy="3243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>
            <a:normAutofit/>
          </a:bodyPr>
          <a:lstStyle/>
          <a:p>
            <a:r>
              <a:rPr lang="pt-BR"/>
              <a:t>Exemplo: remoção </a:t>
            </a:r>
            <a:r>
              <a:rPr lang="pt-BR" dirty="0"/>
              <a:t>de ruído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Filtragem Espacial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781128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Refere-se ao plano da imagem</a:t>
            </a:r>
          </a:p>
          <a:p>
            <a:pPr lvl="1"/>
            <a:r>
              <a:rPr lang="pt-BR" dirty="0"/>
              <a:t>Envolve a manipulação direta dos pixels da imagem utilizando uma máscara espacial (</a:t>
            </a:r>
            <a:r>
              <a:rPr lang="pt-BR" dirty="0" err="1"/>
              <a:t>kernels</a:t>
            </a:r>
            <a:r>
              <a:rPr lang="pt-BR" dirty="0"/>
              <a:t>,  </a:t>
            </a:r>
            <a:r>
              <a:rPr lang="pt-BR" dirty="0" err="1"/>
              <a:t>templates</a:t>
            </a:r>
            <a:r>
              <a:rPr lang="pt-BR" dirty="0"/>
              <a:t>, janelas)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Valores das máscaras são chamados de coeficientes</a:t>
            </a:r>
          </a:p>
          <a:p>
            <a:pPr lvl="1"/>
            <a:r>
              <a:rPr lang="pt-BR" dirty="0"/>
              <a:t>O processo de filtragem é similar a um operação matemática denominada </a:t>
            </a:r>
            <a:r>
              <a:rPr lang="pt-BR" b="1" dirty="0" err="1"/>
              <a:t>convolução</a:t>
            </a:r>
            <a:endParaRPr lang="pt-BR" b="1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3463" y="2924944"/>
            <a:ext cx="2087563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75213" y="2924944"/>
            <a:ext cx="1654175" cy="164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93010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pt-BR" dirty="0"/>
              <a:t>Filtragem Espacial</a:t>
            </a:r>
          </a:p>
        </p:txBody>
      </p:sp>
      <p:sp>
        <p:nvSpPr>
          <p:cNvPr id="6147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Processo de filtragem </a:t>
            </a:r>
          </a:p>
          <a:p>
            <a:pPr lvl="1"/>
            <a:r>
              <a:rPr lang="pt-BR" dirty="0"/>
              <a:t>Cada elemento da máscara é multiplicado pelo valor do pixel correspondente na imagem </a:t>
            </a:r>
            <a:r>
              <a:rPr lang="pt-BR" b="1" i="1" dirty="0"/>
              <a:t>f</a:t>
            </a:r>
          </a:p>
          <a:p>
            <a:pPr lvl="1"/>
            <a:r>
              <a:rPr lang="pt-BR" dirty="0"/>
              <a:t>A soma desses resultados é o novo valor do nível de cinza na nova imagem</a:t>
            </a:r>
            <a:r>
              <a:rPr lang="pt-BR" b="1" dirty="0"/>
              <a:t> </a:t>
            </a:r>
            <a:r>
              <a:rPr lang="pt-BR" b="1" i="1" dirty="0"/>
              <a:t>g</a:t>
            </a:r>
          </a:p>
          <a:p>
            <a:pPr lvl="1"/>
            <a:r>
              <a:rPr lang="pt-BR" dirty="0"/>
              <a:t>Exemplo: </a:t>
            </a:r>
            <a:r>
              <a:rPr lang="pt-BR" i="1" dirty="0"/>
              <a:t>w</a:t>
            </a:r>
            <a:r>
              <a:rPr lang="pt-BR" dirty="0"/>
              <a:t> é uma janela de </a:t>
            </a:r>
            <a:r>
              <a:rPr lang="pt-BR" i="1" dirty="0"/>
              <a:t>n x n = k</a:t>
            </a:r>
            <a:r>
              <a:rPr lang="pt-BR" dirty="0"/>
              <a:t> pixels. O processo de filtragem para cada pixel na imagem </a:t>
            </a:r>
            <a:r>
              <a:rPr lang="pt-BR" b="1" i="1" dirty="0"/>
              <a:t>g(</a:t>
            </a:r>
            <a:r>
              <a:rPr lang="pt-BR" b="1" i="1" dirty="0" err="1"/>
              <a:t>x,y</a:t>
            </a:r>
            <a:r>
              <a:rPr lang="pt-BR" b="1" i="1" dirty="0"/>
              <a:t>)</a:t>
            </a:r>
            <a:r>
              <a:rPr lang="pt-BR" dirty="0"/>
              <a:t> será dada por</a:t>
            </a:r>
          </a:p>
          <a:p>
            <a:pPr lvl="1"/>
            <a:endParaRPr lang="pt-BR" dirty="0"/>
          </a:p>
        </p:txBody>
      </p:sp>
      <p:graphicFrame>
        <p:nvGraphicFramePr>
          <p:cNvPr id="6" name="Objeto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8681949"/>
              </p:ext>
            </p:extLst>
          </p:nvPr>
        </p:nvGraphicFramePr>
        <p:xfrm>
          <a:off x="2915816" y="5373216"/>
          <a:ext cx="2971800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09088" imgH="431613" progId="Equation.3">
                  <p:embed/>
                </p:oleObj>
              </mc:Choice>
              <mc:Fallback>
                <p:oleObj name="Equation" r:id="rId3" imgW="1409088" imgH="431613" progId="Equation.3">
                  <p:embed/>
                  <p:pic>
                    <p:nvPicPr>
                      <p:cNvPr id="6" name="Objeto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5373216"/>
                        <a:ext cx="2971800" cy="909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8444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pt-BR" dirty="0"/>
              <a:t>Filtragem Espacial</a:t>
            </a:r>
          </a:p>
        </p:txBody>
      </p:sp>
      <p:sp>
        <p:nvSpPr>
          <p:cNvPr id="6147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Processo de filtragem </a:t>
            </a:r>
          </a:p>
          <a:p>
            <a:pPr lvl="1"/>
            <a:r>
              <a:rPr lang="pt-BR" i="1" dirty="0"/>
              <a:t>(</a:t>
            </a:r>
            <a:r>
              <a:rPr lang="pt-BR" i="1" dirty="0" err="1"/>
              <a:t>a,b,c,d,e,f,g,h,i</a:t>
            </a:r>
            <a:r>
              <a:rPr lang="pt-BR" i="1" dirty="0"/>
              <a:t>): </a:t>
            </a:r>
            <a:r>
              <a:rPr lang="pt-BR" dirty="0"/>
              <a:t>são os valores dos níveis de cinza na vizinhança de </a:t>
            </a:r>
            <a:r>
              <a:rPr lang="pt-BR" i="1" dirty="0"/>
              <a:t>f(</a:t>
            </a:r>
            <a:r>
              <a:rPr lang="pt-BR" i="1" dirty="0" err="1"/>
              <a:t>x,y</a:t>
            </a:r>
            <a:r>
              <a:rPr lang="pt-BR" i="1" dirty="0"/>
              <a:t>)</a:t>
            </a:r>
          </a:p>
          <a:p>
            <a:pPr lvl="1"/>
            <a:r>
              <a:rPr lang="pt-BR" i="1" dirty="0"/>
              <a:t>(w</a:t>
            </a:r>
            <a:r>
              <a:rPr lang="pt-BR" i="1" baseline="-25000" dirty="0"/>
              <a:t>1</a:t>
            </a:r>
            <a:r>
              <a:rPr lang="pt-BR" i="1" dirty="0"/>
              <a:t> a w</a:t>
            </a:r>
            <a:r>
              <a:rPr lang="pt-BR" i="1" baseline="-25000" dirty="0"/>
              <a:t>9</a:t>
            </a:r>
            <a:r>
              <a:rPr lang="pt-BR" i="1" dirty="0"/>
              <a:t>)</a:t>
            </a:r>
            <a:r>
              <a:rPr lang="pt-BR" dirty="0"/>
              <a:t>: são os coeficientes da máscara</a:t>
            </a:r>
          </a:p>
          <a:p>
            <a:pPr lvl="1"/>
            <a:r>
              <a:rPr lang="pt-BR" dirty="0"/>
              <a:t>O valor do pixel </a:t>
            </a:r>
            <a:r>
              <a:rPr lang="pt-BR" i="1" dirty="0"/>
              <a:t>g(</a:t>
            </a:r>
            <a:r>
              <a:rPr lang="pt-BR" i="1" dirty="0" err="1"/>
              <a:t>x,y</a:t>
            </a:r>
            <a:r>
              <a:rPr lang="pt-BR" i="1" dirty="0"/>
              <a:t>)</a:t>
            </a:r>
            <a:r>
              <a:rPr lang="pt-BR" dirty="0"/>
              <a:t> é dado por</a:t>
            </a:r>
          </a:p>
        </p:txBody>
      </p:sp>
      <p:graphicFrame>
        <p:nvGraphicFramePr>
          <p:cNvPr id="6" name="Objeto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883215"/>
              </p:ext>
            </p:extLst>
          </p:nvPr>
        </p:nvGraphicFramePr>
        <p:xfrm>
          <a:off x="244351" y="4005064"/>
          <a:ext cx="8720137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975100" imgH="228600" progId="Equation.3">
                  <p:embed/>
                </p:oleObj>
              </mc:Choice>
              <mc:Fallback>
                <p:oleObj name="Equation" r:id="rId3" imgW="3975100" imgH="228600" progId="Equation.3">
                  <p:embed/>
                  <p:pic>
                    <p:nvPicPr>
                      <p:cNvPr id="6" name="Objeto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351" y="4005064"/>
                        <a:ext cx="8720137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upo 6"/>
          <p:cNvGrpSpPr/>
          <p:nvPr/>
        </p:nvGrpSpPr>
        <p:grpSpPr>
          <a:xfrm>
            <a:off x="1619672" y="4653136"/>
            <a:ext cx="5562600" cy="1979024"/>
            <a:chOff x="1619672" y="4653136"/>
            <a:chExt cx="5562600" cy="1979024"/>
          </a:xfrm>
        </p:grpSpPr>
        <p:grpSp>
          <p:nvGrpSpPr>
            <p:cNvPr id="5" name="Grupo 4"/>
            <p:cNvGrpSpPr/>
            <p:nvPr/>
          </p:nvGrpSpPr>
          <p:grpSpPr>
            <a:xfrm>
              <a:off x="1619672" y="4653136"/>
              <a:ext cx="5562600" cy="1979024"/>
              <a:chOff x="1619672" y="4618328"/>
              <a:chExt cx="5562600" cy="1979024"/>
            </a:xfrm>
          </p:grpSpPr>
          <p:pic>
            <p:nvPicPr>
              <p:cNvPr id="4" name="Picture 3"/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415" b="33951"/>
              <a:stretch/>
            </p:blipFill>
            <p:spPr bwMode="auto">
              <a:xfrm>
                <a:off x="1619672" y="4618328"/>
                <a:ext cx="5562600" cy="19790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3" name="Retângulo 2"/>
              <p:cNvSpPr/>
              <p:nvPr/>
            </p:nvSpPr>
            <p:spPr>
              <a:xfrm>
                <a:off x="3491880" y="5805264"/>
                <a:ext cx="1152128" cy="21602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sp>
          <p:nvSpPr>
            <p:cNvPr id="9" name="Retângulo 8"/>
            <p:cNvSpPr/>
            <p:nvPr/>
          </p:nvSpPr>
          <p:spPr>
            <a:xfrm>
              <a:off x="5508104" y="4653136"/>
              <a:ext cx="1152128" cy="216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908881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pt-BR" dirty="0"/>
              <a:t>Filtragem Espacial</a:t>
            </a:r>
          </a:p>
        </p:txBody>
      </p:sp>
      <p:sp>
        <p:nvSpPr>
          <p:cNvPr id="6147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Processo de filtragem </a:t>
            </a:r>
          </a:p>
        </p:txBody>
      </p:sp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132856"/>
            <a:ext cx="4629150" cy="461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1605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Correlação e </a:t>
            </a:r>
            <a:r>
              <a:rPr lang="pt-BR" dirty="0" err="1"/>
              <a:t>Convolução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Existem dois conceitos matemáticos  importantes e que estão relacionados com a  filtragem espacial: </a:t>
            </a:r>
            <a:r>
              <a:rPr lang="pt-BR" b="1" dirty="0"/>
              <a:t>correlação</a:t>
            </a:r>
            <a:r>
              <a:rPr lang="pt-BR" dirty="0"/>
              <a:t> e </a:t>
            </a:r>
            <a:r>
              <a:rPr lang="pt-BR" b="1" dirty="0" err="1"/>
              <a:t>convolução</a:t>
            </a:r>
            <a:endParaRPr lang="pt-BR" b="1" dirty="0"/>
          </a:p>
          <a:p>
            <a:r>
              <a:rPr lang="pt-BR" dirty="0"/>
              <a:t>Correlação</a:t>
            </a:r>
          </a:p>
          <a:p>
            <a:pPr lvl="1"/>
            <a:r>
              <a:rPr lang="pt-BR" dirty="0"/>
              <a:t>Desloca-se a máscara sobre a imagem e calcula-se a soma dos produtos em cada local</a:t>
            </a:r>
          </a:p>
          <a:p>
            <a:r>
              <a:rPr lang="pt-BR" dirty="0" err="1"/>
              <a:t>Convolução</a:t>
            </a:r>
            <a:endParaRPr lang="pt-BR" dirty="0"/>
          </a:p>
          <a:p>
            <a:pPr lvl="1"/>
            <a:r>
              <a:rPr lang="pt-BR" dirty="0"/>
              <a:t>Mesmo processo que a correlação, exceto que a máscara é antes espelhada (</a:t>
            </a:r>
            <a:r>
              <a:rPr lang="pt-BR" dirty="0" err="1"/>
              <a:t>rotacionada</a:t>
            </a:r>
            <a:r>
              <a:rPr lang="pt-BR" dirty="0"/>
              <a:t> em 180º)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Correlação e Convolução</a:t>
            </a:r>
          </a:p>
        </p:txBody>
      </p:sp>
      <p:sp>
        <p:nvSpPr>
          <p:cNvPr id="17411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pt-BR" dirty="0"/>
              <a:t>Equações para máscaras de tamanho </a:t>
            </a:r>
            <a:r>
              <a:rPr lang="pt-BR" i="1" dirty="0"/>
              <a:t>m x n</a:t>
            </a:r>
          </a:p>
          <a:p>
            <a:pPr lvl="1" eaLnBrk="1" hangingPunct="1"/>
            <a:r>
              <a:rPr lang="pt-BR" dirty="0"/>
              <a:t>Correlação</a:t>
            </a:r>
          </a:p>
          <a:p>
            <a:pPr lvl="1" eaLnBrk="1" hangingPunct="1"/>
            <a:endParaRPr lang="pt-BR" dirty="0"/>
          </a:p>
          <a:p>
            <a:pPr lvl="1" eaLnBrk="1" hangingPunct="1"/>
            <a:endParaRPr lang="pt-BR" dirty="0"/>
          </a:p>
          <a:p>
            <a:pPr lvl="1" eaLnBrk="1" hangingPunct="1">
              <a:buFont typeface="Arial" charset="0"/>
              <a:buNone/>
            </a:pPr>
            <a:endParaRPr lang="pt-BR" dirty="0"/>
          </a:p>
          <a:p>
            <a:pPr lvl="1" eaLnBrk="1" hangingPunct="1"/>
            <a:r>
              <a:rPr lang="pt-BR" dirty="0" err="1"/>
              <a:t>Convolução</a:t>
            </a:r>
            <a:endParaRPr lang="pt-BR" dirty="0"/>
          </a:p>
          <a:p>
            <a:pPr lvl="1" eaLnBrk="1" hangingPunct="1"/>
            <a:endParaRPr lang="pt-BR" dirty="0"/>
          </a:p>
          <a:p>
            <a:pPr lvl="1" eaLnBrk="1" hangingPunct="1"/>
            <a:endParaRPr lang="pt-BR" dirty="0"/>
          </a:p>
          <a:p>
            <a:pPr lvl="1" eaLnBrk="1" hangingPunct="1">
              <a:buFont typeface="Arial" charset="0"/>
              <a:buNone/>
            </a:pPr>
            <a:endParaRPr lang="pt-BR" dirty="0"/>
          </a:p>
          <a:p>
            <a:pPr lvl="1" eaLnBrk="1" hangingPunct="1">
              <a:buFont typeface="Arial" charset="0"/>
              <a:buNone/>
            </a:pPr>
            <a:endParaRPr lang="pt-BR" dirty="0"/>
          </a:p>
        </p:txBody>
      </p:sp>
      <p:graphicFrame>
        <p:nvGraphicFramePr>
          <p:cNvPr id="17412" name="Object 2"/>
          <p:cNvGraphicFramePr>
            <a:graphicFrameLocks noChangeAspect="1"/>
          </p:cNvGraphicFramePr>
          <p:nvPr/>
        </p:nvGraphicFramePr>
        <p:xfrm>
          <a:off x="1071563" y="2571750"/>
          <a:ext cx="7539037" cy="114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2844800" imgH="431800" progId="Equation.3">
                  <p:embed/>
                </p:oleObj>
              </mc:Choice>
              <mc:Fallback>
                <p:oleObj name="Equação" r:id="rId3" imgW="2844800" imgH="431800" progId="Equation.3">
                  <p:embed/>
                  <p:pic>
                    <p:nvPicPr>
                      <p:cNvPr id="1741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2571750"/>
                        <a:ext cx="7539037" cy="1144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Object 3"/>
          <p:cNvGraphicFramePr>
            <a:graphicFrameLocks noChangeAspect="1"/>
          </p:cNvGraphicFramePr>
          <p:nvPr/>
        </p:nvGraphicFramePr>
        <p:xfrm>
          <a:off x="1143000" y="4427552"/>
          <a:ext cx="7539038" cy="114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5" imgW="2844800" imgH="431800" progId="Equation.3">
                  <p:embed/>
                </p:oleObj>
              </mc:Choice>
              <mc:Fallback>
                <p:oleObj name="Equação" r:id="rId5" imgW="2844800" imgH="431800" progId="Equation.3">
                  <p:embed/>
                  <p:pic>
                    <p:nvPicPr>
                      <p:cNvPr id="1741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427552"/>
                        <a:ext cx="7539038" cy="1144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4"/>
          <p:cNvGraphicFramePr>
            <a:graphicFrameLocks noChangeAspect="1"/>
          </p:cNvGraphicFramePr>
          <p:nvPr/>
        </p:nvGraphicFramePr>
        <p:xfrm>
          <a:off x="1285875" y="6000750"/>
          <a:ext cx="38068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7" imgW="1916868" imgH="215806" progId="Equation.3">
                  <p:embed/>
                </p:oleObj>
              </mc:Choice>
              <mc:Fallback>
                <p:oleObj name="Equação" r:id="rId7" imgW="1916868" imgH="215806" progId="Equation.3">
                  <p:embed/>
                  <p:pic>
                    <p:nvPicPr>
                      <p:cNvPr id="1741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75" y="6000750"/>
                        <a:ext cx="3806825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Conector de seta reta 7"/>
          <p:cNvCxnSpPr/>
          <p:nvPr/>
        </p:nvCxnSpPr>
        <p:spPr>
          <a:xfrm rot="5400000" flipH="1" flipV="1">
            <a:off x="7001669" y="5313575"/>
            <a:ext cx="428625" cy="158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/>
          <p:nvPr/>
        </p:nvCxnSpPr>
        <p:spPr>
          <a:xfrm rot="5400000" flipH="1" flipV="1">
            <a:off x="7930356" y="5313575"/>
            <a:ext cx="428625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17" name="CaixaDeTexto 9"/>
          <p:cNvSpPr txBox="1">
            <a:spLocks noChangeArrowheads="1"/>
          </p:cNvSpPr>
          <p:nvPr/>
        </p:nvSpPr>
        <p:spPr bwMode="auto">
          <a:xfrm>
            <a:off x="6858000" y="5572125"/>
            <a:ext cx="200025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>
                <a:latin typeface="Calibri" pitchFamily="34" charset="0"/>
              </a:rPr>
              <a:t>Espelhamento ou rotação, feito na imagem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Correlação e Convolução</a:t>
            </a:r>
          </a:p>
        </p:txBody>
      </p:sp>
      <p:sp>
        <p:nvSpPr>
          <p:cNvPr id="18435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pt-BR" dirty="0"/>
              <a:t>Observações</a:t>
            </a:r>
          </a:p>
          <a:p>
            <a:pPr lvl="1" eaLnBrk="1" hangingPunct="1"/>
            <a:r>
              <a:rPr lang="pt-BR" dirty="0"/>
              <a:t>As equações devem ser avaliadas para todas as posições </a:t>
            </a:r>
            <a:r>
              <a:rPr lang="pt-BR" i="1" dirty="0"/>
              <a:t>x</a:t>
            </a:r>
            <a:r>
              <a:rPr lang="pt-BR" dirty="0"/>
              <a:t> e </a:t>
            </a:r>
            <a:r>
              <a:rPr lang="pt-BR" i="1" dirty="0"/>
              <a:t>y </a:t>
            </a:r>
            <a:r>
              <a:rPr lang="pt-BR" dirty="0"/>
              <a:t>da imagem</a:t>
            </a:r>
          </a:p>
          <a:p>
            <a:pPr lvl="1" eaLnBrk="1" hangingPunct="1"/>
            <a:r>
              <a:rPr lang="pt-BR" dirty="0"/>
              <a:t>Se a máscara for simétrica, os resultados da </a:t>
            </a:r>
            <a:r>
              <a:rPr lang="pt-BR" dirty="0" err="1"/>
              <a:t>convolução</a:t>
            </a:r>
            <a:r>
              <a:rPr lang="pt-BR" dirty="0"/>
              <a:t> e da correlação são os mesmos</a:t>
            </a:r>
          </a:p>
          <a:p>
            <a:pPr lvl="2"/>
            <a:r>
              <a:rPr lang="pt-BR" dirty="0"/>
              <a:t>No geral, em aplicações de processamento de imagens, as máscaras são simétricas sendo correlação e </a:t>
            </a:r>
            <a:r>
              <a:rPr lang="pt-BR" dirty="0" err="1"/>
              <a:t>convolução</a:t>
            </a:r>
            <a:r>
              <a:rPr lang="pt-BR" dirty="0"/>
              <a:t> consideradas como a mesma coisa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err="1"/>
              <a:t>Convoluir</a:t>
            </a:r>
            <a:r>
              <a:rPr lang="pt-BR" dirty="0"/>
              <a:t> uma máscara com uma imagem</a:t>
            </a:r>
          </a:p>
        </p:txBody>
      </p:sp>
      <p:sp>
        <p:nvSpPr>
          <p:cNvPr id="18435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pt-BR" dirty="0"/>
              <a:t>Seguintes conjunto de operações</a:t>
            </a:r>
          </a:p>
          <a:p>
            <a:pPr lvl="1" eaLnBrk="1" hangingPunct="1"/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2143108" y="2113037"/>
            <a:ext cx="5000645" cy="5238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800" dirty="0"/>
              <a:t>Desloca, Multiplica, Soma</a:t>
            </a:r>
          </a:p>
        </p:txBody>
      </p:sp>
      <p:graphicFrame>
        <p:nvGraphicFramePr>
          <p:cNvPr id="5" name="Group 1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361779"/>
              </p:ext>
            </p:extLst>
          </p:nvPr>
        </p:nvGraphicFramePr>
        <p:xfrm>
          <a:off x="762000" y="3375684"/>
          <a:ext cx="914400" cy="84074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422932"/>
              </p:ext>
            </p:extLst>
          </p:nvPr>
        </p:nvGraphicFramePr>
        <p:xfrm>
          <a:off x="2895600" y="2994684"/>
          <a:ext cx="2133600" cy="1584960"/>
        </p:xfrm>
        <a:graphic>
          <a:graphicData uri="http://schemas.openxmlformats.org/drawingml/2006/table">
            <a:tbl>
              <a:tblPr/>
              <a:tblGrid>
                <a:gridCol w="427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7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70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480680"/>
              </p:ext>
            </p:extLst>
          </p:nvPr>
        </p:nvGraphicFramePr>
        <p:xfrm>
          <a:off x="6324600" y="2994684"/>
          <a:ext cx="2133600" cy="1584960"/>
        </p:xfrm>
        <a:graphic>
          <a:graphicData uri="http://schemas.openxmlformats.org/drawingml/2006/table">
            <a:tbl>
              <a:tblPr/>
              <a:tblGrid>
                <a:gridCol w="427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7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70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Box 81"/>
          <p:cNvSpPr txBox="1">
            <a:spLocks noChangeArrowheads="1"/>
          </p:cNvSpPr>
          <p:nvPr/>
        </p:nvSpPr>
        <p:spPr bwMode="auto">
          <a:xfrm>
            <a:off x="683568" y="3017912"/>
            <a:ext cx="10695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dirty="0"/>
              <a:t>máscara</a:t>
            </a:r>
          </a:p>
        </p:txBody>
      </p:sp>
      <p:sp>
        <p:nvSpPr>
          <p:cNvPr id="9" name="Text Box 82"/>
          <p:cNvSpPr txBox="1">
            <a:spLocks noChangeArrowheads="1"/>
          </p:cNvSpPr>
          <p:nvPr/>
        </p:nvSpPr>
        <p:spPr bwMode="auto">
          <a:xfrm>
            <a:off x="3481765" y="2636912"/>
            <a:ext cx="101822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dirty="0"/>
              <a:t>Imagem</a:t>
            </a:r>
          </a:p>
        </p:txBody>
      </p:sp>
      <p:sp>
        <p:nvSpPr>
          <p:cNvPr id="10" name="Text Box 83"/>
          <p:cNvSpPr txBox="1">
            <a:spLocks noChangeArrowheads="1"/>
          </p:cNvSpPr>
          <p:nvPr/>
        </p:nvSpPr>
        <p:spPr bwMode="auto">
          <a:xfrm>
            <a:off x="6804248" y="2636912"/>
            <a:ext cx="12234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dirty="0"/>
              <a:t>Resultado</a:t>
            </a:r>
          </a:p>
        </p:txBody>
      </p:sp>
      <p:graphicFrame>
        <p:nvGraphicFramePr>
          <p:cNvPr id="14" name="Group 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974147"/>
              </p:ext>
            </p:extLst>
          </p:nvPr>
        </p:nvGraphicFramePr>
        <p:xfrm>
          <a:off x="2971800" y="4945360"/>
          <a:ext cx="2133600" cy="1584960"/>
        </p:xfrm>
        <a:graphic>
          <a:graphicData uri="http://schemas.openxmlformats.org/drawingml/2006/table">
            <a:tbl>
              <a:tblPr/>
              <a:tblGrid>
                <a:gridCol w="427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7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70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" name="Group 1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654473"/>
              </p:ext>
            </p:extLst>
          </p:nvPr>
        </p:nvGraphicFramePr>
        <p:xfrm>
          <a:off x="2895600" y="4869160"/>
          <a:ext cx="914400" cy="84074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7" name="Group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727782"/>
              </p:ext>
            </p:extLst>
          </p:nvPr>
        </p:nvGraphicFramePr>
        <p:xfrm>
          <a:off x="3276600" y="4869160"/>
          <a:ext cx="914400" cy="84074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Group 1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841268"/>
              </p:ext>
            </p:extLst>
          </p:nvPr>
        </p:nvGraphicFramePr>
        <p:xfrm>
          <a:off x="3733800" y="4869160"/>
          <a:ext cx="914400" cy="84074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" name="Group 1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4369257"/>
              </p:ext>
            </p:extLst>
          </p:nvPr>
        </p:nvGraphicFramePr>
        <p:xfrm>
          <a:off x="4114800" y="4869160"/>
          <a:ext cx="914400" cy="84074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Group 1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9630779"/>
              </p:ext>
            </p:extLst>
          </p:nvPr>
        </p:nvGraphicFramePr>
        <p:xfrm>
          <a:off x="4572000" y="4869160"/>
          <a:ext cx="914400" cy="84074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Text Box 178"/>
          <p:cNvSpPr txBox="1">
            <a:spLocks noChangeArrowheads="1"/>
          </p:cNvSpPr>
          <p:nvPr/>
        </p:nvSpPr>
        <p:spPr bwMode="auto">
          <a:xfrm>
            <a:off x="6171694" y="4935859"/>
            <a:ext cx="269817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just"/>
            <a:r>
              <a:rPr lang="pt-BR" dirty="0"/>
              <a:t>A imagem resultado é</a:t>
            </a:r>
            <a:br>
              <a:rPr lang="pt-BR" dirty="0"/>
            </a:br>
            <a:r>
              <a:rPr lang="pt-BR" dirty="0"/>
              <a:t>menor do que a imagem</a:t>
            </a:r>
            <a:br>
              <a:rPr lang="pt-BR" dirty="0"/>
            </a:br>
            <a:r>
              <a:rPr lang="pt-BR" dirty="0"/>
              <a:t>original. Os valores</a:t>
            </a:r>
            <a:br>
              <a:rPr lang="pt-BR" dirty="0"/>
            </a:br>
            <a:r>
              <a:rPr lang="pt-BR" dirty="0"/>
              <a:t>marcados com * não</a:t>
            </a:r>
            <a:br>
              <a:rPr lang="pt-BR" dirty="0"/>
            </a:br>
            <a:r>
              <a:rPr lang="pt-BR" dirty="0"/>
              <a:t>podem ser calculados.</a:t>
            </a:r>
          </a:p>
        </p:txBody>
      </p:sp>
    </p:spTree>
    <p:extLst>
      <p:ext uri="{BB962C8B-B14F-4D97-AF65-F5344CB8AC3E}">
        <p14:creationId xmlns:p14="http://schemas.microsoft.com/office/powerpoint/2010/main" val="571090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Convolução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Convenção</a:t>
            </a:r>
          </a:p>
          <a:p>
            <a:pPr lvl="1"/>
            <a:r>
              <a:rPr lang="pt-BR" dirty="0"/>
              <a:t>Nas máscaras de organização par (2 x 2,  4 x 4 , ...) o resultado é colocado sobre o primeiro pixel</a:t>
            </a:r>
          </a:p>
          <a:p>
            <a:pPr lvl="1"/>
            <a:r>
              <a:rPr lang="pt-BR" dirty="0"/>
              <a:t>Nas máscaras de organização ímpar (3 x 3,  5 x 5, ...) o resultado é colocado sobre o pixel de centro</a:t>
            </a:r>
          </a:p>
          <a:p>
            <a:pPr lvl="1"/>
            <a:r>
              <a:rPr lang="pt-BR" dirty="0"/>
              <a:t>A imagem resultado da </a:t>
            </a:r>
            <a:r>
              <a:rPr lang="pt-BR" dirty="0" err="1"/>
              <a:t>convolução</a:t>
            </a:r>
            <a:r>
              <a:rPr lang="pt-BR" dirty="0"/>
              <a:t> não necessita </a:t>
            </a:r>
            <a:br>
              <a:rPr lang="pt-BR" dirty="0"/>
            </a:br>
            <a:r>
              <a:rPr lang="pt-BR" dirty="0"/>
              <a:t>obrigatoriamente ser menor que a imagem original.</a:t>
            </a:r>
          </a:p>
          <a:p>
            <a:pPr lvl="2"/>
            <a:r>
              <a:rPr lang="pt-BR" dirty="0" err="1"/>
              <a:t>Convolução</a:t>
            </a:r>
            <a:r>
              <a:rPr lang="pt-BR" dirty="0"/>
              <a:t> aperiódica</a:t>
            </a:r>
          </a:p>
          <a:p>
            <a:pPr lvl="2"/>
            <a:r>
              <a:rPr lang="pt-BR" dirty="0"/>
              <a:t>Gabarito truncado</a:t>
            </a:r>
          </a:p>
          <a:p>
            <a:pPr lvl="2"/>
            <a:r>
              <a:rPr lang="pt-BR" dirty="0" err="1"/>
              <a:t>Convolução</a:t>
            </a:r>
            <a:r>
              <a:rPr lang="pt-BR" dirty="0"/>
              <a:t> periódica</a:t>
            </a:r>
          </a:p>
        </p:txBody>
      </p:sp>
    </p:spTree>
    <p:extLst>
      <p:ext uri="{BB962C8B-B14F-4D97-AF65-F5344CB8AC3E}">
        <p14:creationId xmlns:p14="http://schemas.microsoft.com/office/powerpoint/2010/main" val="22909490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Convolução</a:t>
            </a:r>
            <a:r>
              <a:rPr lang="pt-BR" dirty="0"/>
              <a:t> aperiódica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valor 0 é atribuído aos resultados não calculáveis</a:t>
            </a:r>
          </a:p>
        </p:txBody>
      </p:sp>
      <p:graphicFrame>
        <p:nvGraphicFramePr>
          <p:cNvPr id="4" name="Group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610253"/>
              </p:ext>
            </p:extLst>
          </p:nvPr>
        </p:nvGraphicFramePr>
        <p:xfrm>
          <a:off x="762000" y="4064243"/>
          <a:ext cx="1219200" cy="1188720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Group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870026"/>
              </p:ext>
            </p:extLst>
          </p:nvPr>
        </p:nvGraphicFramePr>
        <p:xfrm>
          <a:off x="2895600" y="3759443"/>
          <a:ext cx="2057400" cy="1983105"/>
        </p:xfrm>
        <a:graphic>
          <a:graphicData uri="http://schemas.openxmlformats.org/drawingml/2006/table">
            <a:tbl>
              <a:tblPr/>
              <a:tblGrid>
                <a:gridCol w="411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1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Group 1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540512"/>
              </p:ext>
            </p:extLst>
          </p:nvPr>
        </p:nvGraphicFramePr>
        <p:xfrm>
          <a:off x="6096000" y="3759443"/>
          <a:ext cx="2209800" cy="1981200"/>
        </p:xfrm>
        <a:graphic>
          <a:graphicData uri="http://schemas.openxmlformats.org/drawingml/2006/table">
            <a:tbl>
              <a:tblPr/>
              <a:tblGrid>
                <a:gridCol w="44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2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1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Group 2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699201"/>
              </p:ext>
            </p:extLst>
          </p:nvPr>
        </p:nvGraphicFramePr>
        <p:xfrm>
          <a:off x="2895600" y="3759443"/>
          <a:ext cx="1219200" cy="1188720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Box 297"/>
          <p:cNvSpPr txBox="1">
            <a:spLocks noChangeArrowheads="1"/>
          </p:cNvSpPr>
          <p:nvPr/>
        </p:nvSpPr>
        <p:spPr bwMode="auto">
          <a:xfrm>
            <a:off x="838180" y="3607043"/>
            <a:ext cx="10695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dirty="0"/>
              <a:t>máscara</a:t>
            </a:r>
          </a:p>
        </p:txBody>
      </p:sp>
      <p:sp>
        <p:nvSpPr>
          <p:cNvPr id="10" name="Text Box 298"/>
          <p:cNvSpPr txBox="1">
            <a:spLocks noChangeArrowheads="1"/>
          </p:cNvSpPr>
          <p:nvPr/>
        </p:nvSpPr>
        <p:spPr bwMode="auto">
          <a:xfrm>
            <a:off x="3409757" y="3226043"/>
            <a:ext cx="101822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dirty="0"/>
              <a:t>Imagem</a:t>
            </a:r>
          </a:p>
        </p:txBody>
      </p:sp>
      <p:sp>
        <p:nvSpPr>
          <p:cNvPr id="11" name="Text Box 299"/>
          <p:cNvSpPr txBox="1">
            <a:spLocks noChangeArrowheads="1"/>
          </p:cNvSpPr>
          <p:nvPr/>
        </p:nvSpPr>
        <p:spPr bwMode="auto">
          <a:xfrm>
            <a:off x="6588224" y="3212976"/>
            <a:ext cx="12234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dirty="0"/>
              <a:t>Resultado</a:t>
            </a:r>
          </a:p>
        </p:txBody>
      </p:sp>
      <p:cxnSp>
        <p:nvCxnSpPr>
          <p:cNvPr id="13" name="Conector de seta reta 12"/>
          <p:cNvCxnSpPr/>
          <p:nvPr/>
        </p:nvCxnSpPr>
        <p:spPr>
          <a:xfrm>
            <a:off x="3563888" y="4230380"/>
            <a:ext cx="3096344" cy="144016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59116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Gabarito truncado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Centra-se a máscara com o primeiro pixel da imagem atribuindo o valor 0 aos valores inexistentes na imagem</a:t>
            </a:r>
          </a:p>
        </p:txBody>
      </p:sp>
      <p:graphicFrame>
        <p:nvGraphicFramePr>
          <p:cNvPr id="12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330518"/>
              </p:ext>
            </p:extLst>
          </p:nvPr>
        </p:nvGraphicFramePr>
        <p:xfrm>
          <a:off x="762000" y="4414991"/>
          <a:ext cx="1219200" cy="1188720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Group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830032"/>
              </p:ext>
            </p:extLst>
          </p:nvPr>
        </p:nvGraphicFramePr>
        <p:xfrm>
          <a:off x="2895600" y="4110191"/>
          <a:ext cx="2057400" cy="1983105"/>
        </p:xfrm>
        <a:graphic>
          <a:graphicData uri="http://schemas.openxmlformats.org/drawingml/2006/table">
            <a:tbl>
              <a:tblPr/>
              <a:tblGrid>
                <a:gridCol w="411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1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" name="Group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619340"/>
              </p:ext>
            </p:extLst>
          </p:nvPr>
        </p:nvGraphicFramePr>
        <p:xfrm>
          <a:off x="6096000" y="4110191"/>
          <a:ext cx="2209800" cy="1981200"/>
        </p:xfrm>
        <a:graphic>
          <a:graphicData uri="http://schemas.openxmlformats.org/drawingml/2006/table">
            <a:tbl>
              <a:tblPr/>
              <a:tblGrid>
                <a:gridCol w="44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2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1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6" name="Group 9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751291"/>
              </p:ext>
            </p:extLst>
          </p:nvPr>
        </p:nvGraphicFramePr>
        <p:xfrm>
          <a:off x="2514600" y="3729191"/>
          <a:ext cx="1219200" cy="1188720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Text Box 119"/>
          <p:cNvSpPr txBox="1">
            <a:spLocks noChangeArrowheads="1"/>
          </p:cNvSpPr>
          <p:nvPr/>
        </p:nvSpPr>
        <p:spPr bwMode="auto">
          <a:xfrm>
            <a:off x="838180" y="3957791"/>
            <a:ext cx="10695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dirty="0"/>
              <a:t>máscara</a:t>
            </a:r>
          </a:p>
        </p:txBody>
      </p:sp>
      <p:sp>
        <p:nvSpPr>
          <p:cNvPr id="19" name="Text Box 120"/>
          <p:cNvSpPr txBox="1">
            <a:spLocks noChangeArrowheads="1"/>
          </p:cNvSpPr>
          <p:nvPr/>
        </p:nvSpPr>
        <p:spPr bwMode="auto">
          <a:xfrm>
            <a:off x="3409757" y="3576791"/>
            <a:ext cx="101822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dirty="0"/>
              <a:t>Imagem</a:t>
            </a:r>
          </a:p>
        </p:txBody>
      </p:sp>
      <p:sp>
        <p:nvSpPr>
          <p:cNvPr id="20" name="Text Box 121"/>
          <p:cNvSpPr txBox="1">
            <a:spLocks noChangeArrowheads="1"/>
          </p:cNvSpPr>
          <p:nvPr/>
        </p:nvSpPr>
        <p:spPr bwMode="auto">
          <a:xfrm>
            <a:off x="6588224" y="3563724"/>
            <a:ext cx="12234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dirty="0"/>
              <a:t>Resultado</a:t>
            </a:r>
          </a:p>
        </p:txBody>
      </p:sp>
      <p:cxnSp>
        <p:nvCxnSpPr>
          <p:cNvPr id="21" name="Conector de seta reta 20"/>
          <p:cNvCxnSpPr/>
          <p:nvPr/>
        </p:nvCxnSpPr>
        <p:spPr>
          <a:xfrm>
            <a:off x="3124200" y="4230380"/>
            <a:ext cx="3031976" cy="144016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2621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9A492-BC21-88B3-1345-F486529B5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3" descr="Uma imagem contendo parede de papel, palavras cruzadas, relógio, luz&#10;&#10;O conteúdo gerado por IA pode estar incorreto.">
            <a:extLst>
              <a:ext uri="{FF2B5EF4-FFF2-40B4-BE49-F238E27FC236}">
                <a16:creationId xmlns:a16="http://schemas.microsoft.com/office/drawing/2014/main" id="{43F894A7-2EAD-7909-6ED8-896FE7E46940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560835" y="1824576"/>
            <a:ext cx="1828800" cy="11715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55DA56C-26AD-A0AF-0EF6-1632BD7C3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8882" y="1718185"/>
            <a:ext cx="2476500" cy="1552575"/>
          </a:xfrm>
          <a:prstGeom prst="rect">
            <a:avLst/>
          </a:prstGeom>
        </p:spPr>
      </p:pic>
      <p:pic>
        <p:nvPicPr>
          <p:cNvPr id="12" name="Espaço Reservado para Conteúdo 3" descr="Uma imagem contendo parede de papel, palavras cruzadas, relógio, luz&#10;&#10;O conteúdo gerado por IA pode estar incorreto.">
            <a:extLst>
              <a:ext uri="{FF2B5EF4-FFF2-40B4-BE49-F238E27FC236}">
                <a16:creationId xmlns:a16="http://schemas.microsoft.com/office/drawing/2014/main" id="{C97A95A0-F0BE-CF4B-4459-60B62237C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937" y="4372244"/>
            <a:ext cx="1828800" cy="1171575"/>
          </a:xfrm>
          <a:prstGeom prst="rect">
            <a:avLst/>
          </a:prstGeom>
        </p:spPr>
      </p:pic>
      <p:pic>
        <p:nvPicPr>
          <p:cNvPr id="14" name="Imagem 13" descr="Uma imagem contendo palavras cruzadas, parede de papel, relógio, luz&#10;&#10;O conteúdo gerado por IA pode estar incorreto.">
            <a:extLst>
              <a:ext uri="{FF2B5EF4-FFF2-40B4-BE49-F238E27FC236}">
                <a16:creationId xmlns:a16="http://schemas.microsoft.com/office/drawing/2014/main" id="{FC0091C8-D406-6CE8-6DF2-7B18804AA5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8278" y="4061694"/>
            <a:ext cx="2476500" cy="1552575"/>
          </a:xfrm>
          <a:prstGeom prst="rect">
            <a:avLst/>
          </a:prstGeom>
        </p:spPr>
      </p:pic>
      <p:pic>
        <p:nvPicPr>
          <p:cNvPr id="15" name="Imagem 14" descr="Tabela, Calendário&#10;&#10;O conteúdo gerado por IA pode estar incorreto.">
            <a:extLst>
              <a:ext uri="{FF2B5EF4-FFF2-40B4-BE49-F238E27FC236}">
                <a16:creationId xmlns:a16="http://schemas.microsoft.com/office/drawing/2014/main" id="{5878716E-008D-AB31-FF39-E946775FBB4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9000"/>
          </a:blip>
          <a:stretch>
            <a:fillRect/>
          </a:stretch>
        </p:blipFill>
        <p:spPr>
          <a:xfrm>
            <a:off x="1091222" y="1512099"/>
            <a:ext cx="943694" cy="622900"/>
          </a:xfrm>
          <a:prstGeom prst="rect">
            <a:avLst/>
          </a:prstGeom>
        </p:spPr>
      </p:pic>
      <p:pic>
        <p:nvPicPr>
          <p:cNvPr id="16" name="Imagem 15" descr="Tabela, Calendário&#10;&#10;O conteúdo gerado por IA pode estar incorreto.">
            <a:extLst>
              <a:ext uri="{FF2B5EF4-FFF2-40B4-BE49-F238E27FC236}">
                <a16:creationId xmlns:a16="http://schemas.microsoft.com/office/drawing/2014/main" id="{6FAFF491-0D54-F533-D865-2EBC2C16E8D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9000"/>
          </a:blip>
          <a:stretch>
            <a:fillRect/>
          </a:stretch>
        </p:blipFill>
        <p:spPr>
          <a:xfrm>
            <a:off x="1339699" y="4056516"/>
            <a:ext cx="943694" cy="62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563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Convolução</a:t>
            </a:r>
            <a:r>
              <a:rPr lang="pt-BR" dirty="0"/>
              <a:t> periódica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 máscara é deslocada sobre todos os pixels da imagem original como se esta fosse adjacente em suas extremidades</a:t>
            </a:r>
          </a:p>
          <a:p>
            <a:endParaRPr lang="pt-BR" dirty="0"/>
          </a:p>
        </p:txBody>
      </p:sp>
      <p:graphicFrame>
        <p:nvGraphicFramePr>
          <p:cNvPr id="13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175979"/>
              </p:ext>
            </p:extLst>
          </p:nvPr>
        </p:nvGraphicFramePr>
        <p:xfrm>
          <a:off x="762000" y="4535760"/>
          <a:ext cx="1219200" cy="1188720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 Box 23"/>
          <p:cNvSpPr txBox="1">
            <a:spLocks noChangeArrowheads="1"/>
          </p:cNvSpPr>
          <p:nvPr/>
        </p:nvSpPr>
        <p:spPr bwMode="auto">
          <a:xfrm>
            <a:off x="838180" y="4078560"/>
            <a:ext cx="10695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dirty="0"/>
              <a:t>máscara</a:t>
            </a:r>
          </a:p>
        </p:txBody>
      </p:sp>
      <p:graphicFrame>
        <p:nvGraphicFramePr>
          <p:cNvPr id="22" name="Group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274957"/>
              </p:ext>
            </p:extLst>
          </p:nvPr>
        </p:nvGraphicFramePr>
        <p:xfrm>
          <a:off x="2895600" y="4230960"/>
          <a:ext cx="2057400" cy="1983105"/>
        </p:xfrm>
        <a:graphic>
          <a:graphicData uri="http://schemas.openxmlformats.org/drawingml/2006/table">
            <a:tbl>
              <a:tblPr/>
              <a:tblGrid>
                <a:gridCol w="411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1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3" name="Group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204879"/>
              </p:ext>
            </p:extLst>
          </p:nvPr>
        </p:nvGraphicFramePr>
        <p:xfrm>
          <a:off x="6096000" y="4230960"/>
          <a:ext cx="2209800" cy="1981200"/>
        </p:xfrm>
        <a:graphic>
          <a:graphicData uri="http://schemas.openxmlformats.org/drawingml/2006/table">
            <a:tbl>
              <a:tblPr/>
              <a:tblGrid>
                <a:gridCol w="44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2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1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23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14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27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4" name="Group 1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219620"/>
              </p:ext>
            </p:extLst>
          </p:nvPr>
        </p:nvGraphicFramePr>
        <p:xfrm>
          <a:off x="2590800" y="3849960"/>
          <a:ext cx="1143000" cy="1188720"/>
        </p:xfrm>
        <a:graphic>
          <a:graphicData uri="http://schemas.openxmlformats.org/drawingml/2006/table">
            <a:tbl>
              <a:tblPr/>
              <a:tblGrid>
                <a:gridCol w="33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" name="Text Box 119"/>
          <p:cNvSpPr txBox="1">
            <a:spLocks noChangeArrowheads="1"/>
          </p:cNvSpPr>
          <p:nvPr/>
        </p:nvSpPr>
        <p:spPr bwMode="auto">
          <a:xfrm>
            <a:off x="3733800" y="3621360"/>
            <a:ext cx="1181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Imagem</a:t>
            </a:r>
          </a:p>
        </p:txBody>
      </p:sp>
      <p:sp>
        <p:nvSpPr>
          <p:cNvPr id="27" name="Text Box 120"/>
          <p:cNvSpPr txBox="1">
            <a:spLocks noChangeArrowheads="1"/>
          </p:cNvSpPr>
          <p:nvPr/>
        </p:nvSpPr>
        <p:spPr bwMode="auto">
          <a:xfrm>
            <a:off x="6566175" y="3707740"/>
            <a:ext cx="12234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dirty="0"/>
              <a:t>Resultado</a:t>
            </a:r>
          </a:p>
        </p:txBody>
      </p:sp>
      <p:sp>
        <p:nvSpPr>
          <p:cNvPr id="28" name="Line 122"/>
          <p:cNvSpPr>
            <a:spLocks noChangeShapeType="1"/>
          </p:cNvSpPr>
          <p:nvPr/>
        </p:nvSpPr>
        <p:spPr bwMode="auto">
          <a:xfrm flipH="1" flipV="1">
            <a:off x="2362200" y="3468960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9" name="Line 123"/>
          <p:cNvSpPr>
            <a:spLocks noChangeShapeType="1"/>
          </p:cNvSpPr>
          <p:nvPr/>
        </p:nvSpPr>
        <p:spPr bwMode="auto">
          <a:xfrm>
            <a:off x="4876800" y="613596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0" name="Line 124"/>
          <p:cNvSpPr>
            <a:spLocks noChangeShapeType="1"/>
          </p:cNvSpPr>
          <p:nvPr/>
        </p:nvSpPr>
        <p:spPr bwMode="auto">
          <a:xfrm flipV="1">
            <a:off x="3124200" y="339276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1" name="Line 125"/>
          <p:cNvSpPr>
            <a:spLocks noChangeShapeType="1"/>
          </p:cNvSpPr>
          <p:nvPr/>
        </p:nvSpPr>
        <p:spPr bwMode="auto">
          <a:xfrm>
            <a:off x="3200400" y="613596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2" name="Line 126"/>
          <p:cNvSpPr>
            <a:spLocks noChangeShapeType="1"/>
          </p:cNvSpPr>
          <p:nvPr/>
        </p:nvSpPr>
        <p:spPr bwMode="auto">
          <a:xfrm flipV="1">
            <a:off x="3581400" y="346896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3" name="Line 127"/>
          <p:cNvSpPr>
            <a:spLocks noChangeShapeType="1"/>
          </p:cNvSpPr>
          <p:nvPr/>
        </p:nvSpPr>
        <p:spPr bwMode="auto">
          <a:xfrm>
            <a:off x="3581400" y="613596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" name="Line 128"/>
          <p:cNvSpPr>
            <a:spLocks noChangeShapeType="1"/>
          </p:cNvSpPr>
          <p:nvPr/>
        </p:nvSpPr>
        <p:spPr bwMode="auto">
          <a:xfrm flipH="1">
            <a:off x="2286000" y="445956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5" name="Line 129"/>
          <p:cNvSpPr>
            <a:spLocks noChangeShapeType="1"/>
          </p:cNvSpPr>
          <p:nvPr/>
        </p:nvSpPr>
        <p:spPr bwMode="auto">
          <a:xfrm>
            <a:off x="4876800" y="445956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6" name="Line 130"/>
          <p:cNvSpPr>
            <a:spLocks noChangeShapeType="1"/>
          </p:cNvSpPr>
          <p:nvPr/>
        </p:nvSpPr>
        <p:spPr bwMode="auto">
          <a:xfrm flipH="1">
            <a:off x="2286000" y="484056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7" name="Line 131"/>
          <p:cNvSpPr>
            <a:spLocks noChangeShapeType="1"/>
          </p:cNvSpPr>
          <p:nvPr/>
        </p:nvSpPr>
        <p:spPr bwMode="auto">
          <a:xfrm>
            <a:off x="4876800" y="484056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cxnSp>
        <p:nvCxnSpPr>
          <p:cNvPr id="38" name="Conector de seta reta 37"/>
          <p:cNvCxnSpPr/>
          <p:nvPr/>
        </p:nvCxnSpPr>
        <p:spPr>
          <a:xfrm>
            <a:off x="3124200" y="4365104"/>
            <a:ext cx="3031976" cy="144016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90289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Convolução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495800"/>
          </a:xfrm>
        </p:spPr>
        <p:txBody>
          <a:bodyPr>
            <a:normAutofit/>
          </a:bodyPr>
          <a:lstStyle/>
          <a:p>
            <a:r>
              <a:rPr lang="pt-BR" dirty="0"/>
              <a:t>O custo computacional da </a:t>
            </a:r>
            <a:r>
              <a:rPr lang="pt-BR" dirty="0" err="1"/>
              <a:t>convolução</a:t>
            </a:r>
            <a:r>
              <a:rPr lang="pt-BR" dirty="0"/>
              <a:t> é alto</a:t>
            </a:r>
          </a:p>
          <a:p>
            <a:pPr lvl="1"/>
            <a:r>
              <a:rPr lang="pt-BR" dirty="0"/>
              <a:t>Em um imagem de tamanho </a:t>
            </a:r>
            <a:r>
              <a:rPr lang="pt-BR" i="1" dirty="0"/>
              <a:t>M x M</a:t>
            </a:r>
            <a:r>
              <a:rPr lang="pt-BR" dirty="0"/>
              <a:t> e máscara </a:t>
            </a:r>
            <a:r>
              <a:rPr lang="pt-BR" i="1" dirty="0"/>
              <a:t>N x N</a:t>
            </a:r>
            <a:r>
              <a:rPr lang="pt-BR" dirty="0"/>
              <a:t>, o número de multiplicações é de </a:t>
            </a:r>
            <a:r>
              <a:rPr lang="pt-BR" i="1" dirty="0"/>
              <a:t>M</a:t>
            </a:r>
            <a:r>
              <a:rPr lang="pt-BR" i="1" baseline="30000" dirty="0"/>
              <a:t>2</a:t>
            </a:r>
            <a:r>
              <a:rPr lang="pt-BR" i="1" dirty="0"/>
              <a:t>N</a:t>
            </a:r>
            <a:r>
              <a:rPr lang="pt-BR" i="1" baseline="30000" dirty="0"/>
              <a:t>2 </a:t>
            </a:r>
          </a:p>
          <a:p>
            <a:pPr lvl="1"/>
            <a:r>
              <a:rPr lang="pt-BR" dirty="0"/>
              <a:t>Exemplo: imagem de 512 x 512 e máscara de 16 x 16 = 67.108.864 multiplicações.</a:t>
            </a:r>
          </a:p>
          <a:p>
            <a:endParaRPr lang="pt-BR" dirty="0"/>
          </a:p>
          <a:p>
            <a:r>
              <a:rPr lang="pt-BR" dirty="0"/>
              <a:t>Alternativa: domínio da frequência (Fourier)</a:t>
            </a:r>
          </a:p>
          <a:p>
            <a:pPr lvl="1"/>
            <a:r>
              <a:rPr lang="pt-BR" dirty="0"/>
              <a:t>Só é justificável se a máscara for maior do que 32 x 32</a:t>
            </a:r>
          </a:p>
          <a:p>
            <a:pPr lvl="1"/>
            <a:r>
              <a:rPr lang="pt-BR" dirty="0"/>
              <a:t>Custo da Transformada de Fourier</a:t>
            </a:r>
          </a:p>
        </p:txBody>
      </p:sp>
    </p:spTree>
    <p:extLst>
      <p:ext uri="{BB962C8B-B14F-4D97-AF65-F5344CB8AC3E}">
        <p14:creationId xmlns:p14="http://schemas.microsoft.com/office/powerpoint/2010/main" val="28727586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Máscaras de </a:t>
            </a:r>
            <a:r>
              <a:rPr lang="pt-BR" dirty="0" err="1"/>
              <a:t>convolução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tamanho da máscara e os valores de seus coeficientes definem o tipo de filtragem produzido</a:t>
            </a:r>
          </a:p>
          <a:p>
            <a:r>
              <a:rPr lang="pt-BR" dirty="0"/>
              <a:t>Exemplos</a:t>
            </a:r>
          </a:p>
          <a:p>
            <a:pPr lvl="1"/>
            <a:r>
              <a:rPr lang="pt-BR" dirty="0"/>
              <a:t>Passa Baixa e média espacial (suavização)</a:t>
            </a:r>
          </a:p>
          <a:p>
            <a:pPr lvl="1"/>
            <a:r>
              <a:rPr lang="pt-BR" dirty="0"/>
              <a:t>Filtragem mediana</a:t>
            </a:r>
          </a:p>
          <a:p>
            <a:pPr lvl="1"/>
            <a:r>
              <a:rPr lang="pt-BR" dirty="0"/>
              <a:t>Passa Alta (realce)</a:t>
            </a:r>
          </a:p>
          <a:p>
            <a:pPr lvl="1"/>
            <a:r>
              <a:rPr lang="pt-BR" dirty="0"/>
              <a:t>Passa banda</a:t>
            </a:r>
          </a:p>
          <a:p>
            <a:pPr lvl="1"/>
            <a:r>
              <a:rPr lang="pt-BR" dirty="0"/>
              <a:t>Gradientes (</a:t>
            </a:r>
            <a:r>
              <a:rPr lang="pt-BR" dirty="0" err="1"/>
              <a:t>robert</a:t>
            </a:r>
            <a:r>
              <a:rPr lang="pt-BR" dirty="0"/>
              <a:t>, </a:t>
            </a:r>
            <a:r>
              <a:rPr lang="pt-BR" dirty="0" err="1"/>
              <a:t>sobel</a:t>
            </a:r>
            <a:r>
              <a:rPr lang="pt-BR" dirty="0"/>
              <a:t>, </a:t>
            </a:r>
            <a:r>
              <a:rPr lang="pt-BR" dirty="0" err="1"/>
              <a:t>etc</a:t>
            </a:r>
            <a:r>
              <a:rPr lang="pt-BR" dirty="0"/>
              <a:t>): detectores de borda</a:t>
            </a:r>
          </a:p>
        </p:txBody>
      </p:sp>
    </p:spTree>
    <p:extLst>
      <p:ext uri="{BB962C8B-B14F-4D97-AF65-F5344CB8AC3E}">
        <p14:creationId xmlns:p14="http://schemas.microsoft.com/office/powerpoint/2010/main" val="39769157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ítulo 1">
            <a:extLst>
              <a:ext uri="{FF2B5EF4-FFF2-40B4-BE49-F238E27FC236}">
                <a16:creationId xmlns:a16="http://schemas.microsoft.com/office/drawing/2014/main" id="{B1E3D895-4D95-3694-C4E8-E1BA14AF8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Filtros espaciais de suavização</a:t>
            </a:r>
          </a:p>
        </p:txBody>
      </p:sp>
      <p:sp>
        <p:nvSpPr>
          <p:cNvPr id="21507" name="Espaço Reservado para Conteúdo 2">
            <a:extLst>
              <a:ext uri="{FF2B5EF4-FFF2-40B4-BE49-F238E27FC236}">
                <a16:creationId xmlns:a16="http://schemas.microsoft.com/office/drawing/2014/main" id="{75EF7196-62B3-8ED8-2CB9-F82D2056E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Filtros usados para o borramento e redução de ruídos</a:t>
            </a:r>
          </a:p>
          <a:p>
            <a:pPr lvl="1" eaLnBrk="1" hangingPunct="1"/>
            <a:r>
              <a:rPr lang="pt-BR" altLang="pt-BR"/>
              <a:t>Borramento</a:t>
            </a:r>
          </a:p>
        </p:txBody>
      </p:sp>
      <p:pic>
        <p:nvPicPr>
          <p:cNvPr id="21508" name="Picture 4">
            <a:extLst>
              <a:ext uri="{FF2B5EF4-FFF2-40B4-BE49-F238E27FC236}">
                <a16:creationId xmlns:a16="http://schemas.microsoft.com/office/drawing/2014/main" id="{7F69140E-9C90-D650-E213-D8C162760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143250"/>
            <a:ext cx="6858000" cy="347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ítulo 1">
            <a:extLst>
              <a:ext uri="{FF2B5EF4-FFF2-40B4-BE49-F238E27FC236}">
                <a16:creationId xmlns:a16="http://schemas.microsoft.com/office/drawing/2014/main" id="{5474265C-9D58-D280-04CF-418068C38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Filtros espaciais de suavização</a:t>
            </a:r>
          </a:p>
        </p:txBody>
      </p:sp>
      <p:sp>
        <p:nvSpPr>
          <p:cNvPr id="22531" name="Espaço Reservado para Conteúdo 2">
            <a:extLst>
              <a:ext uri="{FF2B5EF4-FFF2-40B4-BE49-F238E27FC236}">
                <a16:creationId xmlns:a16="http://schemas.microsoft.com/office/drawing/2014/main" id="{94E8DD8F-CC37-47A5-C985-5114D52E5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Redução de ruídos</a:t>
            </a:r>
          </a:p>
        </p:txBody>
      </p:sp>
      <p:pic>
        <p:nvPicPr>
          <p:cNvPr id="22532" name="Picture 10">
            <a:extLst>
              <a:ext uri="{FF2B5EF4-FFF2-40B4-BE49-F238E27FC236}">
                <a16:creationId xmlns:a16="http://schemas.microsoft.com/office/drawing/2014/main" id="{3BE58D0E-73B1-2B89-4C2D-7475D49E24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3" y="2857500"/>
            <a:ext cx="3171825" cy="318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3" name="Picture 11">
            <a:extLst>
              <a:ext uri="{FF2B5EF4-FFF2-40B4-BE49-F238E27FC236}">
                <a16:creationId xmlns:a16="http://schemas.microsoft.com/office/drawing/2014/main" id="{564AE4B5-CABA-B99F-9C34-464BC77D4F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9188" y="2857500"/>
            <a:ext cx="3132137" cy="314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ítulo 1">
            <a:extLst>
              <a:ext uri="{FF2B5EF4-FFF2-40B4-BE49-F238E27FC236}">
                <a16:creationId xmlns:a16="http://schemas.microsoft.com/office/drawing/2014/main" id="{68A9F8C3-9A71-263E-9E42-FD915EB5B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Exemplo: Suavização</a:t>
            </a:r>
          </a:p>
        </p:txBody>
      </p:sp>
      <p:pic>
        <p:nvPicPr>
          <p:cNvPr id="23555" name="Picture 3">
            <a:extLst>
              <a:ext uri="{FF2B5EF4-FFF2-40B4-BE49-F238E27FC236}">
                <a16:creationId xmlns:a16="http://schemas.microsoft.com/office/drawing/2014/main" id="{3DE7981F-FDB9-AB70-6575-8F0DEAD75C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0" y="2286000"/>
            <a:ext cx="6496050" cy="337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ítulo 1">
            <a:extLst>
              <a:ext uri="{FF2B5EF4-FFF2-40B4-BE49-F238E27FC236}">
                <a16:creationId xmlns:a16="http://schemas.microsoft.com/office/drawing/2014/main" id="{1D054AEF-68EA-F4BD-602E-33BDB275B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Exemplo: Suavização</a:t>
            </a:r>
          </a:p>
        </p:txBody>
      </p:sp>
      <p:pic>
        <p:nvPicPr>
          <p:cNvPr id="24579" name="Picture 2">
            <a:extLst>
              <a:ext uri="{FF2B5EF4-FFF2-40B4-BE49-F238E27FC236}">
                <a16:creationId xmlns:a16="http://schemas.microsoft.com/office/drawing/2014/main" id="{ACCA3CF2-52F2-D295-7B99-EB98334952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938" y="2286000"/>
            <a:ext cx="5353050" cy="397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ítulo 1">
            <a:extLst>
              <a:ext uri="{FF2B5EF4-FFF2-40B4-BE49-F238E27FC236}">
                <a16:creationId xmlns:a16="http://schemas.microsoft.com/office/drawing/2014/main" id="{904DBEA8-E3FE-2804-425A-AC4E326A8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Exemplo: Suavização</a:t>
            </a:r>
          </a:p>
        </p:txBody>
      </p:sp>
      <p:pic>
        <p:nvPicPr>
          <p:cNvPr id="25603" name="Picture 32">
            <a:extLst>
              <a:ext uri="{FF2B5EF4-FFF2-40B4-BE49-F238E27FC236}">
                <a16:creationId xmlns:a16="http://schemas.microsoft.com/office/drawing/2014/main" id="{1F90FA22-19FB-ECDA-BCF5-D9DE59A4FF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2492375"/>
            <a:ext cx="6696075" cy="353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Filtros de Suavização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Filtro de Média - também chamados de filtros passa-baixa</a:t>
            </a:r>
          </a:p>
          <a:p>
            <a:pPr lvl="1"/>
            <a:r>
              <a:rPr lang="pt-BR" dirty="0"/>
              <a:t>Utiliza uma máscara que realiza a média da vizinhança.</a:t>
            </a:r>
          </a:p>
          <a:p>
            <a:pPr lvl="1"/>
            <a:r>
              <a:rPr lang="pt-BR" dirty="0"/>
              <a:t>Numa máscara de média, os coeficiente  são positivos e a soma deles é igual a 1</a:t>
            </a:r>
          </a:p>
          <a:p>
            <a:pPr lvl="1"/>
            <a:r>
              <a:rPr lang="pt-BR" dirty="0"/>
              <a:t>Quanto maior a máscara maior efeito de </a:t>
            </a:r>
            <a:r>
              <a:rPr lang="pt-BR" dirty="0" err="1"/>
              <a:t>borramento</a:t>
            </a:r>
            <a:endParaRPr lang="pt-BR" dirty="0"/>
          </a:p>
          <a:p>
            <a:r>
              <a:rPr lang="pt-BR" dirty="0"/>
              <a:t>Exemplos de máscaras</a:t>
            </a:r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232226"/>
            <a:ext cx="7394575" cy="158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938877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ítulo 1">
            <a:extLst>
              <a:ext uri="{FF2B5EF4-FFF2-40B4-BE49-F238E27FC236}">
                <a16:creationId xmlns:a16="http://schemas.microsoft.com/office/drawing/2014/main" id="{9978E684-9302-8596-44FE-A58BDD3B6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Exemplo: Suavização</a:t>
            </a:r>
          </a:p>
        </p:txBody>
      </p:sp>
      <p:pic>
        <p:nvPicPr>
          <p:cNvPr id="28675" name="Picture 3">
            <a:extLst>
              <a:ext uri="{FF2B5EF4-FFF2-40B4-BE49-F238E27FC236}">
                <a16:creationId xmlns:a16="http://schemas.microsoft.com/office/drawing/2014/main" id="{3E9EE3BA-43B6-C52A-B3E9-A6AF8A091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25" y="1873250"/>
            <a:ext cx="8904288" cy="318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CaixaDeTexto 5">
            <a:extLst>
              <a:ext uri="{FF2B5EF4-FFF2-40B4-BE49-F238E27FC236}">
                <a16:creationId xmlns:a16="http://schemas.microsoft.com/office/drawing/2014/main" id="{A99EBE62-FFAA-47F2-28AF-49AE714AD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288" y="5159375"/>
            <a:ext cx="2286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/>
              <a:t>Original</a:t>
            </a:r>
          </a:p>
        </p:txBody>
      </p:sp>
      <p:sp>
        <p:nvSpPr>
          <p:cNvPr id="28677" name="CaixaDeTexto 6">
            <a:extLst>
              <a:ext uri="{FF2B5EF4-FFF2-40B4-BE49-F238E27FC236}">
                <a16:creationId xmlns:a16="http://schemas.microsoft.com/office/drawing/2014/main" id="{91AC8D00-B9C1-9281-D5C4-575467FF6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6788" y="5159375"/>
            <a:ext cx="2286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/>
              <a:t>Suavizada</a:t>
            </a:r>
          </a:p>
          <a:p>
            <a:pPr algn="ctr" eaLnBrk="1" hangingPunct="1"/>
            <a:r>
              <a:rPr lang="pt-BR" altLang="pt-BR"/>
              <a:t>(filtro de média 5x5)</a:t>
            </a:r>
          </a:p>
        </p:txBody>
      </p:sp>
      <p:sp>
        <p:nvSpPr>
          <p:cNvPr id="28678" name="CaixaDeTexto 7">
            <a:extLst>
              <a:ext uri="{FF2B5EF4-FFF2-40B4-BE49-F238E27FC236}">
                <a16:creationId xmlns:a16="http://schemas.microsoft.com/office/drawing/2014/main" id="{340FC342-74A7-A006-0216-F1307203E1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7163" y="5159375"/>
            <a:ext cx="2286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/>
              <a:t>Limiar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ítulo 1">
            <a:extLst>
              <a:ext uri="{FF2B5EF4-FFF2-40B4-BE49-F238E27FC236}">
                <a16:creationId xmlns:a16="http://schemas.microsoft.com/office/drawing/2014/main" id="{6891CA30-545E-7340-4CC8-6299245AF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Filtros espaciais de suavização</a:t>
            </a:r>
          </a:p>
        </p:txBody>
      </p:sp>
      <p:sp>
        <p:nvSpPr>
          <p:cNvPr id="29699" name="Espaço Reservado para Conteúdo 2">
            <a:extLst>
              <a:ext uri="{FF2B5EF4-FFF2-40B4-BE49-F238E27FC236}">
                <a16:creationId xmlns:a16="http://schemas.microsoft.com/office/drawing/2014/main" id="{73638A81-62B9-7749-28A7-31DD92990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188" y="1500188"/>
            <a:ext cx="8229600" cy="4525962"/>
          </a:xfrm>
        </p:spPr>
        <p:txBody>
          <a:bodyPr/>
          <a:lstStyle/>
          <a:p>
            <a:pPr eaLnBrk="1" hangingPunct="1"/>
            <a:r>
              <a:rPr lang="pt-BR" altLang="pt-BR"/>
              <a:t>Filtros de média</a:t>
            </a:r>
          </a:p>
          <a:p>
            <a:pPr lvl="1" eaLnBrk="1" hangingPunct="1"/>
            <a:r>
              <a:rPr lang="pt-BR" altLang="pt-BR"/>
              <a:t>Nota-se que neste caso não é o melhor filtro</a:t>
            </a:r>
          </a:p>
        </p:txBody>
      </p:sp>
      <p:pic>
        <p:nvPicPr>
          <p:cNvPr id="29700" name="Picture 10">
            <a:extLst>
              <a:ext uri="{FF2B5EF4-FFF2-40B4-BE49-F238E27FC236}">
                <a16:creationId xmlns:a16="http://schemas.microsoft.com/office/drawing/2014/main" id="{43CA4A30-6696-66FB-FDB9-FA85CF71E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3" y="2857500"/>
            <a:ext cx="3171825" cy="318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1" name="Picture 11">
            <a:extLst>
              <a:ext uri="{FF2B5EF4-FFF2-40B4-BE49-F238E27FC236}">
                <a16:creationId xmlns:a16="http://schemas.microsoft.com/office/drawing/2014/main" id="{CCB1D7E1-6CAB-4F7B-4619-ECF9468179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9188" y="2857500"/>
            <a:ext cx="3132137" cy="314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2" name="CaixaDeTexto 6">
            <a:extLst>
              <a:ext uri="{FF2B5EF4-FFF2-40B4-BE49-F238E27FC236}">
                <a16:creationId xmlns:a16="http://schemas.microsoft.com/office/drawing/2014/main" id="{2DF911B6-2AB0-593D-435D-9E54608420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2063" y="6215063"/>
            <a:ext cx="24288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/>
              <a:t>Máscara usada: 5x5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3">
            <a:extLst>
              <a:ext uri="{FF2B5EF4-FFF2-40B4-BE49-F238E27FC236}">
                <a16:creationId xmlns:a16="http://schemas.microsoft.com/office/drawing/2014/main" id="{0838E842-22E2-38A4-143C-DE458A67F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63" y="228600"/>
            <a:ext cx="5360987" cy="1411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23" name="Picture 2">
            <a:extLst>
              <a:ext uri="{FF2B5EF4-FFF2-40B4-BE49-F238E27FC236}">
                <a16:creationId xmlns:a16="http://schemas.microsoft.com/office/drawing/2014/main" id="{C877A92B-FC86-7BD3-F5FF-C9A36FBF9D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0" y="620713"/>
            <a:ext cx="4105275" cy="6116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Filtros de Suavização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Filtro Gaussiano</a:t>
            </a:r>
          </a:p>
          <a:p>
            <a:pPr lvl="1"/>
            <a:r>
              <a:rPr lang="pt-BR" dirty="0"/>
              <a:t>Utiliza a função gaussiana para o cálculo dos coeficientes da máscara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86375" y="3571875"/>
            <a:ext cx="2981325" cy="244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8688" y="3010049"/>
            <a:ext cx="2886075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7188" y="3795861"/>
            <a:ext cx="4029075" cy="2657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aixaDeTexto 8"/>
          <p:cNvSpPr txBox="1">
            <a:spLocks noChangeArrowheads="1"/>
          </p:cNvSpPr>
          <p:nvPr/>
        </p:nvSpPr>
        <p:spPr bwMode="auto">
          <a:xfrm>
            <a:off x="5814963" y="3214688"/>
            <a:ext cx="235743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dirty="0"/>
              <a:t>Máscara (sigma = 1)</a:t>
            </a:r>
          </a:p>
        </p:txBody>
      </p:sp>
      <p:sp>
        <p:nvSpPr>
          <p:cNvPr id="8" name="Retângulo 9"/>
          <p:cNvSpPr>
            <a:spLocks noChangeArrowheads="1"/>
          </p:cNvSpPr>
          <p:nvPr/>
        </p:nvSpPr>
        <p:spPr bwMode="auto">
          <a:xfrm>
            <a:off x="3114222" y="6459085"/>
            <a:ext cx="60007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dirty="0"/>
              <a:t>http://homepages.inf.ed.ac.uk/rbf/HIPR2/gsmooth.htm</a:t>
            </a:r>
          </a:p>
        </p:txBody>
      </p:sp>
    </p:spTree>
    <p:extLst>
      <p:ext uri="{BB962C8B-B14F-4D97-AF65-F5344CB8AC3E}">
        <p14:creationId xmlns:p14="http://schemas.microsoft.com/office/powerpoint/2010/main" val="38171101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Filtros de Suavização</a:t>
            </a:r>
          </a:p>
        </p:txBody>
      </p:sp>
      <p:sp>
        <p:nvSpPr>
          <p:cNvPr id="9" name="Retângulo 8"/>
          <p:cNvSpPr/>
          <p:nvPr/>
        </p:nvSpPr>
        <p:spPr>
          <a:xfrm>
            <a:off x="388938" y="2193131"/>
            <a:ext cx="3967162" cy="267811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pt-BR" sz="1400" dirty="0">
                <a:solidFill>
                  <a:srgbClr val="228B22"/>
                </a:solidFill>
                <a:latin typeface="Courier New"/>
              </a:rPr>
              <a:t>% Função gaussiana 2D com média </a:t>
            </a:r>
          </a:p>
          <a:p>
            <a:pPr>
              <a:defRPr/>
            </a:pPr>
            <a:r>
              <a:rPr lang="pt-BR" sz="1400" dirty="0">
                <a:solidFill>
                  <a:srgbClr val="228B22"/>
                </a:solidFill>
                <a:latin typeface="Courier New"/>
              </a:rPr>
              <a:t>% zero e desvio sigma</a:t>
            </a:r>
          </a:p>
          <a:p>
            <a:pPr>
              <a:defRPr/>
            </a:pPr>
            <a:r>
              <a:rPr lang="pt-BR" sz="1400" dirty="0" err="1">
                <a:solidFill>
                  <a:srgbClr val="0000FF"/>
                </a:solidFill>
                <a:latin typeface="Courier New"/>
              </a:rPr>
              <a:t>function</a:t>
            </a:r>
            <a:r>
              <a:rPr lang="pt-BR" sz="1400" dirty="0">
                <a:solidFill>
                  <a:srgbClr val="000000"/>
                </a:solidFill>
                <a:latin typeface="Courier New"/>
              </a:rPr>
              <a:t> g = </a:t>
            </a:r>
            <a:r>
              <a:rPr lang="pt-BR" sz="1400" dirty="0" err="1">
                <a:solidFill>
                  <a:srgbClr val="000000"/>
                </a:solidFill>
                <a:latin typeface="Courier New"/>
              </a:rPr>
              <a:t>GaussXY</a:t>
            </a:r>
            <a:r>
              <a:rPr lang="pt-BR" sz="1400" dirty="0">
                <a:solidFill>
                  <a:srgbClr val="000000"/>
                </a:solidFill>
                <a:latin typeface="Courier New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urier New"/>
              </a:rPr>
              <a:t>x,y,sigma</a:t>
            </a:r>
            <a:r>
              <a:rPr lang="pt-BR" sz="1400" dirty="0">
                <a:solidFill>
                  <a:srgbClr val="000000"/>
                </a:solidFill>
                <a:latin typeface="Courier New"/>
              </a:rPr>
              <a:t>)</a:t>
            </a:r>
          </a:p>
          <a:p>
            <a:pPr>
              <a:defRPr/>
            </a:pPr>
            <a:r>
              <a:rPr lang="pt-BR" sz="1400" dirty="0">
                <a:solidFill>
                  <a:srgbClr val="000000"/>
                </a:solidFill>
                <a:latin typeface="Courier New"/>
              </a:rPr>
              <a:t>  </a:t>
            </a:r>
          </a:p>
          <a:p>
            <a:pPr>
              <a:defRPr/>
            </a:pPr>
            <a:r>
              <a:rPr lang="pt-BR" sz="1400" dirty="0">
                <a:solidFill>
                  <a:srgbClr val="000000"/>
                </a:solidFill>
                <a:latin typeface="Courier New"/>
              </a:rPr>
              <a:t>  fator = (1/ (2*pi*(sigma^2)));</a:t>
            </a:r>
          </a:p>
          <a:p>
            <a:pPr>
              <a:defRPr/>
            </a:pPr>
            <a:r>
              <a:rPr lang="pt-BR" sz="1400" dirty="0">
                <a:solidFill>
                  <a:srgbClr val="000000"/>
                </a:solidFill>
                <a:latin typeface="Courier New"/>
              </a:rPr>
              <a:t>  </a:t>
            </a:r>
          </a:p>
          <a:p>
            <a:pPr>
              <a:defRPr/>
            </a:pPr>
            <a:r>
              <a:rPr lang="pt-BR" sz="1400" dirty="0">
                <a:solidFill>
                  <a:srgbClr val="000000"/>
                </a:solidFill>
                <a:latin typeface="Courier New"/>
              </a:rPr>
              <a:t>  g = fator*</a:t>
            </a:r>
            <a:r>
              <a:rPr lang="pt-BR" sz="1400" dirty="0" err="1">
                <a:solidFill>
                  <a:srgbClr val="000000"/>
                </a:solidFill>
                <a:latin typeface="Courier New"/>
              </a:rPr>
              <a:t>exp</a:t>
            </a:r>
            <a:r>
              <a:rPr lang="pt-BR" sz="1400" dirty="0">
                <a:solidFill>
                  <a:srgbClr val="000000"/>
                </a:solidFill>
                <a:latin typeface="Courier New"/>
              </a:rPr>
              <a:t>( -(x.^2 + y.^2) </a:t>
            </a:r>
            <a:r>
              <a:rPr lang="pt-BR" sz="1400" dirty="0">
                <a:solidFill>
                  <a:srgbClr val="0000FF"/>
                </a:solidFill>
                <a:latin typeface="Courier New"/>
              </a:rPr>
              <a:t>...</a:t>
            </a:r>
          </a:p>
          <a:p>
            <a:pPr>
              <a:defRPr/>
            </a:pPr>
            <a:r>
              <a:rPr lang="pt-BR" sz="1400" dirty="0">
                <a:solidFill>
                  <a:srgbClr val="000000"/>
                </a:solidFill>
                <a:latin typeface="Courier New"/>
              </a:rPr>
              <a:t>              /(2*(sigma.^2)));</a:t>
            </a:r>
          </a:p>
          <a:p>
            <a:pPr>
              <a:defRPr/>
            </a:pPr>
            <a:r>
              <a:rPr lang="pt-BR" sz="1400" dirty="0">
                <a:solidFill>
                  <a:srgbClr val="000000"/>
                </a:solidFill>
                <a:latin typeface="Courier New"/>
              </a:rPr>
              <a:t>  </a:t>
            </a:r>
          </a:p>
          <a:p>
            <a:pPr>
              <a:defRPr/>
            </a:pPr>
            <a:r>
              <a:rPr lang="pt-BR" sz="1400" dirty="0" err="1">
                <a:solidFill>
                  <a:srgbClr val="0000FF"/>
                </a:solidFill>
                <a:latin typeface="Courier New"/>
              </a:rPr>
              <a:t>end</a:t>
            </a:r>
            <a:endParaRPr lang="pt-BR" sz="1400" dirty="0">
              <a:solidFill>
                <a:srgbClr val="0000FF"/>
              </a:solidFill>
              <a:latin typeface="Courier New"/>
            </a:endParaRPr>
          </a:p>
          <a:p>
            <a:pPr>
              <a:defRPr/>
            </a:pPr>
            <a:r>
              <a:rPr lang="pt-BR" sz="1400" dirty="0">
                <a:solidFill>
                  <a:srgbClr val="0000FF"/>
                </a:solidFill>
                <a:latin typeface="Courier New"/>
              </a:rPr>
              <a:t> </a:t>
            </a:r>
          </a:p>
          <a:p>
            <a:pPr>
              <a:defRPr/>
            </a:pPr>
            <a:endParaRPr lang="pt-BR" sz="1400" dirty="0"/>
          </a:p>
        </p:txBody>
      </p:sp>
      <p:sp>
        <p:nvSpPr>
          <p:cNvPr id="11" name="Retângulo 10"/>
          <p:cNvSpPr/>
          <p:nvPr/>
        </p:nvSpPr>
        <p:spPr>
          <a:xfrm>
            <a:off x="4427538" y="2193131"/>
            <a:ext cx="4572000" cy="35401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pt-BR" sz="1400" dirty="0">
                <a:solidFill>
                  <a:srgbClr val="228B22"/>
                </a:solidFill>
                <a:latin typeface="Courier New"/>
              </a:rPr>
              <a:t>% Máscara 5x5</a:t>
            </a:r>
          </a:p>
          <a:p>
            <a:pPr>
              <a:defRPr/>
            </a:pPr>
            <a:r>
              <a:rPr lang="pt-BR" sz="1400" dirty="0" err="1">
                <a:solidFill>
                  <a:srgbClr val="000000"/>
                </a:solidFill>
                <a:latin typeface="Courier New"/>
              </a:rPr>
              <a:t>result</a:t>
            </a:r>
            <a:r>
              <a:rPr lang="pt-BR" sz="1400" dirty="0">
                <a:solidFill>
                  <a:srgbClr val="000000"/>
                </a:solidFill>
                <a:latin typeface="Courier New"/>
              </a:rPr>
              <a:t> = zeros(5,5);</a:t>
            </a:r>
          </a:p>
          <a:p>
            <a:pPr>
              <a:defRPr/>
            </a:pPr>
            <a:r>
              <a:rPr lang="pt-BR" sz="1400" dirty="0">
                <a:solidFill>
                  <a:srgbClr val="000000"/>
                </a:solidFill>
                <a:latin typeface="Courier New"/>
              </a:rPr>
              <a:t>a = 2; b = 2;</a:t>
            </a:r>
          </a:p>
          <a:p>
            <a:pPr>
              <a:defRPr/>
            </a:pPr>
            <a:r>
              <a:rPr lang="pt-BR" sz="1400" dirty="0">
                <a:solidFill>
                  <a:srgbClr val="000000"/>
                </a:solidFill>
                <a:latin typeface="Courier New"/>
              </a:rPr>
              <a:t> </a:t>
            </a:r>
          </a:p>
          <a:p>
            <a:pPr>
              <a:defRPr/>
            </a:pPr>
            <a:r>
              <a:rPr lang="pt-BR" sz="1400" dirty="0">
                <a:solidFill>
                  <a:srgbClr val="000000"/>
                </a:solidFill>
                <a:latin typeface="Courier New"/>
              </a:rPr>
              <a:t>sigma = 1;</a:t>
            </a:r>
          </a:p>
          <a:p>
            <a:pPr>
              <a:defRPr/>
            </a:pPr>
            <a:r>
              <a:rPr lang="pt-BR" sz="1400" dirty="0">
                <a:solidFill>
                  <a:srgbClr val="000000"/>
                </a:solidFill>
                <a:latin typeface="Courier New"/>
              </a:rPr>
              <a:t> </a:t>
            </a:r>
          </a:p>
          <a:p>
            <a:pPr>
              <a:defRPr/>
            </a:pPr>
            <a:r>
              <a:rPr lang="pt-BR" sz="1400" dirty="0">
                <a:solidFill>
                  <a:srgbClr val="0000FF"/>
                </a:solidFill>
                <a:latin typeface="Courier New"/>
              </a:rPr>
              <a:t>for</a:t>
            </a:r>
            <a:r>
              <a:rPr lang="pt-BR" sz="1400" dirty="0">
                <a:solidFill>
                  <a:srgbClr val="000000"/>
                </a:solidFill>
                <a:latin typeface="Courier New"/>
              </a:rPr>
              <a:t> x=-</a:t>
            </a:r>
            <a:r>
              <a:rPr lang="pt-BR" sz="1400" dirty="0" err="1">
                <a:solidFill>
                  <a:srgbClr val="000000"/>
                </a:solidFill>
                <a:latin typeface="Courier New"/>
              </a:rPr>
              <a:t>a:a</a:t>
            </a:r>
            <a:endParaRPr lang="pt-BR" sz="1400" dirty="0">
              <a:solidFill>
                <a:srgbClr val="000000"/>
              </a:solidFill>
              <a:latin typeface="Courier New"/>
            </a:endParaRPr>
          </a:p>
          <a:p>
            <a:pPr>
              <a:defRPr/>
            </a:pPr>
            <a:r>
              <a:rPr lang="pt-BR" sz="1400" dirty="0">
                <a:solidFill>
                  <a:srgbClr val="000000"/>
                </a:solidFill>
                <a:latin typeface="Courier New"/>
              </a:rPr>
              <a:t>  </a:t>
            </a:r>
            <a:r>
              <a:rPr lang="pt-BR" sz="1400" dirty="0">
                <a:solidFill>
                  <a:srgbClr val="0000FF"/>
                </a:solidFill>
                <a:latin typeface="Courier New"/>
              </a:rPr>
              <a:t>for</a:t>
            </a:r>
            <a:r>
              <a:rPr lang="pt-BR" sz="1400" dirty="0">
                <a:solidFill>
                  <a:srgbClr val="000000"/>
                </a:solidFill>
                <a:latin typeface="Courier New"/>
              </a:rPr>
              <a:t> y=-</a:t>
            </a:r>
            <a:r>
              <a:rPr lang="pt-BR" sz="1400" dirty="0" err="1">
                <a:solidFill>
                  <a:srgbClr val="000000"/>
                </a:solidFill>
                <a:latin typeface="Courier New"/>
              </a:rPr>
              <a:t>b:b</a:t>
            </a:r>
            <a:endParaRPr lang="pt-BR" sz="1400" dirty="0">
              <a:solidFill>
                <a:srgbClr val="000000"/>
              </a:solidFill>
              <a:latin typeface="Courier New"/>
            </a:endParaRPr>
          </a:p>
          <a:p>
            <a:pPr>
              <a:defRPr/>
            </a:pPr>
            <a:r>
              <a:rPr lang="pt-BR" sz="1400" dirty="0">
                <a:solidFill>
                  <a:srgbClr val="000000"/>
                </a:solidFill>
                <a:latin typeface="Courier New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latin typeface="Courier New"/>
              </a:rPr>
              <a:t>result</a:t>
            </a:r>
            <a:r>
              <a:rPr lang="pt-BR" sz="1400" dirty="0">
                <a:solidFill>
                  <a:srgbClr val="000000"/>
                </a:solidFill>
                <a:latin typeface="Courier New"/>
              </a:rPr>
              <a:t>(x+a+1,y+b+1) </a:t>
            </a:r>
            <a:r>
              <a:rPr lang="pt-BR" sz="1400" dirty="0">
                <a:solidFill>
                  <a:srgbClr val="0000FF"/>
                </a:solidFill>
                <a:latin typeface="Courier New"/>
              </a:rPr>
              <a:t>...</a:t>
            </a:r>
          </a:p>
          <a:p>
            <a:pPr>
              <a:defRPr/>
            </a:pPr>
            <a:r>
              <a:rPr lang="pt-BR" sz="1400" dirty="0">
                <a:solidFill>
                  <a:srgbClr val="000000"/>
                </a:solidFill>
                <a:latin typeface="Courier New"/>
              </a:rPr>
              <a:t>      = </a:t>
            </a:r>
            <a:r>
              <a:rPr lang="pt-BR" sz="1400" dirty="0" err="1">
                <a:solidFill>
                  <a:srgbClr val="000000"/>
                </a:solidFill>
                <a:latin typeface="Courier New"/>
              </a:rPr>
              <a:t>GaussXY</a:t>
            </a:r>
            <a:r>
              <a:rPr lang="pt-BR" sz="1400" dirty="0">
                <a:solidFill>
                  <a:srgbClr val="000000"/>
                </a:solidFill>
                <a:latin typeface="Courier New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urier New"/>
              </a:rPr>
              <a:t>x,y,sigma</a:t>
            </a:r>
            <a:r>
              <a:rPr lang="pt-BR" sz="1400" dirty="0">
                <a:solidFill>
                  <a:srgbClr val="000000"/>
                </a:solidFill>
                <a:latin typeface="Courier New"/>
              </a:rPr>
              <a:t>);</a:t>
            </a:r>
          </a:p>
          <a:p>
            <a:pPr>
              <a:defRPr/>
            </a:pPr>
            <a:r>
              <a:rPr lang="pt-BR" sz="1400" dirty="0">
                <a:solidFill>
                  <a:srgbClr val="000000"/>
                </a:solidFill>
                <a:latin typeface="Courier New"/>
              </a:rPr>
              <a:t>  </a:t>
            </a:r>
            <a:r>
              <a:rPr lang="pt-BR" sz="1400" dirty="0" err="1">
                <a:solidFill>
                  <a:srgbClr val="0000FF"/>
                </a:solidFill>
                <a:latin typeface="Courier New"/>
              </a:rPr>
              <a:t>end</a:t>
            </a:r>
            <a:endParaRPr lang="pt-BR" sz="1400" dirty="0">
              <a:solidFill>
                <a:srgbClr val="0000FF"/>
              </a:solidFill>
              <a:latin typeface="Courier New"/>
            </a:endParaRPr>
          </a:p>
          <a:p>
            <a:pPr>
              <a:defRPr/>
            </a:pPr>
            <a:r>
              <a:rPr lang="pt-BR" sz="1400" dirty="0" err="1">
                <a:solidFill>
                  <a:srgbClr val="0000FF"/>
                </a:solidFill>
                <a:latin typeface="Courier New"/>
              </a:rPr>
              <a:t>end</a:t>
            </a:r>
            <a:endParaRPr lang="pt-BR" sz="1400" dirty="0">
              <a:solidFill>
                <a:srgbClr val="0000FF"/>
              </a:solidFill>
              <a:latin typeface="Courier New"/>
            </a:endParaRPr>
          </a:p>
          <a:p>
            <a:pPr>
              <a:defRPr/>
            </a:pPr>
            <a:r>
              <a:rPr lang="pt-BR" sz="1400" dirty="0">
                <a:solidFill>
                  <a:srgbClr val="0000FF"/>
                </a:solidFill>
                <a:latin typeface="Courier New"/>
              </a:rPr>
              <a:t> </a:t>
            </a:r>
          </a:p>
          <a:p>
            <a:pPr>
              <a:defRPr/>
            </a:pPr>
            <a:r>
              <a:rPr lang="pt-BR" sz="1400" dirty="0">
                <a:solidFill>
                  <a:srgbClr val="228B22"/>
                </a:solidFill>
                <a:latin typeface="Courier New"/>
              </a:rPr>
              <a:t>%normalizando o resultado</a:t>
            </a:r>
          </a:p>
          <a:p>
            <a:pPr>
              <a:defRPr/>
            </a:pPr>
            <a:r>
              <a:rPr lang="pt-BR" sz="1400" dirty="0" err="1">
                <a:solidFill>
                  <a:srgbClr val="000000"/>
                </a:solidFill>
                <a:latin typeface="Courier New"/>
              </a:rPr>
              <a:t>result</a:t>
            </a:r>
            <a:r>
              <a:rPr lang="pt-BR" sz="1400" dirty="0">
                <a:solidFill>
                  <a:srgbClr val="000000"/>
                </a:solidFill>
                <a:latin typeface="Courier New"/>
              </a:rPr>
              <a:t> = result./sum(</a:t>
            </a:r>
            <a:r>
              <a:rPr lang="pt-BR" sz="1400" dirty="0" err="1">
                <a:solidFill>
                  <a:srgbClr val="000000"/>
                </a:solidFill>
                <a:latin typeface="Courier New"/>
              </a:rPr>
              <a:t>result</a:t>
            </a:r>
            <a:r>
              <a:rPr lang="pt-BR" sz="1400" dirty="0">
                <a:solidFill>
                  <a:srgbClr val="000000"/>
                </a:solidFill>
                <a:latin typeface="Courier New"/>
              </a:rPr>
              <a:t>(:));</a:t>
            </a:r>
          </a:p>
          <a:p>
            <a:pPr>
              <a:defRPr/>
            </a:pPr>
            <a:endParaRPr lang="pt-BR" sz="1400" dirty="0"/>
          </a:p>
        </p:txBody>
      </p:sp>
      <p:graphicFrame>
        <p:nvGraphicFramePr>
          <p:cNvPr id="13" name="Tabe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208838"/>
              </p:ext>
            </p:extLst>
          </p:nvPr>
        </p:nvGraphicFramePr>
        <p:xfrm>
          <a:off x="1441450" y="5266903"/>
          <a:ext cx="2193925" cy="11144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23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8" marR="9528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34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8" marR="9528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38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8" marR="9528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34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8" marR="9528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23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8" marR="9528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34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8" marR="9528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49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8" marR="9528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56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8" marR="9528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49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8" marR="9528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34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8" marR="9528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38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8" marR="9528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56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8" marR="9528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63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8" marR="9528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56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8" marR="9528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38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8" marR="9528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34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8" marR="9528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49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8" marR="9528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56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8" marR="9528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49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8" marR="9528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34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8" marR="9528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23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8" marR="9528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34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8" marR="9528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38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8" marR="9528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34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8" marR="9528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23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8" marR="9528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835" name="CaixaDeTexto 13"/>
          <p:cNvSpPr txBox="1">
            <a:spLocks noChangeArrowheads="1"/>
          </p:cNvSpPr>
          <p:nvPr/>
        </p:nvSpPr>
        <p:spPr bwMode="auto">
          <a:xfrm>
            <a:off x="611188" y="4897016"/>
            <a:ext cx="10826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dirty="0" err="1"/>
              <a:t>result</a:t>
            </a:r>
            <a:r>
              <a:rPr lang="pt-BR" dirty="0"/>
              <a:t> ~=</a:t>
            </a:r>
          </a:p>
        </p:txBody>
      </p:sp>
      <p:sp>
        <p:nvSpPr>
          <p:cNvPr id="15" name="Retângulo 1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11560" y="5589240"/>
            <a:ext cx="819070" cy="338554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pt-BR">
                <a:noFill/>
              </a:rPr>
              <a:t> </a:t>
            </a:r>
          </a:p>
        </p:txBody>
      </p:sp>
      <p:sp>
        <p:nvSpPr>
          <p:cNvPr id="10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92931"/>
          </a:xfrm>
        </p:spPr>
        <p:txBody>
          <a:bodyPr/>
          <a:lstStyle/>
          <a:p>
            <a:r>
              <a:rPr lang="pt-BR" dirty="0"/>
              <a:t>Gerando a máscara do filtro Gaussiano</a:t>
            </a:r>
          </a:p>
        </p:txBody>
      </p:sp>
    </p:spTree>
    <p:extLst>
      <p:ext uri="{BB962C8B-B14F-4D97-AF65-F5344CB8AC3E}">
        <p14:creationId xmlns:p14="http://schemas.microsoft.com/office/powerpoint/2010/main" val="35392793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ítulo 1">
            <a:extLst>
              <a:ext uri="{FF2B5EF4-FFF2-40B4-BE49-F238E27FC236}">
                <a16:creationId xmlns:a16="http://schemas.microsoft.com/office/drawing/2014/main" id="{53CEDABE-E8B6-71A4-AC0B-F0BE1B103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Exemplo</a:t>
            </a:r>
          </a:p>
        </p:txBody>
      </p:sp>
      <p:pic>
        <p:nvPicPr>
          <p:cNvPr id="32771" name="Picture 2">
            <a:extLst>
              <a:ext uri="{FF2B5EF4-FFF2-40B4-BE49-F238E27FC236}">
                <a16:creationId xmlns:a16="http://schemas.microsoft.com/office/drawing/2014/main" id="{3958FA74-D1C2-4AC7-D2A5-D54B0CEFA7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844675"/>
            <a:ext cx="3946525" cy="396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772" name="Picture 3">
            <a:extLst>
              <a:ext uri="{FF2B5EF4-FFF2-40B4-BE49-F238E27FC236}">
                <a16:creationId xmlns:a16="http://schemas.microsoft.com/office/drawing/2014/main" id="{3B7910A9-2A6B-A5DB-D48E-C82D4791A3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3" y="1844675"/>
            <a:ext cx="3946525" cy="396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2773" name="CaixaDeTexto 3">
            <a:extLst>
              <a:ext uri="{FF2B5EF4-FFF2-40B4-BE49-F238E27FC236}">
                <a16:creationId xmlns:a16="http://schemas.microsoft.com/office/drawing/2014/main" id="{D725C87B-E675-D9C7-1EA4-CB3D3321E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663" y="6237288"/>
            <a:ext cx="19034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/>
              <a:t>rice.png - Matlab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Filtros de Suavização</a:t>
            </a:r>
          </a:p>
        </p:txBody>
      </p:sp>
      <p:sp>
        <p:nvSpPr>
          <p:cNvPr id="34819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357188" y="1500188"/>
            <a:ext cx="8229600" cy="3584996"/>
          </a:xfrm>
        </p:spPr>
        <p:txBody>
          <a:bodyPr>
            <a:normAutofit/>
          </a:bodyPr>
          <a:lstStyle/>
          <a:p>
            <a:pPr eaLnBrk="1" hangingPunct="1"/>
            <a:r>
              <a:rPr lang="pt-BR" dirty="0"/>
              <a:t>Filtro de mediana</a:t>
            </a:r>
          </a:p>
          <a:p>
            <a:pPr lvl="1"/>
            <a:r>
              <a:rPr lang="pt-BR" dirty="0"/>
              <a:t>Mediana: valor que ocupa a posição central de um conjunto </a:t>
            </a:r>
          </a:p>
          <a:p>
            <a:pPr lvl="1" eaLnBrk="1" hangingPunct="1"/>
            <a:r>
              <a:rPr lang="pt-BR" dirty="0"/>
              <a:t>Trata-se de um filtro não linear: não é feita a </a:t>
            </a:r>
            <a:r>
              <a:rPr lang="pt-BR" dirty="0" err="1"/>
              <a:t>convolução</a:t>
            </a:r>
            <a:r>
              <a:rPr lang="pt-BR" dirty="0"/>
              <a:t> de uma máscara</a:t>
            </a:r>
          </a:p>
          <a:p>
            <a:pPr lvl="1"/>
            <a:r>
              <a:rPr lang="pt-BR" dirty="0"/>
              <a:t>A intensidade de cada pixel é substituída pela mediana das intensidades na vizinhança daquele pixel.</a:t>
            </a:r>
          </a:p>
          <a:p>
            <a:pPr lvl="2" eaLnBrk="1" hangingPunct="1"/>
            <a:r>
              <a:rPr lang="pt-BR" dirty="0" err="1"/>
              <a:t>Ex</a:t>
            </a:r>
            <a:r>
              <a:rPr lang="pt-BR" dirty="0"/>
              <a:t>: o ponto de valor 51 é um ruído:</a:t>
            </a:r>
          </a:p>
        </p:txBody>
      </p:sp>
      <p:graphicFrame>
        <p:nvGraphicFramePr>
          <p:cNvPr id="3482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0415663"/>
              </p:ext>
            </p:extLst>
          </p:nvPr>
        </p:nvGraphicFramePr>
        <p:xfrm>
          <a:off x="2579662" y="5046799"/>
          <a:ext cx="1598287" cy="16945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1054100" imgH="1117600" progId="Equation.3">
                  <p:embed/>
                </p:oleObj>
              </mc:Choice>
              <mc:Fallback>
                <p:oleObj name="Equação" r:id="rId3" imgW="1054100" imgH="1117600" progId="Equation.3">
                  <p:embed/>
                  <p:pic>
                    <p:nvPicPr>
                      <p:cNvPr id="34821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9662" y="5046799"/>
                        <a:ext cx="1598287" cy="1694569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tângulo 14"/>
          <p:cNvSpPr/>
          <p:nvPr/>
        </p:nvSpPr>
        <p:spPr>
          <a:xfrm>
            <a:off x="2586013" y="5042203"/>
            <a:ext cx="974858" cy="967209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34823" name="CaixaDeTexto 4"/>
          <p:cNvSpPr txBox="1">
            <a:spLocks noChangeArrowheads="1"/>
          </p:cNvSpPr>
          <p:nvPr/>
        </p:nvSpPr>
        <p:spPr bwMode="auto">
          <a:xfrm>
            <a:off x="4661123" y="5551760"/>
            <a:ext cx="286320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BR" sz="1600" b="1" dirty="0">
                <a:latin typeface="Arial" pitchFamily="34" charset="0"/>
                <a:cs typeface="Arial" pitchFamily="34" charset="0"/>
              </a:rPr>
              <a:t>0 - 0 - 1 - 2 - 2 - 2 - 3 - 3 - </a:t>
            </a:r>
            <a:r>
              <a:rPr lang="pt-BR" sz="1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51</a:t>
            </a:r>
          </a:p>
        </p:txBody>
      </p:sp>
      <p:cxnSp>
        <p:nvCxnSpPr>
          <p:cNvPr id="17" name="Conector de seta reta 16"/>
          <p:cNvCxnSpPr>
            <a:endCxn id="34823" idx="1"/>
          </p:cNvCxnSpPr>
          <p:nvPr/>
        </p:nvCxnSpPr>
        <p:spPr>
          <a:xfrm>
            <a:off x="3560871" y="5721037"/>
            <a:ext cx="1100252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/>
          <p:nvPr/>
        </p:nvCxnSpPr>
        <p:spPr>
          <a:xfrm rot="5400000" flipH="1" flipV="1">
            <a:off x="5875182" y="5999860"/>
            <a:ext cx="214312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57549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Filtros de Suavização</a:t>
            </a:r>
          </a:p>
        </p:txBody>
      </p:sp>
      <p:sp>
        <p:nvSpPr>
          <p:cNvPr id="3584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357188" y="1500188"/>
            <a:ext cx="8229600" cy="4525962"/>
          </a:xfrm>
        </p:spPr>
        <p:txBody>
          <a:bodyPr/>
          <a:lstStyle/>
          <a:p>
            <a:pPr eaLnBrk="1" hangingPunct="1"/>
            <a:r>
              <a:rPr lang="pt-BR" dirty="0"/>
              <a:t>Filtro de mediana</a:t>
            </a:r>
          </a:p>
          <a:p>
            <a:pPr eaLnBrk="1" hangingPunct="1">
              <a:buFont typeface="Arial" charset="0"/>
              <a:buNone/>
            </a:pPr>
            <a:endParaRPr lang="pt-BR" dirty="0"/>
          </a:p>
        </p:txBody>
      </p:sp>
      <p:pic>
        <p:nvPicPr>
          <p:cNvPr id="3584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625" y="2643188"/>
            <a:ext cx="7747000" cy="2500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845" name="CaixaDeTexto 9"/>
          <p:cNvSpPr txBox="1">
            <a:spLocks noChangeArrowheads="1"/>
          </p:cNvSpPr>
          <p:nvPr/>
        </p:nvSpPr>
        <p:spPr bwMode="auto">
          <a:xfrm>
            <a:off x="714375" y="5143500"/>
            <a:ext cx="17859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/>
              <a:t>Original</a:t>
            </a:r>
          </a:p>
        </p:txBody>
      </p:sp>
      <p:sp>
        <p:nvSpPr>
          <p:cNvPr id="35846" name="CaixaDeTexto 10"/>
          <p:cNvSpPr txBox="1">
            <a:spLocks noChangeArrowheads="1"/>
          </p:cNvSpPr>
          <p:nvPr/>
        </p:nvSpPr>
        <p:spPr bwMode="auto">
          <a:xfrm>
            <a:off x="3214688" y="5143500"/>
            <a:ext cx="21431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/>
              <a:t>Filtro de média 3x3</a:t>
            </a:r>
          </a:p>
        </p:txBody>
      </p:sp>
      <p:sp>
        <p:nvSpPr>
          <p:cNvPr id="35847" name="CaixaDeTexto 11"/>
          <p:cNvSpPr txBox="1">
            <a:spLocks noChangeArrowheads="1"/>
          </p:cNvSpPr>
          <p:nvPr/>
        </p:nvSpPr>
        <p:spPr bwMode="auto">
          <a:xfrm>
            <a:off x="5643563" y="5143500"/>
            <a:ext cx="25717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/>
              <a:t>Filtro de mediana 3x3</a:t>
            </a:r>
          </a:p>
        </p:txBody>
      </p:sp>
    </p:spTree>
    <p:extLst>
      <p:ext uri="{BB962C8B-B14F-4D97-AF65-F5344CB8AC3E}">
        <p14:creationId xmlns:p14="http://schemas.microsoft.com/office/powerpoint/2010/main" val="30465483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Filtros de Realce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Também chamados de filtros passa-alta</a:t>
            </a:r>
          </a:p>
          <a:p>
            <a:pPr lvl="1"/>
            <a:r>
              <a:rPr lang="pt-BR" dirty="0"/>
              <a:t>O realce (</a:t>
            </a:r>
            <a:r>
              <a:rPr lang="pt-BR" i="1" dirty="0" err="1"/>
              <a:t>sharpening</a:t>
            </a:r>
            <a:r>
              <a:rPr lang="pt-BR" dirty="0"/>
              <a:t>) tem como objetivo destacar as transições de intensidade  na imagem</a:t>
            </a:r>
          </a:p>
          <a:p>
            <a:pPr lvl="1"/>
            <a:r>
              <a:rPr lang="pt-BR" dirty="0"/>
              <a:t>Utiliza um tipo de máscara que tende a realçar as diferenças de níveis de cinza na imagem</a:t>
            </a:r>
          </a:p>
          <a:p>
            <a:pPr lvl="1"/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60488" y="4591397"/>
            <a:ext cx="2870200" cy="125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60925" y="4591397"/>
            <a:ext cx="2854325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902306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Filtros de Realce</a:t>
            </a:r>
          </a:p>
        </p:txBody>
      </p:sp>
      <p:sp>
        <p:nvSpPr>
          <p:cNvPr id="38915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pt-BR" dirty="0"/>
              <a:t>Analogias</a:t>
            </a:r>
          </a:p>
          <a:p>
            <a:pPr lvl="1" eaLnBrk="1" hangingPunct="1"/>
            <a:r>
              <a:rPr lang="pt-BR" dirty="0"/>
              <a:t>Filtro de média (suavização)</a:t>
            </a:r>
            <a:r>
              <a:rPr lang="pt-BR" dirty="0">
                <a:sym typeface="Wingdings" pitchFamily="2" charset="2"/>
              </a:rPr>
              <a:t> Integração</a:t>
            </a:r>
          </a:p>
          <a:p>
            <a:pPr lvl="1" eaLnBrk="1" hangingPunct="1"/>
            <a:r>
              <a:rPr lang="pt-BR" dirty="0">
                <a:sym typeface="Wingdings" pitchFamily="2" charset="2"/>
              </a:rPr>
              <a:t>Realce  Derivação</a:t>
            </a:r>
          </a:p>
          <a:p>
            <a:r>
              <a:rPr lang="pt-BR" dirty="0"/>
              <a:t>As derivadas de uma função digital são definidas em termos de diferenças entre os pixels</a:t>
            </a:r>
          </a:p>
          <a:p>
            <a:pPr eaLnBrk="1" hangingPunct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5027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Filtros de Realce</a:t>
            </a:r>
          </a:p>
        </p:txBody>
      </p:sp>
      <p:sp>
        <p:nvSpPr>
          <p:cNvPr id="39939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>
                <a:sym typeface="Wingdings" pitchFamily="2" charset="2"/>
              </a:rPr>
              <a:t>Derivadas são proporcionais ao grau de descontinuidade na imagem</a:t>
            </a:r>
          </a:p>
          <a:p>
            <a:pPr lvl="1"/>
            <a:r>
              <a:rPr lang="pt-BR" dirty="0">
                <a:sym typeface="Wingdings" pitchFamily="2" charset="2"/>
              </a:rPr>
              <a:t>Enfatizam as regiões de bordas e os ruídos</a:t>
            </a:r>
          </a:p>
          <a:p>
            <a:pPr lvl="1"/>
            <a:r>
              <a:rPr lang="pt-BR" dirty="0"/>
              <a:t>Não enfatizam regiões constantes ou com variações de intensidade suaves </a:t>
            </a:r>
          </a:p>
          <a:p>
            <a:r>
              <a:rPr lang="pt-BR" dirty="0"/>
              <a:t>Filtros</a:t>
            </a:r>
          </a:p>
          <a:p>
            <a:pPr lvl="1"/>
            <a:r>
              <a:rPr lang="pt-BR" dirty="0"/>
              <a:t>Laplaciano</a:t>
            </a:r>
          </a:p>
          <a:p>
            <a:pPr lvl="1"/>
            <a:r>
              <a:rPr lang="pt-BR" i="1" dirty="0" err="1"/>
              <a:t>Unsharp</a:t>
            </a:r>
            <a:r>
              <a:rPr lang="pt-BR" i="1" dirty="0"/>
              <a:t> </a:t>
            </a:r>
            <a:r>
              <a:rPr lang="pt-BR" i="1" dirty="0" err="1"/>
              <a:t>masking</a:t>
            </a:r>
            <a:r>
              <a:rPr lang="pt-BR" dirty="0"/>
              <a:t> e </a:t>
            </a:r>
            <a:r>
              <a:rPr lang="pt-BR" i="1" dirty="0" err="1"/>
              <a:t>highboost</a:t>
            </a:r>
            <a:r>
              <a:rPr lang="pt-BR" i="1" dirty="0"/>
              <a:t> </a:t>
            </a:r>
            <a:r>
              <a:rPr lang="pt-BR" i="1" dirty="0" err="1"/>
              <a:t>filtering</a:t>
            </a:r>
            <a:endParaRPr lang="pt-BR" i="1" dirty="0"/>
          </a:p>
          <a:p>
            <a:pPr lvl="1"/>
            <a:r>
              <a:rPr lang="pt-BR" dirty="0"/>
              <a:t>Derivativos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155392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Filtros de Realce</a:t>
            </a:r>
          </a:p>
        </p:txBody>
      </p:sp>
      <p:sp>
        <p:nvSpPr>
          <p:cNvPr id="39939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Filtro Laplaciano</a:t>
            </a:r>
          </a:p>
          <a:p>
            <a:pPr lvl="1"/>
            <a:r>
              <a:rPr lang="pt-BR" dirty="0"/>
              <a:t>Utiliza derivadas de segunda ordem</a:t>
            </a:r>
          </a:p>
          <a:p>
            <a:pPr lvl="2"/>
            <a:r>
              <a:rPr lang="pt-BR" dirty="0"/>
              <a:t>Resposta mais acentuada a detalhes finos como pontos isolados e linhas</a:t>
            </a:r>
          </a:p>
          <a:p>
            <a:pPr lvl="2"/>
            <a:endParaRPr lang="pt-BR" dirty="0"/>
          </a:p>
          <a:p>
            <a:pPr lvl="2"/>
            <a:endParaRPr lang="pt-BR" dirty="0"/>
          </a:p>
          <a:p>
            <a:pPr lvl="1"/>
            <a:r>
              <a:rPr lang="pt-BR" dirty="0"/>
              <a:t>É um filtro isotrópico</a:t>
            </a:r>
          </a:p>
          <a:p>
            <a:pPr lvl="2"/>
            <a:r>
              <a:rPr lang="pt-BR" dirty="0"/>
              <a:t>A resposta é independente da direção da descontinuidade na imagem em que o filtro é aplicado (invariante à rotação);</a:t>
            </a:r>
          </a:p>
        </p:txBody>
      </p:sp>
      <p:graphicFrame>
        <p:nvGraphicFramePr>
          <p:cNvPr id="3" name="Objeto 2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4004343771"/>
              </p:ext>
            </p:extLst>
          </p:nvPr>
        </p:nvGraphicFramePr>
        <p:xfrm>
          <a:off x="3367649" y="3356992"/>
          <a:ext cx="2408702" cy="936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1143000" imgH="444240" progId="Equation.3">
                  <p:embed/>
                </p:oleObj>
              </mc:Choice>
              <mc:Fallback>
                <p:oleObj name="Equação" r:id="rId2" imgW="1143000" imgH="444240" progId="Equation.3">
                  <p:embed/>
                  <p:pic>
                    <p:nvPicPr>
                      <p:cNvPr id="3" name="Objeto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7649" y="3356992"/>
                        <a:ext cx="2408702" cy="9361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563996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2"/>
          <p:cNvGraphicFramePr>
            <a:graphicFrameLocks noGrp="1" noChangeAspect="1"/>
          </p:cNvGraphicFramePr>
          <p:nvPr>
            <p:ph idx="1"/>
          </p:nvPr>
        </p:nvGraphicFramePr>
        <p:xfrm>
          <a:off x="1403648" y="2852936"/>
          <a:ext cx="5908949" cy="27523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3898800" imgH="1815840" progId="Equation.3">
                  <p:embed/>
                </p:oleObj>
              </mc:Choice>
              <mc:Fallback>
                <p:oleObj name="Equação" r:id="rId2" imgW="3898800" imgH="1815840" progId="Equation.3">
                  <p:embed/>
                  <p:pic>
                    <p:nvPicPr>
                      <p:cNvPr id="819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2852936"/>
                        <a:ext cx="5908949" cy="275237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5" name="Título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dirty="0"/>
              <a:t>Filtro Laplaciano</a:t>
            </a:r>
          </a:p>
        </p:txBody>
      </p:sp>
      <p:sp>
        <p:nvSpPr>
          <p:cNvPr id="8196" name="CaixaDeTexto 4"/>
          <p:cNvSpPr txBox="1">
            <a:spLocks noChangeArrowheads="1"/>
          </p:cNvSpPr>
          <p:nvPr/>
        </p:nvSpPr>
        <p:spPr bwMode="auto">
          <a:xfrm>
            <a:off x="642938" y="2000250"/>
            <a:ext cx="47148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800"/>
              <a:t>Definição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428625" y="1714500"/>
            <a:ext cx="8229600" cy="45259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None/>
            </a:pPr>
            <a:r>
              <a:rPr lang="pt-BR" dirty="0"/>
              <a:t>O Laplaciano pode ser implementado pela máscara:</a:t>
            </a:r>
          </a:p>
          <a:p>
            <a:pPr>
              <a:buFontTx/>
              <a:buNone/>
            </a:pPr>
            <a:endParaRPr lang="pt-BR" dirty="0"/>
          </a:p>
          <a:p>
            <a:pPr>
              <a:buFontTx/>
              <a:buNone/>
            </a:pPr>
            <a:endParaRPr lang="pt-BR" dirty="0"/>
          </a:p>
        </p:txBody>
      </p:sp>
      <p:sp>
        <p:nvSpPr>
          <p:cNvPr id="37890" name="Título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dirty="0"/>
              <a:t>Filtro Laplaciano</a:t>
            </a:r>
          </a:p>
        </p:txBody>
      </p:sp>
      <p:graphicFrame>
        <p:nvGraphicFramePr>
          <p:cNvPr id="5" name="Group 1075"/>
          <p:cNvGraphicFramePr>
            <a:graphicFrameLocks noGrp="1"/>
          </p:cNvGraphicFramePr>
          <p:nvPr/>
        </p:nvGraphicFramePr>
        <p:xfrm>
          <a:off x="3707904" y="3717032"/>
          <a:ext cx="1611313" cy="1280160"/>
        </p:xfrm>
        <a:graphic>
          <a:graphicData uri="http://schemas.openxmlformats.org/drawingml/2006/table">
            <a:tbl>
              <a:tblPr/>
              <a:tblGrid>
                <a:gridCol w="53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-4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" name="Objeto 1"/>
          <p:cNvGraphicFramePr>
            <a:graphicFrameLocks noGrp="1" noChangeAspect="1"/>
          </p:cNvGraphicFramePr>
          <p:nvPr/>
        </p:nvGraphicFramePr>
        <p:xfrm>
          <a:off x="1403648" y="2492896"/>
          <a:ext cx="5908675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3898800" imgH="457200" progId="Equation.3">
                  <p:embed/>
                </p:oleObj>
              </mc:Choice>
              <mc:Fallback>
                <p:oleObj name="Equação" r:id="rId2" imgW="3898800" imgH="457200" progId="Equation.3">
                  <p:embed/>
                  <p:pic>
                    <p:nvPicPr>
                      <p:cNvPr id="2" name="Objeto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2492896"/>
                        <a:ext cx="5908675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/>
          <p:cNvGraphicFramePr>
            <a:graphicFrameLocks noGrp="1" noChangeAspect="1"/>
          </p:cNvGraphicFramePr>
          <p:nvPr/>
        </p:nvGraphicFramePr>
        <p:xfrm>
          <a:off x="3995936" y="5013176"/>
          <a:ext cx="1001712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660240" imgH="203040" progId="Equation.3">
                  <p:embed/>
                </p:oleObj>
              </mc:Choice>
              <mc:Fallback>
                <p:oleObj name="Equação" r:id="rId4" imgW="660240" imgH="203040" progId="Equation.3">
                  <p:embed/>
                  <p:pic>
                    <p:nvPicPr>
                      <p:cNvPr id="6" name="Objeto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936" y="5013176"/>
                        <a:ext cx="1001712" cy="309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to 7"/>
          <p:cNvGraphicFramePr>
            <a:graphicFrameLocks noGrp="1" noChangeAspect="1"/>
          </p:cNvGraphicFramePr>
          <p:nvPr/>
        </p:nvGraphicFramePr>
        <p:xfrm>
          <a:off x="3995936" y="3356992"/>
          <a:ext cx="1001712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6" imgW="660240" imgH="203040" progId="Equation.3">
                  <p:embed/>
                </p:oleObj>
              </mc:Choice>
              <mc:Fallback>
                <p:oleObj name="Equação" r:id="rId6" imgW="660240" imgH="203040" progId="Equation.3">
                  <p:embed/>
                  <p:pic>
                    <p:nvPicPr>
                      <p:cNvPr id="8" name="Objeto 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936" y="3356992"/>
                        <a:ext cx="1001712" cy="309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to 8"/>
          <p:cNvGraphicFramePr>
            <a:graphicFrameLocks noGrp="1" noChangeAspect="1"/>
          </p:cNvGraphicFramePr>
          <p:nvPr/>
        </p:nvGraphicFramePr>
        <p:xfrm>
          <a:off x="5436096" y="4221088"/>
          <a:ext cx="1001712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8" imgW="660240" imgH="203040" progId="Equation.3">
                  <p:embed/>
                </p:oleObj>
              </mc:Choice>
              <mc:Fallback>
                <p:oleObj name="Equação" r:id="rId8" imgW="660240" imgH="203040" progId="Equation.3">
                  <p:embed/>
                  <p:pic>
                    <p:nvPicPr>
                      <p:cNvPr id="9" name="Objeto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6096" y="4221088"/>
                        <a:ext cx="1001712" cy="309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to 9"/>
          <p:cNvGraphicFramePr>
            <a:graphicFrameLocks noGrp="1" noChangeAspect="1"/>
          </p:cNvGraphicFramePr>
          <p:nvPr/>
        </p:nvGraphicFramePr>
        <p:xfrm>
          <a:off x="2627784" y="4221088"/>
          <a:ext cx="1001713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0" imgW="660240" imgH="203040" progId="Equation.3">
                  <p:embed/>
                </p:oleObj>
              </mc:Choice>
              <mc:Fallback>
                <p:oleObj name="Equação" r:id="rId10" imgW="660240" imgH="203040" progId="Equation.3">
                  <p:embed/>
                  <p:pic>
                    <p:nvPicPr>
                      <p:cNvPr id="10" name="Objeto 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4221088"/>
                        <a:ext cx="1001713" cy="309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to 10"/>
          <p:cNvGraphicFramePr>
            <a:graphicFrameLocks noGrp="1" noChangeAspect="1"/>
          </p:cNvGraphicFramePr>
          <p:nvPr/>
        </p:nvGraphicFramePr>
        <p:xfrm>
          <a:off x="5837761" y="5157192"/>
          <a:ext cx="1020762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2" imgW="672840" imgH="203040" progId="Equation.3">
                  <p:embed/>
                </p:oleObj>
              </mc:Choice>
              <mc:Fallback>
                <p:oleObj name="Equação" r:id="rId12" imgW="672840" imgH="203040" progId="Equation.3">
                  <p:embed/>
                  <p:pic>
                    <p:nvPicPr>
                      <p:cNvPr id="11" name="Objeto 1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7761" y="5157192"/>
                        <a:ext cx="1020762" cy="309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Conector de seta reta 12"/>
          <p:cNvCxnSpPr/>
          <p:nvPr/>
        </p:nvCxnSpPr>
        <p:spPr>
          <a:xfrm flipH="1" flipV="1">
            <a:off x="4700708" y="4509120"/>
            <a:ext cx="1152128" cy="648072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3995936" y="5949280"/>
            <a:ext cx="3866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Resultados isotrópicos para 90º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500063" y="1428750"/>
            <a:ext cx="8229600" cy="542925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/>
          </a:bodyPr>
          <a:lstStyle/>
          <a:p>
            <a:pPr>
              <a:buFontTx/>
              <a:buNone/>
            </a:pPr>
            <a:r>
              <a:rPr lang="pt-BR" dirty="0"/>
              <a:t>As direções diagonais podem ser incluídas na definição do Laplaciano digital acrescentando dois termos à equação, um para cada umas das duas direções diagonais:</a:t>
            </a:r>
          </a:p>
          <a:p>
            <a:pPr>
              <a:buFontTx/>
              <a:buNone/>
            </a:pPr>
            <a:endParaRPr lang="pt-BR" dirty="0"/>
          </a:p>
          <a:p>
            <a:pPr>
              <a:buFontTx/>
              <a:buNone/>
            </a:pPr>
            <a:endParaRPr lang="pt-BR" dirty="0"/>
          </a:p>
          <a:p>
            <a:pPr>
              <a:buFontTx/>
              <a:buNone/>
            </a:pPr>
            <a:endParaRPr lang="pt-BR" dirty="0"/>
          </a:p>
          <a:p>
            <a:pPr>
              <a:buFontTx/>
              <a:buNone/>
            </a:pPr>
            <a:endParaRPr lang="pt-BR" sz="240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endParaRPr lang="pt-BR" sz="240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pt-BR" sz="2400" dirty="0">
                <a:solidFill>
                  <a:srgbClr val="FF0000"/>
                </a:solidFill>
              </a:rPr>
              <a:t>Nota1: </a:t>
            </a:r>
            <a:r>
              <a:rPr lang="pt-BR" sz="2400" i="1" dirty="0">
                <a:solidFill>
                  <a:srgbClr val="FF0000"/>
                </a:solidFill>
              </a:rPr>
              <a:t>-4f(x,y) </a:t>
            </a:r>
            <a:r>
              <a:rPr lang="pt-BR" sz="2400" dirty="0">
                <a:solidFill>
                  <a:srgbClr val="FF0000"/>
                </a:solidFill>
              </a:rPr>
              <a:t>se torna </a:t>
            </a:r>
            <a:r>
              <a:rPr lang="pt-BR" sz="2400" i="1" dirty="0">
                <a:solidFill>
                  <a:srgbClr val="FF0000"/>
                </a:solidFill>
              </a:rPr>
              <a:t>-8f(x,y);</a:t>
            </a:r>
          </a:p>
          <a:p>
            <a:pPr>
              <a:buFontTx/>
              <a:buNone/>
            </a:pPr>
            <a:r>
              <a:rPr lang="pt-BR" sz="2400" dirty="0">
                <a:solidFill>
                  <a:srgbClr val="FF0000"/>
                </a:solidFill>
              </a:rPr>
              <a:t>Nota 2: o somatório é zero  o que define valores nulos nas regiões homogêneas e valores mais elevados próximos aos seus contornos.</a:t>
            </a:r>
          </a:p>
          <a:p>
            <a:pPr>
              <a:buFontTx/>
              <a:buNone/>
            </a:pPr>
            <a:endParaRPr lang="pt-BR" i="1" dirty="0"/>
          </a:p>
        </p:txBody>
      </p:sp>
      <p:sp>
        <p:nvSpPr>
          <p:cNvPr id="38914" name="Título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850106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dirty="0"/>
              <a:t>Filtro Laplaciano</a:t>
            </a:r>
          </a:p>
        </p:txBody>
      </p:sp>
      <p:graphicFrame>
        <p:nvGraphicFramePr>
          <p:cNvPr id="4" name="Group 1075"/>
          <p:cNvGraphicFramePr>
            <a:graphicFrameLocks noGrp="1"/>
          </p:cNvGraphicFramePr>
          <p:nvPr/>
        </p:nvGraphicFramePr>
        <p:xfrm>
          <a:off x="3347864" y="3356992"/>
          <a:ext cx="1611313" cy="1280160"/>
        </p:xfrm>
        <a:graphic>
          <a:graphicData uri="http://schemas.openxmlformats.org/drawingml/2006/table">
            <a:tbl>
              <a:tblPr/>
              <a:tblGrid>
                <a:gridCol w="53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-8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CaixaDeTexto 5"/>
          <p:cNvSpPr txBox="1"/>
          <p:nvPr/>
        </p:nvSpPr>
        <p:spPr>
          <a:xfrm>
            <a:off x="5076056" y="4437112"/>
            <a:ext cx="3749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Resultados isotrópicos para 45º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Filtros de Realce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4247384" cy="4495800"/>
          </a:xfrm>
        </p:spPr>
        <p:txBody>
          <a:bodyPr>
            <a:normAutofit/>
          </a:bodyPr>
          <a:lstStyle/>
          <a:p>
            <a:r>
              <a:rPr lang="pt-BR" dirty="0"/>
              <a:t>Máscaras para o filtro Laplaciano</a:t>
            </a:r>
          </a:p>
          <a:p>
            <a:pPr lvl="1"/>
            <a:r>
              <a:rPr lang="pt-BR" dirty="0"/>
              <a:t>Centro negativo:  remove bordas exteriores</a:t>
            </a:r>
          </a:p>
          <a:p>
            <a:pPr lvl="1"/>
            <a:r>
              <a:rPr lang="pt-BR" dirty="0"/>
              <a:t>Centro positivo:  remove bordas interiores</a:t>
            </a:r>
          </a:p>
          <a:p>
            <a:pPr lvl="1"/>
            <a:endParaRPr lang="pt-BR" dirty="0"/>
          </a:p>
          <a:p>
            <a:endParaRPr lang="pt-BR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01647" y="1844823"/>
            <a:ext cx="4219864" cy="4195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030493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Filtros de Realce</a:t>
            </a:r>
          </a:p>
        </p:txBody>
      </p:sp>
      <p:sp>
        <p:nvSpPr>
          <p:cNvPr id="41987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571500" y="1571625"/>
            <a:ext cx="8229600" cy="4525963"/>
          </a:xfrm>
        </p:spPr>
        <p:txBody>
          <a:bodyPr/>
          <a:lstStyle/>
          <a:p>
            <a:pPr eaLnBrk="1" hangingPunct="1"/>
            <a:r>
              <a:rPr lang="pt-BR" dirty="0"/>
              <a:t>Filtro Laplaciano</a:t>
            </a:r>
          </a:p>
          <a:p>
            <a:pPr lvl="1"/>
            <a:r>
              <a:rPr lang="pt-BR" dirty="0"/>
              <a:t>Realça bordas ou descontinuidades na imagem, porém ameniza regiões com nível de cinza constante</a:t>
            </a:r>
          </a:p>
          <a:p>
            <a:pPr lvl="1" eaLnBrk="1" hangingPunct="1"/>
            <a:endParaRPr lang="pt-BR" dirty="0"/>
          </a:p>
          <a:p>
            <a:pPr eaLnBrk="1" hangingPunct="1">
              <a:buFont typeface="Arial" charset="0"/>
              <a:buNone/>
            </a:pPr>
            <a:endParaRPr lang="pt-BR" dirty="0"/>
          </a:p>
        </p:txBody>
      </p:sp>
      <p:pic>
        <p:nvPicPr>
          <p:cNvPr id="58379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0" y="3426668"/>
            <a:ext cx="6286500" cy="331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237971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Filtros de Realce</a:t>
            </a:r>
          </a:p>
        </p:txBody>
      </p:sp>
      <p:sp>
        <p:nvSpPr>
          <p:cNvPr id="43011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571500" y="1571625"/>
            <a:ext cx="8229600" cy="4525963"/>
          </a:xfrm>
        </p:spPr>
        <p:txBody>
          <a:bodyPr/>
          <a:lstStyle/>
          <a:p>
            <a:pPr eaLnBrk="1" hangingPunct="1"/>
            <a:r>
              <a:rPr lang="pt-BR" dirty="0"/>
              <a:t>Note que o fundo da imagem foi “perdido”</a:t>
            </a:r>
          </a:p>
          <a:p>
            <a:pPr lvl="1"/>
            <a:r>
              <a:rPr lang="pt-BR" dirty="0"/>
              <a:t>O fundo pode ser “reconstruído”, preservando as descontinuidades, somando a imagem Laplaciana à imagem original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r>
              <a:rPr lang="pt-BR" i="1" dirty="0"/>
              <a:t>c</a:t>
            </a:r>
            <a:r>
              <a:rPr lang="pt-BR" dirty="0"/>
              <a:t> é uma constante</a:t>
            </a:r>
          </a:p>
          <a:p>
            <a:pPr lvl="2"/>
            <a:r>
              <a:rPr lang="pt-BR" i="1" dirty="0"/>
              <a:t>c = -1</a:t>
            </a:r>
            <a:r>
              <a:rPr lang="pt-BR" dirty="0"/>
              <a:t> se o centro da mascara é negativo </a:t>
            </a:r>
          </a:p>
          <a:p>
            <a:pPr lvl="2"/>
            <a:r>
              <a:rPr lang="pt-BR" i="1" dirty="0"/>
              <a:t>c = 1</a:t>
            </a:r>
            <a:r>
              <a:rPr lang="pt-BR" dirty="0"/>
              <a:t>, caso contrário</a:t>
            </a:r>
          </a:p>
        </p:txBody>
      </p:sp>
      <p:graphicFrame>
        <p:nvGraphicFramePr>
          <p:cNvPr id="4301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485399"/>
              </p:ext>
            </p:extLst>
          </p:nvPr>
        </p:nvGraphicFramePr>
        <p:xfrm>
          <a:off x="2681288" y="3501008"/>
          <a:ext cx="4033837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1955800" imgH="228600" progId="Equation.3">
                  <p:embed/>
                </p:oleObj>
              </mc:Choice>
              <mc:Fallback>
                <p:oleObj name="Equação" r:id="rId3" imgW="1955800" imgH="228600" progId="Equation.3">
                  <p:embed/>
                  <p:pic>
                    <p:nvPicPr>
                      <p:cNvPr id="4301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1288" y="3501008"/>
                        <a:ext cx="4033837" cy="471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211217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Filtros de Realce</a:t>
            </a:r>
          </a:p>
        </p:txBody>
      </p:sp>
      <p:sp>
        <p:nvSpPr>
          <p:cNvPr id="43011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571500" y="1571625"/>
            <a:ext cx="8229600" cy="4525963"/>
          </a:xfrm>
        </p:spPr>
        <p:txBody>
          <a:bodyPr/>
          <a:lstStyle/>
          <a:p>
            <a:pPr eaLnBrk="1" hangingPunct="1"/>
            <a:r>
              <a:rPr lang="pt-BR" dirty="0"/>
              <a:t>“Recuperando” o fundo da imagem</a:t>
            </a:r>
          </a:p>
        </p:txBody>
      </p:sp>
      <p:graphicFrame>
        <p:nvGraphicFramePr>
          <p:cNvPr id="4301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4797283"/>
              </p:ext>
            </p:extLst>
          </p:nvPr>
        </p:nvGraphicFramePr>
        <p:xfrm>
          <a:off x="2681288" y="2564904"/>
          <a:ext cx="4033837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1955800" imgH="228600" progId="Equation.3">
                  <p:embed/>
                </p:oleObj>
              </mc:Choice>
              <mc:Fallback>
                <p:oleObj name="Equação" r:id="rId3" imgW="1955800" imgH="228600" progId="Equation.3">
                  <p:embed/>
                  <p:pic>
                    <p:nvPicPr>
                      <p:cNvPr id="4301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1288" y="2564904"/>
                        <a:ext cx="4033837" cy="471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3013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071563" y="4000500"/>
            <a:ext cx="2370137" cy="2725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014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571875" y="4000500"/>
            <a:ext cx="2330450" cy="2700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015" name="Picture 6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072188" y="4002088"/>
            <a:ext cx="2357437" cy="2713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CaixaDeTexto 1"/>
          <p:cNvSpPr txBox="1"/>
          <p:nvPr/>
        </p:nvSpPr>
        <p:spPr>
          <a:xfrm>
            <a:off x="1129619" y="3654316"/>
            <a:ext cx="2276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i="1" dirty="0"/>
              <a:t>f(</a:t>
            </a:r>
            <a:r>
              <a:rPr lang="pt-BR" b="1" i="1" dirty="0" err="1"/>
              <a:t>x,y</a:t>
            </a:r>
            <a:r>
              <a:rPr lang="pt-BR" b="1" i="1" dirty="0"/>
              <a:t>)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3563888" y="3645024"/>
            <a:ext cx="2276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i="1" dirty="0"/>
              <a:t>Laplaciano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6127148" y="3654316"/>
            <a:ext cx="2276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i="1" dirty="0"/>
              <a:t>g(</a:t>
            </a:r>
            <a:r>
              <a:rPr lang="pt-BR" b="1" i="1" dirty="0" err="1"/>
              <a:t>x,y</a:t>
            </a:r>
            <a:r>
              <a:rPr lang="pt-BR" b="1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786244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Filtros de Realce</a:t>
            </a:r>
          </a:p>
        </p:txBody>
      </p:sp>
      <p:sp>
        <p:nvSpPr>
          <p:cNvPr id="43011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571500" y="1571625"/>
            <a:ext cx="8229600" cy="4525963"/>
          </a:xfrm>
        </p:spPr>
        <p:txBody>
          <a:bodyPr/>
          <a:lstStyle/>
          <a:p>
            <a:pPr eaLnBrk="1" hangingPunct="1"/>
            <a:r>
              <a:rPr lang="pt-BR" dirty="0"/>
              <a:t>Como o filtro Laplaciano é linear, existem máscaras que já combinam as duas operações</a:t>
            </a:r>
          </a:p>
          <a:p>
            <a:pPr lvl="1"/>
            <a:r>
              <a:rPr lang="pt-BR" dirty="0"/>
              <a:t>Realce + reconstrução do fundo da imagem</a:t>
            </a:r>
          </a:p>
        </p:txBody>
      </p:sp>
      <p:pic>
        <p:nvPicPr>
          <p:cNvPr id="634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3479203"/>
            <a:ext cx="2392998" cy="21754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34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3429000"/>
            <a:ext cx="2376264" cy="2275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6102922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Filtros de Realce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Um processo para aumentar a nitidez das imagens consiste em subtrair uma versão não nítida (</a:t>
            </a:r>
            <a:r>
              <a:rPr lang="pt-BR" i="1" dirty="0"/>
              <a:t>suavizada</a:t>
            </a:r>
            <a:r>
              <a:rPr lang="pt-BR" dirty="0"/>
              <a:t>) de uma imagem da imagem original</a:t>
            </a:r>
          </a:p>
          <a:p>
            <a:r>
              <a:rPr lang="pt-BR" dirty="0"/>
              <a:t>Passos</a:t>
            </a:r>
          </a:p>
          <a:p>
            <a:pPr lvl="1"/>
            <a:r>
              <a:rPr lang="pt-BR" dirty="0"/>
              <a:t>Borrar a imagem original</a:t>
            </a:r>
          </a:p>
          <a:p>
            <a:pPr lvl="1"/>
            <a:r>
              <a:rPr lang="pt-BR" dirty="0"/>
              <a:t>Subtrair a imagem borrada da original – a diferença resultante é chamada de </a:t>
            </a:r>
            <a:r>
              <a:rPr lang="pt-BR" i="1" dirty="0"/>
              <a:t>máscara</a:t>
            </a:r>
          </a:p>
          <a:p>
            <a:pPr lvl="1"/>
            <a:r>
              <a:rPr lang="pt-BR" dirty="0"/>
              <a:t>Adicionar a </a:t>
            </a:r>
            <a:r>
              <a:rPr lang="pt-BR" i="1" dirty="0"/>
              <a:t>máscara </a:t>
            </a:r>
            <a:r>
              <a:rPr lang="pt-BR" dirty="0"/>
              <a:t>à imagem original</a:t>
            </a:r>
          </a:p>
        </p:txBody>
      </p:sp>
    </p:spTree>
    <p:extLst>
      <p:ext uri="{BB962C8B-B14F-4D97-AF65-F5344CB8AC3E}">
        <p14:creationId xmlns:p14="http://schemas.microsoft.com/office/powerpoint/2010/main" val="39530155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Filtros de Realce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i="1" dirty="0" err="1"/>
              <a:t>Unsharp</a:t>
            </a:r>
            <a:r>
              <a:rPr lang="pt-BR" i="1" dirty="0"/>
              <a:t> </a:t>
            </a:r>
            <a:r>
              <a:rPr lang="pt-BR" i="1" dirty="0" err="1"/>
              <a:t>masking</a:t>
            </a:r>
            <a:r>
              <a:rPr lang="pt-BR" dirty="0"/>
              <a:t> (máscara de nitidez) e filtragem </a:t>
            </a:r>
            <a:r>
              <a:rPr lang="pt-BR" i="1" dirty="0" err="1"/>
              <a:t>highboost</a:t>
            </a:r>
            <a:endParaRPr lang="pt-BR" i="1" dirty="0"/>
          </a:p>
          <a:p>
            <a:pPr lvl="1"/>
            <a:r>
              <a:rPr lang="pt-BR" dirty="0"/>
              <a:t>Seja </a:t>
            </a:r>
            <a:r>
              <a:rPr lang="pt-BR" i="1" dirty="0"/>
              <a:t>s(</a:t>
            </a:r>
            <a:r>
              <a:rPr lang="pt-BR" i="1" dirty="0" err="1"/>
              <a:t>x,y</a:t>
            </a:r>
            <a:r>
              <a:rPr lang="pt-BR" i="1" dirty="0"/>
              <a:t>)</a:t>
            </a:r>
            <a:r>
              <a:rPr lang="pt-BR" dirty="0"/>
              <a:t> uma suavização da imagem </a:t>
            </a:r>
            <a:r>
              <a:rPr lang="pt-BR" i="1" dirty="0"/>
              <a:t>f(</a:t>
            </a:r>
            <a:r>
              <a:rPr lang="pt-BR" i="1" dirty="0" err="1"/>
              <a:t>x,y</a:t>
            </a:r>
            <a:r>
              <a:rPr lang="pt-BR" i="1" dirty="0"/>
              <a:t>)</a:t>
            </a:r>
          </a:p>
          <a:p>
            <a:pPr lvl="1"/>
            <a:endParaRPr lang="pt-BR" i="1" dirty="0"/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9569176"/>
              </p:ext>
            </p:extLst>
          </p:nvPr>
        </p:nvGraphicFramePr>
        <p:xfrm>
          <a:off x="1979613" y="3429000"/>
          <a:ext cx="4933950" cy="123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1828800" imgH="457200" progId="Equation.3">
                  <p:embed/>
                </p:oleObj>
              </mc:Choice>
              <mc:Fallback>
                <p:oleObj name="Equação" r:id="rId2" imgW="1828800" imgH="457200" progId="Equation.3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3429000"/>
                        <a:ext cx="4933950" cy="1233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102476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Filtros de Realce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Generalizando</a:t>
            </a:r>
          </a:p>
          <a:p>
            <a:pPr lvl="1"/>
            <a:r>
              <a:rPr lang="pt-BR" i="1" dirty="0"/>
              <a:t>k = 1 </a:t>
            </a:r>
            <a:r>
              <a:rPr lang="pt-BR" i="1" dirty="0">
                <a:sym typeface="Wingdings" pitchFamily="2" charset="2"/>
              </a:rPr>
              <a:t></a:t>
            </a:r>
            <a:r>
              <a:rPr lang="pt-BR" i="1" dirty="0"/>
              <a:t> </a:t>
            </a:r>
            <a:r>
              <a:rPr lang="pt-BR" i="1" dirty="0" err="1"/>
              <a:t>unsharp</a:t>
            </a:r>
            <a:r>
              <a:rPr lang="pt-BR" i="1" dirty="0"/>
              <a:t> </a:t>
            </a:r>
            <a:r>
              <a:rPr lang="pt-BR" i="1" dirty="0" err="1"/>
              <a:t>masking</a:t>
            </a:r>
            <a:endParaRPr lang="pt-BR" i="1" dirty="0"/>
          </a:p>
          <a:p>
            <a:pPr lvl="1"/>
            <a:r>
              <a:rPr lang="pt-BR" i="1" dirty="0"/>
              <a:t>K &gt; 1 </a:t>
            </a:r>
            <a:r>
              <a:rPr lang="pt-BR" i="1" dirty="0">
                <a:sym typeface="Wingdings" pitchFamily="2" charset="2"/>
              </a:rPr>
              <a:t></a:t>
            </a:r>
            <a:r>
              <a:rPr lang="pt-BR" i="1" dirty="0"/>
              <a:t> </a:t>
            </a:r>
            <a:r>
              <a:rPr lang="pt-BR" i="1" dirty="0" err="1"/>
              <a:t>highboost</a:t>
            </a:r>
            <a:r>
              <a:rPr lang="pt-BR" i="1" dirty="0"/>
              <a:t> </a:t>
            </a:r>
            <a:r>
              <a:rPr lang="pt-BR" i="1" dirty="0" err="1"/>
              <a:t>filtering</a:t>
            </a:r>
            <a:r>
              <a:rPr lang="pt-BR" i="1" dirty="0"/>
              <a:t> (filtragem alto-reforço)</a:t>
            </a:r>
          </a:p>
          <a:p>
            <a:pPr lvl="1"/>
            <a:r>
              <a:rPr lang="pt-BR" i="1" dirty="0"/>
              <a:t>K &lt; 1 </a:t>
            </a:r>
            <a:r>
              <a:rPr lang="pt-BR" i="1" dirty="0">
                <a:sym typeface="Wingdings" pitchFamily="2" charset="2"/>
              </a:rPr>
              <a:t></a:t>
            </a:r>
            <a:r>
              <a:rPr lang="pt-BR" i="1" dirty="0"/>
              <a:t> atenua a contribuição da máscara de nitidez</a:t>
            </a:r>
          </a:p>
          <a:p>
            <a:pPr lvl="1"/>
            <a:endParaRPr lang="pt-BR" i="1" dirty="0"/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3640591"/>
              </p:ext>
            </p:extLst>
          </p:nvPr>
        </p:nvGraphicFramePr>
        <p:xfrm>
          <a:off x="1811685" y="3933056"/>
          <a:ext cx="5208587" cy="1233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1930320" imgH="457200" progId="Equation.3">
                  <p:embed/>
                </p:oleObj>
              </mc:Choice>
              <mc:Fallback>
                <p:oleObj name="Equação" r:id="rId2" imgW="1930320" imgH="457200" progId="Equation.3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1685" y="3933056"/>
                        <a:ext cx="5208587" cy="1233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92846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Filtros de Realce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Exemplo unidimensional para entender o processo 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2204864"/>
            <a:ext cx="2952328" cy="4314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aixaDeTexto 4"/>
          <p:cNvSpPr txBox="1"/>
          <p:nvPr/>
        </p:nvSpPr>
        <p:spPr>
          <a:xfrm>
            <a:off x="827584" y="3456617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Sinal Suavizado </a:t>
            </a:r>
            <a:r>
              <a:rPr lang="pt-BR" b="1" dirty="0">
                <a:sym typeface="Wingdings" pitchFamily="2" charset="2"/>
              </a:rPr>
              <a:t></a:t>
            </a:r>
            <a:endParaRPr lang="pt-BR" b="1" dirty="0"/>
          </a:p>
        </p:txBody>
      </p:sp>
      <p:sp>
        <p:nvSpPr>
          <p:cNvPr id="6" name="CaixaDeTexto 5"/>
          <p:cNvSpPr txBox="1"/>
          <p:nvPr/>
        </p:nvSpPr>
        <p:spPr>
          <a:xfrm>
            <a:off x="827584" y="4233862"/>
            <a:ext cx="24482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Diferença entre sinal suavizado </a:t>
            </a:r>
            <a:r>
              <a:rPr lang="pt-BR" b="1" dirty="0">
                <a:sym typeface="Wingdings" pitchFamily="2" charset="2"/>
              </a:rPr>
              <a:t></a:t>
            </a:r>
            <a:endParaRPr lang="pt-BR" b="1" dirty="0"/>
          </a:p>
          <a:p>
            <a:r>
              <a:rPr lang="pt-BR" b="1" dirty="0"/>
              <a:t> e o original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899592" y="5723964"/>
            <a:ext cx="2094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Sinal realçado </a:t>
            </a:r>
            <a:r>
              <a:rPr lang="pt-BR" b="1" dirty="0">
                <a:sym typeface="Wingdings" pitchFamily="2" charset="2"/>
              </a:rPr>
              <a:t>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314657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Filtros de Realce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i="1" dirty="0" err="1"/>
              <a:t>Unsharp</a:t>
            </a:r>
            <a:r>
              <a:rPr lang="pt-BR" i="1" dirty="0"/>
              <a:t> </a:t>
            </a:r>
            <a:r>
              <a:rPr lang="pt-BR" i="1" dirty="0" err="1"/>
              <a:t>masking</a:t>
            </a:r>
            <a:r>
              <a:rPr lang="pt-BR" dirty="0"/>
              <a:t> e filtragem </a:t>
            </a:r>
            <a:r>
              <a:rPr lang="pt-BR" i="1" dirty="0" err="1"/>
              <a:t>highboost</a:t>
            </a:r>
            <a:endParaRPr lang="pt-BR" i="1" dirty="0"/>
          </a:p>
        </p:txBody>
      </p:sp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731466"/>
            <a:ext cx="2491558" cy="381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65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2760040"/>
            <a:ext cx="2505919" cy="3791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656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2708920"/>
            <a:ext cx="2520279" cy="3819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CaixaDeTexto 4"/>
          <p:cNvSpPr txBox="1">
            <a:spLocks noChangeArrowheads="1"/>
          </p:cNvSpPr>
          <p:nvPr/>
        </p:nvSpPr>
        <p:spPr bwMode="auto">
          <a:xfrm>
            <a:off x="611560" y="2348880"/>
            <a:ext cx="18573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b="1" dirty="0"/>
              <a:t>Original</a:t>
            </a:r>
          </a:p>
        </p:txBody>
      </p:sp>
      <p:sp>
        <p:nvSpPr>
          <p:cNvPr id="8" name="CaixaDeTexto 5"/>
          <p:cNvSpPr txBox="1">
            <a:spLocks noChangeArrowheads="1"/>
          </p:cNvSpPr>
          <p:nvPr/>
        </p:nvSpPr>
        <p:spPr bwMode="auto">
          <a:xfrm>
            <a:off x="3152378" y="2420888"/>
            <a:ext cx="25717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b="1" dirty="0"/>
              <a:t>Suavizada</a:t>
            </a:r>
          </a:p>
        </p:txBody>
      </p:sp>
      <p:sp>
        <p:nvSpPr>
          <p:cNvPr id="9" name="CaixaDeTexto 6"/>
          <p:cNvSpPr txBox="1">
            <a:spLocks noChangeArrowheads="1"/>
          </p:cNvSpPr>
          <p:nvPr/>
        </p:nvSpPr>
        <p:spPr bwMode="auto">
          <a:xfrm>
            <a:off x="5822379" y="2348880"/>
            <a:ext cx="32861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b="1" i="1" dirty="0" err="1"/>
              <a:t>Unsharp</a:t>
            </a:r>
            <a:r>
              <a:rPr lang="pt-BR" b="1" i="1" dirty="0"/>
              <a:t> </a:t>
            </a:r>
            <a:r>
              <a:rPr lang="pt-BR" b="1" i="1" dirty="0" err="1"/>
              <a:t>mask</a:t>
            </a:r>
            <a:r>
              <a:rPr lang="pt-BR" b="1" i="1" dirty="0"/>
              <a:t> (</a:t>
            </a:r>
            <a:r>
              <a:rPr lang="pt-BR" b="1" i="1" dirty="0" err="1"/>
              <a:t>g</a:t>
            </a:r>
            <a:r>
              <a:rPr lang="pt-BR" b="1" i="1" baseline="-25000" dirty="0" err="1"/>
              <a:t>mask</a:t>
            </a:r>
            <a:r>
              <a:rPr lang="pt-BR" b="1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0094769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Filtros de Realce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i="1" dirty="0" err="1"/>
              <a:t>Unsharp</a:t>
            </a:r>
            <a:r>
              <a:rPr lang="pt-BR" i="1" dirty="0"/>
              <a:t> </a:t>
            </a:r>
            <a:r>
              <a:rPr lang="pt-BR" i="1" dirty="0" err="1"/>
              <a:t>masking</a:t>
            </a:r>
            <a:r>
              <a:rPr lang="pt-BR" dirty="0"/>
              <a:t> e filtragem </a:t>
            </a:r>
            <a:r>
              <a:rPr lang="pt-BR" i="1" dirty="0" err="1"/>
              <a:t>highboost</a:t>
            </a:r>
            <a:endParaRPr lang="pt-BR" i="1" dirty="0"/>
          </a:p>
        </p:txBody>
      </p:sp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817554"/>
            <a:ext cx="2524100" cy="3851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75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8505" y="2824849"/>
            <a:ext cx="2567871" cy="3844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CaixaDeTexto 7"/>
          <p:cNvSpPr txBox="1">
            <a:spLocks noChangeArrowheads="1"/>
          </p:cNvSpPr>
          <p:nvPr/>
        </p:nvSpPr>
        <p:spPr bwMode="auto">
          <a:xfrm>
            <a:off x="213742" y="2204864"/>
            <a:ext cx="428625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b="1" dirty="0"/>
              <a:t>Resultado usando </a:t>
            </a:r>
          </a:p>
          <a:p>
            <a:pPr algn="ctr"/>
            <a:r>
              <a:rPr lang="pt-BR" b="1" i="1" dirty="0" err="1"/>
              <a:t>unsharp</a:t>
            </a:r>
            <a:r>
              <a:rPr lang="pt-BR" b="1" i="1" dirty="0"/>
              <a:t> </a:t>
            </a:r>
            <a:r>
              <a:rPr lang="pt-BR" b="1" i="1" dirty="0" err="1"/>
              <a:t>mask</a:t>
            </a:r>
            <a:endParaRPr lang="pt-BR" b="1" i="1" dirty="0"/>
          </a:p>
        </p:txBody>
      </p:sp>
      <p:sp>
        <p:nvSpPr>
          <p:cNvPr id="13" name="CaixaDeTexto 8"/>
          <p:cNvSpPr txBox="1">
            <a:spLocks noChangeArrowheads="1"/>
          </p:cNvSpPr>
          <p:nvPr/>
        </p:nvSpPr>
        <p:spPr bwMode="auto">
          <a:xfrm>
            <a:off x="4572000" y="2204864"/>
            <a:ext cx="4572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pt-BR" b="1" dirty="0"/>
              <a:t>Resultado usando filtragem </a:t>
            </a:r>
          </a:p>
          <a:p>
            <a:pPr algn="ctr"/>
            <a:r>
              <a:rPr lang="pt-BR" b="1" i="1" dirty="0" err="1"/>
              <a:t>highboost</a:t>
            </a:r>
            <a:r>
              <a:rPr lang="pt-BR" b="1" i="1" dirty="0"/>
              <a:t> (k=2)</a:t>
            </a:r>
          </a:p>
        </p:txBody>
      </p:sp>
    </p:spTree>
    <p:extLst>
      <p:ext uri="{BB962C8B-B14F-4D97-AF65-F5344CB8AC3E}">
        <p14:creationId xmlns:p14="http://schemas.microsoft.com/office/powerpoint/2010/main" val="7726461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dirty="0"/>
              <a:t>Detectores de Bordas</a:t>
            </a:r>
          </a:p>
        </p:txBody>
      </p:sp>
      <p:sp>
        <p:nvSpPr>
          <p:cNvPr id="47107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pt-BR" dirty="0"/>
              <a:t>São filtros derivativos</a:t>
            </a:r>
          </a:p>
          <a:p>
            <a:pPr lvl="1" eaLnBrk="1" hangingPunct="1"/>
            <a:r>
              <a:rPr lang="pt-BR" dirty="0"/>
              <a:t>Utilizam derivadas de primeira ordem</a:t>
            </a:r>
          </a:p>
          <a:p>
            <a:pPr lvl="1" eaLnBrk="1" hangingPunct="1"/>
            <a:r>
              <a:rPr lang="pt-BR" dirty="0"/>
              <a:t>Utilizam a magnitude do gradiente</a:t>
            </a:r>
          </a:p>
          <a:p>
            <a:r>
              <a:rPr lang="pt-BR" dirty="0"/>
              <a:t>Gradiente</a:t>
            </a:r>
          </a:p>
          <a:p>
            <a:pPr lvl="1"/>
            <a:r>
              <a:rPr lang="pt-BR" dirty="0"/>
              <a:t>Vetor que indica a direção de maior variação de uma função</a:t>
            </a:r>
          </a:p>
        </p:txBody>
      </p:sp>
      <p:graphicFrame>
        <p:nvGraphicFramePr>
          <p:cNvPr id="471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8858418"/>
              </p:ext>
            </p:extLst>
          </p:nvPr>
        </p:nvGraphicFramePr>
        <p:xfrm>
          <a:off x="2588939" y="4665116"/>
          <a:ext cx="3351213" cy="150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1815840" imgH="812520" progId="Equation.3">
                  <p:embed/>
                </p:oleObj>
              </mc:Choice>
              <mc:Fallback>
                <p:oleObj name="Equação" r:id="rId3" imgW="1815840" imgH="812520" progId="Equation.3">
                  <p:embed/>
                  <p:pic>
                    <p:nvPicPr>
                      <p:cNvPr id="471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8939" y="4665116"/>
                        <a:ext cx="3351213" cy="1500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Detectores de Bordas</a:t>
            </a:r>
          </a:p>
        </p:txBody>
      </p:sp>
      <p:sp>
        <p:nvSpPr>
          <p:cNvPr id="47107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Magnitude</a:t>
            </a:r>
          </a:p>
          <a:p>
            <a:pPr lvl="1"/>
            <a:r>
              <a:rPr lang="pt-BR" dirty="0"/>
              <a:t>Comprimento do vetor gradiente</a:t>
            </a:r>
          </a:p>
          <a:p>
            <a:pPr lvl="1"/>
            <a:r>
              <a:rPr lang="pt-BR" dirty="0"/>
              <a:t>A magnitude do vetor gradiente de </a:t>
            </a:r>
            <a:r>
              <a:rPr lang="pt-BR" i="1" dirty="0"/>
              <a:t>f</a:t>
            </a:r>
            <a:r>
              <a:rPr lang="pt-BR" dirty="0"/>
              <a:t>, (    ), denotado por </a:t>
            </a:r>
            <a:r>
              <a:rPr lang="pt-BR" i="1" dirty="0"/>
              <a:t>M(</a:t>
            </a:r>
            <a:r>
              <a:rPr lang="pt-BR" i="1" dirty="0" err="1"/>
              <a:t>x,y</a:t>
            </a:r>
            <a:r>
              <a:rPr lang="pt-BR" i="1" dirty="0"/>
              <a:t>)</a:t>
            </a:r>
            <a:r>
              <a:rPr lang="pt-BR" dirty="0"/>
              <a:t> é dado por</a:t>
            </a:r>
          </a:p>
          <a:p>
            <a:endParaRPr lang="pt-BR" dirty="0"/>
          </a:p>
          <a:p>
            <a:endParaRPr lang="pt-BR" dirty="0"/>
          </a:p>
          <a:p>
            <a:pPr lvl="1"/>
            <a:r>
              <a:rPr lang="pt-BR" i="1" dirty="0"/>
              <a:t>M(</a:t>
            </a:r>
            <a:r>
              <a:rPr lang="pt-BR" i="1" dirty="0" err="1"/>
              <a:t>x,y</a:t>
            </a:r>
            <a:r>
              <a:rPr lang="pt-BR" i="1" dirty="0"/>
              <a:t>)</a:t>
            </a:r>
            <a:r>
              <a:rPr lang="pt-BR" dirty="0"/>
              <a:t> indica, no ponto </a:t>
            </a:r>
            <a:r>
              <a:rPr lang="pt-BR" i="1" dirty="0"/>
              <a:t>(</a:t>
            </a:r>
            <a:r>
              <a:rPr lang="pt-BR" i="1" dirty="0" err="1"/>
              <a:t>x,y</a:t>
            </a:r>
            <a:r>
              <a:rPr lang="pt-BR" i="1" dirty="0"/>
              <a:t>)</a:t>
            </a:r>
            <a:r>
              <a:rPr lang="pt-BR" dirty="0"/>
              <a:t>, a taxa de mudança na direção do vetor gradiente</a:t>
            </a:r>
          </a:p>
          <a:p>
            <a:pPr lvl="2"/>
            <a:r>
              <a:rPr lang="pt-BR" dirty="0"/>
              <a:t>A imagem gradiente tem o mesmo tamanho que a imagem original</a:t>
            </a:r>
          </a:p>
        </p:txBody>
      </p:sp>
      <p:graphicFrame>
        <p:nvGraphicFramePr>
          <p:cNvPr id="471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8333096"/>
              </p:ext>
            </p:extLst>
          </p:nvPr>
        </p:nvGraphicFramePr>
        <p:xfrm>
          <a:off x="2025427" y="3443089"/>
          <a:ext cx="4922837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2666880" imgH="304560" progId="Equation.3">
                  <p:embed/>
                </p:oleObj>
              </mc:Choice>
              <mc:Fallback>
                <p:oleObj name="Equação" r:id="rId3" imgW="2666880" imgH="304560" progId="Equation.3">
                  <p:embed/>
                  <p:pic>
                    <p:nvPicPr>
                      <p:cNvPr id="471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5427" y="3443089"/>
                        <a:ext cx="4922837" cy="561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to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2788491"/>
              </p:ext>
            </p:extLst>
          </p:nvPr>
        </p:nvGraphicFramePr>
        <p:xfrm>
          <a:off x="6429152" y="2564904"/>
          <a:ext cx="519112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5" imgW="228501" imgH="203112" progId="Equation.3">
                  <p:embed/>
                </p:oleObj>
              </mc:Choice>
              <mc:Fallback>
                <p:oleObj name="Equação" r:id="rId5" imgW="228501" imgH="203112" progId="Equation.3">
                  <p:embed/>
                  <p:pic>
                    <p:nvPicPr>
                      <p:cNvPr id="2" name="Objeto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152" y="2564904"/>
                        <a:ext cx="519112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563883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Detectores de Bordas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Observações</a:t>
            </a:r>
          </a:p>
          <a:p>
            <a:pPr lvl="1"/>
            <a:r>
              <a:rPr lang="pt-BR" dirty="0"/>
              <a:t>As componentes do vetor gradiente são derivadas e portanto são operadores lineares</a:t>
            </a:r>
          </a:p>
          <a:p>
            <a:pPr lvl="1"/>
            <a:r>
              <a:rPr lang="pt-BR" dirty="0"/>
              <a:t>A magnitude não é linear por causa da </a:t>
            </a:r>
            <a:r>
              <a:rPr lang="pt-BR" dirty="0" err="1"/>
              <a:t>exponenciação</a:t>
            </a:r>
            <a:r>
              <a:rPr lang="pt-BR" dirty="0"/>
              <a:t> e da radiciação</a:t>
            </a:r>
          </a:p>
          <a:p>
            <a:pPr lvl="1"/>
            <a:r>
              <a:rPr lang="pt-BR" dirty="0"/>
              <a:t>As derivadas parciais não são invariantes à rotação (isotrópicas), mas a magnitude do gradiente é</a:t>
            </a:r>
          </a:p>
        </p:txBody>
      </p:sp>
    </p:spTree>
    <p:extLst>
      <p:ext uri="{BB962C8B-B14F-4D97-AF65-F5344CB8AC3E}">
        <p14:creationId xmlns:p14="http://schemas.microsoft.com/office/powerpoint/2010/main" val="34658040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Detectores de Bordas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Em algumas implementações é apropriado obter o gradiente de </a:t>
            </a:r>
            <a:r>
              <a:rPr lang="pt-BR" i="1" dirty="0"/>
              <a:t>f</a:t>
            </a:r>
            <a:r>
              <a:rPr lang="pt-BR" dirty="0"/>
              <a:t> como: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Esta representação preserva as mudanças relativas na intensidade, mas a propriedade isotrópica é perdida, de uma maneira geral</a:t>
            </a:r>
          </a:p>
          <a:p>
            <a:pPr lvl="1"/>
            <a:r>
              <a:rPr lang="pt-BR" dirty="0"/>
              <a:t>As máscaras mais populares para aproximar o gradiente são isotrópicas em rotações múltiplas de 90º </a:t>
            </a:r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6032932"/>
              </p:ext>
            </p:extLst>
          </p:nvPr>
        </p:nvGraphicFramePr>
        <p:xfrm>
          <a:off x="3131840" y="2636912"/>
          <a:ext cx="2792413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1219200" imgH="279400" progId="Equation.3">
                  <p:embed/>
                </p:oleObj>
              </mc:Choice>
              <mc:Fallback>
                <p:oleObj name="Equação" r:id="rId2" imgW="1219200" imgH="279400" progId="Equation.3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840" y="2636912"/>
                        <a:ext cx="2792413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22924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Detectores de Bordas</a:t>
            </a:r>
          </a:p>
        </p:txBody>
      </p:sp>
      <p:sp>
        <p:nvSpPr>
          <p:cNvPr id="48131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Cálculo da derivada para funções discretas</a:t>
            </a:r>
          </a:p>
          <a:p>
            <a:pPr lvl="1"/>
            <a:r>
              <a:rPr lang="pt-BR" dirty="0"/>
              <a:t>Devemos construir máscaras</a:t>
            </a:r>
          </a:p>
          <a:p>
            <a:pPr lvl="1"/>
            <a:r>
              <a:rPr lang="pt-BR" dirty="0" err="1"/>
              <a:t>Convolução</a:t>
            </a:r>
            <a:endParaRPr lang="pt-BR" dirty="0"/>
          </a:p>
          <a:p>
            <a:r>
              <a:rPr lang="pt-BR" dirty="0"/>
              <a:t>Máscaras Propostas na literatura</a:t>
            </a:r>
          </a:p>
          <a:p>
            <a:pPr lvl="1"/>
            <a:r>
              <a:rPr lang="pt-BR" dirty="0"/>
              <a:t>Operador gradiente cruzado de Roberts</a:t>
            </a:r>
          </a:p>
          <a:p>
            <a:pPr lvl="2"/>
            <a:r>
              <a:rPr lang="pt-BR" dirty="0"/>
              <a:t>Ou, detector de Bordas de Roberts</a:t>
            </a:r>
          </a:p>
          <a:p>
            <a:pPr lvl="1"/>
            <a:r>
              <a:rPr lang="pt-BR" dirty="0"/>
              <a:t>Operador de </a:t>
            </a:r>
            <a:r>
              <a:rPr lang="pt-BR" dirty="0" err="1"/>
              <a:t>Prewitt</a:t>
            </a:r>
            <a:endParaRPr lang="pt-BR" dirty="0"/>
          </a:p>
          <a:p>
            <a:pPr lvl="2"/>
            <a:r>
              <a:rPr lang="pt-BR" dirty="0"/>
              <a:t>Ou, detector de Bordas de </a:t>
            </a:r>
            <a:r>
              <a:rPr lang="pt-BR" dirty="0" err="1"/>
              <a:t>Prewitt</a:t>
            </a:r>
            <a:endParaRPr lang="pt-BR" dirty="0"/>
          </a:p>
          <a:p>
            <a:pPr lvl="1"/>
            <a:r>
              <a:rPr lang="pt-BR" dirty="0"/>
              <a:t>Operador de Sobel</a:t>
            </a:r>
          </a:p>
          <a:p>
            <a:pPr lvl="2"/>
            <a:r>
              <a:rPr lang="pt-BR" dirty="0"/>
              <a:t>Ou, detector de Bordas de Sobel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Detectores de Bordas</a:t>
            </a:r>
          </a:p>
        </p:txBody>
      </p:sp>
      <p:sp>
        <p:nvSpPr>
          <p:cNvPr id="49155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pt-BR" dirty="0"/>
              <a:t>Operador gradiente-cruzado de Roberts</a:t>
            </a:r>
          </a:p>
          <a:p>
            <a:pPr lvl="1"/>
            <a:r>
              <a:rPr lang="pt-BR" dirty="0"/>
              <a:t>Máscaras</a:t>
            </a:r>
          </a:p>
          <a:p>
            <a:pPr eaLnBrk="1" hangingPunct="1"/>
            <a:endParaRPr lang="pt-BR" dirty="0"/>
          </a:p>
          <a:p>
            <a:pPr eaLnBrk="1" hangingPunct="1"/>
            <a:endParaRPr lang="pt-BR" dirty="0"/>
          </a:p>
          <a:p>
            <a:pPr lvl="1"/>
            <a:r>
              <a:rPr lang="pt-BR" dirty="0"/>
              <a:t>Gradiente</a:t>
            </a:r>
          </a:p>
        </p:txBody>
      </p:sp>
      <p:pic>
        <p:nvPicPr>
          <p:cNvPr id="49156" name="Picture 6"/>
          <p:cNvPicPr>
            <a:picLocks noChangeAspect="1" noChangeArrowheads="1"/>
          </p:cNvPicPr>
          <p:nvPr/>
        </p:nvPicPr>
        <p:blipFill rotWithShape="1">
          <a:blip r:embed="rId3"/>
          <a:srcRect t="12324"/>
          <a:stretch/>
        </p:blipFill>
        <p:spPr bwMode="auto">
          <a:xfrm>
            <a:off x="2428875" y="2712481"/>
            <a:ext cx="3892550" cy="932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9157" name="Object 2"/>
          <p:cNvGraphicFramePr>
            <a:graphicFrameLocks noChangeAspect="1"/>
          </p:cNvGraphicFramePr>
          <p:nvPr/>
        </p:nvGraphicFramePr>
        <p:xfrm>
          <a:off x="2149475" y="4354513"/>
          <a:ext cx="4494213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2032000" imgH="292100" progId="Equation.3">
                  <p:embed/>
                </p:oleObj>
              </mc:Choice>
              <mc:Fallback>
                <p:oleObj name="Equação" r:id="rId4" imgW="2032000" imgH="292100" progId="Equation.3">
                  <p:embed/>
                  <p:pic>
                    <p:nvPicPr>
                      <p:cNvPr id="4915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9475" y="4354513"/>
                        <a:ext cx="4494213" cy="646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Detectores de Bordas</a:t>
            </a:r>
          </a:p>
        </p:txBody>
      </p:sp>
      <p:sp>
        <p:nvSpPr>
          <p:cNvPr id="50179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pt-BR" dirty="0"/>
              <a:t>Operador gradiente-cruzado de Roberts</a:t>
            </a:r>
          </a:p>
          <a:p>
            <a:pPr eaLnBrk="1" hangingPunct="1"/>
            <a:endParaRPr lang="pt-BR" dirty="0"/>
          </a:p>
        </p:txBody>
      </p:sp>
      <p:pic>
        <p:nvPicPr>
          <p:cNvPr id="50180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43500" y="2786063"/>
            <a:ext cx="3381375" cy="3357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81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28688" y="2786063"/>
            <a:ext cx="3384550" cy="333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Detectores de Bordas</a:t>
            </a:r>
          </a:p>
        </p:txBody>
      </p:sp>
      <p:sp>
        <p:nvSpPr>
          <p:cNvPr id="5120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pt-BR" dirty="0"/>
              <a:t>Operador de </a:t>
            </a:r>
            <a:r>
              <a:rPr lang="pt-BR" dirty="0" err="1"/>
              <a:t>Prewitt</a:t>
            </a:r>
            <a:endParaRPr lang="pt-BR" dirty="0"/>
          </a:p>
          <a:p>
            <a:pPr lvl="1"/>
            <a:r>
              <a:rPr lang="pt-BR" dirty="0"/>
              <a:t>Máscaras</a:t>
            </a:r>
          </a:p>
          <a:p>
            <a:endParaRPr lang="pt-BR" dirty="0"/>
          </a:p>
          <a:p>
            <a:endParaRPr lang="pt-BR" dirty="0"/>
          </a:p>
          <a:p>
            <a:pPr lvl="1"/>
            <a:endParaRPr lang="pt-BR" dirty="0"/>
          </a:p>
          <a:p>
            <a:pPr lvl="1"/>
            <a:r>
              <a:rPr lang="pt-BR" dirty="0"/>
              <a:t>Gradiente</a:t>
            </a:r>
          </a:p>
          <a:p>
            <a:pPr eaLnBrk="1" hangingPunct="1"/>
            <a:endParaRPr lang="pt-BR" dirty="0"/>
          </a:p>
        </p:txBody>
      </p:sp>
      <p:graphicFrame>
        <p:nvGraphicFramePr>
          <p:cNvPr id="5120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7198053"/>
              </p:ext>
            </p:extLst>
          </p:nvPr>
        </p:nvGraphicFramePr>
        <p:xfrm>
          <a:off x="2149475" y="4799112"/>
          <a:ext cx="4494213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2032000" imgH="292100" progId="Equation.3">
                  <p:embed/>
                </p:oleObj>
              </mc:Choice>
              <mc:Fallback>
                <p:oleObj name="Equação" r:id="rId3" imgW="2032000" imgH="292100" progId="Equation.3">
                  <p:embed/>
                  <p:pic>
                    <p:nvPicPr>
                      <p:cNvPr id="5120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9475" y="4799112"/>
                        <a:ext cx="4494213" cy="646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205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071688" y="2636912"/>
            <a:ext cx="4343400" cy="1252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Detectores de Bordas</a:t>
            </a:r>
          </a:p>
        </p:txBody>
      </p:sp>
      <p:sp>
        <p:nvSpPr>
          <p:cNvPr id="52227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pt-BR"/>
              <a:t>Operador de Prewitt</a:t>
            </a:r>
          </a:p>
        </p:txBody>
      </p:sp>
      <p:pic>
        <p:nvPicPr>
          <p:cNvPr id="52228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1563" y="2928938"/>
            <a:ext cx="3384550" cy="333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22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43500" y="2928938"/>
            <a:ext cx="3357563" cy="337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Detectores de Bordas</a:t>
            </a:r>
          </a:p>
        </p:txBody>
      </p:sp>
      <p:sp>
        <p:nvSpPr>
          <p:cNvPr id="53251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pt-BR" dirty="0"/>
              <a:t>Operador de Sobel</a:t>
            </a:r>
          </a:p>
          <a:p>
            <a:pPr lvl="1"/>
            <a:r>
              <a:rPr lang="pt-BR" dirty="0"/>
              <a:t>Máscaras</a:t>
            </a:r>
          </a:p>
          <a:p>
            <a:pPr lvl="1"/>
            <a:endParaRPr lang="pt-BR" dirty="0"/>
          </a:p>
          <a:p>
            <a:endParaRPr lang="pt-BR" dirty="0"/>
          </a:p>
          <a:p>
            <a:endParaRPr lang="pt-BR" dirty="0"/>
          </a:p>
          <a:p>
            <a:pPr lvl="1"/>
            <a:r>
              <a:rPr lang="pt-BR" dirty="0"/>
              <a:t>Gradiente</a:t>
            </a:r>
          </a:p>
          <a:p>
            <a:pPr eaLnBrk="1" hangingPunct="1"/>
            <a:endParaRPr lang="pt-BR" dirty="0"/>
          </a:p>
          <a:p>
            <a:pPr eaLnBrk="1" hangingPunct="1"/>
            <a:endParaRPr lang="pt-BR" dirty="0"/>
          </a:p>
        </p:txBody>
      </p:sp>
      <p:pic>
        <p:nvPicPr>
          <p:cNvPr id="532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43100" y="2800896"/>
            <a:ext cx="4343400" cy="1262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325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2624980"/>
              </p:ext>
            </p:extLst>
          </p:nvPr>
        </p:nvGraphicFramePr>
        <p:xfrm>
          <a:off x="2149475" y="4655096"/>
          <a:ext cx="4494213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2032000" imgH="292100" progId="Equation.3">
                  <p:embed/>
                </p:oleObj>
              </mc:Choice>
              <mc:Fallback>
                <p:oleObj name="Equação" r:id="rId4" imgW="2032000" imgH="292100" progId="Equation.3">
                  <p:embed/>
                  <p:pic>
                    <p:nvPicPr>
                      <p:cNvPr id="5325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9475" y="4655096"/>
                        <a:ext cx="4494213" cy="646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Detectores de Bordas</a:t>
            </a:r>
          </a:p>
        </p:txBody>
      </p:sp>
      <p:sp>
        <p:nvSpPr>
          <p:cNvPr id="54275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pt-BR"/>
              <a:t>Operador de Sobel</a:t>
            </a:r>
          </a:p>
          <a:p>
            <a:pPr eaLnBrk="1" hangingPunct="1"/>
            <a:endParaRPr lang="pt-BR"/>
          </a:p>
        </p:txBody>
      </p:sp>
      <p:pic>
        <p:nvPicPr>
          <p:cNvPr id="5427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72063" y="2714625"/>
            <a:ext cx="3357562" cy="337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277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71563" y="2643188"/>
            <a:ext cx="3384550" cy="333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Detectores de Bordas</a:t>
            </a:r>
          </a:p>
        </p:txBody>
      </p:sp>
      <p:sp>
        <p:nvSpPr>
          <p:cNvPr id="54275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pt-BR"/>
              <a:t>Operador de Sobel</a:t>
            </a:r>
          </a:p>
          <a:p>
            <a:pPr eaLnBrk="1" hangingPunct="1"/>
            <a:endParaRPr lang="pt-BR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75656" y="2708920"/>
            <a:ext cx="6346825" cy="2903537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6538300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Detectores de Bordas</a:t>
            </a:r>
          </a:p>
        </p:txBody>
      </p:sp>
      <p:sp>
        <p:nvSpPr>
          <p:cNvPr id="55300" name="CaixaDeTexto 5"/>
          <p:cNvSpPr txBox="1">
            <a:spLocks noChangeArrowheads="1"/>
          </p:cNvSpPr>
          <p:nvPr/>
        </p:nvSpPr>
        <p:spPr bwMode="auto">
          <a:xfrm>
            <a:off x="692696" y="1628800"/>
            <a:ext cx="11430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dirty="0"/>
              <a:t>Original</a:t>
            </a:r>
          </a:p>
        </p:txBody>
      </p:sp>
      <p:sp>
        <p:nvSpPr>
          <p:cNvPr id="55301" name="CaixaDeTexto 6"/>
          <p:cNvSpPr txBox="1">
            <a:spLocks noChangeArrowheads="1"/>
          </p:cNvSpPr>
          <p:nvPr/>
        </p:nvSpPr>
        <p:spPr bwMode="auto">
          <a:xfrm>
            <a:off x="6900788" y="1571612"/>
            <a:ext cx="220771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pt-BR" dirty="0"/>
              <a:t>Bordas </a:t>
            </a:r>
          </a:p>
          <a:p>
            <a:pPr algn="ctr"/>
            <a:r>
              <a:rPr lang="pt-BR" dirty="0"/>
              <a:t>horizontais (Sobel)</a:t>
            </a:r>
          </a:p>
        </p:txBody>
      </p:sp>
      <p:sp>
        <p:nvSpPr>
          <p:cNvPr id="55302" name="CaixaDeTexto 7"/>
          <p:cNvSpPr txBox="1">
            <a:spLocks noChangeArrowheads="1"/>
          </p:cNvSpPr>
          <p:nvPr/>
        </p:nvSpPr>
        <p:spPr bwMode="auto">
          <a:xfrm>
            <a:off x="107504" y="5949280"/>
            <a:ext cx="194421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pt-BR" dirty="0"/>
              <a:t>Bordas </a:t>
            </a:r>
          </a:p>
          <a:p>
            <a:pPr algn="ctr"/>
            <a:r>
              <a:rPr lang="pt-BR" dirty="0"/>
              <a:t>verticais (Sobel)</a:t>
            </a:r>
          </a:p>
        </p:txBody>
      </p:sp>
      <p:sp>
        <p:nvSpPr>
          <p:cNvPr id="55303" name="CaixaDeTexto 8"/>
          <p:cNvSpPr txBox="1">
            <a:spLocks noChangeArrowheads="1"/>
          </p:cNvSpPr>
          <p:nvPr/>
        </p:nvSpPr>
        <p:spPr bwMode="auto">
          <a:xfrm>
            <a:off x="6732240" y="5951021"/>
            <a:ext cx="1656184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pt-BR" dirty="0"/>
              <a:t>Imagem </a:t>
            </a:r>
          </a:p>
          <a:p>
            <a:pPr algn="ctr"/>
            <a:r>
              <a:rPr lang="pt-BR" dirty="0"/>
              <a:t>gradiente</a:t>
            </a:r>
          </a:p>
        </p:txBody>
      </p:sp>
      <p:pic>
        <p:nvPicPr>
          <p:cNvPr id="686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9783" y="1569242"/>
            <a:ext cx="5104959" cy="5028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Filtros espaciais de realce</a:t>
            </a:r>
          </a:p>
        </p:txBody>
      </p:sp>
      <p:pic>
        <p:nvPicPr>
          <p:cNvPr id="5120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313" y="1643063"/>
            <a:ext cx="6072187" cy="4576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4" name="CaixaDeTexto 5"/>
          <p:cNvSpPr txBox="1">
            <a:spLocks noChangeArrowheads="1"/>
          </p:cNvSpPr>
          <p:nvPr/>
        </p:nvSpPr>
        <p:spPr bwMode="auto">
          <a:xfrm>
            <a:off x="1357313" y="1357313"/>
            <a:ext cx="1143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pt-BR"/>
              <a:t>Original</a:t>
            </a:r>
          </a:p>
        </p:txBody>
      </p:sp>
      <p:sp>
        <p:nvSpPr>
          <p:cNvPr id="51205" name="CaixaDeTexto 6"/>
          <p:cNvSpPr txBox="1">
            <a:spLocks noChangeArrowheads="1"/>
          </p:cNvSpPr>
          <p:nvPr/>
        </p:nvSpPr>
        <p:spPr bwMode="auto">
          <a:xfrm>
            <a:off x="4357688" y="1357313"/>
            <a:ext cx="30718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pt-BR"/>
              <a:t>Bordas horizontais (Sobel)</a:t>
            </a:r>
          </a:p>
        </p:txBody>
      </p:sp>
      <p:sp>
        <p:nvSpPr>
          <p:cNvPr id="51206" name="CaixaDeTexto 7"/>
          <p:cNvSpPr txBox="1">
            <a:spLocks noChangeArrowheads="1"/>
          </p:cNvSpPr>
          <p:nvPr/>
        </p:nvSpPr>
        <p:spPr bwMode="auto">
          <a:xfrm>
            <a:off x="1357313" y="6143625"/>
            <a:ext cx="30718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pt-BR"/>
              <a:t>Bordas verticais (Sobel)</a:t>
            </a:r>
          </a:p>
        </p:txBody>
      </p:sp>
      <p:sp>
        <p:nvSpPr>
          <p:cNvPr id="51207" name="CaixaDeTexto 8"/>
          <p:cNvSpPr txBox="1">
            <a:spLocks noChangeArrowheads="1"/>
          </p:cNvSpPr>
          <p:nvPr/>
        </p:nvSpPr>
        <p:spPr bwMode="auto">
          <a:xfrm>
            <a:off x="4357688" y="6143625"/>
            <a:ext cx="30718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pt-BR"/>
              <a:t>Imagem gradiente</a:t>
            </a:r>
          </a:p>
        </p:txBody>
      </p:sp>
    </p:spTree>
    <p:extLst>
      <p:ext uri="{BB962C8B-B14F-4D97-AF65-F5344CB8AC3E}">
        <p14:creationId xmlns:p14="http://schemas.microsoft.com/office/powerpoint/2010/main" val="378255400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888404"/>
            <a:ext cx="6072188" cy="457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7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Filtros espaciais de realce</a:t>
            </a:r>
          </a:p>
        </p:txBody>
      </p:sp>
      <p:sp>
        <p:nvSpPr>
          <p:cNvPr id="52228" name="CaixaDeTexto 5"/>
          <p:cNvSpPr txBox="1">
            <a:spLocks noChangeArrowheads="1"/>
          </p:cNvSpPr>
          <p:nvPr/>
        </p:nvSpPr>
        <p:spPr bwMode="auto">
          <a:xfrm>
            <a:off x="1357313" y="1585168"/>
            <a:ext cx="30003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pt-BR"/>
              <a:t>Original suavizada</a:t>
            </a:r>
          </a:p>
        </p:txBody>
      </p:sp>
      <p:sp>
        <p:nvSpPr>
          <p:cNvPr id="52229" name="CaixaDeTexto 6"/>
          <p:cNvSpPr txBox="1">
            <a:spLocks noChangeArrowheads="1"/>
          </p:cNvSpPr>
          <p:nvPr/>
        </p:nvSpPr>
        <p:spPr bwMode="auto">
          <a:xfrm>
            <a:off x="4357688" y="1585168"/>
            <a:ext cx="30718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pt-BR"/>
              <a:t>Bordas horizontais (Sobel)</a:t>
            </a:r>
          </a:p>
        </p:txBody>
      </p:sp>
      <p:sp>
        <p:nvSpPr>
          <p:cNvPr id="52230" name="CaixaDeTexto 7"/>
          <p:cNvSpPr txBox="1">
            <a:spLocks noChangeArrowheads="1"/>
          </p:cNvSpPr>
          <p:nvPr/>
        </p:nvSpPr>
        <p:spPr bwMode="auto">
          <a:xfrm>
            <a:off x="1357313" y="6371480"/>
            <a:ext cx="30718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pt-BR"/>
              <a:t>Bordas verticais (Sobel)</a:t>
            </a:r>
          </a:p>
        </p:txBody>
      </p:sp>
      <p:sp>
        <p:nvSpPr>
          <p:cNvPr id="52231" name="CaixaDeTexto 8"/>
          <p:cNvSpPr txBox="1">
            <a:spLocks noChangeArrowheads="1"/>
          </p:cNvSpPr>
          <p:nvPr/>
        </p:nvSpPr>
        <p:spPr bwMode="auto">
          <a:xfrm>
            <a:off x="4357688" y="6371480"/>
            <a:ext cx="30718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pt-BR"/>
              <a:t>Imagem gradiente</a:t>
            </a:r>
          </a:p>
        </p:txBody>
      </p:sp>
    </p:spTree>
    <p:extLst>
      <p:ext uri="{BB962C8B-B14F-4D97-AF65-F5344CB8AC3E}">
        <p14:creationId xmlns:p14="http://schemas.microsoft.com/office/powerpoint/2010/main" val="321111076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ítulo 1"/>
          <p:cNvSpPr>
            <a:spLocks noGrp="1"/>
          </p:cNvSpPr>
          <p:nvPr>
            <p:ph type="title"/>
          </p:nvPr>
        </p:nvSpPr>
        <p:spPr bwMode="auto">
          <a:xfrm>
            <a:off x="357188" y="285750"/>
            <a:ext cx="8463284" cy="11430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pt-BR" sz="3000" dirty="0"/>
              <a:t>Um exemplo da combinação de métodos de Realce</a:t>
            </a:r>
          </a:p>
        </p:txBody>
      </p:sp>
      <p:pic>
        <p:nvPicPr>
          <p:cNvPr id="49156" name="Picture 102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980728"/>
            <a:ext cx="3529012" cy="560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157" name="Picture 102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55976" y="4221088"/>
            <a:ext cx="1303337" cy="2249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upo 7"/>
          <p:cNvGrpSpPr>
            <a:grpSpLocks/>
          </p:cNvGrpSpPr>
          <p:nvPr/>
        </p:nvGrpSpPr>
        <p:grpSpPr bwMode="auto">
          <a:xfrm>
            <a:off x="4254500" y="836712"/>
            <a:ext cx="4889500" cy="5786437"/>
            <a:chOff x="2285984" y="1571306"/>
            <a:chExt cx="4603750" cy="5286694"/>
          </a:xfrm>
        </p:grpSpPr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285984" y="1571306"/>
              <a:ext cx="3294062" cy="52866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4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730859" y="3108322"/>
              <a:ext cx="1158875" cy="37496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7B6610C1FC8AB48BA79369D9F0FA2AE" ma:contentTypeVersion="3" ma:contentTypeDescription="Crie um novo documento." ma:contentTypeScope="" ma:versionID="a156716847e7342aca01295d584a094b">
  <xsd:schema xmlns:xsd="http://www.w3.org/2001/XMLSchema" xmlns:xs="http://www.w3.org/2001/XMLSchema" xmlns:p="http://schemas.microsoft.com/office/2006/metadata/properties" xmlns:ns2="4fdbd140-fb76-48f8-85b7-41ace7287746" targetNamespace="http://schemas.microsoft.com/office/2006/metadata/properties" ma:root="true" ma:fieldsID="57b2eef0319d860a6d1394171163fad3" ns2:_="">
    <xsd:import namespace="4fdbd140-fb76-48f8-85b7-41ace728774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dbd140-fb76-48f8-85b7-41ace72877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E7C0502-2E62-4826-AC70-BA99334E31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fdbd140-fb76-48f8-85b7-41ace72877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FA15FCF-C347-4CD4-8460-5446FA91F79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580559-421B-43D4-93F8-A80653F16980}">
  <ds:schemaRefs>
    <ds:schemaRef ds:uri="http://schemas.microsoft.com/office/2006/metadata/properties"/>
    <ds:schemaRef ds:uri="http://purl.org/dc/terms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2305</TotalTime>
  <Words>2480</Words>
  <Application>Microsoft Office PowerPoint</Application>
  <PresentationFormat>Apresentação na tela (4:3)</PresentationFormat>
  <Paragraphs>728</Paragraphs>
  <Slides>71</Slides>
  <Notes>38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71</vt:i4>
      </vt:variant>
    </vt:vector>
  </HeadingPairs>
  <TitlesOfParts>
    <vt:vector size="72" baseType="lpstr">
      <vt:lpstr>Mediano</vt:lpstr>
      <vt:lpstr>Filtragem espacial</vt:lpstr>
      <vt:lpstr>Filtros Digitais no domínio do espaço</vt:lpstr>
      <vt:lpstr>Domínio Espacial x Domínio da Transformada</vt:lpstr>
      <vt:lpstr>Domínio Espacial x Domínio da Transformada</vt:lpstr>
      <vt:lpstr>Domínio Espacial</vt:lpstr>
      <vt:lpstr>Filtros Digitais no domínio do espaço</vt:lpstr>
      <vt:lpstr>Filtros Digitais no domínio do espaço</vt:lpstr>
      <vt:lpstr>Filtros Digitais no domínio do espaço</vt:lpstr>
      <vt:lpstr>Filtragem Espacial</vt:lpstr>
      <vt:lpstr>Filtragem Espacial</vt:lpstr>
      <vt:lpstr>Filtragem Espacial</vt:lpstr>
      <vt:lpstr>Filtragem Espacial</vt:lpstr>
      <vt:lpstr>Correlação e Convolução</vt:lpstr>
      <vt:lpstr>Correlação e Convolução</vt:lpstr>
      <vt:lpstr>Correlação e Convolução</vt:lpstr>
      <vt:lpstr>Convoluir uma máscara com uma imagem</vt:lpstr>
      <vt:lpstr>Convolução</vt:lpstr>
      <vt:lpstr>Convolução aperiódica</vt:lpstr>
      <vt:lpstr>Gabarito truncado</vt:lpstr>
      <vt:lpstr>Apresentação do PowerPoint</vt:lpstr>
      <vt:lpstr>Convolução periódica</vt:lpstr>
      <vt:lpstr>Convolução</vt:lpstr>
      <vt:lpstr>Máscaras de convolução</vt:lpstr>
      <vt:lpstr>Filtros espaciais de suavização</vt:lpstr>
      <vt:lpstr>Filtros espaciais de suavização</vt:lpstr>
      <vt:lpstr>Exemplo: Suavização</vt:lpstr>
      <vt:lpstr>Exemplo: Suavização</vt:lpstr>
      <vt:lpstr>Exemplo: Suavização</vt:lpstr>
      <vt:lpstr>Filtros de Suavização</vt:lpstr>
      <vt:lpstr>Exemplo: Suavização</vt:lpstr>
      <vt:lpstr>Filtros espaciais de suavização</vt:lpstr>
      <vt:lpstr>Apresentação do PowerPoint</vt:lpstr>
      <vt:lpstr>Filtros de Suavização</vt:lpstr>
      <vt:lpstr>Filtros de Suavização</vt:lpstr>
      <vt:lpstr>Exemplo</vt:lpstr>
      <vt:lpstr>Filtros de Suavização</vt:lpstr>
      <vt:lpstr>Filtros de Suavização</vt:lpstr>
      <vt:lpstr>Filtros de Realce</vt:lpstr>
      <vt:lpstr>Filtros de Realce</vt:lpstr>
      <vt:lpstr>Filtros de Realce</vt:lpstr>
      <vt:lpstr>Filtros de Realce</vt:lpstr>
      <vt:lpstr>Filtro Laplaciano</vt:lpstr>
      <vt:lpstr>Filtro Laplaciano</vt:lpstr>
      <vt:lpstr>Filtro Laplaciano</vt:lpstr>
      <vt:lpstr>Filtros de Realce</vt:lpstr>
      <vt:lpstr>Filtros de Realce</vt:lpstr>
      <vt:lpstr>Filtros de Realce</vt:lpstr>
      <vt:lpstr>Filtros de Realce</vt:lpstr>
      <vt:lpstr>Filtros de Realce</vt:lpstr>
      <vt:lpstr>Filtros de Realce</vt:lpstr>
      <vt:lpstr>Filtros de Realce</vt:lpstr>
      <vt:lpstr>Filtros de Realce</vt:lpstr>
      <vt:lpstr>Filtros de Realce</vt:lpstr>
      <vt:lpstr>Filtros de Realce</vt:lpstr>
      <vt:lpstr>Filtros de Realce</vt:lpstr>
      <vt:lpstr>Detectores de Bordas</vt:lpstr>
      <vt:lpstr>Detectores de Bordas</vt:lpstr>
      <vt:lpstr>Detectores de Bordas</vt:lpstr>
      <vt:lpstr>Detectores de Bordas</vt:lpstr>
      <vt:lpstr>Detectores de Bordas</vt:lpstr>
      <vt:lpstr>Detectores de Bordas</vt:lpstr>
      <vt:lpstr>Detectores de Bordas</vt:lpstr>
      <vt:lpstr>Detectores de Bordas</vt:lpstr>
      <vt:lpstr>Detectores de Bordas</vt:lpstr>
      <vt:lpstr>Detectores de Bordas</vt:lpstr>
      <vt:lpstr>Detectores de Bordas</vt:lpstr>
      <vt:lpstr>Detectores de Bordas</vt:lpstr>
      <vt:lpstr>Detectores de Bordas</vt:lpstr>
      <vt:lpstr>Filtros espaciais de realce</vt:lpstr>
      <vt:lpstr>Filtros espaciais de realce</vt:lpstr>
      <vt:lpstr>Um exemplo da combinação de métodos de Realce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Filtragem espacial de imagem e convolução</dc:title>
  <dc:creator>Bant</dc:creator>
  <cp:lastModifiedBy>Bruno Travencolo</cp:lastModifiedBy>
  <cp:revision>171</cp:revision>
  <dcterms:created xsi:type="dcterms:W3CDTF">2009-03-04T16:19:44Z</dcterms:created>
  <dcterms:modified xsi:type="dcterms:W3CDTF">2026-06-17T19:31:16Z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0x01010097B6610C1FC8AB48BA79369D9F0FA2AE</vt:lpwstr>
  </property>
  <property fmtid="{D5CDD505-2E9C-101B-9397-08002B2CF9AE}" pid="3" name="Order">
    <vt:r8>600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ComplianceAssetId">
    <vt:lpwstr/>
  </property>
  <property fmtid="{D5CDD505-2E9C-101B-9397-08002B2CF9AE}" pid="9" name="TemplateUrl">
    <vt:lpwstr/>
  </property>
</Properties>
</file>