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84" r:id="rId2"/>
  </p:sldMasterIdLst>
  <p:notesMasterIdLst>
    <p:notesMasterId r:id="rId9"/>
  </p:notesMasterIdLst>
  <p:sldIdLst>
    <p:sldId id="256" r:id="rId3"/>
    <p:sldId id="287" r:id="rId4"/>
    <p:sldId id="294" r:id="rId5"/>
    <p:sldId id="296" r:id="rId6"/>
    <p:sldId id="297" r:id="rId7"/>
    <p:sldId id="298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B57D3"/>
    <a:srgbClr val="63A537"/>
    <a:srgbClr val="FFFFFF"/>
    <a:srgbClr val="C0504D"/>
    <a:srgbClr val="418A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59" autoAdjust="0"/>
    <p:restoredTop sz="77515" autoAdjust="0"/>
  </p:normalViewPr>
  <p:slideViewPr>
    <p:cSldViewPr snapToGrid="0">
      <p:cViewPr varScale="1">
        <p:scale>
          <a:sx n="88" d="100"/>
          <a:sy n="88" d="100"/>
        </p:scale>
        <p:origin x="1416" y="96"/>
      </p:cViewPr>
      <p:guideLst/>
    </p:cSldViewPr>
  </p:slideViewPr>
  <p:outlineViewPr>
    <p:cViewPr>
      <p:scale>
        <a:sx n="33" d="100"/>
        <a:sy n="33" d="100"/>
      </p:scale>
      <p:origin x="0" y="-171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24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D03497-8374-466E-85FA-95E1138D8F6E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F36A49-A1DD-40F8-B8AD-E6F5365256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7028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60965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BDFA8-F094-9115-7AB3-F8B0A6836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F7089E9-8ECE-FAC8-C0B6-E185528B5D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BEB7E30-F2BE-5AE2-7258-6651C3AB97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08735FE-8F9C-A971-8DB6-ECF7C64269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84469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D7A0F-BC67-8129-F6EE-9B506045C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A44FA47-96D5-DB9B-8099-47C4A168A8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94A5C2F-295B-7DCC-CC6A-CDCAEE5B74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92C1CAA-239C-6B4E-B402-E8F2428D49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74103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28EE7-6878-197E-1409-6481B57E8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27B43D4-2A39-556C-8DF8-0B9DAB10B6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0BFC38F-A08B-ABA7-B219-5ED3F29BD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66C886B-CF68-E6C9-D2B1-F13CE8F320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24867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7C559-F78A-38A7-3BAA-6AF8F5FBE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25DE8C0-97B4-F86A-3B61-5CCA9D4472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F5D0E45-89A3-DD32-B969-645CE1AB81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01F76A9-E2E8-D17F-93CD-1D65A9E764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95364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9619A-D344-8279-673F-C31937AF6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A7E0EAC-85FB-1EED-2DCC-769EB16EB9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D041D84-3F1A-FE63-158F-E245048AF5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15F1815-C4D5-4929-7CAE-968E1D4356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98966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9B856-A0BC-D210-1737-D966320C0D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A33AAC6-2469-CA4A-EC71-9377AF26B7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A0F87A-0C4B-6CED-A923-692979682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A1D701-1F2B-F9DB-3467-1E702506B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D3A131-BC6D-009A-1316-11C0D511C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2442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43BFD2-F256-47DF-B808-ACC0E3CF5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B715E3-1B62-B718-0545-18D1860ED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0F8541-A06F-A96B-9C7B-7B6775D69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9E2F6F-2F51-FB58-B282-FF6552915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4CA48A-0835-7D5D-0C5C-4C7E737E1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30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57B632-00A4-041E-134C-3945EC5FF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E8B5D6A-FCFF-76AF-3B41-CBCC1C30C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A63B6D-65C2-A8BA-7A75-E7BFF8AEE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2149EC-9298-99F7-4DF2-9F8975261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D0D51F-3496-83FE-F993-6F3C5B11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5493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630C98-DF9F-EDDF-13FE-19484E4CE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DBEED7-86EF-7D00-9D5B-35BED814DF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C4CFBCA-7118-0084-2BFD-AB37CB71E8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D1CCABC-FE63-8FD2-5554-56984A3CC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8125A-07B7-CBA7-1A67-B800BA64C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73A3AF-1DE0-4AD3-272B-485CC6D87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3329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9E8815-ABA0-CB0F-583F-E97EB7B59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6E8AD69-3F40-C1E3-9580-6371DC13C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5D54DCD-A467-392C-7882-9A1F2699C5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1F29C69-1D15-E7B8-95EE-E358ABDD23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DD9B3A3-CEB4-374A-3FA1-C3BD23A5E0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9B6B5B5-5DE0-2665-4666-5A565F02F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272278B-CB99-E2F9-7531-401CE1BF3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50092DA-D538-B982-0833-39924176B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1193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764F77-C07B-657B-DE18-927ED3DD6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1F6EABF-1DF7-2F1B-A964-4AFF92830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9E70771-5A68-7380-1FAC-A7D89E013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358ABD1-E925-1590-6C8E-DFC75A7BF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2118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C0372F4-7179-777F-1E51-88AB1A64E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77D26EF-C956-F4CD-8145-1C415DFC6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53EA769-C25E-4FD8-7E9E-E604C8529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7335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FA3AA1-798F-3AA2-B6BB-62D9B3824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8C13AA-9014-6117-7A37-A036F09F8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84FAC68-54B7-EFCE-9620-BC6F67419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F950BCB-3838-1B1C-112C-A644060F9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C8779FA-261C-A76B-DBC7-DB58B8C11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B5AFCC-7631-7153-2CC4-B4689FB8C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1812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CE3E92-DCFD-D54F-EB9D-EF97B8981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CA9DF57-38D6-FEBE-B65C-3AF4E429E9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117E586-D1EC-101C-F876-DEE5A2C81E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4655D0E-B1E7-844D-7A98-DA49B4EC7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B538A87-1978-7251-4706-04805D27D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8910AE-1487-27DE-EE72-B1B0DB539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2338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C4BC46-0BF2-E806-F16A-DB5D201D6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9D14E5E-509B-F711-3B25-614C8C3BCE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81C6A8-9DA7-0C1F-372D-B2C9FD24F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FE38E9-C9A5-2C3E-744D-E323F97B1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D1C984-499C-C6BA-9715-0B7BEAC9B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0243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F40F235-1569-6ED0-A5F0-7DA432452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3DB6C81-CE19-AE0C-8D05-2FBC65679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D43C4D-693E-5D37-DE0F-919B77DEF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D2A9D6-4B21-E9D7-968B-F18C64697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010A06-B61B-8C4F-3894-CA75C019D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0486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3257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83586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55726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3681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7489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93288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79982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080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A87E3B6E-8316-4A1C-BADA-DB7F3456EEF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25449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49987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9945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29C4ED7-C003-33C2-9CEB-2E9750319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730AEA1-DE82-52D0-65A9-766B9E2D2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2E4FEE-859A-D6B3-CF41-EDFF0B1CDE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7E3B6E-8316-4A1C-BADA-DB7F3456EEF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9F3FAC-49A4-4E94-C84A-41786DC2CE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435549-C584-1997-7B0B-6DC079118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6949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87E3B6E-8316-4A1C-BADA-DB7F3456EEF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8919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E9326E-3499-D287-DA5A-8AED2AD3A4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24919"/>
            <a:ext cx="12192000" cy="1808162"/>
          </a:xfrm>
          <a:ln>
            <a:noFill/>
          </a:ln>
        </p:spPr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Planejamento geral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F2C7C20-5716-4992-8451-F28A3F0EB9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2" y="5207000"/>
            <a:ext cx="6801612" cy="1651000"/>
          </a:xfrm>
        </p:spPr>
        <p:txBody>
          <a:bodyPr/>
          <a:lstStyle/>
          <a:p>
            <a:r>
              <a:rPr lang="pt-BR" dirty="0"/>
              <a:t>Universidade de Uberaba</a:t>
            </a:r>
          </a:p>
          <a:p>
            <a:r>
              <a:rPr lang="pt-BR" dirty="0"/>
              <a:t>Marcio Salmazo Ramos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739C2285-BBDC-FB8D-BB73-A95AC19BC9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048" y="447153"/>
            <a:ext cx="3517900" cy="972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1462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FA0AB-B6BF-1078-48E7-31A7A94C7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F72A9863-C44E-59E3-6D4E-C74532B7198A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71F50B4-E98F-7B26-F350-55B8C7044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Provas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6E42C9DB-BA22-8397-1845-97690041022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94B0B9BA-6818-BE82-7002-209691434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2712" y="2917370"/>
            <a:ext cx="8078342" cy="3755573"/>
          </a:xfrm>
        </p:spPr>
        <p:txBody>
          <a:bodyPr>
            <a:normAutofit/>
          </a:bodyPr>
          <a:lstStyle/>
          <a:p>
            <a:r>
              <a:rPr lang="pt-BR" sz="2000" dirty="0"/>
              <a:t>Processamento Digital de Imagens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1800" dirty="0"/>
              <a:t>Avaliação 1 – Turma 41 – 21/09/2026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1800" dirty="0"/>
              <a:t>Avaliação 1 – Turma 12 – 22/09/2026 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1800" dirty="0"/>
              <a:t>Avaliação 1 – Turma 11 – 23/09/2026</a:t>
            </a:r>
          </a:p>
          <a:p>
            <a:pPr lvl="1"/>
            <a:endParaRPr lang="pt-BR" sz="1800" dirty="0"/>
          </a:p>
          <a:p>
            <a:r>
              <a:rPr lang="pt-BR" sz="2000" dirty="0"/>
              <a:t>Matemática Discreta: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1800" dirty="0"/>
              <a:t>Avaliação 1 – 21/09/2026</a:t>
            </a:r>
          </a:p>
          <a:p>
            <a:pPr lvl="1"/>
            <a:endParaRPr lang="pt-BR" sz="1800" dirty="0"/>
          </a:p>
          <a:p>
            <a:r>
              <a:rPr lang="pt-BR" sz="2000" dirty="0"/>
              <a:t>Linguagens e Técnicas de Programação (Teórica):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1800" dirty="0"/>
              <a:t>Avaliação 1 – Turma 41T – 21/09/2026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1800" dirty="0"/>
              <a:t>Avaliação 1 – Turma 42T – 21/09/2026</a:t>
            </a:r>
          </a:p>
          <a:p>
            <a:pPr lvl="1"/>
            <a:endParaRPr lang="pt-BR" sz="2000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68E1563A-35CD-B422-8320-48934E14C6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0945" y="1369177"/>
            <a:ext cx="8210109" cy="1395719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1B16C447-D4CA-6E88-4F58-EC74E71B09C4}"/>
              </a:ext>
            </a:extLst>
          </p:cNvPr>
          <p:cNvSpPr/>
          <p:nvPr/>
        </p:nvSpPr>
        <p:spPr>
          <a:xfrm>
            <a:off x="8349343" y="3758065"/>
            <a:ext cx="2112968" cy="1325564"/>
          </a:xfrm>
          <a:prstGeom prst="rect">
            <a:avLst/>
          </a:prstGeom>
          <a:solidFill>
            <a:srgbClr val="9B57D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As listas devem ser entregues até o dia da prova!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9C87845-1A2C-7CBE-18B5-DD222B0C4B30}"/>
              </a:ext>
            </a:extLst>
          </p:cNvPr>
          <p:cNvSpPr txBox="1"/>
          <p:nvPr/>
        </p:nvSpPr>
        <p:spPr>
          <a:xfrm>
            <a:off x="8732181" y="3396735"/>
            <a:ext cx="1347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Observação:</a:t>
            </a:r>
          </a:p>
        </p:txBody>
      </p:sp>
    </p:spTree>
    <p:extLst>
      <p:ext uri="{BB962C8B-B14F-4D97-AF65-F5344CB8AC3E}">
        <p14:creationId xmlns:p14="http://schemas.microsoft.com/office/powerpoint/2010/main" val="92537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D5668-71BF-D1E3-B2F2-050A1FCA1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B53B9C25-35E4-9ACE-0419-8280903C431A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B45A191-EABF-5D78-7A4E-F5EE729DA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Distribuição de Notas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1F15BFCD-FB5B-376C-2E2E-5B9CA6DA154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50DBEC8-AAD5-B81F-ABA6-F37546AE80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4343" y="1788215"/>
            <a:ext cx="7983314" cy="4198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045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DDBA3-13A7-59EC-C8BD-79C2E1E29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F42F78DB-60A2-FA87-F002-8F5614272791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4CD4778-F860-72F2-F451-4F8730734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Bibliografias – Mat. Discreta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ECFEC093-7173-CD6A-8420-BDF818ED285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DE8052E-D2B3-D0A7-45F6-B999DEEFB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7801"/>
            <a:ext cx="10515600" cy="5410199"/>
          </a:xfrm>
        </p:spPr>
        <p:txBody>
          <a:bodyPr>
            <a:normAutofit/>
          </a:bodyPr>
          <a:lstStyle/>
          <a:p>
            <a:r>
              <a:rPr lang="pt-BR" sz="2000" b="1" dirty="0"/>
              <a:t>Básica</a:t>
            </a:r>
            <a:endParaRPr lang="pt-BR" sz="1800" dirty="0"/>
          </a:p>
          <a:p>
            <a:pPr marL="800100" lvl="1" indent="-342900">
              <a:buFont typeface="+mj-lt"/>
              <a:buAutoNum type="arabicPeriod"/>
            </a:pPr>
            <a:endParaRPr lang="pt-BR" sz="1800" dirty="0"/>
          </a:p>
          <a:p>
            <a:pPr marL="800100" lvl="1" indent="-342900">
              <a:buFont typeface="+mj-lt"/>
              <a:buAutoNum type="arabicPeriod"/>
            </a:pPr>
            <a:r>
              <a:rPr lang="pt-BR" sz="1800" dirty="0"/>
              <a:t>MENEZES, P. B. Matemática Discreta para Computação e Informática. 4.ed. Porto Alegre: Bookman, 2013. Disponível em: https://biblioteca-</a:t>
            </a:r>
            <a:r>
              <a:rPr lang="pt-BR" sz="1800" dirty="0" err="1"/>
              <a:t>a.read.garden</a:t>
            </a:r>
            <a:r>
              <a:rPr lang="pt-BR" sz="1800" dirty="0"/>
              <a:t>/</a:t>
            </a:r>
            <a:r>
              <a:rPr lang="pt-BR" sz="1800" dirty="0" err="1"/>
              <a:t>viewer</a:t>
            </a:r>
            <a:r>
              <a:rPr lang="pt-BR" sz="1800" dirty="0"/>
              <a:t>/9788582600252/1. Acesso em: 05 jul. 2025. 2. </a:t>
            </a:r>
          </a:p>
          <a:p>
            <a:pPr marL="800100" lvl="1" indent="-342900">
              <a:buFont typeface="+mj-lt"/>
              <a:buAutoNum type="arabicPeriod"/>
            </a:pPr>
            <a:endParaRPr lang="pt-BR" sz="1800" dirty="0"/>
          </a:p>
          <a:p>
            <a:pPr marL="800100" lvl="1" indent="-342900">
              <a:buFont typeface="+mj-lt"/>
              <a:buAutoNum type="arabicPeriod"/>
            </a:pPr>
            <a:r>
              <a:rPr lang="pt-BR" sz="1800" dirty="0"/>
              <a:t>PETROLI, T. Matemática Discreta. Curitiba: </a:t>
            </a:r>
            <a:r>
              <a:rPr lang="pt-BR" sz="1800" dirty="0" err="1"/>
              <a:t>Contentus</a:t>
            </a:r>
            <a:r>
              <a:rPr lang="pt-BR" sz="1800" dirty="0"/>
              <a:t>, 2020. Disponível em: https://plataforma.bvirtual.com.br/Acervo/</a:t>
            </a:r>
            <a:r>
              <a:rPr lang="pt-BR" sz="1800" dirty="0" err="1"/>
              <a:t>Publicacao</a:t>
            </a:r>
            <a:r>
              <a:rPr lang="pt-BR" sz="1800" dirty="0"/>
              <a:t>/193061. Acesso em: 05 jul. 2025. 3. </a:t>
            </a:r>
          </a:p>
          <a:p>
            <a:pPr marL="800100" lvl="1" indent="-342900">
              <a:buFont typeface="+mj-lt"/>
              <a:buAutoNum type="arabicPeriod"/>
            </a:pPr>
            <a:endParaRPr lang="pt-BR" sz="1800" dirty="0"/>
          </a:p>
          <a:p>
            <a:pPr marL="800100" lvl="1" indent="-342900">
              <a:buFont typeface="+mj-lt"/>
              <a:buAutoNum type="arabicPeriod"/>
            </a:pPr>
            <a:r>
              <a:rPr lang="pt-BR" sz="1800" dirty="0"/>
              <a:t>STEIN, C.; DRYSCALE, R. L.; BOGART, K. Matemática discreta para ciência da computação. São Paulo: Pearson </a:t>
            </a:r>
            <a:r>
              <a:rPr lang="pt-BR" sz="1800" dirty="0" err="1"/>
              <a:t>Education</a:t>
            </a:r>
            <a:r>
              <a:rPr lang="pt-BR" sz="1800" dirty="0"/>
              <a:t> do Brasil, 2013. Disponível em: https://plataforma.bvirtual.com.br/Acervo/</a:t>
            </a:r>
            <a:r>
              <a:rPr lang="pt-BR" sz="1800" dirty="0" err="1"/>
              <a:t>Publicacao</a:t>
            </a:r>
            <a:r>
              <a:rPr lang="pt-BR" sz="1800" dirty="0"/>
              <a:t>/3824. Acesso em: 05 jul. 2025.</a:t>
            </a:r>
          </a:p>
          <a:p>
            <a:endParaRPr lang="pt-BR" sz="2000" b="1" dirty="0"/>
          </a:p>
          <a:p>
            <a:r>
              <a:rPr lang="pt-BR" sz="2000" b="1" dirty="0"/>
              <a:t>Complementar</a:t>
            </a:r>
          </a:p>
          <a:p>
            <a:pPr marL="0" indent="0">
              <a:buNone/>
            </a:pPr>
            <a:endParaRPr lang="pt-BR" sz="2000" b="1" dirty="0"/>
          </a:p>
          <a:p>
            <a:pPr marL="800100" lvl="1" indent="-342900">
              <a:buFont typeface="+mj-lt"/>
              <a:buAutoNum type="arabicPeriod"/>
            </a:pPr>
            <a:r>
              <a:rPr lang="pt-BR" sz="1800" dirty="0"/>
              <a:t>ROSEN, KENNETH H. </a:t>
            </a:r>
            <a:r>
              <a:rPr lang="pt-BR" sz="1800" dirty="0" err="1"/>
              <a:t>Discrete</a:t>
            </a:r>
            <a:r>
              <a:rPr lang="pt-BR" sz="1800" dirty="0"/>
              <a:t> </a:t>
            </a:r>
            <a:r>
              <a:rPr lang="pt-BR" sz="1800" dirty="0" err="1"/>
              <a:t>Mathematics</a:t>
            </a:r>
            <a:r>
              <a:rPr lang="pt-BR" sz="1800" dirty="0"/>
              <a:t> </a:t>
            </a:r>
            <a:r>
              <a:rPr lang="pt-BR" sz="1800" dirty="0" err="1"/>
              <a:t>and</a:t>
            </a:r>
            <a:r>
              <a:rPr lang="pt-BR" sz="1800" dirty="0"/>
              <a:t> its </a:t>
            </a:r>
            <a:r>
              <a:rPr lang="pt-BR" sz="1800" dirty="0" err="1"/>
              <a:t>Applications</a:t>
            </a:r>
            <a:r>
              <a:rPr lang="pt-BR" sz="1800" dirty="0"/>
              <a:t>. 8.ed. McGraw Hill </a:t>
            </a:r>
            <a:r>
              <a:rPr lang="pt-BR" sz="1800" dirty="0" err="1"/>
              <a:t>Education</a:t>
            </a:r>
            <a:r>
              <a:rPr lang="pt-BR" sz="1800" dirty="0"/>
              <a:t>. 2019</a:t>
            </a:r>
          </a:p>
        </p:txBody>
      </p:sp>
    </p:spTree>
    <p:extLst>
      <p:ext uri="{BB962C8B-B14F-4D97-AF65-F5344CB8AC3E}">
        <p14:creationId xmlns:p14="http://schemas.microsoft.com/office/powerpoint/2010/main" val="330175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320FC-AF9F-6A90-7032-27387CF13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E2718EA4-E046-506A-33C0-56B558FB4D1E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1258A89-9A21-D7DC-4C40-CA1E432F1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Bibliografias – PDI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AF8756CC-26F6-8D2B-F6CD-111215C6ECF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948CD80-2C94-EE2A-5BE3-9C8725CD38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1453"/>
            <a:ext cx="10515600" cy="4934404"/>
          </a:xfrm>
        </p:spPr>
        <p:txBody>
          <a:bodyPr>
            <a:normAutofit/>
          </a:bodyPr>
          <a:lstStyle/>
          <a:p>
            <a:r>
              <a:rPr lang="pt-BR" sz="2000" b="1" dirty="0"/>
              <a:t>Básica</a:t>
            </a:r>
            <a:endParaRPr lang="pt-BR" sz="1800" dirty="0"/>
          </a:p>
          <a:p>
            <a:pPr marL="800100" lvl="1" indent="-342900">
              <a:buFont typeface="+mj-lt"/>
              <a:buAutoNum type="arabicPeriod"/>
            </a:pPr>
            <a:endParaRPr lang="pt-BR" sz="1800" dirty="0"/>
          </a:p>
          <a:p>
            <a:pPr marL="800100" lvl="1" indent="-342900">
              <a:buFont typeface="+mj-lt"/>
              <a:buAutoNum type="arabicPeriod"/>
            </a:pPr>
            <a:r>
              <a:rPr lang="pt-BR" sz="1800" dirty="0"/>
              <a:t>GONZALEZ, R. C.; WOODS, R. E. Processamento digital de imagens. 3. ed. São Paulo, SP: Pearson, 2009. E-book. Disponível em: https://plataforma.bvirtual.com.br/Leitor/</a:t>
            </a:r>
            <a:r>
              <a:rPr lang="pt-BR" sz="1800" dirty="0" err="1"/>
              <a:t>Publicacao</a:t>
            </a:r>
            <a:r>
              <a:rPr lang="pt-BR" sz="1800" dirty="0"/>
              <a:t>/2608/</a:t>
            </a:r>
            <a:r>
              <a:rPr lang="pt-BR" sz="1800" dirty="0" err="1"/>
              <a:t>pdf</a:t>
            </a:r>
            <a:r>
              <a:rPr lang="pt-BR" sz="1800" dirty="0"/>
              <a:t>/0. Acesso em: jul. 2025. 2. </a:t>
            </a:r>
          </a:p>
          <a:p>
            <a:pPr marL="800100" lvl="1" indent="-342900">
              <a:buFont typeface="+mj-lt"/>
              <a:buAutoNum type="arabicPeriod"/>
            </a:pPr>
            <a:endParaRPr lang="pt-BR" sz="1800" dirty="0"/>
          </a:p>
          <a:p>
            <a:pPr marL="800100" lvl="1" indent="-342900">
              <a:buFont typeface="+mj-lt"/>
              <a:buAutoNum type="arabicPeriod"/>
            </a:pPr>
            <a:r>
              <a:rPr lang="pt-BR" sz="1800" dirty="0"/>
              <a:t>PICHETTI, Roni Francisco; CENCI JUNIOR, Carlos Alberto; ALVES, João Victor da Silva; FERNANDO, Paulo Henrique </a:t>
            </a:r>
            <a:r>
              <a:rPr lang="pt-BR" sz="1800" dirty="0" err="1"/>
              <a:t>Lixandrão</a:t>
            </a:r>
            <a:r>
              <a:rPr lang="pt-BR" sz="1800" dirty="0"/>
              <a:t>; PRESTES, Pedro Alexandre Nery; CARVALHO, Thiago Raposo Milhomem de. Computação gráfica e processamento de imagens. Porto Alegre: SAGAH, 2022. 165 p. Disponível em: https://biblioteca-</a:t>
            </a:r>
            <a:r>
              <a:rPr lang="pt-BR" sz="1800" dirty="0" err="1"/>
              <a:t>a.read.garden</a:t>
            </a:r>
            <a:r>
              <a:rPr lang="pt-BR" sz="1800" dirty="0"/>
              <a:t>/</a:t>
            </a:r>
            <a:r>
              <a:rPr lang="pt-BR" sz="1800" dirty="0" err="1"/>
              <a:t>viewer</a:t>
            </a:r>
            <a:r>
              <a:rPr lang="pt-BR" sz="1800" dirty="0"/>
              <a:t>/9786556903088/capa. Acesso em: jul. 2025. 3. </a:t>
            </a:r>
          </a:p>
          <a:p>
            <a:pPr marL="800100" lvl="1" indent="-342900">
              <a:buFont typeface="+mj-lt"/>
              <a:buAutoNum type="arabicPeriod"/>
            </a:pPr>
            <a:endParaRPr lang="pt-BR" sz="1800" dirty="0"/>
          </a:p>
          <a:p>
            <a:pPr marL="800100" lvl="1" indent="-342900">
              <a:buFont typeface="+mj-lt"/>
              <a:buAutoNum type="arabicPeriod"/>
            </a:pPr>
            <a:r>
              <a:rPr lang="pt-BR" sz="1800" dirty="0"/>
              <a:t>ZANOTTA, Daniel Capella; FERREIRA, Matheus Pinheiro; ZORTEA, Maciel. Processamento de imagens de satélite. São Paulo: Oficina de Textos, 2019. Disponível em: https://plataforma.bvirtual.com.br/Leitor/</a:t>
            </a:r>
            <a:r>
              <a:rPr lang="pt-BR" sz="1800" dirty="0" err="1"/>
              <a:t>Publicacao</a:t>
            </a:r>
            <a:r>
              <a:rPr lang="pt-BR" sz="1800" dirty="0"/>
              <a:t>/202125/</a:t>
            </a:r>
            <a:r>
              <a:rPr lang="pt-BR" sz="1800" dirty="0" err="1"/>
              <a:t>epub</a:t>
            </a:r>
            <a:r>
              <a:rPr lang="pt-BR" sz="1800" dirty="0"/>
              <a:t>/0. Acesso em: jul. 2025. </a:t>
            </a:r>
          </a:p>
        </p:txBody>
      </p:sp>
    </p:spTree>
    <p:extLst>
      <p:ext uri="{BB962C8B-B14F-4D97-AF65-F5344CB8AC3E}">
        <p14:creationId xmlns:p14="http://schemas.microsoft.com/office/powerpoint/2010/main" val="1454709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0AB02-6E22-CADB-763A-169FA7271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0D45B8E-7192-F940-4C1F-A2AAD5ECFB14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BE30C27-7939-8569-76C8-E2A2ACD59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Bibliografias – LP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CEA36950-783A-09BB-8586-F999543C657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2A68916-EC1C-A267-CEF5-2D7EEB5C2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1453"/>
            <a:ext cx="10515600" cy="4934404"/>
          </a:xfrm>
        </p:spPr>
        <p:txBody>
          <a:bodyPr>
            <a:normAutofit/>
          </a:bodyPr>
          <a:lstStyle/>
          <a:p>
            <a:r>
              <a:rPr lang="pt-BR" sz="2000" b="1" dirty="0"/>
              <a:t>Básica</a:t>
            </a:r>
            <a:endParaRPr lang="pt-BR" sz="1800" dirty="0"/>
          </a:p>
          <a:p>
            <a:pPr marL="800100" lvl="1" indent="-342900">
              <a:buFont typeface="+mj-lt"/>
              <a:buAutoNum type="arabicPeriod"/>
            </a:pPr>
            <a:endParaRPr lang="pt-BR" sz="1800" dirty="0"/>
          </a:p>
          <a:p>
            <a:pPr marL="800100" lvl="1" indent="-342900">
              <a:buFont typeface="+mj-lt"/>
              <a:buAutoNum type="arabicPeriod"/>
            </a:pPr>
            <a:r>
              <a:rPr lang="pt-BR" sz="1800" dirty="0"/>
              <a:t>ARAUJO, Sandro de. Lógica de Programação e algoritmos. Curitiba: </a:t>
            </a:r>
            <a:r>
              <a:rPr lang="pt-BR" sz="1800" dirty="0" err="1"/>
              <a:t>Contentus</a:t>
            </a:r>
            <a:r>
              <a:rPr lang="pt-BR" sz="1800" dirty="0"/>
              <a:t>, 2020. Disponível em: https://plataforma.bvirtual.com.br/Acervo/</a:t>
            </a:r>
            <a:r>
              <a:rPr lang="pt-BR" sz="1800" dirty="0" err="1"/>
              <a:t>Publicacao</a:t>
            </a:r>
            <a:r>
              <a:rPr lang="pt-BR" sz="1800" dirty="0"/>
              <a:t>/187737. Acesso em: fev. 2026. 2. </a:t>
            </a:r>
          </a:p>
          <a:p>
            <a:pPr marL="800100" lvl="1" indent="-342900">
              <a:buFont typeface="+mj-lt"/>
              <a:buAutoNum type="arabicPeriod"/>
            </a:pPr>
            <a:endParaRPr lang="pt-BR" sz="1800" dirty="0"/>
          </a:p>
          <a:p>
            <a:pPr marL="800100" lvl="1" indent="-342900">
              <a:buFont typeface="+mj-lt"/>
              <a:buAutoNum type="arabicPeriod"/>
            </a:pPr>
            <a:r>
              <a:rPr lang="pt-BR" sz="1800" dirty="0"/>
              <a:t>ASCENCIO, Ana Fernanda Gomes; CAMPOS, Edilene Aparecida </a:t>
            </a:r>
            <a:r>
              <a:rPr lang="pt-BR" sz="1800" dirty="0" err="1"/>
              <a:t>Veneruchi</a:t>
            </a:r>
            <a:r>
              <a:rPr lang="pt-BR" sz="1800" dirty="0"/>
              <a:t> De. Fundamentos da programação de computadores: algoritmos, pascal e C/C++. 2.ed. São Paulo: Pearson, 2007. Disponível em: https://plataforma.bvirtual.com.br/Acervo/</a:t>
            </a:r>
            <a:r>
              <a:rPr lang="pt-BR" sz="1800" dirty="0" err="1"/>
              <a:t>Publicacao</a:t>
            </a:r>
            <a:r>
              <a:rPr lang="pt-BR" sz="1800" dirty="0"/>
              <a:t>/417. Acesso em: fev. 2026. 3. </a:t>
            </a:r>
          </a:p>
          <a:p>
            <a:pPr marL="800100" lvl="1" indent="-342900">
              <a:buFont typeface="+mj-lt"/>
              <a:buAutoNum type="arabicPeriod"/>
            </a:pPr>
            <a:endParaRPr lang="pt-BR" sz="1800" dirty="0"/>
          </a:p>
          <a:p>
            <a:pPr marL="800100" lvl="1" indent="-342900">
              <a:buFont typeface="+mj-lt"/>
              <a:buAutoNum type="arabicPeriod"/>
            </a:pPr>
            <a:r>
              <a:rPr lang="pt-BR" sz="1800" dirty="0"/>
              <a:t>MIZRAHI, </a:t>
            </a:r>
            <a:r>
              <a:rPr lang="pt-BR" sz="1800" dirty="0" err="1"/>
              <a:t>Victorine</a:t>
            </a:r>
            <a:r>
              <a:rPr lang="pt-BR" sz="1800" dirty="0"/>
              <a:t> Viviane. Treinamento em linguagem C. 2. ed. São Paulo: Pearson Universidades, 2008. Disponível em: https://plataforma.bvirtual.com.br/Acervo/</a:t>
            </a:r>
            <a:r>
              <a:rPr lang="pt-BR" sz="1800" dirty="0" err="1"/>
              <a:t>Publicacao</a:t>
            </a:r>
            <a:r>
              <a:rPr lang="pt-BR" sz="1800" dirty="0"/>
              <a:t>/2781. Acesso em: fev. 2026.</a:t>
            </a:r>
          </a:p>
          <a:p>
            <a:pPr marL="800100" lvl="1" indent="-342900">
              <a:buFont typeface="+mj-lt"/>
              <a:buAutoNum type="arabicPeriod"/>
            </a:pPr>
            <a:endParaRPr lang="pt-BR" sz="1800" dirty="0"/>
          </a:p>
          <a:p>
            <a:r>
              <a:rPr lang="pt-BR" sz="2000" b="1" dirty="0"/>
              <a:t>Complementar</a:t>
            </a:r>
          </a:p>
          <a:p>
            <a:pPr marL="800100" lvl="1" indent="-342900">
              <a:buFont typeface="+mj-lt"/>
              <a:buAutoNum type="arabicPeriod"/>
            </a:pPr>
            <a:endParaRPr lang="pt-BR" sz="1800" dirty="0"/>
          </a:p>
          <a:p>
            <a:pPr marL="800100" lvl="1" indent="-342900">
              <a:buFont typeface="+mj-lt"/>
              <a:buAutoNum type="arabicPeriod"/>
            </a:pPr>
            <a:r>
              <a:rPr lang="pt-BR" sz="1800" dirty="0"/>
              <a:t>DAMAS, Luís. Linguagem C. 10.ed. LTC. 2007</a:t>
            </a:r>
          </a:p>
          <a:p>
            <a:pPr marL="800100" lvl="1" indent="-342900">
              <a:buFont typeface="+mj-lt"/>
              <a:buAutoNum type="arabicPeriod"/>
            </a:pP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36292299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Violeta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acote">
  <a:themeElements>
    <a:clrScheme name="Violeta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Pacot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cot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1869</TotalTime>
  <Words>646</Words>
  <Application>Microsoft Office PowerPoint</Application>
  <PresentationFormat>Widescreen</PresentationFormat>
  <Paragraphs>56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6</vt:i4>
      </vt:variant>
    </vt:vector>
  </HeadingPairs>
  <TitlesOfParts>
    <vt:vector size="13" baseType="lpstr">
      <vt:lpstr>Arial</vt:lpstr>
      <vt:lpstr>Calibri</vt:lpstr>
      <vt:lpstr>Calibri Light</vt:lpstr>
      <vt:lpstr>Courier New</vt:lpstr>
      <vt:lpstr>Gill Sans MT</vt:lpstr>
      <vt:lpstr>Tema do Office</vt:lpstr>
      <vt:lpstr>Pacote</vt:lpstr>
      <vt:lpstr>Planejamento geral</vt:lpstr>
      <vt:lpstr>Provas</vt:lpstr>
      <vt:lpstr>Distribuição de Notas</vt:lpstr>
      <vt:lpstr>Bibliografias – Mat. Discreta</vt:lpstr>
      <vt:lpstr>Bibliografias – PDI</vt:lpstr>
      <vt:lpstr>Bibliografias – LP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Marcio Salmazo Ramos</dc:creator>
  <cp:lastModifiedBy>Marcio Salmazo Ramos</cp:lastModifiedBy>
  <cp:revision>153</cp:revision>
  <dcterms:created xsi:type="dcterms:W3CDTF">2026-07-26T12:48:37Z</dcterms:created>
  <dcterms:modified xsi:type="dcterms:W3CDTF">2026-08-11T18:50:52Z</dcterms:modified>
</cp:coreProperties>
</file>