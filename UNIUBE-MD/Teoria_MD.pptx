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84" r:id="rId2"/>
  </p:sldMasterIdLst>
  <p:notesMasterIdLst>
    <p:notesMasterId r:id="rId49"/>
  </p:notesMasterIdLst>
  <p:sldIdLst>
    <p:sldId id="280" r:id="rId3"/>
    <p:sldId id="277" r:id="rId4"/>
    <p:sldId id="278" r:id="rId5"/>
    <p:sldId id="279" r:id="rId6"/>
    <p:sldId id="256" r:id="rId7"/>
    <p:sldId id="287" r:id="rId8"/>
    <p:sldId id="288" r:id="rId9"/>
    <p:sldId id="289" r:id="rId10"/>
    <p:sldId id="290" r:id="rId11"/>
    <p:sldId id="293" r:id="rId12"/>
    <p:sldId id="291" r:id="rId13"/>
    <p:sldId id="292" r:id="rId14"/>
    <p:sldId id="314" r:id="rId15"/>
    <p:sldId id="294" r:id="rId16"/>
    <p:sldId id="296" r:id="rId17"/>
    <p:sldId id="297" r:id="rId18"/>
    <p:sldId id="298" r:id="rId19"/>
    <p:sldId id="299" r:id="rId20"/>
    <p:sldId id="300" r:id="rId21"/>
    <p:sldId id="301" r:id="rId22"/>
    <p:sldId id="302" r:id="rId23"/>
    <p:sldId id="303" r:id="rId24"/>
    <p:sldId id="304" r:id="rId25"/>
    <p:sldId id="305" r:id="rId26"/>
    <p:sldId id="307" r:id="rId27"/>
    <p:sldId id="306" r:id="rId28"/>
    <p:sldId id="308" r:id="rId29"/>
    <p:sldId id="309" r:id="rId30"/>
    <p:sldId id="310" r:id="rId31"/>
    <p:sldId id="311" r:id="rId32"/>
    <p:sldId id="313" r:id="rId33"/>
    <p:sldId id="312" r:id="rId34"/>
    <p:sldId id="316" r:id="rId35"/>
    <p:sldId id="317" r:id="rId36"/>
    <p:sldId id="320" r:id="rId37"/>
    <p:sldId id="322" r:id="rId38"/>
    <p:sldId id="323" r:id="rId39"/>
    <p:sldId id="324" r:id="rId40"/>
    <p:sldId id="326" r:id="rId41"/>
    <p:sldId id="325" r:id="rId42"/>
    <p:sldId id="327" r:id="rId43"/>
    <p:sldId id="328" r:id="rId44"/>
    <p:sldId id="329" r:id="rId45"/>
    <p:sldId id="330" r:id="rId46"/>
    <p:sldId id="332" r:id="rId47"/>
    <p:sldId id="321" r:id="rId48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3A537"/>
    <a:srgbClr val="FFFFFF"/>
    <a:srgbClr val="C0504D"/>
    <a:srgbClr val="418AB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59" autoAdjust="0"/>
    <p:restoredTop sz="77515" autoAdjust="0"/>
  </p:normalViewPr>
  <p:slideViewPr>
    <p:cSldViewPr snapToGrid="0">
      <p:cViewPr varScale="1">
        <p:scale>
          <a:sx n="88" d="100"/>
          <a:sy n="88" d="100"/>
        </p:scale>
        <p:origin x="1416" y="84"/>
      </p:cViewPr>
      <p:guideLst/>
    </p:cSldViewPr>
  </p:slideViewPr>
  <p:outlineViewPr>
    <p:cViewPr>
      <p:scale>
        <a:sx n="33" d="100"/>
        <a:sy n="33" d="100"/>
      </p:scale>
      <p:origin x="0" y="-1713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624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presProps" Target="presProp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tableStyles" Target="tableStyles.xml"/><Relationship Id="rId5" Type="http://schemas.openxmlformats.org/officeDocument/2006/relationships/slide" Target="slides/slide3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8" Type="http://schemas.openxmlformats.org/officeDocument/2006/relationships/slide" Target="slides/slide6.xml"/><Relationship Id="rId51" Type="http://schemas.openxmlformats.org/officeDocument/2006/relationships/viewProps" Target="viewProps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ED03497-8374-466E-85FA-95E1138D8F6E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0F36A49-A1DD-40F8-B8AD-E6F5365256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070282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38C351-DFF9-9BB4-C595-CB3EC6ABF7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75BF112-E657-0452-8596-E92EF34F20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A91002F-A59D-1347-CCEF-5C5F7BF2BE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75A6B88-6AEB-E6CD-2753-B1DA2A27C8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0549155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AA7B2A-BF0C-6DE5-D7D4-EB437BE82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4C9A454-78DF-0441-D12F-F57B1DCF91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BADED7D-9228-27C3-F085-8AD77D9937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8F76711-7864-16B2-2D1A-140BF30DEF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357033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72EBE6-8028-CFB1-9724-36EFE5A09A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9069B76E-CD7C-F176-E30C-1FF6CBC78B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DF1F636-8DE6-4496-60E4-309D236B15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E5E1AEC-CF40-C324-4374-28168748E2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226131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184A9F-4876-629F-891A-6D247B74D5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7E3B4A7-5916-5A37-F86B-2CA224A7B4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0CF73BD-08A0-6C5A-90F2-844EAE0788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FF1830E-CA2A-22E0-725D-2C8E1FF19F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070304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0609656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6BDFA8-F094-9115-7AB3-F8B0A6836C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3F7089E9-8ECE-FAC8-C0B6-E185528B5D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BEB7E30-F2BE-5AE2-7258-6651C3AB97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r>
              <a:rPr lang="pt-BR" b="0" dirty="0"/>
              <a:t>- A matemática contínua aparece em fenômenos que variam continuamente (ex. Temperatura, pressão, calculo, </a:t>
            </a:r>
            <a:r>
              <a:rPr lang="pt-BR" b="0" dirty="0" err="1"/>
              <a:t>etc</a:t>
            </a:r>
            <a:r>
              <a:rPr lang="pt-BR" b="0" dirty="0"/>
              <a:t>).</a:t>
            </a:r>
          </a:p>
          <a:p>
            <a:r>
              <a:rPr lang="pt-BR" dirty="0"/>
              <a:t>- </a:t>
            </a:r>
            <a:r>
              <a:rPr lang="pt-BR" b="0" dirty="0"/>
              <a:t>A matemática discreta aparece em elementos com um espaçamento bem definido</a:t>
            </a:r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08735FE-8F9C-A971-8DB6-ECF7C64269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844694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ACA2C3-941E-281A-6329-36EE9CEA18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B3E0AD0-AF2D-E13D-D350-DF71DD960A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36A266E-5423-4F08-57E8-6674E0D842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7AAFBF7-EDBF-2ADB-B1B2-F4692C8B02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4276530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BD59D2-5C33-D865-70A5-FAC2397899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A13D109-1CDB-70C5-943F-E099B6FF03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60B71ED-2F7B-AA22-F961-B16548C9AC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2400" b="1" dirty="0"/>
              <a:t>Quase toda a Computação é construída sobre objetos discretos.</a:t>
            </a:r>
          </a:p>
          <a:p>
            <a:endParaRPr lang="pt-BR" sz="1800" b="1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pt-BR" sz="1800" b="0" dirty="0"/>
              <a:t>Bits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pt-BR" sz="1800" b="0" dirty="0"/>
              <a:t>Conjuntos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pt-BR" sz="1800" b="0" dirty="0"/>
              <a:t>Grafos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pt-BR" sz="1800" b="0" dirty="0"/>
              <a:t>Árvores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pt-BR" sz="1800" b="0" dirty="0"/>
              <a:t>Lógica proposicional</a:t>
            </a:r>
          </a:p>
          <a:p>
            <a:pPr marL="0" lvl="0" indent="0">
              <a:buFont typeface="Arial" panose="020B0604020202020204" pitchFamily="34" charset="0"/>
              <a:buNone/>
            </a:pPr>
            <a:endParaRPr lang="pt-BR" sz="1800" b="0" dirty="0"/>
          </a:p>
          <a:p>
            <a:pPr marL="0" indent="0">
              <a:buFontTx/>
              <a:buNone/>
            </a:pPr>
            <a:r>
              <a:rPr lang="pt-BR" dirty="0"/>
              <a:t>Todos esses objetos possuem estruturas discretas.</a:t>
            </a:r>
          </a:p>
          <a:p>
            <a:pPr marL="0" indent="0">
              <a:buFontTx/>
              <a:buNone/>
            </a:pPr>
            <a:r>
              <a:rPr lang="pt-BR" b="0" dirty="0"/>
              <a:t>Entender eles, nos dá a base da computação.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F9E41C7-C441-46ED-066A-8967EE2E1A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219639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F46A82-DCE1-89B0-04D0-7B262E7978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E0F9A31-572A-A6D4-BF32-7D629D70D5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1E250E03-00F6-84F4-F42F-9995E1B708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0E44CB4-D350-3075-B017-A884028A95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4051723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F17E8D-B340-B8DB-85B0-FB9879D880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C7F1652-8920-CADF-09D4-60EDAC2A17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3A860EA-E018-B9F0-F843-BF287ABBD0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009FA3C-CA3D-6789-133F-2E5F5AB2B5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3228639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4B0F3F-7E98-460A-84F3-E111DB07C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2D702EF-4AEE-80CB-18FE-CB76F3C128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9752907-DF8F-A60B-D584-F7442249C5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5DEF4CE-7D9E-C6DC-F428-956DF29865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7708315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CFD696-FB1E-93A1-E055-6B17655F8A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2EF56BC-4719-26F0-35C5-F192E76250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201AB85-920E-8820-6A6C-E9BB9D78EF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r>
              <a:rPr lang="pt-BR" b="1" dirty="0"/>
              <a:t>Sim e Não também são valores discretos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b="1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0" dirty="0"/>
              <a:t>Assim como um bit possui apenas dois estados, uma decisão também possui apenas dois estados.</a:t>
            </a:r>
            <a:endParaRPr lang="pt-BR" sz="1200" b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8D32E076-18D2-ED65-706E-B130B1F8F7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0508239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B12B0D-EC00-4939-6AD3-0DDE8A341E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A67D953-E001-2DBE-80AC-03165CEABC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37C74A3-FB00-9F32-924D-88CE3D02AD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1B7948C-8BDF-A9E0-DFB4-663C2A249D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2687455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B43978-9C5E-CED3-5A9A-E7E8964AF5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7ECC452-E638-C59F-9220-C1EEB906E3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44EE923-BA27-93D5-B4BA-235D6F5174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453CFC5-F8B7-8132-2FD5-2B4C85725F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0688051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9BAD38-36B1-3AE9-53A8-C1D4875F46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957D445D-4CB6-2DA8-F260-EF3963D527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70F15396-F0B9-D2E5-2A3F-13F1717A9D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78B3083-6380-32FC-4BCB-F38D11A7C6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7792089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FDD62B-8624-6E8B-4952-701DC6D2ED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1BD37BF-67CC-9802-656D-D3A35EDC13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606E8A9-1408-5BE9-8960-A0C68AFABA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r>
              <a:rPr lang="pt-BR" b="0" dirty="0"/>
              <a:t>Citar também os princípios básicos:</a:t>
            </a:r>
          </a:p>
          <a:p>
            <a:pPr marL="0" indent="0">
              <a:buFontTx/>
              <a:buNone/>
            </a:pPr>
            <a:endParaRPr lang="pt-BR" b="0" dirty="0"/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Princípio da Não Contradição: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Uma proposição não pode ser verdadeira e falsa ao mesmo tempo.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Princípio do Terceiro Excluído: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Toda proposição ou é verdadeira ou é falsa, não havendo uma terceira opção.</a:t>
            </a:r>
          </a:p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3D3DA0E-C75B-6321-D7D5-E7693E3A6E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2878805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E1A10A-A2E5-291A-467D-6A193EE8F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63D0B87F-7657-1CBB-59A9-AEB579C0FD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69FA888-50F4-3BC6-848B-E5401A7D08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r>
              <a:rPr lang="pt-BR" sz="1200" b="1" dirty="0"/>
              <a:t>Disjunção exclusiva: </a:t>
            </a:r>
            <a:r>
              <a:rPr lang="pt-BR" dirty="0"/>
              <a:t>Embora não faça parte dos conectivos fundamentais da lógica proposicional clássica, ele é muito utilizado em Computação.</a:t>
            </a: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65D941C-A48A-92B5-312C-D038C49DAD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6330923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FFEA64-B1BA-0555-EAB0-328FB9E3F3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8D8694C-AEE6-B69F-C3A8-E81ABD3C52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233EDED-26AE-6279-C4AF-8275629282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912365D-5FA7-251F-6BCE-AF9BC5F42F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8089357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AA688B-B081-F4A2-9DA7-26B6A230FE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77D21D7-9421-BD1E-7355-B033584B6C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F0EA7C5-98D8-20EC-F116-2B2755C5D6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Font typeface="Arial" panose="020B0604020202020204" pitchFamily="34" charset="0"/>
              <a:buNone/>
            </a:pPr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E770B7C-0B66-3AA6-2A0F-C76F501EFB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5410741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7CD384-657E-0037-2270-6F4E9F44BD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C435DD1D-07E9-A620-DEC3-F9D508142D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C34AB1A-8508-02B1-0FAD-DA5BB993D5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7A99E9A-EC3A-942A-EF26-62A56C0745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0677763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ACA974-CE8F-2FED-C79D-05BF75A864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C3C8F71-6239-0EF7-2F1F-623F194E11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1389C8A-CC73-127F-E584-94EB49A9D6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Font typeface="Arial" panose="020B0604020202020204" pitchFamily="34" charset="0"/>
              <a:buNone/>
            </a:pPr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9B7ECED-DECD-241E-4A1F-146897456B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4275390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4B89C6-488D-67E9-120D-A4B7F476C0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383AF92-C426-8833-7921-EEB58F9C72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28945E74-468A-A72E-F2FB-EC2E4AD044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Font typeface="Arial" panose="020B0604020202020204" pitchFamily="34" charset="0"/>
              <a:buNone/>
            </a:pPr>
            <a:endParaRPr lang="pt-BR" sz="220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93EC7BF-B23F-8334-31C9-E17735FECD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4253595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DFEAF2-3ECF-BF30-962A-DF384C9DA1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DA7AD45-F8E4-B41F-16D4-6D8E68CA38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4DFDBC81-AC38-2406-9AF6-2FEF780804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2400" dirty="0"/>
              <a:t>A implicação </a:t>
            </a:r>
            <a:r>
              <a:rPr lang="pt-BR" sz="2400" b="1" dirty="0"/>
              <a:t>não afirma que P acontece</a:t>
            </a:r>
            <a:r>
              <a:rPr lang="pt-BR" sz="2400" dirty="0"/>
              <a:t>; ela apenas estabelece uma promessa:</a:t>
            </a:r>
          </a:p>
          <a:p>
            <a:r>
              <a:rPr lang="pt-BR" sz="2400" dirty="0"/>
              <a:t>"Sempre que P acontecer, Q também acontecerá.“</a:t>
            </a:r>
          </a:p>
          <a:p>
            <a:endParaRPr lang="pt-BR" sz="2400" dirty="0"/>
          </a:p>
          <a:p>
            <a:r>
              <a:rPr lang="pt-BR" sz="2400" dirty="0"/>
              <a:t>Essa promessa só é quebrada em um único caso: quando P ocorre e Q não ocorre.</a:t>
            </a:r>
          </a:p>
          <a:p>
            <a:endParaRPr lang="pt-BR" sz="2400" dirty="0"/>
          </a:p>
          <a:p>
            <a:r>
              <a:rPr lang="pt-BR" sz="2400" dirty="0"/>
              <a:t>Exemplo:</a:t>
            </a:r>
          </a:p>
          <a:p>
            <a:r>
              <a:rPr lang="pt-BR" sz="2400" dirty="0"/>
              <a:t>"Se um aluno entregar todas as atividades, então será aprovado.“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2400" dirty="0"/>
              <a:t>Essa regra é violada apenas se um aluno entregar todas as atividades e, mesmo assim, não for aprovado.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2400" dirty="0"/>
              <a:t>Se o aluno nem sequer entregou as atividades, a regra não foi contrariada; ela simplesmente não precisou ser aplicada.</a:t>
            </a:r>
          </a:p>
          <a:p>
            <a:pPr marL="0" lvl="0" indent="0">
              <a:buFont typeface="Arial" panose="020B0604020202020204" pitchFamily="34" charset="0"/>
              <a:buNone/>
            </a:pPr>
            <a:endParaRPr lang="pt-BR" sz="220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3A57626-C2AA-A0D5-3C1B-D4CC40D524E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8869453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CD507C-6F78-1EE8-66E8-7833DB525E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1CDDACD-A975-4445-817D-B8DC3177AC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62354B87-4594-43A4-A79E-B480A6EDE2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2400" dirty="0"/>
              <a:t>É uma condição de equivalência.</a:t>
            </a:r>
          </a:p>
          <a:p>
            <a:r>
              <a:rPr lang="pt-BR" sz="2400" dirty="0"/>
              <a:t>As duas proposições devem possuir o mesmo valor lógico.</a:t>
            </a:r>
          </a:p>
          <a:p>
            <a:pPr marL="0" lvl="0" indent="0">
              <a:buFont typeface="Arial" panose="020B0604020202020204" pitchFamily="34" charset="0"/>
              <a:buNone/>
            </a:pPr>
            <a:endParaRPr lang="pt-BR" sz="2200" dirty="0"/>
          </a:p>
          <a:p>
            <a:pPr marL="0" lvl="0" indent="0">
              <a:buFont typeface="Arial" panose="020B0604020202020204" pitchFamily="34" charset="0"/>
              <a:buNone/>
            </a:pPr>
            <a:r>
              <a:rPr lang="pt-BR" sz="2200" dirty="0"/>
              <a:t>Exemplo: </a:t>
            </a:r>
          </a:p>
          <a:p>
            <a:pPr marL="0" lvl="0" indent="0">
              <a:buFont typeface="Arial" panose="020B0604020202020204" pitchFamily="34" charset="0"/>
              <a:buNone/>
            </a:pPr>
            <a:r>
              <a:rPr lang="pt-BR" sz="2200" dirty="0"/>
              <a:t>P= um numero é par</a:t>
            </a:r>
          </a:p>
          <a:p>
            <a:pPr marL="0" lvl="0" indent="0">
              <a:buFont typeface="Arial" panose="020B0604020202020204" pitchFamily="34" charset="0"/>
              <a:buNone/>
            </a:pPr>
            <a:r>
              <a:rPr lang="pt-BR" sz="2200" dirty="0"/>
              <a:t>Q = um numero é divisível por 2</a:t>
            </a:r>
          </a:p>
          <a:p>
            <a:pPr marL="0" lvl="0" indent="0">
              <a:buFont typeface="Arial" panose="020B0604020202020204" pitchFamily="34" charset="0"/>
              <a:buNone/>
            </a:pPr>
            <a:r>
              <a:rPr lang="pt-BR" sz="2400" dirty="0"/>
              <a:t>Um número é par se, e somente se, é divisível por 2.</a:t>
            </a:r>
            <a:endParaRPr lang="pt-BR" sz="220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D4BCCCF-2B76-191C-43CC-4FF3E895ED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8585508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5C7F6A-E654-F01A-CC57-5A22778090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5E1ACDC-C5D5-405D-308F-C86DF41070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4BA45426-B001-2A9E-E8E7-754D20D8CB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B604104-64E9-D706-A8AD-903E7FF1C3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8073820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4EEA06-D7D3-2A37-D4B9-FC5099439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76EE6932-7B21-A622-976B-7C4D6C359E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2910B38A-A221-735E-1AEF-D83DF67AFE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9026508-E9C8-DB28-986D-FA0A6165BA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3308814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DE8F75-2814-DF8B-D3B9-1C8805DF42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8912B00-F0DD-A1FA-2C70-F54FD99F24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F2F3C3C1-02C6-C482-B184-763FB135CB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3940D869-3F24-7F05-D6F1-DFFAA807BA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8518995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970E62-7F42-9431-2647-9224CDD6F9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9B2B3AE1-722D-ADDF-B70A-6D9210F3FB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EB23A11-B425-639A-D005-46B2EA67B6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3AE84DC-54BE-7616-55FE-0C5AD79B43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2332635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E9EA51-67A1-727A-3615-971BBF973F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F5B1E26-633B-8F31-CE5F-A8C9AC25A1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F0993FAB-7A7E-E1F6-8DB5-DCB9AED0BF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A69E455-3354-0E49-825E-275CA1DDB3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4796635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CDA5DD-E71E-5910-FB1D-FB1F91B334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68F6069-1171-7936-BD76-74440C59A2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F474C979-8DAD-23C9-802E-04189F94A0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dirty="0"/>
              <a:t>Pegue todas as linhas cujo resultado é verdadeiro.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dirty="0"/>
              <a:t>Cada linha gera um termo.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dirty="0"/>
              <a:t>Depois una todos usando </a:t>
            </a:r>
            <a:r>
              <a:rPr lang="pt-BR" sz="1200" b="1" dirty="0"/>
              <a:t>OU</a:t>
            </a:r>
            <a:r>
              <a:rPr lang="pt-BR" sz="1200" dirty="0"/>
              <a:t>.</a:t>
            </a:r>
          </a:p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A70EFB3-E54D-3205-32B2-25118CC27F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6145574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FF65F9-843E-9719-F64E-739ED3D1DB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38AE87A8-D9E0-15EE-41B8-88195C9336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3DB3AC8-B71A-133D-EEB6-1D8BECE749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dirty="0"/>
              <a:t>Pegue todas as linhas cujo resultado é falso.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dirty="0"/>
              <a:t>Cada linha gera um termo.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dirty="0"/>
              <a:t>Depois una todos usando </a:t>
            </a:r>
            <a:r>
              <a:rPr lang="pt-BR" sz="1200" b="1" dirty="0"/>
              <a:t>E</a:t>
            </a:r>
            <a:r>
              <a:rPr lang="pt-BR" sz="1200" dirty="0"/>
              <a:t>.</a:t>
            </a:r>
          </a:p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99A1C47-98C4-6BDF-E156-3B50F837F7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2312487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6251DA-BE58-9419-0FEC-6F10CD80C3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35EBE74-0261-E664-F7F1-C492691B42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6AE7082C-CAA4-3A7C-B41D-A57D9C3B76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0" dirty="0"/>
              <a:t>As expressões montadas a partir das tabelas-verdades vão servir para modelar e simplificar o sistema a ser modelado (principalmente no contexto eletrônico da álgebra booleana), por isso, é importante a padronização do sistema nas formas normais.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63E4F2C-DE4F-4588-23CE-CFB91ADFD6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5123142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BC3E5C-A7AC-F028-F534-3A7AF906BC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44060F58-B059-92AA-2B80-7C8E8C50B4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16DDD98-A067-D6B0-8918-5674E2096A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8B59C70-20D6-0DEA-9DE0-A4F0D49794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8248955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081342-E866-2613-57B2-4FFC165D13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26E5998-F90D-EF08-EB76-D7F18B7B97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1E028F7-C83B-E31E-B8EC-BCB25DA9C8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C94BB6F-66E3-671F-FF9D-8328F559B8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8939574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310CF7-AA35-FAFC-50E2-5A8C3770EC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8EF460A-EDF7-0D25-E67C-0CAA74B51B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184467EC-37E1-F106-C925-B5E296707B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B47BEFB-7CDD-1C85-2CE4-0910AFE5A8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567802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5217F2-0B57-A9D5-C01A-B725A7789E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1CE50794-B558-9CE1-571B-B2E5F4D045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AE4D9A9-0636-B6A4-B3FB-E169825CAB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F981CA0-8433-39F8-05FA-4C974A7414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6143789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51A2E0-FB46-B836-021E-844BFB4B60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C9BAAF07-29DA-2F27-538F-9CEEDC6A2C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4009C58-40AA-03A7-58F2-2AC48C89D9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28B215D6-A640-03EC-F417-5684F34D93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60750076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1767E9-3E66-9237-36E1-4A0F667FD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AF524E4-8FB9-DF82-2967-E2851A6A29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584410B-248B-1071-C300-B38B9F6E0B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2D13451B-DE25-8C58-4DF5-F677A09D97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79539046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426BE6-F997-1CA6-3303-6C55160219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A36A60B-2369-71F7-2B59-00B3056075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AFCD7FD-0302-B9E7-E6C7-169D1D1458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31306875-CF96-FF47-32FF-0BDD0B2C40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7978615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D447BD-775A-0524-8020-12254EF082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AADBBE6-D81C-4F88-3769-24AAFAC749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013A5BA-9CCF-A318-AC4A-423F983A1B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D2CB914-93FB-41AF-66C7-77D2BA02D7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40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42175586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EBDB76-BE77-004C-6B56-CF264DB889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FF62AF2-8207-331E-51BF-9129C3AEEE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79C361FB-2CD0-FB52-11B0-452416DB36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80E04414-BB2D-EE24-BCCC-9390238E77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41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3545545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2E7496-CB14-316B-DDE1-2CC8720A83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CCBA1056-256A-8E1F-C8A1-1925785EF1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BB6406E-440F-97BB-AC0C-5CF3D2CBDA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31A03A08-AB90-351D-E492-FAF9704F0D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42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93344275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C5DEEE-D38E-6E5B-A46B-05A8F40A40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773ED0E8-0FD0-E511-5935-4DBBA836EC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EB6B244-B453-E918-02F4-6818123C45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2080C0FB-0932-6B55-C499-0FFF6028B6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43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45303956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B37B77-219A-C554-AE96-F655EB0FB4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CA506B48-92CB-64B7-BAB5-F6F678DFDE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1BD5F985-2532-FE24-1F87-CAFBB03D15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A717CBF-5BA0-8E30-4C28-E896E58F2A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44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74368228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47ACEF-7662-3572-6FF3-5FDA5CC7A5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61DCEF8-047A-86CB-ACE6-7166B440A9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3684A89-F8F8-C3ED-5A48-75E6297CE0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FDFBD8B-1D78-FE31-4731-495437C618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45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51098388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B0221E-6368-1C7D-9593-484248ACF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CD60B933-EE74-A667-09B1-66F8CCC1F8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7F52DF8-BCEA-CDA9-5237-324EF1EE40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A54C782-31C4-95EE-3CD4-D14A40A103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46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697398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F19B856-A0BC-D210-1737-D966320C0D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A33AAC6-2469-CA4A-EC71-9377AF26B7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4A0F87A-0C4B-6CED-A923-692979682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FA1D701-1F2B-F9DB-3467-1E702506B6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2D3A131-BC6D-009A-1316-11C0D511C7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224424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D43BFD2-F256-47DF-B808-ACC0E3CF5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6B715E3-1B62-B718-0545-18D1860ED1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B0F8541-A06F-A96B-9C7B-7B6775D69F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29E2F6F-2F51-FB58-B282-FF65529154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84CA48A-0835-7D5D-0C5C-4C7E737E17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8301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B57B632-00A4-041E-134C-3945EC5FF7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9E8B5D6A-FCFF-76AF-3B41-CBCC1C30CE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FA63B6D-65C2-A8BA-7A75-E7BFF8AEEE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B2149EC-9298-99F7-4DF2-9F89752611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9D0D51F-3496-83FE-F993-6F3C5B119C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654939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9630C98-DF9F-EDDF-13FE-19484E4CE2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7DBEED7-86EF-7D00-9D5B-35BED814DF9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8C4CFBCA-7118-0084-2BFD-AB37CB71E8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6D1CCABC-FE63-8FD2-5554-56984A3CC5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D78125A-07B7-CBA7-1A67-B800BA64CE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6673A3AF-1DE0-4AD3-272B-485CC6D87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433296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79E8815-ABA0-CB0F-583F-E97EB7B594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46E8AD69-3F40-C1E3-9580-6371DC13C5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A5D54DCD-A467-392C-7882-9A1F2699C5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91F29C69-1D15-E7B8-95EE-E358ABDD23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DDD9B3A3-CEB4-374A-3FA1-C3BD23A5E0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B9B6B5B5-5DE0-2665-4666-5A565F02F5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7272278B-CB99-E2F9-7531-401CE1BF31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D50092DA-D538-B982-0833-39924176B4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511932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C764F77-C07B-657B-DE18-927ED3DD6D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B1F6EABF-1DF7-2F1B-A964-4AFF92830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E9E70771-5A68-7380-1FAC-A7D89E013B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2358ABD1-E925-1590-6C8E-DFC75A7BF5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21185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4C0372F4-7179-777F-1E51-88AB1A64E5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F77D26EF-C956-F4CD-8145-1C415DFC6D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53EA769-C25E-4FD8-7E9E-E604C8529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173358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2FA3AA1-798F-3AA2-B6BB-62D9B38249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E8C13AA-9014-6117-7A37-A036F09F89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184FAC68-54B7-EFCE-9620-BC6F674196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1F950BCB-3838-1B1C-112C-A644060F9E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C8779FA-261C-A76B-DBC7-DB58B8C117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22B5AFCC-7631-7153-2CC4-B4689FB8C4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418124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DCE3E92-DCFD-D54F-EB9D-EF97B89816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DCA9DF57-38D6-FEBE-B65C-3AF4E429E9F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D117E586-D1EC-101C-F876-DEE5A2C81E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74655D0E-B1E7-844D-7A98-DA49B4EC7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DB538A87-1978-7251-4706-04805D27D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B8910AE-1487-27DE-EE72-B1B0DB5394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623384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6C4BC46-0BF2-E806-F16A-DB5D201D6D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69D14E5E-509B-F711-3B25-614C8C3BCE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281C6A8-9DA7-0C1F-372D-B2C9FD24F1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4AFE38E9-C9A5-2C3E-744D-E323F97B15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7FD1C984-499C-C6BA-9715-0B7BEAC9BD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302431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CF40F235-1569-6ED0-A5F0-7DA4324528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F3DB6C81-CE19-AE0C-8D05-2FBC656790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AD43C4D-693E-5D37-DE0F-919B77DEF7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1D2A9D6-4B21-E9D7-968B-F18C64697E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4010A06-B61B-8C4F-3894-CA75C019DA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8048666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9325751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7835867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3557266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336811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174895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9932880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6799824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67503" cy="320040"/>
          </a:xfrm>
        </p:spPr>
        <p:txBody>
          <a:bodyPr/>
          <a:lstStyle>
            <a:lvl1pPr>
              <a:defRPr>
                <a:solidFill>
                  <a:srgbClr val="FFFFFF">
                    <a:alpha val="69804"/>
                  </a:srgbClr>
                </a:solidFill>
              </a:defRPr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0805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tx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90000"/>
                  </a:srgbClr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A87E3B6E-8316-4A1C-BADA-DB7F3456EEF1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8523" y="6236208"/>
            <a:ext cx="5103729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1254498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9499872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399451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229C4ED7-C003-33C2-9CEB-2E97503196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4730AEA1-DE82-52D0-65A9-766B9E2D2F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12E4FEE-859A-D6B3-CF41-EDFF0B1CDE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7E3B6E-8316-4A1C-BADA-DB7F3456EEF1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519F3FAC-49A4-4E94-C84A-41786DC2CE9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5435549-C584-1997-7B0B-6DC079118A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669499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chemeClr val="bg1"/>
          </a:solidFill>
          <a:ln w="31750" cap="sq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A87E3B6E-8316-4A1C-BADA-DB7F3456EEF1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389191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6" Type="http://schemas.microsoft.com/office/2007/relationships/hdphoto" Target="../media/hdphoto1.wdp"/><Relationship Id="rId5" Type="http://schemas.openxmlformats.org/officeDocument/2006/relationships/image" Target="../media/image19.png"/><Relationship Id="rId4" Type="http://schemas.openxmlformats.org/officeDocument/2006/relationships/image" Target="../media/image18.gif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FF0EC1-7C1D-9280-1B58-3F6A425D4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5040E75-1356-94B7-0421-DEF54212507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524919"/>
            <a:ext cx="12192000" cy="1808162"/>
          </a:xfrm>
          <a:ln>
            <a:noFill/>
          </a:ln>
        </p:spPr>
        <p:txBody>
          <a:bodyPr/>
          <a:lstStyle/>
          <a:p>
            <a:r>
              <a:rPr lang="pt-BR" dirty="0">
                <a:solidFill>
                  <a:schemeClr val="bg1"/>
                </a:solidFill>
              </a:rPr>
              <a:t>Plano de ensino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1B096D7-64D7-8FC4-9F80-6A40ADEAC6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95192" y="5207000"/>
            <a:ext cx="6801612" cy="1651000"/>
          </a:xfrm>
        </p:spPr>
        <p:txBody>
          <a:bodyPr/>
          <a:lstStyle/>
          <a:p>
            <a:r>
              <a:rPr lang="pt-BR" dirty="0"/>
              <a:t>Universidade de Uberaba</a:t>
            </a:r>
          </a:p>
          <a:p>
            <a:r>
              <a:rPr lang="pt-BR" dirty="0"/>
              <a:t>Marcio Salmazo Ramos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F6019B48-999B-D892-EAC1-867ADFDE66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7048" y="447153"/>
            <a:ext cx="3517900" cy="972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504052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5B1F24-3A37-BE5E-87E6-8DFD228F40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20E9C820-C403-81DA-4458-0F826AB9D6E5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7DBEF96-5BB9-10F9-BA9C-FDE0A19F6F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Sistema de avaliação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B6D3F682-1904-6B9C-FB31-DC217F584E4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56728EE4-B88D-A8C9-80CD-CA18D0C7F3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60860" y="2245646"/>
            <a:ext cx="8670280" cy="3657600"/>
          </a:xfrm>
        </p:spPr>
        <p:txBody>
          <a:bodyPr/>
          <a:lstStyle/>
          <a:p>
            <a:r>
              <a:rPr lang="pt-BR" sz="2400" dirty="0"/>
              <a:t>Pontuação semestral total do componente curricular, no valor de 100 (cem pontos).</a:t>
            </a:r>
          </a:p>
          <a:p>
            <a:endParaRPr lang="pt-BR" sz="2400" dirty="0"/>
          </a:p>
          <a:p>
            <a:r>
              <a:rPr lang="pt-BR" sz="2400" dirty="0"/>
              <a:t>Pontuação necessária para aprovação: 60% (sessenta por cento) da pontuação semestral do componente.</a:t>
            </a:r>
          </a:p>
          <a:p>
            <a:endParaRPr lang="pt-BR" sz="2400" dirty="0"/>
          </a:p>
          <a:p>
            <a:r>
              <a:rPr lang="pt-BR" sz="2400" dirty="0"/>
              <a:t>Frequência necessária para aprovação: 75% (setenta e cinco por cento) no componente curricular.</a:t>
            </a:r>
          </a:p>
          <a:p>
            <a:endParaRPr lang="pt-BR" sz="2400" dirty="0"/>
          </a:p>
          <a:p>
            <a:endParaRPr lang="pt-BR" sz="2400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3955292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DC6F12-CB60-EC12-334D-A843F4105E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3522B2D8-67D3-186B-9646-B4F2E93DCAD4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F627AF45-4965-F2EA-4785-9BD925E69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Distribuição de Notas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F1C6C694-907B-4090-64BD-AEE83CCF19C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7EBA44CF-0249-2FC7-5D35-8CE4AAB5D1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86540" y="1804575"/>
            <a:ext cx="8670280" cy="4746632"/>
          </a:xfrm>
        </p:spPr>
        <p:txBody>
          <a:bodyPr/>
          <a:lstStyle/>
          <a:p>
            <a:r>
              <a:rPr lang="pt-BR" sz="2400" dirty="0"/>
              <a:t>Atividades Complementares 1 – </a:t>
            </a:r>
            <a:r>
              <a:rPr lang="pt-BR" sz="2400" b="1" dirty="0"/>
              <a:t>5pts</a:t>
            </a:r>
          </a:p>
          <a:p>
            <a:r>
              <a:rPr lang="pt-BR" sz="2400" dirty="0" err="1"/>
              <a:t>Uniube</a:t>
            </a:r>
            <a:r>
              <a:rPr lang="pt-BR" sz="2400" dirty="0"/>
              <a:t>+ – </a:t>
            </a:r>
            <a:r>
              <a:rPr lang="pt-BR" sz="2400" b="1" dirty="0"/>
              <a:t>5pts</a:t>
            </a:r>
            <a:endParaRPr lang="pt-BR" sz="2400" dirty="0"/>
          </a:p>
          <a:p>
            <a:r>
              <a:rPr lang="pt-BR" sz="2400" dirty="0"/>
              <a:t>Avaliação 1 – </a:t>
            </a:r>
            <a:r>
              <a:rPr lang="pt-BR" sz="2400" b="1" dirty="0"/>
              <a:t>25pts</a:t>
            </a:r>
            <a:r>
              <a:rPr lang="pt-BR" sz="2400" dirty="0"/>
              <a:t> – Data prevista: </a:t>
            </a:r>
          </a:p>
          <a:p>
            <a:pPr marL="0" indent="0">
              <a:buNone/>
            </a:pPr>
            <a:endParaRPr lang="pt-BR" sz="2400" dirty="0"/>
          </a:p>
          <a:p>
            <a:r>
              <a:rPr lang="pt-BR" sz="2400" dirty="0"/>
              <a:t>Atividades Complementares 2 – </a:t>
            </a:r>
            <a:r>
              <a:rPr lang="pt-BR" sz="2400" b="1" dirty="0"/>
              <a:t>10pts</a:t>
            </a:r>
          </a:p>
          <a:p>
            <a:r>
              <a:rPr lang="pt-BR" sz="2400" dirty="0" err="1"/>
              <a:t>Uniube</a:t>
            </a:r>
            <a:r>
              <a:rPr lang="pt-BR" sz="2400" dirty="0"/>
              <a:t>+ – </a:t>
            </a:r>
            <a:r>
              <a:rPr lang="pt-BR" sz="2400" b="1" dirty="0"/>
              <a:t>10pts</a:t>
            </a:r>
            <a:endParaRPr lang="pt-BR" sz="2400" dirty="0"/>
          </a:p>
          <a:p>
            <a:r>
              <a:rPr lang="pt-BR" sz="2400" dirty="0"/>
              <a:t>Avaliação 2 – </a:t>
            </a:r>
            <a:r>
              <a:rPr lang="pt-BR" sz="2400" b="1" dirty="0"/>
              <a:t>30pts</a:t>
            </a:r>
            <a:r>
              <a:rPr lang="pt-BR" sz="2400" dirty="0"/>
              <a:t> – Data prevista: </a:t>
            </a:r>
          </a:p>
          <a:p>
            <a:endParaRPr lang="pt-BR" sz="2400" dirty="0"/>
          </a:p>
          <a:p>
            <a:r>
              <a:rPr lang="pt-BR" sz="2400" dirty="0"/>
              <a:t>Avaliação Institucional – </a:t>
            </a:r>
            <a:r>
              <a:rPr lang="pt-BR" sz="2400" b="1" dirty="0"/>
              <a:t>15pts</a:t>
            </a:r>
            <a:endParaRPr lang="pt-BR" sz="2400" dirty="0"/>
          </a:p>
          <a:p>
            <a:r>
              <a:rPr lang="pt-BR" sz="2400" dirty="0"/>
              <a:t>Soma total de pontos: </a:t>
            </a:r>
            <a:r>
              <a:rPr lang="pt-BR" sz="2400" b="1" dirty="0"/>
              <a:t>100pts</a:t>
            </a:r>
            <a:endParaRPr lang="pt-BR" sz="2400" dirty="0"/>
          </a:p>
          <a:p>
            <a:endParaRPr lang="pt-BR" sz="2400" dirty="0"/>
          </a:p>
          <a:p>
            <a:endParaRPr lang="pt-BR" sz="2400" dirty="0"/>
          </a:p>
          <a:p>
            <a:endParaRPr lang="pt-BR" sz="2400" dirty="0"/>
          </a:p>
          <a:p>
            <a:endParaRPr lang="pt-BR" dirty="0"/>
          </a:p>
        </p:txBody>
      </p:sp>
      <p:pic>
        <p:nvPicPr>
          <p:cNvPr id="1026" name="Picture 2" descr="Teste - ícones de educação grátis">
            <a:extLst>
              <a:ext uri="{FF2B5EF4-FFF2-40B4-BE49-F238E27FC236}">
                <a16:creationId xmlns:a16="http://schemas.microsoft.com/office/drawing/2014/main" id="{5C4BB763-0221-5AB3-8665-67367B488F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5126" y="2518544"/>
            <a:ext cx="3150736" cy="31507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304515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98EFC3-284D-D3E8-E50A-9E8782F149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B1CC91A5-617B-F614-3886-EF59D2171B4E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778D71A-5EF8-AADA-8ACC-9C2D89EE52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Bibliografia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ED9276FC-2835-8FCA-9E06-6FEFA248BD6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E0EE607F-D9F4-7951-D428-ABA18E81EE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86540" y="1804575"/>
            <a:ext cx="9297574" cy="4746632"/>
          </a:xfrm>
        </p:spPr>
        <p:txBody>
          <a:bodyPr/>
          <a:lstStyle/>
          <a:p>
            <a:r>
              <a:rPr lang="pt-BR" sz="2400" b="1" dirty="0"/>
              <a:t>Básica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Matemática Discreta para Computação e Informática – PAULO MENEZES</a:t>
            </a:r>
          </a:p>
          <a:p>
            <a:pPr lvl="1"/>
            <a:r>
              <a:rPr lang="pt-BR" sz="2200" dirty="0"/>
              <a:t>Matemática Discreta – THAMARA PETROLI</a:t>
            </a:r>
          </a:p>
          <a:p>
            <a:pPr lvl="1"/>
            <a:r>
              <a:rPr lang="pt-BR" sz="2200" dirty="0"/>
              <a:t>Matemática discreta para ciência da computação – CLIFFORD STEIN</a:t>
            </a:r>
          </a:p>
          <a:p>
            <a:pPr lvl="1"/>
            <a:endParaRPr lang="pt-BR" sz="2400" dirty="0"/>
          </a:p>
          <a:p>
            <a:r>
              <a:rPr lang="pt-BR" sz="2400" b="1" dirty="0"/>
              <a:t>Complementar</a:t>
            </a:r>
          </a:p>
          <a:p>
            <a:pPr lvl="1"/>
            <a:endParaRPr lang="pt-BR" sz="2000" dirty="0"/>
          </a:p>
          <a:p>
            <a:pPr lvl="1"/>
            <a:r>
              <a:rPr lang="pt-BR" sz="2200" dirty="0" err="1"/>
              <a:t>Discrete</a:t>
            </a:r>
            <a:r>
              <a:rPr lang="pt-BR" sz="2200" dirty="0"/>
              <a:t> </a:t>
            </a:r>
            <a:r>
              <a:rPr lang="pt-BR" sz="2200" dirty="0" err="1"/>
              <a:t>Mathematics</a:t>
            </a:r>
            <a:r>
              <a:rPr lang="pt-BR" sz="2200" dirty="0"/>
              <a:t> </a:t>
            </a:r>
            <a:r>
              <a:rPr lang="pt-BR" sz="2200" dirty="0" err="1"/>
              <a:t>Applications</a:t>
            </a:r>
            <a:r>
              <a:rPr lang="pt-BR" sz="2200" dirty="0"/>
              <a:t> – KENNETH ROSEN </a:t>
            </a:r>
          </a:p>
          <a:p>
            <a:endParaRPr lang="pt-BR" sz="2400" dirty="0"/>
          </a:p>
          <a:p>
            <a:endParaRPr lang="pt-BR" sz="2400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9949786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2E9326E-3499-D287-DA5A-8AED2AD3A4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524919"/>
            <a:ext cx="12192000" cy="1808162"/>
          </a:xfrm>
          <a:ln>
            <a:noFill/>
          </a:ln>
        </p:spPr>
        <p:txBody>
          <a:bodyPr/>
          <a:lstStyle/>
          <a:p>
            <a:r>
              <a:rPr lang="pt-BR" dirty="0">
                <a:solidFill>
                  <a:schemeClr val="bg1"/>
                </a:solidFill>
              </a:rPr>
              <a:t>módulo 1 – FUNDAMENTOS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7F2C7C20-5716-4992-8451-F28A3F0EB9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95192" y="5207000"/>
            <a:ext cx="6801612" cy="1651000"/>
          </a:xfrm>
        </p:spPr>
        <p:txBody>
          <a:bodyPr/>
          <a:lstStyle/>
          <a:p>
            <a:r>
              <a:rPr lang="pt-BR" dirty="0"/>
              <a:t>Universidade de Uberaba</a:t>
            </a:r>
          </a:p>
          <a:p>
            <a:r>
              <a:rPr lang="pt-BR" dirty="0"/>
              <a:t>Marcio Salmazo Ramos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739C2285-BBDC-FB8D-BB73-A95AC19BC9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7048" y="447153"/>
            <a:ext cx="3517900" cy="972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214624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6FA0AB-B6BF-1078-48E7-31A7A94C7C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F72A9863-C44E-59E3-6D4E-C74532B7198A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71F50B4-E98F-7B26-F350-55B8C70440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FUNDAMENTOS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6E42C9DB-BA22-8397-1845-97690041022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15ABAA58-8440-05F4-7082-815BD4AFED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2651" y="2273968"/>
            <a:ext cx="8205537" cy="4238038"/>
          </a:xfrm>
        </p:spPr>
        <p:txBody>
          <a:bodyPr/>
          <a:lstStyle/>
          <a:p>
            <a:r>
              <a:rPr lang="pt-BR" sz="2400" dirty="0"/>
              <a:t>A matemática pode ser dividida, de maneira bastante simplificada, em dois grandes mundos:</a:t>
            </a:r>
          </a:p>
          <a:p>
            <a:pPr lvl="1"/>
            <a:endParaRPr lang="pt-BR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b="1" dirty="0"/>
              <a:t>Matemática Contínua </a:t>
            </a:r>
            <a:r>
              <a:rPr lang="pt-B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trabalha com quantidades que podem assumir infinitos valores.</a:t>
            </a:r>
            <a:endParaRPr lang="pt-BR" dirty="0"/>
          </a:p>
          <a:p>
            <a:pPr lvl="1">
              <a:buFont typeface="Courier New" panose="02070309020205020404" pitchFamily="49" charset="0"/>
              <a:buChar char="o"/>
            </a:pPr>
            <a:endParaRPr lang="pt-BR" b="1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b="1" dirty="0"/>
              <a:t>Matemática Discreta </a:t>
            </a:r>
            <a:r>
              <a:rPr lang="pt-B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</a:t>
            </a:r>
            <a:r>
              <a:rPr lang="pt-BR" dirty="0"/>
              <a:t>A matemática discreta estuda estruturas de elementos distintos, contáveis e separados.</a:t>
            </a:r>
            <a:endParaRPr lang="pt-BR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Tabela 2">
                <a:extLst>
                  <a:ext uri="{FF2B5EF4-FFF2-40B4-BE49-F238E27FC236}">
                    <a16:creationId xmlns:a16="http://schemas.microsoft.com/office/drawing/2014/main" id="{2BD01C2F-4DEC-D198-7B56-365635F15B2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100333362"/>
                  </p:ext>
                </p:extLst>
              </p:nvPr>
            </p:nvGraphicFramePr>
            <p:xfrm>
              <a:off x="8588188" y="2009274"/>
              <a:ext cx="3320718" cy="404275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660359">
                      <a:extLst>
                        <a:ext uri="{9D8B030D-6E8A-4147-A177-3AD203B41FA5}">
                          <a16:colId xmlns:a16="http://schemas.microsoft.com/office/drawing/2014/main" val="331691076"/>
                        </a:ext>
                      </a:extLst>
                    </a:gridCol>
                    <a:gridCol w="1660359">
                      <a:extLst>
                        <a:ext uri="{9D8B030D-6E8A-4147-A177-3AD203B41FA5}">
                          <a16:colId xmlns:a16="http://schemas.microsoft.com/office/drawing/2014/main" val="2078216182"/>
                        </a:ext>
                      </a:extLst>
                    </a:gridCol>
                  </a:tblGrid>
                  <a:tr h="4734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Contínuo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Discreto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56956785"/>
                      </a:ext>
                    </a:extLst>
                  </a:tr>
                  <a:tr h="4734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18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17655863"/>
                      </a:ext>
                    </a:extLst>
                  </a:tr>
                  <a:tr h="4734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1.1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19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05554692"/>
                      </a:ext>
                    </a:extLst>
                  </a:tr>
                  <a:tr h="4734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1.10001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20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95354482"/>
                      </a:ext>
                    </a:extLst>
                  </a:tr>
                  <a:tr h="508213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ad>
                                  <m:radPr>
                                    <m:degHide m:val="on"/>
                                    <m:ctrlPr>
                                      <a:rPr lang="pt-BR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</m:rad>
                              </m:oMath>
                            </m:oMathPara>
                          </a14:m>
                          <a:endParaRPr lang="pt-B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21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16934229"/>
                      </a:ext>
                    </a:extLst>
                  </a:tr>
                  <a:tr h="4734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...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...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37693217"/>
                      </a:ext>
                    </a:extLst>
                  </a:tr>
                  <a:tr h="116737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Nunca existe um "próximo número"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Espaçamento bem definido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1777868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Tabela 2">
                <a:extLst>
                  <a:ext uri="{FF2B5EF4-FFF2-40B4-BE49-F238E27FC236}">
                    <a16:creationId xmlns:a16="http://schemas.microsoft.com/office/drawing/2014/main" id="{2BD01C2F-4DEC-D198-7B56-365635F15B2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100333362"/>
                  </p:ext>
                </p:extLst>
              </p:nvPr>
            </p:nvGraphicFramePr>
            <p:xfrm>
              <a:off x="8588188" y="2009274"/>
              <a:ext cx="3320718" cy="404275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660359">
                      <a:extLst>
                        <a:ext uri="{9D8B030D-6E8A-4147-A177-3AD203B41FA5}">
                          <a16:colId xmlns:a16="http://schemas.microsoft.com/office/drawing/2014/main" val="331691076"/>
                        </a:ext>
                      </a:extLst>
                    </a:gridCol>
                    <a:gridCol w="1660359">
                      <a:extLst>
                        <a:ext uri="{9D8B030D-6E8A-4147-A177-3AD203B41FA5}">
                          <a16:colId xmlns:a16="http://schemas.microsoft.com/office/drawing/2014/main" val="2078216182"/>
                        </a:ext>
                      </a:extLst>
                    </a:gridCol>
                  </a:tblGrid>
                  <a:tr h="4734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Contínuo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Discreto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56956785"/>
                      </a:ext>
                    </a:extLst>
                  </a:tr>
                  <a:tr h="4734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18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17655863"/>
                      </a:ext>
                    </a:extLst>
                  </a:tr>
                  <a:tr h="4734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1.1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19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05554692"/>
                      </a:ext>
                    </a:extLst>
                  </a:tr>
                  <a:tr h="4734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1.10001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20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95354482"/>
                      </a:ext>
                    </a:extLst>
                  </a:tr>
                  <a:tr h="508213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>
                        <a:blipFill>
                          <a:blip r:embed="rId3"/>
                          <a:stretch>
                            <a:fillRect l="-366" t="-376190" r="-101465" b="-32261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21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16934229"/>
                      </a:ext>
                    </a:extLst>
                  </a:tr>
                  <a:tr h="4734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...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...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37693217"/>
                      </a:ext>
                    </a:extLst>
                  </a:tr>
                  <a:tr h="116737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Nunca existe um "próximo número"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Espaçamento bem definido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17778685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925374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5F166F-C9E2-A0F7-8B69-2DFD7AF209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D10A4968-8F43-8111-9A2B-C013EF692181}"/>
              </a:ext>
            </a:extLst>
          </p:cNvPr>
          <p:cNvSpPr/>
          <p:nvPr/>
        </p:nvSpPr>
        <p:spPr>
          <a:xfrm>
            <a:off x="0" y="2237874"/>
            <a:ext cx="12192000" cy="2442409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50D58C5-6689-1EB8-F2A3-2420C75434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2816" y="2766218"/>
            <a:ext cx="10046368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Por que o computador precisa da Matemática Discreta?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B1E1CA40-1AD7-E800-2F32-9444868881D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168790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B5656D-50CC-9A39-33E0-DEA2D2B974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5AC286B9-ED2B-7504-F944-203C79BB740D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0E16854-B825-253D-B3DB-A2FEB79018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DISCRETIZAÇÃO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99894E25-0727-156F-541B-6EDCB87D70D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00D20FCB-5378-CA36-2DFF-541F35FC07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40831" y="2117558"/>
            <a:ext cx="8205537" cy="4238038"/>
          </a:xfrm>
        </p:spPr>
        <p:txBody>
          <a:bodyPr/>
          <a:lstStyle/>
          <a:p>
            <a:r>
              <a:rPr lang="pt-BR" sz="2400" dirty="0"/>
              <a:t>Para o computador, toda informação é convertida em uma sequência finita de símbolos: os </a:t>
            </a:r>
            <a:r>
              <a:rPr lang="pt-BR" sz="2400" b="1" dirty="0"/>
              <a:t>bits</a:t>
            </a:r>
            <a:r>
              <a:rPr lang="pt-BR" sz="2400" dirty="0"/>
              <a:t>.</a:t>
            </a:r>
          </a:p>
          <a:p>
            <a:endParaRPr lang="pt-BR" sz="24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Um bit possui apenas dois estados: 0 (False) e 1 (</a:t>
            </a:r>
            <a:r>
              <a:rPr lang="pt-BR" sz="2200" dirty="0" err="1"/>
              <a:t>True</a:t>
            </a:r>
            <a:r>
              <a:rPr lang="pt-BR" sz="2200" dirty="0"/>
              <a:t>).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2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O computador nunca trabalha diretamente com infinitas possibilidades. Sempre existe um estado definido.</a:t>
            </a:r>
          </a:p>
          <a:p>
            <a:pPr lvl="1"/>
            <a:endParaRPr lang="pt-BR" sz="2200" dirty="0"/>
          </a:p>
          <a:p>
            <a:pPr marL="457200" lvl="1" indent="0">
              <a:buNone/>
            </a:pPr>
            <a:r>
              <a:rPr lang="pt-BR" sz="2200" dirty="0"/>
              <a:t>                                 </a:t>
            </a:r>
          </a:p>
          <a:p>
            <a:pPr marL="457200" lvl="1" indent="0">
              <a:buNone/>
            </a:pPr>
            <a:r>
              <a:rPr lang="pt-BR" sz="2200" dirty="0"/>
              <a:t>			</a:t>
            </a:r>
            <a:r>
              <a:rPr lang="pt-BR" sz="2200" b="1" dirty="0"/>
              <a:t>Valores Discretos</a:t>
            </a:r>
          </a:p>
        </p:txBody>
      </p:sp>
      <p:cxnSp>
        <p:nvCxnSpPr>
          <p:cNvPr id="7" name="Conector de Seta Reta 6">
            <a:extLst>
              <a:ext uri="{FF2B5EF4-FFF2-40B4-BE49-F238E27FC236}">
                <a16:creationId xmlns:a16="http://schemas.microsoft.com/office/drawing/2014/main" id="{5823A34D-A7A4-CFFA-E569-4AE4A6762734}"/>
              </a:ext>
            </a:extLst>
          </p:cNvPr>
          <p:cNvCxnSpPr>
            <a:cxnSpLocks/>
          </p:cNvCxnSpPr>
          <p:nvPr/>
        </p:nvCxnSpPr>
        <p:spPr>
          <a:xfrm>
            <a:off x="5582652" y="4812632"/>
            <a:ext cx="0" cy="541567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284688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FC8E4-E2A1-0655-3F3E-A9A57FDCBC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DBCD2E4D-91A2-C7C4-AC1C-0BBD252111BC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2D3FC0DB-0E89-3E1A-9ED9-8F5D6828D5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DISCRETIZAÇÃO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5E11B0B7-D903-67FB-2737-1C90367E8C0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014DA70A-505E-D958-5257-7CFC4814AF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81607" y="2057400"/>
            <a:ext cx="8205537" cy="4238038"/>
          </a:xfrm>
        </p:spPr>
        <p:txBody>
          <a:bodyPr>
            <a:normAutofit/>
          </a:bodyPr>
          <a:lstStyle/>
          <a:p>
            <a:r>
              <a:rPr lang="pt-BR" sz="2400" dirty="0"/>
              <a:t>Uma das maiores dificuldades da computação é a representação discreta do mundo contínuo</a:t>
            </a:r>
          </a:p>
          <a:p>
            <a:pPr lvl="1"/>
            <a:endParaRPr lang="pt-BR" sz="2200" b="1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O mundo real é contínuo.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Sempre existe uma etapa chamada digitalização.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Representações contínuas passam a ser discretas.</a:t>
            </a:r>
          </a:p>
          <a:p>
            <a:pPr lvl="1"/>
            <a:endParaRPr lang="pt-BR" sz="2200" b="1" dirty="0"/>
          </a:p>
          <a:p>
            <a:r>
              <a:rPr lang="pt-BR" sz="2400" dirty="0"/>
              <a:t>Enquanto o Cálculo ajuda a descrever a natureza, a Matemática Discreta ajuda a descrever a computação.</a:t>
            </a:r>
            <a:endParaRPr lang="pt-BR" sz="2600" b="1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5BE92C72-08BF-D921-17EC-281A9291E39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62353" y="2899611"/>
            <a:ext cx="3973471" cy="38151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16423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8A4A24-B4DC-17E3-A285-0359F555D3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tângulo 2">
            <a:extLst>
              <a:ext uri="{FF2B5EF4-FFF2-40B4-BE49-F238E27FC236}">
                <a16:creationId xmlns:a16="http://schemas.microsoft.com/office/drawing/2014/main" id="{562838FE-9332-7039-AF6A-4D5F6CE1C1CF}"/>
              </a:ext>
            </a:extLst>
          </p:cNvPr>
          <p:cNvSpPr/>
          <p:nvPr/>
        </p:nvSpPr>
        <p:spPr>
          <a:xfrm>
            <a:off x="0" y="2237874"/>
            <a:ext cx="12192000" cy="2442409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08E967E-9BBB-8858-C15D-73E779C6D7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766218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Apenas discretizar é suficiente?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BA400DA5-629A-CF89-34F6-E081B84A3A7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845605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65C1AE-5895-8948-3B5C-74D9783C79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0F5F3972-1742-4B13-17E7-D5D33B780BC2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88367AD-A96D-BB39-44EB-1ED44F1E5F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DISCRETIZAÇÃO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076DBA94-A866-43FF-33E3-1C337900783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BA9575A2-1CA8-7BA7-1EFF-DCDBA83C39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93231" y="2069432"/>
            <a:ext cx="8205537" cy="4238038"/>
          </a:xfrm>
        </p:spPr>
        <p:txBody>
          <a:bodyPr>
            <a:normAutofit/>
          </a:bodyPr>
          <a:lstStyle/>
          <a:p>
            <a:r>
              <a:rPr lang="pt-BR" sz="2400" dirty="0"/>
              <a:t>Além de representar informações, o computador também precisa </a:t>
            </a:r>
            <a:r>
              <a:rPr lang="pt-BR" sz="2400" b="1" dirty="0"/>
              <a:t>tomar decisões:</a:t>
            </a:r>
          </a:p>
          <a:p>
            <a:pPr lvl="1"/>
            <a:endParaRPr lang="pt-BR" sz="2200" b="1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Comparar números;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Decidir caminhos;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Executar comandos;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Escolher ações.</a:t>
            </a:r>
          </a:p>
          <a:p>
            <a:pPr lvl="1"/>
            <a:endParaRPr lang="pt-BR" sz="2200" dirty="0"/>
          </a:p>
          <a:p>
            <a:r>
              <a:rPr lang="pt-BR" sz="2400" b="1" i="1" dirty="0"/>
              <a:t>“Toda decisão vem de uma pergunta”</a:t>
            </a:r>
            <a:endParaRPr lang="pt-BR" sz="2600" b="1" i="1" dirty="0"/>
          </a:p>
        </p:txBody>
      </p:sp>
    </p:spTree>
    <p:extLst>
      <p:ext uri="{BB962C8B-B14F-4D97-AF65-F5344CB8AC3E}">
        <p14:creationId xmlns:p14="http://schemas.microsoft.com/office/powerpoint/2010/main" val="16790624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6A4990-7299-21B4-2B2A-3BB201BE4B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7DC39916-A0D9-F524-699B-DE3F1C1C8AD9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29BB24D-0EA0-311A-F746-3E8408C3ED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DISCRETIZAÇÃO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1305741B-3085-BF17-0308-A1BC1C68655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4AB8D96F-A20C-1F8B-EA6A-1D7A4988A7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81607" y="2057400"/>
            <a:ext cx="5061993" cy="4238038"/>
          </a:xfrm>
        </p:spPr>
        <p:txBody>
          <a:bodyPr>
            <a:normAutofit/>
          </a:bodyPr>
          <a:lstStyle/>
          <a:p>
            <a:r>
              <a:rPr lang="pt-BR" sz="2400" dirty="0"/>
              <a:t>Exemplos: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O usuário digitou a senha correta?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A temperatura passou de 40°C?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Existe conexão com a internet?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O arquivo foi encontrado?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O saldo é suficiente?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Um produto está disponível?</a:t>
            </a:r>
          </a:p>
          <a:p>
            <a:pPr lvl="1"/>
            <a:endParaRPr lang="pt-BR" dirty="0"/>
          </a:p>
          <a:p>
            <a:pPr marL="457200" lvl="1" indent="0">
              <a:buNone/>
            </a:pPr>
            <a:endParaRPr lang="pt-BR" sz="2200" dirty="0"/>
          </a:p>
        </p:txBody>
      </p:sp>
      <p:cxnSp>
        <p:nvCxnSpPr>
          <p:cNvPr id="4" name="Conector de Seta Reta 3">
            <a:extLst>
              <a:ext uri="{FF2B5EF4-FFF2-40B4-BE49-F238E27FC236}">
                <a16:creationId xmlns:a16="http://schemas.microsoft.com/office/drawing/2014/main" id="{8838BEB0-F0D3-9B37-5DA7-071A390DB8BA}"/>
              </a:ext>
            </a:extLst>
          </p:cNvPr>
          <p:cNvCxnSpPr/>
          <p:nvPr/>
        </p:nvCxnSpPr>
        <p:spPr>
          <a:xfrm>
            <a:off x="5763127" y="3994484"/>
            <a:ext cx="1756610" cy="0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tângulo 7">
            <a:extLst>
              <a:ext uri="{FF2B5EF4-FFF2-40B4-BE49-F238E27FC236}">
                <a16:creationId xmlns:a16="http://schemas.microsoft.com/office/drawing/2014/main" id="{266F7A6E-032B-C5BA-E879-E3D308EA1A1D}"/>
              </a:ext>
            </a:extLst>
          </p:cNvPr>
          <p:cNvSpPr/>
          <p:nvPr/>
        </p:nvSpPr>
        <p:spPr>
          <a:xfrm>
            <a:off x="8037096" y="3272594"/>
            <a:ext cx="2562726" cy="1443779"/>
          </a:xfrm>
          <a:prstGeom prst="rect">
            <a:avLst/>
          </a:prstGeom>
          <a:solidFill>
            <a:srgbClr val="63A53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2000" dirty="0"/>
              <a:t>Todas as frases podem ser respondidas com “sim” ou “não”</a:t>
            </a:r>
          </a:p>
        </p:txBody>
      </p:sp>
    </p:spTree>
    <p:extLst>
      <p:ext uri="{BB962C8B-B14F-4D97-AF65-F5344CB8AC3E}">
        <p14:creationId xmlns:p14="http://schemas.microsoft.com/office/powerpoint/2010/main" val="761680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986375-2D0B-2ABB-D48B-9C8F2F7E3A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B998875-F739-2FA6-9F81-40FDD442E2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524919"/>
            <a:ext cx="12192000" cy="1808162"/>
          </a:xfrm>
          <a:ln>
            <a:noFill/>
          </a:ln>
        </p:spPr>
        <p:txBody>
          <a:bodyPr/>
          <a:lstStyle/>
          <a:p>
            <a:r>
              <a:rPr lang="pt-BR" dirty="0">
                <a:solidFill>
                  <a:schemeClr val="bg1"/>
                </a:solidFill>
              </a:rPr>
              <a:t>módulo 2 – lógica proposicional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0088D88-CBAE-E40F-9998-A2394A5725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95192" y="5207000"/>
            <a:ext cx="6801612" cy="1651000"/>
          </a:xfrm>
        </p:spPr>
        <p:txBody>
          <a:bodyPr/>
          <a:lstStyle/>
          <a:p>
            <a:r>
              <a:rPr lang="pt-BR" dirty="0"/>
              <a:t>Universidade de Uberaba</a:t>
            </a:r>
          </a:p>
          <a:p>
            <a:r>
              <a:rPr lang="pt-BR" dirty="0"/>
              <a:t>Marcio Salmazo Ramos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B1D5A329-EEFA-F49E-64A4-A357C32FDA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7048" y="447153"/>
            <a:ext cx="3517900" cy="972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061555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65BB9C-4087-947E-27DA-94FC221780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D75C44D5-97DB-9777-F7B5-AD7888ADE02D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65B6A33-9563-8862-9670-1AEEB83AA1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LÓGICA PROPOSICIONAL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FF498CC5-E8B7-B831-C3D4-68C95338D9B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47F1F8F7-3557-A6AC-CA09-C94294A7E4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1103" y="2153652"/>
            <a:ext cx="9049793" cy="4238038"/>
          </a:xfrm>
        </p:spPr>
        <p:txBody>
          <a:bodyPr>
            <a:normAutofit/>
          </a:bodyPr>
          <a:lstStyle/>
          <a:p>
            <a:r>
              <a:rPr lang="pt-BR" sz="2400" dirty="0"/>
              <a:t>Se o computador toma decisões o tempo inteiro, é necessário uma matemática capaz de estudar </a:t>
            </a:r>
            <a:r>
              <a:rPr lang="pt-BR" sz="2400" b="1" dirty="0"/>
              <a:t>decisões</a:t>
            </a:r>
            <a:r>
              <a:rPr lang="pt-BR" sz="2400" dirty="0"/>
              <a:t>.</a:t>
            </a:r>
          </a:p>
          <a:p>
            <a:endParaRPr lang="pt-BR" sz="2400" dirty="0"/>
          </a:p>
          <a:p>
            <a:r>
              <a:rPr lang="pt-BR" sz="2400" dirty="0"/>
              <a:t>Essa matemática é a </a:t>
            </a:r>
            <a:r>
              <a:rPr lang="pt-BR" sz="2400" b="1" dirty="0"/>
              <a:t>lógica: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200" b="1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Ela não estuda números, mas sim, afirmações.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O raciocínio estruturado por meio de </a:t>
            </a:r>
            <a:r>
              <a:rPr lang="pt-BR" sz="2200" b="1" i="1" dirty="0"/>
              <a:t>proposições</a:t>
            </a:r>
            <a:r>
              <a:rPr lang="pt-BR" sz="2200" dirty="0"/>
              <a:t>, </a:t>
            </a:r>
            <a:r>
              <a:rPr lang="pt-BR" sz="2200" b="1" i="1" dirty="0"/>
              <a:t>conectivos lógicos </a:t>
            </a:r>
            <a:r>
              <a:rPr lang="pt-BR" sz="2200" dirty="0"/>
              <a:t>e </a:t>
            </a:r>
            <a:r>
              <a:rPr lang="pt-BR" sz="2200" b="1" i="1" dirty="0"/>
              <a:t>regras de inferência</a:t>
            </a:r>
            <a:r>
              <a:rPr lang="pt-BR" sz="22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9661482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CBC413-AA2E-1B24-3A2C-0E77850D41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8BBA91B3-2838-C992-E381-EA01CC8CAD1E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72F4755-DE59-D312-EBF9-99729E62D6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PROPOSIÇÕES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C480B6F5-A61D-DCB5-23B6-4DCB8BF0318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7C666601-8173-DEFD-AFE2-FBA4318E10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81607" y="2057400"/>
            <a:ext cx="7894093" cy="4622800"/>
          </a:xfrm>
        </p:spPr>
        <p:txBody>
          <a:bodyPr>
            <a:normAutofit/>
          </a:bodyPr>
          <a:lstStyle/>
          <a:p>
            <a:r>
              <a:rPr lang="pt-BR" sz="2400" dirty="0"/>
              <a:t>Proposição é uma frase declarativa que possui um valor lógico definido.</a:t>
            </a:r>
          </a:p>
          <a:p>
            <a:r>
              <a:rPr lang="pt-BR" sz="2400" dirty="0"/>
              <a:t>São classificada obrigatoriamente como verdadeira (V) ou falsa (F), </a:t>
            </a:r>
            <a:r>
              <a:rPr lang="pt-BR" sz="2400" i="1" dirty="0"/>
              <a:t>mas nunca os dois ao mesmo tempo.</a:t>
            </a:r>
          </a:p>
          <a:p>
            <a:endParaRPr lang="pt-BR" sz="2400" dirty="0"/>
          </a:p>
          <a:p>
            <a:r>
              <a:rPr lang="pt-BR" sz="2400" dirty="0"/>
              <a:t>Exemplos:</a:t>
            </a:r>
          </a:p>
          <a:p>
            <a:pPr lvl="1"/>
            <a:endParaRPr lang="pt-BR" sz="20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“O Sol é uma estrela” (Verdadeira).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“2 + 2 = 5” (Falsa).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“O gato mia” (Verdadeira).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“O fogo é frio” (Falsa).</a:t>
            </a:r>
          </a:p>
          <a:p>
            <a:pPr lvl="1"/>
            <a:endParaRPr lang="pt-BR" sz="2200" dirty="0"/>
          </a:p>
          <a:p>
            <a:pPr lvl="1"/>
            <a:endParaRPr lang="pt-BR" sz="2000" dirty="0"/>
          </a:p>
          <a:p>
            <a:endParaRPr lang="pt-BR" sz="2400" dirty="0"/>
          </a:p>
          <a:p>
            <a:pPr lvl="1"/>
            <a:endParaRPr lang="pt-BR" sz="1800" dirty="0"/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4609E1F0-8D73-48D0-FDD8-65381ECDC296}"/>
              </a:ext>
            </a:extLst>
          </p:cNvPr>
          <p:cNvSpPr/>
          <p:nvPr/>
        </p:nvSpPr>
        <p:spPr>
          <a:xfrm>
            <a:off x="8775700" y="3581400"/>
            <a:ext cx="3416300" cy="3276600"/>
          </a:xfrm>
          <a:prstGeom prst="rect">
            <a:avLst/>
          </a:prstGeom>
          <a:solidFill>
            <a:srgbClr val="63A53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2000" dirty="0"/>
              <a:t>Sentenças interrogativas, exclamativas, imperativas ou sem definição NÃO podem ser consideradas proposições:</a:t>
            </a:r>
          </a:p>
          <a:p>
            <a:pPr algn="ctr"/>
            <a:endParaRPr lang="pt-BR" sz="2000" dirty="0"/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pt-BR" sz="2000" dirty="0"/>
              <a:t>Que horas são?</a:t>
            </a:r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pt-BR" sz="2000" dirty="0"/>
              <a:t>Que susto!</a:t>
            </a:r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pt-BR" sz="2000" dirty="0"/>
              <a:t>Feche a porta</a:t>
            </a:r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pt-BR" sz="2000" dirty="0"/>
              <a:t>X+3 = 10</a:t>
            </a:r>
          </a:p>
        </p:txBody>
      </p:sp>
    </p:spTree>
    <p:extLst>
      <p:ext uri="{BB962C8B-B14F-4D97-AF65-F5344CB8AC3E}">
        <p14:creationId xmlns:p14="http://schemas.microsoft.com/office/powerpoint/2010/main" val="11436831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FF4535-BB06-A04A-75E0-F2C49ECB21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D875EC48-E6DC-ACF1-F910-8D679C7FC397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8D77E5A-898F-0704-04E7-38A0331514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PROPOSIÇÕES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8EF8A6F1-90D7-1C77-B528-DB3FCAC7A21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85ECB415-831D-8159-F187-7232074D00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88603" y="1792705"/>
            <a:ext cx="8414793" cy="4622800"/>
          </a:xfrm>
        </p:spPr>
        <p:txBody>
          <a:bodyPr>
            <a:normAutofit/>
          </a:bodyPr>
          <a:lstStyle/>
          <a:p>
            <a:r>
              <a:rPr lang="pt-BR" sz="2400" dirty="0"/>
              <a:t>Uma proposição pode classificada em dois tipos:</a:t>
            </a:r>
            <a:endParaRPr lang="pt-BR" sz="2400" i="1" dirty="0"/>
          </a:p>
          <a:p>
            <a:endParaRPr lang="pt-BR" sz="24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b="1" dirty="0"/>
              <a:t>Simples (ou Atômica): </a:t>
            </a:r>
            <a:r>
              <a:rPr lang="pt-BR" sz="2200" dirty="0"/>
              <a:t>Contém apenas uma única ideia ou declaração, sem o uso de conectivos.</a:t>
            </a:r>
          </a:p>
          <a:p>
            <a:pPr marL="457200" lvl="1" indent="0">
              <a:buNone/>
            </a:pPr>
            <a:r>
              <a:rPr lang="pt-BR" dirty="0"/>
              <a:t>	</a:t>
            </a:r>
          </a:p>
          <a:p>
            <a:pPr marL="457200" lvl="1" indent="0">
              <a:buNone/>
            </a:pPr>
            <a:r>
              <a:rPr lang="pt-BR" dirty="0"/>
              <a:t>	</a:t>
            </a:r>
            <a:r>
              <a:rPr lang="pt-BR" i="1" dirty="0" err="1"/>
              <a:t>Ex</a:t>
            </a:r>
            <a:r>
              <a:rPr lang="pt-BR" i="1" dirty="0"/>
              <a:t>: "O céu é azul".</a:t>
            </a:r>
          </a:p>
          <a:p>
            <a:pPr lvl="1"/>
            <a:endParaRPr lang="pt-BR" sz="20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b="1" dirty="0"/>
              <a:t>Composta (ou Molecular): </a:t>
            </a:r>
            <a:r>
              <a:rPr lang="pt-BR" sz="2200" dirty="0"/>
              <a:t>Formada pela união de duas ou mais proposições simples por meio de conectivos lógicos. </a:t>
            </a:r>
          </a:p>
          <a:p>
            <a:pPr marL="457200" lvl="1" indent="0">
              <a:buNone/>
            </a:pPr>
            <a:r>
              <a:rPr lang="pt-BR" sz="2000" dirty="0"/>
              <a:t>	</a:t>
            </a:r>
          </a:p>
          <a:p>
            <a:pPr marL="457200" lvl="1" indent="0">
              <a:buNone/>
            </a:pPr>
            <a:r>
              <a:rPr lang="pt-BR" sz="2200" dirty="0"/>
              <a:t>	</a:t>
            </a:r>
            <a:r>
              <a:rPr lang="pt-BR" sz="2200" i="1" dirty="0" err="1"/>
              <a:t>Ex</a:t>
            </a:r>
            <a:r>
              <a:rPr lang="pt-BR" sz="2200" i="1" dirty="0"/>
              <a:t>: "O céu é azul e o dia está ensolarado".</a:t>
            </a:r>
          </a:p>
          <a:p>
            <a:endParaRPr lang="pt-BR" sz="2400" dirty="0"/>
          </a:p>
          <a:p>
            <a:pPr lvl="1"/>
            <a:endParaRPr lang="pt-BR" sz="1800" dirty="0"/>
          </a:p>
        </p:txBody>
      </p:sp>
    </p:spTree>
    <p:extLst>
      <p:ext uri="{BB962C8B-B14F-4D97-AF65-F5344CB8AC3E}">
        <p14:creationId xmlns:p14="http://schemas.microsoft.com/office/powerpoint/2010/main" val="350690427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51465A-E082-6E66-0386-6FBA028933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47095FD7-4C26-5FBA-9BDF-97FBE911B210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ED32500-5C59-8090-E1E7-301565B07B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CONECTIVOS LÓGICOS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73BF2050-8F22-1B21-59D2-DC2DDC2E764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04E60D83-D136-24A0-FE4E-A17448B2F7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88603" y="1828800"/>
            <a:ext cx="8414793" cy="5029200"/>
          </a:xfrm>
        </p:spPr>
        <p:txBody>
          <a:bodyPr>
            <a:normAutofit/>
          </a:bodyPr>
          <a:lstStyle/>
          <a:p>
            <a:r>
              <a:rPr lang="pt-BR" sz="2400" dirty="0"/>
              <a:t>Os </a:t>
            </a:r>
            <a:r>
              <a:rPr lang="pt-BR" sz="2400" b="1" dirty="0"/>
              <a:t>conectivos lógicos</a:t>
            </a:r>
            <a:r>
              <a:rPr lang="pt-BR" sz="2400" dirty="0"/>
              <a:t> servem para construir proposições mais complexas a partir da união de proposições simples.</a:t>
            </a:r>
          </a:p>
          <a:p>
            <a:pPr lvl="1"/>
            <a:endParaRPr lang="pt-BR" sz="22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Negação / NOT / </a:t>
            </a:r>
            <a:r>
              <a:rPr lang="pt-BR" sz="3600" dirty="0"/>
              <a:t>¬</a:t>
            </a:r>
            <a:endParaRPr lang="pt-BR" sz="32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Conjunção / E / AND / ∧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Disjunção inclusiva / OU / OR / ∨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Disjunção exclusiva / XOR / </a:t>
            </a:r>
            <a:r>
              <a:rPr lang="pt-BR" sz="2200" u="sng" dirty="0"/>
              <a:t>∨</a:t>
            </a:r>
            <a:r>
              <a:rPr lang="pt-BR" sz="2200" dirty="0"/>
              <a:t> / </a:t>
            </a:r>
            <a:r>
              <a:rPr lang="pt-BR" sz="2000" dirty="0"/>
              <a:t>⊕</a:t>
            </a:r>
            <a:endParaRPr lang="pt-BR" sz="22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Implicação /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</a:t>
            </a:r>
            <a:endParaRPr lang="pt-BR" sz="22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 err="1"/>
              <a:t>Bicondicional</a:t>
            </a:r>
            <a:r>
              <a:rPr lang="pt-BR" sz="2200" dirty="0"/>
              <a:t>  /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↔</a:t>
            </a:r>
          </a:p>
          <a:p>
            <a:pPr lvl="1"/>
            <a:endParaRPr lang="pt-BR" sz="2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pt-BR" sz="2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Esses conectivos apresentam um valor lógico pré-definido com base nos valores das proposições</a:t>
            </a:r>
            <a:endParaRPr lang="pt-BR" sz="2600" dirty="0"/>
          </a:p>
        </p:txBody>
      </p:sp>
    </p:spTree>
    <p:extLst>
      <p:ext uri="{BB962C8B-B14F-4D97-AF65-F5344CB8AC3E}">
        <p14:creationId xmlns:p14="http://schemas.microsoft.com/office/powerpoint/2010/main" val="212819780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18F20C-2328-1E80-031B-4DA9D6CEDE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B553F371-36A6-4144-BDB0-8616F8BA2E7B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97514C85-F4D8-F087-F9A9-78F7F8237C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CONECTIVOS LÓGICOS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9EC5F46C-728F-B3B5-B20F-2802304395A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650EB62F-E458-1C96-C504-219735C0C0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9224" y="1696496"/>
            <a:ext cx="8414793" cy="4622800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pt-BR" sz="2200" dirty="0"/>
              <a:t>Exemplo:</a:t>
            </a:r>
          </a:p>
          <a:p>
            <a:pPr marL="457200" lvl="1" indent="0">
              <a:buNone/>
            </a:pPr>
            <a:endParaRPr lang="pt-BR" sz="2200" dirty="0"/>
          </a:p>
          <a:p>
            <a:pPr marL="457200" lvl="1" indent="0">
              <a:buNone/>
            </a:pPr>
            <a:r>
              <a:rPr lang="pt-BR" sz="2200" dirty="0"/>
              <a:t>Proposição 1 (P) – “Hoje é sábado”</a:t>
            </a:r>
          </a:p>
          <a:p>
            <a:pPr marL="457200" lvl="1" indent="0">
              <a:buNone/>
            </a:pPr>
            <a:r>
              <a:rPr lang="pt-BR" sz="2200" dirty="0"/>
              <a:t>Proposição 2 (Q) – “Está chovendo.”</a:t>
            </a:r>
          </a:p>
          <a:p>
            <a:pPr marL="457200" lvl="1" indent="0">
              <a:buNone/>
            </a:pPr>
            <a:endParaRPr lang="pt-BR" sz="2200" dirty="0"/>
          </a:p>
          <a:p>
            <a:pPr lvl="1"/>
            <a:r>
              <a:rPr lang="pt-BR" sz="2200" dirty="0"/>
              <a:t>Combinação com o operador lógico ‘E’:</a:t>
            </a:r>
          </a:p>
          <a:p>
            <a:pPr marL="457200" lvl="1" indent="0">
              <a:buNone/>
            </a:pPr>
            <a:r>
              <a:rPr lang="pt-BR" sz="2200" dirty="0"/>
              <a:t>    S = P ∧ Q</a:t>
            </a:r>
          </a:p>
          <a:p>
            <a:pPr marL="457200" lvl="1" indent="0">
              <a:buNone/>
            </a:pPr>
            <a:r>
              <a:rPr lang="pt-BR" sz="2200" dirty="0"/>
              <a:t>    “Hoje é sábado E Está chovendo”</a:t>
            </a:r>
          </a:p>
          <a:p>
            <a:pPr marL="457200" lvl="1" indent="0">
              <a:buNone/>
            </a:pPr>
            <a:endParaRPr lang="pt-BR" sz="2200" dirty="0"/>
          </a:p>
          <a:p>
            <a:pPr lvl="1"/>
            <a:r>
              <a:rPr lang="pt-BR" sz="2200" dirty="0"/>
              <a:t>Combinação com o operador lógico ‘OU’:</a:t>
            </a:r>
          </a:p>
          <a:p>
            <a:pPr marL="457200" lvl="1" indent="0">
              <a:buNone/>
            </a:pPr>
            <a:r>
              <a:rPr lang="pt-BR" sz="2200" dirty="0"/>
              <a:t>    S = P ∨ Q</a:t>
            </a:r>
          </a:p>
          <a:p>
            <a:pPr marL="457200" lvl="1" indent="0">
              <a:buNone/>
            </a:pPr>
            <a:r>
              <a:rPr lang="pt-BR" sz="2200" dirty="0"/>
              <a:t>    “Hoje é sábado OU Está chovendo”</a:t>
            </a:r>
          </a:p>
          <a:p>
            <a:pPr marL="457200" lvl="1" indent="0">
              <a:buNone/>
            </a:pPr>
            <a:endParaRPr lang="pt-BR" sz="2200" dirty="0"/>
          </a:p>
          <a:p>
            <a:pPr marL="457200" lvl="1" indent="0">
              <a:buNone/>
            </a:pPr>
            <a:endParaRPr lang="pt-BR" sz="2200" dirty="0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E60CE604-36B2-DE88-08E6-9DEA68704E0D}"/>
              </a:ext>
            </a:extLst>
          </p:cNvPr>
          <p:cNvSpPr/>
          <p:nvPr/>
        </p:nvSpPr>
        <p:spPr>
          <a:xfrm>
            <a:off x="7142748" y="2676406"/>
            <a:ext cx="4307304" cy="1540706"/>
          </a:xfrm>
          <a:prstGeom prst="rect">
            <a:avLst/>
          </a:prstGeom>
          <a:solidFill>
            <a:srgbClr val="63A53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2000" dirty="0"/>
              <a:t>Essas proposições podem ter valor verdadeiro ou falso, com base nos valores das proposições que a compõe</a:t>
            </a:r>
          </a:p>
        </p:txBody>
      </p:sp>
      <p:cxnSp>
        <p:nvCxnSpPr>
          <p:cNvPr id="3" name="Conector de Seta Reta 2">
            <a:extLst>
              <a:ext uri="{FF2B5EF4-FFF2-40B4-BE49-F238E27FC236}">
                <a16:creationId xmlns:a16="http://schemas.microsoft.com/office/drawing/2014/main" id="{AEEBFCF0-A452-888A-C56B-7512E93C32D5}"/>
              </a:ext>
            </a:extLst>
          </p:cNvPr>
          <p:cNvCxnSpPr>
            <a:cxnSpLocks/>
          </p:cNvCxnSpPr>
          <p:nvPr/>
        </p:nvCxnSpPr>
        <p:spPr>
          <a:xfrm>
            <a:off x="9309100" y="4520488"/>
            <a:ext cx="0" cy="641016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CaixaDeTexto 8">
            <a:extLst>
              <a:ext uri="{FF2B5EF4-FFF2-40B4-BE49-F238E27FC236}">
                <a16:creationId xmlns:a16="http://schemas.microsoft.com/office/drawing/2014/main" id="{4DF3B3BE-172C-6D5E-8AC1-A4B29E30A3E8}"/>
              </a:ext>
            </a:extLst>
          </p:cNvPr>
          <p:cNvSpPr txBox="1"/>
          <p:nvPr/>
        </p:nvSpPr>
        <p:spPr>
          <a:xfrm>
            <a:off x="8237904" y="5278734"/>
            <a:ext cx="22722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400" b="1" u="sng" dirty="0"/>
              <a:t>Tabelas Verdade</a:t>
            </a:r>
          </a:p>
        </p:txBody>
      </p:sp>
    </p:spTree>
    <p:extLst>
      <p:ext uri="{BB962C8B-B14F-4D97-AF65-F5344CB8AC3E}">
        <p14:creationId xmlns:p14="http://schemas.microsoft.com/office/powerpoint/2010/main" val="370804092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C52978-4397-2495-FB4A-93C14E8CAA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BE5DA23D-C533-7A22-8E03-30AFF0FAEAEB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47D932C-8177-6FDF-F440-090EC03407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TABELA VERDADE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8679DCB3-C40A-3123-DEA3-FC0BC32BFDD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1AD80929-46C8-2981-881F-6DFC81B3F9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36203" y="1866900"/>
            <a:ext cx="8414793" cy="4622800"/>
          </a:xfrm>
        </p:spPr>
        <p:txBody>
          <a:bodyPr>
            <a:normAutofit/>
          </a:bodyPr>
          <a:lstStyle/>
          <a:p>
            <a:pPr lvl="1"/>
            <a:r>
              <a:rPr lang="pt-BR" dirty="0"/>
              <a:t>Define o valor lógico da expressão para cada combinação possível dos valores de entrada</a:t>
            </a:r>
          </a:p>
          <a:p>
            <a:pPr lvl="1"/>
            <a:endParaRPr lang="pt-BR" dirty="0"/>
          </a:p>
          <a:p>
            <a:pPr lvl="1"/>
            <a:r>
              <a:rPr lang="pt-BR" dirty="0"/>
              <a:t>Tabela verdade da </a:t>
            </a:r>
            <a:r>
              <a:rPr lang="pt-BR" b="1" dirty="0"/>
              <a:t>Negação</a:t>
            </a:r>
            <a:r>
              <a:rPr lang="pt-BR" dirty="0"/>
              <a:t>:</a:t>
            </a:r>
          </a:p>
          <a:p>
            <a:pPr lvl="1"/>
            <a:endParaRPr lang="pt-BR" sz="2200" dirty="0"/>
          </a:p>
          <a:p>
            <a:pPr marL="457200" lvl="1" indent="0">
              <a:buNone/>
            </a:pPr>
            <a:endParaRPr lang="pt-BR" dirty="0"/>
          </a:p>
        </p:txBody>
      </p:sp>
      <p:graphicFrame>
        <p:nvGraphicFramePr>
          <p:cNvPr id="8" name="Tabela 7">
            <a:extLst>
              <a:ext uri="{FF2B5EF4-FFF2-40B4-BE49-F238E27FC236}">
                <a16:creationId xmlns:a16="http://schemas.microsoft.com/office/drawing/2014/main" id="{4ACC43A5-E8FA-F881-A717-07DC79C9F5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2888026"/>
              </p:ext>
            </p:extLst>
          </p:nvPr>
        </p:nvGraphicFramePr>
        <p:xfrm>
          <a:off x="4006849" y="4006850"/>
          <a:ext cx="3873500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6750">
                  <a:extLst>
                    <a:ext uri="{9D8B030D-6E8A-4147-A177-3AD203B41FA5}">
                      <a16:colId xmlns:a16="http://schemas.microsoft.com/office/drawing/2014/main" val="3352659932"/>
                    </a:ext>
                  </a:extLst>
                </a:gridCol>
                <a:gridCol w="1936750">
                  <a:extLst>
                    <a:ext uri="{9D8B030D-6E8A-4147-A177-3AD203B41FA5}">
                      <a16:colId xmlns:a16="http://schemas.microsoft.com/office/drawing/2014/main" val="3526495656"/>
                    </a:ext>
                  </a:extLst>
                </a:gridCol>
              </a:tblGrid>
              <a:tr h="584200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¬P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13103353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02035967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4368726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095078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6A563F-4C26-2245-D257-91B64F13AD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61EFCC11-2FD5-9AE9-1297-E5CD13790152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3560D32-74C8-A855-7476-D468BB65D6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TABELA VERDADE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52817CB2-9D7D-CC72-FC5A-F8F48D85546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CB13348-CADE-0EF8-16F0-82445437AA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36203" y="1866900"/>
            <a:ext cx="8414793" cy="4622800"/>
          </a:xfrm>
        </p:spPr>
        <p:txBody>
          <a:bodyPr>
            <a:normAutofit/>
          </a:bodyPr>
          <a:lstStyle/>
          <a:p>
            <a:pPr lvl="1"/>
            <a:r>
              <a:rPr lang="pt-BR" dirty="0"/>
              <a:t>Tabela verdade da </a:t>
            </a:r>
            <a:r>
              <a:rPr lang="pt-BR" b="1" dirty="0"/>
              <a:t>Conjunção (E)</a:t>
            </a:r>
            <a:r>
              <a:rPr lang="pt-BR" dirty="0"/>
              <a:t>:</a:t>
            </a:r>
          </a:p>
          <a:p>
            <a:pPr lvl="1"/>
            <a:endParaRPr lang="pt-BR" sz="2200" dirty="0"/>
          </a:p>
          <a:p>
            <a:pPr marL="457200" lvl="1" indent="0">
              <a:buNone/>
            </a:pPr>
            <a:endParaRPr lang="pt-BR" dirty="0"/>
          </a:p>
        </p:txBody>
      </p:sp>
      <p:graphicFrame>
        <p:nvGraphicFramePr>
          <p:cNvPr id="8" name="Tabela 7">
            <a:extLst>
              <a:ext uri="{FF2B5EF4-FFF2-40B4-BE49-F238E27FC236}">
                <a16:creationId xmlns:a16="http://schemas.microsoft.com/office/drawing/2014/main" id="{3BC277A4-29F2-DF1D-0AF2-C61B6F064B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38314310"/>
              </p:ext>
            </p:extLst>
          </p:nvPr>
        </p:nvGraphicFramePr>
        <p:xfrm>
          <a:off x="3235324" y="2819400"/>
          <a:ext cx="5721351" cy="3340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7117">
                  <a:extLst>
                    <a:ext uri="{9D8B030D-6E8A-4147-A177-3AD203B41FA5}">
                      <a16:colId xmlns:a16="http://schemas.microsoft.com/office/drawing/2014/main" val="3352659932"/>
                    </a:ext>
                  </a:extLst>
                </a:gridCol>
                <a:gridCol w="1907117">
                  <a:extLst>
                    <a:ext uri="{9D8B030D-6E8A-4147-A177-3AD203B41FA5}">
                      <a16:colId xmlns:a16="http://schemas.microsoft.com/office/drawing/2014/main" val="3526495656"/>
                    </a:ext>
                  </a:extLst>
                </a:gridCol>
                <a:gridCol w="1907117">
                  <a:extLst>
                    <a:ext uri="{9D8B030D-6E8A-4147-A177-3AD203B41FA5}">
                      <a16:colId xmlns:a16="http://schemas.microsoft.com/office/drawing/2014/main" val="1372818486"/>
                    </a:ext>
                  </a:extLst>
                </a:gridCol>
              </a:tblGrid>
              <a:tr h="574158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Q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P∧Q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13103353"/>
                  </a:ext>
                </a:extLst>
              </a:tr>
              <a:tr h="808813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02035967"/>
                  </a:ext>
                </a:extLst>
              </a:tr>
              <a:tr h="808813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43687263"/>
                  </a:ext>
                </a:extLst>
              </a:tr>
              <a:tr h="574158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69305236"/>
                  </a:ext>
                </a:extLst>
              </a:tr>
              <a:tr h="574158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29394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9121941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83CC03-CE8F-2687-5E3B-6AD5808F3C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EE9409D6-AC95-2EFA-324A-FD29A26417CF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93C840E0-D60D-FF7F-DC4F-8D66B00878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TABELA VERDADE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CCC1FF9F-D49C-6E8A-BF33-5A28E4BE7B4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49AEAA45-4527-65F5-BCF2-0DD4B84E58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36203" y="1866900"/>
            <a:ext cx="8414793" cy="4622800"/>
          </a:xfrm>
        </p:spPr>
        <p:txBody>
          <a:bodyPr>
            <a:normAutofit/>
          </a:bodyPr>
          <a:lstStyle/>
          <a:p>
            <a:pPr lvl="1"/>
            <a:r>
              <a:rPr lang="pt-BR" dirty="0"/>
              <a:t>Tabela verdade da </a:t>
            </a:r>
            <a:r>
              <a:rPr lang="pt-BR" b="1" dirty="0"/>
              <a:t>Disjunção Inclusiva (OU):</a:t>
            </a:r>
          </a:p>
          <a:p>
            <a:pPr lvl="1"/>
            <a:endParaRPr lang="pt-BR" sz="2200" dirty="0"/>
          </a:p>
          <a:p>
            <a:pPr marL="457200" lvl="1" indent="0">
              <a:buNone/>
            </a:pPr>
            <a:endParaRPr lang="pt-BR" dirty="0"/>
          </a:p>
        </p:txBody>
      </p:sp>
      <p:graphicFrame>
        <p:nvGraphicFramePr>
          <p:cNvPr id="3" name="Tabela 2">
            <a:extLst>
              <a:ext uri="{FF2B5EF4-FFF2-40B4-BE49-F238E27FC236}">
                <a16:creationId xmlns:a16="http://schemas.microsoft.com/office/drawing/2014/main" id="{4BBB5EEA-267D-6636-A8B4-45F63B711E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3297649"/>
              </p:ext>
            </p:extLst>
          </p:nvPr>
        </p:nvGraphicFramePr>
        <p:xfrm>
          <a:off x="3235324" y="2819400"/>
          <a:ext cx="5721351" cy="3340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7117">
                  <a:extLst>
                    <a:ext uri="{9D8B030D-6E8A-4147-A177-3AD203B41FA5}">
                      <a16:colId xmlns:a16="http://schemas.microsoft.com/office/drawing/2014/main" val="3352659932"/>
                    </a:ext>
                  </a:extLst>
                </a:gridCol>
                <a:gridCol w="1907117">
                  <a:extLst>
                    <a:ext uri="{9D8B030D-6E8A-4147-A177-3AD203B41FA5}">
                      <a16:colId xmlns:a16="http://schemas.microsoft.com/office/drawing/2014/main" val="3526495656"/>
                    </a:ext>
                  </a:extLst>
                </a:gridCol>
                <a:gridCol w="1907117">
                  <a:extLst>
                    <a:ext uri="{9D8B030D-6E8A-4147-A177-3AD203B41FA5}">
                      <a16:colId xmlns:a16="http://schemas.microsoft.com/office/drawing/2014/main" val="1372818486"/>
                    </a:ext>
                  </a:extLst>
                </a:gridCol>
              </a:tblGrid>
              <a:tr h="574158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Q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P∨Q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13103353"/>
                  </a:ext>
                </a:extLst>
              </a:tr>
              <a:tr h="808813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02035967"/>
                  </a:ext>
                </a:extLst>
              </a:tr>
              <a:tr h="808813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43687263"/>
                  </a:ext>
                </a:extLst>
              </a:tr>
              <a:tr h="574158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69305236"/>
                  </a:ext>
                </a:extLst>
              </a:tr>
              <a:tr h="574158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29394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3291965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6D15C7-56B0-3DF3-6092-634AC1C497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5FD32F77-52C3-4AF1-95CB-6810074EAC82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B78F03D-DD37-F4B4-3381-03AF962276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TABELA VERDADE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C1F78E54-6055-3C6F-A3BB-63C795B6D9C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3D3995B0-03BC-F213-E494-E7719EF2B3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36203" y="1866900"/>
            <a:ext cx="8414793" cy="4622800"/>
          </a:xfrm>
        </p:spPr>
        <p:txBody>
          <a:bodyPr>
            <a:normAutofit/>
          </a:bodyPr>
          <a:lstStyle/>
          <a:p>
            <a:pPr lvl="1"/>
            <a:r>
              <a:rPr lang="pt-BR" dirty="0"/>
              <a:t>Tabela verdade da </a:t>
            </a:r>
            <a:r>
              <a:rPr lang="pt-BR" b="1" dirty="0"/>
              <a:t>Disjunção Exclusiva (XOR):</a:t>
            </a:r>
          </a:p>
          <a:p>
            <a:pPr lvl="1"/>
            <a:endParaRPr lang="pt-BR" sz="2200" dirty="0"/>
          </a:p>
          <a:p>
            <a:pPr marL="457200" lvl="1" indent="0">
              <a:buNone/>
            </a:pPr>
            <a:endParaRPr lang="pt-BR" dirty="0"/>
          </a:p>
        </p:txBody>
      </p:sp>
      <p:graphicFrame>
        <p:nvGraphicFramePr>
          <p:cNvPr id="3" name="Tabela 2">
            <a:extLst>
              <a:ext uri="{FF2B5EF4-FFF2-40B4-BE49-F238E27FC236}">
                <a16:creationId xmlns:a16="http://schemas.microsoft.com/office/drawing/2014/main" id="{92C7B664-C5C6-E081-BEF1-ACA3F4964E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072096"/>
              </p:ext>
            </p:extLst>
          </p:nvPr>
        </p:nvGraphicFramePr>
        <p:xfrm>
          <a:off x="3235324" y="2819400"/>
          <a:ext cx="5721351" cy="3340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7117">
                  <a:extLst>
                    <a:ext uri="{9D8B030D-6E8A-4147-A177-3AD203B41FA5}">
                      <a16:colId xmlns:a16="http://schemas.microsoft.com/office/drawing/2014/main" val="3352659932"/>
                    </a:ext>
                  </a:extLst>
                </a:gridCol>
                <a:gridCol w="1907117">
                  <a:extLst>
                    <a:ext uri="{9D8B030D-6E8A-4147-A177-3AD203B41FA5}">
                      <a16:colId xmlns:a16="http://schemas.microsoft.com/office/drawing/2014/main" val="3526495656"/>
                    </a:ext>
                  </a:extLst>
                </a:gridCol>
                <a:gridCol w="1907117">
                  <a:extLst>
                    <a:ext uri="{9D8B030D-6E8A-4147-A177-3AD203B41FA5}">
                      <a16:colId xmlns:a16="http://schemas.microsoft.com/office/drawing/2014/main" val="1372818486"/>
                    </a:ext>
                  </a:extLst>
                </a:gridCol>
              </a:tblGrid>
              <a:tr h="574158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Q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P</a:t>
                      </a:r>
                      <a:r>
                        <a:rPr lang="pt-BR" sz="2400" u="sng" dirty="0"/>
                        <a:t>∨</a:t>
                      </a:r>
                      <a:r>
                        <a:rPr lang="pt-BR" sz="2400" dirty="0"/>
                        <a:t>Q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13103353"/>
                  </a:ext>
                </a:extLst>
              </a:tr>
              <a:tr h="808813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02035967"/>
                  </a:ext>
                </a:extLst>
              </a:tr>
              <a:tr h="808813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43687263"/>
                  </a:ext>
                </a:extLst>
              </a:tr>
              <a:tr h="574158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69305236"/>
                  </a:ext>
                </a:extLst>
              </a:tr>
              <a:tr h="574158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29394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6007921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D7999B-4B9A-8FFA-552D-8BBD1B3B4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C9C75E06-C595-8D40-3059-30152878A1F4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F3CB982-71A3-2B5C-0B5E-3D5216225A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TABELA VERDADE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967205C2-2CB1-0A03-2881-7DB6AB1A324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C9A1BDE3-C14C-CAF8-EB15-B7240F7256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36203" y="1866900"/>
            <a:ext cx="8414793" cy="4622800"/>
          </a:xfrm>
        </p:spPr>
        <p:txBody>
          <a:bodyPr>
            <a:normAutofit/>
          </a:bodyPr>
          <a:lstStyle/>
          <a:p>
            <a:pPr lvl="1"/>
            <a:r>
              <a:rPr lang="pt-BR" dirty="0"/>
              <a:t>Tabela verdade do </a:t>
            </a:r>
            <a:r>
              <a:rPr lang="pt-BR" b="1" dirty="0"/>
              <a:t>Condicional (</a:t>
            </a:r>
            <a:r>
              <a:rPr lang="pt-BR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pt-BR" b="1" dirty="0"/>
              <a:t>):</a:t>
            </a:r>
          </a:p>
          <a:p>
            <a:pPr lvl="1"/>
            <a:r>
              <a:rPr lang="pt-BR" dirty="0"/>
              <a:t>Lê-se: Se P, então Q.</a:t>
            </a:r>
          </a:p>
          <a:p>
            <a:pPr marL="457200" lvl="1" indent="0">
              <a:buNone/>
            </a:pPr>
            <a:endParaRPr lang="pt-BR" dirty="0"/>
          </a:p>
        </p:txBody>
      </p:sp>
      <p:graphicFrame>
        <p:nvGraphicFramePr>
          <p:cNvPr id="3" name="Tabela 2">
            <a:extLst>
              <a:ext uri="{FF2B5EF4-FFF2-40B4-BE49-F238E27FC236}">
                <a16:creationId xmlns:a16="http://schemas.microsoft.com/office/drawing/2014/main" id="{2F21861E-1961-432F-E04C-F9DBF245D0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2216178"/>
              </p:ext>
            </p:extLst>
          </p:nvPr>
        </p:nvGraphicFramePr>
        <p:xfrm>
          <a:off x="3235324" y="3039269"/>
          <a:ext cx="5721351" cy="3340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7117">
                  <a:extLst>
                    <a:ext uri="{9D8B030D-6E8A-4147-A177-3AD203B41FA5}">
                      <a16:colId xmlns:a16="http://schemas.microsoft.com/office/drawing/2014/main" val="3352659932"/>
                    </a:ext>
                  </a:extLst>
                </a:gridCol>
                <a:gridCol w="1907117">
                  <a:extLst>
                    <a:ext uri="{9D8B030D-6E8A-4147-A177-3AD203B41FA5}">
                      <a16:colId xmlns:a16="http://schemas.microsoft.com/office/drawing/2014/main" val="3526495656"/>
                    </a:ext>
                  </a:extLst>
                </a:gridCol>
                <a:gridCol w="1907117">
                  <a:extLst>
                    <a:ext uri="{9D8B030D-6E8A-4147-A177-3AD203B41FA5}">
                      <a16:colId xmlns:a16="http://schemas.microsoft.com/office/drawing/2014/main" val="1372818486"/>
                    </a:ext>
                  </a:extLst>
                </a:gridCol>
              </a:tblGrid>
              <a:tr h="574158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Q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P</a:t>
                      </a:r>
                      <a:r>
                        <a:rPr lang="pt-BR" sz="24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→</a:t>
                      </a:r>
                      <a:r>
                        <a:rPr lang="pt-BR" sz="2400" dirty="0"/>
                        <a:t>Q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13103353"/>
                  </a:ext>
                </a:extLst>
              </a:tr>
              <a:tr h="808813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02035967"/>
                  </a:ext>
                </a:extLst>
              </a:tr>
              <a:tr h="808813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43687263"/>
                  </a:ext>
                </a:extLst>
              </a:tr>
              <a:tr h="574158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69305236"/>
                  </a:ext>
                </a:extLst>
              </a:tr>
              <a:tr h="574158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29394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9737400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AEAD09-FF54-ABCB-0F56-10830561DF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760B5B6D-48E2-EF53-65FF-003C2D02258D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7902790-62E2-4032-6FED-3F2A682F23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TABELA VERDADE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B065755B-E45C-5941-3C79-936D7369ED2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314B16B3-2EC4-8503-DEFC-E3866A1EE1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36203" y="1866900"/>
            <a:ext cx="8414793" cy="4622800"/>
          </a:xfrm>
        </p:spPr>
        <p:txBody>
          <a:bodyPr>
            <a:normAutofit/>
          </a:bodyPr>
          <a:lstStyle/>
          <a:p>
            <a:pPr lvl="1"/>
            <a:r>
              <a:rPr lang="pt-BR" dirty="0"/>
              <a:t>Tabela verdade do </a:t>
            </a:r>
            <a:r>
              <a:rPr lang="pt-BR" b="1" dirty="0" err="1"/>
              <a:t>Bicondicional</a:t>
            </a:r>
            <a:r>
              <a:rPr lang="pt-BR" b="1" dirty="0"/>
              <a:t> (</a:t>
            </a:r>
            <a:r>
              <a:rPr lang="pt-BR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pt-BR" b="1" dirty="0"/>
              <a:t>):</a:t>
            </a:r>
          </a:p>
          <a:p>
            <a:pPr lvl="1"/>
            <a:r>
              <a:rPr lang="pt-BR" dirty="0"/>
              <a:t>Lê-se: P se, e somente se Q.</a:t>
            </a:r>
          </a:p>
          <a:p>
            <a:pPr marL="457200" lvl="1" indent="0">
              <a:buNone/>
            </a:pPr>
            <a:endParaRPr lang="pt-BR" dirty="0"/>
          </a:p>
        </p:txBody>
      </p:sp>
      <p:graphicFrame>
        <p:nvGraphicFramePr>
          <p:cNvPr id="3" name="Tabela 2">
            <a:extLst>
              <a:ext uri="{FF2B5EF4-FFF2-40B4-BE49-F238E27FC236}">
                <a16:creationId xmlns:a16="http://schemas.microsoft.com/office/drawing/2014/main" id="{81389D16-EF10-DCD7-7806-15A64A6507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0147062"/>
              </p:ext>
            </p:extLst>
          </p:nvPr>
        </p:nvGraphicFramePr>
        <p:xfrm>
          <a:off x="3235324" y="3039269"/>
          <a:ext cx="5721351" cy="3340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7117">
                  <a:extLst>
                    <a:ext uri="{9D8B030D-6E8A-4147-A177-3AD203B41FA5}">
                      <a16:colId xmlns:a16="http://schemas.microsoft.com/office/drawing/2014/main" val="3352659932"/>
                    </a:ext>
                  </a:extLst>
                </a:gridCol>
                <a:gridCol w="1907117">
                  <a:extLst>
                    <a:ext uri="{9D8B030D-6E8A-4147-A177-3AD203B41FA5}">
                      <a16:colId xmlns:a16="http://schemas.microsoft.com/office/drawing/2014/main" val="3526495656"/>
                    </a:ext>
                  </a:extLst>
                </a:gridCol>
                <a:gridCol w="1907117">
                  <a:extLst>
                    <a:ext uri="{9D8B030D-6E8A-4147-A177-3AD203B41FA5}">
                      <a16:colId xmlns:a16="http://schemas.microsoft.com/office/drawing/2014/main" val="1372818486"/>
                    </a:ext>
                  </a:extLst>
                </a:gridCol>
              </a:tblGrid>
              <a:tr h="574158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Q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P</a:t>
                      </a:r>
                      <a:r>
                        <a:rPr lang="pt-BR" sz="24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↔</a:t>
                      </a:r>
                      <a:r>
                        <a:rPr lang="pt-BR" sz="2400" dirty="0"/>
                        <a:t>Q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13103353"/>
                  </a:ext>
                </a:extLst>
              </a:tr>
              <a:tr h="808813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02035967"/>
                  </a:ext>
                </a:extLst>
              </a:tr>
              <a:tr h="808813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43687263"/>
                  </a:ext>
                </a:extLst>
              </a:tr>
              <a:tr h="574158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69305236"/>
                  </a:ext>
                </a:extLst>
              </a:tr>
              <a:tr h="574158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29394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8552155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870D52-B12B-F1DC-DA1E-4BBBACA70E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C5D087C2-7253-0D50-CD5E-F4CD77EB2CD3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22E8B8C9-4312-9220-DB1D-F61FD07626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PRECEDÊNCIA DOS CONECTIVOS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2E0A2F98-F2A3-3E93-26B7-104D4A8BB82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388C2459-1F7F-3502-4461-5D7DC9CEC6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14346" y="1839036"/>
            <a:ext cx="6327681" cy="4622800"/>
          </a:xfrm>
        </p:spPr>
        <p:txBody>
          <a:bodyPr>
            <a:normAutofit/>
          </a:bodyPr>
          <a:lstStyle/>
          <a:p>
            <a:r>
              <a:rPr lang="pt-BR" sz="2400" dirty="0"/>
              <a:t>A ordem de precedência dos operadores define quem é resolvido primeiro</a:t>
            </a:r>
          </a:p>
          <a:p>
            <a:pPr lvl="1"/>
            <a:endParaRPr lang="pt-BR" sz="2000" dirty="0"/>
          </a:p>
          <a:p>
            <a:pPr marL="914400" lvl="1" indent="-457200">
              <a:buFont typeface="+mj-lt"/>
              <a:buAutoNum type="arabicPeriod"/>
            </a:pPr>
            <a:r>
              <a:rPr lang="pt-BR" sz="2200" dirty="0"/>
              <a:t>Parênteses (Se houver)</a:t>
            </a:r>
          </a:p>
          <a:p>
            <a:pPr marL="914400" lvl="1" indent="-457200">
              <a:buFont typeface="+mj-lt"/>
              <a:buAutoNum type="arabicPeriod"/>
            </a:pPr>
            <a:r>
              <a:rPr lang="pt-BR" sz="2200" dirty="0"/>
              <a:t>Negação </a:t>
            </a:r>
          </a:p>
          <a:p>
            <a:pPr marL="914400" lvl="1" indent="-457200">
              <a:buFont typeface="+mj-lt"/>
              <a:buAutoNum type="arabicPeriod"/>
            </a:pPr>
            <a:r>
              <a:rPr lang="pt-BR" sz="2200" dirty="0"/>
              <a:t>Conjunção </a:t>
            </a:r>
          </a:p>
          <a:p>
            <a:pPr marL="914400" lvl="1" indent="-457200">
              <a:buFont typeface="+mj-lt"/>
              <a:buAutoNum type="arabicPeriod"/>
            </a:pPr>
            <a:r>
              <a:rPr lang="pt-BR" sz="2200" dirty="0"/>
              <a:t>Disjunção (OR / XOR) </a:t>
            </a:r>
          </a:p>
          <a:p>
            <a:pPr marL="914400" lvl="1" indent="-457200">
              <a:buFont typeface="+mj-lt"/>
              <a:buAutoNum type="arabicPeriod"/>
            </a:pPr>
            <a:r>
              <a:rPr lang="pt-BR" sz="2200" dirty="0"/>
              <a:t>Condicional </a:t>
            </a:r>
          </a:p>
          <a:p>
            <a:pPr marL="914400" lvl="1" indent="-457200">
              <a:buFont typeface="+mj-lt"/>
              <a:buAutoNum type="arabicPeriod"/>
            </a:pPr>
            <a:r>
              <a:rPr lang="pt-BR" sz="2200" dirty="0" err="1"/>
              <a:t>Bicondicional</a:t>
            </a:r>
            <a:endParaRPr lang="pt-BR" sz="2200" dirty="0"/>
          </a:p>
          <a:p>
            <a:pPr marL="914400" lvl="1" indent="-457200">
              <a:buFont typeface="+mj-lt"/>
              <a:buAutoNum type="arabicPeriod"/>
            </a:pPr>
            <a:endParaRPr lang="pt-BR" sz="2200" dirty="0"/>
          </a:p>
          <a:p>
            <a:pPr marL="457200" lvl="1" indent="0">
              <a:buNone/>
            </a:pPr>
            <a:endParaRPr lang="pt-BR" sz="2200" dirty="0"/>
          </a:p>
        </p:txBody>
      </p:sp>
      <p:pic>
        <p:nvPicPr>
          <p:cNvPr id="2050" name="Picture 2" descr="Lógica Básica na 40ena] Lógica Proposicional — A linguagem formal | Notas  de aula">
            <a:extLst>
              <a:ext uri="{FF2B5EF4-FFF2-40B4-BE49-F238E27FC236}">
                <a16:creationId xmlns:a16="http://schemas.microsoft.com/office/drawing/2014/main" id="{1A7D922C-AF4B-627F-FF06-372D682F99B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25"/>
          <a:stretch>
            <a:fillRect/>
          </a:stretch>
        </p:blipFill>
        <p:spPr bwMode="auto">
          <a:xfrm>
            <a:off x="7110662" y="3428999"/>
            <a:ext cx="5081337" cy="32791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aixaDeTexto 2">
            <a:extLst>
              <a:ext uri="{FF2B5EF4-FFF2-40B4-BE49-F238E27FC236}">
                <a16:creationId xmlns:a16="http://schemas.microsoft.com/office/drawing/2014/main" id="{5A08386E-44CA-00F5-A58B-27A9FB367A9D}"/>
              </a:ext>
            </a:extLst>
          </p:cNvPr>
          <p:cNvSpPr txBox="1"/>
          <p:nvPr/>
        </p:nvSpPr>
        <p:spPr>
          <a:xfrm>
            <a:off x="7579654" y="2735071"/>
            <a:ext cx="41327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dirty="0"/>
              <a:t>Exemplo de expressão lógica composta </a:t>
            </a:r>
          </a:p>
          <a:p>
            <a:pPr algn="ctr"/>
            <a:r>
              <a:rPr lang="pt-BR" dirty="0"/>
              <a:t>pela associação de diferentes proposições</a:t>
            </a:r>
          </a:p>
        </p:txBody>
      </p:sp>
    </p:spTree>
    <p:extLst>
      <p:ext uri="{BB962C8B-B14F-4D97-AF65-F5344CB8AC3E}">
        <p14:creationId xmlns:p14="http://schemas.microsoft.com/office/powerpoint/2010/main" val="4063311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616BFC-85F8-947C-7493-38CAF40320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939AE28E-58D7-54D0-2032-57FD5BDADAE9}"/>
              </a:ext>
            </a:extLst>
          </p:cNvPr>
          <p:cNvSpPr/>
          <p:nvPr/>
        </p:nvSpPr>
        <p:spPr>
          <a:xfrm>
            <a:off x="0" y="0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EC084CA-93AB-DCFE-0804-6858896684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CONSTRUÇÃO DA TABELA VERDADE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F14652F3-4597-A18E-5AA1-7312B699708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6D65B10E-3611-2D96-1AE3-A37672AE6C6B}"/>
              </a:ext>
            </a:extLst>
          </p:cNvPr>
          <p:cNvSpPr txBox="1"/>
          <p:nvPr/>
        </p:nvSpPr>
        <p:spPr>
          <a:xfrm>
            <a:off x="3286803" y="1481991"/>
            <a:ext cx="615745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sz="2400" dirty="0"/>
              <a:t>Construção da tabela verdade para a expressão:</a:t>
            </a:r>
          </a:p>
          <a:p>
            <a:pPr algn="ctr"/>
            <a:r>
              <a:rPr lang="pt-BR" sz="2400" b="1" dirty="0"/>
              <a:t>(P → Q) ∨ (P ∧ R)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367BB230-B3A3-C52F-4BE8-9CF6E646FD6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8607" t="18597" r="13810" b="40876"/>
          <a:stretch>
            <a:fillRect/>
          </a:stretch>
        </p:blipFill>
        <p:spPr>
          <a:xfrm>
            <a:off x="4473151" y="2521219"/>
            <a:ext cx="3784758" cy="2023794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701C3797-3855-ED29-5AB7-4852596A0E2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66491"/>
          <a:stretch>
            <a:fillRect/>
          </a:stretch>
        </p:blipFill>
        <p:spPr>
          <a:xfrm>
            <a:off x="3286803" y="4753244"/>
            <a:ext cx="6773026" cy="20237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676751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D091C3-4F81-E9C1-F50D-CE37013F3D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35FFA12A-3D3A-FAB4-B5B3-1349C0123322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DEE3BC0-3F59-838D-1AB4-10F150ED8E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CLASSIFICAÇÃO DE EXPRESSÕES LÓGICAS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BC0C4185-DDEA-8C72-9143-7CD01B112C7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5251ECE-2E7C-8367-308E-3281C5AEC1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39651" y="1822325"/>
            <a:ext cx="8912697" cy="4622800"/>
          </a:xfrm>
        </p:spPr>
        <p:txBody>
          <a:bodyPr>
            <a:normAutofit/>
          </a:bodyPr>
          <a:lstStyle/>
          <a:p>
            <a:pPr algn="just"/>
            <a:r>
              <a:rPr lang="pt-BR" sz="2400" dirty="0"/>
              <a:t>Dependendo dos resultados de uma tabela verdade, a expressão pode ser classificada em três categorias:</a:t>
            </a:r>
          </a:p>
          <a:p>
            <a:pPr algn="just"/>
            <a:endParaRPr lang="pt-BR" sz="2200" dirty="0"/>
          </a:p>
          <a:p>
            <a:pPr marL="914400" lvl="1" indent="-457200">
              <a:buFont typeface="+mj-lt"/>
              <a:buAutoNum type="arabicPeriod"/>
            </a:pPr>
            <a:r>
              <a:rPr lang="pt-BR" sz="2200" b="1" dirty="0"/>
              <a:t>Tautologia: </a:t>
            </a:r>
            <a:r>
              <a:rPr lang="pt-BR" sz="2200" dirty="0"/>
              <a:t>ocorre quando o resultado de uma proposição é sempre verdadeiro, não importando quais sejam os valores de P e Q.</a:t>
            </a:r>
          </a:p>
          <a:p>
            <a:pPr marL="914400" lvl="1" indent="-457200">
              <a:buFont typeface="+mj-lt"/>
              <a:buAutoNum type="arabicPeriod"/>
            </a:pPr>
            <a:endParaRPr lang="pt-BR" sz="2200" dirty="0"/>
          </a:p>
          <a:p>
            <a:pPr marL="457200" lvl="1" indent="0">
              <a:buNone/>
            </a:pPr>
            <a:r>
              <a:rPr lang="pt-BR" sz="2200" i="1" dirty="0"/>
              <a:t>	Exemplo: </a:t>
            </a:r>
            <a:r>
              <a:rPr lang="pt-BR" sz="2000" i="1" dirty="0"/>
              <a:t>P ∨</a:t>
            </a:r>
            <a:r>
              <a:rPr lang="pt-BR" i="1" dirty="0"/>
              <a:t> ¬</a:t>
            </a:r>
            <a:r>
              <a:rPr lang="pt-BR" sz="2000" i="1" dirty="0"/>
              <a:t>P </a:t>
            </a:r>
          </a:p>
          <a:p>
            <a:pPr marL="457200" lvl="1" indent="0">
              <a:buNone/>
            </a:pPr>
            <a:r>
              <a:rPr lang="pt-BR" sz="2000" dirty="0"/>
              <a:t>	</a:t>
            </a:r>
            <a:r>
              <a:rPr lang="pt-BR" dirty="0"/>
              <a:t>A expressão é sempre verdadeira, podendo ser simplificada .</a:t>
            </a:r>
          </a:p>
          <a:p>
            <a:pPr marL="457200" lvl="1" indent="0">
              <a:buNone/>
            </a:pPr>
            <a:endParaRPr lang="pt-BR" sz="2000" dirty="0"/>
          </a:p>
          <a:p>
            <a:pPr marL="457200" lvl="1" indent="0">
              <a:buNone/>
            </a:pPr>
            <a:r>
              <a:rPr lang="pt-BR" sz="2000" dirty="0"/>
              <a:t>	</a:t>
            </a:r>
            <a:endParaRPr lang="pt-BR" sz="2200" dirty="0"/>
          </a:p>
          <a:p>
            <a:pPr marL="914400" lvl="2" indent="0">
              <a:buNone/>
            </a:pPr>
            <a:r>
              <a:rPr lang="pt-BR" sz="2200" dirty="0"/>
              <a:t>	</a:t>
            </a:r>
            <a:r>
              <a:rPr lang="pt-BR" sz="1600" dirty="0"/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306357626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C18120-747C-3765-FEAB-886F5F8D41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7C5F6AB2-5744-B8DE-034D-2151A85E4C8C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7D76049-7086-6481-6997-05835EA594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CLASSIFICAÇÃO DE EXPRESSÕES LÓGICAS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B2FFA2C7-0613-FF59-BD3F-4171035C2F8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07D16953-5232-204A-8E2A-A4751FCDFC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03835" y="1619793"/>
            <a:ext cx="8784330" cy="4980864"/>
          </a:xfrm>
        </p:spPr>
        <p:txBody>
          <a:bodyPr>
            <a:normAutofit/>
          </a:bodyPr>
          <a:lstStyle/>
          <a:p>
            <a:pPr marL="457200" indent="-457200">
              <a:buFont typeface="+mj-lt"/>
              <a:buAutoNum type="arabicPeriod" startAt="2"/>
            </a:pPr>
            <a:r>
              <a:rPr lang="pt-BR" sz="2400" b="1" dirty="0"/>
              <a:t>Contradições: </a:t>
            </a:r>
            <a:r>
              <a:rPr lang="pt-BR" sz="2400" dirty="0"/>
              <a:t>ocorre quando o resultado de uma proposição é sempre falso, não importando quais sejam os valores de P e Q.</a:t>
            </a:r>
          </a:p>
          <a:p>
            <a:pPr marL="914400" lvl="1" indent="-457200">
              <a:buFont typeface="+mj-lt"/>
              <a:buAutoNum type="arabicPeriod" startAt="2"/>
            </a:pPr>
            <a:endParaRPr lang="pt-BR" sz="2200" dirty="0"/>
          </a:p>
          <a:p>
            <a:pPr lvl="1"/>
            <a:r>
              <a:rPr lang="pt-BR" sz="2200" i="1" dirty="0"/>
              <a:t>Exemplo: P ∧ ¬P </a:t>
            </a:r>
          </a:p>
          <a:p>
            <a:pPr lvl="1"/>
            <a:r>
              <a:rPr lang="pt-BR" sz="2200" dirty="0"/>
              <a:t>A expressão é sempre falsa, podendo ser simplificada </a:t>
            </a:r>
          </a:p>
          <a:p>
            <a:pPr marL="457200" lvl="1" indent="0">
              <a:buNone/>
            </a:pPr>
            <a:endParaRPr lang="pt-BR" sz="2000" dirty="0"/>
          </a:p>
          <a:p>
            <a:pPr marL="457200" indent="-457200">
              <a:buFont typeface="+mj-lt"/>
              <a:buAutoNum type="arabicPeriod" startAt="2"/>
            </a:pPr>
            <a:r>
              <a:rPr lang="pt-BR" sz="2400" b="1" dirty="0"/>
              <a:t>Contingências: </a:t>
            </a:r>
            <a:r>
              <a:rPr lang="pt-BR" sz="2400" dirty="0"/>
              <a:t>é uma proposição que pode ser verdadeira em algumas situações e falsa em outras. </a:t>
            </a:r>
          </a:p>
          <a:p>
            <a:pPr marL="914400" lvl="1" indent="-457200">
              <a:buFont typeface="+mj-lt"/>
              <a:buAutoNum type="arabicPeriod" startAt="2"/>
            </a:pPr>
            <a:endParaRPr lang="pt-BR" sz="1800" b="1" dirty="0"/>
          </a:p>
          <a:p>
            <a:pPr lvl="1"/>
            <a:r>
              <a:rPr lang="pt-BR" sz="2200" i="1" dirty="0"/>
              <a:t>Exemplo: P∧ Q</a:t>
            </a:r>
          </a:p>
          <a:p>
            <a:pPr lvl="1"/>
            <a:r>
              <a:rPr lang="pt-BR" sz="2200" dirty="0"/>
              <a:t>A maioria das expressões pertence a esta categoria. </a:t>
            </a:r>
            <a:r>
              <a:rPr lang="pt-BR" sz="2200" b="1" dirty="0"/>
              <a:t>	</a:t>
            </a:r>
            <a:r>
              <a:rPr lang="pt-BR" sz="1200" dirty="0"/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7891641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58ABAB-56D7-9CBC-370B-FF59FDBD8E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6726A8BD-5AD8-F1B1-F74D-C3D2AB36A6CD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F510B8F9-52AA-08C9-8463-58647553B0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FORMAS NORMAIS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754F3258-DB71-B496-3236-EF9FEC4C993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63D14C3B-8ACB-F5AE-0625-7925BA2C0E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70221" y="1679742"/>
            <a:ext cx="8360261" cy="4800600"/>
          </a:xfrm>
        </p:spPr>
        <p:txBody>
          <a:bodyPr>
            <a:normAutofit/>
          </a:bodyPr>
          <a:lstStyle/>
          <a:p>
            <a:r>
              <a:rPr lang="pt-BR" sz="2400" dirty="0"/>
              <a:t>Representações padronizadas das expressões lógicas usando apenas os operadores básicos (NOT / AND / OR)</a:t>
            </a:r>
          </a:p>
          <a:p>
            <a:endParaRPr lang="pt-BR" sz="2400" dirty="0"/>
          </a:p>
          <a:p>
            <a:r>
              <a:rPr lang="pt-BR" sz="2400" dirty="0"/>
              <a:t>A ideia é padronizar a escrita das expressões e facilitar o processo de simplificação algébrica</a:t>
            </a:r>
          </a:p>
          <a:p>
            <a:endParaRPr lang="pt-BR" sz="2400" dirty="0"/>
          </a:p>
          <a:p>
            <a:r>
              <a:rPr lang="pt-BR" sz="2400" dirty="0"/>
              <a:t>Existem duas formas normais: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b="1" dirty="0"/>
              <a:t>Forma Normal Disjuntiva (FND)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b="1" dirty="0"/>
              <a:t>Forma Normal Conjuntiva (FNC)</a:t>
            </a:r>
            <a:endParaRPr lang="pt-BR" sz="2200" dirty="0"/>
          </a:p>
          <a:p>
            <a:pPr lvl="1"/>
            <a:endParaRPr lang="pt-BR" sz="2000" dirty="0"/>
          </a:p>
          <a:p>
            <a:endParaRPr lang="pt-BR" sz="2400" dirty="0"/>
          </a:p>
        </p:txBody>
      </p:sp>
    </p:spTree>
    <p:extLst>
      <p:ext uri="{BB962C8B-B14F-4D97-AF65-F5344CB8AC3E}">
        <p14:creationId xmlns:p14="http://schemas.microsoft.com/office/powerpoint/2010/main" val="428496543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E082FA-22CF-DA11-8BB8-BAFF0A6C56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30443F69-E97F-547E-43B0-B1751897AADE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1EE1F66-765D-1BD6-E285-CC38CA54A5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FORMAS NORMAIS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5C5272B4-913A-D086-B7A5-10FE17BE1B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61517" y="1714500"/>
            <a:ext cx="9701783" cy="4800600"/>
          </a:xfrm>
        </p:spPr>
        <p:txBody>
          <a:bodyPr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pt-BR" sz="2400" b="1" dirty="0"/>
              <a:t>Forma Normal Disjuntiva (FND) ou Soma de Produtos</a:t>
            </a:r>
          </a:p>
          <a:p>
            <a:pPr marL="914400" lvl="1" indent="-457200">
              <a:buFont typeface="+mj-lt"/>
              <a:buAutoNum type="arabicPeriod"/>
            </a:pPr>
            <a:endParaRPr lang="pt-BR" sz="1600" dirty="0"/>
          </a:p>
          <a:p>
            <a:pPr lvl="1"/>
            <a:r>
              <a:rPr lang="pt-BR" sz="2200" dirty="0"/>
              <a:t>A expressão é construída por </a:t>
            </a:r>
            <a:r>
              <a:rPr lang="pt-BR" sz="2200" b="1" dirty="0"/>
              <a:t>conjunções (E) </a:t>
            </a:r>
            <a:r>
              <a:rPr lang="pt-BR" sz="2200" dirty="0"/>
              <a:t>unidas por </a:t>
            </a:r>
            <a:r>
              <a:rPr lang="pt-BR" sz="2200" b="1" dirty="0"/>
              <a:t>disjunções (OU)</a:t>
            </a:r>
            <a:r>
              <a:rPr lang="pt-BR" sz="2200" dirty="0"/>
              <a:t> .</a:t>
            </a:r>
          </a:p>
          <a:p>
            <a:pPr lvl="1"/>
            <a:r>
              <a:rPr lang="pt-BR" sz="2200" dirty="0"/>
              <a:t>Exemplo: (A ∧ B) ∨ (C ∧ D) ∨ (E ∧ F)</a:t>
            </a:r>
            <a:endParaRPr lang="pt-BR" sz="2400" dirty="0"/>
          </a:p>
          <a:p>
            <a:pPr lvl="1"/>
            <a:r>
              <a:rPr lang="pt-BR" sz="2200" i="1" dirty="0"/>
              <a:t>Como construir a FND a partir da tabela verdade:</a:t>
            </a:r>
          </a:p>
          <a:p>
            <a:pPr lvl="1"/>
            <a:endParaRPr lang="pt-BR" sz="2000" dirty="0"/>
          </a:p>
          <a:p>
            <a:endParaRPr lang="pt-BR" sz="2400" dirty="0"/>
          </a:p>
        </p:txBody>
      </p:sp>
      <p:graphicFrame>
        <p:nvGraphicFramePr>
          <p:cNvPr id="3" name="Tabela 2">
            <a:extLst>
              <a:ext uri="{FF2B5EF4-FFF2-40B4-BE49-F238E27FC236}">
                <a16:creationId xmlns:a16="http://schemas.microsoft.com/office/drawing/2014/main" id="{2235DCC4-412B-CE1C-C86C-28D1B9E2F8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6735039"/>
              </p:ext>
            </p:extLst>
          </p:nvPr>
        </p:nvGraphicFramePr>
        <p:xfrm>
          <a:off x="1461517" y="3924300"/>
          <a:ext cx="5112768" cy="2590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4256">
                  <a:extLst>
                    <a:ext uri="{9D8B030D-6E8A-4147-A177-3AD203B41FA5}">
                      <a16:colId xmlns:a16="http://schemas.microsoft.com/office/drawing/2014/main" val="3352659932"/>
                    </a:ext>
                  </a:extLst>
                </a:gridCol>
                <a:gridCol w="1704256">
                  <a:extLst>
                    <a:ext uri="{9D8B030D-6E8A-4147-A177-3AD203B41FA5}">
                      <a16:colId xmlns:a16="http://schemas.microsoft.com/office/drawing/2014/main" val="3526495656"/>
                    </a:ext>
                  </a:extLst>
                </a:gridCol>
                <a:gridCol w="1704256">
                  <a:extLst>
                    <a:ext uri="{9D8B030D-6E8A-4147-A177-3AD203B41FA5}">
                      <a16:colId xmlns:a16="http://schemas.microsoft.com/office/drawing/2014/main" val="1372818486"/>
                    </a:ext>
                  </a:extLst>
                </a:gridCol>
              </a:tblGrid>
              <a:tr h="462819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Q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13103353"/>
                  </a:ext>
                </a:extLst>
              </a:tr>
              <a:tr h="578581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02035967"/>
                  </a:ext>
                </a:extLst>
              </a:tr>
              <a:tr h="523510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43687263"/>
                  </a:ext>
                </a:extLst>
              </a:tr>
              <a:tr h="505190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69305236"/>
                  </a:ext>
                </a:extLst>
              </a:tr>
              <a:tr h="520700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2939433"/>
                  </a:ext>
                </a:extLst>
              </a:tr>
            </a:tbl>
          </a:graphicData>
        </a:graphic>
      </p:graphicFrame>
      <p:sp>
        <p:nvSpPr>
          <p:cNvPr id="4" name="Retângulo 3">
            <a:extLst>
              <a:ext uri="{FF2B5EF4-FFF2-40B4-BE49-F238E27FC236}">
                <a16:creationId xmlns:a16="http://schemas.microsoft.com/office/drawing/2014/main" id="{A0DFBAFC-BE73-A620-A90E-1C1D134F6534}"/>
              </a:ext>
            </a:extLst>
          </p:cNvPr>
          <p:cNvSpPr/>
          <p:nvPr/>
        </p:nvSpPr>
        <p:spPr>
          <a:xfrm>
            <a:off x="1461518" y="4911765"/>
            <a:ext cx="5112768" cy="561935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C2588E82-BB32-0FA0-7430-0AAB175D8CFF}"/>
              </a:ext>
            </a:extLst>
          </p:cNvPr>
          <p:cNvSpPr/>
          <p:nvPr/>
        </p:nvSpPr>
        <p:spPr>
          <a:xfrm>
            <a:off x="1461518" y="5954693"/>
            <a:ext cx="5112768" cy="506472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85A56699-F253-A6D4-A7CE-2A17E0E642E1}"/>
              </a:ext>
            </a:extLst>
          </p:cNvPr>
          <p:cNvSpPr txBox="1"/>
          <p:nvPr/>
        </p:nvSpPr>
        <p:spPr>
          <a:xfrm>
            <a:off x="7838567" y="3784600"/>
            <a:ext cx="1559433" cy="1908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Linha 2: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dirty="0"/>
              <a:t>P = F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dirty="0"/>
              <a:t>Q = V</a:t>
            </a:r>
          </a:p>
          <a:p>
            <a:endParaRPr lang="pt-BR" sz="2000" dirty="0"/>
          </a:p>
          <a:p>
            <a:r>
              <a:rPr lang="pt-BR" sz="2000" dirty="0"/>
              <a:t>Termo: ¬P∧Q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B48933C4-E8BB-C395-8F6B-003577A1626E}"/>
              </a:ext>
            </a:extLst>
          </p:cNvPr>
          <p:cNvSpPr txBox="1"/>
          <p:nvPr/>
        </p:nvSpPr>
        <p:spPr>
          <a:xfrm>
            <a:off x="9832467" y="3784600"/>
            <a:ext cx="1559433" cy="1908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Linha 4: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dirty="0"/>
              <a:t>P = V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dirty="0"/>
              <a:t>Q = V</a:t>
            </a:r>
          </a:p>
          <a:p>
            <a:endParaRPr lang="pt-BR" sz="2000" dirty="0"/>
          </a:p>
          <a:p>
            <a:r>
              <a:rPr lang="pt-BR" sz="2000" dirty="0"/>
              <a:t>Termo: P∧Q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EF5AB5F1-61CF-9CB6-6C34-C153F756BE3C}"/>
              </a:ext>
            </a:extLst>
          </p:cNvPr>
          <p:cNvSpPr txBox="1"/>
          <p:nvPr/>
        </p:nvSpPr>
        <p:spPr>
          <a:xfrm>
            <a:off x="8216900" y="5981700"/>
            <a:ext cx="3175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/>
              <a:t>FND = (¬P ∧ Q) ∨ (P ∧ Q) </a:t>
            </a:r>
          </a:p>
        </p:txBody>
      </p:sp>
    </p:spTree>
    <p:extLst>
      <p:ext uri="{BB962C8B-B14F-4D97-AF65-F5344CB8AC3E}">
        <p14:creationId xmlns:p14="http://schemas.microsoft.com/office/powerpoint/2010/main" val="283599586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437022-05AF-B9DE-EBC3-090977CF80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11D92052-68B5-C5B5-0ACC-8FC92A11D0C0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6A9CCD9-0AAC-E98D-B5AB-C72E729119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FORMAS NORMAIS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07E16FB8-3C10-AF41-7CB4-46D8D5031EB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6221B1B6-E31B-6E05-1CA3-F430D78DBD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61517" y="1643061"/>
            <a:ext cx="9268965" cy="4800600"/>
          </a:xfrm>
        </p:spPr>
        <p:txBody>
          <a:bodyPr>
            <a:normAutofit/>
          </a:bodyPr>
          <a:lstStyle/>
          <a:p>
            <a:pPr marL="457200" indent="-457200">
              <a:buFont typeface="+mj-lt"/>
              <a:buAutoNum type="arabicPeriod" startAt="2"/>
            </a:pPr>
            <a:r>
              <a:rPr lang="pt-BR" sz="2400" b="1" dirty="0"/>
              <a:t>Forma Normal Conjuntiva (FNC) ou Produto de Somas</a:t>
            </a:r>
          </a:p>
          <a:p>
            <a:pPr marL="914400" lvl="1" indent="-457200">
              <a:buFont typeface="+mj-lt"/>
              <a:buAutoNum type="arabicPeriod"/>
            </a:pPr>
            <a:endParaRPr lang="pt-BR" sz="1600" dirty="0"/>
          </a:p>
          <a:p>
            <a:pPr lvl="1"/>
            <a:r>
              <a:rPr lang="pt-BR" sz="2200" dirty="0"/>
              <a:t>A expressão é construída por </a:t>
            </a:r>
            <a:r>
              <a:rPr lang="pt-BR" sz="2200" b="1" dirty="0"/>
              <a:t>disjunções (OU)</a:t>
            </a:r>
            <a:r>
              <a:rPr lang="pt-BR" sz="2200" dirty="0"/>
              <a:t> unidas por </a:t>
            </a:r>
            <a:r>
              <a:rPr lang="pt-BR" sz="2200" b="1" dirty="0"/>
              <a:t>conjunções (E)</a:t>
            </a:r>
            <a:r>
              <a:rPr lang="pt-BR" sz="2200" dirty="0"/>
              <a:t> </a:t>
            </a:r>
            <a:endParaRPr lang="pt-BR" sz="2200" b="1" dirty="0"/>
          </a:p>
          <a:p>
            <a:pPr lvl="1"/>
            <a:r>
              <a:rPr lang="pt-BR" sz="2200" dirty="0"/>
              <a:t>Essencialmente, a FNC é o inverso da FND</a:t>
            </a:r>
          </a:p>
          <a:p>
            <a:pPr lvl="1"/>
            <a:r>
              <a:rPr lang="pt-BR" sz="2200" i="1" dirty="0"/>
              <a:t>Como construir a FND a partir da tabela verdade:</a:t>
            </a:r>
          </a:p>
          <a:p>
            <a:endParaRPr lang="pt-BR" sz="2400" dirty="0"/>
          </a:p>
        </p:txBody>
      </p:sp>
      <p:graphicFrame>
        <p:nvGraphicFramePr>
          <p:cNvPr id="3" name="Tabela 2">
            <a:extLst>
              <a:ext uri="{FF2B5EF4-FFF2-40B4-BE49-F238E27FC236}">
                <a16:creationId xmlns:a16="http://schemas.microsoft.com/office/drawing/2014/main" id="{12B862C2-2AE7-DAAD-3DE1-3E3AAC2120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7987081"/>
              </p:ext>
            </p:extLst>
          </p:nvPr>
        </p:nvGraphicFramePr>
        <p:xfrm>
          <a:off x="1993900" y="3812742"/>
          <a:ext cx="5011167" cy="28043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0389">
                  <a:extLst>
                    <a:ext uri="{9D8B030D-6E8A-4147-A177-3AD203B41FA5}">
                      <a16:colId xmlns:a16="http://schemas.microsoft.com/office/drawing/2014/main" val="3352659932"/>
                    </a:ext>
                  </a:extLst>
                </a:gridCol>
                <a:gridCol w="1670389">
                  <a:extLst>
                    <a:ext uri="{9D8B030D-6E8A-4147-A177-3AD203B41FA5}">
                      <a16:colId xmlns:a16="http://schemas.microsoft.com/office/drawing/2014/main" val="3526495656"/>
                    </a:ext>
                  </a:extLst>
                </a:gridCol>
                <a:gridCol w="1670389">
                  <a:extLst>
                    <a:ext uri="{9D8B030D-6E8A-4147-A177-3AD203B41FA5}">
                      <a16:colId xmlns:a16="http://schemas.microsoft.com/office/drawing/2014/main" val="1372818486"/>
                    </a:ext>
                  </a:extLst>
                </a:gridCol>
              </a:tblGrid>
              <a:tr h="466367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Q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13103353"/>
                  </a:ext>
                </a:extLst>
              </a:tr>
              <a:tr h="562333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02035967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43687263"/>
                  </a:ext>
                </a:extLst>
              </a:tr>
              <a:tr h="579586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69305236"/>
                  </a:ext>
                </a:extLst>
              </a:tr>
              <a:tr h="561107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2939433"/>
                  </a:ext>
                </a:extLst>
              </a:tr>
            </a:tbl>
          </a:graphicData>
        </a:graphic>
      </p:graphicFrame>
      <p:sp>
        <p:nvSpPr>
          <p:cNvPr id="4" name="Retângulo 3">
            <a:extLst>
              <a:ext uri="{FF2B5EF4-FFF2-40B4-BE49-F238E27FC236}">
                <a16:creationId xmlns:a16="http://schemas.microsoft.com/office/drawing/2014/main" id="{A2044466-C146-9CDE-12CB-B03C85378BD3}"/>
              </a:ext>
            </a:extLst>
          </p:cNvPr>
          <p:cNvSpPr/>
          <p:nvPr/>
        </p:nvSpPr>
        <p:spPr>
          <a:xfrm>
            <a:off x="1993901" y="4230297"/>
            <a:ext cx="5011166" cy="662781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F1A50CD5-3422-583D-8547-5A233D766228}"/>
              </a:ext>
            </a:extLst>
          </p:cNvPr>
          <p:cNvSpPr/>
          <p:nvPr/>
        </p:nvSpPr>
        <p:spPr>
          <a:xfrm>
            <a:off x="1993900" y="5443209"/>
            <a:ext cx="5011166" cy="662782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0659FAC5-F346-F983-8453-89378AD17FBA}"/>
              </a:ext>
            </a:extLst>
          </p:cNvPr>
          <p:cNvSpPr txBox="1"/>
          <p:nvPr/>
        </p:nvSpPr>
        <p:spPr>
          <a:xfrm>
            <a:off x="7758144" y="3720214"/>
            <a:ext cx="2439954" cy="1908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Linha 1: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dirty="0"/>
              <a:t>P = F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dirty="0"/>
              <a:t>Q = F</a:t>
            </a:r>
          </a:p>
          <a:p>
            <a:endParaRPr lang="pt-BR" sz="2000" dirty="0"/>
          </a:p>
          <a:p>
            <a:r>
              <a:rPr lang="pt-BR" sz="2000" dirty="0"/>
              <a:t>Termo: P∨Q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C1FBBBE7-530E-26EB-43A7-B7A02807F410}"/>
              </a:ext>
            </a:extLst>
          </p:cNvPr>
          <p:cNvSpPr txBox="1"/>
          <p:nvPr/>
        </p:nvSpPr>
        <p:spPr>
          <a:xfrm>
            <a:off x="10198099" y="3720214"/>
            <a:ext cx="1559433" cy="1908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Linha 3: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dirty="0"/>
              <a:t>P = V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dirty="0"/>
              <a:t>Q = F</a:t>
            </a:r>
          </a:p>
          <a:p>
            <a:endParaRPr lang="pt-BR" sz="2000" dirty="0"/>
          </a:p>
          <a:p>
            <a:r>
              <a:rPr lang="pt-BR" sz="2000" dirty="0"/>
              <a:t>Termo: ¬P∨Q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FC1907F8-4486-05E9-6BB3-0A162EA17055}"/>
              </a:ext>
            </a:extLst>
          </p:cNvPr>
          <p:cNvSpPr txBox="1"/>
          <p:nvPr/>
        </p:nvSpPr>
        <p:spPr>
          <a:xfrm>
            <a:off x="8610599" y="5575942"/>
            <a:ext cx="3175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/>
              <a:t>FNC = (P∨Q) ∧ (¬ P∨Q)</a:t>
            </a:r>
          </a:p>
        </p:txBody>
      </p:sp>
    </p:spTree>
    <p:extLst>
      <p:ext uri="{BB962C8B-B14F-4D97-AF65-F5344CB8AC3E}">
        <p14:creationId xmlns:p14="http://schemas.microsoft.com/office/powerpoint/2010/main" val="132083318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37F0D9-66ED-56EE-3264-84913978BA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55BAB3D4-51EA-1D9F-08B9-4D1DAE31D6CD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C255F8C-A030-3515-3C30-C973559E25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FORMAS NORMAIS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EB1C85E-E816-8077-A017-DD54F3C050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3716" y="1733119"/>
            <a:ext cx="10784568" cy="4517571"/>
          </a:xfrm>
        </p:spPr>
        <p:txBody>
          <a:bodyPr>
            <a:normAutofit/>
          </a:bodyPr>
          <a:lstStyle/>
          <a:p>
            <a:r>
              <a:rPr lang="pt-BR" sz="2200" dirty="0"/>
              <a:t>Cada disjunção na FND representa uma combinação específica que torna a expressão verdadeira. A conjunção reúne todas essas possibilidades.</a:t>
            </a:r>
          </a:p>
          <a:p>
            <a:endParaRPr lang="pt-BR" sz="2200" dirty="0"/>
          </a:p>
          <a:p>
            <a:pPr lvl="1"/>
            <a:r>
              <a:rPr lang="pt-BR" sz="2000" dirty="0"/>
              <a:t>A FND aponta diretamente para as combinações que assumem um valor verdadeiro (Assumindo que, para a conjunção, ambos precisam ter valor lógico verdadeiro)</a:t>
            </a:r>
          </a:p>
          <a:p>
            <a:endParaRPr lang="pt-BR" sz="2200" dirty="0"/>
          </a:p>
          <a:p>
            <a:r>
              <a:rPr lang="pt-BR" sz="2200" dirty="0"/>
              <a:t>Na FNC </a:t>
            </a:r>
            <a:r>
              <a:rPr lang="pt-BR" sz="2400" dirty="0"/>
              <a:t>Em vez de construir cláusulas que identificam onde a expressão é verdadeira, ela constrói cláusulas que eliminam exatamente as linhas falsas.</a:t>
            </a:r>
          </a:p>
          <a:p>
            <a:endParaRPr lang="pt-BR" sz="2400" dirty="0"/>
          </a:p>
          <a:p>
            <a:pPr lvl="1"/>
            <a:r>
              <a:rPr lang="pt-BR" sz="2000" dirty="0"/>
              <a:t>As disjunções apontam para as combinações que resultam em falso, as conjunções (nesse caso) exigem que todas as cláusulas sejam verdadeiras ao mesmo tempo. </a:t>
            </a:r>
            <a:endParaRPr lang="pt-BR" sz="2200" dirty="0"/>
          </a:p>
          <a:p>
            <a:endParaRPr lang="pt-BR" sz="2400" dirty="0"/>
          </a:p>
        </p:txBody>
      </p:sp>
    </p:spTree>
    <p:extLst>
      <p:ext uri="{BB962C8B-B14F-4D97-AF65-F5344CB8AC3E}">
        <p14:creationId xmlns:p14="http://schemas.microsoft.com/office/powerpoint/2010/main" val="401177786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EA03EA-EF49-B291-088D-687E150592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5767BEE0-D39B-7515-23DD-2AEDC7BE84F5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FC59D06A-2A42-FD62-104D-A406E36CDB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FIXAÇÃO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9E676ED-E7DC-0DFE-7341-79D2058D39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63733" y="1878072"/>
            <a:ext cx="5664534" cy="4669971"/>
          </a:xfrm>
        </p:spPr>
        <p:txBody>
          <a:bodyPr>
            <a:normAutofit/>
          </a:bodyPr>
          <a:lstStyle/>
          <a:p>
            <a:r>
              <a:rPr lang="pt-BR" sz="2400" dirty="0"/>
              <a:t>1. Classifique as sentenças abaixo em Proposição ou Não Proposição</a:t>
            </a:r>
            <a:endParaRPr lang="pt-BR" sz="2000" dirty="0"/>
          </a:p>
          <a:p>
            <a:pPr lvl="1"/>
            <a:endParaRPr lang="pt-BR" sz="2000" dirty="0"/>
          </a:p>
          <a:p>
            <a:pPr marL="914400" lvl="1" indent="-457200">
              <a:buFont typeface="+mj-lt"/>
              <a:buAutoNum type="alphaUcPeriod"/>
            </a:pPr>
            <a:r>
              <a:rPr lang="pt-BR" sz="2000" dirty="0"/>
              <a:t>O Brasil fica na América do Sul.</a:t>
            </a:r>
          </a:p>
          <a:p>
            <a:pPr marL="914400" lvl="1" indent="-457200">
              <a:buFont typeface="+mj-lt"/>
              <a:buAutoNum type="alphaUcPeriod"/>
            </a:pPr>
            <a:r>
              <a:rPr lang="pt-BR" sz="2000" dirty="0"/>
              <a:t>Feche a porta.</a:t>
            </a:r>
          </a:p>
          <a:p>
            <a:pPr marL="914400" lvl="1" indent="-457200">
              <a:buFont typeface="+mj-lt"/>
              <a:buAutoNum type="alphaUcPeriod"/>
            </a:pPr>
            <a:r>
              <a:rPr lang="pt-BR" sz="2000" dirty="0"/>
              <a:t>2 + 2 = 5.</a:t>
            </a:r>
          </a:p>
          <a:p>
            <a:pPr marL="914400" lvl="1" indent="-457200">
              <a:buFont typeface="+mj-lt"/>
              <a:buAutoNum type="alphaUcPeriod"/>
            </a:pPr>
            <a:r>
              <a:rPr lang="pt-BR" sz="2000" dirty="0"/>
              <a:t>Qual é o seu nome?</a:t>
            </a:r>
          </a:p>
          <a:p>
            <a:pPr marL="914400" lvl="1" indent="-457200">
              <a:buFont typeface="+mj-lt"/>
              <a:buAutoNum type="alphaUcPeriod"/>
            </a:pPr>
            <a:r>
              <a:rPr lang="pt-BR" sz="2000" dirty="0"/>
              <a:t>Hoje está chovendo.</a:t>
            </a:r>
          </a:p>
          <a:p>
            <a:pPr marL="914400" lvl="1" indent="-457200">
              <a:buFont typeface="+mj-lt"/>
              <a:buAutoNum type="alphaUcPeriod"/>
            </a:pPr>
            <a:r>
              <a:rPr lang="pt-BR" sz="2000" dirty="0"/>
              <a:t>x + 3 = 7.</a:t>
            </a:r>
          </a:p>
          <a:p>
            <a:pPr marL="914400" lvl="1" indent="-457200">
              <a:buFont typeface="+mj-lt"/>
              <a:buAutoNum type="alphaUcPeriod"/>
            </a:pPr>
            <a:r>
              <a:rPr lang="pt-BR" sz="2000" dirty="0"/>
              <a:t>Todo computador possui memória RAM.</a:t>
            </a:r>
          </a:p>
          <a:p>
            <a:pPr marL="914400" lvl="1" indent="-457200">
              <a:buFont typeface="+mj-lt"/>
              <a:buAutoNum type="alphaUcPeriod"/>
            </a:pPr>
            <a:r>
              <a:rPr lang="pt-BR" sz="2000" dirty="0"/>
              <a:t>Que filme interessante!</a:t>
            </a:r>
          </a:p>
        </p:txBody>
      </p:sp>
    </p:spTree>
    <p:extLst>
      <p:ext uri="{BB962C8B-B14F-4D97-AF65-F5344CB8AC3E}">
        <p14:creationId xmlns:p14="http://schemas.microsoft.com/office/powerpoint/2010/main" val="72226356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0D91DA-A5EA-A2AB-F8AB-A4F80208C8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1252498C-CC2E-D731-9130-680DA391E139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3A98B74-1D0F-862D-E3D3-28AFA0263B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FIXAÇÃO</a:t>
            </a:r>
          </a:p>
        </p:txBody>
      </p:sp>
      <p:sp>
        <p:nvSpPr>
          <p:cNvPr id="3" name="Espaço Reservado para Conteúdo 5">
            <a:extLst>
              <a:ext uri="{FF2B5EF4-FFF2-40B4-BE49-F238E27FC236}">
                <a16:creationId xmlns:a16="http://schemas.microsoft.com/office/drawing/2014/main" id="{752E2BDE-F25E-3A64-65AD-497643F065C1}"/>
              </a:ext>
            </a:extLst>
          </p:cNvPr>
          <p:cNvSpPr txBox="1">
            <a:spLocks/>
          </p:cNvSpPr>
          <p:nvPr/>
        </p:nvSpPr>
        <p:spPr>
          <a:xfrm>
            <a:off x="120889" y="1609939"/>
            <a:ext cx="6893522" cy="508363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Arial" panose="020B0604020202020204" pitchFamily="34" charset="0"/>
              <a:buNone/>
            </a:pPr>
            <a:r>
              <a:rPr lang="pt-BR" sz="2400" dirty="0"/>
              <a:t>1 – Considerando:</a:t>
            </a:r>
          </a:p>
          <a:p>
            <a:pPr lvl="1"/>
            <a:endParaRPr lang="pt-BR" sz="2000" dirty="0"/>
          </a:p>
          <a:p>
            <a:pPr lvl="1"/>
            <a:r>
              <a:rPr lang="pt-BR" sz="2000" dirty="0"/>
              <a:t>p: "João estuda." </a:t>
            </a:r>
          </a:p>
          <a:p>
            <a:pPr lvl="1"/>
            <a:r>
              <a:rPr lang="pt-BR" sz="2000" dirty="0"/>
              <a:t>q: "João trabalha." </a:t>
            </a:r>
          </a:p>
          <a:p>
            <a:pPr lvl="1"/>
            <a:r>
              <a:rPr lang="pt-BR" sz="2000" dirty="0"/>
              <a:t>r: "João é aprovado.“</a:t>
            </a:r>
          </a:p>
          <a:p>
            <a:pPr marL="457200" lvl="1" indent="0">
              <a:buNone/>
            </a:pPr>
            <a:r>
              <a:rPr lang="pt-BR" sz="2000" dirty="0"/>
              <a:t> </a:t>
            </a:r>
            <a:endParaRPr lang="pt-BR" sz="2400" dirty="0"/>
          </a:p>
          <a:p>
            <a:pPr>
              <a:buFont typeface="Arial" panose="020B0604020202020204" pitchFamily="34" charset="0"/>
              <a:buNone/>
            </a:pPr>
            <a:r>
              <a:rPr lang="pt-BR" sz="2400" dirty="0"/>
              <a:t>Escreva em linguagem simbólica e monte a tabela-verdade:</a:t>
            </a:r>
          </a:p>
          <a:p>
            <a:pPr lvl="1">
              <a:buFont typeface="Arial" panose="020B0604020202020204" pitchFamily="34" charset="0"/>
              <a:buNone/>
            </a:pPr>
            <a:endParaRPr lang="pt-BR" dirty="0"/>
          </a:p>
          <a:p>
            <a:pPr lvl="1">
              <a:buFont typeface="Arial" panose="020B0604020202020204" pitchFamily="34" charset="0"/>
              <a:buNone/>
            </a:pPr>
            <a:r>
              <a:rPr lang="pt-BR" dirty="0"/>
              <a:t>a) João estuda e trabalha.</a:t>
            </a:r>
          </a:p>
          <a:p>
            <a:pPr lvl="1">
              <a:buFont typeface="Arial" panose="020B0604020202020204" pitchFamily="34" charset="0"/>
              <a:buNone/>
            </a:pPr>
            <a:r>
              <a:rPr lang="pt-BR" dirty="0"/>
              <a:t>b) João não trabalha.</a:t>
            </a:r>
          </a:p>
          <a:p>
            <a:pPr lvl="1">
              <a:buFont typeface="Arial" panose="020B0604020202020204" pitchFamily="34" charset="0"/>
              <a:buNone/>
            </a:pPr>
            <a:r>
              <a:rPr lang="pt-BR" dirty="0"/>
              <a:t>c) João estuda ou trabalha.</a:t>
            </a:r>
          </a:p>
          <a:p>
            <a:pPr lvl="1">
              <a:buFont typeface="Arial" panose="020B0604020202020204" pitchFamily="34" charset="0"/>
              <a:buNone/>
            </a:pPr>
            <a:r>
              <a:rPr lang="pt-BR" dirty="0"/>
              <a:t>d) Se João estudar, será aprovado.</a:t>
            </a:r>
          </a:p>
          <a:p>
            <a:pPr lvl="1">
              <a:buFont typeface="Arial" panose="020B0604020202020204" pitchFamily="34" charset="0"/>
              <a:buNone/>
            </a:pPr>
            <a:r>
              <a:rPr lang="pt-BR" dirty="0"/>
              <a:t>e) João será aprovado somente se estudar.</a:t>
            </a:r>
          </a:p>
          <a:p>
            <a:pPr lvl="1">
              <a:buFont typeface="Arial" panose="020B0604020202020204" pitchFamily="34" charset="0"/>
              <a:buNone/>
            </a:pPr>
            <a:r>
              <a:rPr lang="pt-BR" dirty="0"/>
              <a:t>f) João estuda, trabalha e será aprovado.</a:t>
            </a:r>
          </a:p>
          <a:p>
            <a:pPr lvl="1">
              <a:buFont typeface="Arial" panose="020B0604020202020204" pitchFamily="34" charset="0"/>
              <a:buNone/>
            </a:pPr>
            <a:r>
              <a:rPr lang="pt-BR" dirty="0"/>
              <a:t>g) João não estuda nem trabalha.</a:t>
            </a:r>
          </a:p>
          <a:p>
            <a:endParaRPr lang="pt-BR" sz="2000" dirty="0"/>
          </a:p>
        </p:txBody>
      </p:sp>
      <p:sp>
        <p:nvSpPr>
          <p:cNvPr id="4" name="Espaço Reservado para Conteúdo 5">
            <a:extLst>
              <a:ext uri="{FF2B5EF4-FFF2-40B4-BE49-F238E27FC236}">
                <a16:creationId xmlns:a16="http://schemas.microsoft.com/office/drawing/2014/main" id="{1949CE3D-9504-9691-8E28-C4C08A9A77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9147" y="1609939"/>
            <a:ext cx="4055764" cy="5083630"/>
          </a:xfrm>
        </p:spPr>
        <p:txBody>
          <a:bodyPr>
            <a:normAutofit/>
          </a:bodyPr>
          <a:lstStyle/>
          <a:p>
            <a:pPr>
              <a:buNone/>
            </a:pPr>
            <a:r>
              <a:rPr lang="pt-BR" sz="2400" dirty="0"/>
              <a:t>2 – Considerando</a:t>
            </a:r>
          </a:p>
          <a:p>
            <a:pPr lvl="1"/>
            <a:endParaRPr lang="pt-BR" sz="2000" dirty="0"/>
          </a:p>
          <a:p>
            <a:pPr lvl="1"/>
            <a:r>
              <a:rPr lang="pt-BR" sz="2000" dirty="0"/>
              <a:t>p: V</a:t>
            </a:r>
          </a:p>
          <a:p>
            <a:pPr lvl="1"/>
            <a:r>
              <a:rPr lang="pt-BR" sz="2000" dirty="0"/>
              <a:t>q: F</a:t>
            </a:r>
          </a:p>
          <a:p>
            <a:pPr lvl="1"/>
            <a:r>
              <a:rPr lang="pt-BR" sz="2000" dirty="0"/>
              <a:t>r: V</a:t>
            </a:r>
          </a:p>
          <a:p>
            <a:pPr>
              <a:buNone/>
            </a:pPr>
            <a:r>
              <a:rPr lang="pt-BR" sz="2400" dirty="0"/>
              <a:t>Determine o valor lógico:</a:t>
            </a:r>
          </a:p>
          <a:p>
            <a:pPr marL="914400" lvl="1" indent="-457200">
              <a:buFont typeface="+mj-lt"/>
              <a:buAutoNum type="alphaUcPeriod"/>
            </a:pPr>
            <a:endParaRPr lang="pt-BR" dirty="0"/>
          </a:p>
          <a:p>
            <a:pPr marL="914400" lvl="1" indent="-457200">
              <a:buFont typeface="+mj-lt"/>
              <a:buAutoNum type="alphaUcPeriod"/>
            </a:pPr>
            <a:r>
              <a:rPr lang="pt-BR" sz="2000" dirty="0"/>
              <a:t>(p → q) → (¬q → ¬p)</a:t>
            </a:r>
          </a:p>
          <a:p>
            <a:pPr marL="914400" lvl="1" indent="-457200">
              <a:buFont typeface="+mj-lt"/>
              <a:buAutoNum type="alphaUcPeriod"/>
            </a:pPr>
            <a:r>
              <a:rPr lang="pt-BR" sz="2000" dirty="0"/>
              <a:t>(p ∧ q) ∨ (¬p ∧ r) </a:t>
            </a:r>
          </a:p>
          <a:p>
            <a:pPr marL="914400" lvl="1" indent="-457200">
              <a:buFont typeface="+mj-lt"/>
              <a:buAutoNum type="alphaUcPeriod"/>
            </a:pPr>
            <a:r>
              <a:rPr lang="pt-BR" sz="2000" dirty="0"/>
              <a:t>(p → q) ↔ (¬q → ¬p) </a:t>
            </a:r>
          </a:p>
          <a:p>
            <a:pPr marL="914400" lvl="1" indent="-457200">
              <a:buFont typeface="+mj-lt"/>
              <a:buAutoNum type="alphaUcPeriod"/>
            </a:pPr>
            <a:r>
              <a:rPr lang="pt-BR" sz="2000" dirty="0"/>
              <a:t>(p ∨ q) → (r ∧ p)</a:t>
            </a:r>
          </a:p>
          <a:p>
            <a:pPr marL="914400" lvl="1" indent="-457200">
              <a:buFont typeface="+mj-lt"/>
              <a:buAutoNum type="alphaUcPeriod"/>
            </a:pPr>
            <a:r>
              <a:rPr lang="pt-BR" sz="2000" dirty="0"/>
              <a:t>p → (¬p ∨ q ∨ r)</a:t>
            </a:r>
          </a:p>
        </p:txBody>
      </p:sp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F766641F-5714-6446-8261-83C5D50A36AE}"/>
              </a:ext>
            </a:extLst>
          </p:cNvPr>
          <p:cNvCxnSpPr/>
          <p:nvPr/>
        </p:nvCxnSpPr>
        <p:spPr>
          <a:xfrm>
            <a:off x="7423484" y="1325561"/>
            <a:ext cx="0" cy="553243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2124410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6CD776-7844-2F52-9329-67032F2D63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C82CD923-EB36-66C4-37A7-0EE1B510990D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7603507-8297-4269-818A-11BE84E375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FIXAÇÃO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F3D264AD-408A-565C-850B-89460A0392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73629" y="1655775"/>
            <a:ext cx="9644742" cy="4942113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pt-BR" sz="2400" dirty="0"/>
              <a:t>Considerando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p: "O servidor está ligado." </a:t>
            </a:r>
          </a:p>
          <a:p>
            <a:pPr lvl="1"/>
            <a:r>
              <a:rPr lang="pt-BR" sz="2200" dirty="0"/>
              <a:t>q: "A rede está funcionando." </a:t>
            </a:r>
          </a:p>
          <a:p>
            <a:pPr lvl="1"/>
            <a:r>
              <a:rPr lang="pt-BR" sz="2200" dirty="0"/>
              <a:t>r: "Os usuários conseguem acessar o sistema." </a:t>
            </a:r>
          </a:p>
          <a:p>
            <a:pPr marL="0" indent="0">
              <a:buNone/>
            </a:pPr>
            <a:endParaRPr lang="pt-BR" sz="2400" dirty="0"/>
          </a:p>
          <a:p>
            <a:pPr marL="0" indent="0">
              <a:buNone/>
            </a:pPr>
            <a:r>
              <a:rPr lang="pt-BR" sz="2400" dirty="0"/>
              <a:t>Escreva em lógica proposicional.</a:t>
            </a:r>
          </a:p>
          <a:p>
            <a:pPr lvl="1"/>
            <a:endParaRPr lang="pt-BR" sz="2200" dirty="0"/>
          </a:p>
          <a:p>
            <a:pPr marL="914400" lvl="1" indent="-457200">
              <a:buFont typeface="+mj-lt"/>
              <a:buAutoNum type="alphaUcPeriod"/>
            </a:pPr>
            <a:r>
              <a:rPr lang="pt-BR" sz="2200" dirty="0"/>
              <a:t>Se o servidor estiver ligado e a rede funcionar, então os usuários conseguem acessar o sistema.</a:t>
            </a:r>
          </a:p>
          <a:p>
            <a:pPr marL="914400" lvl="1" indent="-457200">
              <a:buFont typeface="+mj-lt"/>
              <a:buAutoNum type="alphaUcPeriod"/>
            </a:pPr>
            <a:r>
              <a:rPr lang="pt-BR" sz="2200" dirty="0"/>
              <a:t>Os usuários não conseguem acessar o sistema.</a:t>
            </a:r>
          </a:p>
          <a:p>
            <a:pPr marL="914400" lvl="1" indent="-457200">
              <a:buFont typeface="+mj-lt"/>
              <a:buAutoNum type="alphaUcPeriod"/>
            </a:pPr>
            <a:r>
              <a:rPr lang="pt-BR" sz="2200" dirty="0"/>
              <a:t>O servidor está ligado, mas a rede não funciona.</a:t>
            </a:r>
          </a:p>
          <a:p>
            <a:pPr marL="914400" lvl="1" indent="-457200">
              <a:buFont typeface="+mj-lt"/>
              <a:buAutoNum type="alphaUcPeriod"/>
            </a:pPr>
            <a:r>
              <a:rPr lang="pt-BR" sz="2200" dirty="0"/>
              <a:t>Se os usuários conseguem acessar o sistema, então o servidor está ligado.</a:t>
            </a:r>
          </a:p>
          <a:p>
            <a:pPr marL="914400" lvl="1" indent="-457200">
              <a:buFont typeface="+mj-lt"/>
              <a:buAutoNum type="alphaUcPeriod"/>
            </a:pPr>
            <a:r>
              <a:rPr lang="pt-BR" sz="2200" dirty="0"/>
              <a:t>O servidor está desligado ou a rede está funcionando.</a:t>
            </a:r>
          </a:p>
        </p:txBody>
      </p:sp>
    </p:spTree>
    <p:extLst>
      <p:ext uri="{BB962C8B-B14F-4D97-AF65-F5344CB8AC3E}">
        <p14:creationId xmlns:p14="http://schemas.microsoft.com/office/powerpoint/2010/main" val="411565810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D1F0B2-845E-21C3-0F3D-D7EBCC0785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63C2E2D-4E21-BD1A-A579-687F2B61D4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524919"/>
            <a:ext cx="12192000" cy="1808162"/>
          </a:xfrm>
          <a:ln>
            <a:noFill/>
          </a:ln>
        </p:spPr>
        <p:txBody>
          <a:bodyPr/>
          <a:lstStyle/>
          <a:p>
            <a:r>
              <a:rPr lang="pt-BR" dirty="0">
                <a:solidFill>
                  <a:schemeClr val="bg1"/>
                </a:solidFill>
              </a:rPr>
              <a:t>módulo 3 – equivalências lógicas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D6A788A9-5946-91B0-E2B5-70A25F09B1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95192" y="5207000"/>
            <a:ext cx="6801612" cy="1651000"/>
          </a:xfrm>
        </p:spPr>
        <p:txBody>
          <a:bodyPr/>
          <a:lstStyle/>
          <a:p>
            <a:r>
              <a:rPr lang="pt-BR" dirty="0"/>
              <a:t>Universidade de Uberaba</a:t>
            </a:r>
          </a:p>
          <a:p>
            <a:r>
              <a:rPr lang="pt-BR" dirty="0"/>
              <a:t>Marcio Salmazo Ramos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55255FA5-89B6-0660-D9D9-F00D0B14C1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7048" y="447153"/>
            <a:ext cx="3517900" cy="972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3395526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53373A-5957-3EE2-D8B5-E7AF6BE33E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B256B80D-122C-67B3-D7A3-D857CBACC843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E74A2B9-8816-981F-D521-2D0F8B2E34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EQUIVALÊNCIAS LÓGICAS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5268FB95-6A86-660B-E412-277505028C8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758950" y="1817914"/>
                <a:ext cx="9105566" cy="4955865"/>
              </a:xfrm>
            </p:spPr>
            <p:txBody>
              <a:bodyPr>
                <a:normAutofit/>
              </a:bodyPr>
              <a:lstStyle/>
              <a:p>
                <a:pPr algn="just"/>
                <a:r>
                  <a:rPr lang="pt-BR" sz="2400" dirty="0"/>
                  <a:t>A ideia central das equivalências lógicas vem do seguinte princípio:</a:t>
                </a:r>
              </a:p>
              <a:p>
                <a:pPr algn="just"/>
                <a:endParaRPr lang="pt-BR" sz="2400" dirty="0"/>
              </a:p>
              <a:p>
                <a:pPr lvl="1" algn="just">
                  <a:buFont typeface="Courier New" panose="02070309020205020404" pitchFamily="49" charset="0"/>
                  <a:buChar char="o"/>
                </a:pPr>
                <a:r>
                  <a:rPr lang="pt-BR" sz="2200" i="1" dirty="0"/>
                  <a:t>“Duas expressões lógicas podem ter </a:t>
                </a:r>
                <a:r>
                  <a:rPr lang="pt-BR" sz="2200" b="1" i="1" dirty="0"/>
                  <a:t>escritas diferentes</a:t>
                </a:r>
                <a:r>
                  <a:rPr lang="pt-BR" sz="2200" i="1" dirty="0"/>
                  <a:t>, mas representar exatamente a </a:t>
                </a:r>
                <a:r>
                  <a:rPr lang="pt-BR" sz="2200" b="1" i="1" dirty="0"/>
                  <a:t>mesma lógica</a:t>
                </a:r>
                <a:r>
                  <a:rPr lang="pt-BR" sz="2200" i="1" dirty="0"/>
                  <a:t>. Quando isso acontece, temos uma equivalência lógica.”</a:t>
                </a:r>
              </a:p>
              <a:p>
                <a:pPr lvl="1" algn="just">
                  <a:buFont typeface="Courier New" panose="02070309020205020404" pitchFamily="49" charset="0"/>
                  <a:buChar char="o"/>
                </a:pPr>
                <a:endParaRPr lang="pt-BR" sz="2200" i="1" dirty="0"/>
              </a:p>
              <a:p>
                <a:pPr lvl="1" algn="just">
                  <a:buFont typeface="Courier New" panose="02070309020205020404" pitchFamily="49" charset="0"/>
                  <a:buChar char="o"/>
                </a:pPr>
                <a:r>
                  <a:rPr lang="pt-BR" sz="2200" dirty="0"/>
                  <a:t>A partir daí, são definidas ferramentas para transformar e simplificar expressões sem alterar seu significado lógico.</a:t>
                </a:r>
              </a:p>
              <a:p>
                <a:pPr lvl="1" algn="just">
                  <a:buFont typeface="Courier New" panose="02070309020205020404" pitchFamily="49" charset="0"/>
                  <a:buChar char="o"/>
                </a:pPr>
                <a:endParaRPr lang="pt-BR" sz="2200" dirty="0"/>
              </a:p>
              <a:p>
                <a:pPr marL="3200400" lvl="7" indent="0" algn="just">
                  <a:buNone/>
                </a:pPr>
                <a:r>
                  <a:rPr lang="pt-BR" sz="2000" dirty="0"/>
                  <a:t>   Por exemplo:</a:t>
                </a:r>
              </a:p>
              <a:p>
                <a:pPr marL="914400" lvl="2" indent="0" algn="just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pt-BR" sz="2800" i="1"/>
                        <m:t>P</m:t>
                      </m:r>
                      <m:r>
                        <m:rPr>
                          <m:nor/>
                        </m:rPr>
                        <a:rPr lang="pt-BR" sz="2800" b="0" i="1" smtClean="0"/>
                        <m:t> </m:t>
                      </m:r>
                      <m:r>
                        <m:rPr>
                          <m:nor/>
                        </m:rPr>
                        <a:rPr lang="pt-BR" sz="2800" i="1"/>
                        <m:t>→</m:t>
                      </m:r>
                      <m:r>
                        <m:rPr>
                          <m:nor/>
                        </m:rPr>
                        <a:rPr lang="pt-BR" sz="2800" b="0" i="1" smtClean="0"/>
                        <m:t> </m:t>
                      </m:r>
                      <m:r>
                        <m:rPr>
                          <m:nor/>
                        </m:rPr>
                        <a:rPr lang="pt-BR" sz="2800" i="1"/>
                        <m:t>Q</m:t>
                      </m:r>
                      <m:r>
                        <m:rPr>
                          <m:nor/>
                        </m:rPr>
                        <a:rPr lang="pt-BR" sz="2800" b="0" i="1" smtClean="0"/>
                        <m:t> </m:t>
                      </m:r>
                      <m:r>
                        <m:rPr>
                          <m:nor/>
                        </m:rPr>
                        <a:rPr lang="pt-BR" sz="2800" b="0" i="1" smtClean="0"/>
                        <m:t>e</m:t>
                      </m:r>
                      <m:r>
                        <m:rPr>
                          <m:nor/>
                        </m:rPr>
                        <a:rPr lang="pt-BR" sz="2800" b="0" i="1" smtClean="0"/>
                        <m:t> ¬</m:t>
                      </m:r>
                      <m:r>
                        <m:rPr>
                          <m:nor/>
                        </m:rPr>
                        <a:rPr lang="pt-BR" sz="2800" i="1"/>
                        <m:t>P</m:t>
                      </m:r>
                      <m:r>
                        <m:rPr>
                          <m:nor/>
                        </m:rPr>
                        <a:rPr lang="pt-BR" sz="2800" b="0" i="1" smtClean="0"/>
                        <m:t> </m:t>
                      </m:r>
                      <m:r>
                        <m:rPr>
                          <m:nor/>
                        </m:rPr>
                        <a:rPr lang="pt-BR" sz="2800" i="1"/>
                        <m:t>∨</m:t>
                      </m:r>
                      <m:r>
                        <m:rPr>
                          <m:nor/>
                        </m:rPr>
                        <a:rPr lang="pt-BR" sz="2800" b="0" i="1" smtClean="0"/>
                        <m:t>  </m:t>
                      </m:r>
                      <m:r>
                        <m:rPr>
                          <m:nor/>
                        </m:rPr>
                        <a:rPr lang="pt-BR" sz="2800" i="1"/>
                        <m:t>Q</m:t>
                      </m:r>
                    </m:oMath>
                  </m:oMathPara>
                </a14:m>
                <a:endParaRPr lang="pt-BR" sz="2800" i="1" dirty="0"/>
              </a:p>
            </p:txBody>
          </p:sp>
        </mc:Choice>
        <mc:Fallback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5268FB95-6A86-660B-E412-277505028C8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758950" y="1817914"/>
                <a:ext cx="9105566" cy="4955865"/>
              </a:xfrm>
              <a:blipFill>
                <a:blip r:embed="rId3"/>
                <a:stretch>
                  <a:fillRect l="-938" t="-1722" r="-93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5873971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3697D8-249B-B00D-3326-0F638A6916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589BDB8B-1BCD-5C02-234C-0B8886222B5B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C5BD8F5-E63E-115C-E0C5-3921F82844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LEI DE MORGAN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D0E199CC-C942-BB8F-7B74-975130C62C9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44641" y="1884088"/>
                <a:ext cx="8299450" cy="4173812"/>
              </a:xfrm>
            </p:spPr>
            <p:txBody>
              <a:bodyPr>
                <a:normAutofit/>
              </a:bodyPr>
              <a:lstStyle/>
              <a:p>
                <a:pPr algn="just"/>
                <a:r>
                  <a:rPr lang="pt-BR" sz="2400" dirty="0"/>
                  <a:t>Provavelmente as equivalências mais importantes para a computação, ela estipula duas possibilidades:</a:t>
                </a:r>
              </a:p>
              <a:p>
                <a:pPr algn="just"/>
                <a:endParaRPr lang="pt-BR" sz="2400" dirty="0"/>
              </a:p>
              <a:p>
                <a:pPr marL="914400" lvl="1" indent="-457200" algn="just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pt-BR" b="1">
                        <a:latin typeface="Cambria Math" panose="02040503050406030204" pitchFamily="18" charset="0"/>
                      </a:rPr>
                      <m:t>¬(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𝐏</m:t>
                    </m:r>
                    <m:r>
                      <a:rPr lang="pt-BR" b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>
                        <a:latin typeface="Cambria Math" panose="02040503050406030204" pitchFamily="18" charset="0"/>
                      </a:rPr>
                      <m:t>∧</m:t>
                    </m:r>
                    <m:r>
                      <a:rPr lang="pt-BR" b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𝐐</m:t>
                    </m:r>
                    <m:r>
                      <a:rPr lang="pt-BR" b="1">
                        <a:latin typeface="Cambria Math" panose="02040503050406030204" pitchFamily="18" charset="0"/>
                      </a:rPr>
                      <m:t>)</m:t>
                    </m:r>
                    <m:r>
                      <a:rPr lang="pt-BR" b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>
                        <a:latin typeface="Cambria Math" panose="02040503050406030204" pitchFamily="18" charset="0"/>
                      </a:rPr>
                      <m:t>≡</m:t>
                    </m:r>
                    <m:r>
                      <a:rPr lang="pt-BR" b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>
                        <a:latin typeface="Cambria Math" panose="02040503050406030204" pitchFamily="18" charset="0"/>
                      </a:rPr>
                      <m:t>¬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𝐏</m:t>
                    </m:r>
                    <m:r>
                      <a:rPr lang="pt-BR" b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>
                        <a:latin typeface="Cambria Math" panose="02040503050406030204" pitchFamily="18" charset="0"/>
                      </a:rPr>
                      <m:t>∨</m:t>
                    </m:r>
                    <m:r>
                      <a:rPr lang="pt-BR" b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>
                        <a:latin typeface="Cambria Math" panose="02040503050406030204" pitchFamily="18" charset="0"/>
                      </a:rPr>
                      <m:t>¬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𝐐</m:t>
                    </m:r>
                  </m:oMath>
                </a14:m>
                <a:endParaRPr lang="pt-BR" b="1" dirty="0"/>
              </a:p>
              <a:p>
                <a:pPr lvl="2" algn="just"/>
                <a:r>
                  <a:rPr lang="pt-BR" sz="2200" i="1" dirty="0"/>
                  <a:t>"Não é verdade que P e Q” </a:t>
                </a:r>
                <a:r>
                  <a:rPr lang="pt-BR" sz="2200" dirty="0"/>
                  <a:t>equivale a </a:t>
                </a:r>
                <a:r>
                  <a:rPr lang="pt-BR" sz="2200" i="1" dirty="0"/>
                  <a:t>"P é falso ou Q é falso."</a:t>
                </a:r>
                <a:endParaRPr lang="pt-BR" sz="2200" b="1" i="1" dirty="0"/>
              </a:p>
              <a:p>
                <a:pPr marL="1371600" lvl="2" indent="-457200" algn="just">
                  <a:buFont typeface="+mj-lt"/>
                  <a:buAutoNum type="arabicPeriod"/>
                </a:pPr>
                <a:endParaRPr lang="pt-BR" b="1" dirty="0"/>
              </a:p>
              <a:p>
                <a:pPr marL="914400" lvl="1" indent="-457200" algn="just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pt-BR" b="1" i="0" dirty="0" smtClean="0">
                        <a:latin typeface="Cambria Math" panose="02040503050406030204" pitchFamily="18" charset="0"/>
                      </a:rPr>
                      <m:t>¬</m:t>
                    </m:r>
                    <m:d>
                      <m:dPr>
                        <m:ctrlPr>
                          <a:rPr lang="pt-BR" b="1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0" dirty="0" smtClean="0">
                            <a:latin typeface="Cambria Math" panose="02040503050406030204" pitchFamily="18" charset="0"/>
                          </a:rPr>
                          <m:t>𝐏</m:t>
                        </m:r>
                        <m:r>
                          <a:rPr lang="pt-BR" b="1" i="0" dirty="0" smtClean="0">
                            <a:latin typeface="Cambria Math" panose="02040503050406030204" pitchFamily="18" charset="0"/>
                          </a:rPr>
                          <m:t> ∨ </m:t>
                        </m:r>
                        <m:r>
                          <a:rPr lang="pt-BR" b="1" i="0" dirty="0" smtClean="0">
                            <a:latin typeface="Cambria Math" panose="02040503050406030204" pitchFamily="18" charset="0"/>
                          </a:rPr>
                          <m:t>𝐐</m:t>
                        </m:r>
                      </m:e>
                    </m:d>
                    <m:r>
                      <a:rPr lang="pt-BR" b="1" i="0" dirty="0" smtClean="0">
                        <a:latin typeface="Cambria Math" panose="02040503050406030204" pitchFamily="18" charset="0"/>
                      </a:rPr>
                      <m:t>≡  ¬</m:t>
                    </m:r>
                    <m:r>
                      <a:rPr lang="pt-BR" b="1" i="0" dirty="0" smtClean="0">
                        <a:latin typeface="Cambria Math" panose="02040503050406030204" pitchFamily="18" charset="0"/>
                      </a:rPr>
                      <m:t>𝐏</m:t>
                    </m:r>
                    <m:r>
                      <a:rPr lang="pt-BR" b="1" i="0" dirty="0" smtClean="0">
                        <a:latin typeface="Cambria Math" panose="02040503050406030204" pitchFamily="18" charset="0"/>
                      </a:rPr>
                      <m:t> ∧ ¬</m:t>
                    </m:r>
                    <m:r>
                      <a:rPr lang="pt-BR" b="1" i="0" dirty="0" smtClean="0">
                        <a:latin typeface="Cambria Math" panose="02040503050406030204" pitchFamily="18" charset="0"/>
                      </a:rPr>
                      <m:t>𝐐</m:t>
                    </m:r>
                  </m:oMath>
                </a14:m>
                <a:endParaRPr lang="pt-BR" b="1" i="0" dirty="0">
                  <a:latin typeface="Cambria Math" panose="02040503050406030204" pitchFamily="18" charset="0"/>
                </a:endParaRPr>
              </a:p>
              <a:p>
                <a:pPr lvl="2" algn="just"/>
                <a:r>
                  <a:rPr lang="pt-BR" sz="2200" i="1" dirty="0"/>
                  <a:t>"Não é verdade que P ou Q" </a:t>
                </a:r>
                <a:r>
                  <a:rPr lang="pt-BR" sz="2200" dirty="0"/>
                  <a:t>equivale a </a:t>
                </a:r>
                <a:r>
                  <a:rPr lang="pt-BR" sz="2200" i="1" dirty="0"/>
                  <a:t>"P é falso e Q é falso.“</a:t>
                </a:r>
                <a:endParaRPr lang="pt-BR" sz="2200" b="1" i="1" dirty="0"/>
              </a:p>
              <a:p>
                <a:pPr marL="457200" lvl="1" indent="0" algn="just">
                  <a:buNone/>
                </a:pPr>
                <a:endParaRPr lang="pt-BR" b="1" dirty="0"/>
              </a:p>
              <a:p>
                <a:pPr algn="just"/>
                <a:r>
                  <a:rPr lang="pt-BR" sz="2400" dirty="0"/>
                  <a:t>É comumente usada para a simplificação de expressões</a:t>
                </a:r>
              </a:p>
              <a:p>
                <a:pPr marL="457200" lvl="1" indent="0" algn="just">
                  <a:buNone/>
                </a:pPr>
                <a:endParaRPr lang="pt-BR" b="1" dirty="0"/>
              </a:p>
            </p:txBody>
          </p:sp>
        </mc:Choice>
        <mc:Fallback xmlns="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D0E199CC-C942-BB8F-7B74-975130C62C9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44641" y="1884088"/>
                <a:ext cx="8299450" cy="4173812"/>
              </a:xfrm>
              <a:blipFill>
                <a:blip r:embed="rId3"/>
                <a:stretch>
                  <a:fillRect l="-954" t="-2044" r="-110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Imagem 2">
            <a:extLst>
              <a:ext uri="{FF2B5EF4-FFF2-40B4-BE49-F238E27FC236}">
                <a16:creationId xmlns:a16="http://schemas.microsoft.com/office/drawing/2014/main" id="{C51BA459-2FA0-EB1F-E221-D985BD3F17A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9343"/>
          <a:stretch>
            <a:fillRect/>
          </a:stretch>
        </p:blipFill>
        <p:spPr>
          <a:xfrm>
            <a:off x="8968288" y="2400300"/>
            <a:ext cx="3223712" cy="3657600"/>
          </a:xfrm>
          <a:prstGeom prst="rect">
            <a:avLst/>
          </a:prstGeom>
        </p:spPr>
      </p:pic>
      <p:cxnSp>
        <p:nvCxnSpPr>
          <p:cNvPr id="7" name="Conector de Seta Reta 6">
            <a:extLst>
              <a:ext uri="{FF2B5EF4-FFF2-40B4-BE49-F238E27FC236}">
                <a16:creationId xmlns:a16="http://schemas.microsoft.com/office/drawing/2014/main" id="{019308DF-3F0F-4022-BB10-622B9C22AA37}"/>
              </a:ext>
            </a:extLst>
          </p:cNvPr>
          <p:cNvCxnSpPr>
            <a:cxnSpLocks/>
          </p:cNvCxnSpPr>
          <p:nvPr/>
        </p:nvCxnSpPr>
        <p:spPr>
          <a:xfrm>
            <a:off x="7629691" y="5600700"/>
            <a:ext cx="1081172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9877632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1847F7-ABB7-B16F-C6D2-C1C625EB77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8EF3F73D-222C-BBEA-C05E-4D4A8A45B37B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D26EF6E-CABF-F4E9-1F51-A3402B73D5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PROPRIEDADE DA ABSORÇÃO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1FCA87F2-B20D-570B-0117-48C862EB83E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946275" y="1703614"/>
                <a:ext cx="8299450" cy="2471344"/>
              </a:xfrm>
            </p:spPr>
            <p:txBody>
              <a:bodyPr>
                <a:normAutofit/>
              </a:bodyPr>
              <a:lstStyle/>
              <a:p>
                <a:pPr algn="just"/>
                <a:r>
                  <a:rPr lang="pt-BR" sz="2400" dirty="0"/>
                  <a:t>Consiste na absorção de termos da expressão. A absorção pode ser expressa de duas maneiras:</a:t>
                </a:r>
              </a:p>
              <a:p>
                <a:pPr algn="just"/>
                <a:endParaRPr lang="pt-BR" sz="2400" dirty="0"/>
              </a:p>
              <a:p>
                <a:pPr marL="914400" lvl="1" indent="-457200" algn="just">
                  <a:buFont typeface="+mj-lt"/>
                  <a:buAutoNum type="arabicPeriod"/>
                </a:pPr>
                <a:endParaRPr lang="pt-BR" b="1" i="1" dirty="0">
                  <a:latin typeface="Cambria Math" panose="02040503050406030204" pitchFamily="18" charset="0"/>
                </a:endParaRPr>
              </a:p>
              <a:p>
                <a:pPr marL="914400" lvl="1" indent="-457200" algn="just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𝑷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∧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𝑷</m:t>
                        </m:r>
                        <m:r>
                          <a:rPr lang="pt-BR" b="1" i="1">
                            <a:latin typeface="Cambria Math" panose="02040503050406030204" pitchFamily="18" charset="0"/>
                          </a:rPr>
                          <m:t>∨</m:t>
                        </m:r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𝑸</m:t>
                        </m:r>
                      </m:e>
                    </m:d>
                    <m:r>
                      <a:rPr lang="pt-BR" b="1" dirty="0">
                        <a:latin typeface="Cambria Math" panose="02040503050406030204" pitchFamily="18" charset="0"/>
                      </a:rPr>
                      <m:t>≡</m:t>
                    </m:r>
                    <m:r>
                      <a:rPr lang="pt-BR" b="1" i="1" dirty="0" smtClean="0">
                        <a:latin typeface="Cambria Math" panose="02040503050406030204" pitchFamily="18" charset="0"/>
                      </a:rPr>
                      <m:t>𝑷</m:t>
                    </m:r>
                  </m:oMath>
                </a14:m>
                <a:r>
                  <a:rPr lang="pt-BR" b="1" dirty="0"/>
                  <a:t> </a:t>
                </a:r>
              </a:p>
              <a:p>
                <a:pPr marL="457200" lvl="1" indent="0" algn="just">
                  <a:buNone/>
                </a:pPr>
                <a:endParaRPr lang="pt-BR" b="1" dirty="0"/>
              </a:p>
              <a:p>
                <a:pPr marL="457200" lvl="1" indent="0" algn="just">
                  <a:buNone/>
                </a:pPr>
                <a:endParaRPr lang="pt-BR" b="1" dirty="0"/>
              </a:p>
            </p:txBody>
          </p:sp>
        </mc:Choice>
        <mc:Fallback xmlns="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1FCA87F2-B20D-570B-0117-48C862EB83E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946275" y="1703614"/>
                <a:ext cx="8299450" cy="2471344"/>
              </a:xfrm>
              <a:blipFill>
                <a:blip r:embed="rId3"/>
                <a:stretch>
                  <a:fillRect l="-954" t="-3448" r="-110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ela 3">
                <a:extLst>
                  <a:ext uri="{FF2B5EF4-FFF2-40B4-BE49-F238E27FC236}">
                    <a16:creationId xmlns:a16="http://schemas.microsoft.com/office/drawing/2014/main" id="{2E1D69B8-9652-67F9-C58C-244716474C1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128635918"/>
                  </p:ext>
                </p:extLst>
              </p:nvPr>
            </p:nvGraphicFramePr>
            <p:xfrm>
              <a:off x="6997854" y="2495120"/>
              <a:ext cx="4333888" cy="25908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68534">
                      <a:extLst>
                        <a:ext uri="{9D8B030D-6E8A-4147-A177-3AD203B41FA5}">
                          <a16:colId xmlns:a16="http://schemas.microsoft.com/office/drawing/2014/main" val="3352659932"/>
                        </a:ext>
                      </a:extLst>
                    </a:gridCol>
                    <a:gridCol w="596926">
                      <a:extLst>
                        <a:ext uri="{9D8B030D-6E8A-4147-A177-3AD203B41FA5}">
                          <a16:colId xmlns:a16="http://schemas.microsoft.com/office/drawing/2014/main" val="3526495656"/>
                        </a:ext>
                      </a:extLst>
                    </a:gridCol>
                    <a:gridCol w="1391571">
                      <a:extLst>
                        <a:ext uri="{9D8B030D-6E8A-4147-A177-3AD203B41FA5}">
                          <a16:colId xmlns:a16="http://schemas.microsoft.com/office/drawing/2014/main" val="306565519"/>
                        </a:ext>
                      </a:extLst>
                    </a:gridCol>
                    <a:gridCol w="1776857">
                      <a:extLst>
                        <a:ext uri="{9D8B030D-6E8A-4147-A177-3AD203B41FA5}">
                          <a16:colId xmlns:a16="http://schemas.microsoft.com/office/drawing/2014/main" val="3885820698"/>
                        </a:ext>
                      </a:extLst>
                    </a:gridCol>
                  </a:tblGrid>
                  <a:tr h="46281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P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Q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pt-BR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2400" b="1" i="1" smtClean="0">
                                        <a:latin typeface="Cambria Math" panose="02040503050406030204" pitchFamily="18" charset="0"/>
                                      </a:rPr>
                                      <m:t>𝑷</m:t>
                                    </m:r>
                                    <m:r>
                                      <a:rPr lang="pt-BR" sz="2400" b="1" i="1" smtClean="0">
                                        <a:latin typeface="Cambria Math" panose="02040503050406030204" pitchFamily="18" charset="0"/>
                                      </a:rPr>
                                      <m:t>∨</m:t>
                                    </m:r>
                                    <m:r>
                                      <a:rPr lang="pt-BR" sz="2400" b="1" i="1">
                                        <a:latin typeface="Cambria Math" panose="02040503050406030204" pitchFamily="18" charset="0"/>
                                      </a:rPr>
                                      <m:t>𝑸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pt-BR" sz="24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pt-BR" sz="2400" b="1" i="1" smtClean="0">
                                    <a:latin typeface="Cambria Math" panose="02040503050406030204" pitchFamily="18" charset="0"/>
                                  </a:rPr>
                                  <m:t>𝑷</m:t>
                                </m:r>
                                <m:r>
                                  <a:rPr lang="pt-BR" sz="2400" b="1" i="1" smtClean="0">
                                    <a:latin typeface="Cambria Math" panose="02040503050406030204" pitchFamily="18" charset="0"/>
                                  </a:rPr>
                                  <m:t>∧</m:t>
                                </m:r>
                                <m:d>
                                  <m:dPr>
                                    <m:ctrlPr>
                                      <a:rPr lang="pt-BR" sz="2400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2400" b="1" i="1">
                                        <a:latin typeface="Cambria Math" panose="02040503050406030204" pitchFamily="18" charset="0"/>
                                      </a:rPr>
                                      <m:t>𝑷</m:t>
                                    </m:r>
                                    <m:r>
                                      <a:rPr lang="pt-BR" sz="2400" b="1" i="1" smtClean="0">
                                        <a:latin typeface="Cambria Math" panose="02040503050406030204" pitchFamily="18" charset="0"/>
                                      </a:rPr>
                                      <m:t>∨</m:t>
                                    </m:r>
                                    <m:r>
                                      <a:rPr lang="pt-BR" sz="2400" b="1" i="1">
                                        <a:latin typeface="Cambria Math" panose="02040503050406030204" pitchFamily="18" charset="0"/>
                                      </a:rPr>
                                      <m:t>𝑸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pt-BR" sz="24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413103353"/>
                      </a:ext>
                    </a:extLst>
                  </a:tr>
                  <a:tr h="578581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302035967"/>
                      </a:ext>
                    </a:extLst>
                  </a:tr>
                  <a:tr h="52351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43687263"/>
                      </a:ext>
                    </a:extLst>
                  </a:tr>
                  <a:tr h="50519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069305236"/>
                      </a:ext>
                    </a:extLst>
                  </a:tr>
                  <a:tr h="5207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3293943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ela 3">
                <a:extLst>
                  <a:ext uri="{FF2B5EF4-FFF2-40B4-BE49-F238E27FC236}">
                    <a16:creationId xmlns:a16="http://schemas.microsoft.com/office/drawing/2014/main" id="{2E1D69B8-9652-67F9-C58C-244716474C1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128635918"/>
                  </p:ext>
                </p:extLst>
              </p:nvPr>
            </p:nvGraphicFramePr>
            <p:xfrm>
              <a:off x="6997854" y="2495120"/>
              <a:ext cx="4333888" cy="25908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68534">
                      <a:extLst>
                        <a:ext uri="{9D8B030D-6E8A-4147-A177-3AD203B41FA5}">
                          <a16:colId xmlns:a16="http://schemas.microsoft.com/office/drawing/2014/main" val="3352659932"/>
                        </a:ext>
                      </a:extLst>
                    </a:gridCol>
                    <a:gridCol w="596926">
                      <a:extLst>
                        <a:ext uri="{9D8B030D-6E8A-4147-A177-3AD203B41FA5}">
                          <a16:colId xmlns:a16="http://schemas.microsoft.com/office/drawing/2014/main" val="3526495656"/>
                        </a:ext>
                      </a:extLst>
                    </a:gridCol>
                    <a:gridCol w="1391571">
                      <a:extLst>
                        <a:ext uri="{9D8B030D-6E8A-4147-A177-3AD203B41FA5}">
                          <a16:colId xmlns:a16="http://schemas.microsoft.com/office/drawing/2014/main" val="306565519"/>
                        </a:ext>
                      </a:extLst>
                    </a:gridCol>
                    <a:gridCol w="1776857">
                      <a:extLst>
                        <a:ext uri="{9D8B030D-6E8A-4147-A177-3AD203B41FA5}">
                          <a16:colId xmlns:a16="http://schemas.microsoft.com/office/drawing/2014/main" val="3885820698"/>
                        </a:ext>
                      </a:extLst>
                    </a:gridCol>
                  </a:tblGrid>
                  <a:tr h="46281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P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Q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83843" t="-9211" r="-129694" b="-4828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144178" t="-9211" r="-1712" b="-48289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13103353"/>
                      </a:ext>
                    </a:extLst>
                  </a:tr>
                  <a:tr h="578581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302035967"/>
                      </a:ext>
                    </a:extLst>
                  </a:tr>
                  <a:tr h="52351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43687263"/>
                      </a:ext>
                    </a:extLst>
                  </a:tr>
                  <a:tr h="50519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069305236"/>
                      </a:ext>
                    </a:extLst>
                  </a:tr>
                  <a:tr h="5207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3293943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8" name="CaixaDeTexto 7">
            <a:extLst>
              <a:ext uri="{FF2B5EF4-FFF2-40B4-BE49-F238E27FC236}">
                <a16:creationId xmlns:a16="http://schemas.microsoft.com/office/drawing/2014/main" id="{A5F20680-361B-AF4B-E294-11768A1B28BC}"/>
              </a:ext>
            </a:extLst>
          </p:cNvPr>
          <p:cNvSpPr txBox="1"/>
          <p:nvPr/>
        </p:nvSpPr>
        <p:spPr>
          <a:xfrm>
            <a:off x="860257" y="4464289"/>
            <a:ext cx="1047148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De modo mais intuitivo, podemos supor:</a:t>
            </a:r>
          </a:p>
          <a:p>
            <a:endParaRPr lang="pt-BR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b="1" i="1" dirty="0"/>
              <a:t>"Eu vou à festa </a:t>
            </a:r>
            <a:r>
              <a:rPr lang="pt-BR" sz="2000" b="1" i="1" u="sng" dirty="0"/>
              <a:t>E</a:t>
            </a:r>
            <a:r>
              <a:rPr lang="pt-BR" sz="2000" b="1" i="1" dirty="0"/>
              <a:t> (vou à festa </a:t>
            </a:r>
            <a:r>
              <a:rPr lang="pt-BR" sz="2000" b="1" i="1" u="sng" dirty="0"/>
              <a:t>OU</a:t>
            </a:r>
            <a:r>
              <a:rPr lang="pt-BR" sz="2000" b="1" i="1" dirty="0"/>
              <a:t> vou ao cinema).“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dirty="0"/>
              <a:t>Se ele vai à festa, a disjunção automaticamente fica verdadeira, validando também a conjunção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dirty="0"/>
              <a:t>Se ele </a:t>
            </a:r>
            <a:r>
              <a:rPr lang="pt-BR" sz="2000" b="1" dirty="0"/>
              <a:t>não vai</a:t>
            </a:r>
            <a:r>
              <a:rPr lang="pt-BR" sz="2000" dirty="0"/>
              <a:t> à festa, a frase inteira se torna falsa, visto que a conjunção obriga a primeira parte a ser verdade.</a:t>
            </a:r>
            <a:endParaRPr lang="pt-BR" sz="2000" u="sng" dirty="0"/>
          </a:p>
        </p:txBody>
      </p:sp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3345AE60-D11E-8A95-1547-45AF63D1B4F1}"/>
              </a:ext>
            </a:extLst>
          </p:cNvPr>
          <p:cNvCxnSpPr>
            <a:cxnSpLocks/>
          </p:cNvCxnSpPr>
          <p:nvPr/>
        </p:nvCxnSpPr>
        <p:spPr>
          <a:xfrm>
            <a:off x="5439944" y="3459079"/>
            <a:ext cx="1081172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9703736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969A63-3C4F-8F03-7D1C-97603B7143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553FE7C8-676D-2F29-8CD2-0E8814A2D4FA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1F66993-6C95-A6E7-4C0D-4B3CF013E5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PROPRIEDADE DA ABSORÇÃO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65831DEF-23AB-5E78-FA37-B46FF9E65C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946274" y="2010182"/>
                <a:ext cx="8299450" cy="1106602"/>
              </a:xfrm>
            </p:spPr>
            <p:txBody>
              <a:bodyPr>
                <a:normAutofit/>
              </a:bodyPr>
              <a:lstStyle/>
              <a:p>
                <a:pPr marL="457200" lvl="1" indent="0" algn="just">
                  <a:buNone/>
                </a:pPr>
                <a:endParaRPr lang="pt-BR" b="1" i="1" dirty="0">
                  <a:latin typeface="Cambria Math" panose="02040503050406030204" pitchFamily="18" charset="0"/>
                </a:endParaRPr>
              </a:p>
              <a:p>
                <a:pPr marL="914400" lvl="1" indent="-457200" algn="just">
                  <a:buFont typeface="+mj-lt"/>
                  <a:buAutoNum type="arabicPeriod" startAt="2"/>
                </a:pP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𝑷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∨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𝑷</m:t>
                        </m:r>
                        <m:r>
                          <a:rPr lang="pt-BR" b="1" i="1">
                            <a:latin typeface="Cambria Math" panose="02040503050406030204" pitchFamily="18" charset="0"/>
                          </a:rPr>
                          <m:t>∧</m:t>
                        </m:r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𝑸</m:t>
                        </m:r>
                      </m:e>
                    </m:d>
                    <m:r>
                      <a:rPr lang="pt-BR" b="1" dirty="0">
                        <a:latin typeface="Cambria Math" panose="02040503050406030204" pitchFamily="18" charset="0"/>
                      </a:rPr>
                      <m:t>≡</m:t>
                    </m:r>
                    <m:r>
                      <a:rPr lang="pt-BR" b="1" i="1" dirty="0" smtClean="0">
                        <a:latin typeface="Cambria Math" panose="02040503050406030204" pitchFamily="18" charset="0"/>
                      </a:rPr>
                      <m:t>𝑷</m:t>
                    </m:r>
                  </m:oMath>
                </a14:m>
                <a:r>
                  <a:rPr lang="pt-BR" b="1" dirty="0"/>
                  <a:t> </a:t>
                </a:r>
              </a:p>
              <a:p>
                <a:pPr marL="457200" lvl="1" indent="0" algn="just">
                  <a:buNone/>
                </a:pPr>
                <a:endParaRPr lang="pt-BR" b="1" dirty="0"/>
              </a:p>
              <a:p>
                <a:pPr marL="457200" lvl="1" indent="0" algn="just">
                  <a:buNone/>
                </a:pPr>
                <a:endParaRPr lang="pt-BR" b="1" dirty="0"/>
              </a:p>
            </p:txBody>
          </p:sp>
        </mc:Choice>
        <mc:Fallback xmlns="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65831DEF-23AB-5E78-FA37-B46FF9E65C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946274" y="2010182"/>
                <a:ext cx="8299450" cy="1106602"/>
              </a:xfr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ela 3">
                <a:extLst>
                  <a:ext uri="{FF2B5EF4-FFF2-40B4-BE49-F238E27FC236}">
                    <a16:creationId xmlns:a16="http://schemas.microsoft.com/office/drawing/2014/main" id="{49E3BFBE-B914-5F2B-F4BA-B6C037A26A8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08404645"/>
                  </p:ext>
                </p:extLst>
              </p:nvPr>
            </p:nvGraphicFramePr>
            <p:xfrm>
              <a:off x="6997854" y="1821384"/>
              <a:ext cx="4333888" cy="25908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68534">
                      <a:extLst>
                        <a:ext uri="{9D8B030D-6E8A-4147-A177-3AD203B41FA5}">
                          <a16:colId xmlns:a16="http://schemas.microsoft.com/office/drawing/2014/main" val="3352659932"/>
                        </a:ext>
                      </a:extLst>
                    </a:gridCol>
                    <a:gridCol w="596926">
                      <a:extLst>
                        <a:ext uri="{9D8B030D-6E8A-4147-A177-3AD203B41FA5}">
                          <a16:colId xmlns:a16="http://schemas.microsoft.com/office/drawing/2014/main" val="3526495656"/>
                        </a:ext>
                      </a:extLst>
                    </a:gridCol>
                    <a:gridCol w="1391571">
                      <a:extLst>
                        <a:ext uri="{9D8B030D-6E8A-4147-A177-3AD203B41FA5}">
                          <a16:colId xmlns:a16="http://schemas.microsoft.com/office/drawing/2014/main" val="306565519"/>
                        </a:ext>
                      </a:extLst>
                    </a:gridCol>
                    <a:gridCol w="1776857">
                      <a:extLst>
                        <a:ext uri="{9D8B030D-6E8A-4147-A177-3AD203B41FA5}">
                          <a16:colId xmlns:a16="http://schemas.microsoft.com/office/drawing/2014/main" val="3885820698"/>
                        </a:ext>
                      </a:extLst>
                    </a:gridCol>
                  </a:tblGrid>
                  <a:tr h="46281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P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Q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pt-BR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2400" b="1" i="1" smtClean="0">
                                        <a:latin typeface="Cambria Math" panose="02040503050406030204" pitchFamily="18" charset="0"/>
                                      </a:rPr>
                                      <m:t>𝑷</m:t>
                                    </m:r>
                                    <m:r>
                                      <a:rPr lang="pt-BR" sz="2400" b="1" i="1">
                                        <a:latin typeface="Cambria Math" panose="02040503050406030204" pitchFamily="18" charset="0"/>
                                      </a:rPr>
                                      <m:t>∧</m:t>
                                    </m:r>
                                    <m:r>
                                      <a:rPr lang="pt-BR" sz="2400" b="1" i="1">
                                        <a:latin typeface="Cambria Math" panose="02040503050406030204" pitchFamily="18" charset="0"/>
                                      </a:rPr>
                                      <m:t>𝑸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pt-BR" sz="24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pt-BR" sz="2400" b="1" i="1" smtClean="0">
                                    <a:latin typeface="Cambria Math" panose="02040503050406030204" pitchFamily="18" charset="0"/>
                                  </a:rPr>
                                  <m:t>𝑷</m:t>
                                </m:r>
                                <m:r>
                                  <a:rPr lang="pt-BR" sz="2400" b="1" i="1" smtClean="0">
                                    <a:latin typeface="Cambria Math" panose="02040503050406030204" pitchFamily="18" charset="0"/>
                                  </a:rPr>
                                  <m:t>∨</m:t>
                                </m:r>
                                <m:d>
                                  <m:dPr>
                                    <m:ctrlPr>
                                      <a:rPr lang="pt-BR" sz="2400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2400" b="1" i="1">
                                        <a:latin typeface="Cambria Math" panose="02040503050406030204" pitchFamily="18" charset="0"/>
                                      </a:rPr>
                                      <m:t>𝑷</m:t>
                                    </m:r>
                                    <m:r>
                                      <a:rPr lang="pt-BR" sz="2400" b="1" i="1">
                                        <a:latin typeface="Cambria Math" panose="02040503050406030204" pitchFamily="18" charset="0"/>
                                      </a:rPr>
                                      <m:t>∧</m:t>
                                    </m:r>
                                    <m:r>
                                      <a:rPr lang="pt-BR" sz="2400" b="1" i="1">
                                        <a:latin typeface="Cambria Math" panose="02040503050406030204" pitchFamily="18" charset="0"/>
                                      </a:rPr>
                                      <m:t>𝑸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pt-BR" sz="24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413103353"/>
                      </a:ext>
                    </a:extLst>
                  </a:tr>
                  <a:tr h="578581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302035967"/>
                      </a:ext>
                    </a:extLst>
                  </a:tr>
                  <a:tr h="52351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43687263"/>
                      </a:ext>
                    </a:extLst>
                  </a:tr>
                  <a:tr h="50519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069305236"/>
                      </a:ext>
                    </a:extLst>
                  </a:tr>
                  <a:tr h="5207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3293943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ela 3">
                <a:extLst>
                  <a:ext uri="{FF2B5EF4-FFF2-40B4-BE49-F238E27FC236}">
                    <a16:creationId xmlns:a16="http://schemas.microsoft.com/office/drawing/2014/main" id="{49E3BFBE-B914-5F2B-F4BA-B6C037A26A8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08404645"/>
                  </p:ext>
                </p:extLst>
              </p:nvPr>
            </p:nvGraphicFramePr>
            <p:xfrm>
              <a:off x="6997854" y="1821384"/>
              <a:ext cx="4333888" cy="25908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68534">
                      <a:extLst>
                        <a:ext uri="{9D8B030D-6E8A-4147-A177-3AD203B41FA5}">
                          <a16:colId xmlns:a16="http://schemas.microsoft.com/office/drawing/2014/main" val="3352659932"/>
                        </a:ext>
                      </a:extLst>
                    </a:gridCol>
                    <a:gridCol w="596926">
                      <a:extLst>
                        <a:ext uri="{9D8B030D-6E8A-4147-A177-3AD203B41FA5}">
                          <a16:colId xmlns:a16="http://schemas.microsoft.com/office/drawing/2014/main" val="3526495656"/>
                        </a:ext>
                      </a:extLst>
                    </a:gridCol>
                    <a:gridCol w="1391571">
                      <a:extLst>
                        <a:ext uri="{9D8B030D-6E8A-4147-A177-3AD203B41FA5}">
                          <a16:colId xmlns:a16="http://schemas.microsoft.com/office/drawing/2014/main" val="306565519"/>
                        </a:ext>
                      </a:extLst>
                    </a:gridCol>
                    <a:gridCol w="1776857">
                      <a:extLst>
                        <a:ext uri="{9D8B030D-6E8A-4147-A177-3AD203B41FA5}">
                          <a16:colId xmlns:a16="http://schemas.microsoft.com/office/drawing/2014/main" val="3885820698"/>
                        </a:ext>
                      </a:extLst>
                    </a:gridCol>
                  </a:tblGrid>
                  <a:tr h="46281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P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Q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83843" t="-9211" r="-129694" b="-4842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144178" t="-9211" r="-1712" b="-48421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13103353"/>
                      </a:ext>
                    </a:extLst>
                  </a:tr>
                  <a:tr h="578581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302035967"/>
                      </a:ext>
                    </a:extLst>
                  </a:tr>
                  <a:tr h="52351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43687263"/>
                      </a:ext>
                    </a:extLst>
                  </a:tr>
                  <a:tr h="50519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069305236"/>
                      </a:ext>
                    </a:extLst>
                  </a:tr>
                  <a:tr h="5207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3293943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8" name="CaixaDeTexto 7">
            <a:extLst>
              <a:ext uri="{FF2B5EF4-FFF2-40B4-BE49-F238E27FC236}">
                <a16:creationId xmlns:a16="http://schemas.microsoft.com/office/drawing/2014/main" id="{1EFCCFE2-0444-ECE4-61A5-919189736A49}"/>
              </a:ext>
            </a:extLst>
          </p:cNvPr>
          <p:cNvSpPr txBox="1"/>
          <p:nvPr/>
        </p:nvSpPr>
        <p:spPr>
          <a:xfrm>
            <a:off x="860257" y="4135091"/>
            <a:ext cx="10471485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De modo mais intuitivo, podemos supor:</a:t>
            </a:r>
          </a:p>
          <a:p>
            <a:endParaRPr lang="pt-BR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b="1" i="1" dirty="0"/>
              <a:t>"Eu vou à festa </a:t>
            </a:r>
            <a:r>
              <a:rPr lang="pt-BR" sz="2000" b="1" i="1" u="sng" dirty="0"/>
              <a:t>OU</a:t>
            </a:r>
            <a:r>
              <a:rPr lang="pt-BR" sz="2000" b="1" i="1" dirty="0"/>
              <a:t> (vou à festa </a:t>
            </a:r>
            <a:r>
              <a:rPr lang="pt-BR" sz="2000" b="1" i="1" u="sng" dirty="0"/>
              <a:t>E</a:t>
            </a:r>
            <a:r>
              <a:rPr lang="pt-BR" sz="2000" b="1" i="1" dirty="0"/>
              <a:t> vou ao cinema).“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dirty="0"/>
              <a:t>Se ele vai à festa, a frase inteira é verdade. Na disjunção, basta que um termo seja verdade, para o resultado ser verdadeiro.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dirty="0"/>
              <a:t>Se ele </a:t>
            </a:r>
            <a:r>
              <a:rPr lang="pt-BR" sz="2000" b="1" dirty="0"/>
              <a:t>não vai</a:t>
            </a:r>
            <a:r>
              <a:rPr lang="pt-BR" sz="2000" dirty="0"/>
              <a:t> à festa, a frase inteira se torna falsa, visto que a conjunção obriga a primeira parte a ser verdade.</a:t>
            </a:r>
            <a:endParaRPr lang="pt-BR" sz="2000" u="sng" dirty="0"/>
          </a:p>
        </p:txBody>
      </p:sp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C667303E-5CF9-9F5F-31A1-C18912F23AC5}"/>
              </a:ext>
            </a:extLst>
          </p:cNvPr>
          <p:cNvCxnSpPr>
            <a:cxnSpLocks/>
          </p:cNvCxnSpPr>
          <p:nvPr/>
        </p:nvCxnSpPr>
        <p:spPr>
          <a:xfrm>
            <a:off x="5427912" y="2563483"/>
            <a:ext cx="1081172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55024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F1D4F0-4DB5-2190-CCC3-5F49DD5555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8AB51CEE-9FE8-E5C7-E287-876D58658F04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AF855D8-80CA-3F0B-D18F-AC3413397E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PROPRIEDADE DISTRIBUTIVA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CD720981-8C5D-841C-78FE-2C534287BBC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946275" y="1703613"/>
                <a:ext cx="8299450" cy="4504681"/>
              </a:xfrm>
            </p:spPr>
            <p:txBody>
              <a:bodyPr>
                <a:normAutofit/>
              </a:bodyPr>
              <a:lstStyle/>
              <a:p>
                <a:pPr algn="just"/>
                <a:r>
                  <a:rPr lang="pt-BR" sz="2400" dirty="0"/>
                  <a:t>Para a conjunção, existe uma relação análoga à propriedade distributiva da álgebra:</a:t>
                </a:r>
              </a:p>
              <a:p>
                <a:pPr lvl="1" algn="just"/>
                <a:endParaRPr lang="pt-BR" sz="2000" dirty="0"/>
              </a:p>
              <a:p>
                <a:pPr lvl="1" algn="just">
                  <a:buFont typeface="Courier New" panose="02070309020205020404" pitchFamily="49" charset="0"/>
                  <a:buChar char="o"/>
                </a:pPr>
                <a:r>
                  <a:rPr lang="pt-BR" sz="2200" dirty="0"/>
                  <a:t>Na matemática temos: </a:t>
                </a:r>
                <a14:m>
                  <m:oMath xmlns:m="http://schemas.openxmlformats.org/officeDocument/2006/math"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200" i="1" dirty="0" err="1">
                        <a:latin typeface="Cambria Math" panose="02040503050406030204" pitchFamily="18" charset="0"/>
                      </a:rPr>
                      <m:t>𝑏</m:t>
                    </m:r>
                    <m:r>
                      <a:rPr lang="pt-BR" sz="2200" i="1" dirty="0" err="1">
                        <a:latin typeface="Cambria Math" panose="02040503050406030204" pitchFamily="18" charset="0"/>
                      </a:rPr>
                      <m:t>+</m:t>
                    </m:r>
                    <m:r>
                      <a:rPr lang="pt-BR" sz="2200" i="1" dirty="0" err="1">
                        <a:latin typeface="Cambria Math" panose="02040503050406030204" pitchFamily="18" charset="0"/>
                      </a:rPr>
                      <m:t>𝑐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)=</m:t>
                    </m:r>
                    <m:r>
                      <a:rPr lang="pt-BR" sz="2200" i="1" dirty="0" err="1">
                        <a:latin typeface="Cambria Math" panose="02040503050406030204" pitchFamily="18" charset="0"/>
                      </a:rPr>
                      <m:t>𝑎𝑏</m:t>
                    </m:r>
                    <m:r>
                      <a:rPr lang="pt-BR" sz="2200" i="1" dirty="0" err="1">
                        <a:latin typeface="Cambria Math" panose="02040503050406030204" pitchFamily="18" charset="0"/>
                      </a:rPr>
                      <m:t>+</m:t>
                    </m:r>
                    <m:r>
                      <a:rPr lang="pt-BR" sz="2200" i="1" dirty="0" err="1">
                        <a:latin typeface="Cambria Math" panose="02040503050406030204" pitchFamily="18" charset="0"/>
                      </a:rPr>
                      <m:t>𝑎𝑐</m:t>
                    </m:r>
                  </m:oMath>
                </a14:m>
                <a:endParaRPr lang="pt-BR" sz="2200" dirty="0"/>
              </a:p>
              <a:p>
                <a:pPr lvl="1" algn="just">
                  <a:buFont typeface="Courier New" panose="02070309020205020404" pitchFamily="49" charset="0"/>
                  <a:buChar char="o"/>
                </a:pPr>
                <a:r>
                  <a:rPr lang="pt-BR" sz="2200" dirty="0"/>
                  <a:t>Na lógica temos: </a:t>
                </a:r>
                <a14:m>
                  <m:oMath xmlns:m="http://schemas.openxmlformats.org/officeDocument/2006/math"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∧(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∨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)≡(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)∨(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pt-BR" sz="2200" dirty="0"/>
              </a:p>
              <a:p>
                <a:pPr algn="just"/>
                <a:endParaRPr lang="pt-BR" sz="2400" dirty="0"/>
              </a:p>
              <a:p>
                <a:pPr algn="just"/>
                <a:r>
                  <a:rPr lang="pt-BR" sz="2400" dirty="0"/>
                  <a:t>Apenas na lógica, pode também haver o inverso, para a disjunção</a:t>
                </a:r>
              </a:p>
              <a:p>
                <a:pPr algn="just"/>
                <a:endParaRPr lang="pt-BR" sz="2400" dirty="0"/>
              </a:p>
              <a:p>
                <a:pPr lvl="1" algn="just">
                  <a:buFont typeface="Courier New" panose="02070309020205020404" pitchFamily="49" charset="0"/>
                  <a:buChar char="o"/>
                </a:pPr>
                <a:r>
                  <a:rPr lang="pt-BR" sz="2200" dirty="0"/>
                  <a:t>Na lógica temos: </a:t>
                </a:r>
                <a14:m>
                  <m:oMath xmlns:m="http://schemas.openxmlformats.org/officeDocument/2006/math">
                    <m:r>
                      <a:rPr lang="pt-BR" sz="2200" i="1" dirty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∨(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)≡(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∨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)∧(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∨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pt-BR" sz="2200" dirty="0"/>
              </a:p>
              <a:p>
                <a:pPr lvl="1" algn="just"/>
                <a:endParaRPr lang="pt-BR" sz="2000" dirty="0"/>
              </a:p>
              <a:p>
                <a:pPr marL="914400" lvl="1" indent="-457200" algn="just">
                  <a:buFont typeface="+mj-lt"/>
                  <a:buAutoNum type="arabicPeriod"/>
                </a:pPr>
                <a:endParaRPr lang="pt-BR" b="1" i="1" dirty="0">
                  <a:latin typeface="Cambria Math" panose="02040503050406030204" pitchFamily="18" charset="0"/>
                </a:endParaRPr>
              </a:p>
              <a:p>
                <a:pPr marL="457200" lvl="1" indent="0" algn="just">
                  <a:buNone/>
                </a:pPr>
                <a:endParaRPr lang="pt-BR" b="1" dirty="0"/>
              </a:p>
              <a:p>
                <a:pPr marL="457200" lvl="1" indent="0" algn="just">
                  <a:buNone/>
                </a:pPr>
                <a:endParaRPr lang="pt-BR" b="1" dirty="0"/>
              </a:p>
            </p:txBody>
          </p:sp>
        </mc:Choice>
        <mc:Fallback xmlns="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CD720981-8C5D-841C-78FE-2C534287BBC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946275" y="1703613"/>
                <a:ext cx="8299450" cy="4504681"/>
              </a:xfrm>
              <a:blipFill>
                <a:blip r:embed="rId3"/>
                <a:stretch>
                  <a:fillRect l="-954" t="-1894" r="-110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3171193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182C9C-27BD-5EDD-9CF2-9478D841FE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6493E5ED-715A-0B38-C37D-151F8FE1F0A2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0CD1105-B56C-1B92-CF20-09F8EC7409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PROPRIEDADES OPERACIONAIS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4A2161CB-E951-190B-0074-960BFF8FC79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946275" y="1703613"/>
                <a:ext cx="4911724" cy="4480619"/>
              </a:xfrm>
            </p:spPr>
            <p:txBody>
              <a:bodyPr>
                <a:normAutofit/>
              </a:bodyPr>
              <a:lstStyle/>
              <a:p>
                <a:pPr algn="just"/>
                <a:r>
                  <a:rPr lang="pt-BR" sz="2400" dirty="0"/>
                  <a:t>Lei comutativa:</a:t>
                </a:r>
              </a:p>
              <a:p>
                <a:pPr lvl="1" algn="just">
                  <a:buFont typeface="Courier New" panose="02070309020205020404" pitchFamily="49" charset="0"/>
                  <a:buChar char="o"/>
                </a:pPr>
                <a14:m>
                  <m:oMath xmlns:m="http://schemas.openxmlformats.org/officeDocument/2006/math">
                    <m:r>
                      <a:rPr lang="pt-BR" i="1" dirty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i="1" dirty="0">
                        <a:latin typeface="Cambria Math" panose="02040503050406030204" pitchFamily="18" charset="0"/>
                      </a:rPr>
                      <m:t>∨</m:t>
                    </m:r>
                    <m:r>
                      <a:rPr lang="pt-BR" i="1" dirty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dirty="0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i="1" dirty="0">
                        <a:latin typeface="Cambria Math" panose="02040503050406030204" pitchFamily="18" charset="0"/>
                      </a:rPr>
                      <m:t>∨</m:t>
                    </m:r>
                    <m:r>
                      <a:rPr lang="pt-BR" b="0" i="1" dirty="0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pt-BR" dirty="0"/>
                  <a:t> </a:t>
                </a:r>
                <a:endParaRPr lang="pt-BR" i="1" dirty="0">
                  <a:latin typeface="Cambria Math" panose="02040503050406030204" pitchFamily="18" charset="0"/>
                </a:endParaRPr>
              </a:p>
              <a:p>
                <a:pPr lvl="1" algn="just">
                  <a:buFont typeface="Courier New" panose="02070309020205020404" pitchFamily="49" charset="0"/>
                  <a:buChar char="o"/>
                </a:pPr>
                <a14:m>
                  <m:oMath xmlns:m="http://schemas.openxmlformats.org/officeDocument/2006/math">
                    <m:r>
                      <a:rPr lang="pt-BR" i="1" dirty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i="1" dirty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pt-BR" i="1" dirty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dirty="0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i="1" dirty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pt-BR" b="0" i="1" dirty="0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endParaRPr lang="pt-BR" dirty="0"/>
              </a:p>
              <a:p>
                <a:pPr algn="just"/>
                <a:endParaRPr lang="pt-BR" sz="2400" dirty="0"/>
              </a:p>
              <a:p>
                <a:pPr algn="just"/>
                <a:r>
                  <a:rPr lang="pt-BR" sz="2400" dirty="0"/>
                  <a:t>Lei associativa:</a:t>
                </a:r>
              </a:p>
              <a:p>
                <a:pPr lvl="1" algn="just">
                  <a:buFont typeface="Courier New" panose="02070309020205020404" pitchFamily="49" charset="0"/>
                  <a:buChar char="o"/>
                </a:pPr>
                <a14:m>
                  <m:oMath xmlns:m="http://schemas.openxmlformats.org/officeDocument/2006/math">
                    <m:r>
                      <a:rPr lang="pt-BR" sz="2200" i="1" dirty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∧(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pt-BR" sz="2200" b="0" i="1" dirty="0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pt-BR" sz="2200" b="0" i="1" dirty="0" smtClean="0">
                        <a:latin typeface="Cambria Math" panose="02040503050406030204" pitchFamily="18" charset="0"/>
                      </a:rPr>
                      <m:t>)=(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sz="2200" b="0" i="1" dirty="0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endParaRPr lang="pt-BR" sz="2200" dirty="0"/>
              </a:p>
              <a:p>
                <a:pPr lvl="1" algn="just">
                  <a:buFont typeface="Courier New" panose="02070309020205020404" pitchFamily="49" charset="0"/>
                  <a:buChar char="o"/>
                </a:pPr>
                <a14:m>
                  <m:oMath xmlns:m="http://schemas.openxmlformats.org/officeDocument/2006/math">
                    <m:r>
                      <a:rPr lang="pt-BR" sz="2200" i="1" dirty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000" i="1" dirty="0">
                        <a:latin typeface="Cambria Math" panose="02040503050406030204" pitchFamily="18" charset="0"/>
                      </a:rPr>
                      <m:t>∨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sz="2000" i="1" dirty="0">
                        <a:latin typeface="Cambria Math" panose="02040503050406030204" pitchFamily="18" charset="0"/>
                      </a:rPr>
                      <m:t>∨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)=(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000" i="1" dirty="0">
                        <a:latin typeface="Cambria Math" panose="02040503050406030204" pitchFamily="18" charset="0"/>
                      </a:rPr>
                      <m:t>∨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)</m:t>
                    </m:r>
                    <m:r>
                      <a:rPr lang="pt-BR" sz="2000" i="1" dirty="0">
                        <a:latin typeface="Cambria Math" panose="02040503050406030204" pitchFamily="18" charset="0"/>
                      </a:rPr>
                      <m:t>∨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endParaRPr lang="pt-BR" sz="2200" dirty="0"/>
              </a:p>
              <a:p>
                <a:pPr lvl="1" algn="just"/>
                <a:endParaRPr lang="pt-BR" sz="2000" dirty="0"/>
              </a:p>
              <a:p>
                <a:pPr algn="just"/>
                <a:r>
                  <a:rPr lang="pt-BR" sz="2400" dirty="0"/>
                  <a:t>Inalterabilidade:</a:t>
                </a:r>
                <a:endParaRPr lang="pt-BR" sz="2400" i="1" dirty="0">
                  <a:latin typeface="Cambria Math" panose="02040503050406030204" pitchFamily="18" charset="0"/>
                </a:endParaRPr>
              </a:p>
              <a:p>
                <a:pPr lvl="1" algn="just"/>
                <a14:m>
                  <m:oMath xmlns:m="http://schemas.openxmlformats.org/officeDocument/2006/math">
                    <m:r>
                      <a:rPr lang="pt-BR" sz="2200" i="1" dirty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pt-BR" sz="2200" b="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2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sz="2200" b="0" i="1" dirty="0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endParaRPr lang="pt-BR" sz="2200" b="0" dirty="0"/>
              </a:p>
              <a:p>
                <a:pPr lvl="1" algn="just"/>
                <a14:m>
                  <m:oMath xmlns:m="http://schemas.openxmlformats.org/officeDocument/2006/math">
                    <m:r>
                      <a:rPr lang="pt-BR" sz="2200" i="1" dirty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i="1" dirty="0">
                        <a:latin typeface="Cambria Math" panose="02040503050406030204" pitchFamily="18" charset="0"/>
                      </a:rPr>
                      <m:t>∨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endParaRPr lang="pt-BR" sz="2200" dirty="0"/>
              </a:p>
              <a:p>
                <a:pPr lvl="1" algn="just"/>
                <a:endParaRPr lang="pt-BR" sz="2200" b="0" dirty="0"/>
              </a:p>
              <a:p>
                <a:pPr lvl="1" algn="just"/>
                <a:endParaRPr lang="pt-BR" sz="2200" dirty="0">
                  <a:sym typeface="Wingdings" panose="05000000000000000000" pitchFamily="2" charset="2"/>
                </a:endParaRPr>
              </a:p>
              <a:p>
                <a:pPr marL="0" indent="0" algn="just">
                  <a:buNone/>
                </a:pPr>
                <a:endParaRPr lang="pt-BR" sz="2400" dirty="0"/>
              </a:p>
              <a:p>
                <a:pPr algn="just"/>
                <a:endParaRPr lang="pt-BR" sz="2200" dirty="0"/>
              </a:p>
              <a:p>
                <a:pPr lvl="1" algn="just"/>
                <a:endParaRPr lang="pt-BR" sz="2000" dirty="0"/>
              </a:p>
              <a:p>
                <a:pPr marL="914400" lvl="1" indent="-457200" algn="just">
                  <a:buFont typeface="+mj-lt"/>
                  <a:buAutoNum type="arabicPeriod"/>
                </a:pPr>
                <a:endParaRPr lang="pt-BR" b="1" i="1" dirty="0">
                  <a:latin typeface="Cambria Math" panose="02040503050406030204" pitchFamily="18" charset="0"/>
                </a:endParaRPr>
              </a:p>
              <a:p>
                <a:pPr marL="457200" lvl="1" indent="0" algn="just">
                  <a:buNone/>
                </a:pPr>
                <a:endParaRPr lang="pt-BR" b="1" dirty="0"/>
              </a:p>
              <a:p>
                <a:pPr marL="457200" lvl="1" indent="0" algn="just">
                  <a:buNone/>
                </a:pPr>
                <a:endParaRPr lang="pt-BR" b="1" dirty="0"/>
              </a:p>
            </p:txBody>
          </p:sp>
        </mc:Choice>
        <mc:Fallback xmlns="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4A2161CB-E951-190B-0074-960BFF8FC79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946275" y="1703613"/>
                <a:ext cx="4911724" cy="4480619"/>
              </a:xfrm>
              <a:blipFill>
                <a:blip r:embed="rId3"/>
                <a:stretch>
                  <a:fillRect l="-1613" t="-190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5">
                <a:extLst>
                  <a:ext uri="{FF2B5EF4-FFF2-40B4-BE49-F238E27FC236}">
                    <a16:creationId xmlns:a16="http://schemas.microsoft.com/office/drawing/2014/main" id="{F816314F-90E0-3CB5-7E7D-FC0E8DB948C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538619" y="2064560"/>
                <a:ext cx="4162926" cy="375872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just"/>
                <a14:m>
                  <m:oMath xmlns:m="http://schemas.openxmlformats.org/officeDocument/2006/math"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∨0</m:t>
                    </m:r>
                  </m:oMath>
                </a14:m>
                <a:r>
                  <a:rPr lang="pt-BR" sz="2400" dirty="0"/>
                  <a:t> </a:t>
                </a:r>
                <a:r>
                  <a:rPr lang="pt-BR" sz="2400" dirty="0">
                    <a:sym typeface="Wingdings" panose="05000000000000000000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pt-BR" sz="2400" b="0" i="1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endParaRPr lang="pt-BR" sz="2400" dirty="0"/>
              </a:p>
              <a:p>
                <a:pPr algn="just"/>
                <a14:m>
                  <m:oMath xmlns:m="http://schemas.openxmlformats.org/officeDocument/2006/math">
                    <m:r>
                      <a:rPr lang="pt-BR" sz="2400" b="0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400" b="0" i="1">
                        <a:latin typeface="Cambria Math" panose="02040503050406030204" pitchFamily="18" charset="0"/>
                      </a:rPr>
                      <m:t>∨1</m:t>
                    </m:r>
                  </m:oMath>
                </a14:m>
                <a:r>
                  <a:rPr lang="pt-BR" sz="2400" dirty="0"/>
                  <a:t> </a:t>
                </a:r>
                <a:r>
                  <a:rPr lang="pt-BR" sz="2400" dirty="0">
                    <a:sym typeface="Wingdings" panose="05000000000000000000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pt-BR" sz="2400" b="0" i="1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pt-BR" sz="2400" dirty="0"/>
              </a:p>
              <a:p>
                <a:pPr algn="just"/>
                <a:endParaRPr lang="pt-BR" sz="2400" i="1" dirty="0">
                  <a:latin typeface="Cambria Math" panose="02040503050406030204" pitchFamily="18" charset="0"/>
                </a:endParaRPr>
              </a:p>
              <a:p>
                <a:pPr algn="just"/>
                <a14:m>
                  <m:oMath xmlns:m="http://schemas.openxmlformats.org/officeDocument/2006/math">
                    <m:r>
                      <a:rPr lang="pt-BR" sz="2400" b="0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400" b="0" i="1">
                        <a:latin typeface="Cambria Math" panose="02040503050406030204" pitchFamily="18" charset="0"/>
                      </a:rPr>
                      <m:t>∧0</m:t>
                    </m:r>
                  </m:oMath>
                </a14:m>
                <a:r>
                  <a:rPr lang="pt-BR" sz="2400" dirty="0"/>
                  <a:t> </a:t>
                </a:r>
                <a:r>
                  <a:rPr lang="pt-BR" sz="2400" dirty="0">
                    <a:sym typeface="Wingdings" panose="05000000000000000000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pt-BR" sz="2400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0</m:t>
                    </m:r>
                  </m:oMath>
                </a14:m>
                <a:endParaRPr lang="pt-BR" sz="2400" dirty="0"/>
              </a:p>
              <a:p>
                <a:pPr algn="just"/>
                <a14:m>
                  <m:oMath xmlns:m="http://schemas.openxmlformats.org/officeDocument/2006/math">
                    <m:r>
                      <a:rPr lang="pt-BR" sz="2400" b="0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400" b="0" i="1">
                        <a:latin typeface="Cambria Math" panose="02040503050406030204" pitchFamily="18" charset="0"/>
                      </a:rPr>
                      <m:t>∧1</m:t>
                    </m:r>
                  </m:oMath>
                </a14:m>
                <a:r>
                  <a:rPr lang="pt-BR" sz="2400" dirty="0"/>
                  <a:t> </a:t>
                </a:r>
                <a:r>
                  <a:rPr lang="pt-BR" sz="2400" dirty="0">
                    <a:sym typeface="Wingdings" panose="05000000000000000000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pt-BR" sz="2400" b="0" i="1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endParaRPr lang="pt-BR" sz="2400" dirty="0">
                  <a:sym typeface="Wingdings" panose="05000000000000000000" pitchFamily="2" charset="2"/>
                </a:endParaRPr>
              </a:p>
              <a:p>
                <a:pPr algn="just"/>
                <a:endParaRPr lang="pt-BR" sz="2400" i="1" dirty="0">
                  <a:latin typeface="Cambria Math" panose="02040503050406030204" pitchFamily="18" charset="0"/>
                </a:endParaRPr>
              </a:p>
              <a:p>
                <a:pPr algn="just"/>
                <a14:m>
                  <m:oMath xmlns:m="http://schemas.openxmlformats.org/officeDocument/2006/math">
                    <m:r>
                      <a:rPr lang="pt-BR" sz="2400" b="0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400" b="0" i="1">
                        <a:latin typeface="Cambria Math" panose="02040503050406030204" pitchFamily="18" charset="0"/>
                      </a:rPr>
                      <m:t>∧</m:t>
                    </m:r>
                    <m:r>
                      <a:rPr lang="pt-BR" sz="2400" b="0">
                        <a:latin typeface="Cambria Math" panose="02040503050406030204" pitchFamily="18" charset="0"/>
                      </a:rPr>
                      <m:t>¬</m:t>
                    </m:r>
                    <m:r>
                      <m:rPr>
                        <m:sty m:val="p"/>
                      </m:rPr>
                      <a:rPr lang="pt-BR" sz="2400" b="0" i="1">
                        <a:latin typeface="Cambria Math" panose="02040503050406030204" pitchFamily="18" charset="0"/>
                      </a:rPr>
                      <m:t>P</m:t>
                    </m:r>
                  </m:oMath>
                </a14:m>
                <a:r>
                  <a:rPr lang="pt-BR" sz="2400" dirty="0"/>
                  <a:t> </a:t>
                </a:r>
                <a:r>
                  <a:rPr lang="pt-BR" sz="2400" dirty="0">
                    <a:sym typeface="Wingdings" panose="05000000000000000000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pt-BR" sz="2400" b="0" i="1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0</m:t>
                    </m:r>
                  </m:oMath>
                </a14:m>
                <a:r>
                  <a:rPr lang="pt-BR" sz="2400" dirty="0">
                    <a:sym typeface="Wingdings" panose="05000000000000000000" pitchFamily="2" charset="2"/>
                  </a:rPr>
                  <a:t> </a:t>
                </a:r>
                <a:endParaRPr lang="pt-BR" sz="2400" dirty="0"/>
              </a:p>
              <a:p>
                <a:pPr algn="just"/>
                <a14:m>
                  <m:oMath xmlns:m="http://schemas.openxmlformats.org/officeDocument/2006/math">
                    <m:r>
                      <a:rPr lang="pt-BR" sz="2400" b="0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400" b="0" i="1">
                        <a:latin typeface="Cambria Math" panose="02040503050406030204" pitchFamily="18" charset="0"/>
                      </a:rPr>
                      <m:t>∨</m:t>
                    </m:r>
                    <m:r>
                      <a:rPr lang="pt-BR" sz="2400" b="0">
                        <a:latin typeface="Cambria Math" panose="02040503050406030204" pitchFamily="18" charset="0"/>
                      </a:rPr>
                      <m:t>¬</m:t>
                    </m:r>
                    <m:r>
                      <m:rPr>
                        <m:sty m:val="p"/>
                      </m:rPr>
                      <a:rPr lang="pt-BR" sz="2400" b="0" i="1">
                        <a:latin typeface="Cambria Math" panose="02040503050406030204" pitchFamily="18" charset="0"/>
                      </a:rPr>
                      <m:t>P</m:t>
                    </m:r>
                  </m:oMath>
                </a14:m>
                <a:r>
                  <a:rPr lang="pt-BR" sz="2400" dirty="0"/>
                  <a:t> </a:t>
                </a:r>
                <a:r>
                  <a:rPr lang="pt-BR" sz="2400" dirty="0">
                    <a:sym typeface="Wingdings" panose="05000000000000000000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pt-BR" sz="2400" b="0" i="1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pt-BR" sz="2400" dirty="0"/>
              </a:p>
              <a:p>
                <a:pPr algn="just"/>
                <a:endParaRPr lang="pt-BR" sz="2200" dirty="0"/>
              </a:p>
              <a:p>
                <a:pPr lvl="1" algn="just"/>
                <a:endParaRPr lang="pt-BR" sz="2000" dirty="0"/>
              </a:p>
              <a:p>
                <a:pPr marL="914400" lvl="1" indent="-457200" algn="just">
                  <a:buFont typeface="+mj-lt"/>
                  <a:buAutoNum type="arabicPeriod"/>
                </a:pPr>
                <a:endParaRPr lang="pt-BR" b="1" i="1" dirty="0">
                  <a:latin typeface="Cambria Math" panose="02040503050406030204" pitchFamily="18" charset="0"/>
                </a:endParaRPr>
              </a:p>
              <a:p>
                <a:pPr marL="457200" lvl="1" indent="0" algn="just">
                  <a:buFont typeface="Arial" panose="020B0604020202020204" pitchFamily="34" charset="0"/>
                  <a:buNone/>
                </a:pPr>
                <a:endParaRPr lang="pt-BR" b="1" dirty="0"/>
              </a:p>
              <a:p>
                <a:pPr marL="457200" lvl="1" indent="0" algn="just">
                  <a:buFont typeface="Arial" panose="020B0604020202020204" pitchFamily="34" charset="0"/>
                  <a:buNone/>
                </a:pPr>
                <a:endParaRPr lang="pt-BR" b="1" dirty="0"/>
              </a:p>
            </p:txBody>
          </p:sp>
        </mc:Choice>
        <mc:Fallback xmlns="">
          <p:sp>
            <p:nvSpPr>
              <p:cNvPr id="3" name="Espaço Reservado para Conteúdo 5">
                <a:extLst>
                  <a:ext uri="{FF2B5EF4-FFF2-40B4-BE49-F238E27FC236}">
                    <a16:creationId xmlns:a16="http://schemas.microsoft.com/office/drawing/2014/main" id="{F816314F-90E0-3CB5-7E7D-FC0E8DB948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38619" y="2064560"/>
                <a:ext cx="4162926" cy="3758724"/>
              </a:xfrm>
              <a:prstGeom prst="rect">
                <a:avLst/>
              </a:prstGeom>
              <a:blipFill>
                <a:blip r:embed="rId4"/>
                <a:stretch>
                  <a:fillRect l="-2050" t="-243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8747608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E75599-88F5-18D9-1AC9-2A7A35B5CA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168CB86C-D42E-83D1-2C8D-B79063D931E6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F2C220C4-A201-8C7E-4263-1AA2740A7B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SIMPLIFICAÇÃO LÓGICA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050778A-C70A-BC7E-A80C-C06168E58E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27895" y="1634037"/>
            <a:ext cx="8136210" cy="4480619"/>
          </a:xfrm>
        </p:spPr>
        <p:txBody>
          <a:bodyPr>
            <a:normAutofit/>
          </a:bodyPr>
          <a:lstStyle/>
          <a:p>
            <a:pPr algn="just"/>
            <a:r>
              <a:rPr lang="pt-BR" sz="2400" dirty="0"/>
              <a:t>Simplificar uma expressão lógica significa encontrar uma expressão equivalente mais simples.</a:t>
            </a:r>
            <a:endParaRPr lang="pt-BR" sz="2400" b="0" dirty="0"/>
          </a:p>
          <a:p>
            <a:pPr algn="just"/>
            <a:endParaRPr lang="pt-BR" sz="2400" b="0" dirty="0"/>
          </a:p>
          <a:p>
            <a:pPr algn="just"/>
            <a:r>
              <a:rPr lang="pt-BR" sz="2400" b="0" dirty="0"/>
              <a:t>A ideia é encontrar uma </a:t>
            </a:r>
            <a:r>
              <a:rPr lang="pt-BR" sz="2400" dirty="0"/>
              <a:t>representação mais conveniente para a expressão, </a:t>
            </a:r>
            <a:r>
              <a:rPr lang="pt-BR" sz="2400" u="sng" dirty="0"/>
              <a:t>sem alterar o seu comportamento.</a:t>
            </a:r>
            <a:endParaRPr lang="pt-BR" sz="2400" b="0" u="sng" dirty="0"/>
          </a:p>
          <a:p>
            <a:pPr lvl="1" algn="just"/>
            <a:endParaRPr lang="pt-BR" sz="2200" dirty="0">
              <a:sym typeface="Wingdings" panose="05000000000000000000" pitchFamily="2" charset="2"/>
            </a:endParaRPr>
          </a:p>
          <a:p>
            <a:pPr marL="0" indent="0" algn="just">
              <a:buNone/>
            </a:pPr>
            <a:endParaRPr lang="pt-BR" sz="2400" dirty="0"/>
          </a:p>
          <a:p>
            <a:pPr algn="just"/>
            <a:endParaRPr lang="pt-BR" sz="2200" dirty="0"/>
          </a:p>
          <a:p>
            <a:pPr lvl="1" algn="just"/>
            <a:endParaRPr lang="pt-BR" sz="2000" dirty="0"/>
          </a:p>
          <a:p>
            <a:pPr marL="914400" lvl="1" indent="-457200" algn="just">
              <a:buFont typeface="+mj-lt"/>
              <a:buAutoNum type="arabicPeriod"/>
            </a:pPr>
            <a:endParaRPr lang="pt-BR" b="1" i="1" dirty="0">
              <a:latin typeface="Cambria Math" panose="02040503050406030204" pitchFamily="18" charset="0"/>
            </a:endParaRPr>
          </a:p>
          <a:p>
            <a:pPr marL="457200" lvl="1" indent="0" algn="just">
              <a:buNone/>
            </a:pPr>
            <a:endParaRPr lang="pt-BR" b="1" dirty="0"/>
          </a:p>
          <a:p>
            <a:pPr marL="457200" lvl="1" indent="0" algn="just">
              <a:buNone/>
            </a:pPr>
            <a:endParaRPr lang="pt-BR" b="1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9EF6E048-ECAD-7B90-05E6-9A82A452820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158" r="2030" b="44874"/>
          <a:stretch>
            <a:fillRect/>
          </a:stretch>
        </p:blipFill>
        <p:spPr>
          <a:xfrm>
            <a:off x="0" y="4567441"/>
            <a:ext cx="6799830" cy="2067962"/>
          </a:xfrm>
          <a:prstGeom prst="rect">
            <a:avLst/>
          </a:prstGeom>
        </p:spPr>
      </p:pic>
      <p:pic>
        <p:nvPicPr>
          <p:cNvPr id="1026" name="Picture 2" descr="Eletrônica Digital - Projetando Circuitos Lógicos Combinacionais - Semestre  2023.2">
            <a:extLst>
              <a:ext uri="{FF2B5EF4-FFF2-40B4-BE49-F238E27FC236}">
                <a16:creationId xmlns:a16="http://schemas.microsoft.com/office/drawing/2014/main" id="{A57B8795-6780-912D-D99C-BA39046A740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587" t="63634" r="12293" b="3083"/>
          <a:stretch>
            <a:fillRect/>
          </a:stretch>
        </p:blipFill>
        <p:spPr bwMode="auto">
          <a:xfrm>
            <a:off x="7334874" y="4568977"/>
            <a:ext cx="4766403" cy="13099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D0C97382-F141-E542-CB09-9C75154DF2D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rot="18177760" flipV="1">
            <a:off x="6597501" y="5181171"/>
            <a:ext cx="1474746" cy="1405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847879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83E3B4-58DD-3130-85C8-2581DA26CE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C65164A3-F0D0-D419-A0DF-53BAE31C88B8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582892D-8860-1631-AAEF-193465ACD0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SIMPLIFICAÇÃO LÓGICA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FE5B8C84-540C-19C9-9A08-11FB7352F0E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674394" y="1672390"/>
                <a:ext cx="8843212" cy="4872789"/>
              </a:xfrm>
            </p:spPr>
            <p:txBody>
              <a:bodyPr>
                <a:normAutofit/>
              </a:bodyPr>
              <a:lstStyle/>
              <a:p>
                <a:pPr algn="just"/>
                <a:r>
                  <a:rPr lang="pt-BR" sz="2400" dirty="0"/>
                  <a:t>Exemplo </a:t>
                </a:r>
                <a:r>
                  <a:rPr lang="pt-BR" sz="2400" dirty="0">
                    <a:sym typeface="Wingdings" panose="05000000000000000000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𝑷</m:t>
                    </m:r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𝑸</m:t>
                    </m:r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)∨(</m:t>
                    </m:r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𝑷</m:t>
                    </m:r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∧¬</m:t>
                    </m:r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𝑸</m:t>
                    </m:r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pt-BR" sz="2400" dirty="0"/>
                  <a:t>:</a:t>
                </a:r>
              </a:p>
              <a:p>
                <a:endParaRPr lang="pt-BR" sz="2400" b="0" dirty="0"/>
              </a:p>
              <a:p>
                <a:pPr lvl="1">
                  <a:buFont typeface="Courier New" panose="02070309020205020404" pitchFamily="49" charset="0"/>
                  <a:buChar char="o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pt-BR" sz="22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200" i="1" dirty="0" smtClean="0"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pt-BR" sz="2200" i="1" dirty="0" smtClean="0">
                            <a:latin typeface="Cambria Math" panose="02040503050406030204" pitchFamily="18" charset="0"/>
                          </a:rPr>
                          <m:t>∧</m:t>
                        </m:r>
                        <m:r>
                          <a:rPr lang="pt-BR" sz="2200" i="1" dirty="0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</m:d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∨</m:t>
                    </m:r>
                    <m:d>
                      <m:dPr>
                        <m:ctrlPr>
                          <a:rPr lang="pt-BR" sz="22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200" i="1" dirty="0" smtClean="0"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pt-BR" sz="2200" i="1" dirty="0" smtClean="0">
                            <a:latin typeface="Cambria Math" panose="02040503050406030204" pitchFamily="18" charset="0"/>
                          </a:rPr>
                          <m:t>∧¬</m:t>
                        </m:r>
                        <m:r>
                          <a:rPr lang="pt-BR" sz="2200" i="1" dirty="0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</m:d>
                  </m:oMath>
                </a14:m>
                <a:endParaRPr lang="pt-BR" sz="2200" i="1" dirty="0">
                  <a:latin typeface="Cambria Math" panose="02040503050406030204" pitchFamily="18" charset="0"/>
                </a:endParaRPr>
              </a:p>
              <a:p>
                <a:pPr marL="457200" lvl="1" indent="0">
                  <a:buNone/>
                </a:pPr>
                <a:r>
                  <a:rPr lang="pt-BR" sz="2200" i="1" dirty="0">
                    <a:latin typeface="Cambria Math" panose="02040503050406030204" pitchFamily="18" charset="0"/>
                  </a:rPr>
                  <a:t>Isolamos o P por meio da distributiva</a:t>
                </a:r>
              </a:p>
              <a:p>
                <a:pPr lvl="1">
                  <a:buFont typeface="Courier New" panose="02070309020205020404" pitchFamily="49" charset="0"/>
                  <a:buChar char="o"/>
                </a:pPr>
                <a:endParaRPr lang="pt-BR" sz="2200" i="1" dirty="0">
                  <a:latin typeface="Cambria Math" panose="02040503050406030204" pitchFamily="18" charset="0"/>
                </a:endParaRPr>
              </a:p>
              <a:p>
                <a:pPr lvl="1">
                  <a:buFont typeface="Courier New" panose="02070309020205020404" pitchFamily="49" charset="0"/>
                  <a:buChar char="o"/>
                </a:pPr>
                <a14:m>
                  <m:oMath xmlns:m="http://schemas.openxmlformats.org/officeDocument/2006/math"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∧</m:t>
                    </m:r>
                    <m:d>
                      <m:dPr>
                        <m:ctrlPr>
                          <a:rPr lang="pt-BR" sz="22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200" i="1" dirty="0" smtClean="0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pt-BR" sz="2200" i="1" dirty="0" smtClean="0">
                            <a:latin typeface="Cambria Math" panose="02040503050406030204" pitchFamily="18" charset="0"/>
                          </a:rPr>
                          <m:t>∨¬</m:t>
                        </m:r>
                        <m:r>
                          <a:rPr lang="pt-BR" sz="2200" i="1" dirty="0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</m:d>
                  </m:oMath>
                </a14:m>
                <a:endParaRPr lang="pt-BR" sz="2200" i="1" dirty="0">
                  <a:latin typeface="Cambria Math" panose="02040503050406030204" pitchFamily="18" charset="0"/>
                </a:endParaRPr>
              </a:p>
              <a:p>
                <a:pPr marL="457200" lvl="1" indent="0">
                  <a:buNone/>
                </a:pPr>
                <a:r>
                  <a:rPr lang="pt-BR" sz="2200" i="1" dirty="0">
                    <a:latin typeface="Cambria Math" panose="02040503050406030204" pitchFamily="18" charset="0"/>
                  </a:rPr>
                  <a:t>Sabemos que o resultado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pt-BR" sz="2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200" i="1" dirty="0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pt-BR" sz="2200" i="1" dirty="0">
                            <a:latin typeface="Cambria Math" panose="02040503050406030204" pitchFamily="18" charset="0"/>
                          </a:rPr>
                          <m:t>∨¬</m:t>
                        </m:r>
                        <m:r>
                          <a:rPr lang="pt-BR" sz="2200" i="1" dirty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</m:d>
                    <m:r>
                      <a:rPr lang="pt-BR" sz="22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sz="2200" i="1" dirty="0">
                    <a:latin typeface="Cambria Math" panose="02040503050406030204" pitchFamily="18" charset="0"/>
                  </a:rPr>
                  <a:t>é sempre VERDADEIRO</a:t>
                </a:r>
              </a:p>
              <a:p>
                <a:pPr lvl="1">
                  <a:buFont typeface="Courier New" panose="02070309020205020404" pitchFamily="49" charset="0"/>
                  <a:buChar char="o"/>
                </a:pPr>
                <a:endParaRPr lang="pt-BR" sz="2200" i="1" dirty="0">
                  <a:latin typeface="Cambria Math" panose="02040503050406030204" pitchFamily="18" charset="0"/>
                </a:endParaRPr>
              </a:p>
              <a:p>
                <a:pPr lvl="1">
                  <a:buFont typeface="Courier New" panose="02070309020205020404" pitchFamily="49" charset="0"/>
                  <a:buChar char="o"/>
                </a:pPr>
                <a14:m>
                  <m:oMath xmlns:m="http://schemas.openxmlformats.org/officeDocument/2006/math"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∧1</m:t>
                    </m:r>
                  </m:oMath>
                </a14:m>
                <a:r>
                  <a:rPr lang="pt-BR" sz="2200" i="1" dirty="0">
                    <a:latin typeface="Cambria Math" panose="02040503050406030204" pitchFamily="18" charset="0"/>
                  </a:rPr>
                  <a:t> </a:t>
                </a:r>
              </a:p>
              <a:p>
                <a:pPr marL="457200" lvl="1" indent="0">
                  <a:buNone/>
                </a:pPr>
                <a:r>
                  <a:rPr lang="pt-BR" sz="2200" i="1" dirty="0">
                    <a:latin typeface="Cambria Math" panose="02040503050406030204" pitchFamily="18" charset="0"/>
                  </a:rPr>
                  <a:t>Sabemos que a conjunção de P com 1 sempre será o próprio P</a:t>
                </a:r>
              </a:p>
              <a:p>
                <a:pPr marL="457200" lvl="1" indent="0">
                  <a:buNone/>
                </a:pPr>
                <a:endParaRPr lang="pt-BR" sz="2200" dirty="0">
                  <a:latin typeface="Cambria Math" panose="02040503050406030204" pitchFamily="18" charset="0"/>
                </a:endParaRPr>
              </a:p>
              <a:p>
                <a:r>
                  <a:rPr lang="pt-BR" sz="2400" dirty="0"/>
                  <a:t>Portanto, temos: </a:t>
                </a:r>
                <a14:m>
                  <m:oMath xmlns:m="http://schemas.openxmlformats.org/officeDocument/2006/math"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𝑷</m:t>
                    </m:r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𝑸</m:t>
                    </m:r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)∨(</m:t>
                    </m:r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𝑷</m:t>
                    </m:r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∧¬</m:t>
                    </m:r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𝑸</m:t>
                    </m:r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)≡</m:t>
                    </m:r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𝑷</m:t>
                    </m:r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​</m:t>
                    </m:r>
                  </m:oMath>
                </a14:m>
                <a:endParaRPr lang="pt-BR" sz="2400" dirty="0"/>
              </a:p>
              <a:p>
                <a:pPr>
                  <a:buFont typeface="Courier New" panose="02070309020205020404" pitchFamily="49" charset="0"/>
                  <a:buChar char="o"/>
                </a:pPr>
                <a:endParaRPr lang="pt-BR" sz="2400" i="1" dirty="0">
                  <a:latin typeface="Cambria Math" panose="02040503050406030204" pitchFamily="18" charset="0"/>
                </a:endParaRPr>
              </a:p>
              <a:p>
                <a:pPr lvl="1" algn="just"/>
                <a:endParaRPr lang="pt-BR" sz="2400" i="1" dirty="0">
                  <a:latin typeface="Cambria Math" panose="02040503050406030204" pitchFamily="18" charset="0"/>
                </a:endParaRPr>
              </a:p>
              <a:p>
                <a:pPr lvl="1" algn="just"/>
                <a:endParaRPr lang="pt-BR" sz="2200" dirty="0">
                  <a:sym typeface="Wingdings" panose="05000000000000000000" pitchFamily="2" charset="2"/>
                </a:endParaRPr>
              </a:p>
              <a:p>
                <a:pPr marL="0" indent="0" algn="just">
                  <a:buNone/>
                </a:pPr>
                <a:endParaRPr lang="pt-BR" sz="2400" dirty="0"/>
              </a:p>
              <a:p>
                <a:pPr algn="just"/>
                <a:endParaRPr lang="pt-BR" sz="2200" dirty="0"/>
              </a:p>
              <a:p>
                <a:pPr lvl="1" algn="just"/>
                <a:endParaRPr lang="pt-BR" sz="2000" dirty="0"/>
              </a:p>
              <a:p>
                <a:pPr marL="914400" lvl="1" indent="-457200" algn="just">
                  <a:buFont typeface="+mj-lt"/>
                  <a:buAutoNum type="arabicPeriod"/>
                </a:pPr>
                <a:endParaRPr lang="pt-BR" b="1" i="1" dirty="0">
                  <a:latin typeface="Cambria Math" panose="02040503050406030204" pitchFamily="18" charset="0"/>
                </a:endParaRPr>
              </a:p>
              <a:p>
                <a:pPr marL="457200" lvl="1" indent="0" algn="just">
                  <a:buNone/>
                </a:pPr>
                <a:endParaRPr lang="pt-BR" b="1" dirty="0"/>
              </a:p>
              <a:p>
                <a:pPr marL="457200" lvl="1" indent="0" algn="just">
                  <a:buNone/>
                </a:pPr>
                <a:endParaRPr lang="pt-BR" b="1" dirty="0"/>
              </a:p>
            </p:txBody>
          </p:sp>
        </mc:Choice>
        <mc:Fallback xmlns="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FE5B8C84-540C-19C9-9A08-11FB7352F0E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674394" y="1672390"/>
                <a:ext cx="8843212" cy="4872789"/>
              </a:xfrm>
              <a:blipFill>
                <a:blip r:embed="rId3"/>
                <a:stretch>
                  <a:fillRect l="-966" t="-187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7661005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1657AE-307F-BF7B-83B5-E5EEE20D7C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C7AABB55-32D7-5660-1B7B-37FCB61F6EFF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D1260A6-3C07-1BE4-AB53-24D1107EAA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ALGEBRA BOOLEANA (INTRO)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39DDE79E-1CD0-DFFD-47FD-D9A2F01FE0F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674394" y="1672390"/>
                <a:ext cx="8843212" cy="4872789"/>
              </a:xfrm>
            </p:spPr>
            <p:txBody>
              <a:bodyPr>
                <a:normAutofit/>
              </a:bodyPr>
              <a:lstStyle/>
              <a:p>
                <a:r>
                  <a:rPr lang="pt-BR" sz="2400" dirty="0"/>
                  <a:t>A álgebra booleana é um sistema matemático criado por </a:t>
                </a:r>
                <a:r>
                  <a:rPr lang="pt-BR" sz="2400" i="1" dirty="0"/>
                  <a:t>George </a:t>
                </a:r>
                <a:r>
                  <a:rPr lang="pt-BR" sz="2400" i="1" dirty="0" err="1"/>
                  <a:t>Boole</a:t>
                </a:r>
                <a:r>
                  <a:rPr lang="pt-BR" sz="2400" dirty="0"/>
                  <a:t>, que serve de base para a </a:t>
                </a:r>
                <a:r>
                  <a:rPr lang="pt-BR" sz="2400" b="1" dirty="0"/>
                  <a:t>lógica digital</a:t>
                </a:r>
                <a:r>
                  <a:rPr lang="pt-BR" sz="2400" dirty="0"/>
                  <a:t>, a </a:t>
                </a:r>
                <a:r>
                  <a:rPr lang="pt-BR" sz="2400" b="1" dirty="0"/>
                  <a:t>programação</a:t>
                </a:r>
                <a:r>
                  <a:rPr lang="pt-BR" sz="2400" dirty="0"/>
                  <a:t> e o funcionamento dos computadores modernos.</a:t>
                </a:r>
              </a:p>
              <a:p>
                <a:endParaRPr lang="pt-BR" sz="2400" dirty="0"/>
              </a:p>
              <a:p>
                <a:pPr lvl="1">
                  <a:buFont typeface="Courier New" panose="02070309020205020404" pitchFamily="49" charset="0"/>
                  <a:buChar char="o"/>
                </a:pPr>
                <a:r>
                  <a:rPr lang="pt-BR" sz="2000" dirty="0"/>
                  <a:t>Verdadeiro </a:t>
                </a:r>
                <a:r>
                  <a:rPr lang="pt-BR" sz="2000" dirty="0">
                    <a:sym typeface="Wingdings" panose="05000000000000000000" pitchFamily="2" charset="2"/>
                  </a:rPr>
                  <a:t> 1</a:t>
                </a:r>
                <a:endParaRPr lang="pt-BR" sz="2000" dirty="0"/>
              </a:p>
              <a:p>
                <a:pPr lvl="1">
                  <a:buFont typeface="Courier New" panose="02070309020205020404" pitchFamily="49" charset="0"/>
                  <a:buChar char="o"/>
                </a:pPr>
                <a:r>
                  <a:rPr lang="pt-BR" sz="2000" dirty="0">
                    <a:sym typeface="Wingdings" panose="05000000000000000000" pitchFamily="2" charset="2"/>
                  </a:rPr>
                  <a:t>Falso  0</a:t>
                </a:r>
              </a:p>
              <a:p>
                <a:pPr lvl="1">
                  <a:buFont typeface="Courier New" panose="02070309020205020404" pitchFamily="49" charset="0"/>
                  <a:buChar char="o"/>
                </a:pPr>
                <a:r>
                  <a:rPr lang="pt-BR" sz="2000" dirty="0">
                    <a:sym typeface="Wingdings" panose="05000000000000000000" pitchFamily="2" charset="2"/>
                  </a:rPr>
                  <a:t>Conjunção   + (Soma)</a:t>
                </a:r>
              </a:p>
              <a:p>
                <a:pPr lvl="1">
                  <a:buFont typeface="Courier New" panose="02070309020205020404" pitchFamily="49" charset="0"/>
                  <a:buChar char="o"/>
                </a:pPr>
                <a:r>
                  <a:rPr lang="pt-BR" sz="2000" dirty="0">
                    <a:sym typeface="Wingdings" panose="05000000000000000000" pitchFamily="2" charset="2"/>
                  </a:rPr>
                  <a:t>Disjunção  * (Multiplicação)</a:t>
                </a:r>
              </a:p>
              <a:p>
                <a:pPr lvl="1">
                  <a:buFont typeface="Courier New" panose="02070309020205020404" pitchFamily="49" charset="0"/>
                  <a:buChar char="o"/>
                </a:pPr>
                <a:r>
                  <a:rPr lang="pt-BR" sz="2000" dirty="0">
                    <a:sym typeface="Wingdings" panose="05000000000000000000" pitchFamily="2" charset="2"/>
                  </a:rPr>
                  <a:t>Negação   </a:t>
                </a:r>
                <a:r>
                  <a:rPr lang="pt-BR" sz="20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  <a:sym typeface="Wingdings" panose="05000000000000000000" pitchFamily="2" charset="2"/>
                  </a:rPr>
                  <a:t>─ (Barrado)</a:t>
                </a:r>
              </a:p>
              <a:p>
                <a:pPr lvl="1">
                  <a:buFont typeface="Courier New" panose="02070309020205020404" pitchFamily="49" charset="0"/>
                  <a:buChar char="o"/>
                </a:pPr>
                <a:endParaRPr lang="pt-BR" sz="20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  <a:sym typeface="Wingdings" panose="05000000000000000000" pitchFamily="2" charset="2"/>
                </a:endParaRPr>
              </a:p>
              <a:p>
                <a:pPr lvl="1">
                  <a:buFont typeface="Courier New" panose="02070309020205020404" pitchFamily="49" charset="0"/>
                  <a:buChar char="o"/>
                </a:pPr>
                <a:r>
                  <a:rPr lang="pt-BR" sz="20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  <a:sym typeface="Wingdings" panose="05000000000000000000" pitchFamily="2" charset="2"/>
                  </a:rPr>
                  <a:t>Exemplo: </a:t>
                </a:r>
                <a14:m>
                  <m:oMath xmlns:m="http://schemas.openxmlformats.org/officeDocument/2006/math">
                    <m:r>
                      <a:rPr lang="pt-BR" sz="2000" b="1" i="1" dirty="0" smtClean="0">
                        <a:latin typeface="Cambria Math" panose="02040503050406030204" pitchFamily="18" charset="0"/>
                      </a:rPr>
                      <m:t>𝑷</m:t>
                    </m:r>
                    <m:r>
                      <a:rPr lang="pt-BR" sz="2000" b="1" i="1" dirty="0">
                        <a:latin typeface="Cambria Math" panose="02040503050406030204" pitchFamily="18" charset="0"/>
                      </a:rPr>
                      <m:t>∧¬</m:t>
                    </m:r>
                    <m:r>
                      <a:rPr lang="pt-BR" sz="2000" b="1" i="1" dirty="0">
                        <a:latin typeface="Cambria Math" panose="02040503050406030204" pitchFamily="18" charset="0"/>
                      </a:rPr>
                      <m:t>𝑸</m:t>
                    </m:r>
                    <m:r>
                      <a:rPr lang="pt-BR" sz="2000" b="1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sz="2000" b="1" i="1" dirty="0" smtClean="0">
                        <a:latin typeface="Cambria Math" panose="02040503050406030204" pitchFamily="18" charset="0"/>
                      </a:rPr>
                      <m:t>𝑨</m:t>
                    </m:r>
                    <m:acc>
                      <m:accPr>
                        <m:chr m:val="̅"/>
                        <m:ctrlPr>
                          <a:rPr lang="pt-BR" sz="2000" b="1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sz="2000" b="1" i="1" dirty="0" smtClean="0">
                            <a:latin typeface="Cambria Math" panose="02040503050406030204" pitchFamily="18" charset="0"/>
                          </a:rPr>
                          <m:t>𝑩</m:t>
                        </m:r>
                      </m:e>
                    </m:acc>
                  </m:oMath>
                </a14:m>
                <a:endParaRPr lang="pt-BR" sz="2200" dirty="0">
                  <a:sym typeface="Wingdings" panose="05000000000000000000" pitchFamily="2" charset="2"/>
                </a:endParaRPr>
              </a:p>
              <a:p>
                <a:pPr marL="0" indent="0" algn="just">
                  <a:buNone/>
                </a:pPr>
                <a:r>
                  <a:rPr lang="pt-BR" sz="2400" dirty="0"/>
                  <a:t>	</a:t>
                </a:r>
              </a:p>
              <a:p>
                <a:pPr marL="0" indent="0" algn="just">
                  <a:buNone/>
                </a:pPr>
                <a:endParaRPr lang="pt-BR" sz="2400" dirty="0"/>
              </a:p>
              <a:p>
                <a:pPr algn="just"/>
                <a:endParaRPr lang="pt-BR" sz="2200" dirty="0"/>
              </a:p>
              <a:p>
                <a:pPr lvl="1" algn="just"/>
                <a:endParaRPr lang="pt-BR" sz="2000" dirty="0"/>
              </a:p>
              <a:p>
                <a:pPr marL="914400" lvl="1" indent="-457200" algn="just">
                  <a:buFont typeface="+mj-lt"/>
                  <a:buAutoNum type="arabicPeriod"/>
                </a:pPr>
                <a:endParaRPr lang="pt-BR" b="1" i="1" dirty="0">
                  <a:latin typeface="Cambria Math" panose="02040503050406030204" pitchFamily="18" charset="0"/>
                </a:endParaRPr>
              </a:p>
              <a:p>
                <a:pPr marL="457200" lvl="1" indent="0" algn="just">
                  <a:buNone/>
                </a:pPr>
                <a:endParaRPr lang="pt-BR" b="1" dirty="0"/>
              </a:p>
              <a:p>
                <a:pPr marL="457200" lvl="1" indent="0" algn="just">
                  <a:buNone/>
                </a:pPr>
                <a:endParaRPr lang="pt-BR" b="1" dirty="0"/>
              </a:p>
            </p:txBody>
          </p:sp>
        </mc:Choice>
        <mc:Fallback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39DDE79E-1CD0-DFFD-47FD-D9A2F01FE0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674394" y="1672390"/>
                <a:ext cx="8843212" cy="4872789"/>
              </a:xfrm>
              <a:blipFill>
                <a:blip r:embed="rId3"/>
                <a:stretch>
                  <a:fillRect l="-966" t="-175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970432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7ACADE-A840-3BE9-33C2-2379B4027F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5D6F4223-B114-1B64-C5A5-94547D50A986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8DB634D-98C2-7C53-CE8C-88718DA1DE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FIXAÇÃO - DESAFIO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D169E136-FFE4-8C03-85FE-9C8A6D6859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58950" y="1817914"/>
            <a:ext cx="8888997" cy="4669971"/>
          </a:xfrm>
        </p:spPr>
        <p:txBody>
          <a:bodyPr>
            <a:normAutofit/>
          </a:bodyPr>
          <a:lstStyle/>
          <a:p>
            <a:pPr marL="457200" indent="-457200" algn="just">
              <a:buFont typeface="+mj-lt"/>
              <a:buAutoNum type="arabicPeriod"/>
            </a:pPr>
            <a:r>
              <a:rPr lang="pt-BR" sz="2400" dirty="0"/>
              <a:t>Considerando que a logica proposicional trabalha essencialmente com conjunções, disjunções e negações. Como poderíamos representar a </a:t>
            </a:r>
            <a:r>
              <a:rPr lang="pt-BR" sz="2400" b="1" dirty="0"/>
              <a:t>condicional</a:t>
            </a:r>
            <a:r>
              <a:rPr lang="pt-BR" sz="2400" dirty="0"/>
              <a:t>, a </a:t>
            </a:r>
            <a:r>
              <a:rPr lang="pt-BR" sz="2400" b="1" dirty="0" err="1"/>
              <a:t>bi-condicional</a:t>
            </a:r>
            <a:r>
              <a:rPr lang="pt-BR" sz="2400" dirty="0"/>
              <a:t> e a </a:t>
            </a:r>
            <a:r>
              <a:rPr lang="pt-BR" sz="2400" b="1" dirty="0"/>
              <a:t>disjunção exclusiva</a:t>
            </a:r>
            <a:r>
              <a:rPr lang="pt-BR" sz="2400" dirty="0"/>
              <a:t>, dentro das formas normais?</a:t>
            </a:r>
          </a:p>
          <a:p>
            <a:pPr marL="457200" indent="-457200" algn="just">
              <a:buFont typeface="+mj-lt"/>
              <a:buAutoNum type="arabicPeriod"/>
            </a:pPr>
            <a:endParaRPr lang="pt-BR" sz="2400" dirty="0"/>
          </a:p>
          <a:p>
            <a:pPr marL="457200" indent="-457200" algn="just">
              <a:buFont typeface="+mj-lt"/>
              <a:buAutoNum type="arabicPeriod"/>
            </a:pPr>
            <a:r>
              <a:rPr lang="pt-BR" sz="2400" dirty="0"/>
              <a:t>Simplifique as expressões:</a:t>
            </a:r>
          </a:p>
          <a:p>
            <a:pPr marL="0" indent="0" algn="just">
              <a:buNone/>
            </a:pPr>
            <a:r>
              <a:rPr lang="pt-BR" sz="2400" dirty="0"/>
              <a:t> </a:t>
            </a: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47F2354F-9002-B04F-3F3B-CD5583E0DE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55673" y="4412643"/>
            <a:ext cx="7495550" cy="24453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0648018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Amarelo Verde">
      <a:dk1>
        <a:sysClr val="windowText" lastClr="000000"/>
      </a:dk1>
      <a:lt1>
        <a:sysClr val="window" lastClr="FFFFFF"/>
      </a:lt1>
      <a:dk2>
        <a:srgbClr val="455F51"/>
      </a:dk2>
      <a:lt2>
        <a:srgbClr val="E2DFCC"/>
      </a:lt2>
      <a:accent1>
        <a:srgbClr val="99CB38"/>
      </a:accent1>
      <a:accent2>
        <a:srgbClr val="63A537"/>
      </a:accent2>
      <a:accent3>
        <a:srgbClr val="37A76F"/>
      </a:accent3>
      <a:accent4>
        <a:srgbClr val="44C1A3"/>
      </a:accent4>
      <a:accent5>
        <a:srgbClr val="4EB3CF"/>
      </a:accent5>
      <a:accent6>
        <a:srgbClr val="51C3F9"/>
      </a:accent6>
      <a:hlink>
        <a:srgbClr val="EE7B08"/>
      </a:hlink>
      <a:folHlink>
        <a:srgbClr val="977B2D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Pacote">
  <a:themeElements>
    <a:clrScheme name="Amarelo Verde">
      <a:dk1>
        <a:sysClr val="windowText" lastClr="000000"/>
      </a:dk1>
      <a:lt1>
        <a:sysClr val="window" lastClr="FFFFFF"/>
      </a:lt1>
      <a:dk2>
        <a:srgbClr val="455F51"/>
      </a:dk2>
      <a:lt2>
        <a:srgbClr val="E2DFCC"/>
      </a:lt2>
      <a:accent1>
        <a:srgbClr val="99CB38"/>
      </a:accent1>
      <a:accent2>
        <a:srgbClr val="63A537"/>
      </a:accent2>
      <a:accent3>
        <a:srgbClr val="37A76F"/>
      </a:accent3>
      <a:accent4>
        <a:srgbClr val="44C1A3"/>
      </a:accent4>
      <a:accent5>
        <a:srgbClr val="4EB3CF"/>
      </a:accent5>
      <a:accent6>
        <a:srgbClr val="51C3F9"/>
      </a:accent6>
      <a:hlink>
        <a:srgbClr val="EE7B08"/>
      </a:hlink>
      <a:folHlink>
        <a:srgbClr val="977B2D"/>
      </a:folHlink>
    </a:clrScheme>
    <a:fontScheme name="Pacote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cote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A425FB89-E954-4A2A-81DC-D90804A94DB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1844</TotalTime>
  <Words>3093</Words>
  <Application>Microsoft Office PowerPoint</Application>
  <PresentationFormat>Widescreen</PresentationFormat>
  <Paragraphs>681</Paragraphs>
  <Slides>46</Slides>
  <Notes>46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46</vt:i4>
      </vt:variant>
    </vt:vector>
  </HeadingPairs>
  <TitlesOfParts>
    <vt:vector size="55" baseType="lpstr">
      <vt:lpstr>Arial</vt:lpstr>
      <vt:lpstr>Calibri</vt:lpstr>
      <vt:lpstr>Calibri Light</vt:lpstr>
      <vt:lpstr>Cambria Math</vt:lpstr>
      <vt:lpstr>Courier New</vt:lpstr>
      <vt:lpstr>Gill Sans MT</vt:lpstr>
      <vt:lpstr>Wingdings</vt:lpstr>
      <vt:lpstr>Tema do Office</vt:lpstr>
      <vt:lpstr>Pacote</vt:lpstr>
      <vt:lpstr>Plano de ensino</vt:lpstr>
      <vt:lpstr>Sistema de avaliação</vt:lpstr>
      <vt:lpstr>Distribuição de Notas</vt:lpstr>
      <vt:lpstr>Bibliografia</vt:lpstr>
      <vt:lpstr>módulo 1 – FUNDAMENTOS</vt:lpstr>
      <vt:lpstr>FUNDAMENTOS</vt:lpstr>
      <vt:lpstr>Por que o computador precisa da Matemática Discreta?</vt:lpstr>
      <vt:lpstr>DISCRETIZAÇÃO</vt:lpstr>
      <vt:lpstr>DISCRETIZAÇÃO</vt:lpstr>
      <vt:lpstr>Apenas discretizar é suficiente?</vt:lpstr>
      <vt:lpstr>DISCRETIZAÇÃO</vt:lpstr>
      <vt:lpstr>DISCRETIZAÇÃO</vt:lpstr>
      <vt:lpstr>módulo 2 – lógica proposicional</vt:lpstr>
      <vt:lpstr>LÓGICA PROPOSICIONAL</vt:lpstr>
      <vt:lpstr>PROPOSIÇÕES</vt:lpstr>
      <vt:lpstr>PROPOSIÇÕES</vt:lpstr>
      <vt:lpstr>CONECTIVOS LÓGICOS</vt:lpstr>
      <vt:lpstr>CONECTIVOS LÓGICOS</vt:lpstr>
      <vt:lpstr>TABELA VERDADE</vt:lpstr>
      <vt:lpstr>TABELA VERDADE</vt:lpstr>
      <vt:lpstr>TABELA VERDADE</vt:lpstr>
      <vt:lpstr>TABELA VERDADE</vt:lpstr>
      <vt:lpstr>TABELA VERDADE</vt:lpstr>
      <vt:lpstr>TABELA VERDADE</vt:lpstr>
      <vt:lpstr>PRECEDÊNCIA DOS CONECTIVOS</vt:lpstr>
      <vt:lpstr>CONSTRUÇÃO DA TABELA VERDADE</vt:lpstr>
      <vt:lpstr>CLASSIFICAÇÃO DE EXPRESSÕES LÓGICAS</vt:lpstr>
      <vt:lpstr>CLASSIFICAÇÃO DE EXPRESSÕES LÓGICAS</vt:lpstr>
      <vt:lpstr>FORMAS NORMAIS</vt:lpstr>
      <vt:lpstr>FORMAS NORMAIS</vt:lpstr>
      <vt:lpstr>FORMAS NORMAIS</vt:lpstr>
      <vt:lpstr>FORMAS NORMAIS</vt:lpstr>
      <vt:lpstr>FIXAÇÃO</vt:lpstr>
      <vt:lpstr>FIXAÇÃO</vt:lpstr>
      <vt:lpstr>FIXAÇÃO</vt:lpstr>
      <vt:lpstr>módulo 3 – equivalências lógicas</vt:lpstr>
      <vt:lpstr>EQUIVALÊNCIAS LÓGICAS</vt:lpstr>
      <vt:lpstr>LEI DE MORGAN</vt:lpstr>
      <vt:lpstr>PROPRIEDADE DA ABSORÇÃO</vt:lpstr>
      <vt:lpstr>PROPRIEDADE DA ABSORÇÃO</vt:lpstr>
      <vt:lpstr>PROPRIEDADE DISTRIBUTIVA</vt:lpstr>
      <vt:lpstr>PROPRIEDADES OPERACIONAIS</vt:lpstr>
      <vt:lpstr>SIMPLIFICAÇÃO LÓGICA</vt:lpstr>
      <vt:lpstr>SIMPLIFICAÇÃO LÓGICA</vt:lpstr>
      <vt:lpstr>ALGEBRA BOOLEANA (INTRO)</vt:lpstr>
      <vt:lpstr>FIXAÇÃO - DESAFIO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Marcio Salmazo Ramos</dc:creator>
  <cp:lastModifiedBy>Marcio Salmazo Ramos</cp:lastModifiedBy>
  <cp:revision>145</cp:revision>
  <dcterms:created xsi:type="dcterms:W3CDTF">2026-07-26T12:48:37Z</dcterms:created>
  <dcterms:modified xsi:type="dcterms:W3CDTF">2026-08-09T23:22:18Z</dcterms:modified>
</cp:coreProperties>
</file>