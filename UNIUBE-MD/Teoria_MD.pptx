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45"/>
  </p:notesMasterIdLst>
  <p:sldIdLst>
    <p:sldId id="256" r:id="rId3"/>
    <p:sldId id="287" r:id="rId4"/>
    <p:sldId id="288" r:id="rId5"/>
    <p:sldId id="289" r:id="rId6"/>
    <p:sldId id="290" r:id="rId7"/>
    <p:sldId id="293" r:id="rId8"/>
    <p:sldId id="291" r:id="rId9"/>
    <p:sldId id="292" r:id="rId10"/>
    <p:sldId id="314" r:id="rId11"/>
    <p:sldId id="294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7" r:id="rId23"/>
    <p:sldId id="306" r:id="rId24"/>
    <p:sldId id="308" r:id="rId25"/>
    <p:sldId id="309" r:id="rId26"/>
    <p:sldId id="310" r:id="rId27"/>
    <p:sldId id="311" r:id="rId28"/>
    <p:sldId id="313" r:id="rId29"/>
    <p:sldId id="312" r:id="rId30"/>
    <p:sldId id="316" r:id="rId31"/>
    <p:sldId id="317" r:id="rId32"/>
    <p:sldId id="320" r:id="rId33"/>
    <p:sldId id="322" r:id="rId34"/>
    <p:sldId id="323" r:id="rId35"/>
    <p:sldId id="324" r:id="rId36"/>
    <p:sldId id="326" r:id="rId37"/>
    <p:sldId id="325" r:id="rId38"/>
    <p:sldId id="327" r:id="rId39"/>
    <p:sldId id="328" r:id="rId40"/>
    <p:sldId id="329" r:id="rId41"/>
    <p:sldId id="330" r:id="rId42"/>
    <p:sldId id="332" r:id="rId43"/>
    <p:sldId id="321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77515" autoAdjust="0"/>
  </p:normalViewPr>
  <p:slideViewPr>
    <p:cSldViewPr snapToGrid="0">
      <p:cViewPr varScale="1">
        <p:scale>
          <a:sx n="79" d="100"/>
          <a:sy n="79" d="100"/>
        </p:scale>
        <p:origin x="108" y="492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DFA8-F094-9115-7AB3-F8B0A68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7089E9-8ECE-FAC8-C0B6-E185528B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EB7E30-F2BE-5AE2-7258-6651C3AB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0" dirty="0"/>
              <a:t>- A matemática contínua aparece em fenômenos que variam continuamente (ex. Temperatura, pressão, calculo, </a:t>
            </a:r>
            <a:r>
              <a:rPr lang="pt-BR" b="0" dirty="0" err="1"/>
              <a:t>etc</a:t>
            </a:r>
            <a:r>
              <a:rPr lang="pt-BR" b="0" dirty="0"/>
              <a:t>).</a:t>
            </a:r>
          </a:p>
          <a:p>
            <a:r>
              <a:rPr lang="pt-BR" dirty="0"/>
              <a:t>- </a:t>
            </a:r>
            <a:r>
              <a:rPr lang="pt-BR" b="0" dirty="0"/>
              <a:t>A matemática discreta aparece em elementos com um espaçamento bem definido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735FE-8F9C-A971-8DB6-ECF7C6426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4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A2C3-941E-281A-6329-36EE9CE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3E0AD0-AF2D-E13D-D350-DF71DD960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6A266E-5423-4F08-57E8-6674E0D84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AAFBF7-EDBF-2ADB-B1B2-F4692C8B0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76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D59D2-5C33-D865-70A5-FAC23978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13D109-1CDB-70C5-943F-E099B6FF0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0B71ED-2F7B-AA22-F961-B16548C9A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b="1" dirty="0"/>
              <a:t>Quase toda a Computação é construída sobre objetos discretos.</a:t>
            </a:r>
          </a:p>
          <a:p>
            <a:endParaRPr lang="pt-BR" sz="1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Bits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Conjuntos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Grafos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Árvores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Lógica proposicional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1800" b="0" dirty="0"/>
          </a:p>
          <a:p>
            <a:pPr marL="0" indent="0">
              <a:buFontTx/>
              <a:buNone/>
            </a:pPr>
            <a:r>
              <a:rPr lang="pt-BR" dirty="0"/>
              <a:t>Todos esses objetos possuem estruturas discretas.</a:t>
            </a:r>
          </a:p>
          <a:p>
            <a:pPr marL="0" indent="0">
              <a:buFontTx/>
              <a:buNone/>
            </a:pPr>
            <a:r>
              <a:rPr lang="pt-BR" b="0" dirty="0"/>
              <a:t>Entender eles, nos dá a base da computação.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9E41C7-C441-46ED-066A-8967EE2E1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6A82-DCE1-89B0-04D0-7B262E79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0F9A31-572A-A6D4-BF32-7D629D70D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250E03-00F6-84F4-F42F-9995E1B70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E44CB4-D350-3075-B017-A884028A9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517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7E8D-B340-B8DB-85B0-FB9879D8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7F1652-8920-CADF-09D4-60EDAC2A1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A860EA-E018-B9F0-F843-BF287ABBD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09FA3C-CA3D-6789-133F-2E5F5AB2B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8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0F3F-7E98-460A-84F3-E111DB07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D702EF-4AEE-80CB-18FE-CB76F3C12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752907-DF8F-A60B-D584-F7442249C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DEF4CE-7D9E-C6DC-F428-956DF2986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083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D696-FB1E-93A1-E055-6B17655F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EF56BC-4719-26F0-35C5-F192E762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01AB85-920E-8820-6A6C-E9BB9D78E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32E076-18D2-ED65-706E-B130B1F8F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082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2B0D-EC00-4939-6AD3-0DDE8A34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67D953-E001-2DBE-80AC-03165CEAB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7C74A3-FB00-9F32-924D-88CE3D02A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B7948C-8BDF-A9E0-DFB4-663C2A249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874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3978-9C5E-CED3-5A9A-E7E8964A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ECC452-E638-C59F-9220-C1EEB906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4EE923-BA27-93D5-B4BA-235D6F517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53CFC5-F8B7-8132-2FD5-2B4C85725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80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AD38-36B1-3AE9-53A8-C1D4875F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7D445D-4CB6-2DA8-F260-EF3963D52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F15396-F0B9-D2E5-2A3F-13F1717A9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8B3083-6380-32FC-4BCB-F38D11A7C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920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DD62B-8624-6E8B-4952-701DC6D2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BD37BF-67CC-9802-656D-D3A35EDC1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06E8A9-1408-5BE9-8960-A0C68AFAB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0" dirty="0"/>
              <a:t>Citar também os princípios básicos:</a:t>
            </a:r>
          </a:p>
          <a:p>
            <a:pPr marL="0" indent="0">
              <a:buFontTx/>
              <a:buNone/>
            </a:pPr>
            <a:endParaRPr lang="pt-BR" b="0" dirty="0"/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 da Não Contradição: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proposição não pode ser verdadeira e falsa ao mesmo tempo.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 do Terceiro Excluído: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 proposição ou é verdadeira ou é falsa, não havendo uma terceira opção.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D3DA0E-C75B-6321-D7D5-E7693E3A6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788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A10A-A2E5-291A-467D-6A193EE8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D0B87F-7657-1CBB-59A9-AEB579C0F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9FA888-50F4-3BC6-848B-E5401A7D0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sz="1200" b="1" dirty="0"/>
              <a:t>Disjunção exclusiva: </a:t>
            </a:r>
            <a:r>
              <a:rPr lang="pt-BR" dirty="0"/>
              <a:t>Embora não faça parte dos conectivos fundamentais da lógica proposicional clássica, ele é muito utilizado em Computação.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5D941C-A48A-92B5-312C-D038C49DA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309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EA64-B1BA-0555-EAB0-328FB9E3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D8694C-AEE6-B69F-C3A8-E81ABD3C5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33EDED-26AE-6279-C4AF-827562928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12365D-5FA7-251F-6BCE-AF9BC5F42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93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688B-B081-F4A2-9DA7-26B6A230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7D21D7-9421-BD1E-7355-B033584B6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0EA7C5-98D8-20EC-F116-2B2755C5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770B7C-0B66-3AA6-2A0F-C76F501EF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107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D384-657E-0037-2270-6F4E9F44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35DD1D-07E9-A620-DEC3-F9D508142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34AB1A-8508-02B1-0FAD-DA5BB993D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A99E9A-EC3A-942A-EF26-62A56C074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777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A974-CE8F-2FED-C79D-05BF75A8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3C8F71-6239-0EF7-2F1F-623F194E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389C8A-CC73-127F-E584-94EB49A9D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7ECED-DECD-241E-4A1F-146897456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753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89C6-488D-67E9-120D-A4B7F476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83AF92-C426-8833-7921-EEB58F9C7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945E74-468A-A72E-F2FB-EC2E4AD04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3EC7BF-B23F-8334-31C9-E17735FEC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5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EAF2-3ECF-BF30-962A-DF384C9D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A7AD45-F8E4-B41F-16D4-6D8E68CA3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DBC81-AC38-2406-9AF6-2FEF7808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dirty="0"/>
              <a:t>A implicação </a:t>
            </a:r>
            <a:r>
              <a:rPr lang="pt-BR" sz="2400" b="1" dirty="0"/>
              <a:t>não afirma que P acontece</a:t>
            </a:r>
            <a:r>
              <a:rPr lang="pt-BR" sz="2400" dirty="0"/>
              <a:t>; ela apenas estabelece uma promessa:</a:t>
            </a:r>
          </a:p>
          <a:p>
            <a:r>
              <a:rPr lang="pt-BR" sz="2400" dirty="0"/>
              <a:t>"Sempre que P acontecer, Q também acontecerá.“</a:t>
            </a:r>
          </a:p>
          <a:p>
            <a:endParaRPr lang="pt-BR" sz="2400" dirty="0"/>
          </a:p>
          <a:p>
            <a:r>
              <a:rPr lang="pt-BR" sz="2400" dirty="0"/>
              <a:t>Essa promessa só é quebrada em um único caso: quando P ocorre e Q não ocorre.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r>
              <a:rPr lang="pt-BR" sz="2400" dirty="0"/>
              <a:t>"Se um aluno entregar todas as atividades, então será aprovado.“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Essa regra é violada apenas se um aluno entregar todas as atividades e, mesmo assim, não for aprovado.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 o aluno nem sequer entregou as atividades, a regra não foi contrariada; ela simplesmente não precisou ser aplicada.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A57626-C2AA-A0D5-3C1B-D4CC40D52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694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507C-6F78-1EE8-66E8-7833DB52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CDDACD-A975-4445-817D-B8DC3177A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354B87-4594-43A4-A79E-B480A6ED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dirty="0"/>
              <a:t>É uma condição de equivalência.</a:t>
            </a:r>
          </a:p>
          <a:p>
            <a:r>
              <a:rPr lang="pt-BR" sz="2400" dirty="0"/>
              <a:t>As duas proposições devem possuir o mesmo valor lógico.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Exemplo: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P= um numero é par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Q = um numero é divisível por 2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400" dirty="0"/>
              <a:t>Um número é par se, e somente se, é divisível por 2.</a:t>
            </a: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4BCCCF-2B76-191C-43CC-4FF3E895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855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7F6A-E654-F01A-CC57-5A227780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1ACDC-C5D5-405D-308F-C86DF4107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A45426-B001-2A9E-E8E7-754D20D8C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604104-64E9-D706-A8AD-903E7FF1C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738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A06-D7D3-2A37-D4B9-FC509943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EE6932-7B21-A622-976B-7C4D6C359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10B38A-A221-735E-1AEF-D83DF67A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026508-E9C8-DB28-986D-FA0A6165B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88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8F75-2814-DF8B-D3B9-1C8805DF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912B00-F0DD-A1FA-2C70-F54FD99F2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F3C3C1-02C6-C482-B184-763FB135C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40D869-3F24-7F05-D6F1-DFFAA807B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189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0E62-7F42-9431-2647-9224CDD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2B3AE1-722D-ADDF-B70A-6D9210F3F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EB23A11-B425-639A-D005-46B2EA67B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AE84DC-54BE-7616-55FE-0C5AD79B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3263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EA51-67A1-727A-3615-971BBF97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5B1E26-633B-8F31-CE5F-A8C9AC25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993FAB-7A7E-E1F6-8DB5-DCB9AED0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69E455-3354-0E49-825E-275CA1DDB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966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A5DD-E71E-5910-FB1D-FB1F91B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8F6069-1171-7936-BD76-74440C59A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74C979-8DAD-23C9-802E-04189F94A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verdadeiro.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OU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0EFB3-E54D-3205-32B2-25118CC27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4557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65F9-843E-9719-F64E-739ED3D1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AE87A8-D9E0-15EE-41B8-88195C93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DB3AC8-B71A-133D-EEB6-1D8BECE74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falso.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E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9A1C47-98C4-6BDF-E156-3B50F837F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124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51DA-BE58-9419-0FEC-6F10CD80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5EBE74-0261-E664-F7F1-C492691B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E7082C-CAA4-3A7C-B41D-A57D9C3B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 expressões montadas a partir das tabelas-verdades vão servir para modelar e simplificar o sistema a ser modelado (principalmente no contexto eletrônico da álgebra booleana), por isso, é importante a padronização do sistema nas formas normais.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3E4F2C-DE4F-4588-23CE-CFB91ADF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231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3E5C-A7AC-F028-F534-3A7AF906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060F58-B059-92AA-2B80-7C8E8C50B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6DDD98-A067-D6B0-8918-5674E2096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B59C70-20D6-0DEA-9DE0-A4F0D4979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4895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1342-E866-2613-57B2-4FFC165D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6E5998-F90D-EF08-EB76-D7F18B7B9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E028F7-C83B-E31E-B8EC-BCB25DA9C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94BB6F-66E3-671F-FF9D-8328F559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3957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0CF7-AA35-FAFC-50E2-5A8C3770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EF460A-EDF7-0D25-E67C-0CAA74B51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4467EC-37E1-F106-C925-B5E29670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47BEFB-7CDD-1C85-2CE4-0910AFE5A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78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17F2-0B57-A9D5-C01A-B725A778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E50794-B558-9CE1-571B-B2E5F4D04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E4D9A9-0636-B6A4-B3FB-E169825CA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981CA0-8433-39F8-05FA-4C974A741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4378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A2E0-FB46-B836-021E-844BFB4B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BAAF07-29DA-2F27-538F-9CEEDC6A2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009C58-40AA-03A7-58F2-2AC48C89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B215D6-A640-03EC-F417-5684F34D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750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7E9-3E66-9237-36E1-4A0F667F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F524E4-8FB9-DF82-2967-E2851A6A2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84410B-248B-1071-C300-B38B9F6E0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3451B-DE25-8C58-4DF5-F677A09D9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5390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6BE6-F997-1CA6-3303-6C551602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36A60B-2369-71F7-2B59-00B305607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FCD7FD-0302-B9E7-E6C7-169D1D14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306875-CF96-FF47-32FF-0BDD0B2C4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9786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47BD-775A-0524-8020-12254EF0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ADBBE6-D81C-4F88-3769-24AAFAC74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13A5BA-9CCF-A318-AC4A-423F983A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2CB914-93FB-41AF-66C7-77D2BA02D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1755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DB76-BE77-004C-6B56-CF264DB8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F62AF2-8207-331E-51BF-9129C3AE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C361FB-2CD0-FB52-11B0-452416DB3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E04414-BB2D-EE24-BCCC-9390238E7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455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7496-CB14-316B-DDE1-2CC8720A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BA1056-256A-8E1F-C8A1-1925785EF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B6406E-440F-97BB-AC0C-5CF3D2CBD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A03A08-AB90-351D-E492-FAF9704F0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3442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DEEE-D38E-6E5B-A46B-05A8F40A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3ED0E8-0FD0-E511-5935-4DBBA836E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B6B244-B453-E918-02F4-6818123C4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80C0FB-0932-6B55-C499-0FFF6028B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303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7B77-219A-C554-AE96-F655EB0F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506B48-92CB-64B7-BAB5-F6F678DF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D5F985-2532-FE24-1F87-CAFBB03D1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17CBF-5BA0-8E30-4C28-E896E58F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3682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ACEF-7662-3572-6FF3-5FDA5CC7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1DCEF8-047A-86CB-ACE6-7166B440A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684A89-F8F8-C3ED-5A48-75E6297CE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FBD8B-1D78-FE31-4731-495437C6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0983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221E-6368-1C7D-9593-484248AC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60B933-EE74-A667-09B1-66F8CCC1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F52DF8-BCEA-CDA9-5237-324EF1EE4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54C782-31C4-95EE-3CD4-D14A40A10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739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0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1 – FUNDAMENTOS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0AB-B6BF-1078-48E7-31A7A94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72A9863-C44E-59E3-6D4E-C74532B7198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1F50B4-E98F-7B26-F350-55B8C7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FUNDAMENTOS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42C9DB-BA22-8397-1845-976900410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ABAA58-8440-05F4-7082-815BD4AF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51" y="2273968"/>
            <a:ext cx="8205537" cy="4238038"/>
          </a:xfrm>
        </p:spPr>
        <p:txBody>
          <a:bodyPr/>
          <a:lstStyle/>
          <a:p>
            <a:r>
              <a:rPr lang="pt-BR" sz="2400" dirty="0"/>
              <a:t>A matemática pode ser dividida, de maneira bastante simplificada, em dois grandes mundos:</a:t>
            </a:r>
          </a:p>
          <a:p>
            <a:pPr lvl="1"/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b="1" dirty="0"/>
              <a:t>Matemática Contínua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trabalha com quantidades que podem assumir infinitos valores.</a:t>
            </a: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endParaRPr lang="pt-BR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b="1" dirty="0"/>
              <a:t>Matemática Discreta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A matemática discreta estuda estruturas de elementos distintos, contáveis e separados.</a:t>
            </a:r>
            <a:endParaRPr lang="pt-B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2BD01C2F-4DEC-D198-7B56-365635F15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333362"/>
                  </p:ext>
                </p:extLst>
              </p:nvPr>
            </p:nvGraphicFramePr>
            <p:xfrm>
              <a:off x="8588188" y="2009274"/>
              <a:ext cx="3320718" cy="4042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0359">
                      <a:extLst>
                        <a:ext uri="{9D8B030D-6E8A-4147-A177-3AD203B41FA5}">
                          <a16:colId xmlns:a16="http://schemas.microsoft.com/office/drawing/2014/main" val="331691076"/>
                        </a:ext>
                      </a:extLst>
                    </a:gridCol>
                    <a:gridCol w="1660359">
                      <a:extLst>
                        <a:ext uri="{9D8B030D-6E8A-4147-A177-3AD203B41FA5}">
                          <a16:colId xmlns:a16="http://schemas.microsoft.com/office/drawing/2014/main" val="2078216182"/>
                        </a:ext>
                      </a:extLst>
                    </a:gridCol>
                  </a:tblGrid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Contínuo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Discreto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956785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7655863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554692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54482"/>
                      </a:ext>
                    </a:extLst>
                  </a:tr>
                  <a:tr h="508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934229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7693217"/>
                      </a:ext>
                    </a:extLst>
                  </a:tr>
                  <a:tr h="1167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Nunca existe um "próximo número"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Espaçamento bem definido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7786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2BD01C2F-4DEC-D198-7B56-365635F15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333362"/>
                  </p:ext>
                </p:extLst>
              </p:nvPr>
            </p:nvGraphicFramePr>
            <p:xfrm>
              <a:off x="8588188" y="2009274"/>
              <a:ext cx="3320718" cy="4042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0359">
                      <a:extLst>
                        <a:ext uri="{9D8B030D-6E8A-4147-A177-3AD203B41FA5}">
                          <a16:colId xmlns:a16="http://schemas.microsoft.com/office/drawing/2014/main" val="331691076"/>
                        </a:ext>
                      </a:extLst>
                    </a:gridCol>
                    <a:gridCol w="1660359">
                      <a:extLst>
                        <a:ext uri="{9D8B030D-6E8A-4147-A177-3AD203B41FA5}">
                          <a16:colId xmlns:a16="http://schemas.microsoft.com/office/drawing/2014/main" val="2078216182"/>
                        </a:ext>
                      </a:extLst>
                    </a:gridCol>
                  </a:tblGrid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Contínuo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Discreto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956785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7655863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554692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54482"/>
                      </a:ext>
                    </a:extLst>
                  </a:tr>
                  <a:tr h="508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366" t="-376190" r="-101465" b="-322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934229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7693217"/>
                      </a:ext>
                    </a:extLst>
                  </a:tr>
                  <a:tr h="1167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Nunca existe um "próximo número"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Espaçamento bem definido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7786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253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F166F-C9E2-A0F7-8B69-2DFD7AF2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0A4968-8F43-8111-9A2B-C013EF692181}"/>
              </a:ext>
            </a:extLst>
          </p:cNvPr>
          <p:cNvSpPr/>
          <p:nvPr/>
        </p:nvSpPr>
        <p:spPr>
          <a:xfrm>
            <a:off x="0" y="2237874"/>
            <a:ext cx="12192000" cy="2442409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0D58C5-6689-1EB8-F2A3-2420C754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16" y="2766218"/>
            <a:ext cx="10046368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Por que o computador precisa da Matemática Discreta?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1E1CA40-1AD7-E800-2F32-944486888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8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656D-50CC-9A39-33E0-DEA2D2B9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AC286B9-ED2B-7504-F944-203C79BB740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E16854-B825-253D-B3DB-A2FEB790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9894E25-0727-156F-541B-6EDCB87D70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D20FCB-5378-CA36-2DFF-541F35FC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831" y="2117558"/>
            <a:ext cx="8205537" cy="4238038"/>
          </a:xfrm>
        </p:spPr>
        <p:txBody>
          <a:bodyPr/>
          <a:lstStyle/>
          <a:p>
            <a:r>
              <a:rPr lang="pt-BR" sz="2400" dirty="0"/>
              <a:t>Para o computador, toda informação é convertida em uma sequência finita de símbolos: os </a:t>
            </a:r>
            <a:r>
              <a:rPr lang="pt-BR" sz="2400" b="1" dirty="0"/>
              <a:t>bits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 bit possui apenas dois estados: 0 (False) e 1 (</a:t>
            </a:r>
            <a:r>
              <a:rPr lang="pt-BR" sz="2200" dirty="0" err="1"/>
              <a:t>True</a:t>
            </a:r>
            <a:r>
              <a:rPr lang="pt-BR" sz="2200" dirty="0"/>
              <a:t>).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computador nunca trabalha diretamente com infinitas possibilidades. Sempre existe um estado definido.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r>
              <a:rPr lang="pt-BR" sz="2200" dirty="0"/>
              <a:t>                                 </a:t>
            </a:r>
          </a:p>
          <a:p>
            <a:pPr marL="457200" lvl="1" indent="0">
              <a:buNone/>
            </a:pPr>
            <a:r>
              <a:rPr lang="pt-BR" sz="2200" dirty="0"/>
              <a:t>			</a:t>
            </a:r>
            <a:r>
              <a:rPr lang="pt-BR" sz="2200" b="1" dirty="0"/>
              <a:t>Valores Discretos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823A34D-A7A4-CFFA-E569-4AE4A6762734}"/>
              </a:ext>
            </a:extLst>
          </p:cNvPr>
          <p:cNvCxnSpPr>
            <a:cxnSpLocks/>
          </p:cNvCxnSpPr>
          <p:nvPr/>
        </p:nvCxnSpPr>
        <p:spPr>
          <a:xfrm>
            <a:off x="5582652" y="4812632"/>
            <a:ext cx="0" cy="5415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46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C8E4-E2A1-0655-3F3E-A9A57FDC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CD2E4D-91A2-C7C4-AC1C-0BBD252111B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3FC0DB-0E89-3E1A-9ED9-8F5D6828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E11B0B7-D903-67FB-2737-1C90367E8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4DA70A-505E-D958-5257-7CFC4814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8205537" cy="4238038"/>
          </a:xfrm>
        </p:spPr>
        <p:txBody>
          <a:bodyPr>
            <a:normAutofit/>
          </a:bodyPr>
          <a:lstStyle/>
          <a:p>
            <a:r>
              <a:rPr lang="pt-BR" sz="2400" dirty="0"/>
              <a:t>Uma das maiores dificuldades da computação é a representação discreta do mundo contínuo</a:t>
            </a:r>
          </a:p>
          <a:p>
            <a:pPr lvl="1"/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mundo real é contínuo.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Sempre existe uma etapa chamada digitalização.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Representações contínuas passam a ser discretas.</a:t>
            </a:r>
          </a:p>
          <a:p>
            <a:pPr lvl="1"/>
            <a:endParaRPr lang="pt-BR" sz="2200" b="1" dirty="0"/>
          </a:p>
          <a:p>
            <a:r>
              <a:rPr lang="pt-BR" sz="2400" dirty="0"/>
              <a:t>Enquanto o Cálculo ajuda a descrever a natureza, a Matemática Discreta ajuda a descrever a computação.</a:t>
            </a:r>
            <a:endParaRPr lang="pt-BR" sz="26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E92C72-08BF-D921-17EC-281A9291E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353" y="2899611"/>
            <a:ext cx="3973471" cy="381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4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4A24-B4DC-17E3-A285-0359F555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62838FE-9332-7039-AF6A-4D5F6CE1C1CF}"/>
              </a:ext>
            </a:extLst>
          </p:cNvPr>
          <p:cNvSpPr/>
          <p:nvPr/>
        </p:nvSpPr>
        <p:spPr>
          <a:xfrm>
            <a:off x="0" y="2237874"/>
            <a:ext cx="12192000" cy="2442409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8E967E-9BBB-8858-C15D-73E779C6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Apenas discretizar é suficiente?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A400DA5-629A-CF89-34F6-E081B84A3A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6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C1AE-5895-8948-3B5C-74D9783C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5F3972-1742-4B13-17E7-D5D33B780BC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8367AD-A96D-BB39-44EB-1ED44F1E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76DBA94-A866-43FF-33E3-1C3379007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9575A2-1CA8-7BA7-1EFF-DCDBA83C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231" y="2069432"/>
            <a:ext cx="8205537" cy="4238038"/>
          </a:xfrm>
        </p:spPr>
        <p:txBody>
          <a:bodyPr>
            <a:normAutofit/>
          </a:bodyPr>
          <a:lstStyle/>
          <a:p>
            <a:r>
              <a:rPr lang="pt-BR" sz="2400" dirty="0"/>
              <a:t>Além de representar informações, o computador também precisa </a:t>
            </a:r>
            <a:r>
              <a:rPr lang="pt-BR" sz="2400" b="1" dirty="0"/>
              <a:t>tomar decisões:</a:t>
            </a:r>
          </a:p>
          <a:p>
            <a:pPr lvl="1"/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Comparar números;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Decidir caminhos;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Executar comandos;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Escolher ações.</a:t>
            </a:r>
          </a:p>
          <a:p>
            <a:pPr lvl="1"/>
            <a:endParaRPr lang="pt-BR" sz="2200" dirty="0"/>
          </a:p>
          <a:p>
            <a:r>
              <a:rPr lang="pt-BR" sz="2400" b="1" i="1" dirty="0"/>
              <a:t>“Toda decisão vem de uma pergunta”</a:t>
            </a:r>
            <a:endParaRPr lang="pt-BR" sz="2600" b="1" i="1" dirty="0"/>
          </a:p>
        </p:txBody>
      </p:sp>
    </p:spTree>
    <p:extLst>
      <p:ext uri="{BB962C8B-B14F-4D97-AF65-F5344CB8AC3E}">
        <p14:creationId xmlns:p14="http://schemas.microsoft.com/office/powerpoint/2010/main" val="167906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4990-7299-21B4-2B2A-3BB201BE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DC39916-A0D9-F524-699B-DE3F1C1C8AD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9BB24D-0EA0-311A-F746-3E8408C3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305741B-3085-BF17-0308-A1BC1C6865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B8D96F-A20C-1F8B-EA6A-1D7A4988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5061993" cy="4238038"/>
          </a:xfrm>
        </p:spPr>
        <p:txBody>
          <a:bodyPr>
            <a:normAutofit/>
          </a:bodyPr>
          <a:lstStyle/>
          <a:p>
            <a:r>
              <a:rPr lang="pt-BR" sz="2400" dirty="0"/>
              <a:t>Exemplos: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usuário digitou a senha correta?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 temperatura passou de 40°C?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Existe conexão com a internet?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arquivo foi encontrado?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saldo é suficiente?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 produto está disponível?</a:t>
            </a:r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sz="2200"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8838BEB0-F0D3-9B37-5DA7-071A390DB8BA}"/>
              </a:ext>
            </a:extLst>
          </p:cNvPr>
          <p:cNvCxnSpPr/>
          <p:nvPr/>
        </p:nvCxnSpPr>
        <p:spPr>
          <a:xfrm>
            <a:off x="5763127" y="3994484"/>
            <a:ext cx="175661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266F7A6E-032B-C5BA-E879-E3D308EA1A1D}"/>
              </a:ext>
            </a:extLst>
          </p:cNvPr>
          <p:cNvSpPr/>
          <p:nvPr/>
        </p:nvSpPr>
        <p:spPr>
          <a:xfrm>
            <a:off x="8037096" y="3272594"/>
            <a:ext cx="2562726" cy="1443779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Todas as frases podem ser respondidas com “sim” ou “não”</a:t>
            </a:r>
          </a:p>
        </p:txBody>
      </p:sp>
    </p:spTree>
    <p:extLst>
      <p:ext uri="{BB962C8B-B14F-4D97-AF65-F5344CB8AC3E}">
        <p14:creationId xmlns:p14="http://schemas.microsoft.com/office/powerpoint/2010/main" val="7616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6375-2D0B-2ABB-D48B-9C8F2F7E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98875-F739-2FA6-9F81-40FDD442E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2 – lógica proposicional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088D88-CBAE-E40F-9998-A2394A572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1D5A329-EEFA-F49E-64A4-A357C32FD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15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BB9C-4087-947E-27DA-94FC2217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5C44D5-97DB-9777-F7B5-AD7888ADE02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5B6A33-9563-8862-9670-1AEEB83A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 PROPOSICIONAL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F498CC5-E8B7-B831-C3D4-68C95338D9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F1F8F7-3557-A6AC-CA09-C94294A7E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103" y="2153652"/>
            <a:ext cx="9049793" cy="4238038"/>
          </a:xfrm>
        </p:spPr>
        <p:txBody>
          <a:bodyPr>
            <a:normAutofit/>
          </a:bodyPr>
          <a:lstStyle/>
          <a:p>
            <a:r>
              <a:rPr lang="pt-BR" sz="2400" dirty="0"/>
              <a:t>Se o computador toma decisões o tempo inteiro, é necessário uma matemática capaz de estudar </a:t>
            </a:r>
            <a:r>
              <a:rPr lang="pt-BR" sz="2400" b="1" dirty="0"/>
              <a:t>decisões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Essa matemática é a </a:t>
            </a:r>
            <a:r>
              <a:rPr lang="pt-BR" sz="2400" b="1" dirty="0"/>
              <a:t>lógica: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Ela não estuda números, mas sim, afirmações.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raciocínio estruturado por meio de </a:t>
            </a:r>
            <a:r>
              <a:rPr lang="pt-BR" sz="2200" b="1" i="1" dirty="0"/>
              <a:t>proposições</a:t>
            </a:r>
            <a:r>
              <a:rPr lang="pt-BR" sz="2200" dirty="0"/>
              <a:t>, </a:t>
            </a:r>
            <a:r>
              <a:rPr lang="pt-BR" sz="2200" b="1" i="1" dirty="0"/>
              <a:t>conectivos lógicos </a:t>
            </a:r>
            <a:r>
              <a:rPr lang="pt-BR" sz="2200" dirty="0"/>
              <a:t>e </a:t>
            </a:r>
            <a:r>
              <a:rPr lang="pt-BR" sz="2200" b="1" i="1" dirty="0"/>
              <a:t>regras de inferência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614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C413-AA2E-1B24-3A2C-0E77850D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BBA91B3-2838-C992-E381-EA01CC8CAD1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2F4755-DE59-D312-EBF9-99729E62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PROPOSIÇÕES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480B6F5-A61D-DCB5-23B6-4DCB8BF03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666601-8173-DEFD-AFE2-FBA4318E1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7894093" cy="4622800"/>
          </a:xfrm>
        </p:spPr>
        <p:txBody>
          <a:bodyPr>
            <a:normAutofit/>
          </a:bodyPr>
          <a:lstStyle/>
          <a:p>
            <a:r>
              <a:rPr lang="pt-BR" sz="2400" dirty="0"/>
              <a:t>Proposição é uma frase declarativa que possui um valor lógico definido.</a:t>
            </a:r>
          </a:p>
          <a:p>
            <a:r>
              <a:rPr lang="pt-BR" sz="2400" dirty="0"/>
              <a:t>São classificada obrigatoriamente como verdadeira (V) ou falsa (F), </a:t>
            </a:r>
            <a:r>
              <a:rPr lang="pt-BR" sz="2400" i="1" dirty="0"/>
              <a:t>mas nunca os dois ao mesmo tempo.</a:t>
            </a:r>
          </a:p>
          <a:p>
            <a:endParaRPr lang="pt-BR" sz="2400" dirty="0"/>
          </a:p>
          <a:p>
            <a:r>
              <a:rPr lang="pt-BR" sz="2400" dirty="0"/>
              <a:t>Exemplos: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Sol é uma estrela” (Verdadeira).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“2 + 2 = 5” (Falsa).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gato mia” (Verdadeira).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fogo é frio” (Falsa).</a:t>
            </a:r>
          </a:p>
          <a:p>
            <a:pPr lvl="1"/>
            <a:endParaRPr lang="pt-BR" sz="2200" dirty="0"/>
          </a:p>
          <a:p>
            <a:pPr lvl="1"/>
            <a:endParaRPr lang="pt-BR" sz="2000" dirty="0"/>
          </a:p>
          <a:p>
            <a:endParaRPr lang="pt-BR" sz="2400" dirty="0"/>
          </a:p>
          <a:p>
            <a:pPr lvl="1"/>
            <a:endParaRPr lang="pt-BR" sz="18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09E1F0-8D73-48D0-FDD8-65381ECDC296}"/>
              </a:ext>
            </a:extLst>
          </p:cNvPr>
          <p:cNvSpPr/>
          <p:nvPr/>
        </p:nvSpPr>
        <p:spPr>
          <a:xfrm>
            <a:off x="8775700" y="3581400"/>
            <a:ext cx="3416300" cy="3276600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Sentenças interrogativas, exclamativas, imperativas ou sem definição NÃO podem ser consideradas proposições:</a:t>
            </a:r>
          </a:p>
          <a:p>
            <a:pPr algn="ctr"/>
            <a:endParaRPr lang="pt-BR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Que horas são?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Que susto!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Feche a porta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X+3 = 10</a:t>
            </a:r>
          </a:p>
        </p:txBody>
      </p:sp>
    </p:spTree>
    <p:extLst>
      <p:ext uri="{BB962C8B-B14F-4D97-AF65-F5344CB8AC3E}">
        <p14:creationId xmlns:p14="http://schemas.microsoft.com/office/powerpoint/2010/main" val="1143683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4535-BB06-A04A-75E0-F2C49ECB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875EC48-E6DC-ACF1-F910-8D679C7FC39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D77E5A-898F-0704-04E7-38A03315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PROPOSIÇÕES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EF8A6F1-90D7-1C77-B528-DB3FCAC7A2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ECB415-831D-8159-F187-7232074D0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603" y="1792705"/>
            <a:ext cx="8414793" cy="4622800"/>
          </a:xfrm>
        </p:spPr>
        <p:txBody>
          <a:bodyPr>
            <a:normAutofit/>
          </a:bodyPr>
          <a:lstStyle/>
          <a:p>
            <a:r>
              <a:rPr lang="pt-BR" sz="2400" dirty="0"/>
              <a:t>Uma proposição pode classificada em dois tipos:</a:t>
            </a:r>
            <a:endParaRPr lang="pt-BR" sz="2400" i="1" dirty="0"/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Simples (ou Atômica): </a:t>
            </a:r>
            <a:r>
              <a:rPr lang="pt-BR" sz="2200" dirty="0"/>
              <a:t>Contém apenas uma única ideia ou declaração, sem o uso de conectivos.</a:t>
            </a:r>
          </a:p>
          <a:p>
            <a:pPr marL="457200" lvl="1" indent="0">
              <a:buNone/>
            </a:pPr>
            <a:r>
              <a:rPr lang="pt-BR" dirty="0"/>
              <a:t>	</a:t>
            </a:r>
          </a:p>
          <a:p>
            <a:pPr marL="457200" lvl="1" indent="0">
              <a:buNone/>
            </a:pPr>
            <a:r>
              <a:rPr lang="pt-BR" dirty="0"/>
              <a:t>	</a:t>
            </a:r>
            <a:r>
              <a:rPr lang="pt-BR" i="1" dirty="0" err="1"/>
              <a:t>Ex</a:t>
            </a:r>
            <a:r>
              <a:rPr lang="pt-BR" i="1" dirty="0"/>
              <a:t>: "O céu é azul".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Composta (ou Molecular): </a:t>
            </a:r>
            <a:r>
              <a:rPr lang="pt-BR" sz="2200" dirty="0"/>
              <a:t>Formada pela união de duas ou mais proposições simples por meio de conectivos lógicos. </a:t>
            </a:r>
          </a:p>
          <a:p>
            <a:pPr marL="457200" lvl="1" indent="0">
              <a:buNone/>
            </a:pPr>
            <a:r>
              <a:rPr lang="pt-BR" sz="2000" dirty="0"/>
              <a:t>	</a:t>
            </a:r>
          </a:p>
          <a:p>
            <a:pPr marL="457200" lvl="1" indent="0">
              <a:buNone/>
            </a:pPr>
            <a:r>
              <a:rPr lang="pt-BR" sz="2200" dirty="0"/>
              <a:t>	</a:t>
            </a:r>
            <a:r>
              <a:rPr lang="pt-BR" sz="2200" i="1" dirty="0" err="1"/>
              <a:t>Ex</a:t>
            </a:r>
            <a:r>
              <a:rPr lang="pt-BR" sz="2200" i="1" dirty="0"/>
              <a:t>: "O céu é azul e o dia está ensolarado".</a:t>
            </a:r>
          </a:p>
          <a:p>
            <a:endParaRPr lang="pt-BR" sz="2400" dirty="0"/>
          </a:p>
          <a:p>
            <a:pPr lvl="1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0690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465A-E082-6E66-0386-6FBA0289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7095FD7-4C26-5FBA-9BDF-97FBE911B21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D32500-5C59-8090-E1E7-301565B0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CONECTIVOS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3BF2050-8F22-1B21-59D2-DC2DDC2E7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E60D83-D136-24A0-FE4E-A17448B2F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603" y="1828800"/>
            <a:ext cx="8414793" cy="5029200"/>
          </a:xfrm>
        </p:spPr>
        <p:txBody>
          <a:bodyPr>
            <a:normAutofit/>
          </a:bodyPr>
          <a:lstStyle/>
          <a:p>
            <a:r>
              <a:rPr lang="pt-BR" sz="2400" dirty="0"/>
              <a:t>Os </a:t>
            </a:r>
            <a:r>
              <a:rPr lang="pt-BR" sz="2400" b="1" dirty="0"/>
              <a:t>conectivos lógicos</a:t>
            </a:r>
            <a:r>
              <a:rPr lang="pt-BR" sz="2400" dirty="0"/>
              <a:t> servem para construir proposições mais complexas a partir da união de proposições simples.</a:t>
            </a:r>
          </a:p>
          <a:p>
            <a:pPr lvl="1"/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Negação / NOT / </a:t>
            </a:r>
            <a:r>
              <a:rPr lang="pt-BR" sz="3600" dirty="0"/>
              <a:t>¬</a:t>
            </a:r>
            <a:endParaRPr lang="pt-BR" sz="3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Conjunção / E / AND / ∧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Disjunção inclusiva / OU / OR / ∨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Disjunção exclusiva / XOR / </a:t>
            </a:r>
            <a:r>
              <a:rPr lang="pt-BR" sz="2200" u="sng" dirty="0"/>
              <a:t>∨</a:t>
            </a:r>
            <a:r>
              <a:rPr lang="pt-BR" sz="2200" dirty="0"/>
              <a:t> / </a:t>
            </a:r>
            <a:r>
              <a:rPr lang="pt-BR" sz="2000" dirty="0"/>
              <a:t>⊕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Implicação /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 err="1"/>
              <a:t>Bicondicional</a:t>
            </a:r>
            <a:r>
              <a:rPr lang="pt-BR" sz="2200" dirty="0"/>
              <a:t>  /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lvl="1"/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Esses conectivos apresentam um valor lógico pré-definido com base nos valores das proposições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12819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F20C-2328-1E80-031B-4DA9D6CE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3F371-36A6-4144-BDB0-8616F8BA2E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514C85-F4D8-F087-F9A9-78F7F823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CONECTIVOS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EC5F46C-728F-B3B5-B20F-2802304395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0EB62F-E458-1C96-C504-219735C0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696496"/>
            <a:ext cx="8414793" cy="46228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pt-BR" sz="2200" dirty="0"/>
              <a:t>Exemplo:</a:t>
            </a:r>
          </a:p>
          <a:p>
            <a:pPr marL="457200" lvl="1" indent="0">
              <a:buNone/>
            </a:pPr>
            <a:endParaRPr lang="pt-BR" sz="2200" dirty="0"/>
          </a:p>
          <a:p>
            <a:pPr marL="457200" lvl="1" indent="0">
              <a:buNone/>
            </a:pPr>
            <a:r>
              <a:rPr lang="pt-BR" sz="2200" dirty="0"/>
              <a:t>Proposição 1 (P) – “Hoje é sábado”</a:t>
            </a:r>
          </a:p>
          <a:p>
            <a:pPr marL="457200" lvl="1" indent="0">
              <a:buNone/>
            </a:pPr>
            <a:r>
              <a:rPr lang="pt-BR" sz="2200" dirty="0"/>
              <a:t>Proposição 2 (Q) – “Está chovendo.”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Combinação com o operador lógico ‘E’:</a:t>
            </a:r>
          </a:p>
          <a:p>
            <a:pPr marL="457200" lvl="1" indent="0">
              <a:buNone/>
            </a:pPr>
            <a:r>
              <a:rPr lang="pt-BR" sz="2200" dirty="0"/>
              <a:t>    S = P ∧ Q</a:t>
            </a:r>
          </a:p>
          <a:p>
            <a:pPr marL="457200" lvl="1" indent="0">
              <a:buNone/>
            </a:pPr>
            <a:r>
              <a:rPr lang="pt-BR" sz="2200" dirty="0"/>
              <a:t>    “Hoje é sábado E Está chovendo”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Combinação com o operador lógico ‘OU’:</a:t>
            </a:r>
          </a:p>
          <a:p>
            <a:pPr marL="457200" lvl="1" indent="0">
              <a:buNone/>
            </a:pPr>
            <a:r>
              <a:rPr lang="pt-BR" sz="2200" dirty="0"/>
              <a:t>    S = P ∨ Q</a:t>
            </a:r>
          </a:p>
          <a:p>
            <a:pPr marL="457200" lvl="1" indent="0">
              <a:buNone/>
            </a:pPr>
            <a:r>
              <a:rPr lang="pt-BR" sz="2200" dirty="0"/>
              <a:t>    “Hoje é sábado OU Está chovendo”</a:t>
            </a:r>
          </a:p>
          <a:p>
            <a:pPr marL="457200" lvl="1" indent="0">
              <a:buNone/>
            </a:pP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60CE604-36B2-DE88-08E6-9DEA68704E0D}"/>
              </a:ext>
            </a:extLst>
          </p:cNvPr>
          <p:cNvSpPr/>
          <p:nvPr/>
        </p:nvSpPr>
        <p:spPr>
          <a:xfrm>
            <a:off x="7142748" y="2676406"/>
            <a:ext cx="4307304" cy="1540706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Essas proposições podem ter valor verdadeiro ou falso, com base nos valores das proposições que a compõe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EEBFCF0-A452-888A-C56B-7512E93C32D5}"/>
              </a:ext>
            </a:extLst>
          </p:cNvPr>
          <p:cNvCxnSpPr>
            <a:cxnSpLocks/>
          </p:cNvCxnSpPr>
          <p:nvPr/>
        </p:nvCxnSpPr>
        <p:spPr>
          <a:xfrm>
            <a:off x="9309100" y="4520488"/>
            <a:ext cx="0" cy="641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F3B3BE-172C-6D5E-8AC1-A4B29E30A3E8}"/>
              </a:ext>
            </a:extLst>
          </p:cNvPr>
          <p:cNvSpPr txBox="1"/>
          <p:nvPr/>
        </p:nvSpPr>
        <p:spPr>
          <a:xfrm>
            <a:off x="8237904" y="5278734"/>
            <a:ext cx="2272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u="sng" dirty="0"/>
              <a:t>Tabelas Verdade</a:t>
            </a:r>
          </a:p>
        </p:txBody>
      </p:sp>
    </p:spTree>
    <p:extLst>
      <p:ext uri="{BB962C8B-B14F-4D97-AF65-F5344CB8AC3E}">
        <p14:creationId xmlns:p14="http://schemas.microsoft.com/office/powerpoint/2010/main" val="370804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2978-4397-2495-FB4A-93C14E8C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E5DA23D-C533-7A22-8E03-30AFF0FAEAE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7D932C-8177-6FDF-F440-090EC03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679DCB3-C40A-3123-DEA3-FC0BC32BFD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D80929-46C8-2981-881F-6DFC81B3F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Define o valor lógico da expressão para cada combinação possível dos valores de entrada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Tabela verdade da </a:t>
            </a:r>
            <a:r>
              <a:rPr lang="pt-BR" b="1" dirty="0"/>
              <a:t>Negação</a:t>
            </a:r>
            <a:r>
              <a:rPr lang="pt-BR" dirty="0"/>
              <a:t>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ACC43A5-E8FA-F881-A717-07DC79C9F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88026"/>
              </p:ext>
            </p:extLst>
          </p:nvPr>
        </p:nvGraphicFramePr>
        <p:xfrm>
          <a:off x="4006849" y="4006850"/>
          <a:ext cx="38735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¬P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5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563F-4C26-2245-D257-91B64F13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EFCC11-2FD5-9AE9-1297-E5CD1379015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560D32-74C8-A855-7476-D468BB65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2817CB2-9D7D-CC72-FC5A-F8F48D855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B13348-CADE-0EF8-16F0-82445437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Conjunção (E)</a:t>
            </a:r>
            <a:r>
              <a:rPr lang="pt-BR" dirty="0"/>
              <a:t>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BC277A4-29F2-DF1D-0AF2-C61B6F064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14310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P∧Q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219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CC03-CE8F-2687-5E3B-6AD5808F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9409D6-AC95-2EFA-324A-FD29A26417C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C840E0-D60D-FF7F-DC4F-8D66B008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CC1FF9F-D49C-6E8A-BF33-5A28E4BE7B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AEAA45-4527-65F5-BCF2-0DD4B84E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Disjunção Inclusiva (OU):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BBB5EEA-267D-6636-A8B4-45F63B711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297649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P∨Q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91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5C7-56B0-3DF3-6092-634AC1C4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D32F77-52C3-4AF1-95CB-6810074EAC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8F03D-DD37-F4B4-3381-03AF9622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F78E54-6055-3C6F-A3BB-63C795B6D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3995B0-03BC-F213-E494-E7719EF2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Disjunção Exclusiva (XOR):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2C7B664-C5C6-E081-BEF1-ACA3F4964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72096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u="sng" dirty="0"/>
                        <a:t>∨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079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999B-4B9A-8FFA-552D-8BBD1B3B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C75E06-C595-8D40-3059-30152878A1F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3CB982-71A3-2B5C-0B5E-3D521622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67205C2-2CB1-0A03-2881-7DB6AB1A3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A1BDE3-C14C-CAF8-EB15-B7240F725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do </a:t>
            </a:r>
            <a:r>
              <a:rPr lang="pt-BR" b="1" dirty="0"/>
              <a:t>Condicional (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b="1" dirty="0"/>
              <a:t>):</a:t>
            </a:r>
          </a:p>
          <a:p>
            <a:pPr lvl="1"/>
            <a:r>
              <a:rPr lang="pt-BR" dirty="0"/>
              <a:t>Lê-se: Se P, então Q.</a:t>
            </a:r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F21861E-1961-432F-E04C-F9DBF245D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16178"/>
              </p:ext>
            </p:extLst>
          </p:nvPr>
        </p:nvGraphicFramePr>
        <p:xfrm>
          <a:off x="3235324" y="3039269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→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74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AD09-FF54-ABCB-0F56-10830561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60B5B6D-48E2-EF53-65FF-003C2D02258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902790-62E2-4032-6FED-3F2A682F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065755B-E45C-5941-3C79-936D7369ED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4B16B3-2EC4-8503-DEFC-E3866A1E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do </a:t>
            </a:r>
            <a:r>
              <a:rPr lang="pt-BR" b="1" dirty="0" err="1"/>
              <a:t>Bicondicional</a:t>
            </a:r>
            <a:r>
              <a:rPr lang="pt-BR" b="1"/>
              <a:t> (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  <a:r>
              <a:rPr lang="pt-BR" b="1"/>
              <a:t>):</a:t>
            </a:r>
            <a:endParaRPr lang="pt-BR" b="1" dirty="0"/>
          </a:p>
          <a:p>
            <a:pPr lvl="1"/>
            <a:r>
              <a:rPr lang="pt-BR" dirty="0"/>
              <a:t>Lê-se: P se, e somente se Q.</a:t>
            </a:r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1389D16-EF10-DCD7-7806-15A64A650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147062"/>
              </p:ext>
            </p:extLst>
          </p:nvPr>
        </p:nvGraphicFramePr>
        <p:xfrm>
          <a:off x="3235324" y="3039269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↔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21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0D52-B12B-F1DC-DA1E-4BBBACA7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5D087C2-7253-0D50-CD5E-F4CD77EB2CD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E8B8C9-4312-9220-DB1D-F61FD076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PRECEDÊNCIA DOS CONECTIVOS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E0A2F98-F2A3-3E93-26B7-104D4A8BB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8C2459-1F7F-3502-4461-5D7DC9CE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346" y="1839036"/>
            <a:ext cx="6327681" cy="4622800"/>
          </a:xfrm>
        </p:spPr>
        <p:txBody>
          <a:bodyPr>
            <a:normAutofit/>
          </a:bodyPr>
          <a:lstStyle/>
          <a:p>
            <a:r>
              <a:rPr lang="pt-BR" sz="2400" dirty="0"/>
              <a:t>A ordem de precedência dos operadores define quem é resolvido primeiro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Parênteses (Se houver)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Negação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Conjunção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Disjunção (OR / XOR)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Condicional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 err="1"/>
              <a:t>Bicondicional</a:t>
            </a:r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</p:txBody>
      </p:sp>
      <p:pic>
        <p:nvPicPr>
          <p:cNvPr id="2050" name="Picture 2" descr="Lógica Básica na 40ena] Lógica Proposicional — A linguagem formal | Notas  de aula">
            <a:extLst>
              <a:ext uri="{FF2B5EF4-FFF2-40B4-BE49-F238E27FC236}">
                <a16:creationId xmlns:a16="http://schemas.microsoft.com/office/drawing/2014/main" id="{1A7D922C-AF4B-627F-FF06-372D682F9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5"/>
          <a:stretch>
            <a:fillRect/>
          </a:stretch>
        </p:blipFill>
        <p:spPr bwMode="auto">
          <a:xfrm>
            <a:off x="7110662" y="3428999"/>
            <a:ext cx="5081337" cy="327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A08386E-44CA-00F5-A58B-27A9FB367A9D}"/>
              </a:ext>
            </a:extLst>
          </p:cNvPr>
          <p:cNvSpPr txBox="1"/>
          <p:nvPr/>
        </p:nvSpPr>
        <p:spPr>
          <a:xfrm>
            <a:off x="7579654" y="2735071"/>
            <a:ext cx="4132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Exemplo de expressão lógica composta </a:t>
            </a:r>
          </a:p>
          <a:p>
            <a:pPr algn="ctr"/>
            <a:r>
              <a:rPr lang="pt-BR" dirty="0"/>
              <a:t>pela associação de diferentes proposições</a:t>
            </a:r>
          </a:p>
        </p:txBody>
      </p:sp>
    </p:spTree>
    <p:extLst>
      <p:ext uri="{BB962C8B-B14F-4D97-AF65-F5344CB8AC3E}">
        <p14:creationId xmlns:p14="http://schemas.microsoft.com/office/powerpoint/2010/main" val="40633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6BFC-85F8-947C-7493-38CAF403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39AE28E-58D7-54D0-2032-57FD5BDADAE9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C084CA-93AB-DCFE-0804-68588966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CONSTRUÇÃO DA 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4652F3-4597-A18E-5AA1-7312B6997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65B10E-3611-2D96-1AE3-A37672AE6C6B}"/>
              </a:ext>
            </a:extLst>
          </p:cNvPr>
          <p:cNvSpPr txBox="1"/>
          <p:nvPr/>
        </p:nvSpPr>
        <p:spPr>
          <a:xfrm>
            <a:off x="3286803" y="1481991"/>
            <a:ext cx="615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Construção da tabela verdade para a expressão:</a:t>
            </a:r>
          </a:p>
          <a:p>
            <a:pPr algn="ctr"/>
            <a:r>
              <a:rPr lang="pt-BR" sz="2400" b="1" dirty="0"/>
              <a:t>(P → Q) ∨ (P ∧ R)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BB230-B3A3-C52F-4BE8-9CF6E646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7" t="18597" r="13810" b="40876"/>
          <a:stretch>
            <a:fillRect/>
          </a:stretch>
        </p:blipFill>
        <p:spPr>
          <a:xfrm>
            <a:off x="4473151" y="2521219"/>
            <a:ext cx="3784758" cy="2023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1C3797-3855-ED29-5AB7-4852596A0E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91"/>
          <a:stretch>
            <a:fillRect/>
          </a:stretch>
        </p:blipFill>
        <p:spPr>
          <a:xfrm>
            <a:off x="3286803" y="4753244"/>
            <a:ext cx="6773026" cy="202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67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91C3-4F81-E9C1-F50D-CE37013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FFA12A-3D3A-FAB4-B5B3-1349C01233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EE3BC0-3F59-838D-1AB4-10F150ED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0C4185-DDEA-8C72-9143-7CD01B112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251ECE-2E7C-8367-308E-3281C5AEC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651" y="1822325"/>
            <a:ext cx="8912697" cy="462280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Dependendo dos resultados de uma tabela verdade, a expressão pode ser classificada em três categorias:</a:t>
            </a:r>
          </a:p>
          <a:p>
            <a:pPr algn="just"/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b="1" dirty="0"/>
              <a:t>Tautologia: </a:t>
            </a:r>
            <a:r>
              <a:rPr lang="pt-BR" sz="2200" dirty="0"/>
              <a:t>ocorre quando o resultado de uma proposição é sempre verdadeiro, não importando quais sejam os valores de P e Q.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457200" lvl="1" indent="0">
              <a:buNone/>
            </a:pPr>
            <a:r>
              <a:rPr lang="pt-BR" sz="2200" i="1" dirty="0"/>
              <a:t>	Exemplo: </a:t>
            </a:r>
            <a:r>
              <a:rPr lang="pt-BR" sz="2000" i="1" dirty="0"/>
              <a:t>P ∨</a:t>
            </a:r>
            <a:r>
              <a:rPr lang="pt-BR" i="1" dirty="0"/>
              <a:t> ¬</a:t>
            </a:r>
            <a:r>
              <a:rPr lang="pt-BR" sz="2000" i="1" dirty="0"/>
              <a:t>P </a:t>
            </a:r>
          </a:p>
          <a:p>
            <a:pPr marL="457200" lvl="1" indent="0">
              <a:buNone/>
            </a:pPr>
            <a:r>
              <a:rPr lang="pt-BR" sz="2000" dirty="0"/>
              <a:t>	</a:t>
            </a:r>
            <a:r>
              <a:rPr lang="pt-BR" dirty="0"/>
              <a:t>A expressão é sempre verdadeira, podendo ser simplificada .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lvl="1" indent="0">
              <a:buNone/>
            </a:pPr>
            <a:r>
              <a:rPr lang="pt-BR" sz="2000" dirty="0"/>
              <a:t>	</a:t>
            </a:r>
            <a:endParaRPr lang="pt-BR" sz="2200" dirty="0"/>
          </a:p>
          <a:p>
            <a:pPr marL="914400" lvl="2" indent="0">
              <a:buNone/>
            </a:pPr>
            <a:r>
              <a:rPr lang="pt-BR" sz="2200" dirty="0"/>
              <a:t>	</a:t>
            </a:r>
            <a:r>
              <a:rPr lang="pt-BR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63576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8120-747C-3765-FEAB-886F5F8D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C5F6AB2-5744-B8DE-034D-2151A85E4C8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76049-7086-6481-6997-05835EA5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FFA2C7-0613-FF59-BD3F-4171035C2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D16953-5232-204A-8E2A-A4751FCD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835" y="1619793"/>
            <a:ext cx="8784330" cy="49808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Contradições: </a:t>
            </a:r>
            <a:r>
              <a:rPr lang="pt-BR" sz="2400" dirty="0"/>
              <a:t>ocorre quando o resultado de uma proposição é sempre falso, não importando quais sejam os valores de P e Q.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2200" dirty="0"/>
          </a:p>
          <a:p>
            <a:pPr lvl="1"/>
            <a:r>
              <a:rPr lang="pt-BR" sz="2200" i="1" dirty="0"/>
              <a:t>Exemplo: P ∧ ¬P </a:t>
            </a:r>
          </a:p>
          <a:p>
            <a:pPr lvl="1"/>
            <a:r>
              <a:rPr lang="pt-BR" sz="2200" dirty="0"/>
              <a:t>A expressão é sempre falsa, podendo ser simplificada 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Contingências: </a:t>
            </a:r>
            <a:r>
              <a:rPr lang="pt-BR" sz="2400" dirty="0"/>
              <a:t>é uma proposição que pode ser verdadeira em algumas situações e falsa em outras. 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1800" b="1" dirty="0"/>
          </a:p>
          <a:p>
            <a:pPr lvl="1"/>
            <a:r>
              <a:rPr lang="pt-BR" sz="2200" i="1" dirty="0"/>
              <a:t>Exemplo: P∧ Q</a:t>
            </a:r>
          </a:p>
          <a:p>
            <a:pPr lvl="1"/>
            <a:r>
              <a:rPr lang="pt-BR" sz="2200" dirty="0"/>
              <a:t>A maioria das expressões pertence a esta categoria. </a:t>
            </a:r>
            <a:r>
              <a:rPr lang="pt-BR" sz="2200" b="1" dirty="0"/>
              <a:t>	</a:t>
            </a:r>
            <a:r>
              <a:rPr lang="pt-BR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916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ABAB-56D7-9CBC-370B-FF59FDBD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726A8BD-5AD8-F1B1-F74D-C3D2AB36A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10B8F9-52AA-08C9-8463-58647553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54F3258-DB71-B496-3236-EF9FEC4C9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D14C3B-8ACB-F5AE-0625-7925BA2C0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1" y="1679742"/>
            <a:ext cx="8360261" cy="4800600"/>
          </a:xfrm>
        </p:spPr>
        <p:txBody>
          <a:bodyPr>
            <a:normAutofit/>
          </a:bodyPr>
          <a:lstStyle/>
          <a:p>
            <a:r>
              <a:rPr lang="pt-BR" sz="2400" dirty="0"/>
              <a:t>Representações padronizadas das expressões lógicas usando apenas os operadores básicos (NOT / AND / OR)</a:t>
            </a:r>
          </a:p>
          <a:p>
            <a:endParaRPr lang="pt-BR" sz="2400" dirty="0"/>
          </a:p>
          <a:p>
            <a:r>
              <a:rPr lang="pt-BR" sz="2400" dirty="0"/>
              <a:t>A ideia é padronizar a escrita das expressões e facilitar o processo de simplificação algébrica</a:t>
            </a:r>
          </a:p>
          <a:p>
            <a:endParaRPr lang="pt-BR" sz="2400" dirty="0"/>
          </a:p>
          <a:p>
            <a:r>
              <a:rPr lang="pt-BR" sz="2400" dirty="0"/>
              <a:t>Existem duas formas normais: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Disjuntiva (FND)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Conjuntiva (FNC)</a:t>
            </a:r>
            <a:endParaRPr lang="pt-BR" sz="2200" dirty="0"/>
          </a:p>
          <a:p>
            <a:pPr lvl="1"/>
            <a:endParaRPr lang="pt-BR" sz="20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84965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82FA-22CF-DA11-8BB8-BAFF0A6C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0443F69-E97F-547E-43B0-B1751897AA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E1F66-765D-1BD6-E285-CC38CA54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5272B4-913A-D086-B7A5-10FE17BE1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714500"/>
            <a:ext cx="9701783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Forma Normal Disjuntiva (FND) ou Soma de Produtos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conjunções (E) </a:t>
            </a:r>
            <a:r>
              <a:rPr lang="pt-BR" sz="2200" dirty="0"/>
              <a:t>unidas por </a:t>
            </a:r>
            <a:r>
              <a:rPr lang="pt-BR" sz="2200" b="1" dirty="0"/>
              <a:t>disjunções (OU)</a:t>
            </a:r>
            <a:r>
              <a:rPr lang="pt-BR" sz="2200" dirty="0"/>
              <a:t> .</a:t>
            </a:r>
          </a:p>
          <a:p>
            <a:pPr lvl="1"/>
            <a:r>
              <a:rPr lang="pt-BR" sz="2200" dirty="0"/>
              <a:t>Exemplo: (A ∧ B) ∨ (C ∧ D) ∨ (E ∧ F)</a:t>
            </a:r>
            <a:endParaRPr lang="pt-BR" sz="2400" dirty="0"/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235DCC4-412B-CE1C-C86C-28D1B9E2F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35039"/>
              </p:ext>
            </p:extLst>
          </p:nvPr>
        </p:nvGraphicFramePr>
        <p:xfrm>
          <a:off x="1461517" y="3924300"/>
          <a:ext cx="511276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256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281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7858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52351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0519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0DFBAFC-BE73-A620-A90E-1C1D134F6534}"/>
              </a:ext>
            </a:extLst>
          </p:cNvPr>
          <p:cNvSpPr/>
          <p:nvPr/>
        </p:nvSpPr>
        <p:spPr>
          <a:xfrm>
            <a:off x="1461518" y="4911765"/>
            <a:ext cx="5112768" cy="561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588E82-BB32-0FA0-7430-0AAB175D8CFF}"/>
              </a:ext>
            </a:extLst>
          </p:cNvPr>
          <p:cNvSpPr/>
          <p:nvPr/>
        </p:nvSpPr>
        <p:spPr>
          <a:xfrm>
            <a:off x="1461518" y="5954693"/>
            <a:ext cx="5112768" cy="5064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A56699-F253-A6D4-A7CE-2A17E0E642E1}"/>
              </a:ext>
            </a:extLst>
          </p:cNvPr>
          <p:cNvSpPr txBox="1"/>
          <p:nvPr/>
        </p:nvSpPr>
        <p:spPr>
          <a:xfrm>
            <a:off x="78385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¬P∧Q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8933C4-E8BB-C395-8F6B-003577A1626E}"/>
              </a:ext>
            </a:extLst>
          </p:cNvPr>
          <p:cNvSpPr txBox="1"/>
          <p:nvPr/>
        </p:nvSpPr>
        <p:spPr>
          <a:xfrm>
            <a:off x="98324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4: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5AB5F1-61CF-9CB6-6C34-C153F756BE3C}"/>
              </a:ext>
            </a:extLst>
          </p:cNvPr>
          <p:cNvSpPr txBox="1"/>
          <p:nvPr/>
        </p:nvSpPr>
        <p:spPr>
          <a:xfrm>
            <a:off x="8216900" y="5981700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FND = (¬P ∧ Q) ∨ (P ∧ Q) </a:t>
            </a:r>
          </a:p>
        </p:txBody>
      </p:sp>
    </p:spTree>
    <p:extLst>
      <p:ext uri="{BB962C8B-B14F-4D97-AF65-F5344CB8AC3E}">
        <p14:creationId xmlns:p14="http://schemas.microsoft.com/office/powerpoint/2010/main" val="2835995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7022-05AF-B9DE-EBC3-090977CF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D92052-68B5-C5B5-0ACC-8FC92A11D0C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A9CCD9-0AAC-E98D-B5AB-C72E7291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7E16FB8-3C10-AF41-7CB4-46D8D5031E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21B1B6-E31B-6E05-1CA3-F430D78D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643061"/>
            <a:ext cx="9268965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Forma Normal Conjuntiva (FNC) ou Produto de Somas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disjunções (OU)</a:t>
            </a:r>
            <a:r>
              <a:rPr lang="pt-BR" sz="2200" dirty="0"/>
              <a:t> unidas por </a:t>
            </a:r>
            <a:r>
              <a:rPr lang="pt-BR" sz="2200" b="1" dirty="0"/>
              <a:t>conjunções (E)</a:t>
            </a:r>
            <a:r>
              <a:rPr lang="pt-BR" sz="2200" dirty="0"/>
              <a:t> </a:t>
            </a:r>
            <a:endParaRPr lang="pt-BR" sz="2200" b="1" dirty="0"/>
          </a:p>
          <a:p>
            <a:pPr lvl="1"/>
            <a:r>
              <a:rPr lang="pt-BR" sz="2200" dirty="0"/>
              <a:t>Essencialmente, a FNC é o inverso da FND</a:t>
            </a:r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2B862C2-2AE7-DAAD-3DE1-3E3AAC212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987081"/>
              </p:ext>
            </p:extLst>
          </p:nvPr>
        </p:nvGraphicFramePr>
        <p:xfrm>
          <a:off x="1993900" y="3812742"/>
          <a:ext cx="5011167" cy="280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389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636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6233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958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6110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2044466-C146-9CDE-12CB-B03C85378BD3}"/>
              </a:ext>
            </a:extLst>
          </p:cNvPr>
          <p:cNvSpPr/>
          <p:nvPr/>
        </p:nvSpPr>
        <p:spPr>
          <a:xfrm>
            <a:off x="1993901" y="4230297"/>
            <a:ext cx="5011166" cy="6627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A50CD5-3422-583D-8547-5A233D766228}"/>
              </a:ext>
            </a:extLst>
          </p:cNvPr>
          <p:cNvSpPr/>
          <p:nvPr/>
        </p:nvSpPr>
        <p:spPr>
          <a:xfrm>
            <a:off x="1993900" y="5443209"/>
            <a:ext cx="5011166" cy="6627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59FAC5-F346-F983-8453-89378AD17FBA}"/>
              </a:ext>
            </a:extLst>
          </p:cNvPr>
          <p:cNvSpPr txBox="1"/>
          <p:nvPr/>
        </p:nvSpPr>
        <p:spPr>
          <a:xfrm>
            <a:off x="7758144" y="3720214"/>
            <a:ext cx="243995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1: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FBBBE7-530E-26EB-43A7-B7A02807F410}"/>
              </a:ext>
            </a:extLst>
          </p:cNvPr>
          <p:cNvSpPr txBox="1"/>
          <p:nvPr/>
        </p:nvSpPr>
        <p:spPr>
          <a:xfrm>
            <a:off x="10198099" y="3720214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3: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¬P∨Q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1907F8-4486-05E9-6BB3-0A162EA17055}"/>
              </a:ext>
            </a:extLst>
          </p:cNvPr>
          <p:cNvSpPr txBox="1"/>
          <p:nvPr/>
        </p:nvSpPr>
        <p:spPr>
          <a:xfrm>
            <a:off x="8610599" y="5575942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FNC = (P∨Q) ∧ (¬ P∨Q)</a:t>
            </a:r>
          </a:p>
        </p:txBody>
      </p:sp>
    </p:spTree>
    <p:extLst>
      <p:ext uri="{BB962C8B-B14F-4D97-AF65-F5344CB8AC3E}">
        <p14:creationId xmlns:p14="http://schemas.microsoft.com/office/powerpoint/2010/main" val="1320833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F0D9-66ED-56EE-3264-84913978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BAB3D4-51EA-1D9F-08B9-4D1DAE31D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255F8C-A030-3515-3C30-C973559E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B1C85E-E816-8077-A017-DD54F3C0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16" y="1733119"/>
            <a:ext cx="10784568" cy="4517571"/>
          </a:xfrm>
        </p:spPr>
        <p:txBody>
          <a:bodyPr>
            <a:normAutofit/>
          </a:bodyPr>
          <a:lstStyle/>
          <a:p>
            <a:r>
              <a:rPr lang="pt-BR" sz="2200" dirty="0"/>
              <a:t>Cada disjunção na FND representa uma combinação específica que torna a expressão verdadeira. A conjunção reúne todas essas possibilidades.</a:t>
            </a:r>
          </a:p>
          <a:p>
            <a:endParaRPr lang="pt-BR" sz="2200" dirty="0"/>
          </a:p>
          <a:p>
            <a:pPr lvl="1"/>
            <a:r>
              <a:rPr lang="pt-BR" sz="2000" dirty="0"/>
              <a:t>A FND aponta diretamente para as combinações que assumem um valor verdadeiro (Assumindo que, para a conjunção, ambos precisam ter valor lógico verdadeiro)</a:t>
            </a:r>
          </a:p>
          <a:p>
            <a:endParaRPr lang="pt-BR" sz="2200" dirty="0"/>
          </a:p>
          <a:p>
            <a:r>
              <a:rPr lang="pt-BR" sz="2200" dirty="0"/>
              <a:t>Na FNC </a:t>
            </a:r>
            <a:r>
              <a:rPr lang="pt-BR" sz="2400" dirty="0"/>
              <a:t>Em vez de construir cláusulas que identificam onde a expressão é verdadeira, ela constrói cláusulas que eliminam exatamente as linhas falsas.</a:t>
            </a:r>
          </a:p>
          <a:p>
            <a:endParaRPr lang="pt-BR" sz="2400" dirty="0"/>
          </a:p>
          <a:p>
            <a:pPr lvl="1"/>
            <a:r>
              <a:rPr lang="pt-BR" sz="2000" dirty="0"/>
              <a:t>As disjunções apontam para as combinações que resultam em falso, as conjunções (nesse caso) exigem que todas as cláusulas sejam verdadeiras ao mesmo tempo. </a:t>
            </a:r>
            <a:endParaRPr lang="pt-BR" sz="22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11777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03EA-EF49-B291-088D-687E1505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67BEE0-D39B-7515-23DD-2AEDC7BE84F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59D06A-2A42-FD62-104D-A406E36C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E676ED-E7DC-0DFE-7341-79D2058D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3733" y="1878072"/>
            <a:ext cx="5664534" cy="4669971"/>
          </a:xfrm>
        </p:spPr>
        <p:txBody>
          <a:bodyPr>
            <a:normAutofit/>
          </a:bodyPr>
          <a:lstStyle/>
          <a:p>
            <a:r>
              <a:rPr lang="pt-BR" sz="2400" dirty="0"/>
              <a:t>1. Classifique as sentenças abaixo em Proposição ou Não Proposição</a:t>
            </a:r>
            <a:endParaRPr lang="pt-BR" sz="2000" dirty="0"/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O Brasil fica na América do Sul.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Feche a porta.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2 + 2 = 5.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Qual é o seu nome?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Hoje está chovendo.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x + 3 = 7.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Todo computador possui memória RAM.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Que filme interessante!</a:t>
            </a:r>
          </a:p>
        </p:txBody>
      </p:sp>
    </p:spTree>
    <p:extLst>
      <p:ext uri="{BB962C8B-B14F-4D97-AF65-F5344CB8AC3E}">
        <p14:creationId xmlns:p14="http://schemas.microsoft.com/office/powerpoint/2010/main" val="72226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91DA-A5EA-A2AB-F8AB-A4F8020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252498C-CC2E-D731-9130-680DA391E13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A98B74-1D0F-862D-E3D3-28AFA026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52E2BDE-F25E-3A64-65AD-497643F065C1}"/>
              </a:ext>
            </a:extLst>
          </p:cNvPr>
          <p:cNvSpPr txBox="1">
            <a:spLocks/>
          </p:cNvSpPr>
          <p:nvPr/>
        </p:nvSpPr>
        <p:spPr>
          <a:xfrm>
            <a:off x="120889" y="1609939"/>
            <a:ext cx="6893522" cy="50836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1 – Considerando: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"João estuda." </a:t>
            </a:r>
          </a:p>
          <a:p>
            <a:pPr lvl="1"/>
            <a:r>
              <a:rPr lang="pt-BR" sz="2000" dirty="0"/>
              <a:t>q: "João trabalha." </a:t>
            </a:r>
          </a:p>
          <a:p>
            <a:pPr lvl="1"/>
            <a:r>
              <a:rPr lang="pt-BR" sz="2000" dirty="0"/>
              <a:t>r: "João é aprovado.“</a:t>
            </a:r>
          </a:p>
          <a:p>
            <a:pPr marL="457200" lvl="1" indent="0">
              <a:buNone/>
            </a:pPr>
            <a:r>
              <a:rPr lang="pt-BR" sz="2000" dirty="0"/>
              <a:t> </a:t>
            </a:r>
            <a:endParaRPr lang="pt-BR" sz="2400" dirty="0"/>
          </a:p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Escreva em linguagem simbólica e monte a tabela-verdade:</a:t>
            </a:r>
          </a:p>
          <a:p>
            <a:pPr lvl="1">
              <a:buFont typeface="Arial" panose="020B0604020202020204" pitchFamily="34" charset="0"/>
              <a:buNone/>
            </a:pPr>
            <a:endParaRPr lang="pt-BR" dirty="0"/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a) João estuda e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b) João não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c) João estuda ou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d) Se João estudar,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e) João será aprovado somente se estudar.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f) João estuda, trabalha e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g) João não estuda nem trabalha.</a:t>
            </a:r>
          </a:p>
          <a:p>
            <a:endParaRPr lang="pt-BR" sz="2000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1949CE3D-9504-9691-8E28-C4C08A9A7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147" y="1609939"/>
            <a:ext cx="4055764" cy="50836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2 – Considerando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V</a:t>
            </a:r>
          </a:p>
          <a:p>
            <a:pPr lvl="1"/>
            <a:r>
              <a:rPr lang="pt-BR" sz="2000" dirty="0"/>
              <a:t>q: F</a:t>
            </a:r>
          </a:p>
          <a:p>
            <a:pPr lvl="1"/>
            <a:r>
              <a:rPr lang="pt-BR" sz="2000" dirty="0"/>
              <a:t>r: V</a:t>
            </a:r>
          </a:p>
          <a:p>
            <a:pPr>
              <a:buNone/>
            </a:pPr>
            <a:r>
              <a:rPr lang="pt-BR" sz="2400" dirty="0"/>
              <a:t>Determine o valor lógico:</a:t>
            </a:r>
          </a:p>
          <a:p>
            <a:pPr marL="914400" lvl="1" indent="-457200">
              <a:buFont typeface="+mj-lt"/>
              <a:buAutoNum type="alphaUcPeriod"/>
            </a:pPr>
            <a:endParaRPr lang="pt-BR" dirty="0"/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→ (¬q → ¬p)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∧ q) ∨ (¬p ∧ r)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↔ (¬q → ¬p)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∨ q) → (r ∧ 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p → (¬p ∨ q ∨ r)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766641F-5714-6446-8261-83C5D50A36AE}"/>
              </a:ext>
            </a:extLst>
          </p:cNvPr>
          <p:cNvCxnSpPr/>
          <p:nvPr/>
        </p:nvCxnSpPr>
        <p:spPr>
          <a:xfrm>
            <a:off x="7423484" y="1325561"/>
            <a:ext cx="0" cy="5532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44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D776-7844-2F52-9329-67032F2D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82CD923-EB36-66C4-37A7-0EE1B510990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603507-8297-4269-818A-11BE84E3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D264AD-408A-565C-850B-89460A039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9" y="1655775"/>
            <a:ext cx="9644742" cy="49421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Considerando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p: "O servidor está ligado." </a:t>
            </a:r>
          </a:p>
          <a:p>
            <a:pPr lvl="1"/>
            <a:r>
              <a:rPr lang="pt-BR" sz="2200" dirty="0"/>
              <a:t>q: "A rede está funcionando." </a:t>
            </a:r>
          </a:p>
          <a:p>
            <a:pPr lvl="1"/>
            <a:r>
              <a:rPr lang="pt-BR" sz="2200" dirty="0"/>
              <a:t>r: "Os usuários conseguem acessar o sistema." 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Escreva em lógica proposicional.</a:t>
            </a:r>
          </a:p>
          <a:p>
            <a:pPr lvl="1"/>
            <a:endParaRPr lang="pt-BR" sz="2200" dirty="0"/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 servidor estiver ligado e a rede funcionar, então os usuários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Os usuários não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ligado, mas a rede não funciona.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os usuários conseguem acessar o sistema, então o servidor está ligado.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desligado ou a rede está funcionando.</a:t>
            </a:r>
          </a:p>
        </p:txBody>
      </p:sp>
    </p:spTree>
    <p:extLst>
      <p:ext uri="{BB962C8B-B14F-4D97-AF65-F5344CB8AC3E}">
        <p14:creationId xmlns:p14="http://schemas.microsoft.com/office/powerpoint/2010/main" val="4115658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F0B2-845E-21C3-0F3D-D7EBCC07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C2E2D-4E21-BD1A-A579-687F2B61D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3 – equivalências lógicas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788A9-5946-91B0-E2B5-70A25F09B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5255FA5-89B6-0660-D9D9-F00D0B14C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955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373A-5957-3EE2-D8B5-E7AF6BE3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256B80D-122C-67B3-D7A3-D857CBACC8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74A2B9-8816-981F-D521-2D0F8B2E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EQUIVALÊNCIAS LÓGICAS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58950" y="1817914"/>
                <a:ext cx="9105566" cy="495586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A ideia central das equivalências lógicas vem do seguinte princípio: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i="1" dirty="0"/>
                  <a:t>“Duas expressões lógicas podem ter </a:t>
                </a:r>
                <a:r>
                  <a:rPr lang="pt-BR" sz="2200" b="1" i="1" dirty="0"/>
                  <a:t>escritas diferentes</a:t>
                </a:r>
                <a:r>
                  <a:rPr lang="pt-BR" sz="2200" i="1" dirty="0"/>
                  <a:t>, mas representar exatamente a </a:t>
                </a:r>
                <a:r>
                  <a:rPr lang="pt-BR" sz="2200" b="1" i="1" dirty="0"/>
                  <a:t>mesma lógica</a:t>
                </a:r>
                <a:r>
                  <a:rPr lang="pt-BR" sz="2200" i="1" dirty="0"/>
                  <a:t>. Quando isso acontece, temos uma equivalência lógica.”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i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partir daí, são definidas ferramentas para transformar e simplificar expressões sem alterar seu significado lógico.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marL="3200400" lvl="7" indent="0" algn="just">
                  <a:buNone/>
                </a:pPr>
                <a:r>
                  <a:rPr lang="pt-BR" sz="2000" dirty="0"/>
                  <a:t>   Por exemplo:</a:t>
                </a: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i="1"/>
                        <m:t>P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i="1"/>
                        <m:t>→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i="1"/>
                        <m:t>Q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b="0" i="1" smtClean="0"/>
                        <m:t>e</m:t>
                      </m:r>
                      <m:r>
                        <m:rPr>
                          <m:nor/>
                        </m:rPr>
                        <a:rPr lang="pt-BR" sz="2800" b="0" i="1" smtClean="0"/>
                        <m:t> ¬</m:t>
                      </m:r>
                      <m:r>
                        <m:rPr>
                          <m:nor/>
                        </m:rPr>
                        <a:rPr lang="pt-BR" sz="2800" i="1"/>
                        <m:t>P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i="1"/>
                        <m:t>∨</m:t>
                      </m:r>
                      <m:r>
                        <m:rPr>
                          <m:nor/>
                        </m:rPr>
                        <a:rPr lang="pt-BR" sz="2800" b="0" i="1" smtClean="0"/>
                        <m:t>  </m:t>
                      </m:r>
                      <m:r>
                        <m:rPr>
                          <m:nor/>
                        </m:rPr>
                        <a:rPr lang="pt-BR" sz="2800" i="1"/>
                        <m:t>Q</m:t>
                      </m:r>
                    </m:oMath>
                  </m:oMathPara>
                </a14:m>
                <a:endParaRPr lang="pt-BR" sz="28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58950" y="1817914"/>
                <a:ext cx="9105566" cy="4955865"/>
              </a:xfrm>
              <a:blipFill>
                <a:blip r:embed="rId3"/>
                <a:stretch>
                  <a:fillRect l="-938" t="-1722" r="-9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739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97D8-249B-B00D-3326-0F638A69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89BDB8B-1BCD-5C02-234C-0B8886222B5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BD8F5-E63E-115C-E0C5-3921F828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 DE MORGAN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Provavelmente as equivalências mais importantes para a computação, ela estipula duas possibilidades: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b="1">
                        <a:latin typeface="Cambria Math" panose="02040503050406030204" pitchFamily="18" charset="0"/>
                      </a:rPr>
                      <m:t>¬(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¬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>
                        <a:latin typeface="Cambria Math" panose="02040503050406030204" pitchFamily="18" charset="0"/>
                      </a:rPr>
                      <m:t>¬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endParaRPr lang="pt-BR" b="1" dirty="0"/>
              </a:p>
              <a:p>
                <a:pPr lvl="2" algn="just"/>
                <a:r>
                  <a:rPr lang="pt-BR" sz="2200" i="1" dirty="0"/>
                  <a:t>"Não é verdade que P e Q”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ou Q é falso."</a:t>
                </a:r>
                <a:endParaRPr lang="pt-BR" sz="2200" b="1" i="1" dirty="0"/>
              </a:p>
              <a:p>
                <a:pPr marL="1371600" lvl="2" indent="-457200" algn="just">
                  <a:buFont typeface="+mj-lt"/>
                  <a:buAutoNum type="arabicPeriod"/>
                </a:pPr>
                <a:endParaRPr lang="pt-BR" b="1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pt-BR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0" dirty="0" smtClean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pt-BR" b="1" i="0" dirty="0" smtClean="0">
                            <a:latin typeface="Cambria Math" panose="02040503050406030204" pitchFamily="18" charset="0"/>
                          </a:rPr>
                          <m:t> ∨ </m:t>
                        </m:r>
                        <m:r>
                          <a:rPr lang="pt-BR" b="1" i="0" dirty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</m:d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≡  ¬</m:t>
                    </m:r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 ∧ ¬</m:t>
                    </m:r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endParaRPr lang="pt-BR" b="1" i="0" dirty="0">
                  <a:latin typeface="Cambria Math" panose="02040503050406030204" pitchFamily="18" charset="0"/>
                </a:endParaRPr>
              </a:p>
              <a:p>
                <a:pPr lvl="2" algn="just"/>
                <a:r>
                  <a:rPr lang="pt-BR" sz="2200" i="1" dirty="0"/>
                  <a:t>"Não é verdade que P ou Q"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e Q é falso.“</a:t>
                </a:r>
                <a:endParaRPr lang="pt-BR" sz="2200" b="1" i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algn="just"/>
                <a:r>
                  <a:rPr lang="pt-BR" sz="2400" dirty="0"/>
                  <a:t>É comumente usada para a simplificação de expressões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  <a:blipFill>
                <a:blip r:embed="rId3"/>
                <a:stretch>
                  <a:fillRect l="-954" t="-204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C51BA459-2FA0-EB1F-E221-D985BD3F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343"/>
          <a:stretch>
            <a:fillRect/>
          </a:stretch>
        </p:blipFill>
        <p:spPr>
          <a:xfrm>
            <a:off x="8968288" y="2400300"/>
            <a:ext cx="3223712" cy="365760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19308DF-3F0F-4022-BB10-622B9C22AA37}"/>
              </a:ext>
            </a:extLst>
          </p:cNvPr>
          <p:cNvCxnSpPr>
            <a:cxnSpLocks/>
          </p:cNvCxnSpPr>
          <p:nvPr/>
        </p:nvCxnSpPr>
        <p:spPr>
          <a:xfrm>
            <a:off x="7629691" y="5600700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776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47F7-ABB7-B16F-C6D2-C1C625E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EF3F73D-222C-BBEA-C05E-4D4A8A45B3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26EF6E-CABF-F4E9-1F51-A3402B73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Consiste na absorção de termos da expressão. A absorção pode ser expressa de duas maneiras: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  <a:blipFill>
                <a:blip r:embed="rId3"/>
                <a:stretch>
                  <a:fillRect l="-954" t="-3448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635918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635918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2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2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5F20680-361B-AF4B-E294-11768A1B28BC}"/>
              </a:ext>
            </a:extLst>
          </p:cNvPr>
          <p:cNvSpPr txBox="1"/>
          <p:nvPr/>
        </p:nvSpPr>
        <p:spPr>
          <a:xfrm>
            <a:off x="860257" y="4464289"/>
            <a:ext cx="104714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disjunção automaticamente fica verdadeira, validando também a conjunção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345AE60-D11E-8A95-1547-45AF63D1B4F1}"/>
              </a:ext>
            </a:extLst>
          </p:cNvPr>
          <p:cNvCxnSpPr>
            <a:cxnSpLocks/>
          </p:cNvCxnSpPr>
          <p:nvPr/>
        </p:nvCxnSpPr>
        <p:spPr>
          <a:xfrm>
            <a:off x="5439944" y="3459079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037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9A63-3C4F-8F03-7D1C-97603B71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3FE7C8-676D-2F29-8CD2-0E8814A2D4F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F66993-6C95-A6E7-4C0D-4B3CF013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</p:spPr>
            <p:txBody>
              <a:bodyPr>
                <a:normAutofit/>
              </a:bodyPr>
              <a:lstStyle/>
              <a:p>
                <a:pPr marL="457200" lvl="1" indent="0" algn="just">
                  <a:buNone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40464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40464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1EFCCFE2-0444-ECE4-61A5-919189736A49}"/>
              </a:ext>
            </a:extLst>
          </p:cNvPr>
          <p:cNvSpPr txBox="1"/>
          <p:nvPr/>
        </p:nvSpPr>
        <p:spPr>
          <a:xfrm>
            <a:off x="860257" y="4135091"/>
            <a:ext cx="104714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frase inteira é verdade. Na disjunção, basta que um termo seja verdade, para o resultado ser verdadeiro.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667303E-5CF9-9F5F-31A1-C18912F23AC5}"/>
              </a:ext>
            </a:extLst>
          </p:cNvPr>
          <p:cNvCxnSpPr>
            <a:cxnSpLocks/>
          </p:cNvCxnSpPr>
          <p:nvPr/>
        </p:nvCxnSpPr>
        <p:spPr>
          <a:xfrm>
            <a:off x="5427912" y="2563483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50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4F0-4DB5-2190-CCC3-5F49DD55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AB51CEE-9FE8-E5C7-E287-876D58658F0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F855D8-80CA-3F0B-D18F-AC341339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DISTRIBUTIVA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Para a conjunção, existe uma relação análoga à propriedade distributiva da álgebra:</a:t>
                </a:r>
              </a:p>
              <a:p>
                <a:pPr lvl="1" algn="just"/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matemática temos: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Apenas na lógica, pode também haver o inverso, para a disjunção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)∧(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  <a:blipFill>
                <a:blip r:embed="rId3"/>
                <a:stretch>
                  <a:fillRect l="-954" t="-189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711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2C9C-27BD-5EDD-9CF2-9478D841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493E5ED-715A-0B38-C37D-151F8FE1F0A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D1105-B56C-1B92-CF20-09F8EC74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PROPRIEDADES OPERACIONAIS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4A2161CB-E951-190B-0074-960BFF8FC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3"/>
                <a:ext cx="4911724" cy="448061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Lei comutativa: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pt-BR" dirty="0"/>
                  <a:t> 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pt-BR" dirty="0"/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Lei associativa: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algn="just"/>
                <a:r>
                  <a:rPr lang="pt-BR" sz="2400" dirty="0"/>
                  <a:t>Inalterabilidade: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pt-BR" sz="2200" b="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pt-BR" sz="2200" dirty="0"/>
              </a:p>
              <a:p>
                <a:pPr lvl="1" algn="just"/>
                <a:endParaRPr lang="pt-BR" sz="2200" b="0" dirty="0"/>
              </a:p>
              <a:p>
                <a:pPr lvl="1" algn="just"/>
                <a:endParaRPr lang="pt-BR" sz="22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4A2161CB-E951-190B-0074-960BFF8FC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3"/>
                <a:ext cx="4911724" cy="4480619"/>
              </a:xfrm>
              <a:blipFill>
                <a:blip r:embed="rId3"/>
                <a:stretch>
                  <a:fillRect l="-1613" t="-19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F816314F-90E0-3CB5-7E7D-FC0E8DB948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8619" y="2064560"/>
                <a:ext cx="4162926" cy="37587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∨0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pt-BR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>
                        <a:latin typeface="Cambria Math" panose="02040503050406030204" pitchFamily="18" charset="0"/>
                      </a:rPr>
                      <m:t>∨1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sz="2400" dirty="0"/>
              </a:p>
              <a:p>
                <a:pPr algn="just"/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>
                        <a:latin typeface="Cambria Math" panose="02040503050406030204" pitchFamily="18" charset="0"/>
                      </a:rPr>
                      <m:t>∧0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endParaRPr lang="pt-BR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>
                        <a:latin typeface="Cambria Math" panose="02040503050406030204" pitchFamily="18" charset="0"/>
                      </a:rPr>
                      <m:t>∧1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pt-BR" sz="2400" dirty="0">
                  <a:sym typeface="Wingdings" panose="05000000000000000000" pitchFamily="2" charset="2"/>
                </a:endParaRPr>
              </a:p>
              <a:p>
                <a:pPr algn="just"/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400" b="0"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pt-BR" sz="2400" b="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 </a:t>
                </a:r>
                <a:endParaRPr lang="pt-BR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400" b="0"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pt-BR" sz="2400" b="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Font typeface="Arial" panose="020B0604020202020204" pitchFamily="34" charset="0"/>
                  <a:buNone/>
                </a:pPr>
                <a:endParaRPr lang="pt-BR" b="1" dirty="0"/>
              </a:p>
              <a:p>
                <a:pPr marL="457200" lvl="1" indent="0" algn="just">
                  <a:buFont typeface="Arial" panose="020B0604020202020204" pitchFamily="34" charset="0"/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F816314F-90E0-3CB5-7E7D-FC0E8DB94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619" y="2064560"/>
                <a:ext cx="4162926" cy="3758724"/>
              </a:xfrm>
              <a:prstGeom prst="rect">
                <a:avLst/>
              </a:prstGeom>
              <a:blipFill>
                <a:blip r:embed="rId4"/>
                <a:stretch>
                  <a:fillRect l="-2050" t="-24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476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5599-88F5-18D9-1AC9-2A7A35B5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68CB86C-D42E-83D1-2C8D-B79063D931E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C220C4-A201-8C7E-4263-1AA2740A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50778A-C70A-BC7E-A80C-C06168E58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895" y="1634037"/>
            <a:ext cx="8136210" cy="4480619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Simplificar uma expressão lógica significa encontrar uma expressão equivalente mais simples.</a:t>
            </a:r>
            <a:endParaRPr lang="pt-BR" sz="2400" b="0" dirty="0"/>
          </a:p>
          <a:p>
            <a:pPr algn="just"/>
            <a:endParaRPr lang="pt-BR" sz="2400" b="0" dirty="0"/>
          </a:p>
          <a:p>
            <a:pPr algn="just"/>
            <a:r>
              <a:rPr lang="pt-BR" sz="2400" b="0" dirty="0"/>
              <a:t>A ideia é encontrar uma </a:t>
            </a:r>
            <a:r>
              <a:rPr lang="pt-BR" sz="2400" dirty="0"/>
              <a:t>representação mais conveniente para a expressão, </a:t>
            </a:r>
            <a:r>
              <a:rPr lang="pt-BR" sz="2400" u="sng" dirty="0"/>
              <a:t>sem alterar o seu comportamento.</a:t>
            </a:r>
            <a:endParaRPr lang="pt-BR" sz="2400" b="0" u="sng" dirty="0"/>
          </a:p>
          <a:p>
            <a:pPr lvl="1" algn="just"/>
            <a:endParaRPr lang="pt-BR" sz="22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200" dirty="0"/>
          </a:p>
          <a:p>
            <a:pPr lvl="1" algn="just"/>
            <a:endParaRPr lang="pt-BR" sz="2000" dirty="0"/>
          </a:p>
          <a:p>
            <a:pPr marL="914400" lvl="1" indent="-457200" algn="just">
              <a:buFont typeface="+mj-lt"/>
              <a:buAutoNum type="arabicPeriod"/>
            </a:pPr>
            <a:endParaRPr lang="pt-BR" b="1" i="1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EF6E048-ECAD-7B90-05E6-9A82A4528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8" r="2030" b="44874"/>
          <a:stretch>
            <a:fillRect/>
          </a:stretch>
        </p:blipFill>
        <p:spPr>
          <a:xfrm>
            <a:off x="0" y="4567441"/>
            <a:ext cx="6799830" cy="2067962"/>
          </a:xfrm>
          <a:prstGeom prst="rect">
            <a:avLst/>
          </a:prstGeom>
        </p:spPr>
      </p:pic>
      <p:pic>
        <p:nvPicPr>
          <p:cNvPr id="1026" name="Picture 2" descr="Eletrônica Digital - Projetando Circuitos Lógicos Combinacionais - Semestre  2023.2">
            <a:extLst>
              <a:ext uri="{FF2B5EF4-FFF2-40B4-BE49-F238E27FC236}">
                <a16:creationId xmlns:a16="http://schemas.microsoft.com/office/drawing/2014/main" id="{A57B8795-6780-912D-D99C-BA39046A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7" t="63634" r="12293" b="3083"/>
          <a:stretch>
            <a:fillRect/>
          </a:stretch>
        </p:blipFill>
        <p:spPr bwMode="auto">
          <a:xfrm>
            <a:off x="7334874" y="4568977"/>
            <a:ext cx="4766403" cy="13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0C97382-F141-E542-CB09-9C75154DF2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177760" flipV="1">
            <a:off x="6597501" y="5181171"/>
            <a:ext cx="1474746" cy="14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78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E3B4-58DD-3130-85C8-2581DA26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5164A3-F0D0-D419-A0DF-53BAE31C88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82892D-8860-1631-AAEF-193465AC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Exemplo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endParaRPr lang="pt-BR" sz="2400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Isolamos o P por meio da distributiva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o resultado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pt-BR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é sempre VERDADEIRO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∧1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a conjunção de P com 1 sempre será o próprio P</a:t>
                </a:r>
              </a:p>
              <a:p>
                <a:pPr marL="457200" lvl="1" indent="0">
                  <a:buNone/>
                </a:pPr>
                <a:endParaRPr lang="pt-BR" sz="2200" dirty="0">
                  <a:latin typeface="Cambria Math" panose="02040503050406030204" pitchFamily="18" charset="0"/>
                </a:endParaRPr>
              </a:p>
              <a:p>
                <a:r>
                  <a:rPr lang="pt-BR" sz="2400" dirty="0"/>
                  <a:t>Portanto, temos: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)≡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pt-BR" sz="2400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2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  <a:blipFill>
                <a:blip r:embed="rId3"/>
                <a:stretch>
                  <a:fillRect l="-966" t="-18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610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57AE-307F-BF7B-83B5-E5EEE20D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7AABB55-32D7-5660-1B7B-37FCB61F6EF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1260A6-3C07-1BE4-AB53-24D1107E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ALGEBRA BOOLEANA (INTRO)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álgebra booleana é um sistema matemático criado por </a:t>
                </a:r>
                <a:r>
                  <a:rPr lang="pt-BR" sz="2400" i="1" dirty="0"/>
                  <a:t>George </a:t>
                </a:r>
                <a:r>
                  <a:rPr lang="pt-BR" sz="2400" i="1" dirty="0" err="1"/>
                  <a:t>Boole</a:t>
                </a:r>
                <a:r>
                  <a:rPr lang="pt-BR" sz="2400" dirty="0"/>
                  <a:t>, que serve de base para a </a:t>
                </a:r>
                <a:r>
                  <a:rPr lang="pt-BR" sz="2400" b="1" dirty="0"/>
                  <a:t>lógica digital</a:t>
                </a:r>
                <a:r>
                  <a:rPr lang="pt-BR" sz="2400" dirty="0"/>
                  <a:t>, a </a:t>
                </a:r>
                <a:r>
                  <a:rPr lang="pt-BR" sz="2400" b="1" dirty="0"/>
                  <a:t>programação</a:t>
                </a:r>
                <a:r>
                  <a:rPr lang="pt-BR" sz="2400" dirty="0"/>
                  <a:t> e o funcionamento dos computadores modernos.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Verdadeiro </a:t>
                </a:r>
                <a:r>
                  <a:rPr lang="pt-BR" sz="2000" dirty="0">
                    <a:sym typeface="Wingdings" panose="05000000000000000000" pitchFamily="2" charset="2"/>
                  </a:rPr>
                  <a:t> 1</a:t>
                </a:r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sym typeface="Wingdings" panose="05000000000000000000" pitchFamily="2" charset="2"/>
                  </a:rPr>
                  <a:t>Falso  0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sym typeface="Wingdings" panose="05000000000000000000" pitchFamily="2" charset="2"/>
                  </a:rPr>
                  <a:t>Conjunção   + (Soma)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sym typeface="Wingdings" panose="05000000000000000000" pitchFamily="2" charset="2"/>
                  </a:rPr>
                  <a:t>Disjunção  * (Multiplicação)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sym typeface="Wingdings" panose="05000000000000000000" pitchFamily="2" charset="2"/>
                  </a:rPr>
                  <a:t>Negação   </a:t>
                </a:r>
                <a:r>
                  <a:rPr lang="pt-B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─ (Barrado)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Exemplo: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000" b="1" i="1" dirty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pt-BR" sz="20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sz="22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r>
                  <a:rPr lang="pt-BR" sz="2400" dirty="0"/>
                  <a:t>	</a:t>
                </a: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  <a:blipFill>
                <a:blip r:embed="rId3"/>
                <a:stretch>
                  <a:fillRect l="-966" t="-1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04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CADE-A840-3BE9-33C2-2379B402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D6F4223-B114-1B64-C5A5-94547D50A98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DB634D-98C2-7C53-CE8C-88718DA1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 - DESAFIO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69E136-FFE4-8C03-85FE-9C8A6D685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950" y="1817914"/>
            <a:ext cx="8888997" cy="466997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Considerando que a logica proposicional trabalha essencialmente com conjunções, disjunções e negações. Como poderíamos representar a </a:t>
            </a:r>
            <a:r>
              <a:rPr lang="pt-BR" sz="2400" b="1" dirty="0"/>
              <a:t>condicional</a:t>
            </a:r>
            <a:r>
              <a:rPr lang="pt-BR" sz="2400" dirty="0"/>
              <a:t>, a </a:t>
            </a:r>
            <a:r>
              <a:rPr lang="pt-BR" sz="2400" b="1" dirty="0" err="1"/>
              <a:t>bi-condicional</a:t>
            </a:r>
            <a:r>
              <a:rPr lang="pt-BR" sz="2400" dirty="0"/>
              <a:t> e a </a:t>
            </a:r>
            <a:r>
              <a:rPr lang="pt-BR" sz="2400" b="1" dirty="0"/>
              <a:t>disjunção exclusiva</a:t>
            </a:r>
            <a:r>
              <a:rPr lang="pt-BR" sz="2400" dirty="0"/>
              <a:t>, dentro das formas normais?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Simplifique as expressões:</a:t>
            </a:r>
          </a:p>
          <a:p>
            <a:pPr marL="0" indent="0" algn="just">
              <a:buNone/>
            </a:pPr>
            <a:r>
              <a:rPr lang="pt-BR" sz="2400" dirty="0"/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F2354F-9002-B04F-3F3B-CD5583E0D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673" y="4412643"/>
            <a:ext cx="7495550" cy="24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48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2947</Words>
  <Application>Microsoft Office PowerPoint</Application>
  <PresentationFormat>Widescreen</PresentationFormat>
  <Paragraphs>643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1 – FUNDAMENTOS</vt:lpstr>
      <vt:lpstr>FUNDAMENTOS</vt:lpstr>
      <vt:lpstr>Por que o computador precisa da Matemática Discreta?</vt:lpstr>
      <vt:lpstr>DISCRETIZAÇÃO</vt:lpstr>
      <vt:lpstr>DISCRETIZAÇÃO</vt:lpstr>
      <vt:lpstr>Apenas discretizar é suficiente?</vt:lpstr>
      <vt:lpstr>DISCRETIZAÇÃO</vt:lpstr>
      <vt:lpstr>DISCRETIZAÇÃO</vt:lpstr>
      <vt:lpstr>módulo 2 – lógica proposicional</vt:lpstr>
      <vt:lpstr>LÓGICA PROPOSICIONAL</vt:lpstr>
      <vt:lpstr>PROPOSIÇÕES</vt:lpstr>
      <vt:lpstr>PROPOSIÇÕES</vt:lpstr>
      <vt:lpstr>CONECTIVOS LÓGICOS</vt:lpstr>
      <vt:lpstr>CONECTIVOS LÓGICOS</vt:lpstr>
      <vt:lpstr>TABELA VERDADE</vt:lpstr>
      <vt:lpstr>TABELA VERDADE</vt:lpstr>
      <vt:lpstr>TABELA VERDADE</vt:lpstr>
      <vt:lpstr>TABELA VERDADE</vt:lpstr>
      <vt:lpstr>TABELA VERDADE</vt:lpstr>
      <vt:lpstr>TABELA VERDADE</vt:lpstr>
      <vt:lpstr>PRECEDÊNCIA DOS CONECTIVOS</vt:lpstr>
      <vt:lpstr>CONSTRUÇÃO DA TABELA VERDADE</vt:lpstr>
      <vt:lpstr>CLASSIFICAÇÃO DE EXPRESSÕES LÓGICAS</vt:lpstr>
      <vt:lpstr>CLASSIFICAÇÃO DE EXPRESSÕES LÓGICAS</vt:lpstr>
      <vt:lpstr>FORMAS NORMAIS</vt:lpstr>
      <vt:lpstr>FORMAS NORMAIS</vt:lpstr>
      <vt:lpstr>FORMAS NORMAIS</vt:lpstr>
      <vt:lpstr>FORMAS NORMAIS</vt:lpstr>
      <vt:lpstr>FIXAÇÃO</vt:lpstr>
      <vt:lpstr>FIXAÇÃO</vt:lpstr>
      <vt:lpstr>FIXAÇÃO</vt:lpstr>
      <vt:lpstr>módulo 3 – equivalências lógicas</vt:lpstr>
      <vt:lpstr>EQUIVALÊNCIAS LÓGICAS</vt:lpstr>
      <vt:lpstr>LEI DE MORGAN</vt:lpstr>
      <vt:lpstr>PROPRIEDADE DA ABSORÇÃO</vt:lpstr>
      <vt:lpstr>PROPRIEDADE DA ABSORÇÃO</vt:lpstr>
      <vt:lpstr>PROPRIEDADE DISTRIBUTIVA</vt:lpstr>
      <vt:lpstr>PROPRIEDADES OPERACIONAIS</vt:lpstr>
      <vt:lpstr>SIMPLIFICAÇÃO LÓGICA</vt:lpstr>
      <vt:lpstr>SIMPLIFICAÇÃO LÓGICA</vt:lpstr>
      <vt:lpstr>ALGEBRA BOOLEANA (INTRO)</vt:lpstr>
      <vt:lpstr>FIXAÇÃO - DESAFIO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147</cp:revision>
  <dcterms:created xsi:type="dcterms:W3CDTF">2026-07-26T12:48:37Z</dcterms:created>
  <dcterms:modified xsi:type="dcterms:W3CDTF">2026-08-11T14:35:30Z</dcterms:modified>
</cp:coreProperties>
</file>