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6"/>
  </p:notesMasterIdLst>
  <p:sldIdLst>
    <p:sldId id="314" r:id="rId3"/>
    <p:sldId id="294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2B0D-EC00-4939-6AD3-0DDE8A34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67D953-E001-2DBE-80AC-03165CEAB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7C74A3-FB00-9F32-924D-88CE3D02A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B7948C-8BDF-A9E0-DFB4-663C2A249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87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3978-9C5E-CED3-5A9A-E7E8964A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ECC452-E638-C59F-9220-C1EEB906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4EE923-BA27-93D5-B4BA-235D6F517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53CFC5-F8B7-8132-2FD5-2B4C85725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8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BAD38-36B1-3AE9-53A8-C1D4875F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7D445D-4CB6-2DA8-F260-EF3963D52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F15396-F0B9-D2E5-2A3F-13F1717A9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8B3083-6380-32FC-4BCB-F38D11A7C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920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DD62B-8624-6E8B-4952-701DC6D2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BD37BF-67CC-9802-656D-D3A35EDC1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06E8A9-1408-5BE9-8960-A0C68AFAB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b="0" dirty="0"/>
              <a:t>Citar também os princípios básicos:</a:t>
            </a:r>
          </a:p>
          <a:p>
            <a:pPr marL="0" indent="0">
              <a:buFontTx/>
              <a:buNone/>
            </a:pPr>
            <a:endParaRPr lang="pt-BR" b="0" dirty="0"/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 da Não Contradição: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proposição não pode ser verdadeira e falsa ao mesmo tempo.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Princípio do Terceiro Excluído: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Toda proposição ou é verdadeira ou é falsa, não havendo uma terceira opção.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D3DA0E-C75B-6321-D7D5-E7693E3A6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788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A10A-A2E5-291A-467D-6A193EE8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D0B87F-7657-1CBB-59A9-AEB579C0F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9FA888-50F4-3BC6-848B-E5401A7D0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pt-BR" sz="1200" b="1" dirty="0"/>
              <a:t>Disjunção exclusiva: </a:t>
            </a:r>
            <a:r>
              <a:rPr lang="pt-BR" dirty="0"/>
              <a:t>Embora não faça parte dos conectivos fundamentais da lógica proposicional clássica, ele é muito utilizado em Computação.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5D941C-A48A-92B5-312C-D038C49DA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30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EA64-B1BA-0555-EAB0-328FB9E3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D8694C-AEE6-B69F-C3A8-E81ABD3C5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33EDED-26AE-6279-C4AF-827562928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12365D-5FA7-251F-6BCE-AF9BC5F42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93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688B-B081-F4A2-9DA7-26B6A230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7D21D7-9421-BD1E-7355-B033584B6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0EA7C5-98D8-20EC-F116-2B2755C5D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770B7C-0B66-3AA6-2A0F-C76F501EF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107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D384-657E-0037-2270-6F4E9F44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35DD1D-07E9-A620-DEC3-F9D508142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34AB1A-8508-02B1-0FAD-DA5BB993D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A99E9A-EC3A-942A-EF26-62A56C074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777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CA974-CE8F-2FED-C79D-05BF75A8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3C8F71-6239-0EF7-2F1F-623F194E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389C8A-CC73-127F-E584-94EB49A9D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7ECED-DECD-241E-4A1F-146897456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753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89C6-488D-67E9-120D-A4B7F476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83AF92-C426-8833-7921-EEB58F9C7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8945E74-468A-A72E-F2FB-EC2E4AD04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3EC7BF-B23F-8334-31C9-E17735FEC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5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FEAF2-3ECF-BF30-962A-DF384C9D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DA7AD45-F8E4-B41F-16D4-6D8E68CA3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FDBC81-AC38-2406-9AF6-2FEF78080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dirty="0"/>
              <a:t>A implicação </a:t>
            </a:r>
            <a:r>
              <a:rPr lang="pt-BR" sz="2400" b="1" dirty="0"/>
              <a:t>não afirma que P acontece</a:t>
            </a:r>
            <a:r>
              <a:rPr lang="pt-BR" sz="2400" dirty="0"/>
              <a:t>; ela apenas estabelece uma promessa:</a:t>
            </a:r>
          </a:p>
          <a:p>
            <a:r>
              <a:rPr lang="pt-BR" sz="2400" dirty="0"/>
              <a:t>"Sempre que P acontecer, Q também acontecerá.“</a:t>
            </a:r>
          </a:p>
          <a:p>
            <a:endParaRPr lang="pt-BR" sz="2400" dirty="0"/>
          </a:p>
          <a:p>
            <a:r>
              <a:rPr lang="pt-BR" sz="2400" dirty="0"/>
              <a:t>Essa promessa só é quebrada em um único caso: quando P ocorre e Q não ocorre.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r>
              <a:rPr lang="pt-BR" sz="2400" dirty="0"/>
              <a:t>"Se um aluno entregar todas as atividades, então será aprovado.“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Essa regra é violada apenas se um aluno entregar todas as atividades e, mesmo assim, não for aprovado.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 o aluno nem sequer entregou as atividades, a regra não foi contrariada; ela simplesmente não precisou ser aplicada.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A57626-C2AA-A0D5-3C1B-D4CC40D52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694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D507C-6F78-1EE8-66E8-7833DB52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CDDACD-A975-4445-817D-B8DC3177A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354B87-4594-43A4-A79E-B480A6ED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dirty="0"/>
              <a:t>É uma condição de equivalência.</a:t>
            </a:r>
          </a:p>
          <a:p>
            <a:r>
              <a:rPr lang="pt-BR" sz="2400" dirty="0"/>
              <a:t>As duas proposições devem possuir o mesmo valor lógico.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pt-BR" sz="2200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Exemplo: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P= um numero é par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200" dirty="0"/>
              <a:t>Q = um numero é divisível por 2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pt-BR" sz="2400" dirty="0"/>
              <a:t>Um número é par se, e somente se, é divisível por 2.</a:t>
            </a: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4BCCCF-2B76-191C-43CC-4FF3E895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855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7F6A-E654-F01A-CC57-5A227780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E1ACDC-C5D5-405D-308F-C86DF4107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A45426-B001-2A9E-E8E7-754D20D8C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604104-64E9-D706-A8AD-903E7FF1C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73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6375-2D0B-2ABB-D48B-9C8F2F7E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98875-F739-2FA6-9F81-40FDD442E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2 – lógica proposicional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088D88-CBAE-E40F-9998-A2394A572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1D5A329-EEFA-F49E-64A4-A357C32FD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15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BB9C-4087-947E-27DA-94FC2217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75C44D5-97DB-9777-F7B5-AD7888ADE02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5B6A33-9563-8862-9670-1AEEB83A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LÓGICA PROPOSICIONAL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F498CC5-E8B7-B831-C3D4-68C95338D9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F1F8F7-3557-A6AC-CA09-C94294A7E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103" y="2153652"/>
            <a:ext cx="9049793" cy="4238038"/>
          </a:xfrm>
        </p:spPr>
        <p:txBody>
          <a:bodyPr>
            <a:normAutofit/>
          </a:bodyPr>
          <a:lstStyle/>
          <a:p>
            <a:r>
              <a:rPr lang="pt-BR" sz="2400" dirty="0"/>
              <a:t>Se o computador toma decisões o tempo inteiro, é necessário uma matemática capaz de estudar </a:t>
            </a:r>
            <a:r>
              <a:rPr lang="pt-BR" sz="2400" b="1" dirty="0"/>
              <a:t>decisões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Essa matemática é a </a:t>
            </a:r>
            <a:r>
              <a:rPr lang="pt-BR" sz="2400" b="1" dirty="0"/>
              <a:t>lógica: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Ela não estuda números, mas sim, afirmações.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O raciocínio estruturado por meio de </a:t>
            </a:r>
            <a:r>
              <a:rPr lang="pt-BR" sz="2200" b="1" i="1" dirty="0"/>
              <a:t>proposições</a:t>
            </a:r>
            <a:r>
              <a:rPr lang="pt-BR" sz="2200" dirty="0"/>
              <a:t>, </a:t>
            </a:r>
            <a:r>
              <a:rPr lang="pt-BR" sz="2200" b="1" i="1" dirty="0"/>
              <a:t>conectivos lógicos </a:t>
            </a:r>
            <a:r>
              <a:rPr lang="pt-BR" sz="2200" dirty="0"/>
              <a:t>e </a:t>
            </a:r>
            <a:r>
              <a:rPr lang="pt-BR" sz="2200" b="1" i="1" dirty="0"/>
              <a:t>regras de inferência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614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C413-AA2E-1B24-3A2C-0E77850D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BBA91B3-2838-C992-E381-EA01CC8CAD1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2F4755-DE59-D312-EBF9-99729E62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PROPOSIÇÕES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480B6F5-A61D-DCB5-23B6-4DCB8BF03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666601-8173-DEFD-AFE2-FBA4318E1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607" y="2057400"/>
            <a:ext cx="7894093" cy="4622800"/>
          </a:xfrm>
        </p:spPr>
        <p:txBody>
          <a:bodyPr>
            <a:normAutofit/>
          </a:bodyPr>
          <a:lstStyle/>
          <a:p>
            <a:r>
              <a:rPr lang="pt-BR" sz="2400" dirty="0"/>
              <a:t>Proposição é uma frase declarativa que possui um valor lógico definido.</a:t>
            </a:r>
          </a:p>
          <a:p>
            <a:r>
              <a:rPr lang="pt-BR" sz="2400" dirty="0"/>
              <a:t>São classificada obrigatoriamente como verdadeira (V) ou falsa (F), </a:t>
            </a:r>
            <a:r>
              <a:rPr lang="pt-BR" sz="2400" i="1" dirty="0"/>
              <a:t>mas nunca os dois ao mesmo tempo.</a:t>
            </a:r>
          </a:p>
          <a:p>
            <a:endParaRPr lang="pt-BR" sz="2400" dirty="0"/>
          </a:p>
          <a:p>
            <a:r>
              <a:rPr lang="pt-BR" sz="2400" dirty="0"/>
              <a:t>Exemplos: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Sol é uma estrela” (Verdadeira).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“2 + 2 = 5” (Falsa).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gato mia” (Verdadeira).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“O fogo é frio” (Falsa).</a:t>
            </a:r>
          </a:p>
          <a:p>
            <a:pPr lvl="1"/>
            <a:endParaRPr lang="pt-BR" sz="2200" dirty="0"/>
          </a:p>
          <a:p>
            <a:pPr lvl="1"/>
            <a:endParaRPr lang="pt-BR" sz="2000" dirty="0"/>
          </a:p>
          <a:p>
            <a:endParaRPr lang="pt-BR" sz="2400" dirty="0"/>
          </a:p>
          <a:p>
            <a:pPr lvl="1"/>
            <a:endParaRPr lang="pt-BR" sz="18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09E1F0-8D73-48D0-FDD8-65381ECDC296}"/>
              </a:ext>
            </a:extLst>
          </p:cNvPr>
          <p:cNvSpPr/>
          <p:nvPr/>
        </p:nvSpPr>
        <p:spPr>
          <a:xfrm>
            <a:off x="8775700" y="3581400"/>
            <a:ext cx="3416300" cy="3276600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Sentenças interrogativas, exclamativas, imperativas ou sem definição NÃO podem ser consideradas proposições:</a:t>
            </a:r>
          </a:p>
          <a:p>
            <a:pPr algn="ctr"/>
            <a:endParaRPr lang="pt-BR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Que horas são?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Que susto!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Feche a porta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sz="2000" dirty="0"/>
              <a:t>X+3 = 10</a:t>
            </a:r>
          </a:p>
        </p:txBody>
      </p:sp>
    </p:spTree>
    <p:extLst>
      <p:ext uri="{BB962C8B-B14F-4D97-AF65-F5344CB8AC3E}">
        <p14:creationId xmlns:p14="http://schemas.microsoft.com/office/powerpoint/2010/main" val="114368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4535-BB06-A04A-75E0-F2C49ECB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875EC48-E6DC-ACF1-F910-8D679C7FC39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D77E5A-898F-0704-04E7-38A03315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PROPOSIÇÕES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EF8A6F1-90D7-1C77-B528-DB3FCAC7A2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ECB415-831D-8159-F187-7232074D0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603" y="1792705"/>
            <a:ext cx="8414793" cy="4622800"/>
          </a:xfrm>
        </p:spPr>
        <p:txBody>
          <a:bodyPr>
            <a:normAutofit/>
          </a:bodyPr>
          <a:lstStyle/>
          <a:p>
            <a:r>
              <a:rPr lang="pt-BR" sz="2400" dirty="0"/>
              <a:t>Uma proposição pode classificada em dois tipos:</a:t>
            </a:r>
            <a:endParaRPr lang="pt-BR" sz="2400" i="1" dirty="0"/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Simples (ou Atômica): </a:t>
            </a:r>
            <a:r>
              <a:rPr lang="pt-BR" sz="2200" dirty="0"/>
              <a:t>Contém apenas uma única ideia ou declaração, sem o uso de conectivos.</a:t>
            </a:r>
          </a:p>
          <a:p>
            <a:pPr marL="457200" lvl="1" indent="0">
              <a:buNone/>
            </a:pPr>
            <a:r>
              <a:rPr lang="pt-BR" dirty="0"/>
              <a:t>	</a:t>
            </a:r>
          </a:p>
          <a:p>
            <a:pPr marL="457200" lvl="1" indent="0">
              <a:buNone/>
            </a:pPr>
            <a:r>
              <a:rPr lang="pt-BR" dirty="0"/>
              <a:t>	</a:t>
            </a:r>
            <a:r>
              <a:rPr lang="pt-BR" i="1" dirty="0" err="1"/>
              <a:t>Ex</a:t>
            </a:r>
            <a:r>
              <a:rPr lang="pt-BR" i="1" dirty="0"/>
              <a:t>: "O céu é azul".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Composta (ou Molecular): </a:t>
            </a:r>
            <a:r>
              <a:rPr lang="pt-BR" sz="2200" dirty="0"/>
              <a:t>Formada pela união de duas ou mais proposições simples por meio de conectivos lógicos. </a:t>
            </a:r>
          </a:p>
          <a:p>
            <a:pPr marL="457200" lvl="1" indent="0">
              <a:buNone/>
            </a:pPr>
            <a:r>
              <a:rPr lang="pt-BR" sz="2000" dirty="0"/>
              <a:t>	</a:t>
            </a:r>
          </a:p>
          <a:p>
            <a:pPr marL="457200" lvl="1" indent="0">
              <a:buNone/>
            </a:pPr>
            <a:r>
              <a:rPr lang="pt-BR" sz="2200" dirty="0"/>
              <a:t>	</a:t>
            </a:r>
            <a:r>
              <a:rPr lang="pt-BR" sz="2200" i="1" dirty="0" err="1"/>
              <a:t>Ex</a:t>
            </a:r>
            <a:r>
              <a:rPr lang="pt-BR" sz="2200" i="1" dirty="0"/>
              <a:t>: "O céu é azul e o dia está ensolarado".</a:t>
            </a:r>
          </a:p>
          <a:p>
            <a:endParaRPr lang="pt-BR" sz="2400" dirty="0"/>
          </a:p>
          <a:p>
            <a:pPr lvl="1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50690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465A-E082-6E66-0386-6FBA0289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7095FD7-4C26-5FBA-9BDF-97FBE911B21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D32500-5C59-8090-E1E7-301565B0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CONECTIVOS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3BF2050-8F22-1B21-59D2-DC2DDC2E7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4E60D83-D136-24A0-FE4E-A17448B2F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603" y="1828800"/>
            <a:ext cx="8414793" cy="5029200"/>
          </a:xfrm>
        </p:spPr>
        <p:txBody>
          <a:bodyPr>
            <a:normAutofit/>
          </a:bodyPr>
          <a:lstStyle/>
          <a:p>
            <a:r>
              <a:rPr lang="pt-BR" sz="2400" dirty="0"/>
              <a:t>Os </a:t>
            </a:r>
            <a:r>
              <a:rPr lang="pt-BR" sz="2400" b="1" dirty="0"/>
              <a:t>conectivos lógicos</a:t>
            </a:r>
            <a:r>
              <a:rPr lang="pt-BR" sz="2400" dirty="0"/>
              <a:t> servem para construir proposições mais complexas a partir da união de proposições simples.</a:t>
            </a:r>
          </a:p>
          <a:p>
            <a:pPr lvl="1"/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Negação / NOT / </a:t>
            </a:r>
            <a:r>
              <a:rPr lang="pt-BR" sz="3600" dirty="0"/>
              <a:t>¬</a:t>
            </a:r>
            <a:endParaRPr lang="pt-BR" sz="3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Conjunção / E / AND / ∧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Disjunção inclusiva / OU / OR / ∨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Disjunção exclusiva / XOR / </a:t>
            </a:r>
            <a:r>
              <a:rPr lang="pt-BR" sz="2200" u="sng" dirty="0"/>
              <a:t>∨</a:t>
            </a:r>
            <a:r>
              <a:rPr lang="pt-BR" sz="2200" dirty="0"/>
              <a:t> / </a:t>
            </a:r>
            <a:r>
              <a:rPr lang="pt-BR" sz="2000" dirty="0"/>
              <a:t>⊕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Implicação /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 err="1"/>
              <a:t>Bicondicional</a:t>
            </a:r>
            <a:r>
              <a:rPr lang="pt-BR" sz="2200" dirty="0"/>
              <a:t>  /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</a:p>
          <a:p>
            <a:pPr lvl="1"/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Esses conectivos apresentam um valor lógico pré-definido com base nos valores das proposições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12819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F20C-2328-1E80-031B-4DA9D6CE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3F371-36A6-4144-BDB0-8616F8BA2E7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514C85-F4D8-F087-F9A9-78F7F823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CONECTIVOS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EC5F46C-728F-B3B5-B20F-2802304395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0EB62F-E458-1C96-C504-219735C0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696496"/>
            <a:ext cx="8414793" cy="462280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pt-BR" sz="2200" dirty="0"/>
              <a:t>Exemplo:</a:t>
            </a:r>
          </a:p>
          <a:p>
            <a:pPr marL="457200" lvl="1" indent="0">
              <a:buNone/>
            </a:pPr>
            <a:endParaRPr lang="pt-BR" sz="2200" dirty="0"/>
          </a:p>
          <a:p>
            <a:pPr marL="457200" lvl="1" indent="0">
              <a:buNone/>
            </a:pPr>
            <a:r>
              <a:rPr lang="pt-BR" sz="2200" dirty="0"/>
              <a:t>Proposição 1 (P) – “Hoje é sábado”</a:t>
            </a:r>
          </a:p>
          <a:p>
            <a:pPr marL="457200" lvl="1" indent="0">
              <a:buNone/>
            </a:pPr>
            <a:r>
              <a:rPr lang="pt-BR" sz="2200" dirty="0"/>
              <a:t>Proposição 2 (Q) – “Está chovendo.”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Combinação com o operador lógico ‘E’:</a:t>
            </a:r>
          </a:p>
          <a:p>
            <a:pPr marL="457200" lvl="1" indent="0">
              <a:buNone/>
            </a:pPr>
            <a:r>
              <a:rPr lang="pt-BR" sz="2200" dirty="0"/>
              <a:t>    S = P ∧ Q</a:t>
            </a:r>
          </a:p>
          <a:p>
            <a:pPr marL="457200" lvl="1" indent="0">
              <a:buNone/>
            </a:pPr>
            <a:r>
              <a:rPr lang="pt-BR" sz="2200" dirty="0"/>
              <a:t>    “Hoje é sábado E Está chovendo”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Combinação com o operador lógico ‘OU’:</a:t>
            </a:r>
          </a:p>
          <a:p>
            <a:pPr marL="457200" lvl="1" indent="0">
              <a:buNone/>
            </a:pPr>
            <a:r>
              <a:rPr lang="pt-BR" sz="2200" dirty="0"/>
              <a:t>    S = P ∨ Q</a:t>
            </a:r>
          </a:p>
          <a:p>
            <a:pPr marL="457200" lvl="1" indent="0">
              <a:buNone/>
            </a:pPr>
            <a:r>
              <a:rPr lang="pt-BR" sz="2200" dirty="0"/>
              <a:t>    “Hoje é sábado OU Está chovendo”</a:t>
            </a:r>
          </a:p>
          <a:p>
            <a:pPr marL="457200" lvl="1" indent="0">
              <a:buNone/>
            </a:pP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60CE604-36B2-DE88-08E6-9DEA68704E0D}"/>
              </a:ext>
            </a:extLst>
          </p:cNvPr>
          <p:cNvSpPr/>
          <p:nvPr/>
        </p:nvSpPr>
        <p:spPr>
          <a:xfrm>
            <a:off x="7142748" y="2676406"/>
            <a:ext cx="4307304" cy="1540706"/>
          </a:xfrm>
          <a:prstGeom prst="rect">
            <a:avLst/>
          </a:prstGeom>
          <a:solidFill>
            <a:srgbClr val="63A5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Essas proposições podem ter valor verdadeiro ou falso, com base nos valores das proposições que a compõe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EEBFCF0-A452-888A-C56B-7512E93C32D5}"/>
              </a:ext>
            </a:extLst>
          </p:cNvPr>
          <p:cNvCxnSpPr>
            <a:cxnSpLocks/>
          </p:cNvCxnSpPr>
          <p:nvPr/>
        </p:nvCxnSpPr>
        <p:spPr>
          <a:xfrm>
            <a:off x="9309100" y="4520488"/>
            <a:ext cx="0" cy="641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DF3B3BE-172C-6D5E-8AC1-A4B29E30A3E8}"/>
              </a:ext>
            </a:extLst>
          </p:cNvPr>
          <p:cNvSpPr txBox="1"/>
          <p:nvPr/>
        </p:nvSpPr>
        <p:spPr>
          <a:xfrm>
            <a:off x="8237904" y="5278734"/>
            <a:ext cx="2272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u="sng" dirty="0"/>
              <a:t>Tabelas Verdade</a:t>
            </a:r>
          </a:p>
        </p:txBody>
      </p:sp>
    </p:spTree>
    <p:extLst>
      <p:ext uri="{BB962C8B-B14F-4D97-AF65-F5344CB8AC3E}">
        <p14:creationId xmlns:p14="http://schemas.microsoft.com/office/powerpoint/2010/main" val="370804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52978-4397-2495-FB4A-93C14E8C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E5DA23D-C533-7A22-8E03-30AFF0FAEAE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7D932C-8177-6FDF-F440-090EC03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679DCB3-C40A-3123-DEA3-FC0BC32BFD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D80929-46C8-2981-881F-6DFC81B3F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Define o valor lógico da expressão para cada combinação possível dos valores de entrada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Tabela verdade da </a:t>
            </a:r>
            <a:r>
              <a:rPr lang="pt-BR" b="1" dirty="0"/>
              <a:t>Negação</a:t>
            </a:r>
            <a:r>
              <a:rPr lang="pt-BR" dirty="0"/>
              <a:t>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ACC43A5-E8FA-F881-A717-07DC79C9F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888026"/>
              </p:ext>
            </p:extLst>
          </p:nvPr>
        </p:nvGraphicFramePr>
        <p:xfrm>
          <a:off x="4006849" y="4006850"/>
          <a:ext cx="38735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50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36750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¬P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5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563F-4C26-2245-D257-91B64F13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EFCC11-2FD5-9AE9-1297-E5CD1379015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560D32-74C8-A855-7476-D468BB65D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2817CB2-9D7D-CC72-FC5A-F8F48D855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CB13348-CADE-0EF8-16F0-82445437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Conjunção (E)</a:t>
            </a:r>
            <a:r>
              <a:rPr lang="pt-BR" dirty="0"/>
              <a:t>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BC277A4-29F2-DF1D-0AF2-C61B6F064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14310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P∧Q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21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CC03-CE8F-2687-5E3B-6AD5808F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9409D6-AC95-2EFA-324A-FD29A26417C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C840E0-D60D-FF7F-DC4F-8D66B008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CC1FF9F-D49C-6E8A-BF33-5A28E4BE7B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AEAA45-4527-65F5-BCF2-0DD4B84E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Disjunção Inclusiva (OU):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BBB5EEA-267D-6636-A8B4-45F63B711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297649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P∨Q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91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5C7-56B0-3DF3-6092-634AC1C4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D32F77-52C3-4AF1-95CB-6810074EAC8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8F03D-DD37-F4B4-3381-03AF9622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F78E54-6055-3C6F-A3BB-63C795B6D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3995B0-03BC-F213-E494-E7719EF2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da </a:t>
            </a:r>
            <a:r>
              <a:rPr lang="pt-BR" b="1" dirty="0"/>
              <a:t>Disjunção Exclusiva (XOR):</a:t>
            </a:r>
          </a:p>
          <a:p>
            <a:pPr lvl="1"/>
            <a:endParaRPr lang="pt-BR" sz="2200" dirty="0"/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2C7B664-C5C6-E081-BEF1-ACA3F4964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72096"/>
              </p:ext>
            </p:extLst>
          </p:nvPr>
        </p:nvGraphicFramePr>
        <p:xfrm>
          <a:off x="3235324" y="2819400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u="sng" dirty="0"/>
                        <a:t>∨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07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999B-4B9A-8FFA-552D-8BBD1B3B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C75E06-C595-8D40-3059-30152878A1F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3CB982-71A3-2B5C-0B5E-3D521622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67205C2-2CB1-0A03-2881-7DB6AB1A32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A1BDE3-C14C-CAF8-EB15-B7240F725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do </a:t>
            </a:r>
            <a:r>
              <a:rPr lang="pt-BR" b="1" dirty="0"/>
              <a:t>Condicional (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b="1" dirty="0"/>
              <a:t>):</a:t>
            </a:r>
          </a:p>
          <a:p>
            <a:pPr lvl="1"/>
            <a:r>
              <a:rPr lang="pt-BR" dirty="0"/>
              <a:t>Lê-se: Se P, então Q.</a:t>
            </a:r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F21861E-1961-432F-E04C-F9DBF245D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16178"/>
              </p:ext>
            </p:extLst>
          </p:nvPr>
        </p:nvGraphicFramePr>
        <p:xfrm>
          <a:off x="3235324" y="3039269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→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37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AD09-FF54-ABCB-0F56-10830561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60B5B6D-48E2-EF53-65FF-003C2D02258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902790-62E2-4032-6FED-3F2A682F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065755B-E45C-5941-3C79-936D7369ED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4B16B3-2EC4-8503-DEFC-E3866A1E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3" y="1866900"/>
            <a:ext cx="8414793" cy="4622800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Tabela verdade do </a:t>
            </a:r>
            <a:r>
              <a:rPr lang="pt-BR" b="1" dirty="0" err="1"/>
              <a:t>Bicondicional</a:t>
            </a:r>
            <a:r>
              <a:rPr lang="pt-BR" b="1"/>
              <a:t> (</a:t>
            </a:r>
            <a:r>
              <a:rPr lang="pt-B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↔</a:t>
            </a:r>
            <a:r>
              <a:rPr lang="pt-BR" b="1"/>
              <a:t>):</a:t>
            </a:r>
            <a:endParaRPr lang="pt-BR" b="1" dirty="0"/>
          </a:p>
          <a:p>
            <a:pPr lvl="1"/>
            <a:r>
              <a:rPr lang="pt-BR" dirty="0"/>
              <a:t>Lê-se: P se, e somente se Q.</a:t>
            </a:r>
          </a:p>
          <a:p>
            <a:pPr marL="457200" lvl="1" indent="0">
              <a:buNone/>
            </a:pP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1389D16-EF10-DCD7-7806-15A64A650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147062"/>
              </p:ext>
            </p:extLst>
          </p:nvPr>
        </p:nvGraphicFramePr>
        <p:xfrm>
          <a:off x="3235324" y="3039269"/>
          <a:ext cx="5721351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117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907117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  <a:r>
                        <a:rPr lang="pt-BR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↔</a:t>
                      </a:r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74158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2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0D52-B12B-F1DC-DA1E-4BBBACA70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5D087C2-7253-0D50-CD5E-F4CD77EB2CD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E8B8C9-4312-9220-DB1D-F61FD076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PRECEDÊNCIA DOS CONECTIVOS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E0A2F98-F2A3-3E93-26B7-104D4A8BB8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8C2459-1F7F-3502-4461-5D7DC9CE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346" y="1839036"/>
            <a:ext cx="6327681" cy="4622800"/>
          </a:xfrm>
        </p:spPr>
        <p:txBody>
          <a:bodyPr>
            <a:normAutofit/>
          </a:bodyPr>
          <a:lstStyle/>
          <a:p>
            <a:r>
              <a:rPr lang="pt-BR" sz="2400" dirty="0"/>
              <a:t>A ordem de precedência dos operadores define quem é resolvido primeiro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Parênteses (Se houver)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Negação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Conjunção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Disjunção (OR / XOR)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Condicional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 err="1"/>
              <a:t>Bicondicional</a:t>
            </a:r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457200" lvl="1" indent="0">
              <a:buNone/>
            </a:pPr>
            <a:endParaRPr lang="pt-BR" sz="2200" dirty="0"/>
          </a:p>
        </p:txBody>
      </p:sp>
      <p:pic>
        <p:nvPicPr>
          <p:cNvPr id="2050" name="Picture 2" descr="Lógica Básica na 40ena] Lógica Proposicional — A linguagem formal | Notas  de aula">
            <a:extLst>
              <a:ext uri="{FF2B5EF4-FFF2-40B4-BE49-F238E27FC236}">
                <a16:creationId xmlns:a16="http://schemas.microsoft.com/office/drawing/2014/main" id="{1A7D922C-AF4B-627F-FF06-372D682F9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5"/>
          <a:stretch>
            <a:fillRect/>
          </a:stretch>
        </p:blipFill>
        <p:spPr bwMode="auto">
          <a:xfrm>
            <a:off x="7110662" y="3428999"/>
            <a:ext cx="5081337" cy="327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A08386E-44CA-00F5-A58B-27A9FB367A9D}"/>
              </a:ext>
            </a:extLst>
          </p:cNvPr>
          <p:cNvSpPr txBox="1"/>
          <p:nvPr/>
        </p:nvSpPr>
        <p:spPr>
          <a:xfrm>
            <a:off x="7579654" y="2735071"/>
            <a:ext cx="4132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Exemplo de expressão lógica composta </a:t>
            </a:r>
          </a:p>
          <a:p>
            <a:pPr algn="ctr"/>
            <a:r>
              <a:rPr lang="pt-BR" dirty="0"/>
              <a:t>pela associação de diferentes proposições</a:t>
            </a:r>
          </a:p>
        </p:txBody>
      </p:sp>
    </p:spTree>
    <p:extLst>
      <p:ext uri="{BB962C8B-B14F-4D97-AF65-F5344CB8AC3E}">
        <p14:creationId xmlns:p14="http://schemas.microsoft.com/office/powerpoint/2010/main" val="40633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837</Words>
  <Application>Microsoft Office PowerPoint</Application>
  <PresentationFormat>Widescreen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módulo 2 – lógica proposicional</vt:lpstr>
      <vt:lpstr>LÓGICA PROPOSICIONAL</vt:lpstr>
      <vt:lpstr>PROPOSIÇÕES</vt:lpstr>
      <vt:lpstr>PROPOSIÇÕES</vt:lpstr>
      <vt:lpstr>CONECTIVOS LÓGICOS</vt:lpstr>
      <vt:lpstr>CONECTIVOS LÓGICOS</vt:lpstr>
      <vt:lpstr>TABELA VERDADE</vt:lpstr>
      <vt:lpstr>TABELA VERDADE</vt:lpstr>
      <vt:lpstr>TABELA VERDADE</vt:lpstr>
      <vt:lpstr>TABELA VERDADE</vt:lpstr>
      <vt:lpstr>TABELA VERDADE</vt:lpstr>
      <vt:lpstr>TABELA VERDADE</vt:lpstr>
      <vt:lpstr>PRECEDÊNCIA DOS CONECTIVOS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170</cp:revision>
  <dcterms:created xsi:type="dcterms:W3CDTF">2026-07-26T12:48:37Z</dcterms:created>
  <dcterms:modified xsi:type="dcterms:W3CDTF">2026-08-22T18:28:46Z</dcterms:modified>
</cp:coreProperties>
</file>