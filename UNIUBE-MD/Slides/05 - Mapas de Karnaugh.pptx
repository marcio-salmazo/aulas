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0"/>
  </p:notesMasterIdLst>
  <p:sldIdLst>
    <p:sldId id="336" r:id="rId3"/>
    <p:sldId id="337" r:id="rId4"/>
    <p:sldId id="338" r:id="rId5"/>
    <p:sldId id="339" r:id="rId6"/>
    <p:sldId id="341" r:id="rId7"/>
    <p:sldId id="340" r:id="rId8"/>
    <p:sldId id="342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A537"/>
    <a:srgbClr val="FFFFFF"/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9" autoAdjust="0"/>
    <p:restoredTop sz="77515" autoAdjust="0"/>
  </p:normalViewPr>
  <p:slideViewPr>
    <p:cSldViewPr snapToGrid="0">
      <p:cViewPr varScale="1">
        <p:scale>
          <a:sx n="88" d="100"/>
          <a:sy n="88" d="100"/>
        </p:scale>
        <p:origin x="1416" y="84"/>
      </p:cViewPr>
      <p:guideLst/>
    </p:cSldViewPr>
  </p:slideViewPr>
  <p:outlineViewPr>
    <p:cViewPr>
      <p:scale>
        <a:sx n="33" d="100"/>
        <a:sy n="33" d="100"/>
      </p:scale>
      <p:origin x="0" y="-171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BF4F0-8AFD-3053-7D1F-4CD57281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4152620-466D-2EDD-9767-03F829587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96CCFEA-DA45-C9A2-0556-B9E7E4AB8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39162D-B1B1-5317-5DE4-907C45386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554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74722-A35B-E998-54E4-CB81CA7E6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97A6050-CD4A-D551-5FB0-DF1927BCE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DFA74C-F51F-F5F4-55D9-8EFDE21C0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97C963-33A2-15C2-F4B4-C90A66889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4348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C3E6D-254B-261D-4E37-F025B28D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0F3D6F-4A9D-D610-1A4B-E3F42AAA4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2BF038D-647A-0CD9-30EE-062CF81E9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39DC4D-BCCC-0330-767E-C48A25B2E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5065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8DC6-901D-9A6D-7C21-EAB600A23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09398FA-F838-F2E3-2892-ADB104FC2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D95C347-E324-7F8A-122E-B88D5FACC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234F51-CDC9-D0CB-80E9-A2C430466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721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1DF12-7AD2-0F6B-D068-F7403430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E910880-2571-0D7E-C9BE-66F81E3FD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AC1002B-AA20-E495-BC6C-1167E2FE1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71EA3B-2342-6F18-C3A9-63BDC3BA6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7675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966D3-A1AA-D341-F777-6D4E1A50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00FDA3-4AF2-13FF-E750-8C6524F97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7E560BC-403D-497D-20F8-739BBE79D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FDCDEA-DB55-E0D2-80EB-6CABD7EFE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3004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CBEEA-AF05-B849-9DF0-99A210B1D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1A1C3E-0FB6-9AEC-E029-B195CB9D8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1A26D5D-6542-78C2-F545-B3592C232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37E466-97BE-B87A-9B31-ED4136AB8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052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D4808-FAC2-5E6B-6EAA-D0BE8DD3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6418A5-5376-7BBF-9F35-806702DDB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módulo 6 </a:t>
            </a:r>
            <a:r>
              <a:rPr lang="pt-BR" dirty="0">
                <a:solidFill>
                  <a:schemeClr val="bg1"/>
                </a:solidFill>
              </a:rPr>
              <a:t>– Argumentos e inferência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839367-DBBC-0929-46C0-38B5C30CF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9792D5E-A143-C9FA-F3E6-E36706863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628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86C0B-3819-7E72-25A2-90A827536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9333410-68F3-ED49-AF26-E642CBF1A45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91E590-08C9-E152-C803-4903EAB2C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INFERÊNCIA LÓGICA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777E57-674A-1D72-B62D-0951C2507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797" y="2271104"/>
            <a:ext cx="9298406" cy="3258839"/>
          </a:xfrm>
        </p:spPr>
        <p:txBody>
          <a:bodyPr>
            <a:normAutofit/>
          </a:bodyPr>
          <a:lstStyle/>
          <a:p>
            <a:r>
              <a:rPr lang="pt-BR" sz="2400" dirty="0"/>
              <a:t>Aqui a lógica deixa de ser apenas "calcular o valor de uma expressão" e passa a responder à seguinte pergunta:</a:t>
            </a:r>
          </a:p>
          <a:p>
            <a:pPr lvl="1"/>
            <a:endParaRPr lang="pt-BR" sz="2200" dirty="0"/>
          </a:p>
          <a:p>
            <a:pPr lvl="1"/>
            <a:r>
              <a:rPr lang="pt-BR" sz="2200" i="1" dirty="0"/>
              <a:t>A partir de algumas afirmações que sabemos serem verdadeiras, podemos concluir que outra afirmação também é verdadeira?</a:t>
            </a:r>
          </a:p>
          <a:p>
            <a:pPr lvl="1"/>
            <a:endParaRPr lang="pt-BR" sz="2200" i="1" dirty="0"/>
          </a:p>
          <a:p>
            <a:r>
              <a:rPr lang="pt-BR" sz="2400" dirty="0"/>
              <a:t>Com isso, a inferência lógica consiste no processo de </a:t>
            </a:r>
            <a:r>
              <a:rPr lang="pt-BR" sz="2400" b="1" dirty="0"/>
              <a:t>obter uma conclusão a partir de informações previamente conhecidas</a:t>
            </a:r>
            <a:r>
              <a:rPr lang="pt-BR" sz="2400" dirty="0"/>
              <a:t>.</a:t>
            </a:r>
          </a:p>
          <a:p>
            <a:pPr lvl="1" algn="just"/>
            <a:endParaRPr lang="pt-BR" sz="2000" dirty="0"/>
          </a:p>
          <a:p>
            <a:pPr marL="0" indent="0" algn="just">
              <a:buNone/>
            </a:pPr>
            <a:endParaRPr lang="pt-BR" sz="2400" dirty="0">
              <a:latin typeface="Cambria Math" panose="02040503050406030204" pitchFamily="18" charset="0"/>
            </a:endParaRPr>
          </a:p>
          <a:p>
            <a:pPr marL="457200" lvl="1" indent="0" algn="just">
              <a:buNone/>
            </a:pPr>
            <a:endParaRPr lang="pt-BR" b="1" dirty="0"/>
          </a:p>
          <a:p>
            <a:pPr marL="457200" lvl="1" indent="0" algn="just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180920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8CD13-1C29-E7A2-D293-4072DA8BA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423B9B0-4AFC-21AB-B19C-E39BA7D08CA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3144840-C46E-CE0C-8247-D71295A85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INFERÊNCIA LÓGICA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96114B-E89B-0C00-0340-EAE46B390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797" y="1905000"/>
            <a:ext cx="9298406" cy="4332514"/>
          </a:xfrm>
        </p:spPr>
        <p:txBody>
          <a:bodyPr>
            <a:normAutofit/>
          </a:bodyPr>
          <a:lstStyle/>
          <a:p>
            <a:r>
              <a:rPr lang="pt-BR" sz="2400" dirty="0"/>
              <a:t>Exemplo:</a:t>
            </a:r>
          </a:p>
          <a:p>
            <a:endParaRPr lang="pt-BR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P – Está chovendo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Q </a:t>
            </a:r>
            <a:r>
              <a:rPr lang="pt-BR" sz="2000" dirty="0">
                <a:sym typeface="Wingdings" panose="05000000000000000000" pitchFamily="2" charset="2"/>
              </a:rPr>
              <a:t>– A rua está molhada</a:t>
            </a:r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Sentença: </a:t>
            </a:r>
            <a:r>
              <a:rPr lang="pt-BR" sz="2000" i="1" dirty="0"/>
              <a:t>“Se está chovendo, então a rua está molhada”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000" i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u="sng" dirty="0"/>
              <a:t>Considerando que temos o valor de P como verdadeiro, podemos </a:t>
            </a:r>
            <a:r>
              <a:rPr lang="pt-BR" sz="2000" b="1" u="sng" dirty="0"/>
              <a:t>inferir</a:t>
            </a:r>
            <a:r>
              <a:rPr lang="pt-BR" sz="2000" u="sng" dirty="0"/>
              <a:t> que Q também seja, uma vez que a rua fica molhada ao chover.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000" dirty="0"/>
          </a:p>
          <a:p>
            <a:r>
              <a:rPr lang="pt-BR" sz="2400" dirty="0"/>
              <a:t>O processo de passar das premissas para a conclusão é uma inferência.</a:t>
            </a:r>
          </a:p>
          <a:p>
            <a:pPr>
              <a:buFont typeface="Courier New" panose="02070309020205020404" pitchFamily="49" charset="0"/>
              <a:buChar char="o"/>
            </a:pPr>
            <a:endParaRPr lang="pt-BR" sz="2400" dirty="0"/>
          </a:p>
          <a:p>
            <a:pPr lvl="1" algn="just"/>
            <a:endParaRPr lang="pt-BR" sz="2000" dirty="0"/>
          </a:p>
          <a:p>
            <a:pPr marL="0" indent="0" algn="just">
              <a:buNone/>
            </a:pPr>
            <a:endParaRPr lang="pt-BR" sz="2400" dirty="0">
              <a:latin typeface="Cambria Math" panose="02040503050406030204" pitchFamily="18" charset="0"/>
            </a:endParaRPr>
          </a:p>
          <a:p>
            <a:pPr marL="457200" lvl="1" indent="0" algn="just">
              <a:buNone/>
            </a:pPr>
            <a:endParaRPr lang="pt-BR" b="1" dirty="0"/>
          </a:p>
          <a:p>
            <a:pPr marL="457200" lvl="1" indent="0" algn="just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16638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A2853-CCFF-867B-2C3B-A5BAE50B3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FA4B944-6ACB-9D17-4C86-CFFC7D9D0FD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F5860D-ED85-4A88-8FF7-170336966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ARGUMENTOS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E457CC3-F807-2824-5755-FC89E2A85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742" y="2008413"/>
            <a:ext cx="7305317" cy="4332514"/>
          </a:xfrm>
        </p:spPr>
        <p:txBody>
          <a:bodyPr>
            <a:normAutofit/>
          </a:bodyPr>
          <a:lstStyle/>
          <a:p>
            <a:r>
              <a:rPr lang="pt-BR" sz="2400" dirty="0"/>
              <a:t>Em Lógica Proposicional, um argumento é uma estrutura formada por: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Premissas</a:t>
            </a:r>
            <a:r>
              <a:rPr lang="pt-BR" sz="2200" dirty="0"/>
              <a:t> – informações que são consideradas verdadeiras para formular o raciocínio.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Conclusão</a:t>
            </a:r>
            <a:r>
              <a:rPr lang="pt-BR" sz="2200" dirty="0"/>
              <a:t> – Aquilo que se deseja determinar a partir das premissas.</a:t>
            </a:r>
          </a:p>
          <a:p>
            <a:pPr lvl="1" algn="just"/>
            <a:endParaRPr lang="pt-BR" sz="2000" dirty="0"/>
          </a:p>
          <a:p>
            <a:r>
              <a:rPr lang="pt-BR" sz="2400" dirty="0"/>
              <a:t>Os argumentos podem ser classificados como </a:t>
            </a:r>
            <a:r>
              <a:rPr lang="pt-BR" sz="2400" i="1" dirty="0"/>
              <a:t>dedutivos</a:t>
            </a:r>
            <a:r>
              <a:rPr lang="pt-BR" sz="2400" dirty="0"/>
              <a:t>, </a:t>
            </a:r>
            <a:r>
              <a:rPr lang="pt-BR" sz="2400" i="1" dirty="0"/>
              <a:t>indutivos</a:t>
            </a:r>
            <a:r>
              <a:rPr lang="pt-BR" sz="2400" dirty="0"/>
              <a:t> ou </a:t>
            </a:r>
            <a:r>
              <a:rPr lang="pt-BR" sz="2400" i="1" dirty="0"/>
              <a:t>abdutivos.</a:t>
            </a:r>
          </a:p>
          <a:p>
            <a:pPr marL="457200" lvl="1" indent="0" algn="just">
              <a:buNone/>
            </a:pPr>
            <a:endParaRPr lang="pt-BR" b="1" dirty="0"/>
          </a:p>
          <a:p>
            <a:pPr marL="457200" lvl="1" indent="0" algn="just">
              <a:buNone/>
            </a:pPr>
            <a:endParaRPr lang="pt-BR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AB1F5E3-3B7C-0C2B-0695-EEC6B8BCAC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428"/>
          <a:stretch>
            <a:fillRect/>
          </a:stretch>
        </p:blipFill>
        <p:spPr>
          <a:xfrm>
            <a:off x="8352059" y="2100941"/>
            <a:ext cx="3233390" cy="414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20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4582-A13E-E5B8-9A45-0F353D96A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7AA6B08-6CAA-9907-79FB-8811E5171A2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D2EC32-6A4D-5770-9980-56DBB194A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ARGUMENTOS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833D894C-97AB-B8B5-2776-C2EB786D72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02370" y="1589314"/>
                <a:ext cx="5209316" cy="5268685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Estrutura dos argumentos:</a:t>
                </a:r>
                <a:endParaRPr lang="pt-BR" sz="2400" i="1" dirty="0"/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∴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𝑃𝑟𝑒𝑚𝑖𝑠𝑠𝑎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𝑃𝑟𝑒𝑚𝑖𝑠𝑠𝑎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𝑃𝑟𝑒𝑚𝑖𝑠𝑠𝑎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1</m:t>
                      </m:r>
                    </m:oMath>
                  </m:oMathPara>
                </a14:m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b="1" dirty="0"/>
              </a:p>
              <a:p>
                <a:pPr marL="457200" lvl="1" indent="0" algn="just">
                  <a:buNone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𝐶𝑜𝑛𝑐𝑙𝑢𝑠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algn="just"/>
                <a:r>
                  <a:rPr lang="pt-BR" sz="2400" b="0" i="0" dirty="0"/>
                  <a:t>Exemplo: 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endParaRPr lang="pt-BR" sz="2000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Se está chovendo, a rua está molhada.</a:t>
                </a:r>
                <a:endParaRPr lang="pt-BR" sz="2000" i="1" dirty="0"/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000" i="0" dirty="0"/>
                  <a:t>"Está chovendo”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Portanto, a rua está molhada.</a:t>
                </a:r>
              </a:p>
              <a:p>
                <a:pPr lvl="1" algn="just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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𝑄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;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∴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833D894C-97AB-B8B5-2776-C2EB786D72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02370" y="1589314"/>
                <a:ext cx="5209316" cy="5268685"/>
              </a:xfrm>
              <a:blipFill>
                <a:blip r:embed="rId3"/>
                <a:stretch>
                  <a:fillRect l="-1520" t="-16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04BB498E-761E-D952-2892-6C3900087708}"/>
              </a:ext>
            </a:extLst>
          </p:cNvPr>
          <p:cNvCxnSpPr/>
          <p:nvPr/>
        </p:nvCxnSpPr>
        <p:spPr>
          <a:xfrm>
            <a:off x="4702629" y="2394857"/>
            <a:ext cx="0" cy="19594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7F4585DA-4DF1-3A6F-7E98-7EEDE00250EE}"/>
              </a:ext>
            </a:extLst>
          </p:cNvPr>
          <p:cNvSpPr/>
          <p:nvPr/>
        </p:nvSpPr>
        <p:spPr>
          <a:xfrm>
            <a:off x="7075714" y="2797629"/>
            <a:ext cx="4229602" cy="23404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/>
              <a:t>Obs</a:t>
            </a:r>
            <a:r>
              <a:rPr lang="pt-BR" b="1" i="1" dirty="0"/>
              <a:t>: </a:t>
            </a:r>
            <a:r>
              <a:rPr lang="pt-BR" dirty="0"/>
              <a:t>Para que um argumento seja formado, é necessário estabelecer uma relação entre as premissas e a conclusão.</a:t>
            </a:r>
          </a:p>
          <a:p>
            <a:pPr algn="ctr"/>
            <a:endParaRPr lang="pt-BR" dirty="0"/>
          </a:p>
          <a:p>
            <a:pPr algn="ctr"/>
            <a:r>
              <a:rPr lang="pt-BR" b="1" i="1" u="sng" dirty="0"/>
              <a:t>Deve haver existe uma relação de inferência entre as premissas. </a:t>
            </a:r>
          </a:p>
        </p:txBody>
      </p:sp>
    </p:spTree>
    <p:extLst>
      <p:ext uri="{BB962C8B-B14F-4D97-AF65-F5344CB8AC3E}">
        <p14:creationId xmlns:p14="http://schemas.microsoft.com/office/powerpoint/2010/main" val="4261390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8B845-B48F-BA7E-EEA6-1DF2154D1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FB4F930-D30E-DA49-EC33-6806C160D3A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412323-650B-98EF-3CDF-E92C15F71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ARGUMENTOS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18D7AE8-70CC-D0E0-1358-B17E545D0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055" y="2394856"/>
            <a:ext cx="9905144" cy="4060371"/>
          </a:xfrm>
        </p:spPr>
        <p:txBody>
          <a:bodyPr>
            <a:normAutofit/>
          </a:bodyPr>
          <a:lstStyle/>
          <a:p>
            <a:r>
              <a:rPr lang="pt-BR" sz="2400" b="1" dirty="0"/>
              <a:t>Argumentos dedutivos: </a:t>
            </a:r>
            <a:r>
              <a:rPr lang="pt-BR" sz="2400" dirty="0"/>
              <a:t>Parte de premissas gerais para garantir uma conclusão precisa.</a:t>
            </a:r>
          </a:p>
          <a:p>
            <a:pPr marL="457200" lvl="1" indent="0">
              <a:buNone/>
            </a:pPr>
            <a:endParaRPr lang="pt-BR" sz="2400" b="1" i="1" dirty="0"/>
          </a:p>
          <a:p>
            <a:r>
              <a:rPr lang="pt-BR" sz="2400" b="1" dirty="0"/>
              <a:t>Argumentos indutivos: </a:t>
            </a:r>
            <a:r>
              <a:rPr lang="pt-BR" sz="2400" dirty="0"/>
              <a:t>Parte de informações locais e observações repetidas para gerar uma conclusão geral – (A conclusão é apenas provável).</a:t>
            </a:r>
          </a:p>
          <a:p>
            <a:pPr marL="457200" lvl="1" indent="0">
              <a:buNone/>
            </a:pPr>
            <a:endParaRPr lang="pt-BR" sz="2000" b="1" i="1" dirty="0"/>
          </a:p>
          <a:p>
            <a:r>
              <a:rPr lang="pt-BR" sz="2400" b="1" dirty="0"/>
              <a:t>Argumentos abdutivos: </a:t>
            </a:r>
            <a:r>
              <a:rPr lang="pt-BR" sz="2400" dirty="0"/>
              <a:t>Busca a hipótese ou explicação mais plausível para um fato observado.</a:t>
            </a:r>
          </a:p>
          <a:p>
            <a:pPr marL="457200" lvl="1" indent="0" algn="just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591595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0570E-2124-EB59-914B-116F0681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90039CF-C3E6-7FF8-52D8-4E058FD36FF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ACAB72-3C81-38FA-B5F9-A3CA1A8A9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ARGUMENTOS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3B56A2E-2B8E-4ED6-5C70-01B8C3C46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28" y="2079171"/>
            <a:ext cx="8860543" cy="4060371"/>
          </a:xfrm>
        </p:spPr>
        <p:txBody>
          <a:bodyPr>
            <a:normAutofit/>
          </a:bodyPr>
          <a:lstStyle/>
          <a:p>
            <a:r>
              <a:rPr lang="pt-BR" sz="2400" b="1" dirty="0"/>
              <a:t>Exemplos: </a:t>
            </a:r>
          </a:p>
          <a:p>
            <a:endParaRPr lang="pt-BR" sz="2400" b="1" dirty="0"/>
          </a:p>
          <a:p>
            <a:pPr lvl="1"/>
            <a:r>
              <a:rPr lang="pt-BR" sz="2200" b="1" dirty="0"/>
              <a:t>Argumento Dedutivo: </a:t>
            </a:r>
            <a:r>
              <a:rPr lang="pt-BR" sz="2200" i="1" dirty="0"/>
              <a:t>“Todo homem é mortal;  Sócrates é homem. Logo, Sócrates é mortal”</a:t>
            </a:r>
            <a:r>
              <a:rPr lang="pt-BR" sz="2200" dirty="0"/>
              <a:t>.</a:t>
            </a:r>
          </a:p>
          <a:p>
            <a:pPr lvl="1"/>
            <a:endParaRPr lang="pt-BR" sz="2200" dirty="0"/>
          </a:p>
          <a:p>
            <a:pPr lvl="1"/>
            <a:r>
              <a:rPr lang="pt-BR" sz="2200" b="1" dirty="0"/>
              <a:t>Argumento Indutivo: </a:t>
            </a:r>
            <a:r>
              <a:rPr lang="pt-BR" sz="2200" i="1" dirty="0"/>
              <a:t>“O corvo 1 é preto; O corvo 2 é preto. Logo, todos os corvos são pretos.”</a:t>
            </a:r>
          </a:p>
          <a:p>
            <a:pPr lvl="1"/>
            <a:endParaRPr lang="pt-BR" sz="2200" dirty="0"/>
          </a:p>
          <a:p>
            <a:pPr lvl="1"/>
            <a:r>
              <a:rPr lang="pt-BR" sz="2200" b="1" dirty="0"/>
              <a:t>Argumento Abdutivo: </a:t>
            </a:r>
            <a:r>
              <a:rPr lang="pt-BR" sz="2200" dirty="0"/>
              <a:t>A grama está molhada. Logo, deve ter chovido.</a:t>
            </a:r>
          </a:p>
        </p:txBody>
      </p:sp>
    </p:spTree>
    <p:extLst>
      <p:ext uri="{BB962C8B-B14F-4D97-AF65-F5344CB8AC3E}">
        <p14:creationId xmlns:p14="http://schemas.microsoft.com/office/powerpoint/2010/main" val="5951786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2014</TotalTime>
  <Words>388</Words>
  <Application>Microsoft Office PowerPoint</Application>
  <PresentationFormat>Widescreen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Courier New</vt:lpstr>
      <vt:lpstr>Gill Sans MT</vt:lpstr>
      <vt:lpstr>Wingdings</vt:lpstr>
      <vt:lpstr>Tema do Office</vt:lpstr>
      <vt:lpstr>Pacote</vt:lpstr>
      <vt:lpstr>módulo 6 – Argumentos e inferência</vt:lpstr>
      <vt:lpstr>INFERÊNCIA LÓGICA</vt:lpstr>
      <vt:lpstr>INFERÊNCIA LÓGICA</vt:lpstr>
      <vt:lpstr>ARGUMENTOS</vt:lpstr>
      <vt:lpstr>ARGUMENTOS</vt:lpstr>
      <vt:lpstr>ARGUMENTOS</vt:lpstr>
      <vt:lpstr>ARGUMENTOS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169</cp:revision>
  <dcterms:created xsi:type="dcterms:W3CDTF">2026-07-26T12:48:37Z</dcterms:created>
  <dcterms:modified xsi:type="dcterms:W3CDTF">2026-08-22T19:08:12Z</dcterms:modified>
</cp:coreProperties>
</file>