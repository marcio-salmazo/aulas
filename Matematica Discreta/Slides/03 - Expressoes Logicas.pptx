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13"/>
  </p:notesMasterIdLst>
  <p:sldIdLst>
    <p:sldId id="256" r:id="rId3"/>
    <p:sldId id="306" r:id="rId4"/>
    <p:sldId id="308" r:id="rId5"/>
    <p:sldId id="309" r:id="rId6"/>
    <p:sldId id="310" r:id="rId7"/>
    <p:sldId id="311" r:id="rId8"/>
    <p:sldId id="313" r:id="rId9"/>
    <p:sldId id="312" r:id="rId10"/>
    <p:sldId id="317" r:id="rId11"/>
    <p:sldId id="320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A537"/>
    <a:srgbClr val="FFFFFF"/>
    <a:srgbClr val="C0504D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9" autoAdjust="0"/>
    <p:restoredTop sz="77515" autoAdjust="0"/>
  </p:normalViewPr>
  <p:slideViewPr>
    <p:cSldViewPr snapToGrid="0">
      <p:cViewPr varScale="1">
        <p:scale>
          <a:sx n="69" d="100"/>
          <a:sy n="69" d="100"/>
        </p:scale>
        <p:origin x="468" y="60"/>
      </p:cViewPr>
      <p:guideLst/>
    </p:cSldViewPr>
  </p:slideViewPr>
  <p:outlineViewPr>
    <p:cViewPr>
      <p:scale>
        <a:sx n="33" d="100"/>
        <a:sy n="33" d="100"/>
      </p:scale>
      <p:origin x="0" y="-171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2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096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EEA06-D7D3-2A37-D4B9-FC5099439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6EE6932-7B21-A622-976B-7C4D6C359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910B38A-A221-735E-1AEF-D83DF67AF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026508-E9C8-DB28-986D-FA0A6165B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30881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E8F75-2814-DF8B-D3B9-1C8805DF4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8912B00-F0DD-A1FA-2C70-F54FD99F2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2F3C3C1-02C6-C482-B184-763FB135C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40D869-3F24-7F05-D6F1-DFFAA807B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5189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70E62-7F42-9431-2647-9224CDD6F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B2B3AE1-722D-ADDF-B70A-6D9210F3F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EB23A11-B425-639A-D005-46B2EA67B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AE84DC-54BE-7616-55FE-0C5AD79B43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3326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9EA51-67A1-727A-3615-971BBF97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F5B1E26-633B-8F31-CE5F-A8C9AC25A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0993FAB-7A7E-E1F6-8DB5-DCB9AED0B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69E455-3354-0E49-825E-275CA1DDB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7966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DA5DD-E71E-5910-FB1D-FB1F91B33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68F6069-1171-7936-BD76-74440C59A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474C979-8DAD-23C9-802E-04189F94A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Pegue todas as linhas cujo resultado é verdadeiro.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Cada linha gera um termo.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Depois una todos usando </a:t>
            </a:r>
            <a:r>
              <a:rPr lang="pt-BR" sz="1200" b="1" dirty="0"/>
              <a:t>OU</a:t>
            </a:r>
            <a:r>
              <a:rPr lang="pt-BR" sz="1200" dirty="0"/>
              <a:t>.</a:t>
            </a:r>
          </a:p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70EFB3-E54D-3205-32B2-25118CC27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1455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F65F9-843E-9719-F64E-739ED3D1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8AE87A8-D9E0-15EE-41B8-88195C933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3DB3AC8-B71A-133D-EEB6-1D8BECE74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Pegue todas as linhas cujo resultado é falso.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Cada linha gera um termo.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dirty="0"/>
              <a:t>Depois una todos usando </a:t>
            </a:r>
            <a:r>
              <a:rPr lang="pt-BR" sz="1200" b="1" dirty="0"/>
              <a:t>E</a:t>
            </a:r>
            <a:r>
              <a:rPr lang="pt-BR" sz="1200" dirty="0"/>
              <a:t>.</a:t>
            </a:r>
          </a:p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9A1C47-98C4-6BDF-E156-3B50F837F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3124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251DA-BE58-9419-0FEC-6F10CD80C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35EBE74-0261-E664-F7F1-C492691B4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AE7082C-CAA4-3A7C-B41D-A57D9C3B7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As expressões montadas a partir das tabelas-verdades vão servir para modelar e simplificar o sistema a ser modelado (principalmente no contexto eletrônico da álgebra booleana), por isso, é importante a padronização do sistema nas formas normais.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3E4F2C-DE4F-4588-23CE-CFB91ADFD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12314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81342-E866-2613-57B2-4FFC165D1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26E5998-F90D-EF08-EB76-D7F18B7B9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E028F7-C83B-E31E-B8EC-BCB25DA9C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94BB6F-66E3-671F-FF9D-8328F559B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93957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10CF7-AA35-FAFC-50E2-5A8C3770E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8EF460A-EDF7-0D25-E67C-0CAA74B51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84467EC-37E1-F106-C925-B5E296707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47BEFB-7CDD-1C85-2CE4-0910AFE5A8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567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9326E-3499-D287-DA5A-8AED2AD3A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módulo 3 – expressões lógicas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2C7C20-5716-4992-8451-F28A3F0EB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39C2285-BBDC-FB8D-BB73-A95AC19BC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462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16BFC-85F8-947C-7493-38CAF4032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39AE28E-58D7-54D0-2032-57FD5BDADAE9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C084CA-93AB-DCFE-0804-685889668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CONSTRUÇÃO DA TABELA VERDADE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14652F3-4597-A18E-5AA1-7312B69970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D65B10E-3611-2D96-1AE3-A37672AE6C6B}"/>
              </a:ext>
            </a:extLst>
          </p:cNvPr>
          <p:cNvSpPr txBox="1"/>
          <p:nvPr/>
        </p:nvSpPr>
        <p:spPr>
          <a:xfrm>
            <a:off x="3286803" y="1481991"/>
            <a:ext cx="61574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dirty="0"/>
              <a:t>Construção da tabela verdade para a expressão:</a:t>
            </a:r>
          </a:p>
          <a:p>
            <a:pPr algn="ctr"/>
            <a:r>
              <a:rPr lang="pt-BR" sz="2400" b="1" dirty="0"/>
              <a:t>(P → Q) ∨ (P ∧ R)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67BB230-B3A3-C52F-4BE8-9CF6E646FD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07" t="18597" r="13810" b="40876"/>
          <a:stretch>
            <a:fillRect/>
          </a:stretch>
        </p:blipFill>
        <p:spPr>
          <a:xfrm>
            <a:off x="4473151" y="2521219"/>
            <a:ext cx="3784758" cy="2023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701C3797-3855-ED29-5AB7-4852596A0E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491"/>
          <a:stretch>
            <a:fillRect/>
          </a:stretch>
        </p:blipFill>
        <p:spPr>
          <a:xfrm>
            <a:off x="3286803" y="4753244"/>
            <a:ext cx="6773026" cy="202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767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091C3-4F81-E9C1-F50D-CE37013F3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5FFA12A-3D3A-FAB4-B5B3-1349C012332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EE3BC0-3F59-838D-1AB4-10F150ED8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CLASSIFICAÇÃO DE EXPRESSÕES LÓGICAS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C0C4185-DDEA-8C72-9143-7CD01B112C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5251ECE-2E7C-8367-308E-3281C5AEC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651" y="1822325"/>
            <a:ext cx="8912697" cy="4622800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Dependendo dos resultados de uma tabela verdade, a expressão pode ser classificada em três categorias:</a:t>
            </a:r>
          </a:p>
          <a:p>
            <a:pPr algn="just"/>
            <a:endParaRPr lang="pt-BR" sz="2200" dirty="0"/>
          </a:p>
          <a:p>
            <a:pPr marL="914400" lvl="1" indent="-457200">
              <a:buFont typeface="+mj-lt"/>
              <a:buAutoNum type="arabicPeriod"/>
            </a:pPr>
            <a:r>
              <a:rPr lang="pt-BR" sz="2200" b="1" dirty="0"/>
              <a:t>Tautologia: </a:t>
            </a:r>
            <a:r>
              <a:rPr lang="pt-BR" sz="2200" dirty="0"/>
              <a:t>ocorre quando o resultado de uma proposição é sempre verdadeiro, não importando quais sejam os valores de P e Q.</a:t>
            </a:r>
          </a:p>
          <a:p>
            <a:pPr marL="914400" lvl="1" indent="-457200">
              <a:buFont typeface="+mj-lt"/>
              <a:buAutoNum type="arabicPeriod"/>
            </a:pPr>
            <a:endParaRPr lang="pt-BR" sz="2200" dirty="0"/>
          </a:p>
          <a:p>
            <a:pPr marL="457200" lvl="1" indent="0">
              <a:buNone/>
            </a:pPr>
            <a:r>
              <a:rPr lang="pt-BR" sz="2200" i="1" dirty="0"/>
              <a:t>	Exemplo: </a:t>
            </a:r>
            <a:r>
              <a:rPr lang="pt-BR" sz="2000" i="1" dirty="0"/>
              <a:t>P ∨</a:t>
            </a:r>
            <a:r>
              <a:rPr lang="pt-BR" i="1" dirty="0"/>
              <a:t> ¬</a:t>
            </a:r>
            <a:r>
              <a:rPr lang="pt-BR" sz="2000" i="1" dirty="0"/>
              <a:t>P </a:t>
            </a:r>
          </a:p>
          <a:p>
            <a:pPr marL="457200" lvl="1" indent="0">
              <a:buNone/>
            </a:pPr>
            <a:r>
              <a:rPr lang="pt-BR" sz="2000" dirty="0"/>
              <a:t>	</a:t>
            </a:r>
            <a:r>
              <a:rPr lang="pt-BR" dirty="0"/>
              <a:t>A expressão é sempre verdadeira, podendo ser simplificada .</a:t>
            </a:r>
          </a:p>
          <a:p>
            <a:pPr marL="457200" lvl="1" indent="0">
              <a:buNone/>
            </a:pPr>
            <a:endParaRPr lang="pt-BR" sz="2000" dirty="0"/>
          </a:p>
          <a:p>
            <a:pPr marL="457200" lvl="1" indent="0">
              <a:buNone/>
            </a:pPr>
            <a:r>
              <a:rPr lang="pt-BR" sz="2000" dirty="0"/>
              <a:t>	</a:t>
            </a:r>
            <a:endParaRPr lang="pt-BR" sz="2200" dirty="0"/>
          </a:p>
          <a:p>
            <a:pPr marL="914400" lvl="2" indent="0">
              <a:buNone/>
            </a:pPr>
            <a:r>
              <a:rPr lang="pt-BR" sz="2200" dirty="0"/>
              <a:t>	</a:t>
            </a:r>
            <a:r>
              <a:rPr lang="pt-BR" sz="16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063576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18120-747C-3765-FEAB-886F5F8D4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C5F6AB2-5744-B8DE-034D-2151A85E4C8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D76049-7086-6481-6997-05835EA59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CLASSIFICAÇÃO DE EXPRESSÕES LÓGICAS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2FFA2C7-0613-FF59-BD3F-4171035C2F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7D16953-5232-204A-8E2A-A4751FCDF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835" y="1619793"/>
            <a:ext cx="8784330" cy="498086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pt-BR" sz="2400" b="1" dirty="0"/>
              <a:t>Contradições: </a:t>
            </a:r>
            <a:r>
              <a:rPr lang="pt-BR" sz="2400" dirty="0"/>
              <a:t>ocorre quando o resultado de uma proposição é sempre falso, não importando quais sejam os valores de P e Q.</a:t>
            </a:r>
          </a:p>
          <a:p>
            <a:pPr marL="914400" lvl="1" indent="-457200">
              <a:buFont typeface="+mj-lt"/>
              <a:buAutoNum type="arabicPeriod" startAt="2"/>
            </a:pPr>
            <a:endParaRPr lang="pt-BR" sz="2200" dirty="0"/>
          </a:p>
          <a:p>
            <a:pPr lvl="1"/>
            <a:r>
              <a:rPr lang="pt-BR" sz="2200" i="1" dirty="0"/>
              <a:t>Exemplo: P ∧ ¬P </a:t>
            </a:r>
          </a:p>
          <a:p>
            <a:pPr lvl="1"/>
            <a:r>
              <a:rPr lang="pt-BR" sz="2200" dirty="0"/>
              <a:t>A expressão é sempre falsa, podendo ser simplificada </a:t>
            </a:r>
          </a:p>
          <a:p>
            <a:pPr marL="457200" lvl="1" indent="0">
              <a:buNone/>
            </a:pPr>
            <a:endParaRPr lang="pt-BR" sz="2000" dirty="0"/>
          </a:p>
          <a:p>
            <a:pPr marL="457200" indent="-457200">
              <a:buFont typeface="+mj-lt"/>
              <a:buAutoNum type="arabicPeriod" startAt="2"/>
            </a:pPr>
            <a:r>
              <a:rPr lang="pt-BR" sz="2400" b="1" dirty="0"/>
              <a:t>Contingências: </a:t>
            </a:r>
            <a:r>
              <a:rPr lang="pt-BR" sz="2400" dirty="0"/>
              <a:t>é uma proposição que pode ser verdadeira em algumas situações e falsa em outras. </a:t>
            </a:r>
          </a:p>
          <a:p>
            <a:pPr marL="914400" lvl="1" indent="-457200">
              <a:buFont typeface="+mj-lt"/>
              <a:buAutoNum type="arabicPeriod" startAt="2"/>
            </a:pPr>
            <a:endParaRPr lang="pt-BR" sz="1800" b="1" dirty="0"/>
          </a:p>
          <a:p>
            <a:pPr lvl="1"/>
            <a:r>
              <a:rPr lang="pt-BR" sz="2200" i="1" dirty="0"/>
              <a:t>Exemplo: P∧ Q</a:t>
            </a:r>
          </a:p>
          <a:p>
            <a:pPr lvl="1"/>
            <a:r>
              <a:rPr lang="pt-BR" sz="2200" dirty="0"/>
              <a:t>A maioria das expressões pertence a esta categoria. </a:t>
            </a:r>
            <a:r>
              <a:rPr lang="pt-BR" sz="2200" b="1" dirty="0"/>
              <a:t>	</a:t>
            </a:r>
            <a:r>
              <a:rPr lang="pt-BR" sz="12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78916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8ABAB-56D7-9CBC-370B-FF59FDBD8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726A8BD-5AD8-F1B1-F74D-C3D2AB36A6C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10B8F9-52AA-08C9-8463-58647553B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FORMAS NORMAIS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54F3258-DB71-B496-3236-EF9FEC4C99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3D14C3B-8ACB-F5AE-0625-7925BA2C0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0221" y="1679742"/>
            <a:ext cx="8360261" cy="4800600"/>
          </a:xfrm>
        </p:spPr>
        <p:txBody>
          <a:bodyPr>
            <a:normAutofit/>
          </a:bodyPr>
          <a:lstStyle/>
          <a:p>
            <a:r>
              <a:rPr lang="pt-BR" sz="2400" dirty="0"/>
              <a:t>Representações padronizadas das expressões lógicas usando apenas os operadores básicos (NOT / AND / OR)</a:t>
            </a:r>
          </a:p>
          <a:p>
            <a:endParaRPr lang="pt-BR" sz="2400" dirty="0"/>
          </a:p>
          <a:p>
            <a:r>
              <a:rPr lang="pt-BR" sz="2400" dirty="0"/>
              <a:t>A ideia é padronizar a escrita das expressões e facilitar o processo de simplificação algébrica</a:t>
            </a:r>
          </a:p>
          <a:p>
            <a:endParaRPr lang="pt-BR" sz="2400" dirty="0"/>
          </a:p>
          <a:p>
            <a:r>
              <a:rPr lang="pt-BR" sz="2400" dirty="0"/>
              <a:t>Existem duas formas normais: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Forma Normal Disjuntiva (FND)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b="1" dirty="0"/>
              <a:t>Forma Normal Conjuntiva (FNC)</a:t>
            </a:r>
            <a:endParaRPr lang="pt-BR" sz="2200" dirty="0"/>
          </a:p>
          <a:p>
            <a:pPr lvl="1"/>
            <a:endParaRPr lang="pt-BR" sz="20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284965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082FA-22CF-DA11-8BB8-BAFF0A6C5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0443F69-E97F-547E-43B0-B1751897AAD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1EE1F66-765D-1BD6-E285-CC38CA54A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FORMAS NORMAIS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C5272B4-913A-D086-B7A5-10FE17BE1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517" y="1714500"/>
            <a:ext cx="9701783" cy="48006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400" b="1" dirty="0"/>
              <a:t>Forma Normal Disjuntiva (FND) ou Soma de Produtos</a:t>
            </a:r>
          </a:p>
          <a:p>
            <a:pPr marL="914400" lvl="1" indent="-457200">
              <a:buFont typeface="+mj-lt"/>
              <a:buAutoNum type="arabicPeriod"/>
            </a:pPr>
            <a:endParaRPr lang="pt-BR" sz="1600" dirty="0"/>
          </a:p>
          <a:p>
            <a:pPr lvl="1"/>
            <a:r>
              <a:rPr lang="pt-BR" sz="2200" dirty="0"/>
              <a:t>A expressão é construída por </a:t>
            </a:r>
            <a:r>
              <a:rPr lang="pt-BR" sz="2200" b="1" dirty="0"/>
              <a:t>conjunções (E) </a:t>
            </a:r>
            <a:r>
              <a:rPr lang="pt-BR" sz="2200" dirty="0"/>
              <a:t>unidas por </a:t>
            </a:r>
            <a:r>
              <a:rPr lang="pt-BR" sz="2200" b="1" dirty="0"/>
              <a:t>disjunções (OU)</a:t>
            </a:r>
            <a:r>
              <a:rPr lang="pt-BR" sz="2200" dirty="0"/>
              <a:t> .</a:t>
            </a:r>
          </a:p>
          <a:p>
            <a:pPr lvl="1"/>
            <a:r>
              <a:rPr lang="pt-BR" sz="2200" dirty="0"/>
              <a:t>Exemplo: (A ∧ B) ∨ (C ∧ D) ∨ (E ∧ F)</a:t>
            </a:r>
            <a:endParaRPr lang="pt-BR" sz="2400" dirty="0"/>
          </a:p>
          <a:p>
            <a:pPr lvl="1"/>
            <a:r>
              <a:rPr lang="pt-BR" sz="2200" i="1" dirty="0"/>
              <a:t>Como construir a FND a partir da tabela verdade:</a:t>
            </a:r>
          </a:p>
          <a:p>
            <a:pPr lvl="1"/>
            <a:endParaRPr lang="pt-BR" sz="2000" dirty="0"/>
          </a:p>
          <a:p>
            <a:endParaRPr lang="pt-BR" sz="2400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235DCC4-412B-CE1C-C86C-28D1B9E2F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735039"/>
              </p:ext>
            </p:extLst>
          </p:nvPr>
        </p:nvGraphicFramePr>
        <p:xfrm>
          <a:off x="1461517" y="3924300"/>
          <a:ext cx="5112768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256">
                  <a:extLst>
                    <a:ext uri="{9D8B030D-6E8A-4147-A177-3AD203B41FA5}">
                      <a16:colId xmlns:a16="http://schemas.microsoft.com/office/drawing/2014/main" val="3352659932"/>
                    </a:ext>
                  </a:extLst>
                </a:gridCol>
                <a:gridCol w="1704256">
                  <a:extLst>
                    <a:ext uri="{9D8B030D-6E8A-4147-A177-3AD203B41FA5}">
                      <a16:colId xmlns:a16="http://schemas.microsoft.com/office/drawing/2014/main" val="3526495656"/>
                    </a:ext>
                  </a:extLst>
                </a:gridCol>
                <a:gridCol w="1704256">
                  <a:extLst>
                    <a:ext uri="{9D8B030D-6E8A-4147-A177-3AD203B41FA5}">
                      <a16:colId xmlns:a16="http://schemas.microsoft.com/office/drawing/2014/main" val="1372818486"/>
                    </a:ext>
                  </a:extLst>
                </a:gridCol>
              </a:tblGrid>
              <a:tr h="462819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03353"/>
                  </a:ext>
                </a:extLst>
              </a:tr>
              <a:tr h="578581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035967"/>
                  </a:ext>
                </a:extLst>
              </a:tr>
              <a:tr h="52351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687263"/>
                  </a:ext>
                </a:extLst>
              </a:tr>
              <a:tr h="50519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305236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39433"/>
                  </a:ext>
                </a:extLst>
              </a:tr>
            </a:tbl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A0DFBAFC-BE73-A620-A90E-1C1D134F6534}"/>
              </a:ext>
            </a:extLst>
          </p:cNvPr>
          <p:cNvSpPr/>
          <p:nvPr/>
        </p:nvSpPr>
        <p:spPr>
          <a:xfrm>
            <a:off x="1461518" y="4911765"/>
            <a:ext cx="5112768" cy="56193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2588E82-BB32-0FA0-7430-0AAB175D8CFF}"/>
              </a:ext>
            </a:extLst>
          </p:cNvPr>
          <p:cNvSpPr/>
          <p:nvPr/>
        </p:nvSpPr>
        <p:spPr>
          <a:xfrm>
            <a:off x="1461518" y="5954693"/>
            <a:ext cx="5112768" cy="5064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5A56699-F253-A6D4-A7CE-2A17E0E642E1}"/>
              </a:ext>
            </a:extLst>
          </p:cNvPr>
          <p:cNvSpPr txBox="1"/>
          <p:nvPr/>
        </p:nvSpPr>
        <p:spPr>
          <a:xfrm>
            <a:off x="7838567" y="3784600"/>
            <a:ext cx="155943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Linha 2: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 = 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Q = V</a:t>
            </a:r>
          </a:p>
          <a:p>
            <a:endParaRPr lang="pt-BR" sz="2000" dirty="0"/>
          </a:p>
          <a:p>
            <a:r>
              <a:rPr lang="pt-BR" sz="2000" dirty="0"/>
              <a:t>Termo: ¬P∧Q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8933C4-E8BB-C395-8F6B-003577A1626E}"/>
              </a:ext>
            </a:extLst>
          </p:cNvPr>
          <p:cNvSpPr txBox="1"/>
          <p:nvPr/>
        </p:nvSpPr>
        <p:spPr>
          <a:xfrm>
            <a:off x="9832467" y="3784600"/>
            <a:ext cx="155943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Linha 4: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 = V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Q = V</a:t>
            </a:r>
          </a:p>
          <a:p>
            <a:endParaRPr lang="pt-BR" sz="2000" dirty="0"/>
          </a:p>
          <a:p>
            <a:r>
              <a:rPr lang="pt-BR" sz="2000" dirty="0"/>
              <a:t>Termo: P∧Q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F5AB5F1-61CF-9CB6-6C34-C153F756BE3C}"/>
              </a:ext>
            </a:extLst>
          </p:cNvPr>
          <p:cNvSpPr txBox="1"/>
          <p:nvPr/>
        </p:nvSpPr>
        <p:spPr>
          <a:xfrm>
            <a:off x="8216900" y="5981700"/>
            <a:ext cx="317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FND = (¬P ∧ Q) ∨ (P ∧ Q) </a:t>
            </a:r>
          </a:p>
        </p:txBody>
      </p:sp>
    </p:spTree>
    <p:extLst>
      <p:ext uri="{BB962C8B-B14F-4D97-AF65-F5344CB8AC3E}">
        <p14:creationId xmlns:p14="http://schemas.microsoft.com/office/powerpoint/2010/main" val="2835995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37022-05AF-B9DE-EBC3-090977CF8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1D92052-68B5-C5B5-0ACC-8FC92A11D0C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A9CCD9-0AAC-E98D-B5AB-C72E72911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FORMAS NORMAIS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7E16FB8-3C10-AF41-7CB4-46D8D5031E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221B1B6-E31B-6E05-1CA3-F430D78DB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517" y="1643061"/>
            <a:ext cx="9268965" cy="480060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pt-BR" sz="2400" b="1" dirty="0"/>
              <a:t>Forma Normal Conjuntiva (FNC) ou Produto de Somas</a:t>
            </a:r>
          </a:p>
          <a:p>
            <a:pPr marL="914400" lvl="1" indent="-457200">
              <a:buFont typeface="+mj-lt"/>
              <a:buAutoNum type="arabicPeriod"/>
            </a:pPr>
            <a:endParaRPr lang="pt-BR" sz="1600" dirty="0"/>
          </a:p>
          <a:p>
            <a:pPr lvl="1"/>
            <a:r>
              <a:rPr lang="pt-BR" sz="2200" dirty="0"/>
              <a:t>A expressão é construída por </a:t>
            </a:r>
            <a:r>
              <a:rPr lang="pt-BR" sz="2200" b="1" dirty="0"/>
              <a:t>disjunções (OU)</a:t>
            </a:r>
            <a:r>
              <a:rPr lang="pt-BR" sz="2200" dirty="0"/>
              <a:t> unidas por </a:t>
            </a:r>
            <a:r>
              <a:rPr lang="pt-BR" sz="2200" b="1" dirty="0"/>
              <a:t>conjunções (E)</a:t>
            </a:r>
            <a:r>
              <a:rPr lang="pt-BR" sz="2200" dirty="0"/>
              <a:t> </a:t>
            </a:r>
            <a:endParaRPr lang="pt-BR" sz="2200" b="1" dirty="0"/>
          </a:p>
          <a:p>
            <a:pPr lvl="1"/>
            <a:r>
              <a:rPr lang="pt-BR" sz="2200" dirty="0"/>
              <a:t>Essencialmente, a FNC é o inverso da FND</a:t>
            </a:r>
          </a:p>
          <a:p>
            <a:pPr lvl="1"/>
            <a:r>
              <a:rPr lang="pt-BR" sz="2200" i="1" dirty="0"/>
              <a:t>Como construir a FND a partir da tabela verdade:</a:t>
            </a:r>
          </a:p>
          <a:p>
            <a:endParaRPr lang="pt-BR" sz="2400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12B862C2-2AE7-DAAD-3DE1-3E3AAC2120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987081"/>
              </p:ext>
            </p:extLst>
          </p:nvPr>
        </p:nvGraphicFramePr>
        <p:xfrm>
          <a:off x="1993900" y="3812742"/>
          <a:ext cx="5011167" cy="2804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389">
                  <a:extLst>
                    <a:ext uri="{9D8B030D-6E8A-4147-A177-3AD203B41FA5}">
                      <a16:colId xmlns:a16="http://schemas.microsoft.com/office/drawing/2014/main" val="3352659932"/>
                    </a:ext>
                  </a:extLst>
                </a:gridCol>
                <a:gridCol w="1670389">
                  <a:extLst>
                    <a:ext uri="{9D8B030D-6E8A-4147-A177-3AD203B41FA5}">
                      <a16:colId xmlns:a16="http://schemas.microsoft.com/office/drawing/2014/main" val="3526495656"/>
                    </a:ext>
                  </a:extLst>
                </a:gridCol>
                <a:gridCol w="1670389">
                  <a:extLst>
                    <a:ext uri="{9D8B030D-6E8A-4147-A177-3AD203B41FA5}">
                      <a16:colId xmlns:a16="http://schemas.microsoft.com/office/drawing/2014/main" val="1372818486"/>
                    </a:ext>
                  </a:extLst>
                </a:gridCol>
              </a:tblGrid>
              <a:tr h="466367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3103353"/>
                  </a:ext>
                </a:extLst>
              </a:tr>
              <a:tr h="562333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03596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3687263"/>
                  </a:ext>
                </a:extLst>
              </a:tr>
              <a:tr h="579586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Falso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305236"/>
                  </a:ext>
                </a:extLst>
              </a:tr>
              <a:tr h="561107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Verdadeiro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39433"/>
                  </a:ext>
                </a:extLst>
              </a:tr>
            </a:tbl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A2044466-C146-9CDE-12CB-B03C85378BD3}"/>
              </a:ext>
            </a:extLst>
          </p:cNvPr>
          <p:cNvSpPr/>
          <p:nvPr/>
        </p:nvSpPr>
        <p:spPr>
          <a:xfrm>
            <a:off x="1993901" y="4230297"/>
            <a:ext cx="5011166" cy="66278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1A50CD5-3422-583D-8547-5A233D766228}"/>
              </a:ext>
            </a:extLst>
          </p:cNvPr>
          <p:cNvSpPr/>
          <p:nvPr/>
        </p:nvSpPr>
        <p:spPr>
          <a:xfrm>
            <a:off x="1993900" y="5443209"/>
            <a:ext cx="5011166" cy="66278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59FAC5-F346-F983-8453-89378AD17FBA}"/>
              </a:ext>
            </a:extLst>
          </p:cNvPr>
          <p:cNvSpPr txBox="1"/>
          <p:nvPr/>
        </p:nvSpPr>
        <p:spPr>
          <a:xfrm>
            <a:off x="7758144" y="3720214"/>
            <a:ext cx="243995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Linha 1: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 = 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Q = F</a:t>
            </a:r>
          </a:p>
          <a:p>
            <a:endParaRPr lang="pt-BR" sz="2000" dirty="0"/>
          </a:p>
          <a:p>
            <a:r>
              <a:rPr lang="pt-BR" sz="2000" dirty="0"/>
              <a:t>Termo: P∨Q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1FBBBE7-530E-26EB-43A7-B7A02807F410}"/>
              </a:ext>
            </a:extLst>
          </p:cNvPr>
          <p:cNvSpPr txBox="1"/>
          <p:nvPr/>
        </p:nvSpPr>
        <p:spPr>
          <a:xfrm>
            <a:off x="10198099" y="3720214"/>
            <a:ext cx="155943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Linha 3: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P = V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Q = F</a:t>
            </a:r>
          </a:p>
          <a:p>
            <a:endParaRPr lang="pt-BR" sz="2000" dirty="0"/>
          </a:p>
          <a:p>
            <a:r>
              <a:rPr lang="pt-BR" sz="2000" dirty="0"/>
              <a:t>Termo: ¬P∨Q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C1907F8-4486-05E9-6BB3-0A162EA17055}"/>
              </a:ext>
            </a:extLst>
          </p:cNvPr>
          <p:cNvSpPr txBox="1"/>
          <p:nvPr/>
        </p:nvSpPr>
        <p:spPr>
          <a:xfrm>
            <a:off x="8610599" y="5575942"/>
            <a:ext cx="317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FNC = (P∨Q) ∧ (¬ P∨Q)</a:t>
            </a:r>
          </a:p>
        </p:txBody>
      </p:sp>
    </p:spTree>
    <p:extLst>
      <p:ext uri="{BB962C8B-B14F-4D97-AF65-F5344CB8AC3E}">
        <p14:creationId xmlns:p14="http://schemas.microsoft.com/office/powerpoint/2010/main" val="1320833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7F0D9-66ED-56EE-3264-84913978B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5BAB3D4-51EA-1D9F-08B9-4D1DAE31D6C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255F8C-A030-3515-3C30-C973559E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FORMAS NORMAIS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B1C85E-E816-8077-A017-DD54F3C05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716" y="1733119"/>
            <a:ext cx="10784568" cy="4517571"/>
          </a:xfrm>
        </p:spPr>
        <p:txBody>
          <a:bodyPr>
            <a:normAutofit/>
          </a:bodyPr>
          <a:lstStyle/>
          <a:p>
            <a:r>
              <a:rPr lang="pt-BR" sz="2200" dirty="0"/>
              <a:t>Cada disjunção na FND representa uma combinação específica que torna a expressão verdadeira. A conjunção reúne todas essas possibilidades.</a:t>
            </a:r>
          </a:p>
          <a:p>
            <a:endParaRPr lang="pt-BR" sz="2200" dirty="0"/>
          </a:p>
          <a:p>
            <a:pPr lvl="1"/>
            <a:r>
              <a:rPr lang="pt-BR" sz="2000" dirty="0"/>
              <a:t>A FND aponta diretamente para as combinações que assumem um valor verdadeiro (Assumindo que, para a conjunção, ambos precisam ter valor lógico verdadeiro)</a:t>
            </a:r>
          </a:p>
          <a:p>
            <a:endParaRPr lang="pt-BR" sz="2200" dirty="0"/>
          </a:p>
          <a:p>
            <a:r>
              <a:rPr lang="pt-BR" sz="2200" dirty="0"/>
              <a:t>Na FNC </a:t>
            </a:r>
            <a:r>
              <a:rPr lang="pt-BR" sz="2400" dirty="0"/>
              <a:t>Em vez de construir cláusulas que identificam onde a expressão é verdadeira, ela constrói cláusulas que eliminam exatamente as linhas falsas.</a:t>
            </a:r>
          </a:p>
          <a:p>
            <a:endParaRPr lang="pt-BR" sz="2400" dirty="0"/>
          </a:p>
          <a:p>
            <a:pPr lvl="1"/>
            <a:r>
              <a:rPr lang="pt-BR" sz="2000" dirty="0"/>
              <a:t>As disjunções apontam para as combinações que resultam em falso, as conjunções (nesse caso) exigem que todas as cláusulas sejam verdadeiras ao mesmo tempo. </a:t>
            </a:r>
            <a:endParaRPr lang="pt-BR" sz="22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011777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D91DA-A5EA-A2AB-F8AB-A4F80208C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252498C-CC2E-D731-9130-680DA391E13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A98B74-1D0F-862D-E3D3-28AFA0263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FIXAÇÃO</a:t>
            </a:r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752E2BDE-F25E-3A64-65AD-497643F065C1}"/>
              </a:ext>
            </a:extLst>
          </p:cNvPr>
          <p:cNvSpPr txBox="1">
            <a:spLocks/>
          </p:cNvSpPr>
          <p:nvPr/>
        </p:nvSpPr>
        <p:spPr>
          <a:xfrm>
            <a:off x="120889" y="1609939"/>
            <a:ext cx="6893522" cy="508363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pt-BR" sz="2400" dirty="0"/>
              <a:t>1 – Considerando: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p: "João estuda." </a:t>
            </a:r>
          </a:p>
          <a:p>
            <a:pPr lvl="1"/>
            <a:r>
              <a:rPr lang="pt-BR" sz="2000" dirty="0"/>
              <a:t>q: "João trabalha." </a:t>
            </a:r>
          </a:p>
          <a:p>
            <a:pPr lvl="1"/>
            <a:r>
              <a:rPr lang="pt-BR" sz="2000" dirty="0"/>
              <a:t>r: "João é aprovado.“</a:t>
            </a:r>
          </a:p>
          <a:p>
            <a:pPr marL="457200" lvl="1" indent="0">
              <a:buNone/>
            </a:pPr>
            <a:r>
              <a:rPr lang="pt-BR" sz="2000" dirty="0"/>
              <a:t> </a:t>
            </a:r>
            <a:endParaRPr lang="pt-BR" sz="2400" dirty="0"/>
          </a:p>
          <a:p>
            <a:pPr>
              <a:buFont typeface="Arial" panose="020B0604020202020204" pitchFamily="34" charset="0"/>
              <a:buNone/>
            </a:pPr>
            <a:r>
              <a:rPr lang="pt-BR" sz="2400" dirty="0"/>
              <a:t>Escreva em linguagem simbólica e monte a tabela-verdade:</a:t>
            </a:r>
          </a:p>
          <a:p>
            <a:pPr lvl="1">
              <a:buFont typeface="Arial" panose="020B0604020202020204" pitchFamily="34" charset="0"/>
              <a:buNone/>
            </a:pPr>
            <a:endParaRPr lang="pt-BR" dirty="0"/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a) João estuda e trabalha.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b) João não trabalha.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c) João estuda ou trabalha.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d) Se João estudar, será aprovado.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e) João será aprovado somente se estudar.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f) João estuda, trabalha e será aprovado.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pt-BR" dirty="0"/>
              <a:t>g) João não estuda nem trabalha.</a:t>
            </a:r>
          </a:p>
          <a:p>
            <a:endParaRPr lang="pt-BR" sz="2000" dirty="0"/>
          </a:p>
        </p:txBody>
      </p:sp>
      <p:sp>
        <p:nvSpPr>
          <p:cNvPr id="4" name="Espaço Reservado para Conteúdo 5">
            <a:extLst>
              <a:ext uri="{FF2B5EF4-FFF2-40B4-BE49-F238E27FC236}">
                <a16:creationId xmlns:a16="http://schemas.microsoft.com/office/drawing/2014/main" id="{1949CE3D-9504-9691-8E28-C4C08A9A7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9147" y="1609939"/>
            <a:ext cx="4055764" cy="50836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sz="2400" dirty="0"/>
              <a:t>2 – Considerando</a:t>
            </a:r>
          </a:p>
          <a:p>
            <a:pPr lvl="1"/>
            <a:endParaRPr lang="pt-BR" sz="2000" dirty="0"/>
          </a:p>
          <a:p>
            <a:pPr lvl="1"/>
            <a:r>
              <a:rPr lang="pt-BR" sz="2000" dirty="0"/>
              <a:t>p: V</a:t>
            </a:r>
          </a:p>
          <a:p>
            <a:pPr lvl="1"/>
            <a:r>
              <a:rPr lang="pt-BR" sz="2000" dirty="0"/>
              <a:t>q: F</a:t>
            </a:r>
          </a:p>
          <a:p>
            <a:pPr lvl="1"/>
            <a:r>
              <a:rPr lang="pt-BR" sz="2000" dirty="0"/>
              <a:t>r: V</a:t>
            </a:r>
          </a:p>
          <a:p>
            <a:pPr>
              <a:buNone/>
            </a:pPr>
            <a:r>
              <a:rPr lang="pt-BR" sz="2400" dirty="0"/>
              <a:t>Determine o valor lógico:</a:t>
            </a:r>
          </a:p>
          <a:p>
            <a:pPr marL="914400" lvl="1" indent="-457200">
              <a:buFont typeface="+mj-lt"/>
              <a:buAutoNum type="alphaUcPeriod"/>
            </a:pPr>
            <a:endParaRPr lang="pt-BR" dirty="0"/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(p → q) → (¬q → ¬p)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(p ∧ q) ∨ (¬p ∧ r) 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(p → q) ↔ (¬q → ¬p) 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(p ∨ q) → (r ∧ p)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000" dirty="0"/>
              <a:t>p → (¬p ∨ q ∨ r)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766641F-5714-6446-8261-83C5D50A36AE}"/>
              </a:ext>
            </a:extLst>
          </p:cNvPr>
          <p:cNvCxnSpPr/>
          <p:nvPr/>
        </p:nvCxnSpPr>
        <p:spPr>
          <a:xfrm>
            <a:off x="7423484" y="1325561"/>
            <a:ext cx="0" cy="55324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244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CD776-7844-2F52-9329-67032F2D6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82CD923-EB36-66C4-37A7-0EE1B510990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chemeClr val="accent2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7603507-8297-4269-818A-11BE84E37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FIXAÇÃO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3D264AD-408A-565C-850B-89460A039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629" y="1655775"/>
            <a:ext cx="9644742" cy="49421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400" dirty="0"/>
              <a:t>Considerando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p: "O servidor está ligado." </a:t>
            </a:r>
          </a:p>
          <a:p>
            <a:pPr lvl="1"/>
            <a:r>
              <a:rPr lang="pt-BR" sz="2200" dirty="0"/>
              <a:t>q: "A rede está funcionando." </a:t>
            </a:r>
          </a:p>
          <a:p>
            <a:pPr lvl="1"/>
            <a:r>
              <a:rPr lang="pt-BR" sz="2200" dirty="0"/>
              <a:t>r: "Os usuários conseguem acessar o sistema." 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Escreva em lógica proposicional.</a:t>
            </a:r>
          </a:p>
          <a:p>
            <a:pPr lvl="1"/>
            <a:endParaRPr lang="pt-BR" sz="2200" dirty="0"/>
          </a:p>
          <a:p>
            <a:pPr marL="914400" lvl="1" indent="-457200">
              <a:buFont typeface="+mj-lt"/>
              <a:buAutoNum type="alphaUcPeriod"/>
            </a:pPr>
            <a:r>
              <a:rPr lang="pt-BR" sz="2200" dirty="0"/>
              <a:t>Se o servidor estiver ligado e a rede funcionar, então os usuários conseguem acessar o sistema.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200" dirty="0"/>
              <a:t>Os usuários não conseguem acessar o sistema.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200" dirty="0"/>
              <a:t>O servidor está ligado, mas a rede não funciona.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200" dirty="0"/>
              <a:t>Se os usuários conseguem acessar o sistema, então o servidor está ligado.</a:t>
            </a:r>
          </a:p>
          <a:p>
            <a:pPr marL="914400" lvl="1" indent="-457200">
              <a:buFont typeface="+mj-lt"/>
              <a:buAutoNum type="alphaUcPeriod"/>
            </a:pPr>
            <a:r>
              <a:rPr lang="pt-BR" sz="2200" dirty="0"/>
              <a:t>O servidor está desligado ou a rede está funcionando.</a:t>
            </a:r>
          </a:p>
        </p:txBody>
      </p:sp>
    </p:spTree>
    <p:extLst>
      <p:ext uri="{BB962C8B-B14F-4D97-AF65-F5344CB8AC3E}">
        <p14:creationId xmlns:p14="http://schemas.microsoft.com/office/powerpoint/2010/main" val="41156581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Amarelo Verd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Amarelo Verde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2015</TotalTime>
  <Words>895</Words>
  <Application>Microsoft Office PowerPoint</Application>
  <PresentationFormat>Widescreen</PresentationFormat>
  <Paragraphs>165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Gill Sans MT</vt:lpstr>
      <vt:lpstr>Tema do Office</vt:lpstr>
      <vt:lpstr>Pacote</vt:lpstr>
      <vt:lpstr>módulo 3 – expressões lógicas</vt:lpstr>
      <vt:lpstr>CONSTRUÇÃO DA TABELA VERDADE</vt:lpstr>
      <vt:lpstr>CLASSIFICAÇÃO DE EXPRESSÕES LÓGICAS</vt:lpstr>
      <vt:lpstr>CLASSIFICAÇÃO DE EXPRESSÕES LÓGICAS</vt:lpstr>
      <vt:lpstr>FORMAS NORMAIS</vt:lpstr>
      <vt:lpstr>FORMAS NORMAIS</vt:lpstr>
      <vt:lpstr>FORMAS NORMAIS</vt:lpstr>
      <vt:lpstr>FORMAS NORMAIS</vt:lpstr>
      <vt:lpstr>FIXAÇÃO</vt:lpstr>
      <vt:lpstr>FIXAÇÃO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173</cp:revision>
  <dcterms:created xsi:type="dcterms:W3CDTF">2026-07-26T12:48:37Z</dcterms:created>
  <dcterms:modified xsi:type="dcterms:W3CDTF">2026-08-22T19:17:32Z</dcterms:modified>
</cp:coreProperties>
</file>