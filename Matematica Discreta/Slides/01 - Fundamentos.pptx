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11"/>
  </p:notesMasterIdLst>
  <p:sldIdLst>
    <p:sldId id="256" r:id="rId3"/>
    <p:sldId id="287" r:id="rId4"/>
    <p:sldId id="288" r:id="rId5"/>
    <p:sldId id="289" r:id="rId6"/>
    <p:sldId id="290" r:id="rId7"/>
    <p:sldId id="293" r:id="rId8"/>
    <p:sldId id="291" r:id="rId9"/>
    <p:sldId id="292" r:id="rId1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A537"/>
    <a:srgbClr val="FFFFFF"/>
    <a:srgbClr val="C0504D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59" autoAdjust="0"/>
    <p:restoredTop sz="77515" autoAdjust="0"/>
  </p:normalViewPr>
  <p:slideViewPr>
    <p:cSldViewPr snapToGrid="0">
      <p:cViewPr varScale="1">
        <p:scale>
          <a:sx n="88" d="100"/>
          <a:sy n="88" d="100"/>
        </p:scale>
        <p:origin x="1416" y="96"/>
      </p:cViewPr>
      <p:guideLst/>
    </p:cSldViewPr>
  </p:slideViewPr>
  <p:outlineViewPr>
    <p:cViewPr>
      <p:scale>
        <a:sx n="33" d="100"/>
        <a:sy n="33" d="100"/>
      </p:scale>
      <p:origin x="0" y="-171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DFA8-F094-9115-7AB3-F8B0A683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7089E9-8ECE-FAC8-C0B6-E185528B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EB7E30-F2BE-5AE2-7258-6651C3AB9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0" dirty="0"/>
              <a:t>- A matemática contínua aparece em fenômenos que variam continuamente (ex. Temperatura, pressão, calculo, </a:t>
            </a:r>
            <a:r>
              <a:rPr lang="pt-BR" b="0" dirty="0" err="1"/>
              <a:t>etc</a:t>
            </a:r>
            <a:r>
              <a:rPr lang="pt-BR" b="0" dirty="0"/>
              <a:t>).</a:t>
            </a:r>
          </a:p>
          <a:p>
            <a:r>
              <a:rPr lang="pt-BR" dirty="0"/>
              <a:t>- </a:t>
            </a:r>
            <a:r>
              <a:rPr lang="pt-BR" b="0" dirty="0"/>
              <a:t>A matemática discreta aparece em elementos com um espaçamento bem definido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8735FE-8F9C-A971-8DB6-ECF7C6426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4469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CA2C3-941E-281A-6329-36EE9CEA1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3E0AD0-AF2D-E13D-D350-DF71DD960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36A266E-5423-4F08-57E8-6674E0D84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7AAFBF7-EDBF-2ADB-B1B2-F4692C8B02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2765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D59D2-5C33-D865-70A5-FAC239789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A13D109-1CDB-70C5-943F-E099B6FF03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0B71ED-2F7B-AA22-F961-B16548C9AC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b="1" dirty="0"/>
              <a:t>Quase toda a Computação é construída sobre objetos discretos.</a:t>
            </a:r>
          </a:p>
          <a:p>
            <a:endParaRPr lang="pt-BR" sz="1800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Bits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Conjuntos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Grafos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Árvores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Lógica proposicional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1800" b="0" dirty="0"/>
          </a:p>
          <a:p>
            <a:pPr marL="0" indent="0">
              <a:buFontTx/>
              <a:buNone/>
            </a:pPr>
            <a:r>
              <a:rPr lang="pt-BR" dirty="0"/>
              <a:t>Todos esses objetos possuem estruturas discretas.</a:t>
            </a:r>
          </a:p>
          <a:p>
            <a:pPr marL="0" indent="0">
              <a:buFontTx/>
              <a:buNone/>
            </a:pPr>
            <a:r>
              <a:rPr lang="pt-BR" b="0" dirty="0"/>
              <a:t>Entender eles, nos dá a base da computação.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F9E41C7-C441-46ED-066A-8967EE2E1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1963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46A82-DCE1-89B0-04D0-7B262E797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E0F9A31-572A-A6D4-BF32-7D629D70D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250E03-00F6-84F4-F42F-9995E1B70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0E44CB4-D350-3075-B017-A884028A95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05172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17E8D-B340-B8DB-85B0-FB9879D88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7F1652-8920-CADF-09D4-60EDAC2A1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3A860EA-E018-B9F0-F843-BF287ABBD0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09FA3C-CA3D-6789-133F-2E5F5AB2B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22863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0F3F-7E98-460A-84F3-E111DB07C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2D702EF-4AEE-80CB-18FE-CB76F3C12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9752907-DF8F-A60B-D584-F7442249C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5DEF4CE-7D9E-C6DC-F428-956DF29865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70831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FD696-FB1E-93A1-E055-6B17655F8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2EF56BC-4719-26F0-35C5-F192E7625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01AB85-920E-8820-6A6C-E9BB9D78E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1" dirty="0"/>
              <a:t>Sim e Não também são valores discretos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Assim como um bit possui apenas dois estados, uma decisão também possui apenas dois estados.</a:t>
            </a:r>
            <a:endParaRPr lang="pt-BR" sz="12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D32E076-18D2-ED65-706E-B130B1F8F7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5082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1 – FUNDAMENTOS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A0AB-B6BF-1078-48E7-31A7A94C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72A9863-C44E-59E3-6D4E-C74532B7198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1F50B4-E98F-7B26-F350-55B8C704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FUNDAMENTOS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E42C9DB-BA22-8397-1845-9769004102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ABAA58-8440-05F4-7082-815BD4AF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51" y="2273968"/>
            <a:ext cx="8205537" cy="4238038"/>
          </a:xfrm>
        </p:spPr>
        <p:txBody>
          <a:bodyPr/>
          <a:lstStyle/>
          <a:p>
            <a:r>
              <a:rPr lang="pt-BR" sz="2400" dirty="0"/>
              <a:t>A matemática pode ser dividida, de maneira bastante simplificada, em dois grandes mundos:</a:t>
            </a:r>
          </a:p>
          <a:p>
            <a:pPr lvl="1"/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b="1" dirty="0"/>
              <a:t>Matemática Contínua 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trabalha com quantidades que podem assumir infinitos valores.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endParaRPr lang="pt-BR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b="1" dirty="0"/>
              <a:t>Matemática Discreta 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dirty="0"/>
              <a:t>A matemática discreta estuda estruturas de elementos distintos, contáveis e separados.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2BD01C2F-4DEC-D198-7B56-365635F15B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0333362"/>
                  </p:ext>
                </p:extLst>
              </p:nvPr>
            </p:nvGraphicFramePr>
            <p:xfrm>
              <a:off x="8588188" y="2009274"/>
              <a:ext cx="3320718" cy="40427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60359">
                      <a:extLst>
                        <a:ext uri="{9D8B030D-6E8A-4147-A177-3AD203B41FA5}">
                          <a16:colId xmlns:a16="http://schemas.microsoft.com/office/drawing/2014/main" val="331691076"/>
                        </a:ext>
                      </a:extLst>
                    </a:gridCol>
                    <a:gridCol w="1660359">
                      <a:extLst>
                        <a:ext uri="{9D8B030D-6E8A-4147-A177-3AD203B41FA5}">
                          <a16:colId xmlns:a16="http://schemas.microsoft.com/office/drawing/2014/main" val="2078216182"/>
                        </a:ext>
                      </a:extLst>
                    </a:gridCol>
                  </a:tblGrid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Contínuo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Discreto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6956785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17655863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05554692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1.10001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54482"/>
                      </a:ext>
                    </a:extLst>
                  </a:tr>
                  <a:tr h="50821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934229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7693217"/>
                      </a:ext>
                    </a:extLst>
                  </a:tr>
                  <a:tr h="116737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Nunca existe um "próximo número"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Espaçamento bem definido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777868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2BD01C2F-4DEC-D198-7B56-365635F15B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0333362"/>
                  </p:ext>
                </p:extLst>
              </p:nvPr>
            </p:nvGraphicFramePr>
            <p:xfrm>
              <a:off x="8588188" y="2009274"/>
              <a:ext cx="3320718" cy="40427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60359">
                      <a:extLst>
                        <a:ext uri="{9D8B030D-6E8A-4147-A177-3AD203B41FA5}">
                          <a16:colId xmlns:a16="http://schemas.microsoft.com/office/drawing/2014/main" val="331691076"/>
                        </a:ext>
                      </a:extLst>
                    </a:gridCol>
                    <a:gridCol w="1660359">
                      <a:extLst>
                        <a:ext uri="{9D8B030D-6E8A-4147-A177-3AD203B41FA5}">
                          <a16:colId xmlns:a16="http://schemas.microsoft.com/office/drawing/2014/main" val="2078216182"/>
                        </a:ext>
                      </a:extLst>
                    </a:gridCol>
                  </a:tblGrid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Contínuo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Discreto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6956785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17655863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05554692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1.10001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54482"/>
                      </a:ext>
                    </a:extLst>
                  </a:tr>
                  <a:tr h="508213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3"/>
                          <a:stretch>
                            <a:fillRect l="-366" t="-376190" r="-101465" b="-3226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934229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7693217"/>
                      </a:ext>
                    </a:extLst>
                  </a:tr>
                  <a:tr h="116737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Nunca existe um "próximo número"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Espaçamento bem definido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777868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2537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F166F-C9E2-A0F7-8B69-2DFD7AF20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10A4968-8F43-8111-9A2B-C013EF692181}"/>
              </a:ext>
            </a:extLst>
          </p:cNvPr>
          <p:cNvSpPr/>
          <p:nvPr/>
        </p:nvSpPr>
        <p:spPr>
          <a:xfrm>
            <a:off x="0" y="2237874"/>
            <a:ext cx="12192000" cy="2442409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50D58C5-6689-1EB8-F2A3-2420C7543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2816" y="2766218"/>
            <a:ext cx="10046368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Por que o computador precisa da Matemática Discreta?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1E1CA40-1AD7-E800-2F32-9444868881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6879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656D-50CC-9A39-33E0-DEA2D2B9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AC286B9-ED2B-7504-F944-203C79BB740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0E16854-B825-253D-B3DB-A2FEB7901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9894E25-0727-156F-541B-6EDCB87D70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0D20FCB-5378-CA36-2DFF-541F35FC0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40831" y="2117558"/>
            <a:ext cx="8205537" cy="4238038"/>
          </a:xfrm>
        </p:spPr>
        <p:txBody>
          <a:bodyPr/>
          <a:lstStyle/>
          <a:p>
            <a:r>
              <a:rPr lang="pt-BR" sz="2400" dirty="0"/>
              <a:t>Para o computador, toda informação é convertida em uma sequência finita de símbolos: os </a:t>
            </a:r>
            <a:r>
              <a:rPr lang="pt-BR" sz="2400" b="1" dirty="0"/>
              <a:t>bits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 bit possui apenas dois estados: 0 (False) e 1 (</a:t>
            </a:r>
            <a:r>
              <a:rPr lang="pt-BR" sz="2200" dirty="0" err="1"/>
              <a:t>True</a:t>
            </a:r>
            <a:r>
              <a:rPr lang="pt-BR" sz="2200" dirty="0"/>
              <a:t>).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computador nunca trabalha diretamente com infinitas possibilidades. Sempre existe um estado definido.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r>
              <a:rPr lang="pt-BR" sz="2200" dirty="0"/>
              <a:t>                                 </a:t>
            </a:r>
          </a:p>
          <a:p>
            <a:pPr marL="457200" lvl="1" indent="0">
              <a:buNone/>
            </a:pPr>
            <a:r>
              <a:rPr lang="pt-BR" sz="2200" dirty="0"/>
              <a:t>			</a:t>
            </a:r>
            <a:r>
              <a:rPr lang="pt-BR" sz="2200" b="1" dirty="0"/>
              <a:t>Valores Discretos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5823A34D-A7A4-CFFA-E569-4AE4A6762734}"/>
              </a:ext>
            </a:extLst>
          </p:cNvPr>
          <p:cNvCxnSpPr>
            <a:cxnSpLocks/>
          </p:cNvCxnSpPr>
          <p:nvPr/>
        </p:nvCxnSpPr>
        <p:spPr>
          <a:xfrm>
            <a:off x="5582652" y="4812632"/>
            <a:ext cx="0" cy="54156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4688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C8E4-E2A1-0655-3F3E-A9A57FDCB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BCD2E4D-91A2-C7C4-AC1C-0BBD252111B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D3FC0DB-0E89-3E1A-9ED9-8F5D6828D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E11B0B7-D903-67FB-2737-1C90367E8C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14DA70A-505E-D958-5257-7CFC4814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8205537" cy="4238038"/>
          </a:xfrm>
        </p:spPr>
        <p:txBody>
          <a:bodyPr>
            <a:normAutofit/>
          </a:bodyPr>
          <a:lstStyle/>
          <a:p>
            <a:r>
              <a:rPr lang="pt-BR" sz="2400" dirty="0"/>
              <a:t>Uma das maiores dificuldades da computação é a representação discreta do mundo contínuo</a:t>
            </a:r>
          </a:p>
          <a:p>
            <a:pPr lvl="1"/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mundo real é contínuo.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Sempre existe uma etapa chamada digitalização.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Representações contínuas passam a ser discretas.</a:t>
            </a:r>
          </a:p>
          <a:p>
            <a:pPr lvl="1"/>
            <a:endParaRPr lang="pt-BR" sz="2200" b="1" dirty="0"/>
          </a:p>
          <a:p>
            <a:r>
              <a:rPr lang="pt-BR" sz="2400" dirty="0"/>
              <a:t>Enquanto o Cálculo ajuda a descrever a natureza, a Matemática Discreta ajuda a descrever a computação.</a:t>
            </a:r>
            <a:endParaRPr lang="pt-BR" sz="2600" b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BE92C72-08BF-D921-17EC-281A9291E3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2353" y="2899611"/>
            <a:ext cx="3973471" cy="3815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42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A4A24-B4DC-17E3-A285-0359F555D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562838FE-9332-7039-AF6A-4D5F6CE1C1CF}"/>
              </a:ext>
            </a:extLst>
          </p:cNvPr>
          <p:cNvSpPr/>
          <p:nvPr/>
        </p:nvSpPr>
        <p:spPr>
          <a:xfrm>
            <a:off x="0" y="2237874"/>
            <a:ext cx="12192000" cy="2442409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08E967E-9BBB-8858-C15D-73E779C6D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662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Apenas discretizar é suficiente?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A400DA5-629A-CF89-34F6-E081B84A3A7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4560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5C1AE-5895-8948-3B5C-74D9783C7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5F3972-1742-4B13-17E7-D5D33B780BC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8367AD-A96D-BB39-44EB-1ED44F1E5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76DBA94-A866-43FF-33E3-1C33790078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A9575A2-1CA8-7BA7-1EFF-DCDBA83C3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3231" y="2069432"/>
            <a:ext cx="8205537" cy="4238038"/>
          </a:xfrm>
        </p:spPr>
        <p:txBody>
          <a:bodyPr>
            <a:normAutofit/>
          </a:bodyPr>
          <a:lstStyle/>
          <a:p>
            <a:r>
              <a:rPr lang="pt-BR" sz="2400" dirty="0"/>
              <a:t>Além de representar informações, o computador também precisa </a:t>
            </a:r>
            <a:r>
              <a:rPr lang="pt-BR" sz="2400" b="1" dirty="0"/>
              <a:t>tomar decisões:</a:t>
            </a:r>
          </a:p>
          <a:p>
            <a:pPr lvl="1"/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Comparar números;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Decidir caminhos;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Executar comandos;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Escolher ações.</a:t>
            </a:r>
          </a:p>
          <a:p>
            <a:pPr lvl="1"/>
            <a:endParaRPr lang="pt-BR" sz="2200" dirty="0"/>
          </a:p>
          <a:p>
            <a:r>
              <a:rPr lang="pt-BR" sz="2400" b="1" i="1" dirty="0"/>
              <a:t>“Toda decisão vem de uma pergunta”</a:t>
            </a:r>
            <a:endParaRPr lang="pt-BR" sz="2600" b="1" i="1" dirty="0"/>
          </a:p>
        </p:txBody>
      </p:sp>
    </p:spTree>
    <p:extLst>
      <p:ext uri="{BB962C8B-B14F-4D97-AF65-F5344CB8AC3E}">
        <p14:creationId xmlns:p14="http://schemas.microsoft.com/office/powerpoint/2010/main" val="16790624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A4990-7299-21B4-2B2A-3BB201BE4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DC39916-A0D9-F524-699B-DE3F1C1C8AD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29BB24D-0EA0-311A-F746-3E8408C3E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305741B-3085-BF17-0308-A1BC1C6865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AB8D96F-A20C-1F8B-EA6A-1D7A4988A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5061993" cy="4238038"/>
          </a:xfrm>
        </p:spPr>
        <p:txBody>
          <a:bodyPr>
            <a:normAutofit/>
          </a:bodyPr>
          <a:lstStyle/>
          <a:p>
            <a:r>
              <a:rPr lang="pt-BR" sz="2400" dirty="0"/>
              <a:t>Exemplos: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usuário digitou a senha correta?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A temperatura passou de 40°C?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Existe conexão com a internet?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arquivo foi encontrado?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saldo é suficiente?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 produto está disponível?</a:t>
            </a:r>
          </a:p>
          <a:p>
            <a:pPr lvl="1"/>
            <a:endParaRPr lang="pt-BR" dirty="0"/>
          </a:p>
          <a:p>
            <a:pPr marL="457200" lvl="1" indent="0">
              <a:buNone/>
            </a:pPr>
            <a:endParaRPr lang="pt-BR" sz="2200" dirty="0"/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8838BEB0-F0D3-9B37-5DA7-071A390DB8BA}"/>
              </a:ext>
            </a:extLst>
          </p:cNvPr>
          <p:cNvCxnSpPr/>
          <p:nvPr/>
        </p:nvCxnSpPr>
        <p:spPr>
          <a:xfrm>
            <a:off x="5763127" y="3994484"/>
            <a:ext cx="175661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id="{266F7A6E-032B-C5BA-E879-E3D308EA1A1D}"/>
              </a:ext>
            </a:extLst>
          </p:cNvPr>
          <p:cNvSpPr/>
          <p:nvPr/>
        </p:nvSpPr>
        <p:spPr>
          <a:xfrm>
            <a:off x="8037096" y="3272594"/>
            <a:ext cx="2562726" cy="1443779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Todas as frases podem ser respondidas com “sim” ou “não”</a:t>
            </a:r>
          </a:p>
        </p:txBody>
      </p:sp>
    </p:spTree>
    <p:extLst>
      <p:ext uri="{BB962C8B-B14F-4D97-AF65-F5344CB8AC3E}">
        <p14:creationId xmlns:p14="http://schemas.microsoft.com/office/powerpoint/2010/main" val="7616804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Amarelo Verde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Amarelo Verde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2014</TotalTime>
  <Words>383</Words>
  <Application>Microsoft Office PowerPoint</Application>
  <PresentationFormat>Widescreen</PresentationFormat>
  <Paragraphs>84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8</vt:i4>
      </vt:variant>
    </vt:vector>
  </HeadingPairs>
  <TitlesOfParts>
    <vt:vector size="16" baseType="lpstr">
      <vt:lpstr>Arial</vt:lpstr>
      <vt:lpstr>Calibri</vt:lpstr>
      <vt:lpstr>Calibri Light</vt:lpstr>
      <vt:lpstr>Cambria Math</vt:lpstr>
      <vt:lpstr>Courier New</vt:lpstr>
      <vt:lpstr>Gill Sans MT</vt:lpstr>
      <vt:lpstr>Tema do Office</vt:lpstr>
      <vt:lpstr>Pacote</vt:lpstr>
      <vt:lpstr>módulo 1 – FUNDAMENTOS</vt:lpstr>
      <vt:lpstr>FUNDAMENTOS</vt:lpstr>
      <vt:lpstr>Por que o computador precisa da Matemática Discreta?</vt:lpstr>
      <vt:lpstr>DISCRETIZAÇÃO</vt:lpstr>
      <vt:lpstr>DISCRETIZAÇÃO</vt:lpstr>
      <vt:lpstr>Apenas discretizar é suficiente?</vt:lpstr>
      <vt:lpstr>DISCRETIZAÇÃO</vt:lpstr>
      <vt:lpstr>DISCRETIZAÇÃO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168</cp:revision>
  <dcterms:created xsi:type="dcterms:W3CDTF">2026-07-26T12:48:37Z</dcterms:created>
  <dcterms:modified xsi:type="dcterms:W3CDTF">2026-08-22T18:26:52Z</dcterms:modified>
</cp:coreProperties>
</file>