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6"/>
  </p:notesMasterIdLst>
  <p:sldIdLst>
    <p:sldId id="256" r:id="rId3"/>
    <p:sldId id="287" r:id="rId4"/>
    <p:sldId id="288" r:id="rId5"/>
    <p:sldId id="289" r:id="rId6"/>
    <p:sldId id="290" r:id="rId7"/>
    <p:sldId id="293" r:id="rId8"/>
    <p:sldId id="291" r:id="rId9"/>
    <p:sldId id="292" r:id="rId10"/>
    <p:sldId id="294" r:id="rId11"/>
    <p:sldId id="295" r:id="rId12"/>
    <p:sldId id="296" r:id="rId13"/>
    <p:sldId id="298" r:id="rId14"/>
    <p:sldId id="29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0001"/>
    <a:srgbClr val="63A537"/>
    <a:srgbClr val="FFFFFF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9" autoAdjust="0"/>
    <p:restoredTop sz="77515" autoAdjust="0"/>
  </p:normalViewPr>
  <p:slideViewPr>
    <p:cSldViewPr snapToGrid="0">
      <p:cViewPr varScale="1">
        <p:scale>
          <a:sx n="88" d="100"/>
          <a:sy n="88" d="100"/>
        </p:scale>
        <p:origin x="1416" y="96"/>
      </p:cViewPr>
      <p:guideLst/>
    </p:cSldViewPr>
  </p:slideViewPr>
  <p:outlineViewPr>
    <p:cViewPr>
      <p:scale>
        <a:sx n="33" d="100"/>
        <a:sy n="33" d="100"/>
      </p:scale>
      <p:origin x="0" y="-171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DFA8-F094-9115-7AB3-F8B0A683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7089E9-8ECE-FAC8-C0B6-E185528B5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EB7E30-F2BE-5AE2-7258-6651C3AB9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b="0" dirty="0"/>
              <a:t>- A matemática contínua aparece em fenômenos que variam continuamente (ex. Temperatura, pressão, calculo, </a:t>
            </a:r>
            <a:r>
              <a:rPr lang="pt-BR" b="0" dirty="0" err="1"/>
              <a:t>etc</a:t>
            </a:r>
            <a:r>
              <a:rPr lang="pt-BR" b="0" dirty="0"/>
              <a:t>).</a:t>
            </a:r>
          </a:p>
          <a:p>
            <a:r>
              <a:rPr lang="pt-BR" dirty="0"/>
              <a:t>- </a:t>
            </a:r>
            <a:r>
              <a:rPr lang="pt-BR" b="0" dirty="0"/>
              <a:t>A matemática discreta aparece em elementos com um espaçamento bem definido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8735FE-8F9C-A971-8DB6-ECF7C6426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446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A2C3-941E-281A-6329-36EE9CEA1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3E0AD0-AF2D-E13D-D350-DF71DD960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6A266E-5423-4F08-57E8-6674E0D84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AAFBF7-EDBF-2ADB-B1B2-F4692C8B0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2765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D59D2-5C33-D865-70A5-FAC23978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13D109-1CDB-70C5-943F-E099B6FF0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0B71ED-2F7B-AA22-F961-B16548C9A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2400" b="1" dirty="0"/>
              <a:t>Quase toda a Computação é construída sobre objetos discretos.</a:t>
            </a:r>
          </a:p>
          <a:p>
            <a:endParaRPr lang="pt-BR" sz="18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Bits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Conjuntos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Grafos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Árvores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Lógica proposicional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pt-BR" sz="1800" b="0" dirty="0"/>
          </a:p>
          <a:p>
            <a:pPr marL="0" indent="0">
              <a:buFontTx/>
              <a:buNone/>
            </a:pPr>
            <a:r>
              <a:rPr lang="pt-BR" dirty="0"/>
              <a:t>Todos esses objetos possuem estruturas discretas.</a:t>
            </a:r>
          </a:p>
          <a:p>
            <a:pPr marL="0" indent="0">
              <a:buFontTx/>
              <a:buNone/>
            </a:pPr>
            <a:r>
              <a:rPr lang="pt-BR" b="0" dirty="0"/>
              <a:t>Entender eles, nos dá a base da computação.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9E41C7-C441-46ED-066A-8967EE2E1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96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6A82-DCE1-89B0-04D0-7B262E797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0F9A31-572A-A6D4-BF32-7D629D70D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250E03-00F6-84F4-F42F-9995E1B70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E44CB4-D350-3075-B017-A884028A9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517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17E8D-B340-B8DB-85B0-FB9879D8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7F1652-8920-CADF-09D4-60EDAC2A1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A860EA-E018-B9F0-F843-BF287ABBD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09FA3C-CA3D-6789-133F-2E5F5AB2B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286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B0F3F-7E98-460A-84F3-E111DB07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D702EF-4AEE-80CB-18FE-CB76F3C12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9752907-DF8F-A60B-D584-F7442249C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DEF4CE-7D9E-C6DC-F428-956DF2986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7083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FD696-FB1E-93A1-E055-6B17655F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2EF56BC-4719-26F0-35C5-F192E7625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01AB85-920E-8820-6A6C-E9BB9D78E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b="1" dirty="0"/>
              <a:t>Sim e Não também são valores discretos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Assim como um bit possui apenas dois estados, uma decisão também possui apenas dois estados.</a:t>
            </a:r>
            <a:endParaRPr lang="pt-BR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32E076-18D2-ED65-706E-B130B1F8F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082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42845-1EAA-7620-1C48-678A2DA6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3E3DA7A-860E-601E-7822-7EC63E21A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6CAB569-3428-E878-B867-8D5EDF40B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b="1" dirty="0"/>
              <a:t>Sim e Não também são valores discretos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Assim como um bit possui apenas dois estados, uma decisão também possui apenas dois estados.</a:t>
            </a:r>
            <a:endParaRPr lang="pt-BR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6910D3-E07E-2100-CBD9-2E05D0828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9455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BBEE2-F314-6EE9-4B29-055318B8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22F9A89-3D12-7300-3A4F-44CA74885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088BD79-B487-64C3-1A58-66298F958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b="1" dirty="0"/>
              <a:t>Sim e Não também são valores discretos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Assim como um bit possui apenas dois estados, uma decisão também possui apenas dois estados.</a:t>
            </a:r>
            <a:endParaRPr lang="pt-BR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265566-9FA2-2A5E-243A-5DE83AFE5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5445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1B3FF-3D03-5C54-3668-21BE05756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9A9BA9-7A30-9239-9FCC-FE0B9FB7D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6D955F-ECC4-4A20-3A70-F40DAC02C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b="1" dirty="0"/>
              <a:t>Sim e Não também são valores discretos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Assim como um bit possui apenas dois estados, uma decisão também possui apenas dois estados.</a:t>
            </a:r>
            <a:endParaRPr lang="pt-BR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54492B-0DB5-FD58-0A56-B28D3551A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483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51F41-AB2E-6CA1-1F19-8BD70B57D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424222-7D5A-273D-1002-8A0B58BFF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EC15851-45A3-98B9-7D10-581FBD8F6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b="1" dirty="0"/>
              <a:t>Sim e Não também são valores discretos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Assim como um bit possui apenas dois estados, uma decisão também possui apenas dois estados.</a:t>
            </a:r>
            <a:endParaRPr lang="pt-BR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708B34-0FCE-AA6B-DB20-8963E6689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60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BE4D7-2269-30CE-C38B-67B27A91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7216D5-5698-B497-C5FA-DC6AF6700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C8B6A9-4013-F8E7-6F88-91E19CEF0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b="1" dirty="0"/>
              <a:t>Sim e Não também são valores discretos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Assim como um bit possui apenas dois estados, uma decisão também possui apenas dois estados.</a:t>
            </a:r>
            <a:endParaRPr lang="pt-BR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81B23C-6D2E-1F46-28A3-41318F3AE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426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1 – FUNDAMENTOS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FA0AB-B6BF-1078-48E7-31A7A94C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72A9863-C44E-59E3-6D4E-C74532B7198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1F50B4-E98F-7B26-F350-55B8C704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FUNDAMENTOS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E42C9DB-BA22-8397-1845-9769004102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ABAA58-8440-05F4-7082-815BD4AFE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51" y="2273968"/>
            <a:ext cx="8205537" cy="4238038"/>
          </a:xfrm>
        </p:spPr>
        <p:txBody>
          <a:bodyPr/>
          <a:lstStyle/>
          <a:p>
            <a:r>
              <a:rPr lang="pt-BR" sz="2400" dirty="0"/>
              <a:t>A matemática pode ser dividida, de maneira bastante simplificada, em dois grandes mundos:</a:t>
            </a:r>
          </a:p>
          <a:p>
            <a:pPr lvl="1"/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b="1" dirty="0"/>
              <a:t>Matemática Contínua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trabalha com quantidades que podem assumir infinitos valores.</a:t>
            </a:r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endParaRPr lang="pt-BR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b="1" dirty="0"/>
              <a:t>Matemática Discreta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dirty="0"/>
              <a:t>A matemática discreta estuda estruturas de elementos distintos, contáveis e separados.</a:t>
            </a:r>
            <a:endParaRPr lang="pt-B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a 2">
                <a:extLst>
                  <a:ext uri="{FF2B5EF4-FFF2-40B4-BE49-F238E27FC236}">
                    <a16:creationId xmlns:a16="http://schemas.microsoft.com/office/drawing/2014/main" id="{2BD01C2F-4DEC-D198-7B56-365635F15B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0333362"/>
                  </p:ext>
                </p:extLst>
              </p:nvPr>
            </p:nvGraphicFramePr>
            <p:xfrm>
              <a:off x="8588188" y="2009274"/>
              <a:ext cx="3320718" cy="40427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0359">
                      <a:extLst>
                        <a:ext uri="{9D8B030D-6E8A-4147-A177-3AD203B41FA5}">
                          <a16:colId xmlns:a16="http://schemas.microsoft.com/office/drawing/2014/main" val="331691076"/>
                        </a:ext>
                      </a:extLst>
                    </a:gridCol>
                    <a:gridCol w="1660359">
                      <a:extLst>
                        <a:ext uri="{9D8B030D-6E8A-4147-A177-3AD203B41FA5}">
                          <a16:colId xmlns:a16="http://schemas.microsoft.com/office/drawing/2014/main" val="2078216182"/>
                        </a:ext>
                      </a:extLst>
                    </a:gridCol>
                  </a:tblGrid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Contínuo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Discreto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6956785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7655863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5554692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1.10001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5354482"/>
                      </a:ext>
                    </a:extLst>
                  </a:tr>
                  <a:tr h="508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6934229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...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7693217"/>
                      </a:ext>
                    </a:extLst>
                  </a:tr>
                  <a:tr h="1167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Nunca existe um "próximo número"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Espaçamento bem definido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77786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a 2">
                <a:extLst>
                  <a:ext uri="{FF2B5EF4-FFF2-40B4-BE49-F238E27FC236}">
                    <a16:creationId xmlns:a16="http://schemas.microsoft.com/office/drawing/2014/main" id="{2BD01C2F-4DEC-D198-7B56-365635F15B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0333362"/>
                  </p:ext>
                </p:extLst>
              </p:nvPr>
            </p:nvGraphicFramePr>
            <p:xfrm>
              <a:off x="8588188" y="2009274"/>
              <a:ext cx="3320718" cy="40427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0359">
                      <a:extLst>
                        <a:ext uri="{9D8B030D-6E8A-4147-A177-3AD203B41FA5}">
                          <a16:colId xmlns:a16="http://schemas.microsoft.com/office/drawing/2014/main" val="331691076"/>
                        </a:ext>
                      </a:extLst>
                    </a:gridCol>
                    <a:gridCol w="1660359">
                      <a:extLst>
                        <a:ext uri="{9D8B030D-6E8A-4147-A177-3AD203B41FA5}">
                          <a16:colId xmlns:a16="http://schemas.microsoft.com/office/drawing/2014/main" val="2078216182"/>
                        </a:ext>
                      </a:extLst>
                    </a:gridCol>
                  </a:tblGrid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Contínuo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Discreto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6956785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7655863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5554692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1.10001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5354482"/>
                      </a:ext>
                    </a:extLst>
                  </a:tr>
                  <a:tr h="508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366" t="-376190" r="-101465" b="-322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6934229"/>
                      </a:ext>
                    </a:extLst>
                  </a:tr>
                  <a:tr h="4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...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7693217"/>
                      </a:ext>
                    </a:extLst>
                  </a:tr>
                  <a:tr h="1167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Nunca existe um "próximo número"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Espaçamento bem definido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77786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2537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F166F-C9E2-A0F7-8B69-2DFD7AF2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10A4968-8F43-8111-9A2B-C013EF692181}"/>
              </a:ext>
            </a:extLst>
          </p:cNvPr>
          <p:cNvSpPr/>
          <p:nvPr/>
        </p:nvSpPr>
        <p:spPr>
          <a:xfrm>
            <a:off x="0" y="2237874"/>
            <a:ext cx="12192000" cy="2442409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0D58C5-6689-1EB8-F2A3-2420C754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816" y="2766218"/>
            <a:ext cx="10046368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Por que o computador precisa da Matemática Discreta?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1E1CA40-1AD7-E800-2F32-9444868881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87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656D-50CC-9A39-33E0-DEA2D2B9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AC286B9-ED2B-7504-F944-203C79BB740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E16854-B825-253D-B3DB-A2FEB790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DISCRETIZAÇÃO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9894E25-0727-156F-541B-6EDCB87D70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D20FCB-5378-CA36-2DFF-541F35FC0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0831" y="2117558"/>
            <a:ext cx="8205537" cy="4238038"/>
          </a:xfrm>
        </p:spPr>
        <p:txBody>
          <a:bodyPr/>
          <a:lstStyle/>
          <a:p>
            <a:r>
              <a:rPr lang="pt-BR" sz="2400" dirty="0"/>
              <a:t>Para o computador, toda informação é convertida em uma sequência finita de símbolos: os </a:t>
            </a:r>
            <a:r>
              <a:rPr lang="pt-BR" sz="2400" b="1" dirty="0"/>
              <a:t>bits</a:t>
            </a:r>
            <a:r>
              <a:rPr lang="pt-BR" sz="2400" dirty="0"/>
              <a:t>.</a:t>
            </a:r>
          </a:p>
          <a:p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Um bit possui apenas dois estados: 0 (False) e 1 (</a:t>
            </a:r>
            <a:r>
              <a:rPr lang="pt-BR" sz="2200" dirty="0" err="1"/>
              <a:t>True</a:t>
            </a:r>
            <a:r>
              <a:rPr lang="pt-BR" sz="2200" dirty="0"/>
              <a:t>).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computador nunca trabalha diretamente com infinitas possibilidades. Sempre existe um estado definido.</a:t>
            </a:r>
          </a:p>
          <a:p>
            <a:pPr lvl="1"/>
            <a:endParaRPr lang="pt-BR" sz="2200" dirty="0"/>
          </a:p>
          <a:p>
            <a:pPr marL="457200" lvl="1" indent="0">
              <a:buNone/>
            </a:pPr>
            <a:r>
              <a:rPr lang="pt-BR" sz="2200" dirty="0"/>
              <a:t>                                 </a:t>
            </a:r>
          </a:p>
          <a:p>
            <a:pPr marL="457200" lvl="1" indent="0">
              <a:buNone/>
            </a:pPr>
            <a:r>
              <a:rPr lang="pt-BR" sz="2200" dirty="0"/>
              <a:t>			</a:t>
            </a:r>
            <a:r>
              <a:rPr lang="pt-BR" sz="2200" b="1" dirty="0"/>
              <a:t>Valores Discretos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823A34D-A7A4-CFFA-E569-4AE4A6762734}"/>
              </a:ext>
            </a:extLst>
          </p:cNvPr>
          <p:cNvCxnSpPr>
            <a:cxnSpLocks/>
          </p:cNvCxnSpPr>
          <p:nvPr/>
        </p:nvCxnSpPr>
        <p:spPr>
          <a:xfrm>
            <a:off x="5582652" y="4812632"/>
            <a:ext cx="0" cy="54156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46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C8E4-E2A1-0655-3F3E-A9A57FDC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BCD2E4D-91A2-C7C4-AC1C-0BBD252111B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3FC0DB-0E89-3E1A-9ED9-8F5D6828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DISCRETIZAÇÃO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E11B0B7-D903-67FB-2737-1C90367E8C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4DA70A-505E-D958-5257-7CFC4814A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607" y="2057400"/>
            <a:ext cx="8205537" cy="4238038"/>
          </a:xfrm>
        </p:spPr>
        <p:txBody>
          <a:bodyPr>
            <a:normAutofit/>
          </a:bodyPr>
          <a:lstStyle/>
          <a:p>
            <a:r>
              <a:rPr lang="pt-BR" sz="2400" dirty="0"/>
              <a:t>Uma das maiores dificuldades da computação é a representação discreta do mundo contínuo</a:t>
            </a:r>
          </a:p>
          <a:p>
            <a:pPr lvl="1"/>
            <a:endParaRPr lang="pt-BR" sz="22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mundo real é contínuo.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Sempre existe uma etapa chamada digitalização.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Representações contínuas passam a ser discretas.</a:t>
            </a:r>
          </a:p>
          <a:p>
            <a:pPr lvl="1"/>
            <a:endParaRPr lang="pt-BR" sz="2200" b="1" dirty="0"/>
          </a:p>
          <a:p>
            <a:r>
              <a:rPr lang="pt-BR" sz="2400" dirty="0"/>
              <a:t>Enquanto o Cálculo ajuda a descrever a natureza, a Matemática Discreta ajuda a descrever a computação.</a:t>
            </a:r>
            <a:endParaRPr lang="pt-BR" sz="26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E92C72-08BF-D921-17EC-281A9291E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353" y="2899611"/>
            <a:ext cx="3973471" cy="381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42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A4A24-B4DC-17E3-A285-0359F555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62838FE-9332-7039-AF6A-4D5F6CE1C1CF}"/>
              </a:ext>
            </a:extLst>
          </p:cNvPr>
          <p:cNvSpPr/>
          <p:nvPr/>
        </p:nvSpPr>
        <p:spPr>
          <a:xfrm>
            <a:off x="0" y="2237874"/>
            <a:ext cx="12192000" cy="2442409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8E967E-9BBB-8858-C15D-73E779C6D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Apenas discretizar é suficiente?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A400DA5-629A-CF89-34F6-E081B84A3A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560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5C1AE-5895-8948-3B5C-74D9783C7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F5F3972-1742-4B13-17E7-D5D33B780BC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8367AD-A96D-BB39-44EB-1ED44F1E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DISCRETIZAÇÃO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76DBA94-A866-43FF-33E3-1C33790078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9575A2-1CA8-7BA7-1EFF-DCDBA83C3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506" y="1972450"/>
            <a:ext cx="9492187" cy="4238038"/>
          </a:xfrm>
        </p:spPr>
        <p:txBody>
          <a:bodyPr>
            <a:normAutofit/>
          </a:bodyPr>
          <a:lstStyle/>
          <a:p>
            <a:r>
              <a:rPr lang="pt-BR" sz="2400" dirty="0"/>
              <a:t>Além de representar informações, o computador também precisa </a:t>
            </a:r>
            <a:r>
              <a:rPr lang="pt-BR" sz="2400" b="1" dirty="0"/>
              <a:t>tomar decisões:</a:t>
            </a:r>
          </a:p>
          <a:p>
            <a:pPr lvl="1"/>
            <a:endParaRPr lang="pt-BR" sz="22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Comparar números;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Decidir caminhos;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Executar comandos;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Escolher ações.</a:t>
            </a:r>
          </a:p>
          <a:p>
            <a:pPr lvl="1"/>
            <a:endParaRPr lang="pt-BR" sz="2200" dirty="0"/>
          </a:p>
          <a:p>
            <a:r>
              <a:rPr lang="pt-BR" sz="2400" b="1" i="1" dirty="0"/>
              <a:t>“Toda decisão vem de uma pergunta”</a:t>
            </a:r>
          </a:p>
          <a:p>
            <a:r>
              <a:rPr lang="pt-BR" sz="2400" b="1" i="1" dirty="0"/>
              <a:t>A área da matemática responsável pelo estudo das decisões é a </a:t>
            </a:r>
            <a:r>
              <a:rPr lang="pt-BR" sz="2400" b="1" i="1" u="sng" dirty="0"/>
              <a:t>LÓGICA</a:t>
            </a:r>
            <a:r>
              <a:rPr lang="pt-BR" sz="2400" b="1" i="1" dirty="0"/>
              <a:t> </a:t>
            </a:r>
            <a:endParaRPr lang="pt-BR" sz="2600" b="1" i="1" dirty="0"/>
          </a:p>
        </p:txBody>
      </p:sp>
    </p:spTree>
    <p:extLst>
      <p:ext uri="{BB962C8B-B14F-4D97-AF65-F5344CB8AC3E}">
        <p14:creationId xmlns:p14="http://schemas.microsoft.com/office/powerpoint/2010/main" val="1679062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4990-7299-21B4-2B2A-3BB201BE4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DC39916-A0D9-F524-699B-DE3F1C1C8AD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9BB24D-0EA0-311A-F746-3E8408C3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DISCRETIZAÇÃO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305741B-3085-BF17-0308-A1BC1C6865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B8D96F-A20C-1F8B-EA6A-1D7A4988A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607" y="2057400"/>
            <a:ext cx="5061993" cy="4238038"/>
          </a:xfrm>
        </p:spPr>
        <p:txBody>
          <a:bodyPr>
            <a:normAutofit/>
          </a:bodyPr>
          <a:lstStyle/>
          <a:p>
            <a:r>
              <a:rPr lang="pt-BR" sz="2400" dirty="0"/>
              <a:t>Exemplos: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usuário digitou a senha correta?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A temperatura passou de 40°C?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Existe conexão com a internet?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arquivo foi encontrado?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saldo é suficiente?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Um produto está disponível?</a:t>
            </a:r>
          </a:p>
          <a:p>
            <a:pPr lvl="1"/>
            <a:endParaRPr lang="pt-BR" dirty="0"/>
          </a:p>
          <a:p>
            <a:pPr marL="457200" lvl="1" indent="0">
              <a:buNone/>
            </a:pPr>
            <a:endParaRPr lang="pt-BR" sz="2200" dirty="0"/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8838BEB0-F0D3-9B37-5DA7-071A390DB8BA}"/>
              </a:ext>
            </a:extLst>
          </p:cNvPr>
          <p:cNvCxnSpPr/>
          <p:nvPr/>
        </p:nvCxnSpPr>
        <p:spPr>
          <a:xfrm>
            <a:off x="5943600" y="3038521"/>
            <a:ext cx="175661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266F7A6E-032B-C5BA-E879-E3D308EA1A1D}"/>
              </a:ext>
            </a:extLst>
          </p:cNvPr>
          <p:cNvSpPr/>
          <p:nvPr/>
        </p:nvSpPr>
        <p:spPr>
          <a:xfrm>
            <a:off x="8185130" y="2316631"/>
            <a:ext cx="2562726" cy="1443779"/>
          </a:xfrm>
          <a:prstGeom prst="rect">
            <a:avLst/>
          </a:prstGeom>
          <a:solidFill>
            <a:srgbClr val="63A5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Todas as frases podem ser respondidas com “sim” ou “não”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9F3E339-0321-E08B-D4F8-B0E900CC078F}"/>
              </a:ext>
            </a:extLst>
          </p:cNvPr>
          <p:cNvSpPr/>
          <p:nvPr/>
        </p:nvSpPr>
        <p:spPr>
          <a:xfrm>
            <a:off x="8185130" y="5011447"/>
            <a:ext cx="2562726" cy="1443779"/>
          </a:xfrm>
          <a:prstGeom prst="rect">
            <a:avLst/>
          </a:prstGeom>
          <a:solidFill>
            <a:srgbClr val="63A5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Os valores utilizados para “responder” tais questões são discretos.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AFAC78E2-702A-1D9E-7CFE-2DB6454EE8A0}"/>
              </a:ext>
            </a:extLst>
          </p:cNvPr>
          <p:cNvCxnSpPr>
            <a:cxnSpLocks/>
          </p:cNvCxnSpPr>
          <p:nvPr/>
        </p:nvCxnSpPr>
        <p:spPr>
          <a:xfrm>
            <a:off x="9505139" y="4031673"/>
            <a:ext cx="0" cy="8356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6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0598-3614-0853-75E5-38CDEA469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608F72D-E61B-DCAE-FC66-C91A5132782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C037E6-3ED5-CD4F-4EEC-06851711A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LÓGICA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175A738-9CBE-E608-16A5-A55959636D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23DC000-964F-75C2-3668-5297046B0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150" y="2769759"/>
            <a:ext cx="6085250" cy="2645228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A lógica é a área que estuda os princípios do raciocínio válido. 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Ela permite analisar argumentos, identificar contradições e verificar a validade de uma conclusão</a:t>
            </a:r>
            <a:endParaRPr lang="pt-BR" sz="22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ED0D16C-6362-EC7F-2F0E-9AD4B9130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714" y="1586257"/>
            <a:ext cx="4234679" cy="501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69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B8370-ACAE-D936-0547-891B2334A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D9D1432-BB39-37E2-57D3-5184F170FA3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F7744E-FFEE-9560-564B-287D60EDC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LÓGICA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4B46C36-4233-0184-116F-40A87A5786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14AA13A-B265-2EAA-3448-0B47B490D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150" y="1687285"/>
            <a:ext cx="6509794" cy="4811485"/>
          </a:xfrm>
        </p:spPr>
        <p:txBody>
          <a:bodyPr>
            <a:normAutofit/>
          </a:bodyPr>
          <a:lstStyle/>
          <a:p>
            <a:pPr algn="just"/>
            <a:r>
              <a:rPr lang="pt-BR" sz="2400" b="1" dirty="0"/>
              <a:t>Lógica Informal:</a:t>
            </a:r>
            <a:endParaRPr lang="pt-BR" sz="2400" dirty="0"/>
          </a:p>
          <a:p>
            <a:pPr marL="0" indent="0" algn="just">
              <a:buNone/>
            </a:pPr>
            <a:endParaRPr lang="pt-BR" sz="2400" dirty="0"/>
          </a:p>
          <a:p>
            <a:pPr marL="0" indent="0" algn="just">
              <a:buNone/>
            </a:pPr>
            <a:r>
              <a:rPr lang="pt-BR" sz="2400" dirty="0"/>
              <a:t>Analisa argumentos presentes na linguagem cotidiana, considerando seu significado, contexto e possíveis falácias.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i="1" dirty="0"/>
              <a:t>Exemplo: </a:t>
            </a:r>
          </a:p>
          <a:p>
            <a:pPr marL="0" indent="0" algn="just">
              <a:buNone/>
            </a:pPr>
            <a:r>
              <a:rPr lang="pt-BR" sz="2400" i="1" dirty="0"/>
              <a:t>"Todos os meus amigos gostam de jogos. Portanto, todas as pessoas gostam de jogos." </a:t>
            </a:r>
          </a:p>
          <a:p>
            <a:pPr algn="just"/>
            <a:endParaRPr lang="pt-BR" sz="2400" dirty="0"/>
          </a:p>
          <a:p>
            <a:pPr marL="0" indent="0" algn="just">
              <a:buNone/>
            </a:pPr>
            <a:r>
              <a:rPr lang="pt-BR" sz="2400" i="1" u="sng" dirty="0"/>
              <a:t>Essa conclusão é uma generalização indevida.</a:t>
            </a:r>
            <a:endParaRPr lang="pt-BR" sz="2200" i="1" u="sng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52391143-7C8C-2ACE-4BC8-3DE74CAA1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39" y="4049487"/>
            <a:ext cx="4846062" cy="280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26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89C08-1974-6B53-179C-75ED2598F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7BD3521-5741-5871-702F-70559B84742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D16117-1FB1-92E2-24E8-5086FF84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LÓGICA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910A963-3645-DA7E-A247-3451706513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B535E02-CF2E-E13D-ECE7-B23AAD8F3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500" y="1583748"/>
            <a:ext cx="10780999" cy="25854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dirty="0"/>
              <a:t>Lógica Formal e Matemática:</a:t>
            </a:r>
            <a:endParaRPr lang="pt-BR" sz="2400" dirty="0"/>
          </a:p>
          <a:p>
            <a:pPr algn="just"/>
            <a:r>
              <a:rPr lang="pt-BR" sz="2400" dirty="0"/>
              <a:t>Estuda a estrutura dos argumentos por meio de linguagens e regras bem definidas (verificando a validade de um raciocínio independentemente do assunto).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Símbolos, linguagens formais e métodos matemáticos são aplicados para estudar as proposições compostas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0A3446-C907-8A59-7557-628D3C890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570" y="4397580"/>
            <a:ext cx="4245430" cy="246042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21D6388-4D02-FE68-BDC8-2F6D7C339047}"/>
              </a:ext>
            </a:extLst>
          </p:cNvPr>
          <p:cNvSpPr txBox="1"/>
          <p:nvPr/>
        </p:nvSpPr>
        <p:spPr>
          <a:xfrm>
            <a:off x="877497" y="4904138"/>
            <a:ext cx="606758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/>
              <a:t>Exemplo: </a:t>
            </a:r>
          </a:p>
          <a:p>
            <a:endParaRPr lang="pt-BR" sz="2000" b="1" i="1" dirty="0"/>
          </a:p>
          <a:p>
            <a:r>
              <a:rPr lang="pt-BR" sz="2000" b="1" i="1" dirty="0"/>
              <a:t>“P ^ Q” </a:t>
            </a:r>
            <a:r>
              <a:rPr lang="pt-BR" sz="2000" i="1" dirty="0"/>
              <a:t>representa que ambas as proposições P e Q são verdadeiros simultaneamente.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CBBDDD6-3D77-E129-8D07-91366E094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39" y="4049487"/>
            <a:ext cx="4846062" cy="280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31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10CFD-E24E-C013-A2DF-A7DE2BA5F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916000B-40A0-95D4-CE3A-A1E6F8E8D02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971EA0-7BF3-3323-B914-990C1BA10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LÓGICA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83854C5-7EBA-FF13-C3BD-FE871833E2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C3ECD86-BAA5-28D2-6360-290B651B8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500" y="1583748"/>
            <a:ext cx="7273729" cy="5100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/>
              <a:t>Lógica proposicional</a:t>
            </a:r>
          </a:p>
          <a:p>
            <a:pPr algn="just"/>
            <a:r>
              <a:rPr lang="pt-BR" sz="2400" dirty="0"/>
              <a:t>A lógica proposicional estuda proposições como unidades completas, que podem ser classificadas como verdadeiras ou falsas.</a:t>
            </a:r>
          </a:p>
          <a:p>
            <a:endParaRPr lang="pt-BR" sz="2400" dirty="0"/>
          </a:p>
          <a:p>
            <a:pPr marL="0" indent="0">
              <a:buNone/>
            </a:pPr>
            <a:r>
              <a:rPr lang="pt-BR" sz="2400" dirty="0"/>
              <a:t>Considere:</a:t>
            </a:r>
          </a:p>
          <a:p>
            <a:pPr lvl="1"/>
            <a:r>
              <a:rPr lang="pt-BR" i="1" dirty="0"/>
              <a:t>P: "Está chovendo."</a:t>
            </a:r>
          </a:p>
          <a:p>
            <a:pPr lvl="1"/>
            <a:r>
              <a:rPr lang="pt-BR" i="1" dirty="0"/>
              <a:t>Q: "A rua está molhada."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Essas proposições podem ser </a:t>
            </a:r>
            <a:r>
              <a:rPr lang="pt-BR" sz="2400" dirty="0" err="1"/>
              <a:t>combinaddas</a:t>
            </a:r>
            <a:r>
              <a:rPr lang="pt-BR" sz="2400" dirty="0"/>
              <a:t> com conectivos lógicos (AND, OR, </a:t>
            </a:r>
            <a:r>
              <a:rPr lang="pt-BR" sz="2400" dirty="0">
                <a:sym typeface="Wingdings" panose="05000000000000000000" pitchFamily="2" charset="2"/>
              </a:rPr>
              <a:t>,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↔, NOT</a:t>
            </a:r>
            <a:r>
              <a:rPr lang="pt-BR" sz="2400" dirty="0"/>
              <a:t>)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7D70AEA-C92C-736D-FF56-001A4B852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27019" y1="38771" x2="71588" y2="76832"/>
                        <a14:foregroundMark x1="73259" y1="37352" x2="22563" y2="73050"/>
                        <a14:foregroundMark x1="46240" y1="52719" x2="52089" y2="515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35265" y="1810003"/>
            <a:ext cx="3915221" cy="461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76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5619C-AAE5-60EC-2B25-081F8FF9C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404D206-6B1E-21A6-948F-88A7D2BEA7D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9184AF-1A10-1AEA-1F91-EADC2A82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LÓGICA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2652363-7E41-EF23-1FBA-6AA55E3DB0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FD1EDC3-ABA7-5104-68EA-860DD8551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215" y="1810003"/>
            <a:ext cx="7273729" cy="48566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400" b="1" dirty="0"/>
              <a:t>Lógica de predicados</a:t>
            </a:r>
          </a:p>
          <a:p>
            <a:pPr algn="just"/>
            <a:r>
              <a:rPr lang="pt-BR" sz="2400" dirty="0"/>
              <a:t>A lógica de predicados amplia a capacidade de representação da lógica proposicional. 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Ela permite expressar propriedades de objetos, relações entre objetos e afirmações sobre conjuntos de indivíduos.</a:t>
            </a:r>
          </a:p>
          <a:p>
            <a:pPr marL="0" indent="0" algn="just">
              <a:buNone/>
            </a:pPr>
            <a:r>
              <a:rPr lang="pt-BR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pt-BR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Ɐx(Programador(x) </a:t>
            </a:r>
            <a:r>
              <a:rPr lang="pt-BR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pt-BR" sz="24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ConheceAlgoritmos</a:t>
            </a:r>
            <a:r>
              <a:rPr lang="pt-BR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(x))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B57E60-6D6E-EADD-E421-02C0F1976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27019" y1="38771" x2="71588" y2="76832"/>
                        <a14:foregroundMark x1="73259" y1="37352" x2="22563" y2="73050"/>
                        <a14:foregroundMark x1="46240" y1="52719" x2="52089" y2="515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35265" y="1810003"/>
            <a:ext cx="3915221" cy="461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478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2060</TotalTime>
  <Words>772</Words>
  <Application>Microsoft Office PowerPoint</Application>
  <PresentationFormat>Widescreen</PresentationFormat>
  <Paragraphs>145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Courier New</vt:lpstr>
      <vt:lpstr>Gill Sans MT</vt:lpstr>
      <vt:lpstr>Times New Roman</vt:lpstr>
      <vt:lpstr>Wingdings</vt:lpstr>
      <vt:lpstr>Tema do Office</vt:lpstr>
      <vt:lpstr>Pacote</vt:lpstr>
      <vt:lpstr>módulo 1 – FUNDAMENTOS</vt:lpstr>
      <vt:lpstr>FUNDAMENTOS</vt:lpstr>
      <vt:lpstr>Por que o computador precisa da Matemática Discreta?</vt:lpstr>
      <vt:lpstr>DISCRETIZAÇÃO</vt:lpstr>
      <vt:lpstr>DISCRETIZAÇÃO</vt:lpstr>
      <vt:lpstr>Apenas discretizar é suficiente?</vt:lpstr>
      <vt:lpstr>DISCRETIZAÇÃO</vt:lpstr>
      <vt:lpstr>DISCRETIZAÇÃO</vt:lpstr>
      <vt:lpstr>LÓGICA</vt:lpstr>
      <vt:lpstr>LÓGICA</vt:lpstr>
      <vt:lpstr>LÓGICA</vt:lpstr>
      <vt:lpstr>LÓGICA</vt:lpstr>
      <vt:lpstr>LÓGICA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170</cp:revision>
  <dcterms:created xsi:type="dcterms:W3CDTF">2026-07-26T12:48:37Z</dcterms:created>
  <dcterms:modified xsi:type="dcterms:W3CDTF">2026-10-17T17:27:14Z</dcterms:modified>
</cp:coreProperties>
</file>