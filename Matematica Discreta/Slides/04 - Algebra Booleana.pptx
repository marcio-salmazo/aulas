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15"/>
  </p:notesMasterIdLst>
  <p:sldIdLst>
    <p:sldId id="333" r:id="rId3"/>
    <p:sldId id="334" r:id="rId4"/>
    <p:sldId id="332" r:id="rId5"/>
    <p:sldId id="323" r:id="rId6"/>
    <p:sldId id="324" r:id="rId7"/>
    <p:sldId id="326" r:id="rId8"/>
    <p:sldId id="325" r:id="rId9"/>
    <p:sldId id="327" r:id="rId10"/>
    <p:sldId id="335" r:id="rId11"/>
    <p:sldId id="329" r:id="rId12"/>
    <p:sldId id="330" r:id="rId13"/>
    <p:sldId id="321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A537"/>
    <a:srgbClr val="FFFFFF"/>
    <a:srgbClr val="C0504D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9" autoAdjust="0"/>
    <p:restoredTop sz="77515" autoAdjust="0"/>
  </p:normalViewPr>
  <p:slideViewPr>
    <p:cSldViewPr snapToGrid="0">
      <p:cViewPr varScale="1">
        <p:scale>
          <a:sx n="69" d="100"/>
          <a:sy n="69" d="100"/>
        </p:scale>
        <p:origin x="468" y="60"/>
      </p:cViewPr>
      <p:guideLst/>
    </p:cSldViewPr>
  </p:slideViewPr>
  <p:outlineViewPr>
    <p:cViewPr>
      <p:scale>
        <a:sx n="33" d="100"/>
        <a:sy n="33" d="100"/>
      </p:scale>
      <p:origin x="0" y="-171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2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F6697-C208-5BBC-94E9-543DF8621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32F391-2563-7041-A001-314D27584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D7A20EC-1517-8ABA-9A72-F398BCF41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4DE3B9-4624-81DA-27D6-13377D6CC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2283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B99CF-ECE7-C852-DDD3-CE5EE768F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232D8EF-CE7D-49A7-41A0-2BE2DE3D7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A7C2474-776E-1BEC-FB1F-2CD647F9C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695F6D-26AE-394E-9C4C-E41B4281E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7985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7ACEF-7662-3572-6FF3-5FDA5CC7A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61DCEF8-047A-86CB-ACE6-7166B440A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3684A89-F8F8-C3ED-5A48-75E6297CE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DFBD8B-1D78-FE31-4731-495437C61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1098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1A2E0-FB46-B836-021E-844BFB4B6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9BAAF07-29DA-2F27-538F-9CEEDC6A2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4009C58-40AA-03A7-58F2-2AC48C89D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B215D6-A640-03EC-F417-5684F34D9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1660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67E9-3E66-9237-36E1-4A0F667FD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F524E4-8FB9-DF82-2967-E2851A6A29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584410B-248B-1071-C300-B38B9F6E0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13451B-DE25-8C58-4DF5-F677A09D9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1010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26BE6-F997-1CA6-3303-6C5516021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A36A60B-2369-71F7-2B59-00B305607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AFCD7FD-0302-B9E7-E6C7-169D1D145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1306875-CF96-FF47-32FF-0BDD0B2C4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7650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447BD-775A-0524-8020-12254EF0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AADBBE6-D81C-4F88-3769-24AAFAC74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13A5BA-9CCF-A318-AC4A-423F983A1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2CB914-93FB-41AF-66C7-77D2BA02D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71864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BDB76-BE77-004C-6B56-CF264DB88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FF62AF2-8207-331E-51BF-9129C3AEE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9C361FB-2CD0-FB52-11B0-452416DB3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E04414-BB2D-EE24-BCCC-9390238E7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9962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7AECF-DFC8-93FC-CB35-019C77E72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67179DB-577C-2938-EB44-73138DB40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86D73F6-CE06-36C2-B437-2EAE233C1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1924B2-E1DE-87D5-99AE-1381EE0E5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9407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5DEEE-D38E-6E5B-A46B-05A8F40A4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73ED0E8-0FD0-E511-5935-4DBBA836E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EB6B244-B453-E918-02F4-6818123C4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80C0FB-0932-6B55-C499-0FFF6028B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8877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37B77-219A-C554-AE96-F655EB0FB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A506B48-92CB-64B7-BAB5-F6F678DFD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BD5F985-2532-FE24-1F87-CAFBB03D1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717CBF-5BA0-8E30-4C28-E896E58F2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3682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0221E-6368-1C7D-9593-484248ACF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D60B933-EE74-A667-09B1-66F8CCC1F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7F52DF8-BCEA-CDA9-5237-324EF1EE4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A54C782-31C4-95EE-3CD4-D14A40A103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0849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5.png"/><Relationship Id="rId4" Type="http://schemas.openxmlformats.org/officeDocument/2006/relationships/image" Target="../media/image14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7649F-24B5-B038-2AAF-C9E9027A5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02440-68B0-28B7-4A80-0BCABD010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módulo 4 – álgebra booleana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DA732B-E7EB-C9FF-271B-66E9EE18C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0A5B6D4-9FCD-B25F-1D65-9BAABF823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9652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EAA3B-2C01-F295-2C01-AF45DFBFC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38D72F3-CE05-A213-B32A-A572BF70669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6C1FC8-0F93-EEE7-D1B6-8D7CFE6C4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ALGEBRA BOOLEANA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35AB691-ABF9-4383-8E85-3569CF535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2150" y="1955420"/>
            <a:ext cx="8267700" cy="4488924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A álgebra booleana é um sistema matemático utilizado como base para a </a:t>
            </a:r>
            <a:r>
              <a:rPr lang="pt-BR" sz="2400" b="1" dirty="0"/>
              <a:t>lógica digital</a:t>
            </a:r>
            <a:r>
              <a:rPr lang="pt-BR" sz="2400" dirty="0"/>
              <a:t>, a </a:t>
            </a:r>
            <a:r>
              <a:rPr lang="pt-BR" sz="2400" b="1" dirty="0"/>
              <a:t>programação</a:t>
            </a:r>
            <a:r>
              <a:rPr lang="pt-BR" sz="2400" dirty="0"/>
              <a:t> e o funcionamento dos computadores.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A álgebra booleana </a:t>
            </a:r>
            <a:r>
              <a:rPr lang="pt-BR" sz="2400" b="1" u="sng" dirty="0"/>
              <a:t>traduz</a:t>
            </a:r>
            <a:r>
              <a:rPr lang="pt-BR" sz="2400" dirty="0"/>
              <a:t> a lógica proposicional para um contexto matemático.</a:t>
            </a:r>
          </a:p>
          <a:p>
            <a:pPr algn="just"/>
            <a:endParaRPr lang="pt-BR" sz="2400" dirty="0">
              <a:sym typeface="Wingdings" panose="05000000000000000000" pitchFamily="2" charset="2"/>
            </a:endParaRPr>
          </a:p>
          <a:p>
            <a:pPr algn="just"/>
            <a:r>
              <a:rPr lang="pt-BR" sz="2400" dirty="0"/>
              <a:t>O uso deste sistema facilita a simplificação de expressões lógicas, sendo útil no contexto de sistemas digitais lógicos.</a:t>
            </a:r>
          </a:p>
          <a:p>
            <a:pPr marL="0" indent="0" algn="just">
              <a:buNone/>
            </a:pPr>
            <a:r>
              <a:rPr lang="pt-BR" sz="2400" dirty="0"/>
              <a:t>	</a:t>
            </a:r>
          </a:p>
          <a:p>
            <a:pPr marL="0" indent="0" algn="just">
              <a:buNone/>
            </a:pPr>
            <a:endParaRPr lang="pt-BR" sz="2400" dirty="0"/>
          </a:p>
          <a:p>
            <a:pPr algn="just"/>
            <a:endParaRPr lang="pt-BR" sz="2200" dirty="0"/>
          </a:p>
          <a:p>
            <a:pPr lvl="1" algn="just"/>
            <a:endParaRPr lang="pt-BR" sz="2000" dirty="0"/>
          </a:p>
          <a:p>
            <a:pPr marL="914400" lvl="1" indent="-457200" algn="just">
              <a:buFont typeface="+mj-lt"/>
              <a:buAutoNum type="arabicPeriod"/>
            </a:pPr>
            <a:endParaRPr lang="pt-BR" b="1" i="1" dirty="0">
              <a:latin typeface="Cambria Math" panose="02040503050406030204" pitchFamily="18" charset="0"/>
            </a:endParaRPr>
          </a:p>
          <a:p>
            <a:pPr marL="457200" lvl="1" indent="0" algn="just">
              <a:buNone/>
            </a:pPr>
            <a:endParaRPr lang="pt-BR" b="1" dirty="0"/>
          </a:p>
          <a:p>
            <a:pPr marL="457200" lvl="1" indent="0" algn="just">
              <a:buNone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796939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657AE-307F-BF7B-83B5-E5EEE20D7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7AABB55-32D7-5660-1B7B-37FCB61F6EFF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1260A6-3C07-1BE4-AB53-24D1107E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ALGEBRA BOOLEANA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39DDE79E-1CD0-DFFD-47FD-D9A2F01FE0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7197" y="1813905"/>
                <a:ext cx="10517606" cy="4902581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Assim como na lógica proposicional, a álgebra booleana </a:t>
                </a:r>
                <a:r>
                  <a:rPr lang="pt-BR" sz="2400" dirty="0">
                    <a:sym typeface="Wingdings" panose="05000000000000000000" pitchFamily="2" charset="2"/>
                  </a:rPr>
                  <a:t>utiliza os 3 principais operadores lógicos </a:t>
                </a:r>
                <a:r>
                  <a:rPr lang="pt-BR" sz="2400" b="1" dirty="0">
                    <a:sym typeface="Wingdings" panose="05000000000000000000" pitchFamily="2" charset="2"/>
                  </a:rPr>
                  <a:t>(AND, OR e NOT)</a:t>
                </a:r>
                <a:r>
                  <a:rPr lang="pt-BR" sz="2400" dirty="0">
                    <a:sym typeface="Wingdings" panose="05000000000000000000" pitchFamily="2" charset="2"/>
                  </a:rPr>
                  <a:t> e </a:t>
                </a:r>
                <a:r>
                  <a:rPr lang="pt-BR" sz="2400" dirty="0"/>
                  <a:t>trabalha  com dois valores para resultados:</a:t>
                </a:r>
              </a:p>
              <a:p>
                <a:endParaRPr lang="pt-BR" dirty="0"/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NOT </a:t>
                </a:r>
                <a:r>
                  <a:rPr lang="pt-BR" sz="2200" dirty="0">
                    <a:sym typeface="Wingdings" panose="05000000000000000000" pitchFamily="2" charset="2"/>
                  </a:rPr>
                  <a:t> </a:t>
                </a:r>
                <a:r>
                  <a:rPr lang="pt-BR" sz="2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− (Barra superior)</a:t>
                </a:r>
                <a:endParaRPr lang="pt-BR" sz="2200" dirty="0"/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OR </a:t>
                </a:r>
                <a:r>
                  <a:rPr lang="pt-BR" sz="2200" dirty="0">
                    <a:sym typeface="Wingdings" panose="05000000000000000000" pitchFamily="2" charset="2"/>
                  </a:rPr>
                  <a:t> +</a:t>
                </a:r>
                <a:endParaRPr lang="pt-BR" sz="2200" dirty="0"/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AND </a:t>
                </a:r>
                <a:r>
                  <a:rPr lang="pt-BR" sz="2200" dirty="0">
                    <a:sym typeface="Wingdings" panose="05000000000000000000" pitchFamily="2" charset="2"/>
                  </a:rPr>
                  <a:t> * (Multiplicação)</a:t>
                </a:r>
                <a:endParaRPr lang="pt-BR" sz="2200" dirty="0"/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Verdadeiro </a:t>
                </a:r>
                <a:r>
                  <a:rPr lang="pt-BR" sz="2200" dirty="0">
                    <a:sym typeface="Wingdings" panose="05000000000000000000" pitchFamily="2" charset="2"/>
                  </a:rPr>
                  <a:t> 1</a:t>
                </a:r>
                <a:endParaRPr lang="pt-BR" sz="2200" dirty="0"/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sz="2200" dirty="0">
                    <a:sym typeface="Wingdings" panose="05000000000000000000" pitchFamily="2" charset="2"/>
                  </a:rPr>
                  <a:t>Falso  0</a:t>
                </a:r>
              </a:p>
              <a:p>
                <a:pPr marL="457200" lvl="1" indent="0">
                  <a:buNone/>
                </a:pPr>
                <a:endParaRPr lang="pt-BR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endParaRPr>
              </a:p>
              <a:p>
                <a:endParaRPr lang="pt-BR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endParaRPr>
              </a:p>
              <a:p>
                <a:r>
                  <a:rPr lang="pt-B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Exemplo de equivalência entre uma sentença lógica e a escrita na Álgebra Booleana: </a:t>
                </a:r>
                <a14:m>
                  <m:oMath xmlns:m="http://schemas.openxmlformats.org/officeDocument/2006/math"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∧¬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𝑨</m:t>
                    </m:r>
                    <m:acc>
                      <m:accPr>
                        <m:chr m:val="̅"/>
                        <m:ctrlPr>
                          <a:rPr lang="pt-BR" sz="24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endParaRPr lang="pt-BR" sz="2600" dirty="0">
                  <a:sym typeface="Wingdings" panose="05000000000000000000" pitchFamily="2" charset="2"/>
                </a:endParaRPr>
              </a:p>
              <a:p>
                <a:pPr marL="0" indent="0" algn="just">
                  <a:buNone/>
                </a:pPr>
                <a:endParaRPr lang="pt-BR" sz="2400" dirty="0"/>
              </a:p>
              <a:p>
                <a:pPr algn="just"/>
                <a:endParaRPr lang="pt-BR" sz="2200" dirty="0"/>
              </a:p>
              <a:p>
                <a:pPr lvl="1" algn="just"/>
                <a:endParaRPr lang="pt-BR" sz="2000" dirty="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39DDE79E-1CD0-DFFD-47FD-D9A2F01FE0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7197" y="1813905"/>
                <a:ext cx="10517606" cy="4902581"/>
              </a:xfrm>
              <a:blipFill>
                <a:blip r:embed="rId3"/>
                <a:stretch>
                  <a:fillRect l="-753" t="-1741" r="-7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tângulo 2">
            <a:extLst>
              <a:ext uri="{FF2B5EF4-FFF2-40B4-BE49-F238E27FC236}">
                <a16:creationId xmlns:a16="http://schemas.microsoft.com/office/drawing/2014/main" id="{199C0702-998B-F1BE-15ED-6A960396E991}"/>
              </a:ext>
            </a:extLst>
          </p:cNvPr>
          <p:cNvSpPr/>
          <p:nvPr/>
        </p:nvSpPr>
        <p:spPr>
          <a:xfrm>
            <a:off x="7206342" y="3048000"/>
            <a:ext cx="2732315" cy="1741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Observação: A </a:t>
            </a:r>
            <a:r>
              <a:rPr lang="pt-BR" b="1" i="1" dirty="0"/>
              <a:t>condicional</a:t>
            </a:r>
            <a:r>
              <a:rPr lang="pt-BR" dirty="0"/>
              <a:t> e a </a:t>
            </a:r>
            <a:r>
              <a:rPr lang="pt-BR" b="1" i="1" dirty="0"/>
              <a:t>bi condicional </a:t>
            </a:r>
            <a:r>
              <a:rPr lang="pt-BR" dirty="0"/>
              <a:t>podem ser descritas como expressões booleanas</a:t>
            </a:r>
            <a:r>
              <a:rPr lang="pt-BR" dirty="0">
                <a:sym typeface="Wingdings" panose="05000000000000000000" pitchFamily="2" charset="2"/>
              </a:rPr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704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3373A-5957-3EE2-D8B5-E7AF6BE33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256B80D-122C-67B3-D7A3-D857CBACC84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74A2B9-8816-981F-D521-2D0F8B2E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EQUIVALÊNCIAS LÓGICAS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5268FB95-6A86-660B-E412-277505028C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8927" y="1817914"/>
                <a:ext cx="10614145" cy="4452257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sz="2400" dirty="0"/>
                  <a:t>A ideia central das equivalências lógicas vem do seguinte princípio:</a:t>
                </a:r>
              </a:p>
              <a:p>
                <a:pPr algn="just"/>
                <a:endParaRPr lang="pt-BR" sz="24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200" i="1" dirty="0"/>
                  <a:t>“Duas expressões lógicas podem ter </a:t>
                </a:r>
                <a:r>
                  <a:rPr lang="pt-BR" sz="2200" b="1" i="1" dirty="0"/>
                  <a:t>escritas diferentes</a:t>
                </a:r>
                <a:r>
                  <a:rPr lang="pt-BR" sz="2200" i="1" dirty="0"/>
                  <a:t>, mas representar exatamente a </a:t>
                </a:r>
                <a:r>
                  <a:rPr lang="pt-BR" sz="2200" b="1" i="1" dirty="0"/>
                  <a:t>mesma lógica</a:t>
                </a:r>
                <a:r>
                  <a:rPr lang="pt-BR" sz="2200" i="1" dirty="0"/>
                  <a:t>. Quando isso acontece, temos uma equivalência lógica.”</a:t>
                </a: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endParaRPr lang="pt-BR" sz="2200" i="1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A partir daí, são definidas ferramentas para transformar e simplificar expressões sem alterar seu significado lógico.</a:t>
                </a: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endParaRPr lang="pt-BR" sz="2200" dirty="0"/>
              </a:p>
              <a:p>
                <a:pPr marL="3200400" lvl="7" indent="0" algn="just">
                  <a:buNone/>
                </a:pPr>
                <a:r>
                  <a:rPr lang="pt-BR" sz="2000" dirty="0"/>
                  <a:t>   Por exemplo:</a:t>
                </a:r>
              </a:p>
              <a:p>
                <a:pPr marL="914400" lvl="2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800" b="0" i="1" smtClean="0"/>
                        <m:t>A</m:t>
                      </m:r>
                      <m:r>
                        <m:rPr>
                          <m:nor/>
                        </m:rPr>
                        <a:rPr lang="pt-BR" sz="2800" b="0" i="1" smtClean="0"/>
                        <m:t> → </m:t>
                      </m:r>
                      <m:r>
                        <m:rPr>
                          <m:nor/>
                        </m:rPr>
                        <a:rPr lang="pt-BR" sz="2800" b="0" i="1" smtClean="0"/>
                        <m:t>B</m:t>
                      </m:r>
                      <m:r>
                        <m:rPr>
                          <m:nor/>
                        </m:rPr>
                        <a:rPr lang="pt-BR" sz="2800" b="0" i="1" smtClean="0"/>
                        <m:t> = </m:t>
                      </m:r>
                      <m:acc>
                        <m:accPr>
                          <m:chr m:val="̅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m:rPr>
                          <m:nor/>
                        </m:rPr>
                        <a:rPr lang="pt-BR" sz="2800" b="0" i="1" smtClean="0"/>
                        <m:t> ∗ </m:t>
                      </m:r>
                      <m:r>
                        <m:rPr>
                          <m:nor/>
                        </m:rPr>
                        <a:rPr lang="pt-BR" sz="2800" b="0" i="1" smtClean="0"/>
                        <m:t>B</m:t>
                      </m:r>
                    </m:oMath>
                  </m:oMathPara>
                </a14:m>
                <a:endParaRPr lang="pt-BR" sz="2800" i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5268FB95-6A86-660B-E412-277505028C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8927" y="1817914"/>
                <a:ext cx="10614145" cy="4452257"/>
              </a:xfrm>
              <a:blipFill>
                <a:blip r:embed="rId3"/>
                <a:stretch>
                  <a:fillRect l="-746" t="-1915" r="-6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4170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697D8-249B-B00D-3326-0F638A691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89BDB8B-1BCD-5C02-234C-0B8886222B5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5BD8F5-E63E-115C-E0C5-3921F8284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LEI DE MORGAN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D0E199CC-C942-BB8F-7B74-975130C62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4641" y="1884088"/>
                <a:ext cx="8299450" cy="4173812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sz="2400" dirty="0"/>
                  <a:t>Provavelmente as equivalências mais importantes para a computação, ela estipula duas possibilidades:</a:t>
                </a:r>
              </a:p>
              <a:p>
                <a:pPr algn="just"/>
                <a:endParaRPr lang="pt-BR" sz="2400" dirty="0"/>
              </a:p>
              <a:p>
                <a:pPr marL="914400" lvl="1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pt-BR" b="1">
                        <a:latin typeface="Cambria Math" panose="02040503050406030204" pitchFamily="18" charset="0"/>
                      </a:rPr>
                      <m:t>≡</m:t>
                    </m:r>
                    <m:acc>
                      <m:accPr>
                        <m:chr m:val="̅"/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pt-BR" b="1" i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endParaRPr lang="pt-BR" b="1" dirty="0"/>
              </a:p>
              <a:p>
                <a:pPr lvl="2" algn="just"/>
                <a:r>
                  <a:rPr lang="pt-BR" sz="2200" i="1" dirty="0"/>
                  <a:t>"Não é verdade que P e Q” </a:t>
                </a:r>
                <a:r>
                  <a:rPr lang="pt-BR" sz="2200" dirty="0"/>
                  <a:t>equivale a </a:t>
                </a:r>
                <a:r>
                  <a:rPr lang="pt-BR" sz="2200" i="1" dirty="0"/>
                  <a:t>"P é falso ou Q é falso."</a:t>
                </a:r>
                <a:endParaRPr lang="pt-BR" sz="2200" b="1" i="1" dirty="0"/>
              </a:p>
              <a:p>
                <a:pPr marL="1371600" lvl="2" indent="-457200" algn="just">
                  <a:buFont typeface="+mj-lt"/>
                  <a:buAutoNum type="arabicPeriod"/>
                </a:pPr>
                <a:endParaRPr lang="pt-BR" b="1" dirty="0"/>
              </a:p>
              <a:p>
                <a:pPr marL="914400" lvl="1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  <m:r>
                      <a:rPr lang="pt-BR" b="1">
                        <a:latin typeface="Cambria Math" panose="02040503050406030204" pitchFamily="18" charset="0"/>
                      </a:rPr>
                      <m:t>≡</m:t>
                    </m:r>
                    <m:acc>
                      <m:accPr>
                        <m:chr m:val="̅"/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acc>
                      <m:accPr>
                        <m:chr m:val="̅"/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endParaRPr lang="pt-BR" b="1" i="0" dirty="0">
                  <a:latin typeface="Cambria Math" panose="02040503050406030204" pitchFamily="18" charset="0"/>
                </a:endParaRPr>
              </a:p>
              <a:p>
                <a:pPr lvl="2" algn="just"/>
                <a:r>
                  <a:rPr lang="pt-BR" sz="2200" i="1" dirty="0"/>
                  <a:t>"Não é verdade que P ou Q" </a:t>
                </a:r>
                <a:r>
                  <a:rPr lang="pt-BR" sz="2200" dirty="0"/>
                  <a:t>equivale a </a:t>
                </a:r>
                <a:r>
                  <a:rPr lang="pt-BR" sz="2200" i="1" dirty="0"/>
                  <a:t>"P é falso e Q é falso.“</a:t>
                </a:r>
                <a:endParaRPr lang="pt-BR" sz="2200" b="1" i="1" dirty="0"/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algn="just"/>
                <a:r>
                  <a:rPr lang="pt-BR" sz="2400" dirty="0"/>
                  <a:t>É comumente usada para a simplificação de expressões</a:t>
                </a:r>
              </a:p>
              <a:p>
                <a:pPr marL="457200" lvl="1" indent="0" algn="just">
                  <a:buNone/>
                </a:pPr>
                <a:endParaRPr lang="pt-BR" b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D0E199CC-C942-BB8F-7B74-975130C62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4641" y="1884088"/>
                <a:ext cx="8299450" cy="4173812"/>
              </a:xfrm>
              <a:blipFill>
                <a:blip r:embed="rId3"/>
                <a:stretch>
                  <a:fillRect l="-954" t="-2044" r="-11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m 2">
            <a:extLst>
              <a:ext uri="{FF2B5EF4-FFF2-40B4-BE49-F238E27FC236}">
                <a16:creationId xmlns:a16="http://schemas.microsoft.com/office/drawing/2014/main" id="{C51BA459-2FA0-EB1F-E221-D985BD3F17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9343"/>
          <a:stretch>
            <a:fillRect/>
          </a:stretch>
        </p:blipFill>
        <p:spPr>
          <a:xfrm>
            <a:off x="8968288" y="2400300"/>
            <a:ext cx="3223712" cy="3657600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019308DF-3F0F-4022-BB10-622B9C22AA37}"/>
              </a:ext>
            </a:extLst>
          </p:cNvPr>
          <p:cNvCxnSpPr>
            <a:cxnSpLocks/>
          </p:cNvCxnSpPr>
          <p:nvPr/>
        </p:nvCxnSpPr>
        <p:spPr>
          <a:xfrm>
            <a:off x="7629691" y="5600700"/>
            <a:ext cx="10811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4923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847F7-ABB7-B16F-C6D2-C1C625EB7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EF3F73D-222C-BBEA-C05E-4D4A8A45B37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26EF6E-CABF-F4E9-1F51-A3402B73D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PROPRIEDADE DA ABSORÇÃO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1FCA87F2-B20D-570B-0117-48C862EB83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6275" y="1703614"/>
                <a:ext cx="8299450" cy="2471344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sz="2400" dirty="0"/>
                  <a:t>Consiste na absorção de termos da expressão. A absorção pode ser expressa de duas maneiras:</a:t>
                </a:r>
              </a:p>
              <a:p>
                <a:pPr algn="just"/>
                <a:endParaRPr lang="pt-BR" sz="2400" dirty="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914400" lvl="1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pt-BR" b="1" dirty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pt-BR" b="1" i="1" dirty="0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pt-BR" b="1" dirty="0"/>
                  <a:t> </a:t>
                </a:r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1FCA87F2-B20D-570B-0117-48C862EB83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6275" y="1703614"/>
                <a:ext cx="8299450" cy="2471344"/>
              </a:xfrm>
              <a:blipFill>
                <a:blip r:embed="rId3"/>
                <a:stretch>
                  <a:fillRect l="-954" t="-3448" r="-11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2E1D69B8-9652-67F9-C58C-244716474C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2469877"/>
                  </p:ext>
                </p:extLst>
              </p:nvPr>
            </p:nvGraphicFramePr>
            <p:xfrm>
              <a:off x="6997854" y="2495120"/>
              <a:ext cx="4333888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8534">
                      <a:extLst>
                        <a:ext uri="{9D8B030D-6E8A-4147-A177-3AD203B41FA5}">
                          <a16:colId xmlns:a16="http://schemas.microsoft.com/office/drawing/2014/main" val="3352659932"/>
                        </a:ext>
                      </a:extLst>
                    </a:gridCol>
                    <a:gridCol w="596926">
                      <a:extLst>
                        <a:ext uri="{9D8B030D-6E8A-4147-A177-3AD203B41FA5}">
                          <a16:colId xmlns:a16="http://schemas.microsoft.com/office/drawing/2014/main" val="3526495656"/>
                        </a:ext>
                      </a:extLst>
                    </a:gridCol>
                    <a:gridCol w="1391571">
                      <a:extLst>
                        <a:ext uri="{9D8B030D-6E8A-4147-A177-3AD203B41FA5}">
                          <a16:colId xmlns:a16="http://schemas.microsoft.com/office/drawing/2014/main" val="306565519"/>
                        </a:ext>
                      </a:extLst>
                    </a:gridCol>
                    <a:gridCol w="1776857">
                      <a:extLst>
                        <a:ext uri="{9D8B030D-6E8A-4147-A177-3AD203B41FA5}">
                          <a16:colId xmlns:a16="http://schemas.microsoft.com/office/drawing/2014/main" val="3885820698"/>
                        </a:ext>
                      </a:extLst>
                    </a:gridCol>
                  </a:tblGrid>
                  <a:tr h="4628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d>
                                  <m:dPr>
                                    <m:ctrlPr>
                                      <a:rPr lang="pt-BR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3103353"/>
                      </a:ext>
                    </a:extLst>
                  </a:tr>
                  <a:tr h="5785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02035967"/>
                      </a:ext>
                    </a:extLst>
                  </a:tr>
                  <a:tr h="523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3687263"/>
                      </a:ext>
                    </a:extLst>
                  </a:tr>
                  <a:tr h="5051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9305236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9394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2E1D69B8-9652-67F9-C58C-244716474C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2469877"/>
                  </p:ext>
                </p:extLst>
              </p:nvPr>
            </p:nvGraphicFramePr>
            <p:xfrm>
              <a:off x="6997854" y="2495120"/>
              <a:ext cx="4333888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8534">
                      <a:extLst>
                        <a:ext uri="{9D8B030D-6E8A-4147-A177-3AD203B41FA5}">
                          <a16:colId xmlns:a16="http://schemas.microsoft.com/office/drawing/2014/main" val="3352659932"/>
                        </a:ext>
                      </a:extLst>
                    </a:gridCol>
                    <a:gridCol w="596926">
                      <a:extLst>
                        <a:ext uri="{9D8B030D-6E8A-4147-A177-3AD203B41FA5}">
                          <a16:colId xmlns:a16="http://schemas.microsoft.com/office/drawing/2014/main" val="3526495656"/>
                        </a:ext>
                      </a:extLst>
                    </a:gridCol>
                    <a:gridCol w="1391571">
                      <a:extLst>
                        <a:ext uri="{9D8B030D-6E8A-4147-A177-3AD203B41FA5}">
                          <a16:colId xmlns:a16="http://schemas.microsoft.com/office/drawing/2014/main" val="306565519"/>
                        </a:ext>
                      </a:extLst>
                    </a:gridCol>
                    <a:gridCol w="1776857">
                      <a:extLst>
                        <a:ext uri="{9D8B030D-6E8A-4147-A177-3AD203B41FA5}">
                          <a16:colId xmlns:a16="http://schemas.microsoft.com/office/drawing/2014/main" val="3885820698"/>
                        </a:ext>
                      </a:extLst>
                    </a:gridCol>
                  </a:tblGrid>
                  <a:tr h="4628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3843" t="-9211" r="-129694" b="-482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44178" t="-9211" r="-1712" b="-482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3103353"/>
                      </a:ext>
                    </a:extLst>
                  </a:tr>
                  <a:tr h="5785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02035967"/>
                      </a:ext>
                    </a:extLst>
                  </a:tr>
                  <a:tr h="523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3687263"/>
                      </a:ext>
                    </a:extLst>
                  </a:tr>
                  <a:tr h="5051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9305236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9394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A5F20680-361B-AF4B-E294-11768A1B28BC}"/>
              </a:ext>
            </a:extLst>
          </p:cNvPr>
          <p:cNvSpPr txBox="1"/>
          <p:nvPr/>
        </p:nvSpPr>
        <p:spPr>
          <a:xfrm>
            <a:off x="860257" y="4464289"/>
            <a:ext cx="104714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De modo mais intuitivo, podemos supor:</a:t>
            </a:r>
          </a:p>
          <a:p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i="1" dirty="0"/>
              <a:t>"Eu vou à festa </a:t>
            </a:r>
            <a:r>
              <a:rPr lang="pt-BR" sz="2000" b="1" i="1" u="sng" dirty="0"/>
              <a:t>E</a:t>
            </a:r>
            <a:r>
              <a:rPr lang="pt-BR" sz="2000" b="1" i="1" dirty="0"/>
              <a:t> (vou à festa </a:t>
            </a:r>
            <a:r>
              <a:rPr lang="pt-BR" sz="2000" b="1" i="1" u="sng" dirty="0"/>
              <a:t>OU</a:t>
            </a:r>
            <a:r>
              <a:rPr lang="pt-BR" sz="2000" b="1" i="1" dirty="0"/>
              <a:t> vou ao cinema).“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Se ele vai à festa, a disjunção automaticamente fica verdadeira, validando também a conjunção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Se ele </a:t>
            </a:r>
            <a:r>
              <a:rPr lang="pt-BR" sz="2000" b="1" dirty="0"/>
              <a:t>não vai</a:t>
            </a:r>
            <a:r>
              <a:rPr lang="pt-BR" sz="2000" dirty="0"/>
              <a:t> à festa, a frase inteira se torna falsa, visto que a conjunção obriga a primeira parte a ser verdade.</a:t>
            </a:r>
            <a:endParaRPr lang="pt-BR" sz="2000" u="sng" dirty="0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3345AE60-D11E-8A95-1547-45AF63D1B4F1}"/>
              </a:ext>
            </a:extLst>
          </p:cNvPr>
          <p:cNvCxnSpPr>
            <a:cxnSpLocks/>
          </p:cNvCxnSpPr>
          <p:nvPr/>
        </p:nvCxnSpPr>
        <p:spPr>
          <a:xfrm>
            <a:off x="5439944" y="3459079"/>
            <a:ext cx="10811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372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69A63-3C4F-8F03-7D1C-97603B714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53FE7C8-676D-2F29-8CD2-0E8814A2D4F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F66993-6C95-A6E7-4C0D-4B3CF013E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PROPRIEDADE DA ABSORÇÃO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65831DEF-23AB-5E78-FA37-B46FF9E65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6274" y="2010182"/>
                <a:ext cx="8299450" cy="1106602"/>
              </a:xfrm>
            </p:spPr>
            <p:txBody>
              <a:bodyPr>
                <a:normAutofit/>
              </a:bodyPr>
              <a:lstStyle/>
              <a:p>
                <a:pPr marL="457200" lvl="1" indent="0" algn="just">
                  <a:buNone/>
                </a:pPr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914400" lvl="1" indent="-457200" algn="just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pt-BR" b="1" i="0" smtClean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d>
                    <m:r>
                      <a:rPr lang="pt-BR" b="1" dirty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pt-BR" b="1" i="0" dirty="0" smtClean="0"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pt-BR" b="1" dirty="0"/>
                  <a:t> </a:t>
                </a:r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65831DEF-23AB-5E78-FA37-B46FF9E65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6274" y="2010182"/>
                <a:ext cx="8299450" cy="1106602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49E3BFBE-B914-5F2B-F4BA-B6C037A26A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8009875"/>
                  </p:ext>
                </p:extLst>
              </p:nvPr>
            </p:nvGraphicFramePr>
            <p:xfrm>
              <a:off x="6997854" y="1821384"/>
              <a:ext cx="4333888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8534">
                      <a:extLst>
                        <a:ext uri="{9D8B030D-6E8A-4147-A177-3AD203B41FA5}">
                          <a16:colId xmlns:a16="http://schemas.microsoft.com/office/drawing/2014/main" val="3352659932"/>
                        </a:ext>
                      </a:extLst>
                    </a:gridCol>
                    <a:gridCol w="596926">
                      <a:extLst>
                        <a:ext uri="{9D8B030D-6E8A-4147-A177-3AD203B41FA5}">
                          <a16:colId xmlns:a16="http://schemas.microsoft.com/office/drawing/2014/main" val="3526495656"/>
                        </a:ext>
                      </a:extLst>
                    </a:gridCol>
                    <a:gridCol w="1391571">
                      <a:extLst>
                        <a:ext uri="{9D8B030D-6E8A-4147-A177-3AD203B41FA5}">
                          <a16:colId xmlns:a16="http://schemas.microsoft.com/office/drawing/2014/main" val="306565519"/>
                        </a:ext>
                      </a:extLst>
                    </a:gridCol>
                    <a:gridCol w="1776857">
                      <a:extLst>
                        <a:ext uri="{9D8B030D-6E8A-4147-A177-3AD203B41FA5}">
                          <a16:colId xmlns:a16="http://schemas.microsoft.com/office/drawing/2014/main" val="3885820698"/>
                        </a:ext>
                      </a:extLst>
                    </a:gridCol>
                  </a:tblGrid>
                  <a:tr h="4628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𝑨𝑩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pt-BR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𝑨𝑩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3103353"/>
                      </a:ext>
                    </a:extLst>
                  </a:tr>
                  <a:tr h="5785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02035967"/>
                      </a:ext>
                    </a:extLst>
                  </a:tr>
                  <a:tr h="523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3687263"/>
                      </a:ext>
                    </a:extLst>
                  </a:tr>
                  <a:tr h="5051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9305236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9394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49E3BFBE-B914-5F2B-F4BA-B6C037A26A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8009875"/>
                  </p:ext>
                </p:extLst>
              </p:nvPr>
            </p:nvGraphicFramePr>
            <p:xfrm>
              <a:off x="6997854" y="1821384"/>
              <a:ext cx="4333888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8534">
                      <a:extLst>
                        <a:ext uri="{9D8B030D-6E8A-4147-A177-3AD203B41FA5}">
                          <a16:colId xmlns:a16="http://schemas.microsoft.com/office/drawing/2014/main" val="3352659932"/>
                        </a:ext>
                      </a:extLst>
                    </a:gridCol>
                    <a:gridCol w="596926">
                      <a:extLst>
                        <a:ext uri="{9D8B030D-6E8A-4147-A177-3AD203B41FA5}">
                          <a16:colId xmlns:a16="http://schemas.microsoft.com/office/drawing/2014/main" val="3526495656"/>
                        </a:ext>
                      </a:extLst>
                    </a:gridCol>
                    <a:gridCol w="1391571">
                      <a:extLst>
                        <a:ext uri="{9D8B030D-6E8A-4147-A177-3AD203B41FA5}">
                          <a16:colId xmlns:a16="http://schemas.microsoft.com/office/drawing/2014/main" val="306565519"/>
                        </a:ext>
                      </a:extLst>
                    </a:gridCol>
                    <a:gridCol w="1776857">
                      <a:extLst>
                        <a:ext uri="{9D8B030D-6E8A-4147-A177-3AD203B41FA5}">
                          <a16:colId xmlns:a16="http://schemas.microsoft.com/office/drawing/2014/main" val="3885820698"/>
                        </a:ext>
                      </a:extLst>
                    </a:gridCol>
                  </a:tblGrid>
                  <a:tr h="4628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3843" t="-9211" r="-129694" b="-48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44178" t="-9211" r="-1712" b="-484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3103353"/>
                      </a:ext>
                    </a:extLst>
                  </a:tr>
                  <a:tr h="5785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02035967"/>
                      </a:ext>
                    </a:extLst>
                  </a:tr>
                  <a:tr h="523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3687263"/>
                      </a:ext>
                    </a:extLst>
                  </a:tr>
                  <a:tr h="5051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9305236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9394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1EFCCFE2-0444-ECE4-61A5-919189736A49}"/>
              </a:ext>
            </a:extLst>
          </p:cNvPr>
          <p:cNvSpPr txBox="1"/>
          <p:nvPr/>
        </p:nvSpPr>
        <p:spPr>
          <a:xfrm>
            <a:off x="860257" y="4135091"/>
            <a:ext cx="1047148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De modo mais intuitivo, podemos supor:</a:t>
            </a:r>
          </a:p>
          <a:p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i="1" dirty="0"/>
              <a:t>"Eu vou à festa </a:t>
            </a:r>
            <a:r>
              <a:rPr lang="pt-BR" sz="2000" b="1" i="1" u="sng" dirty="0"/>
              <a:t>OU</a:t>
            </a:r>
            <a:r>
              <a:rPr lang="pt-BR" sz="2000" b="1" i="1" dirty="0"/>
              <a:t> (vou à festa </a:t>
            </a:r>
            <a:r>
              <a:rPr lang="pt-BR" sz="2000" b="1" i="1" u="sng" dirty="0"/>
              <a:t>E</a:t>
            </a:r>
            <a:r>
              <a:rPr lang="pt-BR" sz="2000" b="1" i="1" dirty="0"/>
              <a:t> vou ao cinema).“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Se ele vai à festa, a frase inteira é verdade. Na disjunção, basta que um termo seja verdade, para o resultado ser verdadeiro.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Se ele </a:t>
            </a:r>
            <a:r>
              <a:rPr lang="pt-BR" sz="2000" b="1" dirty="0"/>
              <a:t>não vai</a:t>
            </a:r>
            <a:r>
              <a:rPr lang="pt-BR" sz="2000" dirty="0"/>
              <a:t> à festa, a frase inteira se torna falsa, visto que a conjunção obriga a primeira parte a ser verdade.</a:t>
            </a:r>
            <a:endParaRPr lang="pt-BR" sz="2000" u="sng" dirty="0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C667303E-5CF9-9F5F-31A1-C18912F23AC5}"/>
              </a:ext>
            </a:extLst>
          </p:cNvPr>
          <p:cNvCxnSpPr>
            <a:cxnSpLocks/>
          </p:cNvCxnSpPr>
          <p:nvPr/>
        </p:nvCxnSpPr>
        <p:spPr>
          <a:xfrm>
            <a:off x="5427912" y="2563483"/>
            <a:ext cx="10811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28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D4F0-4DB5-2190-CCC3-5F49DD555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AB51CEE-9FE8-E5C7-E287-876D58658F0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F855D8-80CA-3F0B-D18F-AC3413397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PROPRIEDADE DISTRIBUTIVA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CD720981-8C5D-841C-78FE-2C534287BB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6275" y="1703613"/>
                <a:ext cx="8299450" cy="450468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sz="2400" dirty="0"/>
                  <a:t>Para a conjunção, existe uma relação análoga à propriedade distributiva da álgebra:</a:t>
                </a:r>
              </a:p>
              <a:p>
                <a:pPr lvl="1" algn="just"/>
                <a:endParaRPr lang="pt-BR" sz="20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Na matemática temos: </a:t>
                </a:r>
                <a14:m>
                  <m:oMath xmlns:m="http://schemas.openxmlformats.org/officeDocument/2006/math"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pt-BR" sz="22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endParaRPr lang="pt-BR" sz="22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Na lógica temos: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∧(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)≡(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)∨(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200" dirty="0"/>
              </a:p>
              <a:p>
                <a:pPr algn="just"/>
                <a:endParaRPr lang="pt-BR" sz="2400" dirty="0"/>
              </a:p>
              <a:p>
                <a:pPr algn="just"/>
                <a:r>
                  <a:rPr lang="pt-BR" sz="2400" dirty="0"/>
                  <a:t>Apenas na lógica, pode também haver o inverso, para a disjunção</a:t>
                </a:r>
              </a:p>
              <a:p>
                <a:pPr algn="just"/>
                <a:endParaRPr lang="pt-BR" sz="24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Na lógica temos: </a:t>
                </a:r>
                <a14:m>
                  <m:oMath xmlns:m="http://schemas.openxmlformats.org/officeDocument/2006/math"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)≡(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)(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200" dirty="0"/>
              </a:p>
              <a:p>
                <a:pPr lvl="1" algn="just"/>
                <a:endParaRPr lang="pt-BR" sz="2000" dirty="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CD720981-8C5D-841C-78FE-2C534287BB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6275" y="1703613"/>
                <a:ext cx="8299450" cy="4504681"/>
              </a:xfrm>
              <a:blipFill>
                <a:blip r:embed="rId3"/>
                <a:stretch>
                  <a:fillRect l="-954" t="-1894" r="-11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0001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22364-CE4F-53F7-1CED-9B12D009F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B77802D-59C3-5687-98E5-A6B11F70B9A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05C12C-41E5-56BD-2CD5-0E25CB72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PROPRIEDADES OPERACIONAIS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F3BB1B94-3017-A8A4-E92D-8576D759EA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6228" y="1491342"/>
                <a:ext cx="4168372" cy="522514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pt-BR" sz="2200" b="1" dirty="0"/>
                  <a:t>Identidade</a:t>
                </a:r>
                <a:r>
                  <a:rPr lang="pt-BR" sz="2200" dirty="0"/>
                  <a:t>: 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+ 0 =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⋅ 1 =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endParaRPr lang="pt-BR" sz="2200" b="1" dirty="0"/>
              </a:p>
              <a:p>
                <a:r>
                  <a:rPr lang="pt-BR" sz="2200" b="1" dirty="0"/>
                  <a:t>Anulação</a:t>
                </a:r>
                <a:r>
                  <a:rPr lang="pt-BR" sz="2200" dirty="0"/>
                  <a:t>: </a:t>
                </a:r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+ 1 = 1 </m:t>
                    </m:r>
                  </m:oMath>
                </a14:m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⋅ 0 = 0</m:t>
                    </m:r>
                  </m:oMath>
                </a14:m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lvl="1"/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algn="just"/>
                <a:r>
                  <a:rPr lang="pt-BR" sz="2200" b="1" dirty="0"/>
                  <a:t>Lei comutativa:</a:t>
                </a: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200" dirty="0"/>
                  <a:t> </a:t>
                </a:r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𝐵𝐴</m:t>
                    </m:r>
                  </m:oMath>
                </a14:m>
                <a:endParaRPr lang="pt-BR" sz="2200" dirty="0"/>
              </a:p>
              <a:p>
                <a:pPr marL="457200" lvl="1" indent="0" algn="just">
                  <a:buNone/>
                </a:pPr>
                <a:endParaRPr lang="pt-BR" sz="2200" dirty="0"/>
              </a:p>
              <a:p>
                <a:pPr algn="just"/>
                <a:r>
                  <a:rPr lang="pt-BR" sz="2200" b="1" dirty="0"/>
                  <a:t>Lei associativa:</a:t>
                </a: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A</a:t>
                </a:r>
                <a14:m>
                  <m:oMath xmlns:m="http://schemas.openxmlformats.org/officeDocument/2006/math">
                    <m:r>
                      <a:rPr lang="pt-BR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pt-BR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pt-BR" sz="22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200" b="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BR" sz="2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pt-BR" sz="22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pt-BR" sz="2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pt-BR" sz="2200" dirty="0"/>
              </a:p>
              <a:p>
                <a:pPr marL="457200" lvl="1" indent="0" algn="just">
                  <a:buNone/>
                </a:pPr>
                <a:endParaRPr lang="pt-BR" dirty="0"/>
              </a:p>
              <a:p>
                <a:endParaRPr lang="pt-BR" sz="2200" b="1" dirty="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457200" lvl="1" indent="0" algn="ctr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F3BB1B94-3017-A8A4-E92D-8576D759EA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6228" y="1491342"/>
                <a:ext cx="4168372" cy="5225143"/>
              </a:xfrm>
              <a:blipFill>
                <a:blip r:embed="rId3"/>
                <a:stretch>
                  <a:fillRect l="-1316" t="-17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5">
                <a:extLst>
                  <a:ext uri="{FF2B5EF4-FFF2-40B4-BE49-F238E27FC236}">
                    <a16:creationId xmlns:a16="http://schemas.microsoft.com/office/drawing/2014/main" id="{23F4074F-F0BA-24A1-B698-0B6301711B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69607" y="1491342"/>
                <a:ext cx="3934464" cy="49747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2000" b="1" dirty="0"/>
                  <a:t>Idempotência</a:t>
                </a:r>
                <a:r>
                  <a:rPr lang="pt-BR" sz="2000" dirty="0"/>
                  <a:t>: 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⋅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endParaRPr lang="pt-BR" sz="2000" b="1" dirty="0"/>
              </a:p>
              <a:p>
                <a:r>
                  <a:rPr lang="pt-BR" sz="2000" b="1" dirty="0"/>
                  <a:t>Complementaridade</a:t>
                </a:r>
                <a:r>
                  <a:rPr lang="pt-BR" sz="2000" dirty="0"/>
                  <a:t>: </a:t>
                </a:r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+ </m:t>
                    </m:r>
                    <m:sSup>
                      <m:sSupPr>
                        <m:ctrlPr>
                          <a:rPr lang="pt-BR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pt-BR" sz="200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= 1  </m:t>
                    </m:r>
                  </m:oMath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⋅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′ = 0</m:t>
                    </m:r>
                  </m:oMath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endParaRPr lang="pt-BR" sz="2000" b="1" dirty="0"/>
              </a:p>
              <a:p>
                <a:pPr algn="just"/>
                <a:r>
                  <a:rPr lang="pt-BR" sz="2000" b="1" dirty="0"/>
                  <a:t>Inalterabilidade:</a:t>
                </a:r>
                <a:endParaRPr lang="pt-BR" sz="2000" b="1" i="1" dirty="0">
                  <a:latin typeface="Cambria Math" panose="02040503050406030204" pitchFamily="18" charset="0"/>
                </a:endParaRP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>
                        <a:latin typeface="Cambria Math" panose="02040503050406030204" pitchFamily="18" charset="0"/>
                      </a:rPr>
                      <m:t>𝐴𝐴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pt-BR" sz="2000" b="1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pt-BR" sz="2000" b="1" dirty="0"/>
              </a:p>
              <a:p>
                <a:pPr lvl="1" algn="just"/>
                <a:endParaRPr lang="pt-BR" sz="2000" b="1" dirty="0"/>
              </a:p>
              <a:p>
                <a:r>
                  <a:rPr lang="pt-BR" sz="2000" b="1" dirty="0"/>
                  <a:t>Dupla Negação</a:t>
                </a:r>
                <a:r>
                  <a:rPr lang="pt-BR" sz="2000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pt-BR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00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pt-BR" sz="2000" dirty="0"/>
              </a:p>
              <a:p>
                <a:endParaRPr lang="pt-BR" sz="2000" dirty="0"/>
              </a:p>
              <a:p>
                <a:endParaRPr lang="pt-BR" sz="2200" dirty="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457200" lvl="1" indent="0" algn="ctr">
                  <a:buFont typeface="Arial" panose="020B0604020202020204" pitchFamily="34" charset="0"/>
                  <a:buNone/>
                </a:pPr>
                <a:endParaRPr lang="pt-BR" b="1" dirty="0"/>
              </a:p>
              <a:p>
                <a:pPr marL="457200" lvl="1" indent="0" algn="just">
                  <a:buFont typeface="Arial" panose="020B0604020202020204" pitchFamily="34" charset="0"/>
                  <a:buNone/>
                </a:pPr>
                <a:endParaRPr lang="pt-BR" b="1" dirty="0"/>
              </a:p>
            </p:txBody>
          </p:sp>
        </mc:Choice>
        <mc:Fallback xmlns="">
          <p:sp>
            <p:nvSpPr>
              <p:cNvPr id="3" name="Espaço Reservado para Conteúdo 5">
                <a:extLst>
                  <a:ext uri="{FF2B5EF4-FFF2-40B4-BE49-F238E27FC236}">
                    <a16:creationId xmlns:a16="http://schemas.microsoft.com/office/drawing/2014/main" id="{23F4074F-F0BA-24A1-B698-0B6301711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9607" y="1491342"/>
                <a:ext cx="3934464" cy="4974771"/>
              </a:xfrm>
              <a:prstGeom prst="rect">
                <a:avLst/>
              </a:prstGeom>
              <a:blipFill>
                <a:blip r:embed="rId4"/>
                <a:stretch>
                  <a:fillRect l="-1395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4924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75599-88F5-18D9-1AC9-2A7A35B5C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68CB86C-D42E-83D1-2C8D-B79063D931E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C220C4-A201-8C7E-4263-1AA2740A7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SIMPLIFICAÇÃO LÓGICA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050778A-C70A-BC7E-A80C-C06168E58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895" y="1634037"/>
            <a:ext cx="8136210" cy="4480619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Simplificar uma expressão lógica significa encontrar uma expressão equivalente mais simples.</a:t>
            </a:r>
            <a:endParaRPr lang="pt-BR" sz="2400" b="0" dirty="0"/>
          </a:p>
          <a:p>
            <a:pPr algn="just"/>
            <a:endParaRPr lang="pt-BR" sz="2400" b="0" dirty="0"/>
          </a:p>
          <a:p>
            <a:pPr algn="just"/>
            <a:r>
              <a:rPr lang="pt-BR" sz="2400" b="0" dirty="0"/>
              <a:t>A ideia é encontrar uma </a:t>
            </a:r>
            <a:r>
              <a:rPr lang="pt-BR" sz="2400" dirty="0"/>
              <a:t>representação mais conveniente para a expressão, </a:t>
            </a:r>
            <a:r>
              <a:rPr lang="pt-BR" sz="2400" u="sng" dirty="0"/>
              <a:t>sem alterar o seu comportamento.</a:t>
            </a:r>
            <a:endParaRPr lang="pt-BR" sz="2400" b="0" u="sng" dirty="0"/>
          </a:p>
          <a:p>
            <a:pPr lvl="1" algn="just"/>
            <a:endParaRPr lang="pt-BR" sz="2200" dirty="0"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pt-BR" sz="2400" dirty="0"/>
          </a:p>
          <a:p>
            <a:pPr algn="just"/>
            <a:endParaRPr lang="pt-BR" sz="2200" dirty="0"/>
          </a:p>
          <a:p>
            <a:pPr lvl="1" algn="just"/>
            <a:endParaRPr lang="pt-BR" sz="2000" dirty="0"/>
          </a:p>
          <a:p>
            <a:pPr marL="914400" lvl="1" indent="-457200" algn="just">
              <a:buFont typeface="+mj-lt"/>
              <a:buAutoNum type="arabicPeriod"/>
            </a:pPr>
            <a:endParaRPr lang="pt-BR" b="1" i="1" dirty="0">
              <a:latin typeface="Cambria Math" panose="02040503050406030204" pitchFamily="18" charset="0"/>
            </a:endParaRPr>
          </a:p>
          <a:p>
            <a:pPr marL="457200" lvl="1" indent="0" algn="just">
              <a:buNone/>
            </a:pPr>
            <a:endParaRPr lang="pt-BR" b="1" dirty="0"/>
          </a:p>
          <a:p>
            <a:pPr marL="457200" lvl="1" indent="0" algn="just">
              <a:buNone/>
            </a:pP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EF6E048-ECAD-7B90-05E6-9A82A45282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58" r="2030" b="44874"/>
          <a:stretch>
            <a:fillRect/>
          </a:stretch>
        </p:blipFill>
        <p:spPr>
          <a:xfrm>
            <a:off x="0" y="4567441"/>
            <a:ext cx="6799830" cy="2067962"/>
          </a:xfrm>
          <a:prstGeom prst="rect">
            <a:avLst/>
          </a:prstGeom>
        </p:spPr>
      </p:pic>
      <p:pic>
        <p:nvPicPr>
          <p:cNvPr id="1026" name="Picture 2" descr="Eletrônica Digital - Projetando Circuitos Lógicos Combinacionais - Semestre  2023.2">
            <a:extLst>
              <a:ext uri="{FF2B5EF4-FFF2-40B4-BE49-F238E27FC236}">
                <a16:creationId xmlns:a16="http://schemas.microsoft.com/office/drawing/2014/main" id="{A57B8795-6780-912D-D99C-BA39046A74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87" t="63634" r="12293" b="3083"/>
          <a:stretch>
            <a:fillRect/>
          </a:stretch>
        </p:blipFill>
        <p:spPr bwMode="auto">
          <a:xfrm>
            <a:off x="7334874" y="4568977"/>
            <a:ext cx="4766403" cy="130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0C97382-F141-E542-CB09-9C75154DF2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177760" flipV="1">
            <a:off x="6597501" y="5181171"/>
            <a:ext cx="1474746" cy="140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301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3E3B4-58DD-3130-85C8-2581DA26C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65164A3-F0D0-D419-A0DF-53BAE31C88B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82892D-8860-1631-AAEF-193465ACD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SIMPLIFICAÇÃO LÓGICA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FE5B8C84-540C-19C9-9A08-11FB7352F0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74394" y="1672390"/>
                <a:ext cx="8843212" cy="4872789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sz="2400" dirty="0"/>
                  <a:t>Exemplo </a:t>
                </a:r>
                <a:r>
                  <a:rPr lang="pt-BR" sz="2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)∨(</m:t>
                    </m:r>
                    <m:acc>
                      <m:accPr>
                        <m:chr m:val="̅"/>
                        <m:ctrlPr>
                          <a:rPr lang="pt-BR" sz="24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400" dirty="0"/>
                  <a:t>:</a:t>
                </a:r>
              </a:p>
              <a:p>
                <a:endParaRPr lang="pt-BR" sz="2400" b="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acc>
                          <m:accPr>
                            <m:chr m:val="̅"/>
                            <m:ctrlP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</m:oMath>
                </a14:m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pt-BR" sz="2200" i="1" dirty="0">
                    <a:latin typeface="Cambria Math" panose="02040503050406030204" pitchFamily="18" charset="0"/>
                  </a:rPr>
                  <a:t>Isolamos o P por meio da distributiva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pt-BR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200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</m:oMath>
                </a14:m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pt-BR" sz="2200" i="1" dirty="0">
                    <a:latin typeface="Cambria Math" panose="02040503050406030204" pitchFamily="18" charset="0"/>
                  </a:rPr>
                  <a:t>Sabemos que o resultado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pt-BR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200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pt-BR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200" i="1" dirty="0">
                    <a:latin typeface="Cambria Math" panose="02040503050406030204" pitchFamily="18" charset="0"/>
                  </a:rPr>
                  <a:t>é sempre VERDADEIRO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sz="22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457200" lvl="1" indent="0">
                  <a:buNone/>
                </a:pPr>
                <a:r>
                  <a:rPr lang="pt-BR" sz="2200" i="1" dirty="0">
                    <a:latin typeface="Cambria Math" panose="02040503050406030204" pitchFamily="18" charset="0"/>
                  </a:rPr>
                  <a:t>Sabemos que a conjunção de A com 1 sempre será o próprio A</a:t>
                </a:r>
              </a:p>
              <a:p>
                <a:pPr marL="457200" lvl="1" indent="0">
                  <a:buNone/>
                </a:pPr>
                <a:endParaRPr lang="pt-BR" sz="2200" dirty="0">
                  <a:latin typeface="Cambria Math" panose="02040503050406030204" pitchFamily="18" charset="0"/>
                </a:endParaRPr>
              </a:p>
              <a:p>
                <a:r>
                  <a:rPr lang="pt-BR" sz="2400" dirty="0"/>
                  <a:t>Portanto, temos:</a:t>
                </a:r>
                <a14:m>
                  <m:oMath xmlns:m="http://schemas.openxmlformats.org/officeDocument/2006/math">
                    <m:r>
                      <a:rPr lang="pt-BR" sz="24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)∨(</m:t>
                    </m:r>
                    <m:acc>
                      <m:accPr>
                        <m:chr m:val="̅"/>
                        <m:ctrlPr>
                          <a:rPr lang="pt-BR" sz="24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pt-BR" sz="2400" b="1" i="1" dirty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)≡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endParaRPr lang="pt-BR" sz="2400" dirty="0"/>
              </a:p>
              <a:p>
                <a:pPr>
                  <a:buFont typeface="Courier New" panose="02070309020205020404" pitchFamily="49" charset="0"/>
                  <a:buChar char="o"/>
                </a:pPr>
                <a:endParaRPr lang="pt-BR" sz="2400" i="1" dirty="0">
                  <a:latin typeface="Cambria Math" panose="02040503050406030204" pitchFamily="18" charset="0"/>
                </a:endParaRPr>
              </a:p>
              <a:p>
                <a:pPr lvl="1" algn="just"/>
                <a:endParaRPr lang="pt-BR" sz="2400" i="1" dirty="0">
                  <a:latin typeface="Cambria Math" panose="02040503050406030204" pitchFamily="18" charset="0"/>
                </a:endParaRPr>
              </a:p>
              <a:p>
                <a:pPr lvl="1" algn="just"/>
                <a:endParaRPr lang="pt-BR" sz="2200" dirty="0">
                  <a:sym typeface="Wingdings" panose="05000000000000000000" pitchFamily="2" charset="2"/>
                </a:endParaRPr>
              </a:p>
              <a:p>
                <a:pPr marL="0" indent="0" algn="just">
                  <a:buNone/>
                </a:pPr>
                <a:endParaRPr lang="pt-BR" sz="2400" dirty="0"/>
              </a:p>
              <a:p>
                <a:pPr algn="just"/>
                <a:endParaRPr lang="pt-BR" sz="2200" dirty="0"/>
              </a:p>
              <a:p>
                <a:pPr lvl="1" algn="just"/>
                <a:endParaRPr lang="pt-BR" sz="2000" dirty="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FE5B8C84-540C-19C9-9A08-11FB7352F0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74394" y="1672390"/>
                <a:ext cx="8843212" cy="4872789"/>
              </a:xfrm>
              <a:blipFill>
                <a:blip r:embed="rId3"/>
                <a:stretch>
                  <a:fillRect l="-966" t="-18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6610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ACADE-A840-3BE9-33C2-2379B4027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D6F4223-B114-1B64-C5A5-94547D50A98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DB634D-98C2-7C53-CE8C-88718DA1D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FIXAÇÃO - DESAFIO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169E136-FFE4-8C03-85FE-9C8A6D685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8950" y="1817914"/>
            <a:ext cx="8888997" cy="4669971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pt-BR" sz="2400" dirty="0"/>
              <a:t>Considerando que a logica proposicional trabalha essencialmente com conjunções, disjunções e negações. Como poderíamos representar a </a:t>
            </a:r>
            <a:r>
              <a:rPr lang="pt-BR" sz="2400" b="1" dirty="0"/>
              <a:t>condicional</a:t>
            </a:r>
            <a:r>
              <a:rPr lang="pt-BR" sz="2400" dirty="0"/>
              <a:t>, a </a:t>
            </a:r>
            <a:r>
              <a:rPr lang="pt-BR" sz="2400" b="1" dirty="0" err="1"/>
              <a:t>bi-condicional</a:t>
            </a:r>
            <a:r>
              <a:rPr lang="pt-BR" sz="2400" dirty="0"/>
              <a:t> e a </a:t>
            </a:r>
            <a:r>
              <a:rPr lang="pt-BR" sz="2400" b="1" dirty="0"/>
              <a:t>disjunção exclusiva</a:t>
            </a:r>
            <a:r>
              <a:rPr lang="pt-BR" sz="2400" dirty="0"/>
              <a:t>, dentro das formas normais?</a:t>
            </a:r>
          </a:p>
          <a:p>
            <a:pPr marL="457200" indent="-457200" algn="just">
              <a:buFont typeface="+mj-lt"/>
              <a:buAutoNum type="arabicPeriod"/>
            </a:pPr>
            <a:endParaRPr lang="pt-BR" sz="2400" dirty="0"/>
          </a:p>
          <a:p>
            <a:pPr marL="457200" indent="-457200" algn="just">
              <a:buFont typeface="+mj-lt"/>
              <a:buAutoNum type="arabicPeriod"/>
            </a:pPr>
            <a:r>
              <a:rPr lang="pt-BR" sz="2400" dirty="0"/>
              <a:t>Simplifique as expressões:</a:t>
            </a:r>
          </a:p>
          <a:p>
            <a:pPr marL="0" indent="0" algn="just">
              <a:buNone/>
            </a:pPr>
            <a:r>
              <a:rPr lang="pt-BR" sz="2400" dirty="0"/>
              <a:t>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7F2354F-9002-B04F-3F3B-CD5583E0D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673" y="4412643"/>
            <a:ext cx="7495550" cy="244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3609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Amarelo Verd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Amarelo Verd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2046</TotalTime>
  <Words>842</Words>
  <Application>Microsoft Office PowerPoint</Application>
  <PresentationFormat>Widescreen</PresentationFormat>
  <Paragraphs>199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Courier New</vt:lpstr>
      <vt:lpstr>Gill Sans MT</vt:lpstr>
      <vt:lpstr>Wingdings</vt:lpstr>
      <vt:lpstr>Tema do Office</vt:lpstr>
      <vt:lpstr>Pacote</vt:lpstr>
      <vt:lpstr>módulo 4 – álgebra booleana</vt:lpstr>
      <vt:lpstr>ALGEBRA BOOLEANA</vt:lpstr>
      <vt:lpstr>ALGEBRA BOOLEANA</vt:lpstr>
      <vt:lpstr>EQUIVALÊNCIAS LÓGICAS</vt:lpstr>
      <vt:lpstr>LEI DE MORGAN</vt:lpstr>
      <vt:lpstr>PROPRIEDADE DA ABSORÇÃO</vt:lpstr>
      <vt:lpstr>PROPRIEDADE DA ABSORÇÃO</vt:lpstr>
      <vt:lpstr>PROPRIEDADE DISTRIBUTIVA</vt:lpstr>
      <vt:lpstr>PROPRIEDADES OPERACIONAIS</vt:lpstr>
      <vt:lpstr>SIMPLIFICAÇÃO LÓGICA</vt:lpstr>
      <vt:lpstr>SIMPLIFICAÇÃO LÓGICA</vt:lpstr>
      <vt:lpstr>FIXAÇÃO - DESAFIO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172</cp:revision>
  <dcterms:created xsi:type="dcterms:W3CDTF">2026-07-26T12:48:37Z</dcterms:created>
  <dcterms:modified xsi:type="dcterms:W3CDTF">2026-08-22T19:17:18Z</dcterms:modified>
</cp:coreProperties>
</file>