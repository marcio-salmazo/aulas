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31"/>
  </p:notesMasterIdLst>
  <p:sldIdLst>
    <p:sldId id="276" r:id="rId3"/>
    <p:sldId id="277" r:id="rId4"/>
    <p:sldId id="278" r:id="rId5"/>
    <p:sldId id="279" r:id="rId6"/>
    <p:sldId id="256" r:id="rId7"/>
    <p:sldId id="257" r:id="rId8"/>
    <p:sldId id="261" r:id="rId9"/>
    <p:sldId id="259" r:id="rId10"/>
    <p:sldId id="262" r:id="rId11"/>
    <p:sldId id="264" r:id="rId12"/>
    <p:sldId id="265" r:id="rId13"/>
    <p:sldId id="267" r:id="rId14"/>
    <p:sldId id="273" r:id="rId15"/>
    <p:sldId id="268" r:id="rId16"/>
    <p:sldId id="275" r:id="rId17"/>
    <p:sldId id="269" r:id="rId18"/>
    <p:sldId id="270" r:id="rId19"/>
    <p:sldId id="271" r:id="rId20"/>
    <p:sldId id="280" r:id="rId21"/>
    <p:sldId id="281" r:id="rId22"/>
    <p:sldId id="282" r:id="rId23"/>
    <p:sldId id="283" r:id="rId24"/>
    <p:sldId id="285" r:id="rId25"/>
    <p:sldId id="286" r:id="rId26"/>
    <p:sldId id="287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911" autoAdjust="0"/>
  </p:normalViewPr>
  <p:slideViewPr>
    <p:cSldViewPr snapToGrid="0">
      <p:cViewPr varScale="1">
        <p:scale>
          <a:sx n="85" d="100"/>
          <a:sy n="85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1A39-F6AA-E07D-1DE7-88B3686A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C1B8A8-4E05-2EF9-A649-DFF004BCF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B0F470-7202-A201-1AD1-9C1760C1C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0E76AC-5DA0-6118-D4F3-63E6EC0DC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450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7B2A-BF0C-6DE5-D7D4-EB437BE8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C9A454-78DF-0441-D12F-F57B1DCF9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ADED7D-9228-27C3-F085-8AD77D993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F76711-7864-16B2-2D1A-140BF30DE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70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EBE6-8028-CFB1-9724-36EFE5A0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69B76E-CD7C-F176-E30C-1FF6CBC7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F1F636-8DE6-4496-60E4-309D236B1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5E1AEC-CF40-C324-4374-28168748E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261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4A9F-4876-629F-891A-6D247B74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E3B4A7-5916-5A37-F86B-2CA224A7B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CF73BD-08A0-6C5A-90F2-844EAE078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F1830E-CA2A-22E0-725D-2C8E1FF19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0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B011-7176-5A7D-A2EA-0C754678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828F5C-42D4-B833-940B-876A12899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5B40F1-CB45-2F7C-EB01-737BEE44E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37E7EA-4D4D-166C-DE43-EB3917480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86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04B0-2E89-3816-3360-6ADA1DCB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B9E0E2-6219-B231-EADA-A20DB2410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AB21D2-4C73-FDAF-5D02-C01B9D51D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0B2917-E3D1-8BFF-51B4-AC63697CF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52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4700-726A-9632-5874-091B11DE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E332DC-1D60-D749-F5A3-1D96DC702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81068E-3166-81EA-0EDD-EA5406B2D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096CAF-7A2F-FD92-931F-554540689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171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B377-559E-8593-32F4-69B1B87A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9343CE-6DBE-D912-4E15-15583EEAA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DD4AA0-3B61-D158-399C-06F757EF8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Sistemas Embarcados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Controle direto de microcontroladores em eletrodomésticos e automóveis.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Desempenho Crítico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Otimização extrema de partes de código em sistemas operacionais ou drivers de dispositivos.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Estudo de Hardware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Ajuda a compreender profundamente como a CPU executa instruções e gerencia a memória.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05C5D-FB7F-167A-C57D-BFD232655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350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B2D9-6146-7106-DBA4-40073748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4BB465-009B-BDC8-D694-CAA715C17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D45F14-6F12-7068-0C5F-A405B1E25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Speedcoding</a:t>
            </a:r>
            <a:r>
              <a:rPr lang="pt-BR" dirty="0"/>
              <a:t> ou </a:t>
            </a:r>
            <a:r>
              <a:rPr lang="pt-BR" dirty="0" err="1"/>
              <a:t>Speedcode</a:t>
            </a:r>
            <a:r>
              <a:rPr lang="pt-BR" dirty="0"/>
              <a:t> foi a primeira linguagens de programação de alto nível criada para um computador IBM. </a:t>
            </a:r>
          </a:p>
          <a:p>
            <a:r>
              <a:rPr lang="pt-BR" dirty="0"/>
              <a:t>A linguagem foi desenvolvida por John </a:t>
            </a:r>
            <a:r>
              <a:rPr lang="pt-BR" dirty="0" err="1"/>
              <a:t>Backus</a:t>
            </a:r>
            <a:r>
              <a:rPr lang="pt-BR" dirty="0"/>
              <a:t> em 1953 para o IBM 701. </a:t>
            </a:r>
          </a:p>
          <a:p>
            <a:r>
              <a:rPr lang="pt-BR" dirty="0"/>
              <a:t>A ideia surgiu da dificuldade de programação da máquina IBM SSEC, quando </a:t>
            </a:r>
            <a:r>
              <a:rPr lang="pt-BR" dirty="0" err="1"/>
              <a:t>Backus</a:t>
            </a:r>
            <a:r>
              <a:rPr lang="pt-BR" dirty="0"/>
              <a:t> foi contratado para calcular posições astronômicas no início dos anos 1950.</a:t>
            </a:r>
          </a:p>
          <a:p>
            <a:r>
              <a:rPr lang="pt-BR" dirty="0"/>
              <a:t>Em sequência, veio o Fortran em 1957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linguagem de programação voltada para computação científica e técnica, especialmente projetada para executar cálculos complexos com eficiência numa ampla variedade de 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processadores.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9CAB7A-E1AF-74E8-7503-53AE44956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363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E740-9816-ADD0-2F6E-6B0C1CCB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EC6E79-8DEE-9C98-C309-452A8B193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17813F-4315-97F3-57D4-0F5D6E820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compilador lê o código-fonte inteiro de uma só vez.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procura por erros de sintaxe na estrutura geral do programa e, se estiver tudo correto,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traduz o código inteiro para uma linguagem de baixo nível ou linguagem de máquina, criando um arquivo binário autônomo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Vantagens: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código já foi traduzido previamente, o que torna a execução muito mais rápida e otimizada.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programa compilado pode ser distribuído e executado sem a necessidade do compilador original ou do código-fonte.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 Performance: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o código já está traduzido e otimizado para o hardware antes da execução, os programas rodam muito mais rápido.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Detecção de Erros: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compilador checa todo o código em busca de erros de sintaxe e estrutura antes de gerar o arquivo final, impedindo que o programa seja criado caso haja falhas críticas.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Menor Portabilidade: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 arquivo compilado costuma ser específico para um sistema operacional ou arquitetura de processador (um executável do Windows não roda nativamente no Linux, por exemplo).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Desvantagens: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processo de compilação pode demorar, e caso o código precise ser alterado, o programa inteiro (ou parte dele) precisa ser compilado novamente.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arquivo binário gerado depende da arquitetura do sistema operacional (um executável de Windows não roda nativamente no Mac).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3F0FB-B732-D6AC-D3CC-5BE62E148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513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065B-D111-684E-D90B-0BBB70AB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0CCC18-33EB-50D6-AA19-32A3AD98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5B5E38F-3B61-3341-584A-BF17E3BE3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API de um sistema operacional </a:t>
            </a:r>
            <a:r>
              <a:rPr lang="pt-BR" dirty="0"/>
              <a:t>é um conjunto de regras e ferramentas que permite aos programas conversarem com o sistema. </a:t>
            </a:r>
          </a:p>
          <a:p>
            <a:r>
              <a:rPr lang="pt-BR" dirty="0"/>
              <a:t>Ela funciona como uma ponte ou um tradutor, facilitando o acesso a recursos essenciais 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gerenciamento de arquivos</a:t>
            </a:r>
            <a:r>
              <a:rPr lang="pt-BR" dirty="0"/>
              <a:t>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 de memória</a:t>
            </a:r>
            <a:r>
              <a:rPr lang="pt-BR" dirty="0"/>
              <a:t> 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controle de hardware.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Algumas linguagens modernas combinam os dois métodos.  No Java, o código é primeiro compilado para uma linguagem intermediária chamada </a:t>
            </a:r>
          </a:p>
          <a:p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dirty="0"/>
              <a:t> (que não é o código de máquina final).  Durante a execução do programa, um interpretador do sistema (JVM) </a:t>
            </a:r>
          </a:p>
          <a:p>
            <a:r>
              <a:rPr lang="pt-BR" dirty="0"/>
              <a:t>lê esse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dirty="0"/>
              <a:t> e usa um compilador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JIT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Just-In-Time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compilador JIT (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Just-In-Time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"em tempo de execução") é uma tecnologia que traduz código de programa </a:t>
            </a:r>
          </a:p>
          <a:p>
            <a:pPr rtl="0"/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código intermediário) em instruções nativas de máquina diretamente durante a execução do software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Compila para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roda na Máquina Virtual Java (JVM).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Transforma o código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Intermediate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rodar no ambiente do .NET.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Traduz o arquivo de texto para arquivos binários intermediários (.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antes da execução interna.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F0F6C3-1900-E55A-CAAA-8B9CE43FE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908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A5AE-B6FC-9E91-1FF3-9E087156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33E8A7-46A9-7BC4-94A6-692C1C422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2339BF-A92E-7256-92D4-48F1307C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Os paradigmas Imperativo e Declarativo são os dois grandes paradigmas fundamentais.</a:t>
            </a:r>
          </a:p>
          <a:p>
            <a:endParaRPr lang="pt-BR" b="0" dirty="0"/>
          </a:p>
          <a:p>
            <a:r>
              <a:rPr lang="pt-BR" b="1" dirty="0"/>
              <a:t>Imperativo: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É o paradigma mais tradicional.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 é uma sequência de instruções que altera o estado da memória passo a passo.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programador descreve </a:t>
            </a:r>
            <a:r>
              <a:rPr lang="pt-BR" b="1" dirty="0"/>
              <a:t>como</a:t>
            </a:r>
            <a:r>
              <a:rPr lang="pt-BR" dirty="0"/>
              <a:t> resolver o problema.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exemplo mais puro é o Assembly</a:t>
            </a:r>
          </a:p>
          <a:p>
            <a:endParaRPr lang="pt-BR" b="1" dirty="0"/>
          </a:p>
          <a:p>
            <a:r>
              <a:rPr lang="pt-BR" b="1" dirty="0"/>
              <a:t>Declarativo: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programador diz </a:t>
            </a:r>
            <a:r>
              <a:rPr lang="pt-BR" b="1" dirty="0"/>
              <a:t>o que</a:t>
            </a:r>
            <a:r>
              <a:rPr lang="pt-BR" dirty="0"/>
              <a:t> deseja, sem especificar exatamente como fazer.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Um bom exemplo (por mais que não seja necessariamente uma LP) é a linguagem SQL</a:t>
            </a:r>
          </a:p>
          <a:p>
            <a:endParaRPr lang="pt-BR" b="0" dirty="0"/>
          </a:p>
          <a:p>
            <a:r>
              <a:rPr lang="pt-BR" b="1" dirty="0"/>
              <a:t>Procedural: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evolução do imperativo que foca em dividir o código em blocos menores chamados de procedimentos, sub-rotinas ou funções.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Foco:</a:t>
            </a:r>
            <a:r>
              <a:rPr lang="pt-BR" dirty="0"/>
              <a:t> Reutilizar pedaços de código chamando esses blocos sempre que precisar.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Orientado a Objetos: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Organiza o programa em </a:t>
            </a:r>
            <a:r>
              <a:rPr lang="pt-BR" b="1" dirty="0"/>
              <a:t>objetos</a:t>
            </a:r>
            <a:r>
              <a:rPr lang="pt-BR" dirty="0"/>
              <a:t>,  que possuem atributos (dados) e métodos (comportamentos) associados.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Os objetos simulam elementos do mundo real e podem interagir entre si.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Pilares principais:</a:t>
            </a:r>
            <a:r>
              <a:rPr lang="pt-BR" dirty="0"/>
              <a:t> Encapsulamento, herança, polimorfismo e abstração.</a:t>
            </a:r>
            <a:endParaRPr lang="pt-BR" b="0" dirty="0"/>
          </a:p>
          <a:p>
            <a:endParaRPr lang="pt-BR" b="1" dirty="0"/>
          </a:p>
          <a:p>
            <a:r>
              <a:rPr lang="pt-BR" b="1" dirty="0"/>
              <a:t>Lógica: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Baseia-se em regras e fatos.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sistema utiliza inferência lógica para encontrar respostas.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Funcional: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Baseia-se na logica de funções matemáticas.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Uma função pura possui duas características:</a:t>
            </a:r>
          </a:p>
          <a:p>
            <a:pPr marL="228600" indent="-228600">
              <a:buFont typeface="+mj-lt"/>
              <a:buAutoNum type="arabicPeriod"/>
            </a:pPr>
            <a:r>
              <a:rPr lang="pt-BR" dirty="0"/>
              <a:t>Para a mesma entrada, sempre produz a mesma saída. </a:t>
            </a:r>
          </a:p>
          <a:p>
            <a:pPr marL="228600" indent="-228600">
              <a:buFont typeface="+mj-lt"/>
              <a:buAutoNum type="arabicPeriod"/>
            </a:pPr>
            <a:r>
              <a:rPr lang="pt-BR" dirty="0"/>
              <a:t>Não modifica nada fora dela (não altera variáveis globais, arquivos, banco de dados, etc.).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/>
              <a:t>x = 10 -&gt; Em C essa variável pode ser alterado, em </a:t>
            </a:r>
            <a:r>
              <a:rPr lang="pt-BR" dirty="0" err="1"/>
              <a:t>Haskell</a:t>
            </a:r>
            <a:r>
              <a:rPr lang="pt-BR" dirty="0"/>
              <a:t>, intuitivamente não.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boa analogia é a seguinte: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Programação imperativa: </a:t>
            </a:r>
            <a:r>
              <a:rPr lang="pt-BR" b="0" dirty="0"/>
              <a:t>você escreve uma receita de bolo dizendo passo a passo o que fazer. </a:t>
            </a:r>
          </a:p>
          <a:p>
            <a:r>
              <a:rPr lang="pt-BR" b="1" dirty="0"/>
              <a:t>Programação funcional: </a:t>
            </a:r>
            <a:r>
              <a:rPr lang="pt-BR" dirty="0"/>
              <a:t>você enxerga cada etapa da receita como uma função que recebe um ingrediente e devolve outro. </a:t>
            </a:r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8D884E-938F-A20D-7BA9-9135DC271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876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D2F84-E928-43B8-2EDF-5C415DB3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69E100-C250-9AB3-A4FE-46F494706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73F178-91AC-6404-52C2-B1C21DBB7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do Unix, os sistemas operacionais eram escritos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que significava que um sistema feito para um computador específico não funcionava em nenhum outro.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 isso, Dennis Ritchie criou 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linguagem de programação 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a equipe reescreveu o Unix nela em 1973, sendo o primeiro sistema operacional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portátil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história.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maioria dos dispositivos eletrônicos atuais roda um sistema que é filho ou "clone" do Unix: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Criado por Linus Torvalds como um clone gratuito e de código aberto baseado nos princípios do Unix. </a:t>
            </a:r>
          </a:p>
          <a:p>
            <a:pPr marL="0" indent="0">
              <a:buFontTx/>
              <a:buNone/>
            </a:pP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Os sistemas da Apple são derivados diretos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ramificação do Unix. (BSD)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O Unix não foi apenas mais um sistema operacional; ele estabeleceu os padrões de engenharia de software e design de sistemas que usamos até hoje. </a:t>
            </a:r>
          </a:p>
          <a:p>
            <a:r>
              <a:rPr lang="pt-BR" dirty="0"/>
              <a:t>Dentre eles: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Modularidade e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t-BR" dirty="0"/>
              <a:t> O Unix introduziu o conceito de conectar a saída de um programa diretamente na entrada de outro.  Isso permite combinar ferramentas simples para resolver problemas gigantescos e altamente complexos.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Faça uma coisa e faça bem feita:</a:t>
            </a:r>
            <a:r>
              <a:rPr lang="pt-BR" dirty="0"/>
              <a:t> Em vez de construir softwares gigantescos e complexos, o Unix  promove a criação de pequenos programas especializados.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E27146-5F08-F5A4-D45F-B6DF4C229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628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EAF0-70FD-5618-EF51-8C35ED95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9CE23F-8DD2-2D99-0B73-979E512E3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8A77FC-AC23-0919-2C9E-C8A966045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Entender esse processo ajuda muito a compreender por que a linguagem C é tão utilizada em sistemas operacionais, embarcados e compiladores.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A68243-78A1-01BA-9A97-C09CCB908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668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B098-E41A-0CFF-9AEC-9A76E366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F5F18F-B749-0440-24F0-605393BC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188324-D245-863A-B034-CEA8F5222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um arquivo-fonte. </a:t>
            </a:r>
          </a:p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forma geral o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determina o nome do arquivo que será processado. Por exemplo:</a:t>
            </a:r>
          </a:p>
          <a:p>
            <a:pPr rt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stdlib.h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printf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world!\n");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processar o arquivo, 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o arquivo 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“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utilizar os símbolos de “maior e menor” instruímos o compilador a procurar o arquivo nos diretórios do sistema, neste caso, definido pelo compilador.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na outra abordagem, o arquivo é procurado no diretório do código-fonte (diretório de trabalho).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F7F706-AF9F-4DDF-27E3-183E66354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578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9B95-68CC-C91A-65F7-98BF58A5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502B9E-A937-18B6-AB67-D79805A29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2D46F3-3BC8-7457-5E2C-D70BDC2D6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Léxica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Scanning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 o código-fonte caractere por caractere.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Agrupa os caracteres em unidades menores chamadas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(como palavras-chave, identificadores, números e símbolos).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Descarta espaços em branco e comentários.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Sintática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Recebe a sequência de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analisador léxico.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 os elementos em uma estrutura em árvore (árvore sintática ou de derivação) com base nas regras gramaticais da linguagem C.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Aponta erros de sintaxe (como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e vírgula faltando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chaves abertas incorretamente).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Semântica: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o significado do código estruturado na árvore.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 a checagem de tipos (por exemplo, se você está somando um ponteiro com um tipo incompatível ou atribuindo valores errados a uma variável).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 e atualiza a tabela de símbolos para garantir que variáveis e funções foram declaradas antes do uso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vara = 1.234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D2FE32-3A29-5FAD-3750-D774BA87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661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105-1226-1398-F6AD-1F06713F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CF8240-B6D2-0378-86F8-20AF06D43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D790A5-B43E-0416-E236-0BB41678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Separar a compilação em arquivos objeto traz ganhos importantes: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Compilação incremental:</a:t>
            </a:r>
            <a:r>
              <a:rPr lang="pt-BR" dirty="0"/>
              <a:t> se você alterar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matematica.c</a:t>
            </a:r>
            <a:r>
              <a:rPr lang="pt-BR" dirty="0"/>
              <a:t>, não é necessário recompilar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pt-BR" dirty="0"/>
              <a:t>;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matematica.o</a:t>
            </a:r>
            <a:r>
              <a:rPr lang="pt-BR" dirty="0"/>
              <a:t> é reconstruído e o </a:t>
            </a:r>
            <a:r>
              <a:rPr lang="pt-BR" dirty="0" err="1"/>
              <a:t>linker</a:t>
            </a:r>
            <a:r>
              <a:rPr lang="pt-BR" dirty="0"/>
              <a:t> gera um novo executável.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Modularidade:</a:t>
            </a:r>
            <a:r>
              <a:rPr lang="pt-BR" dirty="0"/>
              <a:t> equipes diferentes podem desenvolver módulos independentes (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banco.c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interface.c</a:t>
            </a:r>
            <a:r>
              <a:rPr lang="pt-BR" dirty="0"/>
              <a:t>), compilando-os separadamente.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Reutilização:</a:t>
            </a:r>
            <a:r>
              <a:rPr lang="pt-BR" dirty="0"/>
              <a:t> um mesmo arquivo objeto ou biblioteca pode ser ligado a vários programas diferentes.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projetos grandes com centenas de arquivos permanecem organizados e têm tempos de compilação muito menores do que se todo o código precisasse ser recompilado a cada alteração.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As bibliotecas normalmente não permanecem como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 </a:t>
            </a:r>
          </a:p>
          <a:p>
            <a:r>
              <a:rPr lang="pt-BR" dirty="0"/>
              <a:t>Elas são distribuídas em formatos específicos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.a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dll</a:t>
            </a:r>
            <a:r>
              <a:rPr lang="pt-BR" dirty="0"/>
              <a:t>, etc.), embora internamente muitas delas sejam compostas por arquivos objeto.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biblioteca estática é, internamente, um conjunto de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biblioteca dinâmica  por outro lado,</a:t>
            </a:r>
            <a:r>
              <a:rPr lang="pt-BR" dirty="0"/>
              <a:t> são praticamente "mini executáveis" (embora não tenham uma função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Arquivo Objeto (.o – Linux, .</a:t>
            </a:r>
            <a:r>
              <a:rPr lang="pt-BR" dirty="0" err="1"/>
              <a:t>obj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biblioteca estática (.a – Linux, .</a:t>
            </a:r>
            <a:r>
              <a:rPr lang="pt-BR" dirty="0" err="1"/>
              <a:t>lib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biblioteca dinâmica </a:t>
            </a:r>
            <a:r>
              <a:rPr lang="pt-BR" dirty="0"/>
              <a:t> (.</a:t>
            </a:r>
            <a:r>
              <a:rPr lang="pt-BR" dirty="0" err="1"/>
              <a:t>so</a:t>
            </a:r>
            <a:r>
              <a:rPr lang="pt-BR" dirty="0"/>
              <a:t> – Linux, .</a:t>
            </a:r>
            <a:r>
              <a:rPr lang="pt-BR" dirty="0" err="1"/>
              <a:t>dll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313824-0C68-65B1-171B-D86D29DEB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48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0412-35DC-924F-D011-8618C455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D06F49-9540-433C-B4B3-B9AEC28B8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1AA368-2BC2-BECD-B4C7-472F9C6C6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matematica.c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:;</a:t>
            </a:r>
          </a:p>
          <a:p>
            <a:r>
              <a:rPr lang="en-US" dirty="0"/>
              <a:t>int soma(int </a:t>
            </a:r>
            <a:r>
              <a:rPr lang="en-US" dirty="0" err="1"/>
              <a:t>a,int</a:t>
            </a:r>
            <a:r>
              <a:rPr lang="en-US" dirty="0"/>
              <a:t> b) { return </a:t>
            </a:r>
            <a:r>
              <a:rPr lang="en-US" dirty="0" err="1"/>
              <a:t>a+b</a:t>
            </a:r>
            <a:r>
              <a:rPr lang="en-US" dirty="0"/>
              <a:t>; }</a:t>
            </a:r>
          </a:p>
          <a:p>
            <a:endParaRPr lang="en-US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main.c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 </a:t>
            </a:r>
          </a:p>
          <a:p>
            <a:r>
              <a:rPr lang="pt-BR" dirty="0"/>
              <a:t>#include "</a:t>
            </a:r>
            <a:r>
              <a:rPr lang="pt-BR" dirty="0" err="1"/>
              <a:t>matematica.h</a:t>
            </a:r>
            <a:r>
              <a:rPr lang="pt-BR" dirty="0"/>
              <a:t>" 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 </a:t>
            </a:r>
            <a:r>
              <a:rPr lang="pt-BR" dirty="0" err="1"/>
              <a:t>printf</a:t>
            </a:r>
            <a:r>
              <a:rPr lang="pt-BR" dirty="0"/>
              <a:t>("%d", soma(2,3)); }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Após a geração dos arquivos objetos: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main.o</a:t>
            </a: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pt-BR" dirty="0"/>
              <a:t>precisa da função soma</a:t>
            </a: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err="1"/>
              <a:t>matematica.o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linker</a:t>
            </a:r>
            <a:r>
              <a:rPr lang="pt-BR" dirty="0"/>
              <a:t> dá a referência exata para </a:t>
            </a:r>
            <a:r>
              <a:rPr lang="pt-BR" dirty="0" err="1"/>
              <a:t>para</a:t>
            </a:r>
            <a:r>
              <a:rPr lang="pt-BR" dirty="0"/>
              <a:t> a função. </a:t>
            </a:r>
          </a:p>
          <a:p>
            <a:r>
              <a:rPr lang="pt-BR" dirty="0"/>
              <a:t>(Antes havia apenas o pedido pela referência.)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DA9D6A-8B8F-1ABD-4001-F8E0581A5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115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696B-1A4F-0C40-CD3A-F272886E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36CBBC-DC3F-E1D3-3E6A-03773A7DE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D895AC-C387-4905-734C-C5A6022F4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E7DA0F-7126-D7C3-D31D-193DF2466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497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B473-122E-995A-83E2-BDB231A1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88D6B2-0E22-53E3-CC33-49A57DD44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C835B0-0135-4B95-B8D8-42F01796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09672D-1493-7167-FA89-8510A830A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152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840D-E6FE-461F-F8BA-7E58F75F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4985E4-AFBA-EA68-E1B3-AA537FEEE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𝑑𝑒𝑓𝑖𝑛𝑒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𝑄𝑈𝐴𝐷𝑅𝐴𝐷𝑂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((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∗ 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:r>
                  <a:rPr lang="it-IT" sz="1200" i="0" dirty="0">
                    <a:latin typeface="Cambria Math" panose="02040503050406030204" pitchFamily="18" charset="0"/>
                  </a:rPr>
                  <a:t>#𝑑𝑒𝑓𝑖𝑛𝑒 𝑄𝑈𝐴𝐷𝑅𝐴𝐷𝑂(𝑥) ((𝑥) ∗ (𝑥))</a:t>
                </a:r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0A8A88-48CA-1B58-25FD-A0E9EE52D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9659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996E-7337-A5E8-933B-25CAC402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AB6FD3-7254-70C3-8E6A-EEDC71F7D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85DCD3-C5EA-3056-CB71-829B1220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 (estrutura) em C é um tipo de dado personalizado que agrupa várias variáveis, que podem ser de tipos diferentes, sob um único nome. </a:t>
            </a:r>
          </a:p>
          <a:p>
            <a:r>
              <a:rPr lang="pt-BR" dirty="0"/>
              <a:t>Ela funciona como um registro para organizar informações relacionadas, como os dados de uma pessoa ou de um aluno.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</a:t>
            </a:r>
            <a:r>
              <a:rPr lang="pt-BR" dirty="0"/>
              <a:t> em C serve para criar um novo nome (um apelido ou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</a:t>
            </a:r>
            <a:r>
              <a:rPr lang="pt-BR" dirty="0"/>
              <a:t>) para um tipo de dado que já existe. </a:t>
            </a:r>
          </a:p>
          <a:p>
            <a:r>
              <a:rPr lang="pt-BR" dirty="0"/>
              <a:t>Ele ajuda a deixar o código mais limpo, curto e fácil de ler, sendo muito usado com tipos básicos, ponteiros e estruturas (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).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BF5AA9-4D8D-605B-C5B3-2239F7239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540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2E78-5D2E-A485-8D0A-59198BBB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1EB849-809B-A6A9-67FE-FE44F13BB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2D807B-D19F-11A9-2A10-CFDC1FF6C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 protótipo é obrigatório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Ordem invertida: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a função for chamada antes de ter o seu corpo definido no código (por exemplo, 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fica no topo e as outras funções embaixo), o protótipo se torna obrigatório para o compilador não gerar erro.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Múltiplos arquivos: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o projeto cresce e usa vários arquivos de código, os protótipos em arquivos de cabeçalho (.h) são essenciais para um arquivo enxergar as funções do outro.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 de tipos: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protótipo ajuda o compilador a avisar você se passar o número errado de argumentos ou tipos incorretos na chamada da função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43CA1E-8BFD-77BB-B57E-7EB7B5A0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366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B067-8B75-53C6-354D-C19F4B3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24C0D1-D8A1-05DF-92E2-E790828F0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7FEF35-4E7A-4FC0-6FDE-608BC7D33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As variáveis declaradas dentro dela só existem durante sua execução.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única exceção do retorno da função, é para o caso dela ser do tipo VOID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C5D177-2C8C-2480-9763-228CFBFAA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958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D291-2B68-E341-9F50-CC9BA68B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47DB21-D531-1BA0-937E-7F06F50A0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1E6FD4-CD44-C461-9F47-55CA701E5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8BBF2A-4358-C6C9-18FE-7D3ED89CE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37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A538-0ED9-B233-81F6-495BFBCB6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C6E84-14A0-D43A-A22B-DC45B1CD8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DBD6D9-B141-9711-5103-EE62F47F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0C721EB-FF62-0C37-62FF-575B79432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18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1F24-3A37-BE5E-87E6-8DFD228F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0E9C820-C403-81DA-4458-0F826AB9D6E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DBEF96-5BB9-10F9-BA9C-FDE0A19F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Sistema de avaliação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6D3F682-1904-6B9C-FB31-DC217F584E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728EE4-B88D-A8C9-80CD-CA18D0C7F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0860" y="2245646"/>
            <a:ext cx="8670280" cy="3657600"/>
          </a:xfrm>
        </p:spPr>
        <p:txBody>
          <a:bodyPr/>
          <a:lstStyle/>
          <a:p>
            <a:r>
              <a:rPr lang="pt-BR" sz="2400" dirty="0"/>
              <a:t>Pontuação semestral total do componente curricular, no valor de 100 (cem pontos).</a:t>
            </a:r>
          </a:p>
          <a:p>
            <a:endParaRPr lang="pt-BR" sz="2400" dirty="0"/>
          </a:p>
          <a:p>
            <a:r>
              <a:rPr lang="pt-BR" sz="2400" dirty="0"/>
              <a:t>Pontuação necessária para aprovação: 60% (sessenta por cento) da pontuação semestral do componente.</a:t>
            </a:r>
          </a:p>
          <a:p>
            <a:endParaRPr lang="pt-BR" sz="2400" dirty="0"/>
          </a:p>
          <a:p>
            <a:r>
              <a:rPr lang="pt-BR" sz="2400" dirty="0"/>
              <a:t>Frequência necessária para aprovação: 75% (setenta e cinco por cento) no componente curricular.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552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6F12-CB60-EC12-334D-A843F410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22B2D8-67D3-186B-9646-B4F2E93DCAD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27AF45-4965-F2EA-4785-9BD925E6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Distribuição de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C6C694-907B-4090-64BD-AEE83CCF1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BA44CF-0249-2FC7-5D35-8CE4AAB5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540" y="1804575"/>
            <a:ext cx="8670280" cy="4746632"/>
          </a:xfrm>
        </p:spPr>
        <p:txBody>
          <a:bodyPr/>
          <a:lstStyle/>
          <a:p>
            <a:r>
              <a:rPr lang="pt-BR" sz="2400" dirty="0"/>
              <a:t>Atividades Complementares 1 – </a:t>
            </a:r>
            <a:r>
              <a:rPr lang="pt-BR" sz="2400" b="1" dirty="0"/>
              <a:t>5pts</a:t>
            </a:r>
          </a:p>
          <a:p>
            <a:r>
              <a:rPr lang="pt-BR" sz="2400" dirty="0" err="1"/>
              <a:t>Uniube</a:t>
            </a:r>
            <a:r>
              <a:rPr lang="pt-BR" sz="2400" dirty="0"/>
              <a:t>+ – </a:t>
            </a:r>
            <a:r>
              <a:rPr lang="pt-BR" sz="2400" b="1" dirty="0"/>
              <a:t>5pts</a:t>
            </a:r>
            <a:endParaRPr lang="pt-BR" sz="2400" dirty="0"/>
          </a:p>
          <a:p>
            <a:r>
              <a:rPr lang="pt-BR" sz="2400" dirty="0"/>
              <a:t>Avaliação 1 – </a:t>
            </a:r>
            <a:r>
              <a:rPr lang="pt-BR" sz="2400" b="1" dirty="0"/>
              <a:t>25pts</a:t>
            </a:r>
            <a:r>
              <a:rPr lang="pt-BR" sz="2400" dirty="0"/>
              <a:t> – Data prevista: 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Atividades Complementares 2 – </a:t>
            </a:r>
            <a:r>
              <a:rPr lang="pt-BR" sz="2400" b="1" dirty="0"/>
              <a:t>10pts</a:t>
            </a:r>
          </a:p>
          <a:p>
            <a:r>
              <a:rPr lang="pt-BR" sz="2400" dirty="0" err="1"/>
              <a:t>Uniube</a:t>
            </a:r>
            <a:r>
              <a:rPr lang="pt-BR" sz="2400" dirty="0"/>
              <a:t>+ – </a:t>
            </a:r>
            <a:r>
              <a:rPr lang="pt-BR" sz="2400" b="1" dirty="0"/>
              <a:t>10pts</a:t>
            </a:r>
            <a:endParaRPr lang="pt-BR" sz="2400" dirty="0"/>
          </a:p>
          <a:p>
            <a:r>
              <a:rPr lang="pt-BR" sz="2400" dirty="0"/>
              <a:t>Avaliação 2 – </a:t>
            </a:r>
            <a:r>
              <a:rPr lang="pt-BR" sz="2400" b="1" dirty="0"/>
              <a:t>30pts</a:t>
            </a:r>
            <a:r>
              <a:rPr lang="pt-BR" sz="2400" dirty="0"/>
              <a:t> – Data prevista: </a:t>
            </a:r>
          </a:p>
          <a:p>
            <a:endParaRPr lang="pt-BR" sz="2400" dirty="0"/>
          </a:p>
          <a:p>
            <a:r>
              <a:rPr lang="pt-BR" sz="2400" dirty="0"/>
              <a:t>Avaliação Institucional – </a:t>
            </a:r>
            <a:r>
              <a:rPr lang="pt-BR" sz="2400" b="1" dirty="0"/>
              <a:t>15pts</a:t>
            </a:r>
            <a:endParaRPr lang="pt-BR" sz="2400" dirty="0"/>
          </a:p>
          <a:p>
            <a:r>
              <a:rPr lang="pt-BR" sz="2400" dirty="0"/>
              <a:t>Soma total de pontos: </a:t>
            </a:r>
            <a:r>
              <a:rPr lang="pt-BR" sz="2400" b="1" dirty="0"/>
              <a:t>100pts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1026" name="Picture 2" descr="Teste - ícones de educação grátis">
            <a:extLst>
              <a:ext uri="{FF2B5EF4-FFF2-40B4-BE49-F238E27FC236}">
                <a16:creationId xmlns:a16="http://schemas.microsoft.com/office/drawing/2014/main" id="{5C4BB763-0221-5AB3-8665-67367B488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6" y="2518544"/>
            <a:ext cx="3150736" cy="315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45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EFC3-284D-D3E8-E50A-9E8782F1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1CC91A5-617B-F614-3886-EF59D2171B4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78D71A-5EF8-AADA-8ACC-9C2D89EE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Bibliografia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D9276FC-2835-8FCA-9E06-6FEFA248B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EE607F-D9F4-7951-D428-ABA18E81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540" y="1804575"/>
            <a:ext cx="8670280" cy="4746632"/>
          </a:xfrm>
        </p:spPr>
        <p:txBody>
          <a:bodyPr/>
          <a:lstStyle/>
          <a:p>
            <a:r>
              <a:rPr lang="pt-BR" sz="2400" b="1" dirty="0"/>
              <a:t>Básica</a:t>
            </a:r>
          </a:p>
          <a:p>
            <a:pPr lvl="1"/>
            <a:r>
              <a:rPr lang="pt-BR" sz="2000" dirty="0"/>
              <a:t>Lógica de Programação e algoritmos – Sandro de Araújo</a:t>
            </a:r>
          </a:p>
          <a:p>
            <a:pPr lvl="1"/>
            <a:r>
              <a:rPr lang="pt-BR" sz="2000" dirty="0"/>
              <a:t>Fundamentos da programação de computadores: algoritmos, pascal e C/C++ – Ana Fernanda </a:t>
            </a:r>
            <a:r>
              <a:rPr lang="pt-BR" sz="2000" dirty="0" err="1"/>
              <a:t>Ascenio</a:t>
            </a:r>
            <a:endParaRPr lang="pt-BR" sz="2000" dirty="0"/>
          </a:p>
          <a:p>
            <a:pPr lvl="1"/>
            <a:r>
              <a:rPr lang="pt-BR" dirty="0"/>
              <a:t>Treinamento em linguagem C – </a:t>
            </a:r>
            <a:r>
              <a:rPr lang="pt-BR" dirty="0" err="1"/>
              <a:t>Victorine</a:t>
            </a:r>
            <a:r>
              <a:rPr lang="pt-BR" dirty="0"/>
              <a:t> </a:t>
            </a:r>
            <a:r>
              <a:rPr lang="pt-BR" dirty="0" err="1"/>
              <a:t>Mizrahi</a:t>
            </a:r>
            <a:endParaRPr lang="pt-BR"/>
          </a:p>
          <a:p>
            <a:pPr marL="457200" lvl="1" indent="0">
              <a:buNone/>
            </a:pPr>
            <a:endParaRPr lang="pt-BR" sz="2400" dirty="0"/>
          </a:p>
          <a:p>
            <a:r>
              <a:rPr lang="pt-BR" sz="2400" b="1" dirty="0"/>
              <a:t>Complementar</a:t>
            </a:r>
          </a:p>
          <a:p>
            <a:pPr lvl="1"/>
            <a:r>
              <a:rPr lang="pt-BR" sz="2000" dirty="0"/>
              <a:t>Como programar em C – </a:t>
            </a:r>
            <a:r>
              <a:rPr lang="pt-BR" sz="2000" dirty="0" err="1"/>
              <a:t>Deitel</a:t>
            </a:r>
            <a:r>
              <a:rPr lang="pt-BR" sz="2000" dirty="0"/>
              <a:t> &amp; </a:t>
            </a:r>
            <a:r>
              <a:rPr lang="pt-BR" sz="2000" dirty="0" err="1"/>
              <a:t>Deitel</a:t>
            </a:r>
            <a:endParaRPr lang="pt-BR" sz="2000" dirty="0"/>
          </a:p>
          <a:p>
            <a:pPr lvl="1"/>
            <a:r>
              <a:rPr lang="pt-BR" sz="2000" dirty="0"/>
              <a:t>Conceitos de Linguagem de Programação – Robert </a:t>
            </a:r>
            <a:r>
              <a:rPr lang="pt-BR" sz="2000" dirty="0" err="1"/>
              <a:t>Sebesta</a:t>
            </a:r>
            <a:endParaRPr lang="pt-BR" sz="2000" dirty="0"/>
          </a:p>
          <a:p>
            <a:pPr lvl="1"/>
            <a:r>
              <a:rPr lang="pt-BR" sz="2000" dirty="0"/>
              <a:t>Linguagem C – </a:t>
            </a:r>
            <a:r>
              <a:rPr lang="pt-BR" sz="2000" dirty="0" err="1"/>
              <a:t>Luis</a:t>
            </a:r>
            <a:r>
              <a:rPr lang="pt-BR" sz="2000" dirty="0"/>
              <a:t> Damas</a:t>
            </a:r>
          </a:p>
          <a:p>
            <a:pPr marL="457200" lvl="1" indent="0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497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1 - Introdução à </a:t>
            </a:r>
            <a:r>
              <a:rPr lang="pt-BR" dirty="0" err="1"/>
              <a:t>lp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Conceitos Introdutórios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58FF2C-8CDD-0E09-7F6D-242B2C7C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20" y="2172494"/>
            <a:ext cx="6019558" cy="3657600"/>
          </a:xfrm>
        </p:spPr>
        <p:txBody>
          <a:bodyPr/>
          <a:lstStyle/>
          <a:p>
            <a:r>
              <a:rPr lang="pt-BR" sz="2400" dirty="0"/>
              <a:t>A linguagem de programação é o meio formal de comunicação com o computador</a:t>
            </a:r>
          </a:p>
          <a:p>
            <a:endParaRPr lang="pt-BR" sz="2400" dirty="0"/>
          </a:p>
          <a:p>
            <a:r>
              <a:rPr lang="pt-BR" sz="2400" dirty="0"/>
              <a:t>As diferentes linguagens buscam atender à alguma necessidade em específico</a:t>
            </a:r>
          </a:p>
          <a:p>
            <a:endParaRPr lang="pt-BR" sz="2400" dirty="0"/>
          </a:p>
          <a:p>
            <a:r>
              <a:rPr lang="pt-BR" sz="2400" dirty="0"/>
              <a:t>Cada uma possui um conjunto formal de regras sintáticas e semânticas</a:t>
            </a:r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1026" name="Picture 2" descr="Nenhuma descrição de foto disponível.">
            <a:extLst>
              <a:ext uri="{FF2B5EF4-FFF2-40B4-BE49-F238E27FC236}">
                <a16:creationId xmlns:a16="http://schemas.microsoft.com/office/drawing/2014/main" id="{767076CD-9084-F479-B0B8-384F0E2B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7" b="4352"/>
          <a:stretch>
            <a:fillRect/>
          </a:stretch>
        </p:blipFill>
        <p:spPr bwMode="auto">
          <a:xfrm>
            <a:off x="6667378" y="2172494"/>
            <a:ext cx="5143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17AB-793B-33ED-F53D-DFF1D00E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5381A2-21D3-988B-6C4F-1A5A0E3E479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FE61A-0CEC-FC31-6387-C133DC18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LP X Algoritmo X </a:t>
            </a:r>
            <a:r>
              <a:rPr lang="pt-BR" dirty="0" err="1">
                <a:solidFill>
                  <a:schemeClr val="bg1"/>
                </a:solidFill>
              </a:rPr>
              <a:t>Pseudo-código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0C2298D-D8FC-A002-D482-14EA1BD148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3F71DD-09FA-DB12-8FA3-33D5EC43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52" y="1987298"/>
            <a:ext cx="6413216" cy="4494524"/>
          </a:xfrm>
        </p:spPr>
        <p:txBody>
          <a:bodyPr>
            <a:normAutofit/>
          </a:bodyPr>
          <a:lstStyle/>
          <a:p>
            <a:r>
              <a:rPr lang="pt-BR" sz="2400" b="1" dirty="0"/>
              <a:t>O </a:t>
            </a:r>
            <a:r>
              <a:rPr lang="pt-BR" sz="2400" b="1" dirty="0" err="1"/>
              <a:t>pseudo-código</a:t>
            </a:r>
            <a:r>
              <a:rPr lang="pt-BR" sz="2400" b="1" dirty="0"/>
              <a:t> </a:t>
            </a:r>
            <a:r>
              <a:rPr lang="pt-BR" sz="2400" dirty="0"/>
              <a:t>é a forma simples e direta de escrever a lógica de um programa usando a língua nativa</a:t>
            </a:r>
          </a:p>
          <a:p>
            <a:endParaRPr lang="pt-BR" sz="2400" dirty="0"/>
          </a:p>
          <a:p>
            <a:r>
              <a:rPr lang="pt-BR" sz="2400" b="1" dirty="0"/>
              <a:t>O algoritmo</a:t>
            </a:r>
            <a:r>
              <a:rPr lang="pt-BR" sz="2400" dirty="0"/>
              <a:t> é uma sequência de instruções ou regras bem definidas para realizar uma tarefa.</a:t>
            </a:r>
          </a:p>
          <a:p>
            <a:endParaRPr lang="pt-BR" sz="2400" dirty="0"/>
          </a:p>
          <a:p>
            <a:r>
              <a:rPr lang="pt-BR" sz="2400" b="1" dirty="0"/>
              <a:t>A LP </a:t>
            </a:r>
            <a:r>
              <a:rPr lang="pt-BR" sz="2400" dirty="0"/>
              <a:t>é um conjunto de regras sintáticas e semânticas para comunicação com a máquina.</a:t>
            </a:r>
          </a:p>
          <a:p>
            <a:endParaRPr lang="pt-BR" dirty="0"/>
          </a:p>
        </p:txBody>
      </p:sp>
      <p:pic>
        <p:nvPicPr>
          <p:cNvPr id="3074" name="Picture 2" descr="Sobre pseudocódigo, leia as alternativas e assinale a opção correta: I - O  pseudocódigo é uma linguagem - brainly.com.br">
            <a:extLst>
              <a:ext uri="{FF2B5EF4-FFF2-40B4-BE49-F238E27FC236}">
                <a16:creationId xmlns:a16="http://schemas.microsoft.com/office/drawing/2014/main" id="{519457E3-8DE1-752D-1393-96E1E3708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" r="2476" b="4286"/>
          <a:stretch>
            <a:fillRect/>
          </a:stretch>
        </p:blipFill>
        <p:spPr bwMode="auto">
          <a:xfrm>
            <a:off x="6690168" y="1896499"/>
            <a:ext cx="5429470" cy="403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72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E4F4-2171-A611-20A4-E0BEBA0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E3F869F-C534-FD4D-1148-C594EFCBA6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B1BBAC-EA12-CF1A-4608-33143810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Níveis de Linguagem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3A2E345-1650-BAC8-2E96-616F1C30B0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B0C34-EF3C-0168-9FC4-0838347B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6019558" cy="4351338"/>
          </a:xfrm>
        </p:spPr>
        <p:txBody>
          <a:bodyPr/>
          <a:lstStyle/>
          <a:p>
            <a:r>
              <a:rPr lang="pt-BR" sz="2400" dirty="0"/>
              <a:t>As linguagens são </a:t>
            </a:r>
            <a:r>
              <a:rPr lang="pt-BR" sz="2400"/>
              <a:t>subdivididas em 3 </a:t>
            </a:r>
            <a:r>
              <a:rPr lang="pt-BR" sz="2400" dirty="0"/>
              <a:t>categorias distintas: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de Máquina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Assembly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de Alto Nível</a:t>
            </a:r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2050" name="Picture 2" descr="Linguagens de Programação">
            <a:extLst>
              <a:ext uri="{FF2B5EF4-FFF2-40B4-BE49-F238E27FC236}">
                <a16:creationId xmlns:a16="http://schemas.microsoft.com/office/drawing/2014/main" id="{54F43681-4BA0-DF66-CBC8-A7170093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425" y="3429000"/>
            <a:ext cx="66770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87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D736-CEF0-B6C0-28BC-774DA5F6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7F9DE4-EB99-5874-7C93-C50756B60B5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CB663B-29B6-EF3E-539D-7287CF4F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de Máquina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965B379-0BB9-05F4-129D-B28D07BD1A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00FDEC-E1C9-8037-38E3-62ED4ADC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77" y="1640958"/>
            <a:ext cx="5527874" cy="4887691"/>
          </a:xfrm>
        </p:spPr>
        <p:txBody>
          <a:bodyPr>
            <a:normAutofit/>
          </a:bodyPr>
          <a:lstStyle/>
          <a:p>
            <a:r>
              <a:rPr lang="pt-BR" sz="2400" dirty="0"/>
              <a:t>Forma básica de instrução compreendida pelo computador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r>
              <a:rPr lang="pt-BR" sz="2400" dirty="0"/>
              <a:t>Caracterizada por ser uma sequências de 0 e 1, ou de valores Hexadecimais </a:t>
            </a:r>
          </a:p>
          <a:p>
            <a:endParaRPr lang="pt-BR" sz="2400" dirty="0"/>
          </a:p>
          <a:p>
            <a:r>
              <a:rPr lang="pt-BR" sz="2400" dirty="0"/>
              <a:t>Cada arquitetura compreende sua própria linguagem de máquina</a:t>
            </a:r>
          </a:p>
          <a:p>
            <a:endParaRPr lang="pt-BR" sz="2400" dirty="0"/>
          </a:p>
          <a:p>
            <a:r>
              <a:rPr lang="pt-BR" sz="2400" dirty="0"/>
              <a:t>Opera de acordo com o projeto de Hardware do processador</a:t>
            </a:r>
            <a:endParaRPr lang="pt-BR" dirty="0"/>
          </a:p>
          <a:p>
            <a:endParaRPr lang="pt-BR" sz="2400" dirty="0"/>
          </a:p>
        </p:txBody>
      </p:sp>
      <p:pic>
        <p:nvPicPr>
          <p:cNvPr id="4098" name="Picture 2" descr="Importância da linguem de Programação de Baixo Nível">
            <a:extLst>
              <a:ext uri="{FF2B5EF4-FFF2-40B4-BE49-F238E27FC236}">
                <a16:creationId xmlns:a16="http://schemas.microsoft.com/office/drawing/2014/main" id="{36D343F2-A8DE-A76F-F763-075091475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28" r="1050" b="68373"/>
          <a:stretch>
            <a:fillRect/>
          </a:stretch>
        </p:blipFill>
        <p:spPr bwMode="auto">
          <a:xfrm>
            <a:off x="7909790" y="1814843"/>
            <a:ext cx="3067291" cy="12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Organization of Computer Systems: ISA, Machine Language, Number Systems">
            <a:extLst>
              <a:ext uri="{FF2B5EF4-FFF2-40B4-BE49-F238E27FC236}">
                <a16:creationId xmlns:a16="http://schemas.microsoft.com/office/drawing/2014/main" id="{103232D8-49E8-B066-4C6A-8F3AF74E3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863" y="3339436"/>
            <a:ext cx="496252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B9E8019-D6C5-3D11-235D-94FE651B5926}"/>
              </a:ext>
            </a:extLst>
          </p:cNvPr>
          <p:cNvSpPr txBox="1"/>
          <p:nvPr/>
        </p:nvSpPr>
        <p:spPr>
          <a:xfrm>
            <a:off x="7498054" y="6343983"/>
            <a:ext cx="346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Instruction</a:t>
            </a:r>
            <a:r>
              <a:rPr lang="pt-BR" dirty="0"/>
              <a:t> Set </a:t>
            </a:r>
            <a:r>
              <a:rPr lang="pt-BR" dirty="0" err="1"/>
              <a:t>Architecture</a:t>
            </a:r>
            <a:r>
              <a:rPr lang="pt-BR" dirty="0"/>
              <a:t> – MIPS</a:t>
            </a:r>
          </a:p>
        </p:txBody>
      </p:sp>
    </p:spTree>
    <p:extLst>
      <p:ext uri="{BB962C8B-B14F-4D97-AF65-F5344CB8AC3E}">
        <p14:creationId xmlns:p14="http://schemas.microsoft.com/office/powerpoint/2010/main" val="410210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C57C-4AC3-DF5A-D004-04DB875A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3FC9A9B-8E88-FEA5-7D07-53A05DB749B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226DD1-2C9F-E5DD-5255-F8955046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Assembly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CD5F2B-3F4B-1170-1A3A-4C958128A9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9CDBE0-1F00-547B-C4DA-F12EE2721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1" y="1640492"/>
            <a:ext cx="7338349" cy="4413067"/>
          </a:xfrm>
        </p:spPr>
        <p:txBody>
          <a:bodyPr>
            <a:normAutofit/>
          </a:bodyPr>
          <a:lstStyle/>
          <a:p>
            <a:r>
              <a:rPr lang="pt-BR" sz="2400" dirty="0"/>
              <a:t>Uso de abreviações textuais que representam instruções de código de máquina – Mnemônicos.</a:t>
            </a:r>
            <a:endParaRPr lang="pt-BR" sz="2000" dirty="0"/>
          </a:p>
          <a:p>
            <a:endParaRPr lang="pt-BR" sz="2400" dirty="0"/>
          </a:p>
          <a:p>
            <a:r>
              <a:rPr lang="pt-BR" sz="2400" dirty="0"/>
              <a:t>Dependem de programas tradutores (</a:t>
            </a:r>
            <a:r>
              <a:rPr lang="pt-BR" sz="2400" dirty="0" err="1"/>
              <a:t>assemblers</a:t>
            </a:r>
            <a:r>
              <a:rPr lang="pt-BR" sz="2400" dirty="0"/>
              <a:t>) para converter o código para linguagem de máquina.</a:t>
            </a:r>
          </a:p>
          <a:p>
            <a:endParaRPr lang="pt-BR" sz="2400" dirty="0"/>
          </a:p>
          <a:p>
            <a:r>
              <a:rPr lang="pt-BR" sz="2400" dirty="0"/>
              <a:t>Seu uso ainda se justifica em casos onde o desempenho é critico ou sistemas embarcados</a:t>
            </a:r>
          </a:p>
          <a:p>
            <a:endParaRPr lang="pt-BR" sz="2400" dirty="0"/>
          </a:p>
          <a:p>
            <a:r>
              <a:rPr lang="pt-BR" sz="2400" dirty="0"/>
              <a:t>A conversão de suas instruções é  ‘1 pra 1’</a:t>
            </a:r>
            <a:endParaRPr lang="pt-BR" dirty="0"/>
          </a:p>
          <a:p>
            <a:endParaRPr lang="pt-BR" sz="2400" dirty="0"/>
          </a:p>
        </p:txBody>
      </p:sp>
      <p:pic>
        <p:nvPicPr>
          <p:cNvPr id="5122" name="Picture 2" descr="Importância da linguem de Programação de Baixo Nível">
            <a:extLst>
              <a:ext uri="{FF2B5EF4-FFF2-40B4-BE49-F238E27FC236}">
                <a16:creationId xmlns:a16="http://schemas.microsoft.com/office/drawing/2014/main" id="{EADFA9B8-4F3A-682A-1578-30B5339E8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" r="58769" b="57292"/>
          <a:stretch>
            <a:fillRect/>
          </a:stretch>
        </p:blipFill>
        <p:spPr bwMode="auto">
          <a:xfrm>
            <a:off x="8588188" y="1842207"/>
            <a:ext cx="2990126" cy="243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AF9DFF1-4300-C177-C5B9-0FE8BD01C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2"/>
          <a:stretch>
            <a:fillRect/>
          </a:stretch>
        </p:blipFill>
        <p:spPr>
          <a:xfrm>
            <a:off x="7967428" y="4281211"/>
            <a:ext cx="4224572" cy="17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1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F2CA-646F-A51B-B8DE-0DFCB330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61DE212-0D89-D41F-7CA0-11865FFE793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0709C0-24AC-5BB1-9932-E41B1C3C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Linguagens de Alto Nível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314CDC7-5B3B-0DFD-59D5-5142BB8A8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A0ED64-1BC3-1627-470A-DB92ADD5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7765080" cy="4413067"/>
          </a:xfrm>
        </p:spPr>
        <p:txBody>
          <a:bodyPr>
            <a:normAutofit/>
          </a:bodyPr>
          <a:lstStyle/>
          <a:p>
            <a:r>
              <a:rPr lang="pt-BR" sz="2400" dirty="0"/>
              <a:t>Possui uma leitura mais próxima da linguagem humana</a:t>
            </a:r>
            <a:endParaRPr lang="pt-BR" sz="2000" dirty="0"/>
          </a:p>
          <a:p>
            <a:endParaRPr lang="pt-BR" sz="2400" dirty="0"/>
          </a:p>
          <a:p>
            <a:r>
              <a:rPr lang="pt-BR" sz="2400" dirty="0"/>
              <a:t>O próprio computador faz o trabalho duro de traduzir o código para a máquina (Compiladores ou Interpretadores).</a:t>
            </a:r>
          </a:p>
          <a:p>
            <a:endParaRPr lang="pt-BR" sz="2400" dirty="0"/>
          </a:p>
          <a:p>
            <a:r>
              <a:rPr lang="pt-BR" sz="2400" dirty="0"/>
              <a:t>Introduz a portabilidade, podendo ser executado em diferentes arquiteturas. </a:t>
            </a:r>
          </a:p>
          <a:p>
            <a:endParaRPr lang="pt-BR" sz="2400" dirty="0"/>
          </a:p>
        </p:txBody>
      </p:sp>
      <p:pic>
        <p:nvPicPr>
          <p:cNvPr id="6146" name="Picture 2" descr="PPT - MIPS Assembly Language PowerPoint Presentation, free download -  ID:144403">
            <a:extLst>
              <a:ext uri="{FF2B5EF4-FFF2-40B4-BE49-F238E27FC236}">
                <a16:creationId xmlns:a16="http://schemas.microsoft.com/office/drawing/2014/main" id="{C5D593F8-7C4C-0C3A-F2E3-D18ACE269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" t="29874" r="10702" b="10042"/>
          <a:stretch>
            <a:fillRect/>
          </a:stretch>
        </p:blipFill>
        <p:spPr bwMode="auto">
          <a:xfrm>
            <a:off x="7307483" y="4251469"/>
            <a:ext cx="4884517" cy="260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B46C71D-772A-A08A-3F6B-202564571E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65" t="20112" r="40751" b="50000"/>
          <a:stretch>
            <a:fillRect/>
          </a:stretch>
        </p:blipFill>
        <p:spPr>
          <a:xfrm>
            <a:off x="2406584" y="5381764"/>
            <a:ext cx="3556860" cy="147623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CC8EC65-FBA8-A4F1-283D-3A1379045304}"/>
              </a:ext>
            </a:extLst>
          </p:cNvPr>
          <p:cNvSpPr txBox="1"/>
          <p:nvPr/>
        </p:nvSpPr>
        <p:spPr>
          <a:xfrm>
            <a:off x="2827302" y="5012432"/>
            <a:ext cx="271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Hello</a:t>
            </a:r>
            <a:r>
              <a:rPr lang="pt-BR" dirty="0"/>
              <a:t> World – Linguagem 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0F9228-07B1-731A-9990-D3A20EC7A3C4}"/>
              </a:ext>
            </a:extLst>
          </p:cNvPr>
          <p:cNvSpPr txBox="1"/>
          <p:nvPr/>
        </p:nvSpPr>
        <p:spPr>
          <a:xfrm>
            <a:off x="8392029" y="3731768"/>
            <a:ext cx="294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Hello</a:t>
            </a:r>
            <a:r>
              <a:rPr lang="pt-BR" dirty="0"/>
              <a:t> World – Assembly MIPS</a:t>
            </a:r>
          </a:p>
        </p:txBody>
      </p:sp>
    </p:spTree>
    <p:extLst>
      <p:ext uri="{BB962C8B-B14F-4D97-AF65-F5344CB8AC3E}">
        <p14:creationId xmlns:p14="http://schemas.microsoft.com/office/powerpoint/2010/main" val="318846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1A393-562A-D38D-3A66-DFE4E036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190D0D-CA3E-D15D-4D00-A1096CC5EE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B6E970-839C-6C5D-119D-0592249D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Compiladores X Interpretadores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22A0E1D-F25B-D357-14BD-AC24AF147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9D0839-B4EA-C211-5150-2BC91CB5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8585494" cy="4711540"/>
          </a:xfrm>
        </p:spPr>
        <p:txBody>
          <a:bodyPr>
            <a:normAutofit/>
          </a:bodyPr>
          <a:lstStyle/>
          <a:p>
            <a:r>
              <a:rPr lang="pt-BR" sz="2400" b="1" dirty="0"/>
              <a:t>Compilador 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traduz todo o código-fonte para linguagem de máquina antes da execução.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resultado da compilação é um arquivo executável independente. (</a:t>
            </a:r>
            <a:r>
              <a:rPr lang="pt-BR" sz="2000" dirty="0"/>
              <a:t>Dispensa a necessidade do compilador original ou do código-fonte.</a:t>
            </a:r>
            <a:r>
              <a:rPr lang="pt-BR" sz="2200" dirty="0"/>
              <a:t>)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A tradução prévia da compilação permite uma execução mais otimizada, mas a compilação em si pode ser demorado.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Exemplo: C, C++, Swift, Delphi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D5AA5D-DDBE-45EA-302E-9A838F85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375" y="1468337"/>
            <a:ext cx="1530401" cy="521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85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98AB-9FE9-6F23-E8DD-5918288B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60625C-76BF-117E-9D77-44541679F3C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6E38D8-A826-6E2A-88B7-58CE6D56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Compiladores X Interpretadores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1EC516-EE04-2521-BF07-71312E65BF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1189A5-4D8C-810B-1954-668AFE0B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488" y="1439002"/>
            <a:ext cx="8017437" cy="5289176"/>
          </a:xfrm>
        </p:spPr>
        <p:txBody>
          <a:bodyPr>
            <a:normAutofit/>
          </a:bodyPr>
          <a:lstStyle/>
          <a:p>
            <a:r>
              <a:rPr lang="pt-BR" sz="2400" b="1" dirty="0"/>
              <a:t>Interpretador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Lê o código-fonte linha a linha e o executa imediatamente, utilizando a API do S.O para comunicar com o hardware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Permite um desenvolvimento mais interativo e facilita o processo de detecção de erros.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Apresenta maior portabilidade em sistemas operacionais (Requisitando apenas a instalação do interpretador)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 tradução e execução simultânea (em tempo de execução) degrada o desempenho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Exemplos: JS, Ruby, PHP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D98C0-138A-AB5B-2A74-6D120957C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1" r="6959"/>
          <a:stretch>
            <a:fillRect/>
          </a:stretch>
        </p:blipFill>
        <p:spPr>
          <a:xfrm>
            <a:off x="8319911" y="2626692"/>
            <a:ext cx="3657601" cy="302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3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87AC-5D75-90DD-6E28-D5F1BDDF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9B5857-8044-CD22-9F41-F40D6B63243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EE325-983A-9EEC-F3DD-F8CDD539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Paradigmas de Programação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923519-D03D-8947-37A2-4092664C4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0955A0-658B-3903-F6CC-53E115C3F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8" y="1817511"/>
            <a:ext cx="10443386" cy="3764537"/>
          </a:xfrm>
        </p:spPr>
        <p:txBody>
          <a:bodyPr>
            <a:normAutofit/>
          </a:bodyPr>
          <a:lstStyle/>
          <a:p>
            <a:r>
              <a:rPr lang="pt-BR" sz="2400" dirty="0"/>
              <a:t>Refere-se as formas de pensar e organizar a escrita de programas</a:t>
            </a:r>
            <a:endParaRPr lang="pt-BR" sz="2200" dirty="0"/>
          </a:p>
          <a:p>
            <a:r>
              <a:rPr lang="pt-BR" sz="2400" dirty="0"/>
              <a:t>Linguagens modernas costumam dar suporte a mais de um paradigma.</a:t>
            </a:r>
          </a:p>
          <a:p>
            <a:r>
              <a:rPr lang="pt-BR" sz="2400" dirty="0"/>
              <a:t>O paradigma de uma linguagem não é determinado pelo que </a:t>
            </a:r>
            <a:r>
              <a:rPr lang="pt-BR" sz="2400" b="1" dirty="0"/>
              <a:t>é possível fazer</a:t>
            </a:r>
            <a:r>
              <a:rPr lang="pt-BR" sz="2400" dirty="0"/>
              <a:t>, mas pelo que a linguagem </a:t>
            </a:r>
            <a:r>
              <a:rPr lang="pt-BR" sz="2400" b="1" dirty="0"/>
              <a:t>incentiva e oferece como modelo principal</a:t>
            </a:r>
            <a:r>
              <a:rPr lang="pt-BR" sz="2400" dirty="0"/>
              <a:t>.</a:t>
            </a:r>
            <a:endParaRPr lang="pt-BR" sz="22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2050" name="Picture 2" descr="template">
            <a:extLst>
              <a:ext uri="{FF2B5EF4-FFF2-40B4-BE49-F238E27FC236}">
                <a16:creationId xmlns:a16="http://schemas.microsoft.com/office/drawing/2014/main" id="{3F7081EE-C977-259E-2B4B-F5F29A58B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525" y="3751662"/>
            <a:ext cx="7470150" cy="31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42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CB82-723B-0C3B-D314-76525C0E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7F443-9C6C-C3AD-A4C9-76DC998E7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2 – LINGUAGEM C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1403F2-BA06-FE1B-0D3F-27A5A4B1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Sistemas Digitais / AOC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C53B3E7-570B-AE27-7833-B17E767B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278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47D0-E7CB-ECFD-11B1-5794B104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1A28AC-DAAB-6C16-0CDC-88764D50CE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CF4B14-0EDE-6F69-47A5-0EE7B70E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A638FB8-5E7E-526A-56CD-F3D8A2880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C1732B-1561-6775-6787-B17743F1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8147045" cy="4413067"/>
          </a:xfrm>
        </p:spPr>
        <p:txBody>
          <a:bodyPr>
            <a:normAutofit/>
          </a:bodyPr>
          <a:lstStyle/>
          <a:p>
            <a:r>
              <a:rPr lang="pt-BR" sz="2400" dirty="0"/>
              <a:t>Filosofia da Linguagem C: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Reflete a filosofia do sistema Unix, tendo como pilares a modularidade, a composição de módulos simples e clareza de código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Os módulos de um projeto devem ser implementados de maneira independente dos demais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É dado controle total ao usuário quanto à manipulação de memória e gerenciamento de recursos (inclusive recursos de segurança)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Menor abstração quanto à manipulação de memória e o controle direto de hardware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sp>
        <p:nvSpPr>
          <p:cNvPr id="3" name="Chave Direita 2">
            <a:extLst>
              <a:ext uri="{FF2B5EF4-FFF2-40B4-BE49-F238E27FC236}">
                <a16:creationId xmlns:a16="http://schemas.microsoft.com/office/drawing/2014/main" id="{4F885CEA-2EDF-F394-AF01-4C1EAEFC0CA0}"/>
              </a:ext>
            </a:extLst>
          </p:cNvPr>
          <p:cNvSpPr/>
          <p:nvPr/>
        </p:nvSpPr>
        <p:spPr>
          <a:xfrm>
            <a:off x="8449519" y="4444678"/>
            <a:ext cx="810228" cy="11458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0321C7-2521-5667-5968-A1F1EA6CE547}"/>
              </a:ext>
            </a:extLst>
          </p:cNvPr>
          <p:cNvSpPr txBox="1"/>
          <p:nvPr/>
        </p:nvSpPr>
        <p:spPr>
          <a:xfrm>
            <a:off x="9413927" y="4694459"/>
            <a:ext cx="2112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Consequente ganho </a:t>
            </a:r>
          </a:p>
          <a:p>
            <a:r>
              <a:rPr lang="pt-BR" dirty="0"/>
              <a:t>de desempenho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90CDC7-2759-A493-8D1E-2A4E7ADA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746" y="1640492"/>
            <a:ext cx="2100362" cy="23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A483-0EB1-4BA4-064F-DB75EE30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077832A-09C2-3D0C-4D78-785FBE318CA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7FCB2-CF17-3E9A-E7A3-5039A49F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Ciclo de Desenvolvimento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502EC9-884F-90B0-7A7C-6A10FF7BF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0C4C2D-1A34-F14A-6A6B-35807246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42" y="2057180"/>
            <a:ext cx="5994154" cy="441306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de uma aplicação engloba quatro fases distintas:</a:t>
            </a:r>
          </a:p>
          <a:p>
            <a:pPr marL="800100" lvl="1" indent="-342900">
              <a:buFont typeface="+mj-lt"/>
              <a:buAutoNum type="arabicPeriod"/>
            </a:pPr>
            <a:endParaRPr lang="pt-BR" sz="1600" dirty="0"/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Edição do código fonte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Compilação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i="1" dirty="0" err="1"/>
              <a:t>Linkagem</a:t>
            </a:r>
            <a:r>
              <a:rPr lang="pt-BR" dirty="0"/>
              <a:t> de Objetos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Execução do Programa 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EBD0-0B15-E541-A879-F5006DFB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223" y="1568824"/>
            <a:ext cx="5567553" cy="5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26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691F-7747-3F69-241C-252A7B03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495F23-8079-4345-C563-CBA4EE28A5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54047F-7167-87E5-CD10-537C1CA9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Pré</a:t>
            </a:r>
            <a:r>
              <a:rPr lang="pt-BR" dirty="0">
                <a:solidFill>
                  <a:schemeClr val="bg1"/>
                </a:solidFill>
              </a:rPr>
              <a:t>-Processador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99A796F-5FF3-5CDB-BF0F-F846E7C23E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1C4F10-6EF3-F109-90A5-7490536A0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08" y="1501596"/>
            <a:ext cx="7465789" cy="5356404"/>
          </a:xfrm>
        </p:spPr>
        <p:txBody>
          <a:bodyPr>
            <a:normAutofit/>
          </a:bodyPr>
          <a:lstStyle/>
          <a:p>
            <a:r>
              <a:rPr lang="pt-BR" sz="2400" dirty="0"/>
              <a:t>Não executa nenhuma lógica da linguagem C em si, apenas manipula linhas de texto.</a:t>
            </a:r>
          </a:p>
          <a:p>
            <a:r>
              <a:rPr lang="pt-BR" sz="2400" dirty="0"/>
              <a:t>Ele executa diretivas que começam com </a:t>
            </a:r>
            <a:r>
              <a:rPr lang="pt-BR" dirty="0"/>
              <a:t>#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400" dirty="0"/>
          </a:p>
          <a:p>
            <a:pPr lvl="1"/>
            <a:r>
              <a:rPr lang="pt-BR" sz="2000" b="1" dirty="0"/>
              <a:t>#include:</a:t>
            </a:r>
            <a:r>
              <a:rPr lang="pt-BR" sz="2000" dirty="0"/>
              <a:t> Referencia o conteúdo de uma biblioteca ou arquivos </a:t>
            </a:r>
            <a:r>
              <a:rPr lang="pt-BR" sz="2000" dirty="0" err="1"/>
              <a:t>headers</a:t>
            </a:r>
            <a:r>
              <a:rPr lang="pt-BR" sz="2000" dirty="0"/>
              <a:t> diretamente no código.</a:t>
            </a:r>
          </a:p>
          <a:p>
            <a:pPr lvl="1"/>
            <a:endParaRPr lang="pt-BR" sz="2000" b="1" dirty="0"/>
          </a:p>
          <a:p>
            <a:pPr lvl="1"/>
            <a:r>
              <a:rPr lang="pt-BR" sz="2000" b="1" dirty="0"/>
              <a:t>#define: </a:t>
            </a:r>
            <a:r>
              <a:rPr lang="pt-BR" sz="2000" dirty="0"/>
              <a:t>Troca uma palavra por um valor ou pedaço de texto em todo o código (como criar constantes).</a:t>
            </a:r>
          </a:p>
          <a:p>
            <a:pPr lvl="1"/>
            <a:endParaRPr lang="pt-BR" sz="2000" b="1" dirty="0"/>
          </a:p>
          <a:p>
            <a:pPr lvl="1"/>
            <a:r>
              <a:rPr lang="pt-BR" sz="2000" b="1" dirty="0"/>
              <a:t>#ifdef / #ifndef / #if: </a:t>
            </a:r>
            <a:r>
              <a:rPr lang="pt-BR" sz="2000" dirty="0"/>
              <a:t>Controla se um trecho do código deve ou não ser compilado com base em certas condições.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2D4426D-A677-F92A-F0CB-9620612AD2C0}"/>
              </a:ext>
            </a:extLst>
          </p:cNvPr>
          <p:cNvGrpSpPr/>
          <p:nvPr/>
        </p:nvGrpSpPr>
        <p:grpSpPr>
          <a:xfrm>
            <a:off x="7857397" y="1826340"/>
            <a:ext cx="4334603" cy="4481137"/>
            <a:chOff x="7857397" y="1826340"/>
            <a:chExt cx="4334603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FCA36D8-B966-D57F-25D1-CE9B5AAA1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5BC630C-654F-581A-D83B-6404D734046D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FF9C38E-431C-7A2E-03E0-7F336DC241C7}"/>
                </a:ext>
              </a:extLst>
            </p:cNvPr>
            <p:cNvSpPr/>
            <p:nvPr/>
          </p:nvSpPr>
          <p:spPr>
            <a:xfrm>
              <a:off x="8816622" y="2686756"/>
              <a:ext cx="3375378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67871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A6C4-51DD-D63C-825B-015D388A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312316B-0D8B-B72E-0206-F45F0856D61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CA22B9-DCB4-F57E-CEDD-BCF16F6F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75A5B7-FCB5-EBE2-9632-480EE15C5D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F52281-2C6C-6073-343F-037D7D62D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compilador aplica 3 etapas de análise ao código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Análise </a:t>
            </a:r>
            <a:r>
              <a:rPr lang="pt-BR" sz="2000" dirty="0" err="1"/>
              <a:t>Lexica</a:t>
            </a:r>
            <a:r>
              <a:rPr lang="pt-BR" sz="2000" dirty="0"/>
              <a:t> 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000" dirty="0"/>
              <a:t>Lê o código-fonte caractere por caractere, gerando </a:t>
            </a:r>
            <a:r>
              <a:rPr lang="pt-BR" i="1" dirty="0"/>
              <a:t>tokens</a:t>
            </a:r>
            <a:r>
              <a:rPr lang="pt-BR" sz="2000" dirty="0"/>
              <a:t> (palavras-chave, identificadores, números e símbolos).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Análise Sintática 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000" dirty="0"/>
              <a:t>Organiza os elementos em uma estrutura em árvore com base nas regras gramaticais da linguagem C.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Análise Semântica 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000" dirty="0"/>
              <a:t>Verifica o significado do código estruturado na árvore.</a:t>
            </a:r>
          </a:p>
          <a:p>
            <a:pPr marL="457200" lvl="1" indent="0">
              <a:buNone/>
            </a:pPr>
            <a:endParaRPr lang="pt-BR" sz="2000" dirty="0"/>
          </a:p>
          <a:p>
            <a:r>
              <a:rPr lang="pt-BR" sz="2400" dirty="0"/>
              <a:t>Ao final, transforma o código C em Assembly.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3BC98DC-6014-E26C-248E-4C1487A3DBA0}"/>
              </a:ext>
            </a:extLst>
          </p:cNvPr>
          <p:cNvGrpSpPr/>
          <p:nvPr/>
        </p:nvGrpSpPr>
        <p:grpSpPr>
          <a:xfrm>
            <a:off x="8037689" y="1873956"/>
            <a:ext cx="4080586" cy="4433521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67C27E5C-1E2C-DABC-FB5D-376A31C4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3B11935-4940-8135-6C08-53075B429380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194846A-7FBC-0117-48E2-04F9A3585474}"/>
                </a:ext>
              </a:extLst>
            </p:cNvPr>
            <p:cNvSpPr/>
            <p:nvPr/>
          </p:nvSpPr>
          <p:spPr>
            <a:xfrm>
              <a:off x="9426221" y="3339934"/>
              <a:ext cx="197555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87820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F4A4-69B4-EA4C-9E48-3BA823DC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CE5B28-DC28-8595-1E2C-940A68F68C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AA27B-F7FE-2BB6-D402-20451709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Montagem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C61AF01-82D7-2F5F-93A3-7F5F36E940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4BB6F0-773D-3CD3-827B-502B59A9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Converte o código Assembly gerado para o código binário</a:t>
            </a:r>
          </a:p>
          <a:p>
            <a:r>
              <a:rPr lang="pt-BR" sz="2400" dirty="0"/>
              <a:t>Gera o chamado ‘Arquivo Objeto (.o)’</a:t>
            </a:r>
          </a:p>
          <a:p>
            <a:r>
              <a:rPr lang="pt-BR" sz="2400" dirty="0"/>
              <a:t>Ele já contém instruções de máquina, mas ainda não é executável.</a:t>
            </a:r>
          </a:p>
          <a:p>
            <a:endParaRPr lang="pt-BR" sz="2400" dirty="0"/>
          </a:p>
          <a:p>
            <a:r>
              <a:rPr lang="pt-BR" sz="2400" dirty="0"/>
              <a:t>Estrutura do arquivo objeto: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510206D-6CD6-01F5-95B8-FA55FB11FA75}"/>
              </a:ext>
            </a:extLst>
          </p:cNvPr>
          <p:cNvGrpSpPr/>
          <p:nvPr/>
        </p:nvGrpSpPr>
        <p:grpSpPr>
          <a:xfrm>
            <a:off x="7846108" y="1865765"/>
            <a:ext cx="4260878" cy="4481137"/>
            <a:chOff x="7846108" y="1865765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222FB77B-4038-1AFA-F3CF-4D79E4AB0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46108" y="1865765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401DBDA-4E98-3A03-3DAC-2D69AF7CA096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E7EBA49-F354-1830-6E8E-2643BEC23BC2}"/>
                </a:ext>
              </a:extLst>
            </p:cNvPr>
            <p:cNvSpPr/>
            <p:nvPr/>
          </p:nvSpPr>
          <p:spPr>
            <a:xfrm>
              <a:off x="9505244" y="4106334"/>
              <a:ext cx="1941689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7E65DD6-F7E1-75A0-C180-79BA22654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88538"/>
              </p:ext>
            </p:extLst>
          </p:nvPr>
        </p:nvGraphicFramePr>
        <p:xfrm>
          <a:off x="982133" y="4233254"/>
          <a:ext cx="2133600" cy="224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86795610"/>
                    </a:ext>
                  </a:extLst>
                </a:gridCol>
              </a:tblGrid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Código Binário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134584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36468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Símbolos/Funções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90879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Referências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1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62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1A0E-682E-D5AA-2009-A143D81A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5283831-4E19-7C22-A7F3-EBFDAA46E28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2FA62D-8A7D-E0DE-37FE-02C05479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DFF28EE-7216-1735-724B-70C60E7BB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661621-9348-0B14-8EF3-A112CB6C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</a:t>
            </a:r>
            <a:r>
              <a:rPr lang="pt-BR" sz="2400" i="1" dirty="0" err="1"/>
              <a:t>linker</a:t>
            </a:r>
            <a:r>
              <a:rPr lang="pt-BR" sz="2400" dirty="0"/>
              <a:t> recebe os vários arquivos objetos criados</a:t>
            </a:r>
          </a:p>
          <a:p>
            <a:r>
              <a:rPr lang="pt-BR" sz="2400" dirty="0"/>
              <a:t>Procura e conecta as referências no código</a:t>
            </a:r>
          </a:p>
          <a:p>
            <a:r>
              <a:rPr lang="pt-BR" sz="2400" dirty="0"/>
              <a:t>Gera o arquivo executável final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56DD666F-A40B-14AD-C626-FD88E59B0A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61FA03D-ABCE-9CA0-56CE-40F6C5FF8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D702D28-AB8E-88ED-BEF3-891B112041F2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9981569-4CE3-2677-D452-54BC7402030C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1AFA5B24-A560-8A52-FB65-F3B08451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62022"/>
            <a:ext cx="4687956" cy="23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52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EB05-87BC-2801-489E-06CD7B6A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590152-0B4E-94C8-24E4-DEA140458F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80D7C3-D81F-565A-FAF8-BC3DA675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r>
              <a:rPr lang="pt-BR" dirty="0">
                <a:solidFill>
                  <a:schemeClr val="bg1"/>
                </a:solidFill>
              </a:rPr>
              <a:t> (Observação)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AB2C41F-A0BD-E83B-E52D-27DA8FCC2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691A9A-EBF2-2E5D-FECE-AD1F7648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Existem dois tipos de </a:t>
            </a:r>
            <a:r>
              <a:rPr lang="pt-BR" sz="2400" i="1" dirty="0" err="1"/>
              <a:t>linkagem</a:t>
            </a:r>
            <a:r>
              <a:rPr lang="pt-BR" sz="2400" i="1" dirty="0"/>
              <a:t>:</a:t>
            </a:r>
          </a:p>
          <a:p>
            <a:endParaRPr lang="pt-BR" sz="2400" dirty="0"/>
          </a:p>
          <a:p>
            <a:r>
              <a:rPr lang="pt-BR" sz="2400" dirty="0" err="1"/>
              <a:t>Linkagem</a:t>
            </a:r>
            <a:r>
              <a:rPr lang="pt-BR" sz="2400" dirty="0"/>
              <a:t> Estática</a:t>
            </a:r>
            <a:endParaRPr lang="pt-BR" sz="2000" dirty="0"/>
          </a:p>
          <a:p>
            <a:pPr lvl="1"/>
            <a:r>
              <a:rPr lang="pt-BR" sz="2000" dirty="0"/>
              <a:t>Todo o código necessário é copiado para o executável.</a:t>
            </a:r>
          </a:p>
          <a:p>
            <a:pPr lvl="1"/>
            <a:r>
              <a:rPr lang="pt-BR" sz="2000" dirty="0"/>
              <a:t>O arquivo executável fica com um tamanho bem maior.</a:t>
            </a:r>
          </a:p>
          <a:p>
            <a:pPr lvl="1"/>
            <a:r>
              <a:rPr lang="pt-BR" sz="2000" dirty="0"/>
              <a:t>Funciona de forma independente.</a:t>
            </a:r>
          </a:p>
          <a:p>
            <a:pPr lvl="1"/>
            <a:endParaRPr lang="pt-BR" sz="2000" dirty="0"/>
          </a:p>
          <a:p>
            <a:r>
              <a:rPr lang="pt-BR" sz="2400" dirty="0" err="1"/>
              <a:t>Linkagem</a:t>
            </a:r>
            <a:r>
              <a:rPr lang="pt-BR" sz="2400" dirty="0"/>
              <a:t> Dinâmica</a:t>
            </a:r>
          </a:p>
          <a:p>
            <a:pPr lvl="1"/>
            <a:r>
              <a:rPr lang="pt-BR" sz="2000" dirty="0"/>
              <a:t>O executável guarda apenas referências ou endereços de arquivos externos</a:t>
            </a:r>
          </a:p>
          <a:p>
            <a:pPr lvl="1"/>
            <a:r>
              <a:rPr lang="pt-BR" sz="2000" dirty="0"/>
              <a:t>O arquivo executável do programa é menor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F1ED11D-CA1E-1E49-4E82-57A8934D59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55AA25F-0192-42D4-C8E8-2D02755B2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61F242B-4E58-F21C-75E2-15CEF71B6AB1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8F375EA-FDBF-7397-7EAF-A651F6DA8635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182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A3B4-6B0D-319A-42F2-E42148BD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A9399F9-6B89-5C05-9A33-444D5094690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C45B6C-C877-6747-0EC5-242ED167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D29837-3C86-CEC6-2111-147292B32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D7A37-75B3-03C4-CDE7-13742ED3F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Todo programa em C, independentemente do tamanho, segue uma estrutura semelhante:</a:t>
            </a:r>
          </a:p>
          <a:p>
            <a:endParaRPr lang="pt-BR" sz="2400" dirty="0"/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Diretivas do </a:t>
            </a:r>
            <a:r>
              <a:rPr lang="pt-BR" sz="2000" dirty="0" err="1"/>
              <a:t>pré</a:t>
            </a:r>
            <a:r>
              <a:rPr lang="pt-BR" sz="2000" dirty="0"/>
              <a:t>-processador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Definições e macros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Declarações globais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Protótipos de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Definições das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Função principal (</a:t>
            </a:r>
            <a:r>
              <a:rPr lang="pt-BR" sz="2000" dirty="0" err="1"/>
              <a:t>main</a:t>
            </a:r>
            <a:r>
              <a:rPr lang="pt-BR" sz="2000" dirty="0"/>
              <a:t>) 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48970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323D-379A-7FB4-9047-7C66D35F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4E57A08-EBB2-8EF4-CE50-F26AEEF188F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282666-8206-58E1-6FE6-8D99E54A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8D3BA8A-5531-A18C-4643-532A34451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Diretivas do </a:t>
                </a:r>
                <a:r>
                  <a:rPr lang="pt-BR" sz="2400" dirty="0" err="1"/>
                  <a:t>pré</a:t>
                </a:r>
                <a:r>
                  <a:rPr lang="pt-BR" sz="2400" dirty="0"/>
                  <a:t>-processador</a:t>
                </a:r>
              </a:p>
              <a:p>
                <a:pPr lvl="1"/>
                <a:endParaRPr lang="pt-BR" sz="1600" dirty="0"/>
              </a:p>
              <a:p>
                <a:pPr lvl="1"/>
                <a:r>
                  <a:rPr lang="pt-BR" sz="2000" dirty="0"/>
                  <a:t>São todas as linhas que começam com #</a:t>
                </a:r>
              </a:p>
              <a:p>
                <a:pPr lvl="1"/>
                <a:r>
                  <a:rPr lang="pt-BR" sz="2000" dirty="0"/>
                  <a:t>Essas linhas não fazem parte da linguagem C propriamente dita. </a:t>
                </a:r>
              </a:p>
              <a:p>
                <a:pPr lvl="1"/>
                <a:r>
                  <a:rPr lang="pt-BR" sz="2000" dirty="0"/>
                  <a:t>Elas são processadas antes da compilação.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Definição de Macros</a:t>
                </a:r>
              </a:p>
              <a:p>
                <a:pPr lvl="1"/>
                <a:endParaRPr lang="pt-BR" sz="2000" dirty="0"/>
              </a:p>
              <a:p>
                <a:pPr lvl="1"/>
                <a:r>
                  <a:rPr lang="pt-BR" sz="2000" dirty="0"/>
                  <a:t>Isso cria constantes simbólicas</a:t>
                </a:r>
              </a:p>
              <a:p>
                <a:pPr lvl="1"/>
                <a:r>
                  <a:rPr lang="pt-BR" sz="2000" dirty="0"/>
                  <a:t>Também podemos criar macros com parâmetros.</a:t>
                </a:r>
              </a:p>
              <a:p>
                <a:pPr lvl="1"/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dirty="0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𝑑𝑒𝑓𝑖𝑛𝑒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𝑄𝑈𝐴𝐷𝑅𝐴𝐷𝑂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((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∗ 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  <a:blipFill>
                <a:blip r:embed="rId3"/>
                <a:stretch>
                  <a:fillRect l="-1059" t="-1593" r="-13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0DF0DB5F-DB2A-C2E3-046F-AC2F890B1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957B044-68A2-8546-6F73-754629053BFA}"/>
              </a:ext>
            </a:extLst>
          </p:cNvPr>
          <p:cNvSpPr/>
          <p:nvPr/>
        </p:nvSpPr>
        <p:spPr>
          <a:xfrm>
            <a:off x="7530908" y="1501595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504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E2E0-8DCB-3F2B-DFFE-C402766A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5CF461-D03A-76E2-3BA0-6572B1A2BA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9A04E-EF20-7A20-5D73-B2370DD2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915B45-C497-8365-DE36-E6EAA6569F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0C78FE2-2547-24D9-8684-2B93123DB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350" y="1501596"/>
                <a:ext cx="6784954" cy="5356404"/>
              </a:xfrm>
            </p:spPr>
            <p:txBody>
              <a:bodyPr>
                <a:normAutofit/>
              </a:bodyPr>
              <a:lstStyle/>
              <a:p>
                <a:endParaRPr lang="pt-BR" sz="2400" dirty="0"/>
              </a:p>
              <a:p>
                <a:r>
                  <a:rPr lang="pt-BR" sz="2400" dirty="0"/>
                  <a:t>Declarações Globais</a:t>
                </a:r>
              </a:p>
              <a:p>
                <a:pPr lvl="1"/>
                <a:endParaRPr lang="pt-BR" sz="1800" dirty="0"/>
              </a:p>
              <a:p>
                <a:pPr lvl="1"/>
                <a:r>
                  <a:rPr lang="pt-BR" sz="2000" dirty="0"/>
                  <a:t>São elementos declarados fora das funções, validas em todo o escopo do script.</a:t>
                </a:r>
              </a:p>
              <a:p>
                <a:pPr lvl="1"/>
                <a:endParaRPr lang="pt-BR" sz="2000" dirty="0"/>
              </a:p>
              <a:p>
                <a:pPr lvl="1"/>
                <a:r>
                  <a:rPr lang="pt-BR" sz="2000" dirty="0"/>
                  <a:t>Variáveis globais existem durante toda a execução do programa.</a:t>
                </a:r>
              </a:p>
              <a:p>
                <a:pPr lvl="1"/>
                <a:endParaRPr lang="pt-BR" sz="2000" dirty="0"/>
              </a:p>
              <a:p>
                <a:pPr lvl="1"/>
                <a:r>
                  <a:rPr lang="pt-BR" sz="2000" dirty="0"/>
                  <a:t>Também podem ser definidas as estruturas e enumerações (Estruturas de Dados).</a:t>
                </a:r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30C78FE2-2547-24D9-8684-2B93123DB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50" y="1501596"/>
                <a:ext cx="6784954" cy="5356404"/>
              </a:xfrm>
              <a:blipFill>
                <a:blip r:embed="rId3"/>
                <a:stretch>
                  <a:fillRect l="-11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944188C4-424D-96A8-3F0A-6C73EA7FE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C9B5CF8-2802-0481-0CD0-1135915F7C3C}"/>
              </a:ext>
            </a:extLst>
          </p:cNvPr>
          <p:cNvSpPr/>
          <p:nvPr/>
        </p:nvSpPr>
        <p:spPr>
          <a:xfrm>
            <a:off x="7395442" y="2196389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184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10EB-D5EB-8070-4858-727203E6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40D8EB-9F09-3E80-5782-6626F39B8E1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38A32D-319B-1C66-58AB-BDFFA1F2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A3ABEDC-B2AC-055F-9981-3FA23C0095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BDE403-84D8-ED00-20DB-466D67B2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Protótipo de função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É uma descrição prévia da função, para conhecimento do compilador</a:t>
            </a:r>
          </a:p>
          <a:p>
            <a:pPr lvl="1"/>
            <a:r>
              <a:rPr lang="pt-BR" sz="2200" dirty="0"/>
              <a:t>É apenas uma “promessa” de que essa função será encontrada depois.</a:t>
            </a:r>
          </a:p>
          <a:p>
            <a:pPr lvl="2"/>
            <a:endParaRPr lang="pt-BR" dirty="0"/>
          </a:p>
          <a:p>
            <a:r>
              <a:rPr lang="pt-BR" sz="2400" dirty="0"/>
              <a:t>Se definirmos a função inteira </a:t>
            </a:r>
            <a:r>
              <a:rPr lang="pt-BR" sz="2400" b="1" dirty="0"/>
              <a:t>antes</a:t>
            </a:r>
            <a:r>
              <a:rPr lang="pt-BR" sz="2400" dirty="0"/>
              <a:t> de qualquer outra função que a chame (como a </a:t>
            </a:r>
            <a:r>
              <a:rPr lang="pt-BR" sz="2400" dirty="0" err="1"/>
              <a:t>main</a:t>
            </a:r>
            <a:r>
              <a:rPr lang="pt-BR" sz="2400" dirty="0"/>
              <a:t>), o compilador não exige o protótipo</a:t>
            </a:r>
          </a:p>
          <a:p>
            <a:endParaRPr lang="pt-BR" sz="2400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4E62871-404C-1969-1123-FF232F5F8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74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A3DA-2D1C-E99D-B57D-CA8BD68F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0927638-C7A9-06AA-EEA1-E17EAE4B59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BFDCD9-3A0D-B40C-892A-3632B6AC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59C0E5-7C4C-BE00-B645-78CAD74EFF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A60323-66F5-5AED-EEAF-EE2CD32F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Definição de funções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Bloco de código reutilizável que realiza uma tarefa específica.</a:t>
            </a:r>
          </a:p>
          <a:p>
            <a:pPr lvl="1"/>
            <a:r>
              <a:rPr lang="pt-BR" sz="2000" dirty="0"/>
              <a:t>Cada função possui seu próprio escopo.</a:t>
            </a:r>
          </a:p>
          <a:p>
            <a:pPr marL="914400" lvl="2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i="1" dirty="0" err="1">
                <a:solidFill>
                  <a:srgbClr val="FF0000"/>
                </a:solidFill>
              </a:rPr>
              <a:t>tipo_de_retorno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 err="1">
                <a:solidFill>
                  <a:schemeClr val="accent6">
                    <a:lumMod val="75000"/>
                  </a:schemeClr>
                </a:solidFill>
              </a:rPr>
              <a:t>nome_da_funcao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i="1" dirty="0" err="1">
                <a:solidFill>
                  <a:schemeClr val="accent1">
                    <a:lumMod val="75000"/>
                  </a:schemeClr>
                </a:solidFill>
              </a:rPr>
              <a:t>lista_de_parametros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pPr marL="457200" lvl="1" indent="0">
              <a:buNone/>
            </a:pPr>
            <a:r>
              <a:rPr lang="pt-BR" i="1" dirty="0"/>
              <a:t>{</a:t>
            </a:r>
          </a:p>
          <a:p>
            <a:pPr marL="457200" lvl="1" indent="0">
              <a:buNone/>
            </a:pPr>
            <a:r>
              <a:rPr lang="pt-BR" i="1" dirty="0"/>
              <a:t>	Bloco de instruções;</a:t>
            </a:r>
          </a:p>
          <a:p>
            <a:pPr marL="457200" lvl="1" indent="0">
              <a:buNone/>
            </a:pPr>
            <a:r>
              <a:rPr lang="pt-BR" i="1" dirty="0"/>
              <a:t>	</a:t>
            </a:r>
            <a:r>
              <a:rPr lang="pt-BR" i="1" dirty="0" err="1">
                <a:solidFill>
                  <a:schemeClr val="accent2"/>
                </a:solidFill>
              </a:rPr>
              <a:t>return</a:t>
            </a:r>
            <a:r>
              <a:rPr lang="pt-BR" i="1" dirty="0"/>
              <a:t> valor; </a:t>
            </a:r>
          </a:p>
          <a:p>
            <a:pPr marL="457200" lvl="1" indent="0">
              <a:buNone/>
            </a:pPr>
            <a:r>
              <a:rPr lang="pt-BR" i="1" dirty="0"/>
              <a:t>}</a:t>
            </a:r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C3F7AE-FC96-5A94-84E0-2AEC68A6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6CAF8B-6565-B969-D701-89E2CEAC769C}"/>
              </a:ext>
            </a:extLst>
          </p:cNvPr>
          <p:cNvSpPr/>
          <p:nvPr/>
        </p:nvSpPr>
        <p:spPr>
          <a:xfrm>
            <a:off x="8693054" y="3788306"/>
            <a:ext cx="3408025" cy="111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74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78C4-5FB1-5153-E354-B5435E44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3E5418-7784-C910-C7A4-A617ACF2C8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9F3F47-5B0C-25CA-4CB1-4C9C5F19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D9A5EA9-1AC4-333E-3FAA-1851D879E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481EB0-A9A2-B2BA-7891-861A74F6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Função Principal </a:t>
            </a:r>
            <a:r>
              <a:rPr lang="pt-BR" sz="2400" i="1" dirty="0" err="1"/>
              <a:t>main</a:t>
            </a:r>
            <a:r>
              <a:rPr lang="pt-BR" sz="2400" i="1" dirty="0"/>
              <a:t>()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T</a:t>
            </a:r>
            <a:r>
              <a:rPr lang="pt-BR" sz="2000" dirty="0"/>
              <a:t>odo programa em C começa pela função </a:t>
            </a:r>
            <a:r>
              <a:rPr lang="pt-BR" sz="2000" i="1" dirty="0" err="1"/>
              <a:t>main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Quem chama </a:t>
            </a:r>
            <a:r>
              <a:rPr lang="pt-BR" sz="2000" i="1" dirty="0" err="1"/>
              <a:t>main</a:t>
            </a:r>
            <a:r>
              <a:rPr lang="pt-BR" sz="2000" dirty="0"/>
              <a:t> é o S.O, durante a execução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Ao retornar 0, o programa informa ao S.O que o a execução terminou corretamente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Na prática, muitos programas definem códigos específicos para diferentes situações.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7FD298-5484-2EFE-FB8E-0C68F4ECD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7571406" y="2700867"/>
            <a:ext cx="4397473" cy="214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80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3459</Words>
  <Application>Microsoft Office PowerPoint</Application>
  <PresentationFormat>Widescreen</PresentationFormat>
  <Paragraphs>460</Paragraphs>
  <Slides>28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Gill Sans MT</vt:lpstr>
      <vt:lpstr>Tema do Office</vt:lpstr>
      <vt:lpstr>Pacote</vt:lpstr>
      <vt:lpstr>plano DE ENSINO</vt:lpstr>
      <vt:lpstr>Sistema de avaliação</vt:lpstr>
      <vt:lpstr>Distribuição de Notas</vt:lpstr>
      <vt:lpstr>Bibliografia</vt:lpstr>
      <vt:lpstr>módulo 1 - Introdução à lp</vt:lpstr>
      <vt:lpstr>Conceitos Introdutórios</vt:lpstr>
      <vt:lpstr>LP X Algoritmo X Pseudo-código</vt:lpstr>
      <vt:lpstr>Níveis de Linguagem</vt:lpstr>
      <vt:lpstr>Linguagem de Máquina</vt:lpstr>
      <vt:lpstr>Linguagem Assembly</vt:lpstr>
      <vt:lpstr>Linguagens de Alto Nível</vt:lpstr>
      <vt:lpstr>Compiladores X Interpretadores</vt:lpstr>
      <vt:lpstr>Compiladores X Interpretadores</vt:lpstr>
      <vt:lpstr>Paradigmas de Programação</vt:lpstr>
      <vt:lpstr>MÓDULO 2 – LINGUAGEM C </vt:lpstr>
      <vt:lpstr>Linguagem C</vt:lpstr>
      <vt:lpstr>Ciclo de Desenvolvimento</vt:lpstr>
      <vt:lpstr>Pré-Processador</vt:lpstr>
      <vt:lpstr>Compilador</vt:lpstr>
      <vt:lpstr>Montagem</vt:lpstr>
      <vt:lpstr>Linkagem</vt:lpstr>
      <vt:lpstr>Linkagem (Observação)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Anatomia de um código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63</cp:revision>
  <dcterms:created xsi:type="dcterms:W3CDTF">2026-07-26T12:48:37Z</dcterms:created>
  <dcterms:modified xsi:type="dcterms:W3CDTF">2026-08-04T16:20:38Z</dcterms:modified>
</cp:coreProperties>
</file>