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24"/>
  </p:notesMasterIdLst>
  <p:sldIdLst>
    <p:sldId id="320" r:id="rId3"/>
    <p:sldId id="321" r:id="rId4"/>
    <p:sldId id="337" r:id="rId5"/>
    <p:sldId id="338" r:id="rId6"/>
    <p:sldId id="342" r:id="rId7"/>
    <p:sldId id="339" r:id="rId8"/>
    <p:sldId id="340" r:id="rId9"/>
    <p:sldId id="343" r:id="rId10"/>
    <p:sldId id="341" r:id="rId11"/>
    <p:sldId id="344" r:id="rId12"/>
    <p:sldId id="345" r:id="rId13"/>
    <p:sldId id="346" r:id="rId14"/>
    <p:sldId id="347" r:id="rId15"/>
    <p:sldId id="348" r:id="rId16"/>
    <p:sldId id="350" r:id="rId17"/>
    <p:sldId id="352" r:id="rId18"/>
    <p:sldId id="353" r:id="rId19"/>
    <p:sldId id="356" r:id="rId20"/>
    <p:sldId id="354" r:id="rId21"/>
    <p:sldId id="355" r:id="rId22"/>
    <p:sldId id="336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io Salmazo Ramos" initials="MS" lastIdx="2" clrIdx="0">
    <p:extLst>
      <p:ext uri="{19B8F6BF-5375-455C-9EA6-DF929625EA0E}">
        <p15:presenceInfo xmlns:p15="http://schemas.microsoft.com/office/powerpoint/2012/main" userId="S::marciosr@ufu.br::41390c5d-c465-4ad4-9c2e-eaf7a78388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  <a:srgbClr val="4F8234"/>
    <a:srgbClr val="6595DE"/>
    <a:srgbClr val="9AB88B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568" autoAdjust="0"/>
  </p:normalViewPr>
  <p:slideViewPr>
    <p:cSldViewPr snapToGrid="0">
      <p:cViewPr varScale="1">
        <p:scale>
          <a:sx n="88" d="100"/>
          <a:sy n="88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2729-4DC1-AA01-E9F4-BDAE82BBD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B8F4D8-1206-546E-9D0B-6AAE3CA11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D53F69-D1D4-D964-BFA4-4FD8989E1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B47195-8B22-DE2B-8C7F-03C4C59DA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500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640E-3743-0D36-E7C5-55CB713E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7E636F-ECBC-960C-3397-188CBBD6D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AB7515-6E29-64E0-07FF-21F483594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DA691D-B3A9-EFEC-6364-2BEDDC2A5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684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4F8B9-0582-3E49-23BC-9EFDE8D5D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39A4491-31DF-C0E5-253E-2AAA33669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31C77D-3247-40B7-986E-ECBA3D307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Os pixels vizinhos determinam um certo grau de influência sobre o pixel central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6148E8-A0CE-E0B9-21AE-211591281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6670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7734E-23E0-3DF0-7C5C-0DE399B86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B191925-DD48-8E58-5E48-4FC56C28E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5C20EB0-C55C-0EF5-9827-5A6A7DA91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E9316D-DDB9-603D-0B6C-7C5976F03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4223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91347-4EF4-BC70-2AEC-AB3C32142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8018EE-14F9-710E-76FD-3B6A1B0EF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2866AC-2F18-04C6-9A3E-1AC66FA85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27B944-312A-545F-0857-DF88DC1E0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85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BFAC8-BB30-4CD2-21D0-1D12800E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30CCCE8-6C70-576A-A20F-6F70157F7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D1C9FAF-060C-BF3C-CC4A-23E9E00B0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546C67-DBD1-2076-19B6-F3F74383F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9900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6BDA8-DDF8-E77B-F545-3A686FDE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2CA386A-4FB6-FCC3-0089-5CD8CB8CA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FE03FF-40B1-F062-66AF-D19B5AA10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F47397-1914-71E4-681B-03A7E3F8E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2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6ADD-B072-5199-FC62-ED53819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838740-2A52-724E-E128-E6DB81CA3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A03A67-7253-F79E-35A0-DD879E0DD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D8DA09-3BB0-37AB-1D60-C3C3BDD85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64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3D8D5-1D59-2459-DC5B-D82255C02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4A1307D-F224-9F19-FB76-2CB91A7AE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3657D3A-67FF-7751-0141-2EA95A06D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7534BB-780E-558A-F944-40D94A4A3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171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1CF6C-5110-8B88-B5A7-F02598601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81616CE-3123-8CC5-A237-B8A4B18EB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93D092-93E9-97C0-B3B6-2CF27E389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93FE29-D538-C701-BCCB-5FAC2F75B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8354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B0BB-9A0B-832D-11F7-5D3241DA4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C306F21-333E-E8AC-73D7-D091FC9A2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FE1B73-49BB-FA16-F4D5-A65AF1CC5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E82AA1-3B5A-5FD8-D61A-84B831B4F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1816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14BA8-AEC9-4DF9-5C77-8A7E2A5B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17083A9-7E96-1845-F04E-97BD27B4D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46DB92F-EE9B-E06A-DD2E-7C5E594B6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DF9A9E-0C22-66F6-6B5B-1D3F5890B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798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D1CB5-2CA0-A426-9D54-8ADFE5F47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03D1B3B-24C6-F015-2BB0-C6AE316FC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2631F38-D93E-08E1-9A3E-047F5E3EC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D5006A-6E0B-C879-0759-99984EB3C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16755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5C360-550E-9FB3-1A3A-BC71BF580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7C0C280-7148-5E6C-B9AF-AB85DEEC7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88FBBC0-7830-DBBB-4669-E39976149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686709-AB7A-4D59-5D31-9D391E91B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589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946B4-C670-8DD0-DC71-9104A0D07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959FB9-A454-F037-0FA6-19F6867C8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9C8DC5A-B39A-8EAE-05EC-AE9F021A4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8E56A2-DEA2-56AE-5CA7-0EC9B7846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9217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E7515-22C7-AEBC-5BD4-45051BA75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0BCFEE-0700-65E7-F05C-8628A70AB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B259B3-1A59-7151-CFFB-D1F4D05B7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5A256D-D287-FAAA-42D4-8BC3FAF22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8645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0D9CA-4A70-1F36-BF96-F0C9D746B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E34EE22-ED3C-E771-5C42-6A3F6E5D9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4D65D94-E997-809F-2CF3-B511CBF7D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filtro Gaussiano pode ser entendido como uma </a:t>
            </a:r>
            <a:r>
              <a:rPr lang="pt-BR" b="1" dirty="0"/>
              <a:t>média ponderada</a:t>
            </a:r>
            <a:r>
              <a:rPr lang="pt-BR" dirty="0"/>
              <a:t>, na qual os pesos são definidos de acordo com uma função Gaussiana.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Uma média ponderada pode usar quaisquer pesos. O filtro Gaussiano utiliza pesos determinados pela distribuição Gaussiana.</a:t>
            </a: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D46E3A-C4A1-8CF2-77A7-93B480EE9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52574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4A93-CA8D-DDF3-F3A9-A4E2F3D23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F1246DD-155A-0973-44DC-CAC0E7EF4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F8047F-B261-0CF4-92B9-FAF33A064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filtro Gaussiano pode ser entendido como uma </a:t>
            </a:r>
            <a:r>
              <a:rPr lang="pt-BR" b="1" dirty="0"/>
              <a:t>média ponderada</a:t>
            </a:r>
            <a:r>
              <a:rPr lang="pt-BR" dirty="0"/>
              <a:t>, na qual os pesos são definidos de acordo com uma função Gaussiana.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Uma média ponderada pode usar quaisquer pesos. O filtro Gaussiano utiliza pesos determinados pela distribuição Gaussiana.</a:t>
            </a: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47E0F6-FDF7-8247-E1FB-836D26021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9332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B42C4-431E-CA8A-23DE-6498F4D83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59ED421-08C0-D9A4-651F-3823CC6D0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3ED1007-5669-C131-211F-186B8D88C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E6E353-7F23-2780-0E70-A379A6B82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18724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A9004-E5D6-65C1-6EF4-9068A9C0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9B3A01F-D32E-E482-DDB6-D650C20E2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25328FE-63B7-F71D-7F93-2D76E4800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5B26D32-56CD-E77F-E124-385257482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27895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5DBF-F087-D425-FE1F-C594C66B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E1EC70-E1DD-80B5-AE67-F989BC04F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ECADB7-139D-33D9-1BFF-A3158C9AC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Etapas básicas para transformar um sinal contínuo (analógico) em um sinal digital</a:t>
            </a:r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5A10F7-6A75-1784-5EB0-733CDBEAF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509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3998-2FA4-E492-3E8A-AE7FF34C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CE2FD-61BC-5114-CCE2-1401A7E83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5 – CONVOLUÇÃO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D69721-C83E-C63B-9409-7E910F0E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13E97F6-65FE-8D93-E374-6AFA6BB96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7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33180-53BA-21BF-A84E-968241FBE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CB63AC-F956-699C-AFCE-3540DB29644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8A14FC-38B0-0F3B-A145-7298E588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Convolução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0650552-5CD6-0B48-6261-174CD00E30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5AC19E-EA79-E17E-B527-D6B35B7B2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338" y="1559906"/>
            <a:ext cx="6115710" cy="5004177"/>
          </a:xfrm>
        </p:spPr>
        <p:txBody>
          <a:bodyPr>
            <a:normAutofit/>
          </a:bodyPr>
          <a:lstStyle/>
          <a:p>
            <a:r>
              <a:rPr lang="pt-BR" sz="2200" dirty="0"/>
              <a:t>Operação matemática capaz de modificar ou extrair características da imagem.</a:t>
            </a:r>
          </a:p>
          <a:p>
            <a:endParaRPr lang="pt-BR" sz="2200" dirty="0"/>
          </a:p>
          <a:p>
            <a:r>
              <a:rPr lang="pt-BR" sz="2200" dirty="0"/>
              <a:t>Utiliza um filtro convolucional (kernel),para ser  deslocado sobre a imagem principal.</a:t>
            </a:r>
          </a:p>
          <a:p>
            <a:endParaRPr lang="pt-BR" sz="2400" dirty="0"/>
          </a:p>
          <a:p>
            <a:r>
              <a:rPr lang="pt-BR" sz="2200" dirty="0"/>
              <a:t>Principais aplicações:</a:t>
            </a:r>
          </a:p>
          <a:p>
            <a:pPr lvl="1"/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Desfoque e suavização.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Remoção de ruídos.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Detecção de bordas.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Realce de Imagem.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etc. 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0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F1FDE0C-7D89-B369-D77B-04963F1C1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48" y="2146356"/>
            <a:ext cx="5593108" cy="383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3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AB747-88B2-640F-F763-3BAD971E5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9C5F1E1-8939-3283-D9F1-27C18FC8038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C81FFB-3772-40E0-ECEA-64AC5576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Vizinhança de Pixels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61A2D6B-F090-0A4C-1BF6-82DD9C9259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B45774-F838-B1A5-9109-ACE467370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678" y="2245704"/>
            <a:ext cx="7871012" cy="4100665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A convolução considera a vizinhança de um pixel </a:t>
            </a:r>
            <a:r>
              <a:rPr lang="pt-BR" sz="2200" i="1" dirty="0"/>
              <a:t>(p)</a:t>
            </a:r>
            <a:r>
              <a:rPr lang="pt-BR" sz="2200" dirty="0"/>
              <a:t>, definindo quais pixels ao seu redor são considerados conectados a ele.</a:t>
            </a:r>
          </a:p>
          <a:p>
            <a:pPr algn="just"/>
            <a:endParaRPr lang="pt-BR" sz="2400" i="1" dirty="0"/>
          </a:p>
          <a:p>
            <a:pPr algn="just"/>
            <a:r>
              <a:rPr lang="pt-BR" sz="2400" dirty="0"/>
              <a:t>As duas formas mais comuns de definir essa vizinhança são a N₄ (Vizinhança-4) e a N₈ (Vizinhança-8).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Os processos de suavização, detecção ou realce dependem da diferença de valores entre um pixel e sua vizinhança.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751A928-296A-AB6E-34B9-B11A889BB8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409"/>
          <a:stretch>
            <a:fillRect/>
          </a:stretch>
        </p:blipFill>
        <p:spPr>
          <a:xfrm>
            <a:off x="8901039" y="4296036"/>
            <a:ext cx="2331737" cy="232997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81B7A45-CD3F-9975-9D03-04966662EF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409"/>
          <a:stretch>
            <a:fillRect/>
          </a:stretch>
        </p:blipFill>
        <p:spPr>
          <a:xfrm>
            <a:off x="8901038" y="1645809"/>
            <a:ext cx="2331737" cy="232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2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AAFB-05E3-C732-6082-8BA2A26E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D4EEF31-8ECB-D94B-625B-6E2BE621F70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00D858-522E-45C5-7F99-820AE198E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Kernel (Filtros)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3BD4E12-13C2-774D-3978-58AC8DED02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95ED8F5-BD87-CE32-25FA-477A87122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185" y="2147882"/>
            <a:ext cx="6685752" cy="4100665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O kernel nada mais é do que uma matriz pequena com valores definidos de acordo com sua aplicação.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Também pode ser chamado de ‘</a:t>
            </a:r>
            <a:r>
              <a:rPr lang="pt-BR" sz="2200" i="1" dirty="0"/>
              <a:t>máscara</a:t>
            </a:r>
            <a:r>
              <a:rPr lang="pt-BR" sz="2200" dirty="0"/>
              <a:t>’, ‘</a:t>
            </a:r>
            <a:r>
              <a:rPr lang="pt-BR" sz="2200" i="1" dirty="0"/>
              <a:t>filtro</a:t>
            </a:r>
            <a:r>
              <a:rPr lang="pt-BR" sz="2200" dirty="0"/>
              <a:t>’ ou ‘</a:t>
            </a:r>
            <a:r>
              <a:rPr lang="pt-BR" sz="2200" i="1" dirty="0"/>
              <a:t>matriz de convolução’</a:t>
            </a:r>
            <a:r>
              <a:rPr lang="pt-BR" sz="2200" dirty="0"/>
              <a:t>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Os valores da matriz definem os pesos utilizados para determinar como os pixels vizinhos irão contribuir para o novo pixel.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FAB77AF-ACA4-799B-5947-EEEB4F30C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4" y="2306407"/>
            <a:ext cx="4662492" cy="341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75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63F2-C1AA-D03E-1090-947ADFA4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6A712FE-9199-AB0B-3E35-79E4CE70923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B7A363-3908-D809-F359-A8E59277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Kernel (Filtros)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791039C-5BEA-A747-650E-F7992A0275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8AD9D4A-4C5D-CE2E-B0AC-C822C285A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224" y="2387368"/>
            <a:ext cx="6685752" cy="4100665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Os kernels podem assumir diferentes tamanhos, normalmente 3x3, 5x5 e 7x7.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Quanto maior o kernel, maior a região da imagem considerada para calcular cada pixel.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Normalmente são utilizados kernels ímpares, dessa forma é possível garantir a presença de um pixel central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2111D24-CE14-3A05-0076-50BF87CDE7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90" r="51702"/>
          <a:stretch>
            <a:fillRect/>
          </a:stretch>
        </p:blipFill>
        <p:spPr>
          <a:xfrm>
            <a:off x="8913151" y="1606182"/>
            <a:ext cx="1866158" cy="501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8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7C368-B502-A9C6-B2AE-C3E19381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7C5FE99-DAC7-0792-08E2-EF3CAD1F156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8EE1D4-B1B6-C693-F4C2-508801628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Convolução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DEF5F4E-CFF9-FFA2-CE18-43263A37B6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528A1E-941D-92DB-E520-DDEF28951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899" y="2158768"/>
            <a:ext cx="6685752" cy="4100665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Exemplo </a:t>
            </a:r>
            <a:r>
              <a:rPr lang="pt-BR" sz="2200" dirty="0">
                <a:sym typeface="Wingdings" panose="05000000000000000000" pitchFamily="2" charset="2"/>
              </a:rPr>
              <a:t> </a:t>
            </a:r>
            <a:r>
              <a:rPr lang="pt-BR" sz="2200" i="1" dirty="0"/>
              <a:t>Filtro de média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762185E-F244-7D5F-B622-86C170688D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087"/>
          <a:stretch>
            <a:fillRect/>
          </a:stretch>
        </p:blipFill>
        <p:spPr>
          <a:xfrm>
            <a:off x="223899" y="2635097"/>
            <a:ext cx="5302162" cy="172932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29A7E5F-10D7-CFD5-B139-2583C4AC16CB}"/>
              </a:ext>
            </a:extLst>
          </p:cNvPr>
          <p:cNvSpPr/>
          <p:nvPr/>
        </p:nvSpPr>
        <p:spPr>
          <a:xfrm>
            <a:off x="1063999" y="3320143"/>
            <a:ext cx="368833" cy="3592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1D1A8C6E-C684-5579-8336-DE9313159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692245"/>
              </p:ext>
            </p:extLst>
          </p:nvPr>
        </p:nvGraphicFramePr>
        <p:xfrm>
          <a:off x="381524" y="5080176"/>
          <a:ext cx="1757856" cy="137369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85952">
                  <a:extLst>
                    <a:ext uri="{9D8B030D-6E8A-4147-A177-3AD203B41FA5}">
                      <a16:colId xmlns:a16="http://schemas.microsoft.com/office/drawing/2014/main" val="1402390987"/>
                    </a:ext>
                  </a:extLst>
                </a:gridCol>
                <a:gridCol w="585952">
                  <a:extLst>
                    <a:ext uri="{9D8B030D-6E8A-4147-A177-3AD203B41FA5}">
                      <a16:colId xmlns:a16="http://schemas.microsoft.com/office/drawing/2014/main" val="2363078568"/>
                    </a:ext>
                  </a:extLst>
                </a:gridCol>
                <a:gridCol w="585952">
                  <a:extLst>
                    <a:ext uri="{9D8B030D-6E8A-4147-A177-3AD203B41FA5}">
                      <a16:colId xmlns:a16="http://schemas.microsoft.com/office/drawing/2014/main" val="2089817832"/>
                    </a:ext>
                  </a:extLst>
                </a:gridCol>
              </a:tblGrid>
              <a:tr h="473080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611096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094515"/>
                  </a:ext>
                </a:extLst>
              </a:tr>
              <a:tr h="399868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784633"/>
                  </a:ext>
                </a:extLst>
              </a:tr>
            </a:tbl>
          </a:graphicData>
        </a:graphic>
      </p:graphicFrame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E409CAF-D032-E1C9-6B69-53D8E1E12E3C}"/>
              </a:ext>
            </a:extLst>
          </p:cNvPr>
          <p:cNvCxnSpPr/>
          <p:nvPr/>
        </p:nvCxnSpPr>
        <p:spPr>
          <a:xfrm>
            <a:off x="1260452" y="4352342"/>
            <a:ext cx="0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25E5201-2EA1-2998-AFF0-8408269830B5}"/>
                  </a:ext>
                </a:extLst>
              </p:cNvPr>
              <p:cNvSpPr txBox="1"/>
              <p:nvPr/>
            </p:nvSpPr>
            <p:spPr>
              <a:xfrm>
                <a:off x="3326697" y="4580546"/>
                <a:ext cx="8192948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(1∗10+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255+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25E5201-2EA1-2998-AFF0-840826983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697" y="4580546"/>
                <a:ext cx="8192948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EE221B0-D5BA-4123-D399-F0A71C81F6B3}"/>
                  </a:ext>
                </a:extLst>
              </p:cNvPr>
              <p:cNvSpPr txBox="1"/>
              <p:nvPr/>
            </p:nvSpPr>
            <p:spPr>
              <a:xfrm>
                <a:off x="3326697" y="5363563"/>
                <a:ext cx="5233805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(10+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+255+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EE221B0-D5BA-4123-D399-F0A71C81F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697" y="5363563"/>
                <a:ext cx="5233805" cy="520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1C6DA877-1384-6FC8-ED13-46C9F8459932}"/>
                  </a:ext>
                </a:extLst>
              </p:cNvPr>
              <p:cNvSpPr txBox="1"/>
              <p:nvPr/>
            </p:nvSpPr>
            <p:spPr>
              <a:xfrm>
                <a:off x="3326696" y="6096451"/>
                <a:ext cx="3189784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335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=37.2222 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𝐴𝑝𝑟𝑜𝑥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 37)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1C6DA877-1384-6FC8-ED13-46C9F8459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696" y="6096451"/>
                <a:ext cx="3189784" cy="5203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A7B0C094-BF05-CDFA-E44A-1FEE04DD0C54}"/>
              </a:ext>
            </a:extLst>
          </p:cNvPr>
          <p:cNvSpPr txBox="1"/>
          <p:nvPr/>
        </p:nvSpPr>
        <p:spPr>
          <a:xfrm>
            <a:off x="6210580" y="2487315"/>
            <a:ext cx="50221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Princípio matemático:</a:t>
            </a:r>
          </a:p>
          <a:p>
            <a:endParaRPr lang="pt-BR" dirty="0"/>
          </a:p>
          <a:p>
            <a:r>
              <a:rPr lang="pt-BR" dirty="0"/>
              <a:t>“Multiplica cada peso do kernel pelo seu respectivo pixel na imagem original e soma os resultados.”</a:t>
            </a:r>
          </a:p>
        </p:txBody>
      </p:sp>
    </p:spTree>
    <p:extLst>
      <p:ext uri="{BB962C8B-B14F-4D97-AF65-F5344CB8AC3E}">
        <p14:creationId xmlns:p14="http://schemas.microsoft.com/office/powerpoint/2010/main" val="484889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B42ED-D141-F487-8FA3-8BFE0FA1B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C096630-85D8-340E-6207-D7B403C9260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F973DD-01B3-43B9-5BCD-031917ED1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Convolução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C004C76-0527-2B84-7316-1B8274EE0B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9A39E95-A1FF-F805-6114-5DFC93BA05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58242" y="2017254"/>
                <a:ext cx="5170715" cy="359977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200" i="1" dirty="0"/>
                  <a:t>Formalmente, temos: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pt-BR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d>
                          <m:dPr>
                            <m:ctrlP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sub>
                    </m:sSub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pt-BR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pt-BR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d>
                              <m:dPr>
                                <m:ctrlPr>
                                  <a:rPr lang="pt-B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nary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pt-BR" sz="2200" b="0" dirty="0"/>
              </a:p>
              <a:p>
                <a:pPr algn="just"/>
                <a:endParaRPr lang="pt-BR" sz="2200" dirty="0"/>
              </a:p>
              <a:p>
                <a:pPr algn="just"/>
                <a:r>
                  <a:rPr lang="pt-BR" sz="2200" dirty="0"/>
                  <a:t>Sendo: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𝑖𝑚𝑎𝑔𝑒𝑚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𝑒𝑛𝑡𝑟𝑎𝑑𝑎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0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𝑘𝑒𝑟𝑛𝑒𝑙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0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𝑖𝑚𝑎𝑔𝑒𝑚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𝑟𝑒𝑠𝑢𝑙𝑡𝑎𝑛𝑡𝑒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0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0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) →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𝑝𝑜𝑠𝑖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çã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𝑝𝑖𝑥𝑒𝑙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0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0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000" i="1" dirty="0" err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) →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𝑝𝑜𝑠𝑖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çõ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𝑑𝑒𝑛𝑡𝑟𝑜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𝑘𝑒𝑟𝑛𝑒𝑙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9A39E95-A1FF-F805-6114-5DFC93BA05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8242" y="2017254"/>
                <a:ext cx="5170715" cy="3599776"/>
              </a:xfrm>
              <a:blipFill>
                <a:blip r:embed="rId3"/>
                <a:stretch>
                  <a:fillRect l="-1415" t="-40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1552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71D7-68B4-9D12-23C9-DEDD978C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7B5DFAD-96DB-5259-9CC1-3165C181838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D49195-8FD3-53A5-B6A1-0235006E6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Convolução x Correlação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D49029C-DBA9-AD87-DED8-BCEE2CFB59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A35D2925-9249-2426-DCAC-F3C27EA016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39810" y="1737998"/>
                <a:ext cx="6512379" cy="1647487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200" dirty="0"/>
                  <a:t>Conceitualmente, a convolução matemática inverte o kernel antes da operação.  Ou seja:</a:t>
                </a:r>
              </a:p>
              <a:p>
                <a:pPr marL="0" indent="0" algn="just">
                  <a:buNone/>
                </a:pPr>
                <a:endParaRPr lang="pt-BR" sz="2200" dirty="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0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000" i="1" dirty="0" err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)→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pt-BR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800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A35D2925-9249-2426-DCAC-F3C27EA016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39810" y="1737998"/>
                <a:ext cx="6512379" cy="1647487"/>
              </a:xfrm>
              <a:blipFill>
                <a:blip r:embed="rId3"/>
                <a:stretch>
                  <a:fillRect l="-1124" t="-4815" r="-12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5C6A0182-AB32-8C96-92FB-ADB1F6416BC1}"/>
              </a:ext>
            </a:extLst>
          </p:cNvPr>
          <p:cNvGraphicFramePr>
            <a:graphicFrameLocks noGrp="1"/>
          </p:cNvGraphicFramePr>
          <p:nvPr/>
        </p:nvGraphicFramePr>
        <p:xfrm>
          <a:off x="3320667" y="3581400"/>
          <a:ext cx="1757856" cy="137369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85952">
                  <a:extLst>
                    <a:ext uri="{9D8B030D-6E8A-4147-A177-3AD203B41FA5}">
                      <a16:colId xmlns:a16="http://schemas.microsoft.com/office/drawing/2014/main" val="1402390987"/>
                    </a:ext>
                  </a:extLst>
                </a:gridCol>
                <a:gridCol w="585952">
                  <a:extLst>
                    <a:ext uri="{9D8B030D-6E8A-4147-A177-3AD203B41FA5}">
                      <a16:colId xmlns:a16="http://schemas.microsoft.com/office/drawing/2014/main" val="2363078568"/>
                    </a:ext>
                  </a:extLst>
                </a:gridCol>
                <a:gridCol w="585952">
                  <a:extLst>
                    <a:ext uri="{9D8B030D-6E8A-4147-A177-3AD203B41FA5}">
                      <a16:colId xmlns:a16="http://schemas.microsoft.com/office/drawing/2014/main" val="2089817832"/>
                    </a:ext>
                  </a:extLst>
                </a:gridCol>
              </a:tblGrid>
              <a:tr h="473080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611096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094515"/>
                  </a:ext>
                </a:extLst>
              </a:tr>
              <a:tr h="399868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784633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916624B-833C-C78B-81C8-50EB4C5D38B4}"/>
              </a:ext>
            </a:extLst>
          </p:cNvPr>
          <p:cNvGraphicFramePr>
            <a:graphicFrameLocks noGrp="1"/>
          </p:cNvGraphicFramePr>
          <p:nvPr/>
        </p:nvGraphicFramePr>
        <p:xfrm>
          <a:off x="7113479" y="3611153"/>
          <a:ext cx="1757856" cy="137369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85952">
                  <a:extLst>
                    <a:ext uri="{9D8B030D-6E8A-4147-A177-3AD203B41FA5}">
                      <a16:colId xmlns:a16="http://schemas.microsoft.com/office/drawing/2014/main" val="1402390987"/>
                    </a:ext>
                  </a:extLst>
                </a:gridCol>
                <a:gridCol w="585952">
                  <a:extLst>
                    <a:ext uri="{9D8B030D-6E8A-4147-A177-3AD203B41FA5}">
                      <a16:colId xmlns:a16="http://schemas.microsoft.com/office/drawing/2014/main" val="2363078568"/>
                    </a:ext>
                  </a:extLst>
                </a:gridCol>
                <a:gridCol w="585952">
                  <a:extLst>
                    <a:ext uri="{9D8B030D-6E8A-4147-A177-3AD203B41FA5}">
                      <a16:colId xmlns:a16="http://schemas.microsoft.com/office/drawing/2014/main" val="2089817832"/>
                    </a:ext>
                  </a:extLst>
                </a:gridCol>
              </a:tblGrid>
              <a:tr h="473080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611096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094515"/>
                  </a:ext>
                </a:extLst>
              </a:tr>
              <a:tr h="399868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784633"/>
                  </a:ext>
                </a:extLst>
              </a:tr>
            </a:tbl>
          </a:graphicData>
        </a:graphic>
      </p:graphicFrame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F6398204-F614-02AA-5533-FEBF836DC1D6}"/>
              </a:ext>
            </a:extLst>
          </p:cNvPr>
          <p:cNvCxnSpPr>
            <a:cxnSpLocks/>
          </p:cNvCxnSpPr>
          <p:nvPr/>
        </p:nvCxnSpPr>
        <p:spPr>
          <a:xfrm>
            <a:off x="5539683" y="4296258"/>
            <a:ext cx="111263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98139060-F38F-B708-7E26-16179AEF0075}"/>
              </a:ext>
            </a:extLst>
          </p:cNvPr>
          <p:cNvSpPr txBox="1">
            <a:spLocks/>
          </p:cNvSpPr>
          <p:nvPr/>
        </p:nvSpPr>
        <p:spPr>
          <a:xfrm>
            <a:off x="1376362" y="5593166"/>
            <a:ext cx="9134476" cy="126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Na prática, diversas implementações utilizam o procedimento de </a:t>
            </a:r>
            <a:r>
              <a:rPr lang="pt-BR" sz="2200" b="1" dirty="0"/>
              <a:t>correlação</a:t>
            </a:r>
            <a:r>
              <a:rPr lang="pt-BR" sz="2200" dirty="0"/>
              <a:t>, sem inverter o kernel. Isso ocorre em razão da simetria do kernel.</a:t>
            </a:r>
          </a:p>
        </p:txBody>
      </p:sp>
    </p:spTree>
    <p:extLst>
      <p:ext uri="{BB962C8B-B14F-4D97-AF65-F5344CB8AC3E}">
        <p14:creationId xmlns:p14="http://schemas.microsoft.com/office/powerpoint/2010/main" val="111888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B069E-A8AF-2340-0832-DFACE287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5C4D541-D715-7276-6634-3A7F907A5DF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5AE3CB-2BCB-EE0F-2084-D4BB0C7F0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Problema das bordas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7259DE8-14F0-DE3F-044C-D00DC328E0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9073609-E3FE-F739-551E-4C3CE526A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158" y="2055894"/>
            <a:ext cx="6987092" cy="4024866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É necessário um ajuste quando a convolução é aplicada em pixels localizadas nas bordas da imagem.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Esses pixels não contém uma vizinhança completa. Portanto comumente são aplicadas:</a:t>
            </a:r>
          </a:p>
          <a:p>
            <a:pPr lvl="1" algn="just"/>
            <a:endParaRPr lang="pt-BR" sz="2000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000" dirty="0"/>
              <a:t>Zero </a:t>
            </a:r>
            <a:r>
              <a:rPr lang="pt-BR" sz="2000" dirty="0" err="1"/>
              <a:t>Padding</a:t>
            </a:r>
            <a:r>
              <a:rPr lang="pt-BR" sz="2000" dirty="0"/>
              <a:t> 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pt-BR" sz="2000" dirty="0"/>
              <a:t>Replicação dos pixels</a:t>
            </a:r>
          </a:p>
        </p:txBody>
      </p:sp>
      <p:pic>
        <p:nvPicPr>
          <p:cNvPr id="1026" name="Picture 2" descr="Padding in Convolutional Neural Networks - Deep Learning">
            <a:extLst>
              <a:ext uri="{FF2B5EF4-FFF2-40B4-BE49-F238E27FC236}">
                <a16:creationId xmlns:a16="http://schemas.microsoft.com/office/drawing/2014/main" id="{12E16C13-51A1-730D-4377-A6E992496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497" y="2879639"/>
            <a:ext cx="3141345" cy="2899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15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D4CB2-8C53-2F2D-796E-A380134A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4D2D4C6-A1F5-3077-A52A-A5E4C03C3EA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634EE8-C3F1-B62E-A653-1DF6F96C9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Problema das bordas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37DA572-CAEA-4D7E-9971-35222150E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4C592EC-BC64-0B39-CD72-8A7BAF514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837" y="1865190"/>
            <a:ext cx="8126325" cy="446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22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7C687-5887-EB70-E94F-32C249EFE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67892BC-9F19-887E-AAC4-C8893921867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D66059-A074-CCCB-707E-C13DD9DE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Filtros de suavização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22E2B30-520F-B5D1-8BFA-0679BBF6BD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FD4E364-1591-57A2-8F62-86EAD6C88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58" y="2494254"/>
            <a:ext cx="7196642" cy="3351376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Filtros de suavização, ou passa-baixa (</a:t>
            </a:r>
            <a:r>
              <a:rPr lang="pt-BR" sz="2200" dirty="0" err="1"/>
              <a:t>low-pass</a:t>
            </a:r>
            <a:r>
              <a:rPr lang="pt-BR" sz="2200" dirty="0"/>
              <a:t>) tendem a suavizar detalhes e atenuar pequenas variações.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O filtro passa-baixa atenua componentes de alta frequência (áreas com </a:t>
            </a:r>
            <a:r>
              <a:rPr lang="pt-BR" sz="2400" dirty="0"/>
              <a:t>mudanças bruscas de intensidade</a:t>
            </a:r>
            <a:r>
              <a:rPr lang="pt-BR" sz="2200" dirty="0"/>
              <a:t>)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As baixas frequências representam áreas uniformes ou com transições suaves. Não sendo afetadas pelo filtro.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D19D069-C2AA-0C89-7632-00247CC85D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87" t="17033" r="57251" b="22345"/>
          <a:stretch>
            <a:fillRect/>
          </a:stretch>
        </p:blipFill>
        <p:spPr>
          <a:xfrm>
            <a:off x="8588189" y="1521276"/>
            <a:ext cx="2507725" cy="253092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45E477D-DDB3-779D-0E83-382B6532CC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001" t="17033" r="14037" b="22345"/>
          <a:stretch>
            <a:fillRect/>
          </a:stretch>
        </p:blipFill>
        <p:spPr>
          <a:xfrm>
            <a:off x="8588188" y="4169230"/>
            <a:ext cx="2507726" cy="253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713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CCB0-B48A-FB7D-702C-81A18D8F0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5E9DFB2-33E0-D754-8F7A-925B48D5FA7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224E76-5298-3F8D-EEE6-2A8EFE3E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 de média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E898622-CD65-B1A7-CD44-544047C270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0701FA-ABB4-29F8-F997-7300BEF01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129" y="2165429"/>
            <a:ext cx="6080442" cy="4061199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Define o valor de pixel central de acordo com a média aritmética dos seus vizinhos.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Atenua ruídos leves e suaviza contrastes, porém gera um efeito mais forte de borramento.</a:t>
            </a:r>
          </a:p>
          <a:p>
            <a:pPr marL="0" indent="0" algn="just">
              <a:buNone/>
            </a:pPr>
            <a:endParaRPr lang="pt-BR" sz="2200" dirty="0"/>
          </a:p>
          <a:p>
            <a:pPr algn="just"/>
            <a:r>
              <a:rPr lang="pt-BR" sz="2200" dirty="0"/>
              <a:t>A principal desvantagem esta relacionada  ao fato de que todos os pixels possuem o mesmo peso.</a:t>
            </a:r>
          </a:p>
          <a:p>
            <a:pPr marL="0" indent="0" algn="just">
              <a:buNone/>
            </a:pPr>
            <a:endParaRPr lang="pt-BR" sz="22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34C386C-6EB1-1F4B-5F51-77DA74F7A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722" y="3766457"/>
            <a:ext cx="4993149" cy="284435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24E4956-587D-D803-44F1-6C29A93364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66" r="51867"/>
          <a:stretch>
            <a:fillRect/>
          </a:stretch>
        </p:blipFill>
        <p:spPr>
          <a:xfrm>
            <a:off x="8444339" y="1952399"/>
            <a:ext cx="1817914" cy="162900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466D0D03-57CD-C8B4-2022-0C92DE03EB7C}"/>
              </a:ext>
            </a:extLst>
          </p:cNvPr>
          <p:cNvSpPr txBox="1"/>
          <p:nvPr/>
        </p:nvSpPr>
        <p:spPr>
          <a:xfrm>
            <a:off x="8871856" y="1679061"/>
            <a:ext cx="1172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Kernel 3x3</a:t>
            </a:r>
          </a:p>
        </p:txBody>
      </p:sp>
    </p:spTree>
    <p:extLst>
      <p:ext uri="{BB962C8B-B14F-4D97-AF65-F5344CB8AC3E}">
        <p14:creationId xmlns:p14="http://schemas.microsoft.com/office/powerpoint/2010/main" val="1607442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B251-70B5-0B34-FE04-862ADCEE1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F3D68E6-2A5F-EBC2-77A9-75306AA9DE1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393900-152D-6838-BF67-B94655119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Filtros de média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BA914C1-B688-BE9E-00F0-52D1217A26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6A12AE6-3E05-02C4-8602-5D138C385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6139" y="1839685"/>
            <a:ext cx="6939722" cy="1089705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Exemplo de aplicação do filtro de média.</a:t>
            </a:r>
          </a:p>
          <a:p>
            <a:pPr algn="just"/>
            <a:r>
              <a:rPr lang="pt-BR" sz="2200" dirty="0"/>
              <a:t>Kernel 5x5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43CA4A30-6696-66FB-FDB9-FA85CF71E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099" y="2929390"/>
            <a:ext cx="3171825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>
            <a:extLst>
              <a:ext uri="{FF2B5EF4-FFF2-40B4-BE49-F238E27FC236}">
                <a16:creationId xmlns:a16="http://schemas.microsoft.com/office/drawing/2014/main" id="{CCB1D7E1-6CAB-4F7B-4619-ECF946817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724" y="2929390"/>
            <a:ext cx="3132137" cy="314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1745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8E59E-4AB8-A27E-525F-24977116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D28307E-D57C-A5D2-2AA5-71D56D73BD9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FB7573-FF34-FF9C-54B8-7A0783112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Filtros de média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B75BE3B-A909-F7C6-99E5-7D288417FD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B536B7-D5C6-94CB-18B4-211CB1ACE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264" y="1641817"/>
            <a:ext cx="6641472" cy="2113754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Os valores do filtro podem assumir valores distintos para o caso de uma média ponderada.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Deste modo, é possível definir o grau de contribuição dos pixels vizinhos.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D0E5F83-0549-6ED0-E26D-EE1C153F8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77" y="4071826"/>
            <a:ext cx="10157045" cy="202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06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B9D5F-9CF3-41C2-0A75-D829817A0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6C920C2-5B3C-4E87-7414-DF371BABC15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7E2395-7AB0-1876-2081-27435DCA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 de mediana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165CB2C-240E-74A5-A531-05192C3AFA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D13F31-7E3A-B9AA-A771-3EBC8BB6F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759" y="1762656"/>
            <a:ext cx="8254479" cy="4061199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Define o valor de pixel central de acordo com a mediana dos seus vizinhos.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Diferente do filtro de média, o filtro da mediana consegue eliminar o ruído enquanto mantém as bordas e contornos relativamente nítidos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EE41594-0DA2-E582-DEC5-A81A5670A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939" y="4170895"/>
            <a:ext cx="6868117" cy="219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84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FEC45-2A50-CF83-5010-15C21F865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A5011A5-9856-9803-76CA-EF92D9D3E9F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3AB404-02D7-213D-0911-94EFC6FA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Filtros de mediana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28F4059-4B8B-E8BE-9D1C-DA258CE42A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88B7BCF-4396-B7CC-5E71-820EA2B55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6139" y="1839685"/>
            <a:ext cx="6939722" cy="1089705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Exemplo de aplicação do filtro de mediana.</a:t>
            </a:r>
          </a:p>
          <a:p>
            <a:pPr algn="just"/>
            <a:r>
              <a:rPr lang="pt-BR" sz="2200" dirty="0"/>
              <a:t>Comumente usado para eliminar ruído “Sal e Pimenta”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433D8B0-CFB6-BEB2-5950-6A639C03A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0" y="3173186"/>
            <a:ext cx="74295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85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49A93-959F-44A4-FDB5-DBA13327D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19915EC-B8F1-6AF5-1622-FCD5DD6C74C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1BC5B7-C893-6F3C-EDAD-6C5644BC0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 Gaussiano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E4A2817-895C-DC5D-B5A1-47E43B0F6B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7BDD44-FF48-F62D-BFBF-7746A5DFF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759" y="1762656"/>
            <a:ext cx="8829870" cy="4061199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O filtro utiliza uma matriz de pesos baseada em uma função matemática gaussiana bidimensional.</a:t>
            </a:r>
          </a:p>
          <a:p>
            <a:pPr algn="just"/>
            <a:endParaRPr lang="pt-BR" sz="2400" dirty="0"/>
          </a:p>
          <a:p>
            <a:pPr algn="just"/>
            <a:r>
              <a:rPr lang="pt-BR" sz="2200" dirty="0"/>
              <a:t>O pixel do centro recebe o maior peso, enquanto os pixels vizinhos recebem pesos menores de acordo com a distância em relação ao centro.</a:t>
            </a:r>
          </a:p>
          <a:p>
            <a:pPr algn="just"/>
            <a:endParaRPr lang="pt-BR" sz="2200" dirty="0"/>
          </a:p>
          <a:p>
            <a:pPr marL="0" indent="0" algn="just">
              <a:buNone/>
            </a:pPr>
            <a:endParaRPr lang="pt-BR" sz="22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1E07CFF-24CA-EFF9-1A46-6F596ECA7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274" y="3969092"/>
            <a:ext cx="809625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374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774F6-2FE2-C557-2302-5B07E9657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BEE8742-19E6-450D-17A7-68BC885EA19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6540AA-4350-DC44-DBAB-61DF5D12A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 Gaussiano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B926DED-0437-5798-25CF-78BA314839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09C0C7C-465A-8105-A5EA-F11560664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759" y="1762656"/>
            <a:ext cx="8318241" cy="4061199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O filtro Gaussiano pode ser entendido como uma média ponderada, na qual os pesos são definidos de acordo com uma função Gaussiana.</a:t>
            </a:r>
          </a:p>
          <a:p>
            <a:pPr algn="just"/>
            <a:endParaRPr lang="pt-BR" sz="2400" dirty="0"/>
          </a:p>
          <a:p>
            <a:pPr algn="just"/>
            <a:r>
              <a:rPr lang="pt-BR" sz="2200" dirty="0"/>
              <a:t>Uma média ponderada pode usar quaisquer pesos, já o filtro Gaussiano utiliza pesos determinados pela </a:t>
            </a:r>
            <a:r>
              <a:rPr lang="pt-BR" sz="2200" b="1" dirty="0"/>
              <a:t>distribuição Gaussiana</a:t>
            </a:r>
            <a:r>
              <a:rPr lang="pt-BR" sz="2200" dirty="0"/>
              <a:t>.</a:t>
            </a:r>
          </a:p>
          <a:p>
            <a:pPr algn="just"/>
            <a:endParaRPr lang="pt-BR" sz="2200" dirty="0"/>
          </a:p>
          <a:p>
            <a:pPr marL="0" indent="0" algn="just">
              <a:buNone/>
            </a:pPr>
            <a:endParaRPr lang="pt-BR" sz="2200" dirty="0"/>
          </a:p>
        </p:txBody>
      </p:sp>
      <p:pic>
        <p:nvPicPr>
          <p:cNvPr id="8196" name="Picture 4" descr="Gaussian Blurring — A Gentle Introduction | Towards AI">
            <a:extLst>
              <a:ext uri="{FF2B5EF4-FFF2-40B4-BE49-F238E27FC236}">
                <a16:creationId xmlns:a16="http://schemas.microsoft.com/office/drawing/2014/main" id="{E908E848-23C4-4827-7C08-B5AD50F03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136" y="4018494"/>
            <a:ext cx="5112928" cy="272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133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DDD6A-F527-BCA9-4537-0866E741A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D1F797D-91A4-D47F-E8B1-8DD7078ECE7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C25E9-9CCD-DB0C-027A-33B540593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 Gaussiano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327A825-733C-61A6-3960-FF116761FA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C17CBF4-38E0-A11D-3D21-0DB7698D4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586" y="1550801"/>
            <a:ext cx="9364827" cy="2030599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O filtro gaussiano apresenta um parâmetro extra que controla o desvio padrão da curva (sigma), ou seja, o quanto o filtro "espalha" a influência dos pixels.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Um σ menor mantém o filtro concentrado (desfoque leve), enquanto um σ maior espalha os pesos, gerando um desfoque mais forte.</a:t>
            </a:r>
          </a:p>
          <a:p>
            <a:pPr algn="just"/>
            <a:endParaRPr lang="pt-BR" sz="22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0389407-CF5E-CBE9-7940-11BE4DA72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307" y="3641342"/>
            <a:ext cx="6742585" cy="316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61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6D976-2380-3C02-FE12-5BA1D7A96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E375733-A8AF-8853-07DC-6575D922168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0424B0-0F53-1203-B4C1-F6A967D6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Filtros Gaussiano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1108A94-BA09-3BFA-6914-B5E3052CF6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2DF126-1E04-4BBE-4142-5F8F21E94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8569" y="1692726"/>
            <a:ext cx="5070062" cy="576944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Exemplo de aplicação do filtro gaussiano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0DC7989-8D1D-1336-CD30-F79C5D1DFD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37"/>
          <a:stretch>
            <a:fillRect/>
          </a:stretch>
        </p:blipFill>
        <p:spPr>
          <a:xfrm>
            <a:off x="2008897" y="2269671"/>
            <a:ext cx="8174206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43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D763-5C16-ED3F-77AE-36B7AAE0E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A3373E5-FFCE-D421-2EC8-6902993B158E}"/>
              </a:ext>
            </a:extLst>
          </p:cNvPr>
          <p:cNvSpPr/>
          <p:nvPr/>
        </p:nvSpPr>
        <p:spPr>
          <a:xfrm>
            <a:off x="0" y="2283069"/>
            <a:ext cx="12192000" cy="2596661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6BDEA7-DF8D-7D1F-D1E2-3E7DD6F8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8618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Prático – Filtragem Espacial</a:t>
            </a:r>
            <a:endParaRPr lang="pt-BR" u="sng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DA869EE-165A-2210-2517-6E010F2DF1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70167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2732</TotalTime>
  <Words>989</Words>
  <Application>Microsoft Office PowerPoint</Application>
  <PresentationFormat>Widescreen</PresentationFormat>
  <Paragraphs>160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Courier New</vt:lpstr>
      <vt:lpstr>Gill Sans MT</vt:lpstr>
      <vt:lpstr>Wingdings</vt:lpstr>
      <vt:lpstr>Tema do Office</vt:lpstr>
      <vt:lpstr>Pacote</vt:lpstr>
      <vt:lpstr>módulo 5 – CONVOLUÇÃO</vt:lpstr>
      <vt:lpstr>Convolução</vt:lpstr>
      <vt:lpstr>Vizinhança de Pixels</vt:lpstr>
      <vt:lpstr>Kernel (Filtros)</vt:lpstr>
      <vt:lpstr>Kernel (Filtros)</vt:lpstr>
      <vt:lpstr>Matemática da Convolução</vt:lpstr>
      <vt:lpstr>Matemática da Convolução</vt:lpstr>
      <vt:lpstr>Convolução x Correlação</vt:lpstr>
      <vt:lpstr>Problema das bordas</vt:lpstr>
      <vt:lpstr>Problema das bordas</vt:lpstr>
      <vt:lpstr>Filtros de suavização</vt:lpstr>
      <vt:lpstr>Filtro de média</vt:lpstr>
      <vt:lpstr>Filtros de média</vt:lpstr>
      <vt:lpstr>Filtros de média</vt:lpstr>
      <vt:lpstr>Filtro de mediana</vt:lpstr>
      <vt:lpstr>Filtros de mediana</vt:lpstr>
      <vt:lpstr>Filtro Gaussiano</vt:lpstr>
      <vt:lpstr>Filtro Gaussiano</vt:lpstr>
      <vt:lpstr>Filtro Gaussiano</vt:lpstr>
      <vt:lpstr>Filtros Gaussiano</vt:lpstr>
      <vt:lpstr>Exemplo Prático – Filtragem Espacial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168</cp:revision>
  <dcterms:created xsi:type="dcterms:W3CDTF">2026-07-26T12:48:37Z</dcterms:created>
  <dcterms:modified xsi:type="dcterms:W3CDTF">2026-09-15T17:16:50Z</dcterms:modified>
</cp:coreProperties>
</file>