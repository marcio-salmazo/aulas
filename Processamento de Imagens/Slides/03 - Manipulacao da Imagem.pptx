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6"/>
  </p:notesMasterIdLst>
  <p:sldIdLst>
    <p:sldId id="320" r:id="rId3"/>
    <p:sldId id="321" r:id="rId4"/>
    <p:sldId id="323" r:id="rId5"/>
    <p:sldId id="334" r:id="rId6"/>
    <p:sldId id="322" r:id="rId7"/>
    <p:sldId id="332" r:id="rId8"/>
    <p:sldId id="333" r:id="rId9"/>
    <p:sldId id="325" r:id="rId10"/>
    <p:sldId id="324" r:id="rId11"/>
    <p:sldId id="326" r:id="rId12"/>
    <p:sldId id="327" r:id="rId13"/>
    <p:sldId id="335" r:id="rId14"/>
    <p:sldId id="336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io Salmazo Ramos" initials="MS" lastIdx="2" clrIdx="0">
    <p:extLst>
      <p:ext uri="{19B8F6BF-5375-455C-9EA6-DF929625EA0E}">
        <p15:presenceInfo xmlns:p15="http://schemas.microsoft.com/office/powerpoint/2012/main" userId="S::marciosr@ufu.br::41390c5d-c465-4ad4-9c2e-eaf7a78388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234"/>
    <a:srgbClr val="6595DE"/>
    <a:srgbClr val="9AB88B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68" autoAdjust="0"/>
  </p:normalViewPr>
  <p:slideViewPr>
    <p:cSldViewPr snapToGrid="0">
      <p:cViewPr varScale="1">
        <p:scale>
          <a:sx n="88" d="100"/>
          <a:sy n="88" d="100"/>
        </p:scale>
        <p:origin x="14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2729-4DC1-AA01-E9F4-BDAE82BBD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B8F4D8-1206-546E-9D0B-6AAE3CA11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D53F69-D1D4-D964-BFA4-4FD8989E1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B47195-8B22-DE2B-8C7F-03C4C59DA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500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B640E-3743-0D36-E7C5-55CB713E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7E636F-ECBC-960C-3397-188CBBD6D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AB7515-6E29-64E0-07FF-21F48359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DA691D-B3A9-EFEC-6364-2BEDDC2A5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684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758F-0731-1AE0-CC7D-1E6336B97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9E6CBB7-5096-5210-D7D8-B7E055638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38B746A-D664-561F-B1B9-9B8DA6447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Observação: Cisalhamento </a:t>
            </a:r>
            <a:r>
              <a:rPr lang="pt-BR" dirty="0"/>
              <a:t>desloca os pontos de uma figura geométrica ou material em uma direção fixa</a:t>
            </a: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CFBD4E-CDA2-059F-9DA3-1D8861900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69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9208-5AA2-8D64-87A1-5A91A407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8E0E98-0C83-4638-97E0-E663A9CE9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D28D5A9-5CDF-3777-857B-AAFB6FCBD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EB55E0-ADEE-6627-223F-C5CF811F6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0942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F01B0-7780-ACBF-3776-45A9033B6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7770D4-4483-95A4-1598-61C8734EE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4111DDD-4408-DFCF-07E8-93CC74FFD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Resize = mudança no tamanho da imagem + </a:t>
            </a:r>
            <a:r>
              <a:rPr lang="pt-BR" dirty="0" err="1"/>
              <a:t>reamostragem</a:t>
            </a:r>
            <a:r>
              <a:rPr lang="pt-BR" dirty="0"/>
              <a:t> para preencher a nova grade de pixels.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 detalhe importante: </a:t>
            </a:r>
            <a:r>
              <a:rPr lang="pt-BR" b="1" dirty="0" err="1"/>
              <a:t>reamostragem</a:t>
            </a:r>
            <a:r>
              <a:rPr lang="pt-BR" b="1" dirty="0"/>
              <a:t> não implica necessariamente </a:t>
            </a:r>
            <a:r>
              <a:rPr lang="pt-BR" b="1" dirty="0" err="1"/>
              <a:t>resize</a:t>
            </a:r>
            <a:r>
              <a:rPr lang="pt-BR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Podemos </a:t>
            </a:r>
            <a:r>
              <a:rPr lang="pt-BR" dirty="0" err="1"/>
              <a:t>reamostrar</a:t>
            </a:r>
            <a:r>
              <a:rPr lang="pt-BR" dirty="0"/>
              <a:t> uma imagem para outra grade com o </a:t>
            </a:r>
            <a:r>
              <a:rPr lang="pt-BR" b="1" dirty="0"/>
              <a:t>mesmo número de pixels</a:t>
            </a:r>
            <a:r>
              <a:rPr lang="pt-BR" dirty="0"/>
              <a:t>, mas com outra geometria, orientação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Reduzir uma imagem sem interpolação gera o efeito de </a:t>
            </a:r>
            <a:r>
              <a:rPr lang="pt-BR" b="0" dirty="0" err="1"/>
              <a:t>serrilhamento</a:t>
            </a:r>
            <a:r>
              <a:rPr lang="pt-BR" b="0" dirty="0"/>
              <a:t> visto na amostragem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F7FD00-2A0A-19A5-26AB-788DBE96D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720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E3AC-D711-1513-A9AB-68AED8BC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FC76EC-BA5A-A714-D64A-AF0863CDF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D01CB8-740D-B59F-8789-3DBCB974E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B40B74-90C3-5AC1-045C-1558A8F0A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038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949A-53EF-BCE2-F801-48F73D07C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750CD39-ECF1-F847-79D9-C7CB5081F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193FE8B-2AFF-4E86-A145-1BB6FC5CE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83E458-4D21-E98D-B5A9-DCC26BE31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042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CC550-BAD1-218D-FAC5-6CC6A4F1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CB5FDC3-73F4-7794-A44E-486F8FBA7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9FD5EA2-8C34-9BBA-07F7-AB4573EE4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BB20D7-EB78-A4F2-43A2-87802C8A0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58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C94A-2574-4D0F-68AF-ACED5EA3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8A48DD-76F8-1943-799F-3585C9F22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92CBFC2-7DF1-05EE-82BC-25DF90775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Os valores são definidos de acordo com as adjacências  dos pixels originais.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b="0" dirty="0"/>
              <a:t>Vantagens: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É muito rápido de calcular.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Evita o borramento da imagem (comum em jogos)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b="0" dirty="0"/>
              <a:t>Desvantagens: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Gera imagens serrilhadas ou com blocos visíveis.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Perde detalhes finos de transição.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3DBD35-D501-E7E1-5949-C72A7D7C2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433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7B722-B1BF-DE3F-1C9A-66F3511D6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DD416E-80BC-E05F-0559-2D169A00E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4A765A-7F57-7D52-A85C-99646E866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 interpolação linear </a:t>
            </a:r>
            <a:r>
              <a:rPr lang="pt-BR" dirty="0"/>
              <a:t>assume que a variação entre os pontos é constante. Para calcular, usa-se a proporção ou a fórmula de semelhança de triângulos.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ideia é 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Conhecemos dois pontos: (x₀, y₀) e (x₁, y₁).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dirty="0"/>
              <a:t>Queremos achar o valor de y para um determinado x (onde x₀ &lt; x &lt; x₁).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EB7E41-CB91-A1FC-FF29-A607C597EC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3363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3819A-3EF4-BE2F-27DE-C998F63B9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2538998-B07B-7A33-7CD0-CAF9C3D9C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7A09812-348E-8C80-0EB9-A98FB59B7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FF022A-60C9-CA6F-9612-F327F1A90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251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2733-9C9E-6F64-CF3D-6021498A1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75CB72-07D6-C4C6-7CD7-07226AFC6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2A84614-2C13-1285-E860-1188B71CA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imagem, o alfa representa um fator de multiplicação  que opera no contraste (até o limite de 255)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 imagem, o beta representa um fator de soma  que opera no brilho (até o limite de 255)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Beta desloca o valor de todos os pixels igualmente, por isso ele não altera o contraste.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O fator alfa </a:t>
            </a:r>
            <a:r>
              <a:rPr lang="pt-BR" b="0" dirty="0"/>
              <a:t>escala as diferenças entre as intensidades</a:t>
            </a:r>
            <a:r>
              <a:rPr lang="pt-BR" dirty="0"/>
              <a:t>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E88FB2-76A0-6759-B81A-C286C9BEE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711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5DBF-F087-D425-FE1F-C594C66B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3E1EC70-E1DD-80B5-AE67-F989BC04F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ECADB7-139D-33D9-1BFF-A3158C9AC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Etapas básicas para transformar um sinal contínuo (analógico) em um sinal digital</a:t>
            </a:r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5A10F7-6A75-1784-5EB0-733CDBEAF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09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3998-2FA4-E492-3E8A-AE7FF34C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CE2FD-61BC-5114-CCE2-1401A7E83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3 – manipulação da imagem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D69721-C83E-C63B-9409-7E910F0E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13E97F6-65FE-8D93-E374-6AFA6BB96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7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33180-53BA-21BF-A84E-968241FB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CB63AC-F956-699C-AFCE-3540DB29644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8A14FC-38B0-0F3B-A145-7298E588F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Manipulação de imagens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0650552-5CD6-0B48-6261-174CD00E30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5AC19E-EA79-E17E-B527-D6B35B7B2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865" y="2374030"/>
            <a:ext cx="6999173" cy="3121180"/>
          </a:xfrm>
        </p:spPr>
        <p:txBody>
          <a:bodyPr>
            <a:normAutofit/>
          </a:bodyPr>
          <a:lstStyle/>
          <a:p>
            <a:r>
              <a:rPr lang="pt-BR" sz="2400" dirty="0"/>
              <a:t>Manipular uma imagem significa aplicar uma </a:t>
            </a:r>
            <a:r>
              <a:rPr lang="pt-BR" sz="2400" b="1" dirty="0"/>
              <a:t>transformação </a:t>
            </a:r>
            <a:r>
              <a:rPr lang="pt-BR" sz="2400" dirty="0"/>
              <a:t>aos pixels. </a:t>
            </a:r>
          </a:p>
          <a:p>
            <a:pPr lvl="1"/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Alterações posicionais manipulam diretamente as </a:t>
            </a:r>
            <a:r>
              <a:rPr lang="pt-BR" sz="2200" u="sng" dirty="0"/>
              <a:t>coordenadas </a:t>
            </a:r>
            <a:r>
              <a:rPr lang="pt-BR" sz="2200" dirty="0"/>
              <a:t>(Transformações Geométricas)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u="sng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Alterações de intensidade manipulam diretamente os </a:t>
            </a:r>
            <a:r>
              <a:rPr lang="pt-BR" sz="2200" u="sng" dirty="0"/>
              <a:t>valores dos pixels</a:t>
            </a:r>
            <a:r>
              <a:rPr lang="pt-BR" sz="2200" dirty="0"/>
              <a:t> (Operações ponto-a-ponto)</a:t>
            </a:r>
          </a:p>
          <a:p>
            <a:pPr marL="457200" lvl="1" indent="0">
              <a:buNone/>
            </a:pPr>
            <a:endParaRPr lang="pt-BR" sz="2200" dirty="0"/>
          </a:p>
          <a:p>
            <a:pPr marL="457200" lvl="1" indent="0">
              <a:buNone/>
            </a:pPr>
            <a:endParaRPr lang="pt-BR" sz="2000" dirty="0"/>
          </a:p>
          <a:p>
            <a:endParaRPr lang="pt-BR" sz="2400" dirty="0"/>
          </a:p>
          <a:p>
            <a:endParaRPr lang="pt-BR" sz="2400" i="1" dirty="0"/>
          </a:p>
          <a:p>
            <a:endParaRPr lang="pt-BR" sz="2000" i="1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F5DD7C4E-7A77-49A1-C3D1-D727B3BE7848}"/>
              </a:ext>
            </a:extLst>
          </p:cNvPr>
          <p:cNvGrpSpPr/>
          <p:nvPr/>
        </p:nvGrpSpPr>
        <p:grpSpPr>
          <a:xfrm>
            <a:off x="7934005" y="1923259"/>
            <a:ext cx="3718795" cy="2011361"/>
            <a:chOff x="7956000" y="2032001"/>
            <a:chExt cx="3718795" cy="2011361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94A58745-41D1-1B02-002B-E27F27BFB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0" t="35321" r="69296" b="42211"/>
            <a:stretch>
              <a:fillRect/>
            </a:stretch>
          </p:blipFill>
          <p:spPr>
            <a:xfrm>
              <a:off x="7956000" y="2032002"/>
              <a:ext cx="3718795" cy="2011360"/>
            </a:xfrm>
            <a:prstGeom prst="rect">
              <a:avLst/>
            </a:prstGeom>
          </p:spPr>
        </p:pic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857032F6-B1C2-0A14-F35E-2B1ADABD62F1}"/>
                </a:ext>
              </a:extLst>
            </p:cNvPr>
            <p:cNvSpPr/>
            <p:nvPr/>
          </p:nvSpPr>
          <p:spPr>
            <a:xfrm>
              <a:off x="7956000" y="2032001"/>
              <a:ext cx="3664500" cy="2011360"/>
            </a:xfrm>
            <a:prstGeom prst="rect">
              <a:avLst/>
            </a:prstGeom>
            <a:noFill/>
            <a:ln w="28575">
              <a:solidFill>
                <a:srgbClr val="6595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B7F907D-0703-61E6-077D-F82180CEFF3A}"/>
              </a:ext>
            </a:extLst>
          </p:cNvPr>
          <p:cNvGrpSpPr/>
          <p:nvPr/>
        </p:nvGrpSpPr>
        <p:grpSpPr>
          <a:xfrm>
            <a:off x="7510348" y="4287840"/>
            <a:ext cx="4508209" cy="2071688"/>
            <a:chOff x="7438795" y="4565650"/>
            <a:chExt cx="4508209" cy="2071688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1A3932AC-EABF-8555-A1E9-098387EC3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03" t="38852" r="1824" b="38007"/>
            <a:stretch>
              <a:fillRect/>
            </a:stretch>
          </p:blipFill>
          <p:spPr>
            <a:xfrm>
              <a:off x="7438795" y="4565650"/>
              <a:ext cx="4508209" cy="2071688"/>
            </a:xfrm>
            <a:prstGeom prst="rect">
              <a:avLst/>
            </a:prstGeom>
          </p:spPr>
        </p:pic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98A844A0-A1B9-2C59-93BF-14A2EEE3E705}"/>
                </a:ext>
              </a:extLst>
            </p:cNvPr>
            <p:cNvSpPr/>
            <p:nvPr/>
          </p:nvSpPr>
          <p:spPr>
            <a:xfrm>
              <a:off x="7581900" y="4565650"/>
              <a:ext cx="4279900" cy="2071688"/>
            </a:xfrm>
            <a:prstGeom prst="rect">
              <a:avLst/>
            </a:prstGeom>
            <a:noFill/>
            <a:ln w="28575">
              <a:solidFill>
                <a:srgbClr val="4F82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5473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B4953-908E-BC1A-D24F-070A5DABD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495012E-2D0A-557D-9831-509E7B7EECA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071ABD-4088-F5FA-EE59-AAF911461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Transformações Geométricas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E604EA5-E5D3-2677-ED8B-71767AAA99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CEC0E8A-B07C-218C-1E5B-1190EAF151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9615" y="1651593"/>
                <a:ext cx="5596386" cy="5032758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Uma transformação geométrica altera a posição dos pixels.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Um pixel localizado 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passa a ser associado a uma nova posição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′,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As principais operações associadas às transformações geométricas são:</a:t>
                </a:r>
              </a:p>
              <a:p>
                <a:endParaRPr lang="pt-BR" sz="24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pt-BR" sz="2200" b="1" i="1" dirty="0"/>
                  <a:t>Translação.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pt-BR" sz="2200" b="1" i="1" dirty="0"/>
                  <a:t>Rotação.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pt-BR" sz="2200" b="1" i="1" dirty="0"/>
                  <a:t>Escala.</a:t>
                </a:r>
              </a:p>
              <a:p>
                <a:endParaRPr lang="pt-BR" sz="2400" dirty="0"/>
              </a:p>
              <a:p>
                <a:pPr marL="0" indent="0">
                  <a:buNone/>
                </a:pPr>
                <a:endParaRPr lang="pt-BR" sz="2000" i="1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CEC0E8A-B07C-218C-1E5B-1190EAF151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9615" y="1651593"/>
                <a:ext cx="5596386" cy="5032758"/>
              </a:xfrm>
              <a:blipFill>
                <a:blip r:embed="rId3"/>
                <a:stretch>
                  <a:fillRect l="-1525" t="-1695" r="-3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D6E3E8C1-FA66-37F0-AD99-07CCD70B8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94229"/>
            <a:ext cx="6046537" cy="50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9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2B591-1430-F554-62F8-4635A4683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8B48E9F-8F18-B3A5-26DE-C1A0F2D415B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3E429E-F0C2-1198-8971-1BE34AC8A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Translação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C4B253D-55FA-4E3F-31DD-0AFAA1DAA5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66489455-7D8D-CC2E-0AD7-2CD4DAF49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0453" y="2128836"/>
                <a:ext cx="5635548" cy="3971925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Consiste no deslocamento dos pixels (</a:t>
                </a:r>
                <a:r>
                  <a:rPr lang="pt-BR" sz="2400" i="1" dirty="0" err="1"/>
                  <a:t>padding</a:t>
                </a:r>
                <a:r>
                  <a:rPr lang="pt-BR" sz="2400" dirty="0"/>
                  <a:t>)</a:t>
                </a:r>
              </a:p>
              <a:p>
                <a:endParaRPr lang="pt-BR" sz="2400" dirty="0">
                  <a:ea typeface="Cambria Math" panose="02040503050406030204" pitchFamily="18" charset="0"/>
                </a:endParaRPr>
              </a:p>
              <a:p>
                <a:r>
                  <a:rPr lang="pt-BR" sz="2400" dirty="0">
                    <a:ea typeface="Cambria Math" panose="02040503050406030204" pitchFamily="18" charset="0"/>
                  </a:rPr>
                  <a:t>Considerando: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pt-BR" sz="2000" dirty="0">
                    <a:ea typeface="Cambria Math" panose="02040503050406030204" pitchFamily="18" charset="0"/>
                  </a:rPr>
                  <a:t>​ deslocamento horizontal (em pixels).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pt-BR" sz="2000" dirty="0">
                    <a:ea typeface="Cambria Math" panose="02040503050406030204" pitchFamily="18" charset="0"/>
                  </a:rPr>
                  <a:t>​ deslocamento vertical (em pixels).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 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pt-BR" sz="2000" dirty="0"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 </m:t>
                    </m:r>
                    <m:r>
                      <a:rPr lang="pt-B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pt-B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pt-BR" sz="20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sz="2000" i="1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66489455-7D8D-CC2E-0AD7-2CD4DAF49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453" y="2128836"/>
                <a:ext cx="5635548" cy="3971925"/>
              </a:xfrm>
              <a:blipFill>
                <a:blip r:embed="rId3"/>
                <a:stretch>
                  <a:fillRect l="-1515" t="-21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9" name="Picture 3" descr="Transformações geométricas: translação, rotação e reflexão - Toda Matéria">
            <a:extLst>
              <a:ext uri="{FF2B5EF4-FFF2-40B4-BE49-F238E27FC236}">
                <a16:creationId xmlns:a16="http://schemas.microsoft.com/office/drawing/2014/main" id="{C9B5AC4B-C32E-6F27-6504-927EF4045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28837"/>
            <a:ext cx="5838825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537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2B78-7437-1C1F-7406-4B379052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2AD4850-5141-E600-7187-8E2ABEC0B99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F01428-C1F5-BB16-455A-4B97FF81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Alteração da Escala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7DFFD82-BE44-4290-2AC9-78664E5F91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80AF5C-2939-CDB1-4487-0F2F304C0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532" y="1446648"/>
            <a:ext cx="9760244" cy="2753893"/>
          </a:xfrm>
        </p:spPr>
        <p:txBody>
          <a:bodyPr>
            <a:normAutofit/>
          </a:bodyPr>
          <a:lstStyle/>
          <a:p>
            <a:r>
              <a:rPr lang="pt-BR" sz="2400" dirty="0"/>
              <a:t>Consiste em alterar as dimensões espaciais da imagem.</a:t>
            </a:r>
          </a:p>
          <a:p>
            <a:r>
              <a:rPr lang="pt-BR" sz="2400" dirty="0"/>
              <a:t>A alteração das dimensões, utiliza o conceito da </a:t>
            </a:r>
            <a:r>
              <a:rPr lang="pt-BR" sz="2400" b="1" i="1" dirty="0" err="1"/>
              <a:t>reamostragem</a:t>
            </a:r>
            <a:r>
              <a:rPr lang="pt-BR" sz="2400" b="1" i="1" dirty="0"/>
              <a:t>.</a:t>
            </a:r>
            <a:endParaRPr lang="pt-BR" sz="2400" dirty="0"/>
          </a:p>
          <a:p>
            <a:pPr marL="457200" lvl="1" indent="0">
              <a:buNone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Ao reduzir uma imagem, é necessário definir como a imagem será redesenhada.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Ao ampliar uma imagem, é necessário definir como o espaço extra será preenchido (Exige interpolação).</a:t>
            </a:r>
          </a:p>
          <a:p>
            <a:pPr marL="0" indent="0">
              <a:buNone/>
            </a:pPr>
            <a:endParaRPr lang="pt-BR" sz="2000" i="1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7F351CD-25F9-8A8A-C68D-28348F33D2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64" b="10675"/>
          <a:stretch>
            <a:fillRect/>
          </a:stretch>
        </p:blipFill>
        <p:spPr>
          <a:xfrm>
            <a:off x="2621262" y="4321629"/>
            <a:ext cx="6644676" cy="229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41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79818-BDA4-6903-5416-8BD9D513E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43D64E5-A817-45C7-09E8-46E580C3574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D7CE2C-CB3E-D123-4E4A-CC01660F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Rotação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AB1C12C-8BE3-15DC-FE39-FF6DE03F40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B19E3BF0-1F1F-BDE4-91EF-DBEA6E9E3E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8121" y="1623802"/>
                <a:ext cx="7615758" cy="2122714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Consiste em alterar a angulação da imagem.</a:t>
                </a:r>
              </a:p>
              <a:p>
                <a:r>
                  <a:rPr lang="pt-BR" sz="2400" dirty="0"/>
                  <a:t>Para um determinado ponto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’=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pt-BR" sz="20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pt-B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2000" b="0" i="1" dirty="0" smtClean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func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𝑠𝑒𝑛</m:t>
                    </m:r>
                    <m:d>
                      <m:dPr>
                        <m:ctrlPr>
                          <a:rPr lang="pt-B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i="1" dirty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pt-BR" sz="2000" b="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’=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𝑠𝑒𝑛</m:t>
                    </m:r>
                    <m:d>
                      <m:dPr>
                        <m:ctrlPr>
                          <a:rPr lang="pt-B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2000" i="1" dirty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pt-BR" sz="20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pt-B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2000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func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>
                    <a:latin typeface="Cambria Math" panose="02040503050406030204" pitchFamily="18" charset="0"/>
                  </a:rPr>
                  <a:t>A rotação é aplicada em torno da origem (0,0)</a:t>
                </a:r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sz="2000" i="1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B19E3BF0-1F1F-BDE4-91EF-DBEA6E9E3E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8121" y="1623802"/>
                <a:ext cx="7615758" cy="2122714"/>
              </a:xfrm>
              <a:blipFill>
                <a:blip r:embed="rId3"/>
                <a:stretch>
                  <a:fillRect l="-1040" t="-40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A2B9FA83-5986-CDEB-D174-66545CC33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121" y="3908045"/>
            <a:ext cx="3015952" cy="288233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A4324B6-5D03-A1D2-3713-87F13C0106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138" t="11548" r="23505" b="14101"/>
          <a:stretch>
            <a:fillRect/>
          </a:stretch>
        </p:blipFill>
        <p:spPr>
          <a:xfrm>
            <a:off x="6189286" y="3975666"/>
            <a:ext cx="3546622" cy="288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59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26B3E-DB23-967A-914D-E297BD49A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677B46F-12E9-F3C0-A498-BDC9D0F5CEB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E59786-7BA8-6061-5337-C9FF95B31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Rotação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46E701D-988C-5B3C-561D-C9EBBC531A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60E34DB8-E3BD-4BBE-B63D-893B7D3E5D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00137" y="1861457"/>
                <a:ext cx="7591726" cy="4746172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Normalmente a rotação é aplicada em torno do centro da imagem, portanto:</a:t>
                </a:r>
                <a:endParaRPr lang="pt-BR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Obtém-se a coordenada de Centro</a:t>
                </a:r>
                <a:r>
                  <a:rPr lang="pt-BR" sz="2000" dirty="0"/>
                  <a:t> </a:t>
                </a:r>
                <a:r>
                  <a:rPr lang="pt-B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→</a:t>
                </a:r>
                <a:r>
                  <a:rPr lang="pt-BR" sz="2000" dirty="0"/>
                  <a:t> </a:t>
                </a:r>
                <a14:m>
                  <m:oMath xmlns:m="http://schemas.openxmlformats.org/officeDocument/2006/math"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>
                    <a:latin typeface="Cambria Math" panose="02040503050406030204" pitchFamily="18" charset="0"/>
                  </a:rPr>
                  <a:t>Move o  centro para a origem </a:t>
                </a:r>
                <a:r>
                  <a:rPr lang="pt-B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>
                    <a:latin typeface="Cambria Math" panose="02040503050406030204" pitchFamily="18" charset="0"/>
                  </a:rPr>
                  <a:t>Aplica a Rotação </a:t>
                </a:r>
                <a14:m>
                  <m:oMath xmlns:m="http://schemas.openxmlformats.org/officeDocument/2006/math"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′,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pt-BR" sz="2000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Reposiciona o centro </a:t>
                </a:r>
                <a:r>
                  <a:rPr lang="pt-B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)=(</m:t>
                    </m:r>
                    <m:sSup>
                      <m:sSupPr>
                        <m:ctrlPr>
                          <a:rPr lang="pt-B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pt-BR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pt-BR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>
                    <a:latin typeface="Cambria Math" panose="02040503050406030204" pitchFamily="18" charset="0"/>
                  </a:rPr>
                  <a:t>Logo: </a:t>
                </a:r>
                <a14:m>
                  <m:oMath xmlns:m="http://schemas.openxmlformats.org/officeDocument/2006/math"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>
                  <a:latin typeface="Cambria Math" panose="02040503050406030204" pitchFamily="18" charset="0"/>
                </a:endParaRPr>
              </a:p>
              <a:p>
                <a:r>
                  <a:rPr lang="pt-BR" sz="2400" dirty="0">
                    <a:ea typeface="Cambria Math" panose="02040503050406030204" pitchFamily="18" charset="0"/>
                  </a:rPr>
                  <a:t>Geralmente são geradas coordenadas fracionárias, que não coincidem com os pixels, isso exige interpolação.</a:t>
                </a:r>
              </a:p>
              <a:p>
                <a:pPr marL="0" indent="0">
                  <a:buNone/>
                </a:pPr>
                <a:endParaRPr lang="pt-BR" sz="2000" i="1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60E34DB8-E3BD-4BBE-B63D-893B7D3E5D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00137" y="1861457"/>
                <a:ext cx="7591726" cy="4746172"/>
              </a:xfrm>
              <a:blipFill>
                <a:blip r:embed="rId3"/>
                <a:stretch>
                  <a:fillRect l="-1043" t="-1797" r="-12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032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14922-8664-6C36-33FA-F8D14706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9A67078-920A-F297-3EB8-05EE488DCB9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A7FB69-B8E7-2D30-45E0-9D851E7D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Interpolação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4CE1CC9-D7D4-C3B3-5CE1-26837075C3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8EF5B0C-492D-BCD4-69CE-EB03E5F5F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4126" y="1486008"/>
            <a:ext cx="8963747" cy="2275957"/>
          </a:xfrm>
        </p:spPr>
        <p:txBody>
          <a:bodyPr>
            <a:normAutofit/>
          </a:bodyPr>
          <a:lstStyle/>
          <a:p>
            <a:r>
              <a:rPr lang="pt-BR" sz="2400" dirty="0"/>
              <a:t>É o processo de criar novos pixels com base nos pixels já existentes.</a:t>
            </a:r>
          </a:p>
          <a:p>
            <a:r>
              <a:rPr lang="pt-BR" sz="2400" dirty="0"/>
              <a:t>Estima valores de intensidade para </a:t>
            </a:r>
            <a:r>
              <a:rPr lang="pt-BR" sz="2400" b="1" dirty="0"/>
              <a:t>preencher espaços vazios </a:t>
            </a:r>
            <a:r>
              <a:rPr lang="pt-BR" sz="2400" dirty="0"/>
              <a:t>ou </a:t>
            </a:r>
            <a:r>
              <a:rPr lang="pt-BR" sz="2400" b="1" dirty="0"/>
              <a:t>ajustar a malha da imagem</a:t>
            </a:r>
            <a:r>
              <a:rPr lang="pt-BR" sz="2400" dirty="0"/>
              <a:t>.</a:t>
            </a:r>
          </a:p>
          <a:p>
            <a:r>
              <a:rPr lang="pt-BR" sz="2400" dirty="0"/>
              <a:t>Esse processo é aplicado sempre que uma imagem é redimensionada (ampliada ou reduzida)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b="1" i="1" dirty="0"/>
          </a:p>
          <a:p>
            <a:endParaRPr lang="pt-BR" sz="2400" dirty="0"/>
          </a:p>
          <a:p>
            <a:pPr marL="0" indent="0">
              <a:buNone/>
            </a:pPr>
            <a:endParaRPr lang="pt-BR" sz="2000" i="1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725ECF4-AF45-1BD7-17B7-EA7A9F83F538}"/>
              </a:ext>
            </a:extLst>
          </p:cNvPr>
          <p:cNvGrpSpPr/>
          <p:nvPr/>
        </p:nvGrpSpPr>
        <p:grpSpPr>
          <a:xfrm>
            <a:off x="862382" y="3612337"/>
            <a:ext cx="10643817" cy="3047484"/>
            <a:chOff x="982126" y="3691454"/>
            <a:chExt cx="10827526" cy="3047484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DA65FC14-6DEF-26B5-B87C-1A3B99EB6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780" b="89976" l="3620" r="96967"/>
                      </a14:imgEffect>
                    </a14:imgLayer>
                  </a14:imgProps>
                </a:ext>
              </a:extLst>
            </a:blip>
            <a:srcRect l="4536" t="14657" r="79221" b="15661"/>
            <a:stretch>
              <a:fillRect/>
            </a:stretch>
          </p:blipFill>
          <p:spPr>
            <a:xfrm>
              <a:off x="982126" y="4029851"/>
              <a:ext cx="1325645" cy="2275957"/>
            </a:xfrm>
            <a:prstGeom prst="rect">
              <a:avLst/>
            </a:prstGeom>
          </p:spPr>
        </p:pic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68AC5A24-24BE-15CE-96E6-C954CA325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780" b="89976" l="3620" r="96967"/>
                      </a14:imgEffect>
                    </a14:imgLayer>
                  </a14:imgProps>
                </a:ext>
              </a:extLst>
            </a:blip>
            <a:srcRect l="32716" t="13570" r="46931" b="14059"/>
            <a:stretch>
              <a:fillRect/>
            </a:stretch>
          </p:blipFill>
          <p:spPr>
            <a:xfrm>
              <a:off x="4572000" y="3865027"/>
              <a:ext cx="1981200" cy="2819400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292286A2-43D3-1620-BD87-2C8FE594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780" b="89976" l="3620" r="96967"/>
                      </a14:imgEffect>
                    </a14:imgLayer>
                  </a14:imgProps>
                </a:ext>
              </a:extLst>
            </a:blip>
            <a:srcRect l="53338" t="12701" r="3609" b="15660"/>
            <a:stretch>
              <a:fillRect/>
            </a:stretch>
          </p:blipFill>
          <p:spPr>
            <a:xfrm>
              <a:off x="7197585" y="3691454"/>
              <a:ext cx="4612067" cy="3047484"/>
            </a:xfrm>
            <a:prstGeom prst="rect">
              <a:avLst/>
            </a:prstGeom>
          </p:spPr>
        </p:pic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BB89B4D6-FC6A-D33A-66A3-7F2DF23E9629}"/>
                </a:ext>
              </a:extLst>
            </p:cNvPr>
            <p:cNvCxnSpPr/>
            <p:nvPr/>
          </p:nvCxnSpPr>
          <p:spPr>
            <a:xfrm>
              <a:off x="2638425" y="5200650"/>
              <a:ext cx="154305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5D37031E-213B-EE50-905D-A8A5B726F82C}"/>
                </a:ext>
              </a:extLst>
            </p:cNvPr>
            <p:cNvSpPr txBox="1"/>
            <p:nvPr/>
          </p:nvSpPr>
          <p:spPr>
            <a:xfrm>
              <a:off x="2743200" y="4521498"/>
              <a:ext cx="14382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Aumento de 183%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623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40152-0AD8-E004-355D-01D337735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CB62E12-3F00-1909-EA9E-FE0C15B0BEF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744A7F-397E-E35A-5344-80D6760F8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Métodos de Interpolação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FBFF6A8-CB32-A42A-0111-D571FEE7BE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937214-F51A-07DF-BC06-90AD35988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200" y="2376709"/>
            <a:ext cx="6382810" cy="371465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b="1" i="1" dirty="0" err="1"/>
              <a:t>Nearest</a:t>
            </a:r>
            <a:r>
              <a:rPr lang="pt-BR" sz="2400" b="1" i="1" dirty="0"/>
              <a:t> </a:t>
            </a:r>
            <a:r>
              <a:rPr lang="pt-BR" sz="2400" b="1" i="1" dirty="0" err="1"/>
              <a:t>Neighbor</a:t>
            </a:r>
            <a:r>
              <a:rPr lang="pt-BR" sz="2400" b="1" i="1" dirty="0"/>
              <a:t> </a:t>
            </a:r>
            <a:r>
              <a:rPr lang="pt-BR" sz="2400" b="1" dirty="0"/>
              <a:t>(Vizinho mais próximo):</a:t>
            </a:r>
          </a:p>
          <a:p>
            <a:pPr marL="457200" indent="-457200">
              <a:buFont typeface="+mj-lt"/>
              <a:buAutoNum type="arabicPeriod"/>
            </a:pPr>
            <a:endParaRPr lang="pt-BR" sz="2400" b="1" dirty="0"/>
          </a:p>
          <a:p>
            <a:pPr lvl="1"/>
            <a:r>
              <a:rPr lang="pt-BR" sz="2200" dirty="0"/>
              <a:t>Atribui a um novo ponto o valor exato do pixel conhecido que estiver mais perto.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Não existe cálculo de média ponderada ou transição suave entre os dados de entrada.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É  o processo mais leve computacionalmente.</a:t>
            </a:r>
          </a:p>
          <a:p>
            <a:endParaRPr lang="pt-BR" sz="2400" b="1" i="1" dirty="0"/>
          </a:p>
          <a:p>
            <a:endParaRPr lang="pt-BR" sz="2400" dirty="0"/>
          </a:p>
          <a:p>
            <a:pPr marL="0" indent="0">
              <a:buNone/>
            </a:pPr>
            <a:endParaRPr lang="pt-BR" sz="2000" i="1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21" name="Picture 2" descr="The nearest-neighbor interpolation for Up-sampling. | Download Scientific  Diagram">
            <a:extLst>
              <a:ext uri="{FF2B5EF4-FFF2-40B4-BE49-F238E27FC236}">
                <a16:creationId xmlns:a16="http://schemas.microsoft.com/office/drawing/2014/main" id="{8C51D4B2-D6EB-BD75-3A33-99D6768AB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063" y="4532747"/>
            <a:ext cx="4481874" cy="201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07D4B07-404C-6AC8-840D-11D113E2F3F0}"/>
              </a:ext>
            </a:extLst>
          </p:cNvPr>
          <p:cNvGrpSpPr/>
          <p:nvPr/>
        </p:nvGrpSpPr>
        <p:grpSpPr>
          <a:xfrm>
            <a:off x="7503057" y="2395488"/>
            <a:ext cx="3950514" cy="1542554"/>
            <a:chOff x="6815818" y="4456004"/>
            <a:chExt cx="4678496" cy="1841421"/>
          </a:xfrm>
        </p:grpSpPr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F8D6E7CB-E520-F884-89CF-507E4FA66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6704" b="20524"/>
            <a:stretch>
              <a:fillRect/>
            </a:stretch>
          </p:blipFill>
          <p:spPr>
            <a:xfrm>
              <a:off x="6815818" y="4456004"/>
              <a:ext cx="1832882" cy="1831975"/>
            </a:xfrm>
            <a:prstGeom prst="rect">
              <a:avLst/>
            </a:prstGeom>
          </p:spPr>
        </p:pic>
        <p:pic>
          <p:nvPicPr>
            <p:cNvPr id="24" name="Picture 6" descr="Visual comparison of different interpolation methods. (a)... | Download  Scientific Diagram">
              <a:extLst>
                <a:ext uri="{FF2B5EF4-FFF2-40B4-BE49-F238E27FC236}">
                  <a16:creationId xmlns:a16="http://schemas.microsoft.com/office/drawing/2014/main" id="{C1F227AD-9861-2C10-F49C-A96374AB22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704" b="20524"/>
            <a:stretch>
              <a:fillRect/>
            </a:stretch>
          </p:blipFill>
          <p:spPr bwMode="auto">
            <a:xfrm>
              <a:off x="9661432" y="4465450"/>
              <a:ext cx="1832882" cy="1831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A3504B5A-13F2-D88E-14CC-F7E243CE110F}"/>
                </a:ext>
              </a:extLst>
            </p:cNvPr>
            <p:cNvCxnSpPr>
              <a:cxnSpLocks/>
            </p:cNvCxnSpPr>
            <p:nvPr/>
          </p:nvCxnSpPr>
          <p:spPr>
            <a:xfrm>
              <a:off x="8793408" y="5382790"/>
              <a:ext cx="75336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54018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5ACCC-3C68-4EEF-BE40-D674ED4A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660B1A3-4784-9897-B8F2-6A7F50934C9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AB5EE7-BB32-F2E8-EB73-72C8DB94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Métodos de Interpolação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6788118-B751-C0D8-BA40-8E039E6938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05FCC67-636F-FD55-F61E-F667B0700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32" y="2012144"/>
            <a:ext cx="7430139" cy="426051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pt-BR" sz="2400" b="1" dirty="0"/>
              <a:t>Interpolação Bilinear:</a:t>
            </a:r>
          </a:p>
          <a:p>
            <a:pPr marL="457200" indent="-457200">
              <a:buFont typeface="+mj-lt"/>
              <a:buAutoNum type="arabicPeriod" startAt="2"/>
            </a:pPr>
            <a:endParaRPr lang="pt-BR" sz="2400" b="1" dirty="0"/>
          </a:p>
          <a:p>
            <a:pPr lvl="1"/>
            <a:r>
              <a:rPr lang="pt-BR" sz="2200" dirty="0"/>
              <a:t>Usa os quatro vizinhos mais próximos e aplica uma média ponderada com base na distância de cada ponto vizinho.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É uma extensão da interpolação linear para operar em espaços bidimensionais.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Gera transições mais suaves, porém pode acarretar em um efeito de  borramento.</a:t>
            </a:r>
          </a:p>
          <a:p>
            <a:endParaRPr lang="pt-BR" sz="2400" b="1" i="1" dirty="0"/>
          </a:p>
          <a:p>
            <a:endParaRPr lang="pt-BR" sz="2400" dirty="0"/>
          </a:p>
          <a:p>
            <a:pPr marL="0" indent="0">
              <a:buNone/>
            </a:pPr>
            <a:endParaRPr lang="pt-BR" sz="2000" i="1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AF6C44E-6E4D-F744-51EC-3C53377990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58"/>
          <a:stretch>
            <a:fillRect/>
          </a:stretch>
        </p:blipFill>
        <p:spPr>
          <a:xfrm>
            <a:off x="8142513" y="2296033"/>
            <a:ext cx="3972763" cy="19878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CBAE5CB-F53B-11E1-C5D9-7ACEB19B4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583" y="4452257"/>
            <a:ext cx="4060614" cy="196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85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DCF29-22D4-B92E-43A8-ADB853C0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BC9AC8E-D889-5392-1FF7-E212042A380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10F684-6ED0-0152-7F88-A27BD0F3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Métodos de Interpolação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15CF700-4901-ADB0-AB0F-3C3D3B0996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35E9E49-C879-CB99-C187-74480F4E1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768" y="2050896"/>
            <a:ext cx="7461395" cy="436748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pt-BR" sz="2400" b="1" dirty="0"/>
              <a:t>Interpolação </a:t>
            </a:r>
            <a:r>
              <a:rPr lang="pt-BR" sz="2400" b="1" dirty="0" err="1"/>
              <a:t>Bicúbica</a:t>
            </a:r>
            <a:r>
              <a:rPr lang="pt-BR" sz="2400" b="1" dirty="0"/>
              <a:t>:</a:t>
            </a:r>
          </a:p>
          <a:p>
            <a:pPr marL="457200" indent="-457200">
              <a:buFont typeface="+mj-lt"/>
              <a:buAutoNum type="arabicPeriod" startAt="3"/>
            </a:pPr>
            <a:endParaRPr lang="pt-BR" sz="2400" b="1" dirty="0"/>
          </a:p>
          <a:p>
            <a:pPr lvl="1"/>
            <a:r>
              <a:rPr lang="pt-BR" sz="2200" dirty="0"/>
              <a:t>Calcula o valor de um novo pixel analisando uma </a:t>
            </a:r>
            <a:r>
              <a:rPr lang="pt-BR" sz="2200" b="1" dirty="0"/>
              <a:t>grade de 16 pixels vizinhos </a:t>
            </a:r>
            <a:r>
              <a:rPr lang="pt-BR" sz="2200" dirty="0"/>
              <a:t>(4 × 4).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Evita o serrilhado e reduz o desfoque excessivo mas  pode gerar pequenos excessos.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Aplica funções cúbicas de interpolação e é computacionalmente mais exigente.</a:t>
            </a:r>
          </a:p>
          <a:p>
            <a:endParaRPr lang="pt-BR" sz="2400" dirty="0"/>
          </a:p>
          <a:p>
            <a:pPr marL="0" indent="0">
              <a:buNone/>
            </a:pPr>
            <a:endParaRPr lang="pt-BR" sz="2000" i="1" dirty="0"/>
          </a:p>
          <a:p>
            <a:pPr lvl="1">
              <a:buFont typeface="Courier New" panose="02070309020205020404" pitchFamily="49" charset="0"/>
              <a:buChar char="o"/>
            </a:pPr>
            <a:endParaRPr lang="pt-BR" sz="2000" i="1" dirty="0"/>
          </a:p>
          <a:p>
            <a:pPr>
              <a:buFont typeface="Courier New" panose="02070309020205020404" pitchFamily="49" charset="0"/>
              <a:buChar char="o"/>
            </a:pPr>
            <a:endParaRPr lang="pt-BR" sz="24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030C3D-98C1-5FCD-BB1A-ED15EB541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535" y="2383971"/>
            <a:ext cx="3431697" cy="370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40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33975-F162-FF88-5756-C325470F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499D0DB-C70D-0507-55AC-8A424395CB4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72345D-8533-4A02-BBCA-C3DCFD8C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Operações Ponto-a-Ponto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7A1F47D-B8F7-99A5-A953-C17DA5C9F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E42C9CE-A50F-9221-D80F-11E1A14830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0151" y="1828801"/>
                <a:ext cx="5795849" cy="4589574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 operação ponto-a-ponto é descrita matematicamente como: 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200" b="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pt-BR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pt-BR" sz="2200" dirty="0"/>
              </a:p>
              <a:p>
                <a:endParaRPr lang="pt-BR" sz="2400" dirty="0"/>
              </a:p>
              <a:p>
                <a:r>
                  <a:rPr lang="pt-BR" sz="2400" dirty="0"/>
                  <a:t>O novo valor para o pixel depende somente do seu valor original naquela.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As principais operações estão descritas na imagem.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pt-BR" sz="2400" i="1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E42C9CE-A50F-9221-D80F-11E1A14830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0151" y="1828801"/>
                <a:ext cx="5795849" cy="4589574"/>
              </a:xfrm>
              <a:blipFill>
                <a:blip r:embed="rId3"/>
                <a:stretch>
                  <a:fillRect l="-1367" t="-1859" r="-28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3020B15C-A6E7-4DE8-CE62-62176BB7E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91" r="751"/>
          <a:stretch>
            <a:fillRect/>
          </a:stretch>
        </p:blipFill>
        <p:spPr>
          <a:xfrm>
            <a:off x="6096000" y="1600200"/>
            <a:ext cx="5978020" cy="500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95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AD763-5C16-ED3F-77AE-36B7AAE0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A3373E5-FFCE-D421-2EC8-6902993B158E}"/>
              </a:ext>
            </a:extLst>
          </p:cNvPr>
          <p:cNvSpPr/>
          <p:nvPr/>
        </p:nvSpPr>
        <p:spPr>
          <a:xfrm>
            <a:off x="0" y="2283069"/>
            <a:ext cx="12192000" cy="2596661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6BDEA7-DF8D-7D1F-D1E2-3E7DD6F8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8618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Exemplo Prático – Transformação de Imagens</a:t>
            </a:r>
            <a:endParaRPr lang="pt-BR" u="sng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DA869EE-165A-2210-2517-6E010F2DF1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0167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2142</TotalTime>
  <Words>879</Words>
  <Application>Microsoft Office PowerPoint</Application>
  <PresentationFormat>Widescreen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Courier New</vt:lpstr>
      <vt:lpstr>Gill Sans MT</vt:lpstr>
      <vt:lpstr>Tema do Office</vt:lpstr>
      <vt:lpstr>Pacote</vt:lpstr>
      <vt:lpstr>módulo 3 – manipulação da imagem</vt:lpstr>
      <vt:lpstr>Manipulação de imagens</vt:lpstr>
      <vt:lpstr>Transformações Geométricas</vt:lpstr>
      <vt:lpstr>Translação</vt:lpstr>
      <vt:lpstr>Alteração da Escala</vt:lpstr>
      <vt:lpstr>Rotação</vt:lpstr>
      <vt:lpstr>Rotação</vt:lpstr>
      <vt:lpstr>Interpolação</vt:lpstr>
      <vt:lpstr>Métodos de Interpolação</vt:lpstr>
      <vt:lpstr>Métodos de Interpolação</vt:lpstr>
      <vt:lpstr>Métodos de Interpolação</vt:lpstr>
      <vt:lpstr>Operações Ponto-a-Ponto</vt:lpstr>
      <vt:lpstr>Exemplo Prático – Transformação de Imagens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141</cp:revision>
  <dcterms:created xsi:type="dcterms:W3CDTF">2026-07-26T12:48:37Z</dcterms:created>
  <dcterms:modified xsi:type="dcterms:W3CDTF">2026-08-22T19:11:44Z</dcterms:modified>
</cp:coreProperties>
</file>