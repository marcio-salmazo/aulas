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8"/>
  </p:notesMasterIdLst>
  <p:sldIdLst>
    <p:sldId id="320" r:id="rId3"/>
    <p:sldId id="365" r:id="rId4"/>
    <p:sldId id="366" r:id="rId5"/>
    <p:sldId id="362" r:id="rId6"/>
    <p:sldId id="370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io Salmazo Ramos" initials="MS" lastIdx="2" clrIdx="0">
    <p:extLst>
      <p:ext uri="{19B8F6BF-5375-455C-9EA6-DF929625EA0E}">
        <p15:presenceInfo xmlns:p15="http://schemas.microsoft.com/office/powerpoint/2012/main" userId="S::marciosr@ufu.br::41390c5d-c465-4ad4-9c2e-eaf7a78388f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504D"/>
    <a:srgbClr val="4F8234"/>
    <a:srgbClr val="6595DE"/>
    <a:srgbClr val="9AB88B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8666" autoAdjust="0"/>
  </p:normalViewPr>
  <p:slideViewPr>
    <p:cSldViewPr snapToGrid="0">
      <p:cViewPr varScale="1">
        <p:scale>
          <a:sx n="100" d="100"/>
          <a:sy n="100" d="100"/>
        </p:scale>
        <p:origin x="9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C2729-4DC1-AA01-E9F4-BDAE82BBD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BB8F4D8-1206-546E-9D0B-6AAE3CA11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DD53F69-D1D4-D964-BFA4-4FD8989E1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B47195-8B22-DE2B-8C7F-03C4C59DA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8500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DBB22-5987-37D3-A728-7F36998BD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9BCCE9A-361C-691C-20AE-D728817FF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652D198-D003-AC33-8218-4A9C9360C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Ele mede a diferença entre o valor de uma função em um ponto e a média dos valores dessa função ao redor desse ponto.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  <a:p>
            <a:pPr marL="514350" indent="-514350">
              <a:buFont typeface="+mj-lt"/>
              <a:buAutoNum type="romanUcPeriod"/>
            </a:pPr>
            <a:r>
              <a:rPr lang="pt-BR" sz="1200" dirty="0"/>
              <a:t>Em uma região uniforme, a intensidade permanece constante.  </a:t>
            </a:r>
          </a:p>
          <a:p>
            <a:pPr marL="514350" indent="-514350">
              <a:buFont typeface="+mj-lt"/>
              <a:buAutoNum type="romanUcPeriod"/>
            </a:pPr>
            <a:r>
              <a:rPr lang="pt-BR" sz="1200" dirty="0"/>
              <a:t>Ao atravessar o limite entre um objeto escuro e um fundo claro, a intensidade muda rapidamente.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B486DDC-5A9F-3AFD-86F7-A3BC2A895A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7124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21F11-59D7-BD6F-B0CA-4D7A41BAC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027C2F0-320D-7874-6240-50FBB2591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4821681-1DF6-DC2C-D18D-7C6D1B063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F30C09C-E4CD-5E58-EABB-81B74CD5BD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8845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F1582-2B87-7E8B-D2BA-034BB4C5B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CFD3353-57FA-FA78-C148-4D3297816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79EB2D2-39E7-856D-9504-64E9FFA66A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regra básica para a histerese é: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Borda forte: é mantida.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Borda fraca conectada a uma borda forte: pode ser mantida.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Borda fraca isolada: é descartada.</a:t>
            </a:r>
          </a:p>
          <a:p>
            <a:r>
              <a:rPr lang="pt-BR" dirty="0"/>
              <a:t>Essa decisão é feita considerando a conectividade entre os pixels de borda, normalmente usando vizinhanças de 8 pixels.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5978A6-E5F5-83F4-80C4-1CF8EE96CA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5093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11556-D160-4A0B-83E8-22C7E59DE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8F029E6-4859-274B-E591-0B87541E5E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F67EC7E-C053-3932-C432-A2D1FBDFB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regra básica para a histerese é: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Borda forte: é mantida.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Borda fraca conectada a uma borda forte: pode ser mantida.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Borda fraca isolada: é descartada.</a:t>
            </a:r>
          </a:p>
          <a:p>
            <a:r>
              <a:rPr lang="pt-BR" dirty="0"/>
              <a:t>Essa decisão é feita considerando a conectividade entre os pixels de borda, normalmente usando vizinhanças de 8 pixels.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1A277EE-37B6-6287-CB35-977FE85ED6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797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23998-2FA4-E492-3E8A-AE7FF34CE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CE2FD-61BC-5114-CCE2-1401A7E83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Extra – DERIVADAS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D69721-C83E-C63B-9409-7E910F0E6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13E97F6-65FE-8D93-E374-6AFA6BB96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774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63444-7E88-D30A-9665-EB7B940BD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C23E480-1883-1428-DD1A-061D4604138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14A2CE-67F2-B6EC-7EED-43958CE22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Filtro Laplaciano – Uso de derivadas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0598863-74A4-9FA4-107D-844381EB3E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3E7F139-EFF8-8953-93F9-BA73F8E68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3663" y="1479512"/>
            <a:ext cx="7684674" cy="4593771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O filtro mede a diferença entre o valor de uma função em um ponto e a média dos valores dessa função ao redor desse ponto.</a:t>
            </a:r>
          </a:p>
          <a:p>
            <a:pPr algn="just"/>
            <a:endParaRPr lang="pt-BR" sz="2200" dirty="0"/>
          </a:p>
          <a:p>
            <a:r>
              <a:rPr lang="pt-BR" sz="2200" dirty="0"/>
              <a:t>Para detectar essas mudanças, podemos utilizar </a:t>
            </a:r>
            <a:r>
              <a:rPr lang="pt-BR" sz="2200" b="1" u="sng" dirty="0"/>
              <a:t>derivadas</a:t>
            </a:r>
          </a:p>
          <a:p>
            <a:pPr algn="just"/>
            <a:endParaRPr lang="pt-BR" sz="2200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C1C62BF-D507-FC27-51BA-97694D8CCA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925"/>
          <a:stretch>
            <a:fillRect/>
          </a:stretch>
        </p:blipFill>
        <p:spPr>
          <a:xfrm>
            <a:off x="2538965" y="3209925"/>
            <a:ext cx="680927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539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4C5B5-6F30-AE09-BCDB-E5AD04B15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F242AA2-D4A0-E92C-DCD5-F999A6CFE02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058E62-EFB6-7688-5C3F-9216D2B0E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Filtro Laplaciano  - Derivações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44D9699A-92D5-1C31-1C32-7126663D30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8FBB1A52-8588-A75C-3D2C-3BAB73E6CD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8421" y="1512507"/>
                <a:ext cx="10130357" cy="5289176"/>
              </a:xfrm>
            </p:spPr>
            <p:txBody>
              <a:bodyPr>
                <a:normAutofit/>
              </a:bodyPr>
              <a:lstStyle/>
              <a:p>
                <a:r>
                  <a:rPr lang="pt-BR" sz="2400" b="1" i="1" dirty="0"/>
                  <a:t>Primeira derivada: </a:t>
                </a:r>
                <a:r>
                  <a:rPr lang="pt-BR" sz="2400" i="1" dirty="0"/>
                  <a:t>“como a intensidade varia?”</a:t>
                </a:r>
                <a:endParaRPr lang="pt-BR" sz="20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000" dirty="0"/>
                  <a:t>Mede a taxa de variação da intensidade </a:t>
                </a:r>
                <a:r>
                  <a:rPr lang="pt-BR" sz="2000" u="sng" dirty="0"/>
                  <a:t>em uma direção</a:t>
                </a:r>
                <a:r>
                  <a:rPr lang="pt-BR" sz="2000" dirty="0"/>
                  <a:t>.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000" i="1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pt-B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pt-B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pt-B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pt-BR" sz="2000" i="1" dirty="0"/>
              </a:p>
              <a:p>
                <a:pPr marL="457200" lvl="1" indent="0">
                  <a:buNone/>
                </a:pPr>
                <a:endParaRPr lang="pt-BR" sz="2200" i="1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000" i="1" dirty="0"/>
                  <a:t>“Se os pixels passam de valores baixos para valores altos, a derivada será positiva”. 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000" i="1" dirty="0"/>
                  <a:t>“Se passam de valores altos para baixos, será negativa”. 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000" i="1" dirty="0"/>
                  <a:t>“Se a intensidade permanecer constante, a derivada será zero”.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000" i="1" dirty="0"/>
              </a:p>
              <a:p>
                <a:r>
                  <a:rPr lang="pt-BR" sz="2200" b="1" i="1" dirty="0"/>
                  <a:t>Segunda derivada: </a:t>
                </a:r>
                <a:r>
                  <a:rPr lang="pt-BR" sz="2200" i="1" dirty="0"/>
                  <a:t>“como a variação de intensidade muda de um ponto para outro?”</a:t>
                </a:r>
              </a:p>
              <a:p>
                <a:pPr marL="0" indent="0">
                  <a:buNone/>
                </a:pPr>
                <a:endParaRPr lang="pt-BR" sz="2400" i="1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sSup>
                            <m:sSupPr>
                              <m:ctrlPr>
                                <a:rPr lang="pt-B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pt-B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pt-B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sSup>
                            <m:sSupPr>
                              <m:ctrlPr>
                                <a:rPr lang="pt-B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pt-B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pt-BR" sz="2000" i="1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8FBB1A52-8588-A75C-3D2C-3BAB73E6CD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8421" y="1512507"/>
                <a:ext cx="10130357" cy="5289176"/>
              </a:xfrm>
              <a:blipFill>
                <a:blip r:embed="rId3"/>
                <a:stretch>
                  <a:fillRect l="-782" t="-16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D6105513-FEF5-1CC4-78BD-1B3C8EBD0AB9}"/>
              </a:ext>
            </a:extLst>
          </p:cNvPr>
          <p:cNvSpPr txBox="1"/>
          <p:nvPr/>
        </p:nvSpPr>
        <p:spPr>
          <a:xfrm>
            <a:off x="7917400" y="5845629"/>
            <a:ext cx="2135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Operador Laplaciano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A42074E-6CC7-C7AD-4385-FA8878EA641F}"/>
              </a:ext>
            </a:extLst>
          </p:cNvPr>
          <p:cNvCxnSpPr/>
          <p:nvPr/>
        </p:nvCxnSpPr>
        <p:spPr>
          <a:xfrm>
            <a:off x="6901542" y="6030295"/>
            <a:ext cx="8708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797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C7AF7-3B6A-96C0-99A1-976EE4EB6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530B6D8-F4BC-0144-6B14-5D8EA9DE86A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19F048-AD2D-745D-AD58-6F18E0F1B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Filtros de Detecção de Bordas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DDA0D853-99EC-1A3D-F76C-6DEE0EB46D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E53D5505-1215-7F56-344A-4384E0085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5849"/>
            <a:ext cx="10515600" cy="2409401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A derivada de primeira ordem de uma imagem mede a taxa de variação da intensidade dos pixels. </a:t>
            </a:r>
          </a:p>
          <a:p>
            <a:pPr algn="just"/>
            <a:r>
              <a:rPr lang="pt-BR" sz="2000" dirty="0"/>
              <a:t>É útil para a detecção de bordas porque as bordas são regiões da imagem onde a intensidade varia rapidamente. </a:t>
            </a:r>
          </a:p>
          <a:p>
            <a:pPr algn="just"/>
            <a:r>
              <a:rPr lang="pt-BR" sz="2000" dirty="0"/>
              <a:t>A primeira derivada pode ser aproximada utilizando operadores de gradiente, como os operadores Sobel.</a:t>
            </a:r>
            <a:endParaRPr lang="pt-BR" sz="2200" i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EFF3877-5A93-E503-2C3B-A2B915B2AA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03" t="33536" r="2709" b="20386"/>
          <a:stretch>
            <a:fillRect/>
          </a:stretch>
        </p:blipFill>
        <p:spPr>
          <a:xfrm>
            <a:off x="2759869" y="3550064"/>
            <a:ext cx="6672262" cy="330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943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2EFDD-62B2-4B87-ADF2-AE3AF6087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7A7F5F0-05CE-0534-EAD1-785429E81BC5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87FC7A-05C1-AF1E-8782-C6DAC4933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Filtros de Detecção de Bordas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9A7AA8E-201C-F5D5-7122-15EDB254E4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9E396D9-1D07-3E82-0A97-4DDD677E67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737" t="40971" r="2786" b="-3099"/>
          <a:stretch>
            <a:fillRect/>
          </a:stretch>
        </p:blipFill>
        <p:spPr>
          <a:xfrm>
            <a:off x="8244075" y="1774883"/>
            <a:ext cx="3603338" cy="4787842"/>
          </a:xfrm>
          <a:prstGeom prst="rect">
            <a:avLst/>
          </a:prstGeom>
        </p:spPr>
      </p:pic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E7D04172-B827-5A6C-C310-615273A1C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587" y="2032059"/>
            <a:ext cx="7273734" cy="4048126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A segunda derivada mede a taxa de variação da primeira derivada.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Ela é útil para a detecção de bordas porque os cruzamentos por zero (zero-crossings) — pontos nos quais a segunda derivada muda de sinal — frequentemente correspondem a bordas.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Ela detecta bordas identificando os cruzamentos por zero na taxa de variação da intensidade.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A segunda derivada pode ser aproximada utilizando o operador Laplaciano.</a:t>
            </a:r>
            <a:endParaRPr lang="pt-BR" sz="2200" i="1" dirty="0"/>
          </a:p>
        </p:txBody>
      </p:sp>
    </p:spTree>
    <p:extLst>
      <p:ext uri="{BB962C8B-B14F-4D97-AF65-F5344CB8AC3E}">
        <p14:creationId xmlns:p14="http://schemas.microsoft.com/office/powerpoint/2010/main" val="19845867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3170</TotalTime>
  <Words>440</Words>
  <Application>Microsoft Office PowerPoint</Application>
  <PresentationFormat>Widescreen</PresentationFormat>
  <Paragraphs>52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Courier New</vt:lpstr>
      <vt:lpstr>Gill Sans MT</vt:lpstr>
      <vt:lpstr>Tema do Office</vt:lpstr>
      <vt:lpstr>Pacote</vt:lpstr>
      <vt:lpstr>Extra – DERIVADAS</vt:lpstr>
      <vt:lpstr>Filtro Laplaciano – Uso de derivadas</vt:lpstr>
      <vt:lpstr>Filtro Laplaciano  - Derivações</vt:lpstr>
      <vt:lpstr>Filtros de Detecção de Bordas</vt:lpstr>
      <vt:lpstr>Filtros de Detecção de Bordas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187</cp:revision>
  <dcterms:created xsi:type="dcterms:W3CDTF">2026-07-26T12:48:37Z</dcterms:created>
  <dcterms:modified xsi:type="dcterms:W3CDTF">2026-10-28T20:05:46Z</dcterms:modified>
</cp:coreProperties>
</file>