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84" r:id="rId2"/>
  </p:sldMasterIdLst>
  <p:notesMasterIdLst>
    <p:notesMasterId r:id="rId12"/>
  </p:notesMasterIdLst>
  <p:sldIdLst>
    <p:sldId id="320" r:id="rId3"/>
    <p:sldId id="354" r:id="rId4"/>
    <p:sldId id="356" r:id="rId5"/>
    <p:sldId id="355" r:id="rId6"/>
    <p:sldId id="357" r:id="rId7"/>
    <p:sldId id="359" r:id="rId8"/>
    <p:sldId id="358" r:id="rId9"/>
    <p:sldId id="360" r:id="rId10"/>
    <p:sldId id="361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cio Salmazo Ramos" initials="MS" lastIdx="2" clrIdx="0">
    <p:extLst>
      <p:ext uri="{19B8F6BF-5375-455C-9EA6-DF929625EA0E}">
        <p15:presenceInfo xmlns:p15="http://schemas.microsoft.com/office/powerpoint/2012/main" userId="S::marciosr@ufu.br::41390c5d-c465-4ad4-9c2e-eaf7a78388f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504D"/>
    <a:srgbClr val="4F8234"/>
    <a:srgbClr val="6595DE"/>
    <a:srgbClr val="9AB88B"/>
    <a:srgbClr val="418A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D7AC3CCA-C797-4891-BE02-D94E43425B78}" styleName="Estilo Mé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8666" autoAdjust="0"/>
  </p:normalViewPr>
  <p:slideViewPr>
    <p:cSldViewPr snapToGrid="0">
      <p:cViewPr varScale="1">
        <p:scale>
          <a:sx n="100" d="100"/>
          <a:sy n="100" d="100"/>
        </p:scale>
        <p:origin x="93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commentAuthors" Target="commentAuthor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D03497-8374-466E-85FA-95E1138D8F6E}" type="datetimeFigureOut">
              <a:rPr lang="pt-BR" smtClean="0"/>
              <a:t>28/10/2026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F36A49-A1DD-40F8-B8AD-E6F5365256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7028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C2729-4DC1-AA01-E9F4-BDAE82BBD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BB8F4D8-1206-546E-9D0B-6AAE3CA11F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DD53F69-D1D4-D964-BFA4-4FD8989E11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DB47195-8B22-DE2B-8C7F-03C4C59DA9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85005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B42C4-431E-CA8A-23DE-6498F4D83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59ED421-08C0-D9A4-651F-3823CC6D0B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3ED1007-5669-C131-211F-186B8D88CB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FE6E353-7F23-2780-0E70-A379A6B82F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18724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8D8C2-09E8-F050-0328-1B782DC82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AEABF76-0C69-D3A9-1843-88149348AC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8873DA0-1D2A-802B-888D-0F52C1B144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1269FA4-4955-9E9E-0298-DDA8B21DFB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17185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FCF68-7F77-0D56-3BB0-DAE759CE2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04D5BDA-1283-22EA-BD18-17C582AC0C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AE51677-24D6-42D8-0CD8-D04B26CFE3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4797644-8B1F-C5CD-796F-AD13DCA0BC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50999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D5270-BB42-4F65-CBD5-1249C119E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192DF22-20EC-432A-FBC5-96E10DF5D6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B6719B8-C58E-2F2F-A075-9BD2C3CDC0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b="0" dirty="0"/>
              <a:t>Observação: </a:t>
            </a:r>
            <a:r>
              <a:rPr lang="pt-BR" dirty="0"/>
              <a:t>O operador Roberts utiliza máscaras pequenas de 2x2 para aproximar mudanças diagonais de intensidade.</a:t>
            </a: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EC13D4B-3E17-934B-F710-285DA94E48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6893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7CABD-97A8-3C79-5727-F89FE878D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6859ACA-5EB3-1B42-07EF-B12D657384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DAF1FBB-2B61-C274-2519-AF79ABDFD3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490D085-D290-45DC-542C-22ED592806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59836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BFDDE-B8DC-F3BA-A66B-2BE389E82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CA5B840-C912-163B-419D-6807741BC9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B327D6F-E72A-B959-3513-D7F5396037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9FD9726-A2B1-D11F-1D97-6932E20051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80689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65CAF-9FA9-0653-699F-C3355737E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396F09B-C3BE-7EB3-9C00-92505C23B9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E6018DF-8C82-787E-F970-54E4397394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 regra básica para a histerese é: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Borda forte: é mantida.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Borda fraca conectada a uma borda forte: pode ser mantida.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Borda fraca isolada: é descartada.</a:t>
            </a:r>
          </a:p>
          <a:p>
            <a:r>
              <a:rPr lang="pt-BR" dirty="0"/>
              <a:t>Essa decisão é feita considerando a conectividade entre os pixels de borda, normalmente usando vizinhanças de 8 pixels.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455D412-DF4E-A6F9-0B2A-DFEA1C6699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11011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1094C-CBEE-DB57-C0D1-28C1CFF81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908B6C3-F7B5-8976-2FEC-E6AB2ECFDF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5BD0302-2F18-9749-2D7B-A628F5FF80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 regra básica para a histerese é: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Borda forte: é mantida.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Borda fraca conectada a uma borda forte: pode ser mantida.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Borda fraca isolada: é descartada.</a:t>
            </a:r>
          </a:p>
          <a:p>
            <a:r>
              <a:rPr lang="pt-BR" dirty="0"/>
              <a:t>Essa decisão é feita considerando a conectividade entre os pixels de borda, normalmente usando vizinhanças de 8 pixels.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36BFAFE-7593-5CC5-89C4-F98FB12DB7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5428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9B856-A0BC-D210-1737-D966320C0D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A33AAC6-2469-CA4A-EC71-9377AF26B7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4A0F87A-0C4B-6CED-A923-692979682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FA1D701-1F2B-F9DB-3467-1E702506B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2D3A131-BC6D-009A-1316-11C0D511C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2442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43BFD2-F256-47DF-B808-ACC0E3CF5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B715E3-1B62-B718-0545-18D1860ED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B0F8541-A06F-A96B-9C7B-7B6775D69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29E2F6F-2F51-FB58-B282-FF6552915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84CA48A-0835-7D5D-0C5C-4C7E737E1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30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57B632-00A4-041E-134C-3945EC5FF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E8B5D6A-FCFF-76AF-3B41-CBCC1C30C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FA63B6D-65C2-A8BA-7A75-E7BFF8AEE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B2149EC-9298-99F7-4DF2-9F8975261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D0D51F-3496-83FE-F993-6F3C5B119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5493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630C98-DF9F-EDDF-13FE-19484E4CE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DBEED7-86EF-7D00-9D5B-35BED814DF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C4CFBCA-7118-0084-2BFD-AB37CB71E8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D1CCABC-FE63-8FD2-5554-56984A3CC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28/10/2026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8125A-07B7-CBA7-1A67-B800BA64C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673A3AF-1DE0-4AD3-272B-485CC6D87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3329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9E8815-ABA0-CB0F-583F-E97EB7B59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6E8AD69-3F40-C1E3-9580-6371DC13C5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5D54DCD-A467-392C-7882-9A1F2699C5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1F29C69-1D15-E7B8-95EE-E358ABDD23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DD9B3A3-CEB4-374A-3FA1-C3BD23A5E0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9B6B5B5-5DE0-2665-4666-5A565F02F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28/10/2026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272278B-CB99-E2F9-7531-401CE1BF3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50092DA-D538-B982-0833-39924176B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1193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764F77-C07B-657B-DE18-927ED3DD6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1F6EABF-1DF7-2F1B-A964-4AFF92830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28/10/2026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9E70771-5A68-7380-1FAC-A7D89E013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358ABD1-E925-1590-6C8E-DFC75A7BF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2118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C0372F4-7179-777F-1E51-88AB1A64E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28/10/2026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77D26EF-C956-F4CD-8145-1C415DFC6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53EA769-C25E-4FD8-7E9E-E604C8529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7335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FA3AA1-798F-3AA2-B6BB-62D9B3824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8C13AA-9014-6117-7A37-A036F09F8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84FAC68-54B7-EFCE-9620-BC6F674196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F950BCB-3838-1B1C-112C-A644060F9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28/10/2026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C8779FA-261C-A76B-DBC7-DB58B8C11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2B5AFCC-7631-7153-2CC4-B4689FB8C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1812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CE3E92-DCFD-D54F-EB9D-EF97B8981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CA9DF57-38D6-FEBE-B65C-3AF4E429E9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117E586-D1EC-101C-F876-DEE5A2C81E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4655D0E-B1E7-844D-7A98-DA49B4EC7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28/10/2026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B538A87-1978-7251-4706-04805D27D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B8910AE-1487-27DE-EE72-B1B0DB539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2338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C4BC46-0BF2-E806-F16A-DB5D201D6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9D14E5E-509B-F711-3B25-614C8C3BCE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81C6A8-9DA7-0C1F-372D-B2C9FD24F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FE38E9-C9A5-2C3E-744D-E323F97B1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D1C984-499C-C6BA-9715-0B7BEAC9B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0243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F40F235-1569-6ED0-A5F0-7DA432452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3DB6C81-CE19-AE0C-8D05-2FBC656790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D43C4D-693E-5D37-DE0F-919B77DEF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1D2A9D6-4B21-E9D7-968B-F18C64697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4010A06-B61B-8C4F-3894-CA75C019D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04866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28/10/2026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3257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28/10/2026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83586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28/10/2026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55726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28/10/2026</a:t>
            </a:fld>
            <a:endParaRPr lang="pt-B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3681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28/10/2026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7489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28/10/2026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93288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28/10/2026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79982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28/10/2026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67503" cy="320040"/>
          </a:xfrm>
        </p:spPr>
        <p:txBody>
          <a:bodyPr/>
          <a:lstStyle>
            <a:lvl1pPr>
              <a:defRPr>
                <a:solidFill>
                  <a:srgbClr val="FFFFFF">
                    <a:alpha val="69804"/>
                  </a:srgbClr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080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90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A87E3B6E-8316-4A1C-BADA-DB7F3456EEF1}" type="datetimeFigureOut">
              <a:rPr lang="pt-BR" smtClean="0"/>
              <a:t>28/10/2026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8523" y="6236208"/>
            <a:ext cx="5103729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25449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28/10/2026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49987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28/10/2026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9945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29C4ED7-C003-33C2-9CEB-2E9750319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730AEA1-DE82-52D0-65A9-766B9E2D2F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12E4FEE-859A-D6B3-CF41-EDFF0B1CDE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7E3B6E-8316-4A1C-BADA-DB7F3456EEF1}" type="datetimeFigureOut">
              <a:rPr lang="pt-BR" smtClean="0"/>
              <a:t>28/10/2026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19F3FAC-49A4-4E94-C84A-41786DC2CE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5435549-C584-1997-7B0B-6DC079118A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6949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A87E3B6E-8316-4A1C-BADA-DB7F3456EEF1}" type="datetimeFigureOut">
              <a:rPr lang="pt-BR" smtClean="0"/>
              <a:t>28/10/2026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8919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nna.engineering/Image-Convolution-Playground/src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avidl-11.github.io/Computer-Vision-Basics/demos/canny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pixlane.media/edge-detection/" TargetMode="External"/><Relationship Id="rId4" Type="http://schemas.openxmlformats.org/officeDocument/2006/relationships/hyperlink" Target="https://pinetools.com/image-edge-detectio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23998-2FA4-E492-3E8A-AE7FF34CE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1CE2FD-61BC-5114-CCE2-1401A7E83D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524919"/>
            <a:ext cx="12192000" cy="1808162"/>
          </a:xfrm>
          <a:ln>
            <a:noFill/>
          </a:ln>
        </p:spPr>
        <p:txBody>
          <a:bodyPr/>
          <a:lstStyle/>
          <a:p>
            <a:r>
              <a:rPr lang="pt-BR" dirty="0">
                <a:solidFill>
                  <a:schemeClr val="bg1"/>
                </a:solidFill>
              </a:rPr>
              <a:t>módulo 7 – detecção de bordas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AD69721-C83E-C63B-9409-7E910F0E6E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2" y="5207000"/>
            <a:ext cx="6801612" cy="1651000"/>
          </a:xfrm>
        </p:spPr>
        <p:txBody>
          <a:bodyPr/>
          <a:lstStyle/>
          <a:p>
            <a:r>
              <a:rPr lang="pt-BR" dirty="0"/>
              <a:t>Universidade de Uberaba</a:t>
            </a:r>
          </a:p>
          <a:p>
            <a:r>
              <a:rPr lang="pt-BR" dirty="0"/>
              <a:t>Marcio Salmazo Ramos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A13E97F6-65FE-8D93-E374-6AFA6BB96A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7048" y="447153"/>
            <a:ext cx="3517900" cy="972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774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DDD6A-F527-BCA9-4537-0866E741A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9D1F797D-91A4-D47F-E8B1-8DD7078ECE79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07C25E9-9CCD-DB0C-027A-33B540593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Detecção de Bordas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F327A825-733C-61A6-3960-FF116761FA7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C17CBF4-38E0-A11D-3D21-0DB7698D4A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8555" y="1763023"/>
            <a:ext cx="8554890" cy="1818377"/>
          </a:xfrm>
        </p:spPr>
        <p:txBody>
          <a:bodyPr>
            <a:normAutofit/>
          </a:bodyPr>
          <a:lstStyle/>
          <a:p>
            <a:pPr algn="just"/>
            <a:r>
              <a:rPr lang="pt-BR" sz="2400" b="1" i="1" dirty="0"/>
              <a:t>Filtros de detecção de borda:</a:t>
            </a:r>
          </a:p>
          <a:p>
            <a:pPr lvl="1" algn="just">
              <a:buFont typeface="Courier New" panose="02070309020205020404" pitchFamily="49" charset="0"/>
              <a:buChar char="o"/>
            </a:pPr>
            <a:endParaRPr lang="pt-BR" sz="2200" dirty="0"/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pt-BR" sz="2200" dirty="0"/>
              <a:t>Buscam identificar pontos onde há uma mudança brusca na intensidade luminosa, delimitando contornos de formas de objetos.</a:t>
            </a:r>
          </a:p>
          <a:p>
            <a:pPr algn="just"/>
            <a:endParaRPr lang="pt-BR" sz="2200" dirty="0"/>
          </a:p>
        </p:txBody>
      </p:sp>
      <p:pic>
        <p:nvPicPr>
          <p:cNvPr id="2050" name="Picture 2" descr="Guide to Edge Detection Algorithms - Analytics Vidhya">
            <a:extLst>
              <a:ext uri="{FF2B5EF4-FFF2-40B4-BE49-F238E27FC236}">
                <a16:creationId xmlns:a16="http://schemas.microsoft.com/office/drawing/2014/main" id="{69EF87CA-997D-3FAE-F580-284C1330DD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3240" y="3866462"/>
            <a:ext cx="6065520" cy="2991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72612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98F90-BF2C-C9EB-3B12-8EAEB893B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6661EF04-EAFA-D02A-7693-8D5C14151F54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596AC69-C215-F2CD-6F55-F08790BCB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Detecção de Bordas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621EAD31-CE8F-BA5E-2044-629A713E9B9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CDB3D44-2C41-811F-7A99-344FDF143C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9876" y="2209146"/>
            <a:ext cx="8034128" cy="4189177"/>
          </a:xfrm>
        </p:spPr>
        <p:txBody>
          <a:bodyPr>
            <a:normAutofit/>
          </a:bodyPr>
          <a:lstStyle/>
          <a:p>
            <a:pPr algn="just"/>
            <a:r>
              <a:rPr lang="pt-BR" sz="2200" dirty="0"/>
              <a:t>O conceito é similar ao realce de imagens, mas o objetivo central foca no destaque das bordas e não apenas na nitidez das imagens.</a:t>
            </a:r>
          </a:p>
          <a:p>
            <a:pPr algn="just"/>
            <a:endParaRPr lang="pt-BR" sz="2200" b="1" dirty="0"/>
          </a:p>
          <a:p>
            <a:pPr algn="just"/>
            <a:r>
              <a:rPr lang="pt-BR" sz="2200" dirty="0"/>
              <a:t>Regiões da Imagem:</a:t>
            </a:r>
          </a:p>
          <a:p>
            <a:pPr lvl="1" algn="just">
              <a:buFont typeface="Courier New" panose="02070309020205020404" pitchFamily="49" charset="0"/>
              <a:buChar char="o"/>
            </a:pPr>
            <a:endParaRPr lang="pt-BR" sz="2000" b="1" i="1" dirty="0"/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pt-BR" sz="2000" b="1" i="1" dirty="0"/>
              <a:t>Região uniforme: </a:t>
            </a:r>
            <a:r>
              <a:rPr lang="pt-BR" sz="2000" dirty="0"/>
              <a:t>pixels vizinhos possuem intensidades semelhantes.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pt-BR" sz="2000" b="1" i="1" dirty="0"/>
              <a:t>Borda:</a:t>
            </a:r>
            <a:r>
              <a:rPr lang="pt-BR" sz="2000" dirty="0"/>
              <a:t> existe uma variação acentuada de intensidade.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pt-BR" sz="2000" b="1" i="1" dirty="0"/>
              <a:t>Textura ou ruído: </a:t>
            </a:r>
            <a:r>
              <a:rPr lang="pt-BR" sz="2000" dirty="0"/>
              <a:t>ocorrem variações que podem ser confundidas com bordas.</a:t>
            </a:r>
          </a:p>
          <a:p>
            <a:pPr algn="just"/>
            <a:endParaRPr lang="pt-BR" sz="220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FD9731A-093C-BC1B-B97F-7F8CDE8F6A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9621"/>
          <a:stretch>
            <a:fillRect/>
          </a:stretch>
        </p:blipFill>
        <p:spPr>
          <a:xfrm>
            <a:off x="9323616" y="4145407"/>
            <a:ext cx="2388772" cy="2655296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257F9932-D332-1463-1B1F-B14AD44D57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621"/>
          <a:stretch>
            <a:fillRect/>
          </a:stretch>
        </p:blipFill>
        <p:spPr>
          <a:xfrm>
            <a:off x="9323616" y="1407835"/>
            <a:ext cx="2388772" cy="2655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674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53BEC-221D-3D79-D869-D4638DCD4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465F97DE-0291-68BF-7CF7-86A80B128CBA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0A972DC-843A-13EF-42C4-E68E5F367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Detecção de Bordas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98FEE65C-4BAB-AA2D-12DE-1F841CD2801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1F1F32E-9D1B-E069-40E7-A498486ADA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36" y="1687286"/>
            <a:ext cx="6386653" cy="5053499"/>
          </a:xfrm>
        </p:spPr>
        <p:txBody>
          <a:bodyPr>
            <a:normAutofit/>
          </a:bodyPr>
          <a:lstStyle/>
          <a:p>
            <a:pPr algn="just"/>
            <a:r>
              <a:rPr lang="pt-BR" sz="2200" dirty="0"/>
              <a:t>Os filtros destinados à detecção de bordas também se utilizam (em maioria) do processo de convolução.</a:t>
            </a:r>
          </a:p>
          <a:p>
            <a:pPr algn="just"/>
            <a:endParaRPr lang="pt-BR" sz="2200" dirty="0"/>
          </a:p>
          <a:p>
            <a:pPr algn="just"/>
            <a:r>
              <a:rPr lang="pt-BR" sz="2200" dirty="0"/>
              <a:t>Relembrando o princípio matemático:</a:t>
            </a:r>
          </a:p>
          <a:p>
            <a:pPr algn="just"/>
            <a:endParaRPr lang="pt-BR" sz="2200" dirty="0"/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pt-BR" sz="2000" i="1" dirty="0"/>
              <a:t>“Cada peso do kernel (filtro) é multiplicado pelo pixel sobreposto na imagem original”.</a:t>
            </a:r>
          </a:p>
          <a:p>
            <a:pPr lvl="1" algn="just">
              <a:buFont typeface="Courier New" panose="02070309020205020404" pitchFamily="49" charset="0"/>
              <a:buChar char="o"/>
            </a:pPr>
            <a:endParaRPr lang="pt-BR" sz="2000" i="1" dirty="0"/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pt-BR" sz="2000" i="1" dirty="0"/>
              <a:t>“É feita a somatória dos resultados da multiplicação”.</a:t>
            </a:r>
            <a:endParaRPr lang="pt-BR" sz="2200" dirty="0"/>
          </a:p>
          <a:p>
            <a:pPr algn="just"/>
            <a:endParaRPr lang="pt-BR" sz="2200" dirty="0"/>
          </a:p>
          <a:p>
            <a:pPr algn="just"/>
            <a:r>
              <a:rPr lang="pt-BR" sz="2200" dirty="0"/>
              <a:t>Simulação</a:t>
            </a:r>
          </a:p>
          <a:p>
            <a:pPr marL="457200" lvl="1" indent="0" algn="just">
              <a:buNone/>
            </a:pPr>
            <a:r>
              <a:rPr lang="pt-BR" sz="1800" dirty="0">
                <a:hlinkClick r:id="rId3"/>
              </a:rPr>
              <a:t>https://anna.engineering/Image-Convolution-Playground/src/</a:t>
            </a:r>
            <a:endParaRPr lang="pt-BR" sz="1800" dirty="0"/>
          </a:p>
          <a:p>
            <a:pPr marL="457200" lvl="1" indent="0" algn="just">
              <a:buNone/>
            </a:pPr>
            <a:endParaRPr lang="pt-BR" sz="180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E542BB8-58A1-CCA5-9EDB-52EFDB2AD3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0828" y="2434590"/>
            <a:ext cx="5172328" cy="354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8683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293BF-2107-B114-F0F7-94D77FA76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851B9341-DCBC-0492-6A03-7D68656735C8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34FC89-C64B-1271-8DC2-27433A22D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Filtros de Detecção de Bordas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02C6B2D9-8A93-26A5-09FB-7ABACDAC643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8DE7387-1B12-D5A7-F00B-869FACA57A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6432" y="1621972"/>
            <a:ext cx="8279135" cy="5053499"/>
          </a:xfrm>
        </p:spPr>
        <p:txBody>
          <a:bodyPr>
            <a:normAutofit/>
          </a:bodyPr>
          <a:lstStyle/>
          <a:p>
            <a:pPr algn="just"/>
            <a:r>
              <a:rPr lang="pt-BR" sz="2200" b="1" i="1" dirty="0"/>
              <a:t>Operador de </a:t>
            </a:r>
            <a:r>
              <a:rPr lang="pt-BR" sz="2200" b="1" i="1" dirty="0" err="1"/>
              <a:t>Prewitt</a:t>
            </a:r>
            <a:r>
              <a:rPr lang="pt-BR" sz="2200" b="1" i="1" dirty="0"/>
              <a:t>: </a:t>
            </a:r>
            <a:r>
              <a:rPr lang="pt-BR" sz="2200" dirty="0"/>
              <a:t>Utiliza máscaras 3x3, combinando diferenças entre pixels vizinhos para estimar as variações horizontal e vertical.</a:t>
            </a:r>
            <a:endParaRPr lang="pt-BR" sz="18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702882F-9069-C708-7A8A-CE70ED9391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385" b="47826"/>
          <a:stretch>
            <a:fillRect/>
          </a:stretch>
        </p:blipFill>
        <p:spPr>
          <a:xfrm>
            <a:off x="2847975" y="2661557"/>
            <a:ext cx="6191250" cy="1534886"/>
          </a:xfrm>
          <a:prstGeom prst="rect">
            <a:avLst/>
          </a:prstGeom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A54FE6EB-70B2-F203-636A-C42D92AD99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>
            <a:fillRect/>
          </a:stretch>
        </p:blipFill>
        <p:spPr bwMode="auto">
          <a:xfrm>
            <a:off x="47626" y="4557348"/>
            <a:ext cx="6072187" cy="22883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8C5E5D69-73B2-ACEF-8107-FE8A543B4C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" t="50000" r="-392"/>
          <a:stretch>
            <a:fillRect/>
          </a:stretch>
        </p:blipFill>
        <p:spPr bwMode="auto">
          <a:xfrm>
            <a:off x="6119813" y="4557349"/>
            <a:ext cx="6072187" cy="22883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79536A3A-9544-7521-DD44-6557CFE5D173}"/>
              </a:ext>
            </a:extLst>
          </p:cNvPr>
          <p:cNvSpPr txBox="1"/>
          <p:nvPr/>
        </p:nvSpPr>
        <p:spPr>
          <a:xfrm>
            <a:off x="753467" y="4260937"/>
            <a:ext cx="15535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Imagem Original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02DD52A-2AFC-D5B1-F706-FA5E3B57CD6A}"/>
              </a:ext>
            </a:extLst>
          </p:cNvPr>
          <p:cNvSpPr txBox="1"/>
          <p:nvPr/>
        </p:nvSpPr>
        <p:spPr>
          <a:xfrm>
            <a:off x="3772853" y="4260937"/>
            <a:ext cx="17454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Bordas Horizontais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03B9C49-3A28-B17A-00E2-F0F6F7B038E6}"/>
              </a:ext>
            </a:extLst>
          </p:cNvPr>
          <p:cNvSpPr txBox="1"/>
          <p:nvPr/>
        </p:nvSpPr>
        <p:spPr>
          <a:xfrm>
            <a:off x="6732953" y="4260937"/>
            <a:ext cx="15132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Bordas Verticais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E015EEC-427A-2601-6C33-E54A1A19BF66}"/>
              </a:ext>
            </a:extLst>
          </p:cNvPr>
          <p:cNvSpPr txBox="1"/>
          <p:nvPr/>
        </p:nvSpPr>
        <p:spPr>
          <a:xfrm>
            <a:off x="9663569" y="4260937"/>
            <a:ext cx="16865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Imagem mesclada</a:t>
            </a:r>
          </a:p>
        </p:txBody>
      </p:sp>
    </p:spTree>
    <p:extLst>
      <p:ext uri="{BB962C8B-B14F-4D97-AF65-F5344CB8AC3E}">
        <p14:creationId xmlns:p14="http://schemas.microsoft.com/office/powerpoint/2010/main" val="37649998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5B64E-559F-6C43-AA58-3BD080356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E1DCA3CD-8806-6027-0228-33942255915C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2A412B2-FA85-A4A6-8C64-5A00C4662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Filtros de Detecção de Bordas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335A789C-3BE6-6B4A-7B97-51328CDF725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B7AB13C-8F80-DB35-2486-D53B8B45C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7324" y="1622592"/>
            <a:ext cx="9277350" cy="5053499"/>
          </a:xfrm>
        </p:spPr>
        <p:txBody>
          <a:bodyPr>
            <a:normAutofit/>
          </a:bodyPr>
          <a:lstStyle/>
          <a:p>
            <a:pPr algn="just"/>
            <a:r>
              <a:rPr lang="pt-BR" sz="2200" b="1" i="1" dirty="0"/>
              <a:t>Operador de Sobel: </a:t>
            </a:r>
            <a:r>
              <a:rPr lang="pt-BR" sz="2200" dirty="0"/>
              <a:t>Tem um princípio similar ao operador de </a:t>
            </a:r>
            <a:r>
              <a:rPr lang="pt-BR" sz="2200" dirty="0" err="1"/>
              <a:t>Prewitt</a:t>
            </a:r>
            <a:r>
              <a:rPr lang="pt-BR" sz="2200" dirty="0"/>
              <a:t>, contudo os coeficientes centrais iguais a 2 dão maior peso à linha ou coluna central.</a:t>
            </a:r>
            <a:endParaRPr lang="pt-BR" sz="180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FE27027-910E-AB64-5DD0-9107ED8BA2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3928" y="4420253"/>
            <a:ext cx="6684143" cy="2437747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821AFF26-FE5C-B964-CBDC-31F0D3A50E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3393" y="2550629"/>
            <a:ext cx="3605212" cy="1687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0404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D59D9-80B5-5115-A332-96383B133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7260F6A9-DDD2-FAAD-213F-7D71D40CE2A9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22003D5-5C1B-590B-766F-6B9144ED2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Filtros de Detecção de Bordas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1BD66408-B006-A78F-F183-C30F78DE7E2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A544689-24A0-6AAD-76A1-357AF45F43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1641" y="1467684"/>
            <a:ext cx="9276344" cy="1325564"/>
          </a:xfrm>
        </p:spPr>
        <p:txBody>
          <a:bodyPr>
            <a:normAutofit/>
          </a:bodyPr>
          <a:lstStyle/>
          <a:p>
            <a:pPr algn="just"/>
            <a:r>
              <a:rPr lang="pt-BR" sz="2200" dirty="0"/>
              <a:t>Para uma detecção mais precisa das bordas, é interessante </a:t>
            </a:r>
            <a:r>
              <a:rPr lang="pt-BR" sz="2200" b="1" dirty="0"/>
              <a:t>atenuar</a:t>
            </a:r>
            <a:r>
              <a:rPr lang="pt-BR" sz="2200" dirty="0"/>
              <a:t> variações pouco expressivas para a imagem, por meio de filtros de suavização:</a:t>
            </a:r>
            <a:endParaRPr lang="pt-BR" sz="1800" dirty="0"/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73B3A891-E213-D296-8273-72E6B9147720}"/>
              </a:ext>
            </a:extLst>
          </p:cNvPr>
          <p:cNvGrpSpPr/>
          <p:nvPr/>
        </p:nvGrpSpPr>
        <p:grpSpPr>
          <a:xfrm>
            <a:off x="959224" y="2462998"/>
            <a:ext cx="10040712" cy="2236804"/>
            <a:chOff x="1057654" y="4621196"/>
            <a:chExt cx="10040712" cy="2236804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E983A806-6C2C-669C-90A0-3B6A1377679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0000"/>
            <a:stretch>
              <a:fillRect/>
            </a:stretch>
          </p:blipFill>
          <p:spPr bwMode="auto">
            <a:xfrm>
              <a:off x="1057654" y="4966014"/>
              <a:ext cx="5020356" cy="18919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Picture 2">
              <a:extLst>
                <a:ext uri="{FF2B5EF4-FFF2-40B4-BE49-F238E27FC236}">
                  <a16:creationId xmlns:a16="http://schemas.microsoft.com/office/drawing/2014/main" id="{F8C148B4-1440-C87E-F665-8A9F5E2C9F1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2" t="50000" r="-392"/>
            <a:stretch>
              <a:fillRect/>
            </a:stretch>
          </p:blipFill>
          <p:spPr bwMode="auto">
            <a:xfrm>
              <a:off x="6078010" y="4966015"/>
              <a:ext cx="5020356" cy="18919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C93EFB68-948C-E10C-559E-93DFBE413289}"/>
                </a:ext>
              </a:extLst>
            </p:cNvPr>
            <p:cNvSpPr txBox="1"/>
            <p:nvPr/>
          </p:nvSpPr>
          <p:spPr>
            <a:xfrm>
              <a:off x="1481641" y="4632082"/>
              <a:ext cx="155350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600" dirty="0"/>
                <a:t>Imagem Original</a:t>
              </a:r>
            </a:p>
          </p:txBody>
        </p:sp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F070C79D-533D-AED2-E57B-6F08A8343C25}"/>
                </a:ext>
              </a:extLst>
            </p:cNvPr>
            <p:cNvSpPr txBox="1"/>
            <p:nvPr/>
          </p:nvSpPr>
          <p:spPr>
            <a:xfrm>
              <a:off x="3947024" y="4621196"/>
              <a:ext cx="174547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600" dirty="0"/>
                <a:t>Bordas Horizontais</a:t>
              </a:r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B007DD61-9AD6-AE15-A732-289DA35018A6}"/>
                </a:ext>
              </a:extLst>
            </p:cNvPr>
            <p:cNvSpPr txBox="1"/>
            <p:nvPr/>
          </p:nvSpPr>
          <p:spPr>
            <a:xfrm>
              <a:off x="6604383" y="4621196"/>
              <a:ext cx="15132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600" dirty="0"/>
                <a:t>Bordas Verticais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1124DAED-7414-CEDA-CCCC-CD13EF14A308}"/>
                </a:ext>
              </a:extLst>
            </p:cNvPr>
            <p:cNvSpPr txBox="1"/>
            <p:nvPr/>
          </p:nvSpPr>
          <p:spPr>
            <a:xfrm>
              <a:off x="8961392" y="4621196"/>
              <a:ext cx="168655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600" dirty="0"/>
                <a:t>Imagem mesclada</a:t>
              </a:r>
            </a:p>
          </p:txBody>
        </p:sp>
      </p:grp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84C10EAB-FA68-DA7E-BD21-04F2F6E7AB5B}"/>
              </a:ext>
            </a:extLst>
          </p:cNvPr>
          <p:cNvGrpSpPr/>
          <p:nvPr/>
        </p:nvGrpSpPr>
        <p:grpSpPr>
          <a:xfrm>
            <a:off x="977214" y="4966015"/>
            <a:ext cx="10004732" cy="1891985"/>
            <a:chOff x="959224" y="4699799"/>
            <a:chExt cx="10004732" cy="1891985"/>
          </a:xfrm>
        </p:grpSpPr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D37F61C4-D693-CD03-A570-EDCDA4483F8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1918"/>
            <a:stretch>
              <a:fillRect/>
            </a:stretch>
          </p:blipFill>
          <p:spPr bwMode="auto">
            <a:xfrm>
              <a:off x="959224" y="4699800"/>
              <a:ext cx="5008974" cy="1815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" name="Picture 2">
              <a:extLst>
                <a:ext uri="{FF2B5EF4-FFF2-40B4-BE49-F238E27FC236}">
                  <a16:creationId xmlns:a16="http://schemas.microsoft.com/office/drawing/2014/main" id="{19F51AAD-57ED-9207-20D8-E356DB29F58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0114" b="-374"/>
            <a:stretch>
              <a:fillRect/>
            </a:stretch>
          </p:blipFill>
          <p:spPr bwMode="auto">
            <a:xfrm>
              <a:off x="5943600" y="4699799"/>
              <a:ext cx="5020356" cy="18919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63EA7FF5-F755-5E57-559C-1CD7180C65FF}"/>
              </a:ext>
            </a:extLst>
          </p:cNvPr>
          <p:cNvSpPr txBox="1"/>
          <p:nvPr/>
        </p:nvSpPr>
        <p:spPr>
          <a:xfrm>
            <a:off x="1383211" y="4663631"/>
            <a:ext cx="17214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Imagem Suavizada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048FC770-8EBD-D368-D9B9-5ED323635992}"/>
              </a:ext>
            </a:extLst>
          </p:cNvPr>
          <p:cNvSpPr txBox="1"/>
          <p:nvPr/>
        </p:nvSpPr>
        <p:spPr>
          <a:xfrm>
            <a:off x="3944582" y="4663631"/>
            <a:ext cx="17454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Bordas Horizontais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40FC85E3-268C-1F4E-1F0C-5DDD25D764E9}"/>
              </a:ext>
            </a:extLst>
          </p:cNvPr>
          <p:cNvSpPr txBox="1"/>
          <p:nvPr/>
        </p:nvSpPr>
        <p:spPr>
          <a:xfrm>
            <a:off x="6485819" y="4663631"/>
            <a:ext cx="15535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Bordas Verticais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88F988FB-1245-BCA2-6372-63CAD4FAD48A}"/>
              </a:ext>
            </a:extLst>
          </p:cNvPr>
          <p:cNvSpPr txBox="1"/>
          <p:nvPr/>
        </p:nvSpPr>
        <p:spPr>
          <a:xfrm>
            <a:off x="8929487" y="4663631"/>
            <a:ext cx="16865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Imagem mesclada</a:t>
            </a:r>
          </a:p>
        </p:txBody>
      </p:sp>
    </p:spTree>
    <p:extLst>
      <p:ext uri="{BB962C8B-B14F-4D97-AF65-F5344CB8AC3E}">
        <p14:creationId xmlns:p14="http://schemas.microsoft.com/office/powerpoint/2010/main" val="8822376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95736-5819-1360-AAE5-C58BCB6F5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6190091E-1529-3ECA-721A-50FFA35D5D22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AECE3D7-D99E-2451-B5AE-13657D4AD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Filtros de Detecção de Bordas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58588B53-7122-6509-3AD8-442C83DE276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52457EC-F4A0-E3E2-75B2-8386B79F6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95450"/>
            <a:ext cx="7277099" cy="5038725"/>
          </a:xfrm>
        </p:spPr>
        <p:txBody>
          <a:bodyPr>
            <a:normAutofit/>
          </a:bodyPr>
          <a:lstStyle/>
          <a:p>
            <a:pPr algn="just"/>
            <a:r>
              <a:rPr lang="pt-BR" sz="2000" b="1" i="1" dirty="0"/>
              <a:t>Detector </a:t>
            </a:r>
            <a:r>
              <a:rPr lang="pt-BR" sz="2000" b="1" i="1" dirty="0" err="1"/>
              <a:t>Canny</a:t>
            </a:r>
            <a:r>
              <a:rPr lang="pt-BR" sz="2000" b="1" i="1" dirty="0"/>
              <a:t>: </a:t>
            </a:r>
            <a:r>
              <a:rPr lang="pt-BR" sz="2000" dirty="0"/>
              <a:t>Trata-se de um algoritmo de detecção de bordas, não apenas uma máscara isolada. </a:t>
            </a:r>
          </a:p>
          <a:p>
            <a:pPr lvl="1" algn="just">
              <a:buFont typeface="Courier New" panose="02070309020205020404" pitchFamily="49" charset="0"/>
              <a:buChar char="o"/>
            </a:pPr>
            <a:endParaRPr lang="pt-BR" sz="2000" dirty="0"/>
          </a:p>
          <a:p>
            <a:pPr marL="971550" lvl="1" indent="-514350" algn="just">
              <a:buFont typeface="+mj-lt"/>
              <a:buAutoNum type="romanUcPeriod"/>
            </a:pPr>
            <a:r>
              <a:rPr lang="pt-BR" sz="1800" dirty="0"/>
              <a:t>Suavização Gaussiana</a:t>
            </a:r>
          </a:p>
          <a:p>
            <a:pPr lvl="2" algn="just"/>
            <a:r>
              <a:rPr lang="pt-BR" sz="1600" dirty="0"/>
              <a:t>Reduz variações causadas por ruídos</a:t>
            </a:r>
          </a:p>
          <a:p>
            <a:pPr marL="914400" lvl="2" indent="0" algn="just">
              <a:buNone/>
            </a:pPr>
            <a:endParaRPr lang="pt-BR" sz="1400" dirty="0"/>
          </a:p>
          <a:p>
            <a:pPr marL="971550" lvl="1" indent="-514350" algn="just">
              <a:buFont typeface="+mj-lt"/>
              <a:buAutoNum type="romanUcPeriod"/>
            </a:pPr>
            <a:r>
              <a:rPr lang="pt-BR" sz="1800" dirty="0"/>
              <a:t>Cálculo do gradiente: Estima a intensidade e a direção das variações.</a:t>
            </a:r>
          </a:p>
          <a:p>
            <a:pPr lvl="2" algn="just"/>
            <a:r>
              <a:rPr lang="pt-BR" sz="1600" dirty="0"/>
              <a:t>Encontra a intensidade e a direção das mudanças</a:t>
            </a:r>
          </a:p>
          <a:p>
            <a:pPr marL="914400" lvl="2" indent="0" algn="just">
              <a:buNone/>
            </a:pPr>
            <a:endParaRPr lang="pt-BR" sz="1400" dirty="0"/>
          </a:p>
          <a:p>
            <a:pPr marL="971550" lvl="1" indent="-514350" algn="just">
              <a:buFont typeface="+mj-lt"/>
              <a:buAutoNum type="romanUcPeriod"/>
            </a:pPr>
            <a:r>
              <a:rPr lang="pt-BR" sz="1800" dirty="0"/>
              <a:t>Supressão de não-máximos</a:t>
            </a:r>
          </a:p>
          <a:p>
            <a:pPr lvl="2" algn="just"/>
            <a:r>
              <a:rPr lang="pt-BR" sz="1600" dirty="0"/>
              <a:t>Afina as bordas para aproximadamente um pixel, mantendo apenas as maiores magnitudes</a:t>
            </a:r>
          </a:p>
          <a:p>
            <a:pPr marL="914400" lvl="2" indent="0" algn="just">
              <a:buNone/>
            </a:pPr>
            <a:endParaRPr lang="pt-BR" sz="1400" dirty="0"/>
          </a:p>
          <a:p>
            <a:pPr marL="971550" lvl="1" indent="-514350" algn="just">
              <a:buFont typeface="+mj-lt"/>
              <a:buAutoNum type="romanUcPeriod"/>
            </a:pPr>
            <a:r>
              <a:rPr lang="pt-BR" sz="1800" dirty="0" err="1"/>
              <a:t>Limiarização</a:t>
            </a:r>
            <a:r>
              <a:rPr lang="pt-BR" sz="1800" dirty="0"/>
              <a:t> dupla e histerese:</a:t>
            </a:r>
          </a:p>
          <a:p>
            <a:pPr lvl="2" algn="just"/>
            <a:r>
              <a:rPr lang="pt-BR" sz="1600" dirty="0"/>
              <a:t>Seleciona as bordas e preserva as que têm conexão consistente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729BDA5-F248-B558-3DBD-8C2DF6F3098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064" t="3689" r="2863" b="1888"/>
          <a:stretch>
            <a:fillRect/>
          </a:stretch>
        </p:blipFill>
        <p:spPr>
          <a:xfrm>
            <a:off x="8172450" y="1790700"/>
            <a:ext cx="3895725" cy="4676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7822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D632B-576B-78FA-1C9C-5462728CB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D5EE9CEA-D396-5762-CBD0-5F73E4906874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7460FDF-2977-2996-0F9A-62BAFE539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Filtros de Detecção de Bordas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C7D66564-06CE-92F8-F959-F50D371CD54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1BF0850-D3FD-9D31-3CF5-3FF7973D19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62225" y="1666875"/>
            <a:ext cx="6762750" cy="4865519"/>
          </a:xfrm>
        </p:spPr>
        <p:txBody>
          <a:bodyPr>
            <a:normAutofit/>
          </a:bodyPr>
          <a:lstStyle/>
          <a:p>
            <a:pPr algn="just"/>
            <a:r>
              <a:rPr lang="pt-BR" sz="2000" b="1" i="1" dirty="0"/>
              <a:t>Simuladores:</a:t>
            </a:r>
          </a:p>
          <a:p>
            <a:pPr algn="just"/>
            <a:endParaRPr lang="pt-BR" sz="2000" b="1" i="1" dirty="0"/>
          </a:p>
          <a:p>
            <a:pPr marL="0" indent="0" algn="just">
              <a:buNone/>
            </a:pPr>
            <a:r>
              <a:rPr lang="pt-BR" sz="1800" b="1" i="1" dirty="0"/>
              <a:t>Algoritmo </a:t>
            </a:r>
            <a:r>
              <a:rPr lang="pt-BR" sz="1800" b="1" i="1" dirty="0" err="1"/>
              <a:t>Canny</a:t>
            </a:r>
            <a:r>
              <a:rPr lang="pt-BR" sz="1800" b="1" i="1" dirty="0"/>
              <a:t>:</a:t>
            </a:r>
          </a:p>
          <a:p>
            <a:pPr marL="0" indent="0" algn="just">
              <a:buNone/>
            </a:pPr>
            <a:r>
              <a:rPr lang="pt-BR" sz="1800" dirty="0">
                <a:hlinkClick r:id="rId3"/>
              </a:rPr>
              <a:t>https://davidl-11.github.io/Computer-Vision-Basics/demos/canny/</a:t>
            </a:r>
            <a:r>
              <a:rPr lang="pt-BR" sz="1800" dirty="0"/>
              <a:t> </a:t>
            </a:r>
          </a:p>
          <a:p>
            <a:pPr marL="0" indent="0" algn="just">
              <a:buNone/>
            </a:pPr>
            <a:endParaRPr lang="pt-BR" sz="1600" dirty="0"/>
          </a:p>
          <a:p>
            <a:pPr marL="0" indent="0" algn="just">
              <a:buNone/>
            </a:pPr>
            <a:r>
              <a:rPr lang="pt-BR" sz="1800" b="1" i="1" dirty="0"/>
              <a:t>Detecção de Bordas:</a:t>
            </a:r>
          </a:p>
          <a:p>
            <a:pPr marL="0" indent="0" algn="just">
              <a:buNone/>
            </a:pPr>
            <a:r>
              <a:rPr lang="pt-BR" sz="1800" dirty="0">
                <a:hlinkClick r:id="rId4"/>
              </a:rPr>
              <a:t>https://pinetools.com/image-edge-detection</a:t>
            </a:r>
            <a:r>
              <a:rPr lang="pt-BR" sz="1800" dirty="0"/>
              <a:t> </a:t>
            </a:r>
            <a:endParaRPr lang="pt-BR" sz="1600" dirty="0"/>
          </a:p>
          <a:p>
            <a:pPr marL="0" indent="0" algn="just">
              <a:buNone/>
            </a:pPr>
            <a:r>
              <a:rPr lang="pt-BR" sz="1800" dirty="0">
                <a:hlinkClick r:id="rId5"/>
              </a:rPr>
              <a:t>https://pixlane.media/edge-detection/</a:t>
            </a:r>
            <a:r>
              <a:rPr lang="pt-BR" sz="1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7004123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acote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cote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cot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A425FB89-E954-4A2A-81DC-D90804A94DB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3160</TotalTime>
  <Words>540</Words>
  <Application>Microsoft Office PowerPoint</Application>
  <PresentationFormat>Widescreen</PresentationFormat>
  <Paragraphs>87</Paragraphs>
  <Slides>9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Courier New</vt:lpstr>
      <vt:lpstr>Gill Sans MT</vt:lpstr>
      <vt:lpstr>Tema do Office</vt:lpstr>
      <vt:lpstr>Pacote</vt:lpstr>
      <vt:lpstr>módulo 7 – detecção de bordas</vt:lpstr>
      <vt:lpstr>Detecção de Bordas</vt:lpstr>
      <vt:lpstr>Detecção de Bordas</vt:lpstr>
      <vt:lpstr>Detecção de Bordas</vt:lpstr>
      <vt:lpstr>Filtros de Detecção de Bordas</vt:lpstr>
      <vt:lpstr>Filtros de Detecção de Bordas</vt:lpstr>
      <vt:lpstr>Filtros de Detecção de Bordas</vt:lpstr>
      <vt:lpstr>Filtros de Detecção de Bordas</vt:lpstr>
      <vt:lpstr>Filtros de Detecção de Bordas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Marcio Salmazo Ramos</dc:creator>
  <cp:lastModifiedBy>Marcio Salmazo Ramos</cp:lastModifiedBy>
  <cp:revision>186</cp:revision>
  <dcterms:created xsi:type="dcterms:W3CDTF">2026-07-26T12:48:37Z</dcterms:created>
  <dcterms:modified xsi:type="dcterms:W3CDTF">2026-10-28T19:54:45Z</dcterms:modified>
</cp:coreProperties>
</file>