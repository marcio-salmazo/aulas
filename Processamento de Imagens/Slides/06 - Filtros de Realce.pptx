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14"/>
  </p:notesMasterIdLst>
  <p:sldIdLst>
    <p:sldId id="320" r:id="rId3"/>
    <p:sldId id="354" r:id="rId4"/>
    <p:sldId id="358" r:id="rId5"/>
    <p:sldId id="359" r:id="rId6"/>
    <p:sldId id="360" r:id="rId7"/>
    <p:sldId id="361" r:id="rId8"/>
    <p:sldId id="362" r:id="rId9"/>
    <p:sldId id="363" r:id="rId10"/>
    <p:sldId id="364" r:id="rId11"/>
    <p:sldId id="365" r:id="rId12"/>
    <p:sldId id="357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4F8234"/>
    <a:srgbClr val="6595DE"/>
    <a:srgbClr val="9AB88B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7568" autoAdjust="0"/>
  </p:normalViewPr>
  <p:slideViewPr>
    <p:cSldViewPr snapToGrid="0">
      <p:cViewPr varScale="1">
        <p:scale>
          <a:sx n="88" d="100"/>
          <a:sy n="88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C2729-4DC1-AA01-E9F4-BDAE82BBD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B8F4D8-1206-546E-9D0B-6AAE3CA11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DD53F69-D1D4-D964-BFA4-4FD8989E11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DB47195-8B22-DE2B-8C7F-03C4C59DA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8500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B42C4-431E-CA8A-23DE-6498F4D83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59ED421-08C0-D9A4-651F-3823CC6D0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3ED1007-5669-C131-211F-186B8D88C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E6E353-7F23-2780-0E70-A379A6B82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1872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B93D5-7F97-AE78-934F-19995E996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49B226-EAD0-00F7-7D9A-25D82273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183C74E-4C49-ACD4-D954-9F8CD34BF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AD9A51-07BF-0F86-56D0-BAC5A8F50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703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8DD8C-31F1-B888-90F7-A2EA4AE38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290CF6-9214-8F87-3A21-7691E4AC3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24066A0-2871-21C4-4886-6573C3F7E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D7CBDB-D2D8-C979-A71C-E82E09DE4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281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F3C4-093F-0316-CE00-A0236E62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187516-E126-809F-AB6E-A26A3A5FC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04808E-4E6C-046C-E385-21D1271E8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5FBD38-9CBA-EB80-7878-9E821E7B0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875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71F2E-F6C1-2F92-21DA-7519771AC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05D3-287D-2E6C-2C49-3317CA3C8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E02245-2735-6607-5E7D-72FFD3C0C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09BF7A-8BED-3BDF-977F-C6EAA14195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434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F7518-058A-8ED2-03C2-A45039BE8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0D3004-0F49-8D2E-C548-D80FA6598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671723-C7D7-7430-3F07-F945906B9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D0DF65-B8DC-7A68-590A-1A47492F4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6749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7D8-C344-59BB-6167-0CF839BFE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8B10E2E-41B5-4F43-B447-EA4CBDE9E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2E5637-1653-A3EF-9744-E217033D5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4EE773-BCD8-61C6-BDDB-52A25DDC7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92934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D9CA-5D80-0E3B-184A-FC34F67E6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0D42ACC-E318-C403-F218-D162EB9645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6BF05EC-1151-ACCD-A29D-7FCBA0280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02FA43-D62D-DBC0-9083-443157735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2032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DBB22-5987-37D3-A728-7F36998B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9BCCE9A-361C-691C-20AE-D728817FF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52D198-D003-AC33-8218-4A9C9360C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B486DDC-5A9F-3AFD-86F7-A3BC2A895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1240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74C56-D4B8-DB47-86E7-DB7800CAD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6AAC08-AE73-660B-BAE7-1513299AB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8F312BA-556B-30E7-8265-679AD2A3D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410BE6E-9254-DE6A-FBB8-750E9F377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947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17/10/2026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lane.media/blur-sharpe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23998-2FA4-E492-3E8A-AE7FF34CE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1CE2FD-61BC-5114-CCE2-1401A7E83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6 – Filtros de realce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AD69721-C83E-C63B-9409-7E910F0E6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13E97F6-65FE-8D93-E374-6AFA6BB96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7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DDD6A-F527-BCA9-4537-0866E741A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D1F797D-91A4-D47F-E8B1-8DD7078ECE7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07C25E9-9CCD-DB0C-027A-33B540593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Realce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27A825-733C-61A6-3960-FF116761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C17CBF4-38E0-A11D-3D21-0DB7698D4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017" y="2263672"/>
            <a:ext cx="6376954" cy="3407785"/>
          </a:xfrm>
        </p:spPr>
        <p:txBody>
          <a:bodyPr>
            <a:normAutofit/>
          </a:bodyPr>
          <a:lstStyle/>
          <a:p>
            <a:pPr algn="just"/>
            <a:r>
              <a:rPr lang="pt-BR" sz="2200" dirty="0"/>
              <a:t>O realce de imagens busca tornar determinadas características visuais mais evidentes, utilizando </a:t>
            </a:r>
            <a:r>
              <a:rPr lang="pt-BR" sz="2200" b="1" dirty="0"/>
              <a:t>filtros </a:t>
            </a:r>
            <a:r>
              <a:rPr lang="pt-BR" sz="2200" b="1" i="1" dirty="0"/>
              <a:t>high-</a:t>
            </a:r>
            <a:r>
              <a:rPr lang="pt-BR" sz="2200" b="1" i="1" dirty="0" err="1"/>
              <a:t>pass</a:t>
            </a:r>
            <a:r>
              <a:rPr lang="pt-BR" sz="2200" b="1" i="1" dirty="0"/>
              <a:t> (passa-alta).</a:t>
            </a:r>
          </a:p>
          <a:p>
            <a:pPr algn="just"/>
            <a:endParaRPr lang="pt-BR" sz="2200" dirty="0"/>
          </a:p>
          <a:p>
            <a:pPr algn="just"/>
            <a:r>
              <a:rPr lang="pt-BR" sz="2200" dirty="0"/>
              <a:t>Existem duas operações que vale diferenciar:</a:t>
            </a:r>
          </a:p>
          <a:p>
            <a:pPr algn="just"/>
            <a:endParaRPr lang="pt-BR" sz="2200" dirty="0"/>
          </a:p>
          <a:p>
            <a:pPr lvl="1" algn="just"/>
            <a:r>
              <a:rPr lang="pt-BR" sz="2200" dirty="0"/>
              <a:t>Realce de nitidez (</a:t>
            </a:r>
            <a:r>
              <a:rPr lang="pt-BR" sz="2200" dirty="0" err="1"/>
              <a:t>sharpening</a:t>
            </a:r>
            <a:r>
              <a:rPr lang="pt-BR" sz="2200" dirty="0"/>
              <a:t>)</a:t>
            </a:r>
          </a:p>
          <a:p>
            <a:pPr lvl="1" algn="just"/>
            <a:r>
              <a:rPr lang="pt-BR" sz="2200" dirty="0"/>
              <a:t>Realce de bordas (Detecção de Bordas)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C232C3E-0D0D-FC43-A76C-CAC3CAE76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95" t="27867" r="4995" b="3470"/>
          <a:stretch>
            <a:fillRect/>
          </a:stretch>
        </p:blipFill>
        <p:spPr>
          <a:xfrm>
            <a:off x="6760337" y="2318101"/>
            <a:ext cx="5233646" cy="314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261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5905-997F-27E8-D3C1-C77933268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B0377BB-0813-F77B-D05E-896DB2DF0A6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F1A5923-BAC8-213D-E76B-99C9CA3D8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Realce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C4DBEF-D0EA-0DAE-C88A-5BA113A90E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B9B9A38-253C-2852-8A6A-C11288AAE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5526" y="1671790"/>
            <a:ext cx="9420946" cy="4055342"/>
          </a:xfrm>
        </p:spPr>
        <p:txBody>
          <a:bodyPr>
            <a:normAutofit/>
          </a:bodyPr>
          <a:lstStyle/>
          <a:p>
            <a:r>
              <a:rPr lang="pt-BR" sz="2200" b="1" i="1" dirty="0"/>
              <a:t>Realce de nitidez (</a:t>
            </a:r>
            <a:r>
              <a:rPr lang="pt-BR" sz="2200" b="1" i="1" dirty="0" err="1"/>
              <a:t>sharpening</a:t>
            </a:r>
            <a:r>
              <a:rPr lang="pt-BR" sz="2200" b="1" i="1" dirty="0"/>
              <a:t>): </a:t>
            </a:r>
            <a:r>
              <a:rPr lang="pt-BR" sz="2200" dirty="0"/>
              <a:t>Aumenta a percepção de detalhes e transições de intensidade. É útil para tornar contornos e texturas mais evidentes.</a:t>
            </a:r>
          </a:p>
        </p:txBody>
      </p:sp>
      <p:pic>
        <p:nvPicPr>
          <p:cNvPr id="7" name="Picture 4" descr="How to Sharpen Photos With Photoshop's High Pass Filter (VIDEO) | Shutterbug">
            <a:extLst>
              <a:ext uri="{FF2B5EF4-FFF2-40B4-BE49-F238E27FC236}">
                <a16:creationId xmlns:a16="http://schemas.microsoft.com/office/drawing/2014/main" id="{621D2D65-E69A-BA52-F40C-15CB4F146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4429" y="2698600"/>
            <a:ext cx="7003141" cy="39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2794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DD74-B54E-0F5E-4FA8-56A9F440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12A75D7-8398-1E06-4664-EED529E1360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A4FC83-B535-41D1-60E2-EB2C9068D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Realce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54C88BD-6F9F-41B6-E232-6A74E29F0B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A004177-EB92-5FAB-A3D5-1158AAFFD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1598" y="1660904"/>
            <a:ext cx="9148803" cy="4055342"/>
          </a:xfrm>
        </p:spPr>
        <p:txBody>
          <a:bodyPr>
            <a:normAutofit/>
          </a:bodyPr>
          <a:lstStyle/>
          <a:p>
            <a:r>
              <a:rPr lang="pt-BR" sz="2200" b="1" i="1" dirty="0"/>
              <a:t>Realce de bordas: </a:t>
            </a:r>
            <a:r>
              <a:rPr lang="pt-BR" sz="2200" dirty="0"/>
              <a:t>Enfatiza regiões onde a intensidade muda rapidamente. Pode ajudar a identificar limites de objetos, estruturas e regiões distintas.</a:t>
            </a:r>
          </a:p>
        </p:txBody>
      </p:sp>
      <p:pic>
        <p:nvPicPr>
          <p:cNvPr id="2050" name="Picture 2" descr="Guide to Edge Detection Algorithms - Analytics Vidhya">
            <a:extLst>
              <a:ext uri="{FF2B5EF4-FFF2-40B4-BE49-F238E27FC236}">
                <a16:creationId xmlns:a16="http://schemas.microsoft.com/office/drawing/2014/main" id="{69EF87CA-997D-3FAE-F580-284C1330D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5226" y="2710485"/>
            <a:ext cx="7661548" cy="3778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1560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6BCC-C9F0-3577-1F36-21279E3AE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F575594-96CD-0489-182F-F1F33ED364A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3286F23-7F32-1101-D09D-8C250E4EE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 Matemático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F475AE1-EF40-C636-7960-25F0559B092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A4BBEC8-AB40-92FA-4564-C66E986B3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83" y="1715332"/>
            <a:ext cx="6982546" cy="4598381"/>
          </a:xfrm>
        </p:spPr>
        <p:txBody>
          <a:bodyPr>
            <a:normAutofit/>
          </a:bodyPr>
          <a:lstStyle/>
          <a:p>
            <a:r>
              <a:rPr lang="pt-BR" sz="2200" dirty="0"/>
              <a:t>Frequência espacial descreve a rapidez com que a intensidade dos pixels varia ao longo da imagem.</a:t>
            </a:r>
          </a:p>
          <a:p>
            <a:endParaRPr lang="pt-BR" sz="2200" dirty="0"/>
          </a:p>
          <a:p>
            <a:r>
              <a:rPr lang="pt-BR" sz="2200" b="1" i="1" dirty="0"/>
              <a:t>Baixa frequência espacial:</a:t>
            </a:r>
          </a:p>
          <a:p>
            <a:pPr lvl="1"/>
            <a:r>
              <a:rPr lang="pt-BR" sz="2200" dirty="0"/>
              <a:t>Grandes regiões com intensidades semelhantes, como uma parede ou um céu sem muitos detalhes.</a:t>
            </a:r>
          </a:p>
          <a:p>
            <a:endParaRPr lang="pt-BR" sz="2200" dirty="0"/>
          </a:p>
          <a:p>
            <a:r>
              <a:rPr lang="pt-BR" sz="2200" b="1" i="1" dirty="0"/>
              <a:t>Alta frequência espacial:</a:t>
            </a:r>
          </a:p>
          <a:p>
            <a:pPr lvl="1"/>
            <a:r>
              <a:rPr lang="pt-BR" sz="2200" dirty="0"/>
              <a:t>Bordas, texturas finas, detalhes pequenos e, frequentemente, ruídos.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098" name="Picture 2" descr="Low Pass Filter vs High Pass Filter – Theory, Design, and Applications">
            <a:extLst>
              <a:ext uri="{FF2B5EF4-FFF2-40B4-BE49-F238E27FC236}">
                <a16:creationId xmlns:a16="http://schemas.microsoft.com/office/drawing/2014/main" id="{4C2FD549-E794-2FE2-79A6-E072B0FF4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5527" y="1676218"/>
            <a:ext cx="3459775" cy="2669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Frequency response of a simple high-pass filter">
            <a:extLst>
              <a:ext uri="{FF2B5EF4-FFF2-40B4-BE49-F238E27FC236}">
                <a16:creationId xmlns:a16="http://schemas.microsoft.com/office/drawing/2014/main" id="{44E040F9-5F72-9BB8-1BBD-C7CD841168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21" b="5605"/>
          <a:stretch>
            <a:fillRect/>
          </a:stretch>
        </p:blipFill>
        <p:spPr bwMode="auto">
          <a:xfrm>
            <a:off x="8165527" y="4345665"/>
            <a:ext cx="3459775" cy="2393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6866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B138-9B07-FF7C-D3C1-4DCF2F872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0B68EE4-47D0-7D40-FBBB-B4245B68E5C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C4A153-B7BC-7959-E2AA-AC71D6107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Fundamento Matemático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E69DBBC-6A4E-FFEA-FB8D-77CF0A5A87D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6B2962-C8D7-59BB-0431-43F7D242A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1855" y="1660905"/>
            <a:ext cx="9388290" cy="464192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sz="2400" dirty="0"/>
          </a:p>
          <a:p>
            <a:r>
              <a:rPr lang="pt-BR" sz="2200" b="1" dirty="0"/>
              <a:t>Filtros </a:t>
            </a:r>
            <a:r>
              <a:rPr lang="pt-BR" sz="2200" b="1" i="1" dirty="0" err="1"/>
              <a:t>passa-baixas</a:t>
            </a:r>
            <a:r>
              <a:rPr lang="pt-BR" sz="2200" dirty="0"/>
              <a:t>, como o Gaussiano, atenuam variações rápidas.</a:t>
            </a:r>
          </a:p>
          <a:p>
            <a:r>
              <a:rPr lang="pt-BR" sz="2200" b="1" dirty="0"/>
              <a:t>Filtros </a:t>
            </a:r>
            <a:r>
              <a:rPr lang="pt-BR" sz="2200" b="1" i="1" dirty="0" err="1"/>
              <a:t>passa-altas</a:t>
            </a:r>
            <a:r>
              <a:rPr lang="pt-BR" sz="2200" b="1" dirty="0"/>
              <a:t> </a:t>
            </a:r>
            <a:r>
              <a:rPr lang="pt-BR" sz="2200" dirty="0"/>
              <a:t>enfatizam variações rápidas.</a:t>
            </a:r>
          </a:p>
          <a:p>
            <a:endParaRPr lang="pt-BR" sz="2200" dirty="0"/>
          </a:p>
          <a:p>
            <a:r>
              <a:rPr lang="pt-BR" sz="2200" b="1" i="1" dirty="0"/>
              <a:t>Observação:</a:t>
            </a:r>
            <a:r>
              <a:rPr lang="pt-BR" sz="2200" dirty="0"/>
              <a:t> ruídos também podem apresentar alta frequência espacial. Portanto, enfatizar detalhes </a:t>
            </a:r>
            <a:r>
              <a:rPr lang="pt-BR" sz="2200" u="sng" dirty="0"/>
              <a:t>não</a:t>
            </a:r>
            <a:r>
              <a:rPr lang="pt-BR" sz="2200" dirty="0"/>
              <a:t> significa melhorar a qualidade visual.</a:t>
            </a:r>
          </a:p>
          <a:p>
            <a:endParaRPr lang="pt-BR" sz="2200" dirty="0"/>
          </a:p>
          <a:p>
            <a:endParaRPr lang="pt-BR" sz="2200" dirty="0"/>
          </a:p>
          <a:p>
            <a:pPr marL="0" indent="0" algn="ctr">
              <a:buNone/>
            </a:pPr>
            <a:r>
              <a:rPr lang="pt-BR" sz="2200" dirty="0"/>
              <a:t>Simulação:</a:t>
            </a:r>
          </a:p>
          <a:p>
            <a:pPr marL="0" indent="0" algn="ctr">
              <a:buNone/>
            </a:pPr>
            <a:r>
              <a:rPr lang="pt-BR" sz="2200" dirty="0">
                <a:hlinkClick r:id="rId3"/>
              </a:rPr>
              <a:t>https://pixlane.media/blur-sharpen/</a:t>
            </a:r>
            <a:r>
              <a:rPr lang="pt-BR" sz="2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45115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B9C64-5485-FEE5-F4DC-3B81128C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A5B5D8B-79A0-1216-1D37-32DFBCEFBB3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82B9AA-3E50-9514-47EE-B03DE7BA4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Unsharpening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Mask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B110D9E-5692-C7A6-EC2B-828C705A1EB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A926A6A-15D2-A4A4-9828-F0E1C2AB67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0882" y="1715332"/>
                <a:ext cx="9660431" cy="4598381"/>
              </a:xfrm>
            </p:spPr>
            <p:txBody>
              <a:bodyPr>
                <a:normAutofit/>
              </a:bodyPr>
              <a:lstStyle/>
              <a:p>
                <a:r>
                  <a:rPr lang="pt-BR" sz="2200" b="1" i="1" dirty="0"/>
                  <a:t>Unsharpening </a:t>
                </a:r>
                <a:r>
                  <a:rPr lang="pt-BR" sz="2200" b="1" i="1" dirty="0" err="1"/>
                  <a:t>Mask</a:t>
                </a:r>
                <a:r>
                  <a:rPr lang="pt-BR" sz="2200" b="1" i="1" dirty="0"/>
                  <a:t>: </a:t>
                </a:r>
                <a:r>
                  <a:rPr lang="pt-BR" sz="2200" dirty="0"/>
                  <a:t>realça a imagem subtraindo uma versão suavizada da original e adicionando esse detalhe de volta na original.</a:t>
                </a:r>
              </a:p>
              <a:p>
                <a:endParaRPr lang="pt-BR" sz="2200" dirty="0"/>
              </a:p>
              <a:p>
                <a:r>
                  <a:rPr lang="pt-BR" sz="2200" dirty="0"/>
                  <a:t>É matematicamente descrito como:</a:t>
                </a:r>
                <a:endParaRPr lang="pt-BR" sz="240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𝑠h𝑎𝑟𝑝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𝑏𝑙𝑢𝑟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  <a:p>
                <a:pPr>
                  <a:buFont typeface="Courier New" panose="02070309020205020404" pitchFamily="49" charset="0"/>
                  <a:buChar char="o"/>
                </a:pPr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𝑠h𝑎𝑟𝑝</m:t>
                        </m:r>
                      </m:sub>
                    </m:sSub>
                  </m:oMath>
                </a14:m>
                <a:r>
                  <a:rPr lang="pt-BR" sz="2200" dirty="0"/>
                  <a:t> </a:t>
                </a:r>
                <a:r>
                  <a:rPr lang="pt-BR" sz="2200" dirty="0">
                    <a:sym typeface="Wingdings" panose="05000000000000000000" pitchFamily="2" charset="2"/>
                  </a:rPr>
                  <a:t> Imagem  realçada.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pt-BR" sz="2200" i="1">
                            <a:latin typeface="Cambria Math" panose="02040503050406030204" pitchFamily="18" charset="0"/>
                          </a:rPr>
                          <m:t>𝑏𝑙𝑢𝑟</m:t>
                        </m:r>
                      </m:sub>
                    </m:sSub>
                  </m:oMath>
                </a14:m>
                <a:r>
                  <a:rPr lang="pt-BR" sz="2200" dirty="0"/>
                  <a:t> </a:t>
                </a:r>
                <a:r>
                  <a:rPr lang="pt-BR" sz="2200" dirty="0">
                    <a:sym typeface="Wingdings" panose="05000000000000000000" pitchFamily="2" charset="2"/>
                  </a:rPr>
                  <a:t> Imagem borrada.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pt-BR" sz="2200" dirty="0"/>
                  <a:t> </a:t>
                </a:r>
                <a:r>
                  <a:rPr lang="pt-BR" sz="2200" dirty="0">
                    <a:sym typeface="Wingdings" panose="05000000000000000000" pitchFamily="2" charset="2"/>
                  </a:rPr>
                  <a:t> Imagem original.</a:t>
                </a: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r>
                      <a:rPr lang="pt-BR" sz="22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200" dirty="0"/>
                  <a:t> </a:t>
                </a:r>
                <a:r>
                  <a:rPr lang="pt-BR" sz="2200" dirty="0">
                    <a:sym typeface="Wingdings" panose="05000000000000000000" pitchFamily="2" charset="2"/>
                  </a:rPr>
                  <a:t> Fator de intensidade do realce.</a:t>
                </a:r>
                <a:endParaRPr lang="pt-BR" sz="2200" dirty="0"/>
              </a:p>
              <a:p>
                <a:pPr lvl="1"/>
                <a:endParaRPr lang="pt-BR" sz="2200" dirty="0"/>
              </a:p>
            </p:txBody>
          </p:sp>
        </mc:Choice>
        <mc:Fallback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A926A6A-15D2-A4A4-9828-F0E1C2AB67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0882" y="1715332"/>
                <a:ext cx="9660431" cy="4598381"/>
              </a:xfrm>
              <a:blipFill>
                <a:blip r:embed="rId3"/>
                <a:stretch>
                  <a:fillRect l="-757" t="-15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8EEE90F-85E8-F011-BE46-D2E8895E69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487" y="2851982"/>
            <a:ext cx="4683513" cy="385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86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9166-D1C8-4B8F-3F6C-D4813E3B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81797E8-A0D3-9B5A-9115-EFFEBA3BA82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189F10-0DD4-922C-A084-19D84028E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Unsharpening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Mask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1991F52-E144-8AA7-823B-6CB6FAE59E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5F02DAD-B9A3-E9AF-ECA4-083D8E2D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769" y="1541161"/>
            <a:ext cx="8680717" cy="5142668"/>
          </a:xfrm>
        </p:spPr>
        <p:txBody>
          <a:bodyPr>
            <a:normAutofit/>
          </a:bodyPr>
          <a:lstStyle/>
          <a:p>
            <a:pPr algn="just"/>
            <a:r>
              <a:rPr lang="pt-BR" sz="2200" i="1" dirty="0"/>
              <a:t>O</a:t>
            </a:r>
            <a:r>
              <a:rPr lang="pt-BR" sz="2200" b="1" i="1" dirty="0"/>
              <a:t> </a:t>
            </a:r>
            <a:r>
              <a:rPr lang="pt-BR" sz="2200" b="1" i="1" dirty="0" err="1"/>
              <a:t>Unsharpening</a:t>
            </a:r>
            <a:r>
              <a:rPr lang="pt-BR" sz="2200" b="1" i="1" dirty="0"/>
              <a:t> </a:t>
            </a:r>
            <a:r>
              <a:rPr lang="pt-BR" sz="2200" b="1" i="1" dirty="0" err="1"/>
              <a:t>Mask</a:t>
            </a:r>
            <a:r>
              <a:rPr lang="pt-BR" sz="2200" b="1" i="1" dirty="0"/>
              <a:t>  </a:t>
            </a:r>
            <a:r>
              <a:rPr lang="pt-BR" sz="2200" dirty="0"/>
              <a:t>também pode ser descrito de um modo mais tradicional, por meio de um kernel convolucional:</a:t>
            </a:r>
          </a:p>
          <a:p>
            <a:pPr marL="457200" lvl="1" indent="0" algn="just">
              <a:buNone/>
            </a:pPr>
            <a:endParaRPr lang="pt-BR" sz="2200" dirty="0"/>
          </a:p>
          <a:p>
            <a:pPr algn="just"/>
            <a:r>
              <a:rPr lang="pt-BR" sz="2200" dirty="0"/>
              <a:t>Interpretação do Kernel:</a:t>
            </a:r>
          </a:p>
          <a:p>
            <a:pPr algn="just"/>
            <a:endParaRPr lang="pt-BR" sz="2200" b="1" dirty="0"/>
          </a:p>
          <a:p>
            <a:pPr lvl="1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pt-BR" sz="2000" dirty="0"/>
              <a:t>O valor central dá maior importância ao pixel atual.</a:t>
            </a:r>
          </a:p>
          <a:p>
            <a:pPr lvl="1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pt-BR" sz="2000" dirty="0"/>
              <a:t>Os quatro vizinhos adjacentes recebem peso -1.</a:t>
            </a:r>
          </a:p>
          <a:p>
            <a:pPr lvl="1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pt-BR" sz="2000" dirty="0"/>
              <a:t>Os cantos não contribuem diretamente para essa operação.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pt-BR" sz="2000" dirty="0"/>
          </a:p>
          <a:p>
            <a:pPr lvl="1" algn="just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pt-BR" sz="2000" dirty="0"/>
              <a:t>A soma dos coeficientes é 1, desse modo, em uma região constante, o filtro tende a preservar a intensidade original, desde que a vizinhança esteja inteiramente dentro dessa região.</a:t>
            </a:r>
          </a:p>
          <a:p>
            <a:pPr lvl="1"/>
            <a:endParaRPr lang="pt-BR" sz="22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A60E416-8902-AED9-2B66-81C4F2C02A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38" r="60239"/>
          <a:stretch>
            <a:fillRect/>
          </a:stretch>
        </p:blipFill>
        <p:spPr>
          <a:xfrm>
            <a:off x="9002486" y="2703739"/>
            <a:ext cx="2503714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68536-B947-F8F2-EAE6-EEEBC82E2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C7DF8A4-6553-8740-FB2E-5A15F75584C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DAF4BF-797A-2BFF-1AAC-728F4D7B3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Unsharpening</a:t>
            </a:r>
            <a:r>
              <a:rPr lang="pt-BR" dirty="0">
                <a:solidFill>
                  <a:schemeClr val="bg1"/>
                </a:solidFill>
              </a:rPr>
              <a:t> </a:t>
            </a:r>
            <a:r>
              <a:rPr lang="pt-BR" dirty="0" err="1">
                <a:solidFill>
                  <a:schemeClr val="bg1"/>
                </a:solidFill>
              </a:rPr>
              <a:t>Mask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1D63C52-E166-2BE2-0A02-4DBB947567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4801DFF-6642-FFC3-D549-38961FBF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812" y="1401846"/>
            <a:ext cx="9188376" cy="5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4420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63444-7E88-D30A-9665-EB7B940BD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23E480-1883-1428-DD1A-061D4604138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14A2CE-67F2-B6EC-7EED-43958CE2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Filtro Laplaciano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0598863-74A4-9FA4-107D-844381EB3E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3E7F139-EFF8-8953-93F9-BA73F8E686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769" y="1541161"/>
            <a:ext cx="8680717" cy="5142668"/>
          </a:xfrm>
        </p:spPr>
        <p:txBody>
          <a:bodyPr>
            <a:normAutofit/>
          </a:bodyPr>
          <a:lstStyle/>
          <a:p>
            <a:pPr algn="just"/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469539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C2815-8139-EF80-2958-B8F8BEAC1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4E6A63-8555-F62B-4E66-81EDEADB8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6.5 – detecção de bordas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48E78B1-6931-F0B4-F153-468699E9C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BF76EA7-6FE4-5567-EDB5-5E4D323C7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2462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2958</TotalTime>
  <Words>393</Words>
  <Application>Microsoft Office PowerPoint</Application>
  <PresentationFormat>Widescreen</PresentationFormat>
  <Paragraphs>68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Courier New</vt:lpstr>
      <vt:lpstr>Gill Sans MT</vt:lpstr>
      <vt:lpstr>Wingdings</vt:lpstr>
      <vt:lpstr>Tema do Office</vt:lpstr>
      <vt:lpstr>Pacote</vt:lpstr>
      <vt:lpstr>módulo 6 – Filtros de realce</vt:lpstr>
      <vt:lpstr>Realce de Imagens</vt:lpstr>
      <vt:lpstr>Realce de Imagens</vt:lpstr>
      <vt:lpstr>Realce de Imagens</vt:lpstr>
      <vt:lpstr>Fundamento Matemático</vt:lpstr>
      <vt:lpstr>Fundamento Matemático</vt:lpstr>
      <vt:lpstr>Unsharpening Mask</vt:lpstr>
      <vt:lpstr>Unsharpening Mask</vt:lpstr>
      <vt:lpstr>Unsharpening Mask</vt:lpstr>
      <vt:lpstr>Filtro Laplaciano</vt:lpstr>
      <vt:lpstr>módulo 6.5 – detecção de bordas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172</cp:revision>
  <dcterms:created xsi:type="dcterms:W3CDTF">2026-07-26T12:48:37Z</dcterms:created>
  <dcterms:modified xsi:type="dcterms:W3CDTF">2026-10-17T22:10:00Z</dcterms:modified>
</cp:coreProperties>
</file>