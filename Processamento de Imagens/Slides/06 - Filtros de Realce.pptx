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8"/>
  </p:notesMasterIdLst>
  <p:sldIdLst>
    <p:sldId id="320" r:id="rId3"/>
    <p:sldId id="354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9" r:id="rId15"/>
    <p:sldId id="368" r:id="rId16"/>
    <p:sldId id="370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4F8234"/>
    <a:srgbClr val="6595DE"/>
    <a:srgbClr val="9AB88B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68" autoAdjust="0"/>
  </p:normalViewPr>
  <p:slideViewPr>
    <p:cSldViewPr snapToGrid="0">
      <p:cViewPr>
        <p:scale>
          <a:sx n="100" d="100"/>
          <a:sy n="100" d="100"/>
        </p:scale>
        <p:origin x="936" y="-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2729-4DC1-AA01-E9F4-BDAE82BB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B8F4D8-1206-546E-9D0B-6AAE3CA1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D53F69-D1D4-D964-BFA4-4FD8989E1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B47195-8B22-DE2B-8C7F-03C4C59DA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500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42C4-431E-CA8A-23DE-6498F4D8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59ED421-08C0-D9A4-651F-3823CC6D0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3ED1007-5669-C131-211F-186B8D88C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E6E353-7F23-2780-0E70-A379A6B82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1872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93D5-7F97-AE78-934F-19995E996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849B226-EAD0-00F7-7D9A-25D82273F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183C74E-4C49-ACD4-D954-9F8CD34BF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AD9A51-07BF-0F86-56D0-BAC5A8F50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8703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8DD8C-31F1-B888-90F7-A2EA4AE38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C290CF6-9214-8F87-3A21-7691E4AC3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4066A0-2871-21C4-4886-6573C3F7E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D7CBDB-D2D8-C979-A71C-E82E09DE4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281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F3C4-093F-0316-CE00-A0236E62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187516-E126-809F-AB6E-A26A3A5FC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04808E-4E6C-046C-E385-21D1271E8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5FBD38-9CBA-EB80-7878-9E821E7B0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875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71F2E-F6C1-2F92-21DA-7519771AC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7A05D3-287D-2E6C-2C49-3317CA3C8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BE02245-2735-6607-5E7D-72FFD3C0C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09BF7A-8BED-3BDF-977F-C6EAA1419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4341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F7518-058A-8ED2-03C2-A45039BE8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50D3004-0F49-8D2E-C548-D80FA6598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671723-C7D7-7430-3F07-F945906B9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D0DF65-B8DC-7A68-590A-1A47492F4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6749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87D8-C344-59BB-6167-0CF839BFE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8B10E2E-41B5-4F43-B447-EA4CBDE9E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2E5637-1653-A3EF-9744-E217033D5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4EE773-BCD8-61C6-BDDB-52A25DDC7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293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D9CA-5D80-0E3B-184A-FC34F67E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D42ACC-E318-C403-F218-D162EB964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BF05EC-1151-ACCD-A29D-7FCBA0280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02FA43-D62D-DBC0-9083-443157735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032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BB22-5987-37D3-A728-7F36998BD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9BCCE9A-361C-691C-20AE-D728817FF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52D198-D003-AC33-8218-4A9C9360C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Ele mede a diferença entre o valor de uma função em um ponto e a média dos valores dessa função ao redor desse ponto.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514350" indent="-514350">
              <a:buFont typeface="+mj-lt"/>
              <a:buAutoNum type="romanUcPeriod"/>
            </a:pPr>
            <a:r>
              <a:rPr lang="pt-BR" sz="1200" dirty="0"/>
              <a:t>Em uma região uniforme, a intensidade permanece constante.  </a:t>
            </a:r>
          </a:p>
          <a:p>
            <a:pPr marL="514350" indent="-514350">
              <a:buFont typeface="+mj-lt"/>
              <a:buAutoNum type="romanUcPeriod"/>
            </a:pPr>
            <a:r>
              <a:rPr lang="pt-BR" sz="1200" dirty="0"/>
              <a:t>Ao atravessar o limite entre um objeto escuro e um fundo claro, a intensidade muda rapidamente.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486DDC-5A9F-3AFD-86F7-A3BC2A895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124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1F11-59D7-BD6F-B0CA-4D7A41BA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027C2F0-320D-7874-6240-50FBB2591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4821681-1DF6-DC2C-D18D-7C6D1B063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30C09C-E4CD-5E58-EABB-81B74CD5B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845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7BBBB-7E0C-C83A-2F71-558EB5D3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5A5662-B65B-990C-1EE2-19B901200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A494BB-4178-7732-B6F6-E6F493229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Ele mede a diferença entre o valor de uma função em um ponto e a média dos valores dessa função ao redor desse ponto.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8DE19C-B1DE-B0A9-5222-B7F39B91D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664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C7D69-3865-C280-AE9D-BB750740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0301BC-4AAE-0EAA-1E50-808D0A963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27E231-B836-63E8-4DD0-E2E346F0A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Ele mede a diferença entre o valor de uma função em um ponto e a média dos valores dessa função ao redor desse ponto.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514350" indent="-514350">
              <a:buFont typeface="+mj-lt"/>
              <a:buAutoNum type="romanUcPeriod"/>
            </a:pPr>
            <a:r>
              <a:rPr lang="pt-BR" sz="1200" dirty="0"/>
              <a:t>Em uma região uniforme, a intensidade permanece constante.  </a:t>
            </a:r>
          </a:p>
          <a:p>
            <a:pPr marL="514350" indent="-514350">
              <a:buFont typeface="+mj-lt"/>
              <a:buAutoNum type="romanUcPeriod"/>
            </a:pPr>
            <a:r>
              <a:rPr lang="pt-BR" sz="1200" dirty="0"/>
              <a:t>Ao atravessar o limite entre um objeto escuro e um fundo claro, a intensidade muda rapidamente.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4AB194-767C-D322-94B6-2D6A02099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122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0404-1FFF-E8C6-924E-C5351C58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4992B2B-9F74-EEF3-30CD-3FC4E77F3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52FFCFF-A0F1-25CE-1467-C9E3B5B1D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Ele mede a diferença entre o valor de uma função em um ponto e a média dos valores dessa função ao redor desse ponto.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514350" indent="-514350">
              <a:buFont typeface="+mj-lt"/>
              <a:buAutoNum type="romanUcPeriod"/>
            </a:pPr>
            <a:r>
              <a:rPr lang="pt-BR" sz="1200" dirty="0"/>
              <a:t>Em uma região uniforme, a intensidade permanece constante.  </a:t>
            </a:r>
          </a:p>
          <a:p>
            <a:pPr marL="514350" indent="-514350">
              <a:buFont typeface="+mj-lt"/>
              <a:buAutoNum type="romanUcPeriod"/>
            </a:pPr>
            <a:r>
              <a:rPr lang="pt-BR" sz="1200" dirty="0"/>
              <a:t>Ao atravessar o limite entre um objeto escuro e um fundo claro, a intensidade muda rapidamente.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918235-F018-3232-C88E-BD456E9AC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519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724A-E03F-431A-E442-6148A6C4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60C610-F06C-8123-CE72-562CD6774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8006D89-1F46-85F4-413C-B9D2BB4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5C6AC3-C713-FAAF-698A-C2924D6B3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215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lane.media/blur-sharpe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3998-2FA4-E492-3E8A-AE7FF34C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CE2FD-61BC-5114-CCE2-1401A7E83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6 – Filtros de realce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D69721-C83E-C63B-9409-7E910F0E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13E97F6-65FE-8D93-E374-6AFA6BB9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DDD6A-F527-BCA9-4537-0866E741A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D1F797D-91A4-D47F-E8B1-8DD7078ECE7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C25E9-9CCD-DB0C-027A-33B540593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Realce de Imagens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327A825-733C-61A6-3960-FF116761F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17CBF4-38E0-A11D-3D21-0DB7698D4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017" y="2263672"/>
            <a:ext cx="6376954" cy="340778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 realce de imagens busca tornar determinadas características visuais mais evidentes, utilizando </a:t>
            </a:r>
            <a:r>
              <a:rPr lang="pt-BR" sz="2200" b="1" dirty="0"/>
              <a:t>filtros </a:t>
            </a:r>
            <a:r>
              <a:rPr lang="pt-BR" sz="2200" b="1" i="1" dirty="0"/>
              <a:t>high-</a:t>
            </a:r>
            <a:r>
              <a:rPr lang="pt-BR" sz="2200" b="1" i="1" dirty="0" err="1"/>
              <a:t>pass</a:t>
            </a:r>
            <a:r>
              <a:rPr lang="pt-BR" sz="2200" b="1" i="1" dirty="0"/>
              <a:t> (passa-alta).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Existem duas operações que vale diferenciar:</a:t>
            </a:r>
          </a:p>
          <a:p>
            <a:pPr algn="just"/>
            <a:endParaRPr lang="pt-BR" sz="2200" dirty="0"/>
          </a:p>
          <a:p>
            <a:pPr lvl="1" algn="just"/>
            <a:r>
              <a:rPr lang="pt-BR" sz="2200" dirty="0"/>
              <a:t>Realce de nitidez (</a:t>
            </a:r>
            <a:r>
              <a:rPr lang="pt-BR" sz="2200" dirty="0" err="1"/>
              <a:t>sharpening</a:t>
            </a:r>
            <a:r>
              <a:rPr lang="pt-BR" sz="2200" dirty="0"/>
              <a:t>)</a:t>
            </a:r>
          </a:p>
          <a:p>
            <a:pPr lvl="1" algn="just"/>
            <a:r>
              <a:rPr lang="pt-BR" sz="2200" dirty="0"/>
              <a:t>Realce de bordas (Detecção de Bordas)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C232C3E-0D0D-FC43-A76C-CAC3CAE761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95" t="27867" r="4995" b="3470"/>
          <a:stretch>
            <a:fillRect/>
          </a:stretch>
        </p:blipFill>
        <p:spPr>
          <a:xfrm>
            <a:off x="6760337" y="2318101"/>
            <a:ext cx="5233646" cy="314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61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5905-997F-27E8-D3C1-C7793326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B0377BB-0813-F77B-D05E-896DB2DF0A6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1A5923-BAC8-213D-E76B-99C9CA3D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Realce de Imagens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CC4DBEF-D0EA-0DAE-C88A-5BA113A90E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9B9A38-253C-2852-8A6A-C11288AAE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526" y="1671790"/>
            <a:ext cx="9420946" cy="4055342"/>
          </a:xfrm>
        </p:spPr>
        <p:txBody>
          <a:bodyPr>
            <a:normAutofit/>
          </a:bodyPr>
          <a:lstStyle/>
          <a:p>
            <a:r>
              <a:rPr lang="pt-BR" sz="2200" b="1" i="1" dirty="0"/>
              <a:t>Realce de nitidez (</a:t>
            </a:r>
            <a:r>
              <a:rPr lang="pt-BR" sz="2200" b="1" i="1" dirty="0" err="1"/>
              <a:t>sharpening</a:t>
            </a:r>
            <a:r>
              <a:rPr lang="pt-BR" sz="2200" b="1" i="1" dirty="0"/>
              <a:t>): </a:t>
            </a:r>
            <a:r>
              <a:rPr lang="pt-BR" sz="2200" dirty="0"/>
              <a:t>Aumenta a percepção de detalhes e transições de intensidade. É útil para tornar contornos e texturas mais evidentes.</a:t>
            </a:r>
          </a:p>
        </p:txBody>
      </p:sp>
      <p:pic>
        <p:nvPicPr>
          <p:cNvPr id="7" name="Picture 4" descr="How to Sharpen Photos With Photoshop's High Pass Filter (VIDEO) | Shutterbug">
            <a:extLst>
              <a:ext uri="{FF2B5EF4-FFF2-40B4-BE49-F238E27FC236}">
                <a16:creationId xmlns:a16="http://schemas.microsoft.com/office/drawing/2014/main" id="{621D2D65-E69A-BA52-F40C-15CB4F146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429" y="2698600"/>
            <a:ext cx="7003141" cy="393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79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DD74-B54E-0F5E-4FA8-56A9F440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12A75D7-8398-1E06-4664-EED529E1360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A4FC83-B535-41D1-60E2-EB2C9068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Realce de Imagens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54C88BD-6F9F-41B6-E232-6A74E29F0B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004177-EB92-5FAB-A3D5-1158AAFFD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598" y="1660904"/>
            <a:ext cx="9148803" cy="4055342"/>
          </a:xfrm>
        </p:spPr>
        <p:txBody>
          <a:bodyPr>
            <a:normAutofit/>
          </a:bodyPr>
          <a:lstStyle/>
          <a:p>
            <a:r>
              <a:rPr lang="pt-BR" sz="2200" b="1" i="1" dirty="0"/>
              <a:t>Realce de bordas: </a:t>
            </a:r>
            <a:r>
              <a:rPr lang="pt-BR" sz="2200" dirty="0"/>
              <a:t>Enfatiza regiões onde a intensidade muda rapidamente. Pode ajudar a identificar limites de objetos, estruturas e regiões distintas.</a:t>
            </a:r>
          </a:p>
        </p:txBody>
      </p:sp>
      <p:pic>
        <p:nvPicPr>
          <p:cNvPr id="2050" name="Picture 2" descr="Guide to Edge Detection Algorithms - Analytics Vidhya">
            <a:extLst>
              <a:ext uri="{FF2B5EF4-FFF2-40B4-BE49-F238E27FC236}">
                <a16:creationId xmlns:a16="http://schemas.microsoft.com/office/drawing/2014/main" id="{69EF87CA-997D-3FAE-F580-284C1330D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226" y="2710485"/>
            <a:ext cx="7661548" cy="377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560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96BCC-C9F0-3577-1F36-21279E3AE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F575594-96CD-0489-182F-F1F33ED364A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286F23-7F32-1101-D09D-8C250E4E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Fundamento Matemático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F475AE1-EF40-C636-7960-25F0559B09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A4BBEC8-AB40-92FA-4564-C66E986B3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83" y="1715332"/>
            <a:ext cx="6982546" cy="4598381"/>
          </a:xfrm>
        </p:spPr>
        <p:txBody>
          <a:bodyPr>
            <a:normAutofit/>
          </a:bodyPr>
          <a:lstStyle/>
          <a:p>
            <a:r>
              <a:rPr lang="pt-BR" sz="2200" dirty="0"/>
              <a:t>Frequência espacial descreve a rapidez com que a intensidade dos pixels varia ao longo da imagem.</a:t>
            </a:r>
          </a:p>
          <a:p>
            <a:endParaRPr lang="pt-BR" sz="2200" dirty="0"/>
          </a:p>
          <a:p>
            <a:r>
              <a:rPr lang="pt-BR" sz="2200" b="1" i="1" dirty="0"/>
              <a:t>Baixa frequência espacial:</a:t>
            </a:r>
          </a:p>
          <a:p>
            <a:pPr lvl="1"/>
            <a:r>
              <a:rPr lang="pt-BR" sz="2200" dirty="0"/>
              <a:t>Grandes regiões com intensidades semelhantes, como uma parede ou um céu sem muitos detalhes.</a:t>
            </a:r>
          </a:p>
          <a:p>
            <a:endParaRPr lang="pt-BR" sz="2200" dirty="0"/>
          </a:p>
          <a:p>
            <a:r>
              <a:rPr lang="pt-BR" sz="2200" b="1" i="1" dirty="0"/>
              <a:t>Alta frequência espacial:</a:t>
            </a:r>
          </a:p>
          <a:p>
            <a:pPr lvl="1"/>
            <a:r>
              <a:rPr lang="pt-BR" sz="2200" dirty="0"/>
              <a:t>Bordas, texturas finas, detalhes pequenos e, frequentemente, ruídos.</a:t>
            </a:r>
          </a:p>
          <a:p>
            <a:endParaRPr lang="pt-BR" sz="2400" dirty="0"/>
          </a:p>
          <a:p>
            <a:endParaRPr lang="pt-BR" sz="2400" dirty="0"/>
          </a:p>
        </p:txBody>
      </p:sp>
      <p:pic>
        <p:nvPicPr>
          <p:cNvPr id="4098" name="Picture 2" descr="Low Pass Filter vs High Pass Filter – Theory, Design, and Applications">
            <a:extLst>
              <a:ext uri="{FF2B5EF4-FFF2-40B4-BE49-F238E27FC236}">
                <a16:creationId xmlns:a16="http://schemas.microsoft.com/office/drawing/2014/main" id="{4C2FD549-E794-2FE2-79A6-E072B0FF4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527" y="1676218"/>
            <a:ext cx="3459775" cy="266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requency response of a simple high-pass filter">
            <a:extLst>
              <a:ext uri="{FF2B5EF4-FFF2-40B4-BE49-F238E27FC236}">
                <a16:creationId xmlns:a16="http://schemas.microsoft.com/office/drawing/2014/main" id="{44E040F9-5F72-9BB8-1BBD-C7CD8411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1" b="5605"/>
          <a:stretch>
            <a:fillRect/>
          </a:stretch>
        </p:blipFill>
        <p:spPr bwMode="auto">
          <a:xfrm>
            <a:off x="8165527" y="4345665"/>
            <a:ext cx="3459775" cy="239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866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B138-9B07-FF7C-D3C1-4DCF2F87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0B68EE4-47D0-7D40-FBBB-B4245B68E5C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C4A153-B7BC-7959-E2AA-AC71D610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Fundamento Matemático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E69DBBC-6A4E-FFEA-FB8D-77CF0A5A87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6B2962-C8D7-59BB-0431-43F7D242A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855" y="1660905"/>
            <a:ext cx="9388290" cy="46419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400" dirty="0"/>
          </a:p>
          <a:p>
            <a:r>
              <a:rPr lang="pt-BR" sz="2200" b="1" dirty="0"/>
              <a:t>Filtros </a:t>
            </a:r>
            <a:r>
              <a:rPr lang="pt-BR" sz="2200" b="1" i="1" dirty="0" err="1"/>
              <a:t>passa-baixas</a:t>
            </a:r>
            <a:r>
              <a:rPr lang="pt-BR" sz="2200" dirty="0"/>
              <a:t>, como o Gaussiano, atenuam variações rápidas.</a:t>
            </a:r>
          </a:p>
          <a:p>
            <a:r>
              <a:rPr lang="pt-BR" sz="2200" b="1" dirty="0"/>
              <a:t>Filtros </a:t>
            </a:r>
            <a:r>
              <a:rPr lang="pt-BR" sz="2200" b="1" i="1" dirty="0" err="1"/>
              <a:t>passa-altas</a:t>
            </a:r>
            <a:r>
              <a:rPr lang="pt-BR" sz="2200" b="1" dirty="0"/>
              <a:t> </a:t>
            </a:r>
            <a:r>
              <a:rPr lang="pt-BR" sz="2200" dirty="0"/>
              <a:t>enfatizam variações rápidas.</a:t>
            </a:r>
          </a:p>
          <a:p>
            <a:endParaRPr lang="pt-BR" sz="2200" dirty="0"/>
          </a:p>
          <a:p>
            <a:r>
              <a:rPr lang="pt-BR" sz="2200" b="1" i="1" dirty="0"/>
              <a:t>Observação:</a:t>
            </a:r>
            <a:r>
              <a:rPr lang="pt-BR" sz="2200" dirty="0"/>
              <a:t> ruídos também podem apresentar alta frequência espacial. Portanto, enfatizar detalhes </a:t>
            </a:r>
            <a:r>
              <a:rPr lang="pt-BR" sz="2200" u="sng" dirty="0"/>
              <a:t>não</a:t>
            </a:r>
            <a:r>
              <a:rPr lang="pt-BR" sz="2200" dirty="0"/>
              <a:t> significa melhorar a qualidade visual.</a:t>
            </a:r>
          </a:p>
          <a:p>
            <a:endParaRPr lang="pt-BR" sz="2200" dirty="0"/>
          </a:p>
          <a:p>
            <a:endParaRPr lang="pt-BR" sz="2200" dirty="0"/>
          </a:p>
          <a:p>
            <a:pPr marL="0" indent="0" algn="ctr">
              <a:buNone/>
            </a:pPr>
            <a:r>
              <a:rPr lang="pt-BR" sz="2200" dirty="0"/>
              <a:t>Simulação:</a:t>
            </a:r>
          </a:p>
          <a:p>
            <a:pPr marL="0" indent="0" algn="ctr">
              <a:buNone/>
            </a:pPr>
            <a:r>
              <a:rPr lang="pt-BR" sz="2200" dirty="0">
                <a:hlinkClick r:id="rId3"/>
              </a:rPr>
              <a:t>https://pixlane.media/blur-sharpen/</a:t>
            </a:r>
            <a:r>
              <a:rPr lang="pt-BR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5115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B9C64-5485-FEE5-F4DC-3B81128C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A5B5D8B-79A0-1216-1D37-32DFBCEFBB3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82B9AA-3E50-9514-47EE-B03DE7BA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Unsharpening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Mask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B110D9E-5692-C7A6-EC2B-828C705A1E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A926A6A-15D2-A4A4-9828-F0E1C2AB67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0882" y="1715332"/>
                <a:ext cx="9660431" cy="4598381"/>
              </a:xfrm>
            </p:spPr>
            <p:txBody>
              <a:bodyPr>
                <a:normAutofit/>
              </a:bodyPr>
              <a:lstStyle/>
              <a:p>
                <a:r>
                  <a:rPr lang="pt-BR" sz="2200" b="1" i="1" dirty="0"/>
                  <a:t>Unsharpening </a:t>
                </a:r>
                <a:r>
                  <a:rPr lang="pt-BR" sz="2200" b="1" i="1" dirty="0" err="1"/>
                  <a:t>Mask</a:t>
                </a:r>
                <a:r>
                  <a:rPr lang="pt-BR" sz="2200" b="1" i="1" dirty="0"/>
                  <a:t>: </a:t>
                </a:r>
                <a:r>
                  <a:rPr lang="pt-BR" sz="2200" dirty="0"/>
                  <a:t>realça a imagem subtraindo uma versão suavizada da original e adicionando esse detalhe de volta na original.</a:t>
                </a:r>
              </a:p>
              <a:p>
                <a:endParaRPr lang="pt-BR" sz="2200" dirty="0"/>
              </a:p>
              <a:p>
                <a:r>
                  <a:rPr lang="pt-BR" sz="2200" dirty="0"/>
                  <a:t>É matematicamente descrito como:</a:t>
                </a:r>
                <a:endParaRPr lang="pt-BR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𝑠h𝑎𝑟𝑝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𝑏𝑙𝑢𝑟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𝑠h𝑎𝑟𝑝</m:t>
                        </m:r>
                      </m:sub>
                    </m:sSub>
                  </m:oMath>
                </a14:m>
                <a:r>
                  <a:rPr lang="pt-BR" sz="2200" dirty="0"/>
                  <a:t> </a:t>
                </a:r>
                <a:r>
                  <a:rPr lang="pt-BR" sz="2200" dirty="0">
                    <a:sym typeface="Wingdings" panose="05000000000000000000" pitchFamily="2" charset="2"/>
                  </a:rPr>
                  <a:t> Imagem  realçada.</a:t>
                </a:r>
                <a:endParaRPr lang="pt-BR" sz="22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𝑏𝑙𝑢𝑟</m:t>
                        </m:r>
                      </m:sub>
                    </m:sSub>
                  </m:oMath>
                </a14:m>
                <a:r>
                  <a:rPr lang="pt-BR" sz="2200" dirty="0"/>
                  <a:t> </a:t>
                </a:r>
                <a:r>
                  <a:rPr lang="pt-BR" sz="2200" dirty="0">
                    <a:sym typeface="Wingdings" panose="05000000000000000000" pitchFamily="2" charset="2"/>
                  </a:rPr>
                  <a:t> Imagem borrada.</a:t>
                </a:r>
                <a:endParaRPr lang="pt-BR" sz="22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pt-BR" sz="2200" dirty="0"/>
                  <a:t> </a:t>
                </a:r>
                <a:r>
                  <a:rPr lang="pt-BR" sz="2200" dirty="0">
                    <a:sym typeface="Wingdings" panose="05000000000000000000" pitchFamily="2" charset="2"/>
                  </a:rPr>
                  <a:t> Imagem original.</a:t>
                </a:r>
                <a:endParaRPr lang="pt-BR" sz="22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sz="2200" dirty="0"/>
                  <a:t> </a:t>
                </a:r>
                <a:r>
                  <a:rPr lang="pt-BR" sz="2200" dirty="0">
                    <a:sym typeface="Wingdings" panose="05000000000000000000" pitchFamily="2" charset="2"/>
                  </a:rPr>
                  <a:t> Fator de intensidade do realce.</a:t>
                </a:r>
                <a:endParaRPr lang="pt-BR" sz="2200" dirty="0"/>
              </a:p>
              <a:p>
                <a:pPr lvl="1"/>
                <a:endParaRPr lang="pt-BR" sz="22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A926A6A-15D2-A4A4-9828-F0E1C2AB6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882" y="1715332"/>
                <a:ext cx="9660431" cy="4598381"/>
              </a:xfrm>
              <a:blipFill>
                <a:blip r:embed="rId3"/>
                <a:stretch>
                  <a:fillRect l="-757" t="-15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88EEE90F-85E8-F011-BE46-D2E8895E6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487" y="2851982"/>
            <a:ext cx="4683513" cy="385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8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29166-D1C8-4B8F-3F6C-D4813E3B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81797E8-A0D3-9B5A-9115-EFFEBA3BA82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189F10-0DD4-922C-A084-19D84028E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Unsharpening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Mask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1991F52-E144-8AA7-823B-6CB6FAE59E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F02DAD-B9A3-E9AF-ECA4-083D8E2D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69" y="1541161"/>
            <a:ext cx="8680717" cy="5142668"/>
          </a:xfrm>
        </p:spPr>
        <p:txBody>
          <a:bodyPr>
            <a:normAutofit/>
          </a:bodyPr>
          <a:lstStyle/>
          <a:p>
            <a:pPr algn="just"/>
            <a:r>
              <a:rPr lang="pt-BR" sz="2200" i="1" dirty="0"/>
              <a:t>O</a:t>
            </a:r>
            <a:r>
              <a:rPr lang="pt-BR" sz="2200" b="1" i="1" dirty="0"/>
              <a:t> </a:t>
            </a:r>
            <a:r>
              <a:rPr lang="pt-BR" sz="2200" b="1" i="1" dirty="0" err="1"/>
              <a:t>Unsharpening</a:t>
            </a:r>
            <a:r>
              <a:rPr lang="pt-BR" sz="2200" b="1" i="1" dirty="0"/>
              <a:t> </a:t>
            </a:r>
            <a:r>
              <a:rPr lang="pt-BR" sz="2200" b="1" i="1" dirty="0" err="1"/>
              <a:t>Mask</a:t>
            </a:r>
            <a:r>
              <a:rPr lang="pt-BR" sz="2200" b="1" i="1" dirty="0"/>
              <a:t>  </a:t>
            </a:r>
            <a:r>
              <a:rPr lang="pt-BR" sz="2200" dirty="0"/>
              <a:t>também pode ser descrito de um modo mais tradicional, por meio de um kernel convolucional:</a:t>
            </a:r>
          </a:p>
          <a:p>
            <a:pPr marL="457200" lvl="1" indent="0" algn="just">
              <a:buNone/>
            </a:pPr>
            <a:endParaRPr lang="pt-BR" sz="2200" dirty="0"/>
          </a:p>
          <a:p>
            <a:pPr algn="just"/>
            <a:r>
              <a:rPr lang="pt-BR" sz="2200" dirty="0"/>
              <a:t>Interpretação do Kernel:</a:t>
            </a:r>
          </a:p>
          <a:p>
            <a:pPr algn="just"/>
            <a:endParaRPr lang="pt-BR" sz="2200" b="1" dirty="0"/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000" dirty="0"/>
              <a:t>O valor central dá maior importância ao pixel atual.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000" dirty="0"/>
              <a:t>Os quatro vizinhos adjacentes recebem peso -1.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000" dirty="0"/>
              <a:t>Os cantos não contribuem diretamente para essa operação.</a:t>
            </a:r>
          </a:p>
          <a:p>
            <a:pPr marL="457200" lvl="1" indent="0" algn="just">
              <a:lnSpc>
                <a:spcPct val="100000"/>
              </a:lnSpc>
              <a:buNone/>
            </a:pPr>
            <a:endParaRPr lang="pt-BR" sz="2000" dirty="0"/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pt-BR" sz="2000" dirty="0"/>
              <a:t>A soma dos coeficientes é 1, desse modo, em uma região constante, o filtro tende a preservar a intensidade original, desde que a vizinhança esteja inteiramente dentro dessa região.</a:t>
            </a:r>
          </a:p>
          <a:p>
            <a:pPr lvl="1"/>
            <a:endParaRPr lang="pt-BR" sz="2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A60E416-8902-AED9-2B66-81C4F2C02A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38" r="60239"/>
          <a:stretch>
            <a:fillRect/>
          </a:stretch>
        </p:blipFill>
        <p:spPr>
          <a:xfrm>
            <a:off x="9002486" y="2703739"/>
            <a:ext cx="2503714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47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68536-B947-F8F2-EAE6-EEEBC82E2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C7DF8A4-6553-8740-FB2E-5A15F75584C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DAF4BF-797A-2BFF-1AAC-728F4D7B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Unsharpening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Mask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1D63C52-E166-2BE2-0A02-4DBB947567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4801DFF-6642-FFC3-D549-38961FBF3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812" y="1401846"/>
            <a:ext cx="9188376" cy="536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42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63444-7E88-D30A-9665-EB7B940B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C23E480-1883-1428-DD1A-061D4604138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14A2CE-67F2-B6EC-7EED-43958CE2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Laplaciano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0598863-74A4-9FA4-107D-844381EB3E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83E7F139-EFF8-8953-93F9-BA73F8E686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5826" y="1870037"/>
                <a:ext cx="6743060" cy="459377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200" dirty="0"/>
                  <a:t>O Laplaciano é um operador de segunda derivada aplicado sobre a função de intensidade de uma imagem</a:t>
                </a:r>
              </a:p>
              <a:p>
                <a:pPr algn="just"/>
                <a:endParaRPr lang="pt-BR" sz="2200" i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i="1" dirty="0"/>
                  <a:t> </a:t>
                </a:r>
                <a:r>
                  <a:rPr lang="pt-BR" sz="2400" i="1" dirty="0">
                    <a:sym typeface="Wingdings" panose="05000000000000000000" pitchFamily="2" charset="2"/>
                  </a:rPr>
                  <a:t> Função de intensidade</a:t>
                </a:r>
                <a:endParaRPr lang="pt-BR" sz="2400" i="1" dirty="0"/>
              </a:p>
              <a:p>
                <a:pPr algn="just"/>
                <a:endParaRPr lang="pt-BR" sz="2200" i="1" dirty="0"/>
              </a:p>
              <a:p>
                <a:pPr algn="just"/>
                <a:r>
                  <a:rPr lang="pt-BR" sz="2200" dirty="0"/>
                  <a:t>O filtro mede a diferença entre o valor de uma função em um ponto e a média dos valores dessa função ao redor desse ponto.</a:t>
                </a:r>
              </a:p>
              <a:p>
                <a:pPr marL="0" indent="0">
                  <a:buNone/>
                </a:pPr>
                <a:endParaRPr lang="pt-BR" sz="2200" dirty="0"/>
              </a:p>
              <a:p>
                <a:r>
                  <a:rPr lang="pt-BR" sz="2200" dirty="0"/>
                  <a:t>Para detectar essas mudanças, utilizamos </a:t>
                </a:r>
                <a:r>
                  <a:rPr lang="pt-BR" sz="2200" u="sng" dirty="0"/>
                  <a:t>derivadas</a:t>
                </a:r>
              </a:p>
              <a:p>
                <a:pPr algn="just"/>
                <a:endParaRPr lang="pt-BR" sz="2200" i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83E7F139-EFF8-8953-93F9-BA73F8E686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826" y="1870037"/>
                <a:ext cx="6743060" cy="4593771"/>
              </a:xfrm>
              <a:blipFill>
                <a:blip r:embed="rId3"/>
                <a:stretch>
                  <a:fillRect l="-1085" t="-1726" r="-11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9C1C62BF-D507-FC27-51BA-97694D8CC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673" y="2013857"/>
            <a:ext cx="4750501" cy="40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39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4C5B5-6F30-AE09-BCDB-E5AD04B15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F242AA2-D4A0-E92C-DCD5-F999A6CFE02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58E62-EFB6-7688-5C3F-9216D2B0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Laplaciano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4D9699A-92D5-1C31-1C32-7126663D30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8FBB1A52-8588-A75C-3D2C-3BAB73E6CD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8421" y="1512507"/>
                <a:ext cx="10130357" cy="5289176"/>
              </a:xfrm>
            </p:spPr>
            <p:txBody>
              <a:bodyPr>
                <a:normAutofit/>
              </a:bodyPr>
              <a:lstStyle/>
              <a:p>
                <a:r>
                  <a:rPr lang="pt-BR" sz="2400" b="1" i="1" dirty="0"/>
                  <a:t>Primeira derivada: </a:t>
                </a:r>
                <a:r>
                  <a:rPr lang="pt-BR" sz="2400" i="1" dirty="0"/>
                  <a:t>“como a intensidade varia?”</a:t>
                </a:r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Mede a taxa de variação da intensidade </a:t>
                </a:r>
                <a:r>
                  <a:rPr lang="pt-BR" sz="2000" u="sng" dirty="0"/>
                  <a:t>em uma direção</a:t>
                </a:r>
                <a:r>
                  <a:rPr lang="pt-BR" sz="2000" dirty="0"/>
                  <a:t>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pt-BR" sz="2000" i="1" dirty="0"/>
              </a:p>
              <a:p>
                <a:pPr marL="457200" lvl="1" indent="0">
                  <a:buNone/>
                </a:pPr>
                <a:endParaRPr lang="pt-BR" sz="2200" i="1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i="1" dirty="0"/>
                  <a:t>“Se os pixels passam de valores baixos para valores altos, a derivada será positiva”.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i="1" dirty="0"/>
                  <a:t>“Se passam de valores altos para baixos, será negativa”.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i="1" dirty="0"/>
                  <a:t>“Se a intensidade permanecer constante, a derivada será zero”.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r>
                  <a:rPr lang="pt-BR" sz="2200" b="1" i="1" dirty="0"/>
                  <a:t>Segunda derivada: </a:t>
                </a:r>
                <a:r>
                  <a:rPr lang="pt-BR" sz="2200" i="1" dirty="0"/>
                  <a:t>“como a variação de intensidade muda de um ponto para outro?”</a:t>
                </a:r>
              </a:p>
              <a:p>
                <a:pPr marL="0" indent="0">
                  <a:buNone/>
                </a:pPr>
                <a:endParaRPr lang="pt-BR" sz="2400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pt-BR" sz="2000" i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8FBB1A52-8588-A75C-3D2C-3BAB73E6CD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8421" y="1512507"/>
                <a:ext cx="10130357" cy="5289176"/>
              </a:xfrm>
              <a:blipFill>
                <a:blip r:embed="rId3"/>
                <a:stretch>
                  <a:fillRect l="-782" t="-16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D6105513-FEF5-1CC4-78BD-1B3C8EBD0AB9}"/>
              </a:ext>
            </a:extLst>
          </p:cNvPr>
          <p:cNvSpPr txBox="1"/>
          <p:nvPr/>
        </p:nvSpPr>
        <p:spPr>
          <a:xfrm>
            <a:off x="7917400" y="5845629"/>
            <a:ext cx="2135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Operador Laplaciano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A42074E-6CC7-C7AD-4385-FA8878EA641F}"/>
              </a:ext>
            </a:extLst>
          </p:cNvPr>
          <p:cNvCxnSpPr/>
          <p:nvPr/>
        </p:nvCxnSpPr>
        <p:spPr>
          <a:xfrm>
            <a:off x="6901542" y="6030295"/>
            <a:ext cx="870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797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C5601-DF31-6BA4-6318-CE9C2BA2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83317CA-E55A-5D1B-22A3-2B4932F6B45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854834-7A9F-325C-EB92-EEE94067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do Laplaciano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1B9829E-AC0A-4AE9-D1EF-83D974EB61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0E601399-8387-D7E2-5BEA-89C88FA358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4893" y="1752599"/>
                <a:ext cx="6583736" cy="4855029"/>
              </a:xfrm>
            </p:spPr>
            <p:txBody>
              <a:bodyPr>
                <a:normAutofit/>
              </a:bodyPr>
              <a:lstStyle/>
              <a:p>
                <a:r>
                  <a:rPr lang="pt-BR" sz="2000" i="1" dirty="0"/>
                  <a:t>Caso A — intensidade constante: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pt-BR" sz="1800" b="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pt-BR" sz="18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′′</m:t>
                    </m:r>
                    <m:d>
                      <m:d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pt-BR" sz="1800" dirty="0"/>
              </a:p>
              <a:p>
                <a:endParaRPr lang="pt-BR" sz="2000" dirty="0"/>
              </a:p>
              <a:p>
                <a:r>
                  <a:rPr lang="pt-BR" sz="2000" i="1" dirty="0"/>
                  <a:t>Caso B — intensidade crescendo linearmente: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endParaRPr lang="pt-BR" sz="18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1800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1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pt-BR" sz="18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1800" i="1">
                        <a:latin typeface="Cambria Math" panose="02040503050406030204" pitchFamily="18" charset="0"/>
                      </a:rPr>
                      <m:t>′′</m:t>
                    </m:r>
                    <m:d>
                      <m:d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pt-BR" sz="1800" dirty="0"/>
              </a:p>
              <a:p>
                <a:endParaRPr lang="pt-BR" sz="2000" dirty="0"/>
              </a:p>
              <a:p>
                <a:r>
                  <a:rPr lang="pt-BR" sz="2000" i="1" dirty="0"/>
                  <a:t>Caso C — intensidade crescendo de forma acelerada: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18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1800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pt-BR" sz="18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1800" i="1">
                        <a:latin typeface="Cambria Math" panose="02040503050406030204" pitchFamily="18" charset="0"/>
                      </a:rPr>
                      <m:t>′′</m:t>
                    </m:r>
                    <m:d>
                      <m:d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pt-BR" sz="1800" dirty="0"/>
              </a:p>
              <a:p>
                <a:pPr lvl="1"/>
                <a:endParaRPr lang="pt-BR" sz="1800" dirty="0"/>
              </a:p>
              <a:p>
                <a:endParaRPr lang="pt-BR" sz="2200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0E601399-8387-D7E2-5BEA-89C88FA358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4893" y="1752599"/>
                <a:ext cx="6583736" cy="4855029"/>
              </a:xfrm>
              <a:blipFill>
                <a:blip r:embed="rId3"/>
                <a:stretch>
                  <a:fillRect l="-833" t="-1255" b="-1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0C9D2A5-1747-B38F-F6FD-87D48932EEEE}"/>
              </a:ext>
            </a:extLst>
          </p:cNvPr>
          <p:cNvSpPr txBox="1"/>
          <p:nvPr/>
        </p:nvSpPr>
        <p:spPr>
          <a:xfrm>
            <a:off x="7247964" y="2096478"/>
            <a:ext cx="4027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 intensidade não muda. Portanto, nem a taxa de variação nem a mudança dessa taxa são diferentes de zero.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542CD4F-B09C-DBED-A7E2-5B38C9FBE72D}"/>
              </a:ext>
            </a:extLst>
          </p:cNvPr>
          <p:cNvSpPr txBox="1"/>
          <p:nvPr/>
        </p:nvSpPr>
        <p:spPr>
          <a:xfrm>
            <a:off x="7205062" y="3881735"/>
            <a:ext cx="4027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 intensidade aumenta constantemente. A primeira derivada é 10, mas essa taxa não muda.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38BF1D0-E297-07A9-FBD3-1B7247E4C034}"/>
              </a:ext>
            </a:extLst>
          </p:cNvPr>
          <p:cNvSpPr txBox="1"/>
          <p:nvPr/>
        </p:nvSpPr>
        <p:spPr>
          <a:xfrm>
            <a:off x="7247964" y="5579906"/>
            <a:ext cx="4409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 intensidade aumenta cada vez mais rapidamente. A primeira derivada cresce com x, e a segunda derivada indica essa mudança.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22FDAAC-8266-745B-D253-58D1DEA14C60}"/>
              </a:ext>
            </a:extLst>
          </p:cNvPr>
          <p:cNvCxnSpPr>
            <a:cxnSpLocks/>
          </p:cNvCxnSpPr>
          <p:nvPr/>
        </p:nvCxnSpPr>
        <p:spPr>
          <a:xfrm>
            <a:off x="3439886" y="2558143"/>
            <a:ext cx="32657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BA6F525-4DE1-E729-F3A8-177CED7F0E92}"/>
              </a:ext>
            </a:extLst>
          </p:cNvPr>
          <p:cNvCxnSpPr>
            <a:cxnSpLocks/>
          </p:cNvCxnSpPr>
          <p:nvPr/>
        </p:nvCxnSpPr>
        <p:spPr>
          <a:xfrm>
            <a:off x="3439886" y="4343400"/>
            <a:ext cx="32657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D83C791C-CEFF-021E-6C41-42E931D8B04E}"/>
              </a:ext>
            </a:extLst>
          </p:cNvPr>
          <p:cNvCxnSpPr>
            <a:cxnSpLocks/>
          </p:cNvCxnSpPr>
          <p:nvPr/>
        </p:nvCxnSpPr>
        <p:spPr>
          <a:xfrm>
            <a:off x="3363686" y="6041571"/>
            <a:ext cx="32657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718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B754A-045B-10C5-A52D-9D6AA66AD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A15EE61-E4F7-A099-2BC5-F4A5EDF6609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C3D8E5-E036-277A-831B-E92554E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Laplaciano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580FCF1-86B3-E123-D38B-8FCE095139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287D232-7B58-4D67-F0A5-3E384350A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5389" y="1650673"/>
                <a:ext cx="8881222" cy="515982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200" dirty="0"/>
                  <a:t>Aproximação das derivadas por meio de diferenças entre os valores dos pixels.</a:t>
                </a:r>
              </a:p>
              <a:p>
                <a:pPr marL="0" indent="0" algn="just">
                  <a:buNone/>
                </a:pPr>
                <a:endParaRPr lang="pt-BR" sz="22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sSup>
                          <m:sSupPr>
                            <m:ctrlP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+1,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−2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−1,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pt-BR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sSup>
                          <m:sSupPr>
                            <m:ctrlP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−2</m:t>
                    </m:r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pt-BR" sz="2200" dirty="0">
                  <a:ea typeface="Cambria Math" panose="020405030504060302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pt-BR" sz="22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pt-BR" sz="22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pt-BR" sz="2200" dirty="0"/>
                  <a:t>  </a:t>
                </a:r>
                <a:r>
                  <a:rPr lang="pt-BR" sz="2200" i="1" dirty="0"/>
                  <a:t>Somatória final: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−4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pt-BR" sz="2200" dirty="0"/>
              </a:p>
              <a:p>
                <a:pPr marL="0" indent="0" algn="just">
                  <a:buNone/>
                </a:pPr>
                <a:endParaRPr lang="pt-BR" sz="2200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287D232-7B58-4D67-F0A5-3E384350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5389" y="1650673"/>
                <a:ext cx="8881222" cy="5159829"/>
              </a:xfrm>
              <a:blipFill>
                <a:blip r:embed="rId3"/>
                <a:stretch>
                  <a:fillRect l="-824" t="-1537" r="-9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75757C76-A843-9CDB-7F5D-C40D27B133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286"/>
          <a:stretch>
            <a:fillRect/>
          </a:stretch>
        </p:blipFill>
        <p:spPr>
          <a:xfrm>
            <a:off x="7732299" y="2352346"/>
            <a:ext cx="3044558" cy="285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06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7826A-84BD-CF35-B417-E49663F21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7757602-32A1-91E2-3344-3FA1DF67316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C0A379-A171-032D-F1A4-BFE88373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Laplaciano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0E46628-3D39-2EB6-63C8-63ABF39159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CAD6CCD-16D7-3450-61A4-2D7956730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607" y="1523999"/>
            <a:ext cx="8204786" cy="5159829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No espaço bidimensional, o seguinte kernel será produzido:</a:t>
            </a:r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r>
              <a:rPr lang="pt-BR" sz="2200" b="1" i="1" dirty="0" err="1"/>
              <a:t>Obs</a:t>
            </a:r>
            <a:r>
              <a:rPr lang="pt-BR" sz="2200" b="1" i="1" dirty="0"/>
              <a:t>:</a:t>
            </a:r>
            <a:r>
              <a:rPr lang="pt-BR" sz="2200" dirty="0"/>
              <a:t> Alguns autores utilizam a versão com o sinal invertido, onde o centro é positivo e os vizinhos são negativos.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 err="1"/>
              <a:t>Obs</a:t>
            </a:r>
            <a:r>
              <a:rPr lang="pt-BR" sz="2200" b="1" dirty="0"/>
              <a:t>:</a:t>
            </a:r>
            <a:r>
              <a:rPr lang="pt-BR" sz="2200" dirty="0"/>
              <a:t> O kernel com 8 conexões considera uma vizinhança mais ampla em termos de direções, mas não significa que seja sempre melhor</a:t>
            </a:r>
          </a:p>
          <a:p>
            <a:pPr algn="just"/>
            <a:endParaRPr lang="pt-BR" sz="2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04D2C55-961E-04E2-B406-86AAD180F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686" y="2198913"/>
            <a:ext cx="4046221" cy="195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635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8B2CB-2580-81C3-2E3F-A5046910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75DCD6A-1285-C5E4-4007-5E6E7186759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8110AF-97A3-7287-6348-F67681BA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Laplaciano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660E43F-91CC-07A2-744E-DE7AE989F8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C0E4BE7-3507-02C2-91D7-48ADA772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580" y="1925629"/>
            <a:ext cx="8686040" cy="502583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Exemplo de aplicação do realce da imagem, utilizando o filtro laplaciano:</a:t>
            </a:r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11F7454D-90E7-B297-C895-D1F96ED911A9}"/>
              </a:ext>
            </a:extLst>
          </p:cNvPr>
          <p:cNvGrpSpPr/>
          <p:nvPr/>
        </p:nvGrpSpPr>
        <p:grpSpPr>
          <a:xfrm>
            <a:off x="489399" y="2458105"/>
            <a:ext cx="11213201" cy="2826016"/>
            <a:chOff x="212739" y="3213529"/>
            <a:chExt cx="10444477" cy="2694896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33BAAF15-C91E-633D-8E40-7F6C2D711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9881"/>
            <a:stretch>
              <a:fillRect/>
            </a:stretch>
          </p:blipFill>
          <p:spPr>
            <a:xfrm>
              <a:off x="4859418" y="3213529"/>
              <a:ext cx="5797798" cy="2694895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716F2007-E523-6634-747E-662B3F3AD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164" r="164" b="49881"/>
            <a:stretch>
              <a:fillRect/>
            </a:stretch>
          </p:blipFill>
          <p:spPr>
            <a:xfrm>
              <a:off x="212739" y="3213530"/>
              <a:ext cx="5797798" cy="2694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64267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3047</TotalTime>
  <Words>995</Words>
  <Application>Microsoft Office PowerPoint</Application>
  <PresentationFormat>Widescreen</PresentationFormat>
  <Paragraphs>145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6 – Filtros de realce</vt:lpstr>
      <vt:lpstr>Realce de Imagens</vt:lpstr>
      <vt:lpstr>Realce de Imagens</vt:lpstr>
      <vt:lpstr>Realce de Imagens</vt:lpstr>
      <vt:lpstr>Fundamento Matemático</vt:lpstr>
      <vt:lpstr>Fundamento Matemático</vt:lpstr>
      <vt:lpstr>Unsharpening Mask</vt:lpstr>
      <vt:lpstr>Unsharpening Mask</vt:lpstr>
      <vt:lpstr>Unsharpening Mask</vt:lpstr>
      <vt:lpstr>Filtro Laplaciano</vt:lpstr>
      <vt:lpstr>Filtro Laplaciano</vt:lpstr>
      <vt:lpstr>Exemplo do Laplaciano</vt:lpstr>
      <vt:lpstr>Filtro Laplaciano</vt:lpstr>
      <vt:lpstr>Filtro Laplaciano</vt:lpstr>
      <vt:lpstr>Filtro Laplaciano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176</cp:revision>
  <dcterms:created xsi:type="dcterms:W3CDTF">2026-07-26T12:48:37Z</dcterms:created>
  <dcterms:modified xsi:type="dcterms:W3CDTF">2026-10-21T20:06:59Z</dcterms:modified>
</cp:coreProperties>
</file>