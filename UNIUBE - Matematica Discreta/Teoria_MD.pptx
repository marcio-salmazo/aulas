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39"/>
  </p:notesMasterIdLst>
  <p:sldIdLst>
    <p:sldId id="280" r:id="rId3"/>
    <p:sldId id="277" r:id="rId4"/>
    <p:sldId id="278" r:id="rId5"/>
    <p:sldId id="279" r:id="rId6"/>
    <p:sldId id="256" r:id="rId7"/>
    <p:sldId id="287" r:id="rId8"/>
    <p:sldId id="288" r:id="rId9"/>
    <p:sldId id="289" r:id="rId10"/>
    <p:sldId id="290" r:id="rId11"/>
    <p:sldId id="293" r:id="rId12"/>
    <p:sldId id="291" r:id="rId13"/>
    <p:sldId id="292" r:id="rId14"/>
    <p:sldId id="314" r:id="rId15"/>
    <p:sldId id="294" r:id="rId16"/>
    <p:sldId id="296" r:id="rId17"/>
    <p:sldId id="297" r:id="rId18"/>
    <p:sldId id="298" r:id="rId19"/>
    <p:sldId id="299" r:id="rId20"/>
    <p:sldId id="300" r:id="rId21"/>
    <p:sldId id="301" r:id="rId22"/>
    <p:sldId id="302" r:id="rId23"/>
    <p:sldId id="303" r:id="rId24"/>
    <p:sldId id="304" r:id="rId25"/>
    <p:sldId id="305" r:id="rId26"/>
    <p:sldId id="307" r:id="rId27"/>
    <p:sldId id="306" r:id="rId28"/>
    <p:sldId id="308" r:id="rId29"/>
    <p:sldId id="309" r:id="rId30"/>
    <p:sldId id="310" r:id="rId31"/>
    <p:sldId id="311" r:id="rId32"/>
    <p:sldId id="313" r:id="rId33"/>
    <p:sldId id="312" r:id="rId34"/>
    <p:sldId id="316" r:id="rId35"/>
    <p:sldId id="317" r:id="rId36"/>
    <p:sldId id="319" r:id="rId37"/>
    <p:sldId id="320" r:id="rId3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A537"/>
    <a:srgbClr val="FFFFFF"/>
    <a:srgbClr val="C0504D"/>
    <a:srgbClr val="418A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9" autoAdjust="0"/>
    <p:restoredTop sz="77515" autoAdjust="0"/>
  </p:normalViewPr>
  <p:slideViewPr>
    <p:cSldViewPr snapToGrid="0">
      <p:cViewPr varScale="1">
        <p:scale>
          <a:sx n="88" d="100"/>
          <a:sy n="88" d="100"/>
        </p:scale>
        <p:origin x="1416" y="84"/>
      </p:cViewPr>
      <p:guideLst/>
    </p:cSldViewPr>
  </p:slideViewPr>
  <p:outlineViewPr>
    <p:cViewPr>
      <p:scale>
        <a:sx n="33" d="100"/>
        <a:sy n="33" d="100"/>
      </p:scale>
      <p:origin x="0" y="-17130"/>
    </p:cViewPr>
  </p:outlineViewPr>
  <p:notesTextViewPr>
    <p:cViewPr>
      <p:scale>
        <a:sx n="1" d="1"/>
        <a:sy n="1" d="1"/>
      </p:scale>
      <p:origin x="0" y="0"/>
    </p:cViewPr>
  </p:notesTextViewPr>
  <p:sorterViewPr>
    <p:cViewPr>
      <p:scale>
        <a:sx n="100" d="100"/>
        <a:sy n="100" d="100"/>
      </p:scale>
      <p:origin x="0" y="-62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D03497-8374-466E-85FA-95E1138D8F6E}" type="datetimeFigureOut">
              <a:rPr lang="pt-BR" smtClean="0"/>
              <a:t>04/08/2026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F36A49-A1DD-40F8-B8AD-E6F5365256CB}" type="slidenum">
              <a:rPr lang="pt-BR" smtClean="0"/>
              <a:t>‹nº›</a:t>
            </a:fld>
            <a:endParaRPr lang="pt-BR"/>
          </a:p>
        </p:txBody>
      </p:sp>
    </p:spTree>
    <p:extLst>
      <p:ext uri="{BB962C8B-B14F-4D97-AF65-F5344CB8AC3E}">
        <p14:creationId xmlns:p14="http://schemas.microsoft.com/office/powerpoint/2010/main" val="507028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8C351-DFF9-9BB4-C595-CB3EC6ABF77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75BF112-E657-0452-8596-E92EF34F205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A91002F-A59D-1347-CCEF-5C5F7BF2BE0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75A6B88-6AEB-E6CD-2753-B1DA2A27C823}"/>
              </a:ext>
            </a:extLst>
          </p:cNvPr>
          <p:cNvSpPr>
            <a:spLocks noGrp="1"/>
          </p:cNvSpPr>
          <p:nvPr>
            <p:ph type="sldNum" sz="quarter" idx="5"/>
          </p:nvPr>
        </p:nvSpPr>
        <p:spPr/>
        <p:txBody>
          <a:bodyPr/>
          <a:lstStyle/>
          <a:p>
            <a:fld id="{80F36A49-A1DD-40F8-B8AD-E6F5365256CB}" type="slidenum">
              <a:rPr lang="pt-BR" smtClean="0"/>
              <a:t>1</a:t>
            </a:fld>
            <a:endParaRPr lang="pt-BR"/>
          </a:p>
        </p:txBody>
      </p:sp>
    </p:spTree>
    <p:extLst>
      <p:ext uri="{BB962C8B-B14F-4D97-AF65-F5344CB8AC3E}">
        <p14:creationId xmlns:p14="http://schemas.microsoft.com/office/powerpoint/2010/main" val="3105491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A7B2A-BF0C-6DE5-D7D4-EB437BE824F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4C9A454-78DF-0441-D12F-F57B1DCF91A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BADED7D-9228-27C3-F085-8AD77D99378C}"/>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8F76711-7864-16B2-2D1A-140BF30DEF2B}"/>
              </a:ext>
            </a:extLst>
          </p:cNvPr>
          <p:cNvSpPr>
            <a:spLocks noGrp="1"/>
          </p:cNvSpPr>
          <p:nvPr>
            <p:ph type="sldNum" sz="quarter" idx="5"/>
          </p:nvPr>
        </p:nvSpPr>
        <p:spPr/>
        <p:txBody>
          <a:bodyPr/>
          <a:lstStyle/>
          <a:p>
            <a:fld id="{80F36A49-A1DD-40F8-B8AD-E6F5365256CB}" type="slidenum">
              <a:rPr lang="pt-BR" smtClean="0"/>
              <a:t>2</a:t>
            </a:fld>
            <a:endParaRPr lang="pt-BR"/>
          </a:p>
        </p:txBody>
      </p:sp>
    </p:spTree>
    <p:extLst>
      <p:ext uri="{BB962C8B-B14F-4D97-AF65-F5344CB8AC3E}">
        <p14:creationId xmlns:p14="http://schemas.microsoft.com/office/powerpoint/2010/main" val="2135703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2EBE6-8028-CFB1-9724-36EFE5A09A2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069B76E-CD7C-F176-E30C-1FF6CBC78BC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DF1F636-8DE6-4496-60E4-309D236B156D}"/>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BE5E1AEC-CF40-C324-4374-28168748E2DF}"/>
              </a:ext>
            </a:extLst>
          </p:cNvPr>
          <p:cNvSpPr>
            <a:spLocks noGrp="1"/>
          </p:cNvSpPr>
          <p:nvPr>
            <p:ph type="sldNum" sz="quarter" idx="5"/>
          </p:nvPr>
        </p:nvSpPr>
        <p:spPr/>
        <p:txBody>
          <a:bodyPr/>
          <a:lstStyle/>
          <a:p>
            <a:fld id="{80F36A49-A1DD-40F8-B8AD-E6F5365256CB}" type="slidenum">
              <a:rPr lang="pt-BR" smtClean="0"/>
              <a:t>3</a:t>
            </a:fld>
            <a:endParaRPr lang="pt-BR"/>
          </a:p>
        </p:txBody>
      </p:sp>
    </p:spTree>
    <p:extLst>
      <p:ext uri="{BB962C8B-B14F-4D97-AF65-F5344CB8AC3E}">
        <p14:creationId xmlns:p14="http://schemas.microsoft.com/office/powerpoint/2010/main" val="3172261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84A9F-4876-629F-891A-6D247B74D52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7E3B4A7-5916-5A37-F86B-2CA224A7B4B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0CF73BD-08A0-6C5A-90F2-844EAE0788E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FF1830E-CA2A-22E0-725D-2C8E1FF19F16}"/>
              </a:ext>
            </a:extLst>
          </p:cNvPr>
          <p:cNvSpPr>
            <a:spLocks noGrp="1"/>
          </p:cNvSpPr>
          <p:nvPr>
            <p:ph type="sldNum" sz="quarter" idx="5"/>
          </p:nvPr>
        </p:nvSpPr>
        <p:spPr/>
        <p:txBody>
          <a:bodyPr/>
          <a:lstStyle/>
          <a:p>
            <a:fld id="{80F36A49-A1DD-40F8-B8AD-E6F5365256CB}" type="slidenum">
              <a:rPr lang="pt-BR" smtClean="0"/>
              <a:t>4</a:t>
            </a:fld>
            <a:endParaRPr lang="pt-BR"/>
          </a:p>
        </p:txBody>
      </p:sp>
    </p:spTree>
    <p:extLst>
      <p:ext uri="{BB962C8B-B14F-4D97-AF65-F5344CB8AC3E}">
        <p14:creationId xmlns:p14="http://schemas.microsoft.com/office/powerpoint/2010/main" val="370703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0F36A49-A1DD-40F8-B8AD-E6F5365256CB}" type="slidenum">
              <a:rPr lang="pt-BR" smtClean="0"/>
              <a:t>5</a:t>
            </a:fld>
            <a:endParaRPr lang="pt-BR"/>
          </a:p>
        </p:txBody>
      </p:sp>
    </p:spTree>
    <p:extLst>
      <p:ext uri="{BB962C8B-B14F-4D97-AF65-F5344CB8AC3E}">
        <p14:creationId xmlns:p14="http://schemas.microsoft.com/office/powerpoint/2010/main" val="1106096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BDFA8-F094-9115-7AB3-F8B0A6836C6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F7089E9-8ECE-FAC8-C0B6-E185528B5DF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BEB7E30-F2BE-5AE2-7258-6651C3AB97B6}"/>
              </a:ext>
            </a:extLst>
          </p:cNvPr>
          <p:cNvSpPr>
            <a:spLocks noGrp="1"/>
          </p:cNvSpPr>
          <p:nvPr>
            <p:ph type="body" idx="1"/>
          </p:nvPr>
        </p:nvSpPr>
        <p:spPr/>
        <p:txBody>
          <a:bodyPr/>
          <a:lstStyle/>
          <a:p>
            <a:pPr marL="0" indent="0">
              <a:buFontTx/>
              <a:buNone/>
            </a:pPr>
            <a:r>
              <a:rPr lang="pt-BR" b="0" dirty="0"/>
              <a:t>- A matemática contínua aparece em fenômenos que variam continuamente (ex. Temperatura, pressão, calculo, </a:t>
            </a:r>
            <a:r>
              <a:rPr lang="pt-BR" b="0" dirty="0" err="1"/>
              <a:t>etc</a:t>
            </a:r>
            <a:r>
              <a:rPr lang="pt-BR" b="0" dirty="0"/>
              <a:t>).</a:t>
            </a:r>
          </a:p>
          <a:p>
            <a:r>
              <a:rPr lang="pt-BR" dirty="0"/>
              <a:t>- </a:t>
            </a:r>
            <a:r>
              <a:rPr lang="pt-BR" b="0" dirty="0"/>
              <a:t>A matemática discreta aparece em elementos com um espaçamento bem definido</a:t>
            </a:r>
            <a:endParaRPr lang="pt-BR" dirty="0"/>
          </a:p>
        </p:txBody>
      </p:sp>
      <p:sp>
        <p:nvSpPr>
          <p:cNvPr id="4" name="Espaço Reservado para Número de Slide 3">
            <a:extLst>
              <a:ext uri="{FF2B5EF4-FFF2-40B4-BE49-F238E27FC236}">
                <a16:creationId xmlns:a16="http://schemas.microsoft.com/office/drawing/2014/main" id="{F08735FE-8F9C-A971-8DB6-ECF7C642696A}"/>
              </a:ext>
            </a:extLst>
          </p:cNvPr>
          <p:cNvSpPr>
            <a:spLocks noGrp="1"/>
          </p:cNvSpPr>
          <p:nvPr>
            <p:ph type="sldNum" sz="quarter" idx="5"/>
          </p:nvPr>
        </p:nvSpPr>
        <p:spPr/>
        <p:txBody>
          <a:bodyPr/>
          <a:lstStyle/>
          <a:p>
            <a:fld id="{80F36A49-A1DD-40F8-B8AD-E6F5365256CB}" type="slidenum">
              <a:rPr lang="pt-BR" smtClean="0"/>
              <a:t>6</a:t>
            </a:fld>
            <a:endParaRPr lang="pt-BR"/>
          </a:p>
        </p:txBody>
      </p:sp>
    </p:spTree>
    <p:extLst>
      <p:ext uri="{BB962C8B-B14F-4D97-AF65-F5344CB8AC3E}">
        <p14:creationId xmlns:p14="http://schemas.microsoft.com/office/powerpoint/2010/main" val="2248446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A2C3-941E-281A-6329-36EE9CEA182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B3E0AD0-AF2D-E13D-D350-DF71DD960AE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36A266E-5423-4F08-57E8-6674E0D842A7}"/>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47AAFBF7-EDBF-2ADB-B1B2-F4692C8B02D9}"/>
              </a:ext>
            </a:extLst>
          </p:cNvPr>
          <p:cNvSpPr>
            <a:spLocks noGrp="1"/>
          </p:cNvSpPr>
          <p:nvPr>
            <p:ph type="sldNum" sz="quarter" idx="5"/>
          </p:nvPr>
        </p:nvSpPr>
        <p:spPr/>
        <p:txBody>
          <a:bodyPr/>
          <a:lstStyle/>
          <a:p>
            <a:fld id="{80F36A49-A1DD-40F8-B8AD-E6F5365256CB}" type="slidenum">
              <a:rPr lang="pt-BR" smtClean="0"/>
              <a:t>7</a:t>
            </a:fld>
            <a:endParaRPr lang="pt-BR"/>
          </a:p>
        </p:txBody>
      </p:sp>
    </p:spTree>
    <p:extLst>
      <p:ext uri="{BB962C8B-B14F-4D97-AF65-F5344CB8AC3E}">
        <p14:creationId xmlns:p14="http://schemas.microsoft.com/office/powerpoint/2010/main" val="2942765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D59D2-5C33-D865-70A5-FAC23978992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A13D109-1CDB-70C5-943F-E099B6FF031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60B71ED-2F7B-AA22-F961-B16548C9ACBC}"/>
              </a:ext>
            </a:extLst>
          </p:cNvPr>
          <p:cNvSpPr>
            <a:spLocks noGrp="1"/>
          </p:cNvSpPr>
          <p:nvPr>
            <p:ph type="body" idx="1"/>
          </p:nvPr>
        </p:nvSpPr>
        <p:spPr/>
        <p:txBody>
          <a:bodyPr/>
          <a:lstStyle/>
          <a:p>
            <a:r>
              <a:rPr lang="pt-BR" sz="2400" b="1" dirty="0"/>
              <a:t>Quase toda a Computação é construída sobre objetos discretos.</a:t>
            </a:r>
          </a:p>
          <a:p>
            <a:endParaRPr lang="pt-BR" sz="1800" b="1" dirty="0"/>
          </a:p>
          <a:p>
            <a:pPr marL="285750" lvl="0" indent="-285750">
              <a:buFont typeface="Arial" panose="020B0604020202020204" pitchFamily="34" charset="0"/>
              <a:buChar char="•"/>
            </a:pPr>
            <a:r>
              <a:rPr lang="pt-BR" sz="1800" b="0" dirty="0"/>
              <a:t>Bits</a:t>
            </a:r>
          </a:p>
          <a:p>
            <a:pPr marL="285750" lvl="0" indent="-285750">
              <a:buFont typeface="Arial" panose="020B0604020202020204" pitchFamily="34" charset="0"/>
              <a:buChar char="•"/>
            </a:pPr>
            <a:r>
              <a:rPr lang="pt-BR" sz="1800" b="0" dirty="0"/>
              <a:t>Conjuntos</a:t>
            </a:r>
          </a:p>
          <a:p>
            <a:pPr marL="285750" lvl="0" indent="-285750">
              <a:buFont typeface="Arial" panose="020B0604020202020204" pitchFamily="34" charset="0"/>
              <a:buChar char="•"/>
            </a:pPr>
            <a:r>
              <a:rPr lang="pt-BR" sz="1800" b="0" dirty="0"/>
              <a:t>Grafos</a:t>
            </a:r>
          </a:p>
          <a:p>
            <a:pPr marL="285750" lvl="0" indent="-285750">
              <a:buFont typeface="Arial" panose="020B0604020202020204" pitchFamily="34" charset="0"/>
              <a:buChar char="•"/>
            </a:pPr>
            <a:r>
              <a:rPr lang="pt-BR" sz="1800" b="0" dirty="0"/>
              <a:t>Árvores</a:t>
            </a:r>
          </a:p>
          <a:p>
            <a:pPr marL="285750" lvl="0" indent="-285750">
              <a:buFont typeface="Arial" panose="020B0604020202020204" pitchFamily="34" charset="0"/>
              <a:buChar char="•"/>
            </a:pPr>
            <a:r>
              <a:rPr lang="pt-BR" sz="1800" b="0" dirty="0"/>
              <a:t>Lógica proposicional</a:t>
            </a:r>
          </a:p>
          <a:p>
            <a:pPr marL="0" lvl="0" indent="0">
              <a:buFont typeface="Arial" panose="020B0604020202020204" pitchFamily="34" charset="0"/>
              <a:buNone/>
            </a:pPr>
            <a:endParaRPr lang="pt-BR" sz="1800" b="0" dirty="0"/>
          </a:p>
          <a:p>
            <a:pPr marL="0" indent="0">
              <a:buFontTx/>
              <a:buNone/>
            </a:pPr>
            <a:r>
              <a:rPr lang="pt-BR" dirty="0"/>
              <a:t>Todos esses objetos possuem estruturas discretas.</a:t>
            </a:r>
          </a:p>
          <a:p>
            <a:pPr marL="0" indent="0">
              <a:buFontTx/>
              <a:buNone/>
            </a:pPr>
            <a:r>
              <a:rPr lang="pt-BR" b="0" dirty="0"/>
              <a:t>Entender eles, nos dá a base da computação.</a:t>
            </a:r>
          </a:p>
        </p:txBody>
      </p:sp>
      <p:sp>
        <p:nvSpPr>
          <p:cNvPr id="4" name="Espaço Reservado para Número de Slide 3">
            <a:extLst>
              <a:ext uri="{FF2B5EF4-FFF2-40B4-BE49-F238E27FC236}">
                <a16:creationId xmlns:a16="http://schemas.microsoft.com/office/drawing/2014/main" id="{1F9E41C7-C441-46ED-066A-8967EE2E1A93}"/>
              </a:ext>
            </a:extLst>
          </p:cNvPr>
          <p:cNvSpPr>
            <a:spLocks noGrp="1"/>
          </p:cNvSpPr>
          <p:nvPr>
            <p:ph type="sldNum" sz="quarter" idx="5"/>
          </p:nvPr>
        </p:nvSpPr>
        <p:spPr/>
        <p:txBody>
          <a:bodyPr/>
          <a:lstStyle/>
          <a:p>
            <a:fld id="{80F36A49-A1DD-40F8-B8AD-E6F5365256CB}" type="slidenum">
              <a:rPr lang="pt-BR" smtClean="0"/>
              <a:t>8</a:t>
            </a:fld>
            <a:endParaRPr lang="pt-BR"/>
          </a:p>
        </p:txBody>
      </p:sp>
    </p:spTree>
    <p:extLst>
      <p:ext uri="{BB962C8B-B14F-4D97-AF65-F5344CB8AC3E}">
        <p14:creationId xmlns:p14="http://schemas.microsoft.com/office/powerpoint/2010/main" val="332196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46A82-DCE1-89B0-04D0-7B262E79780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E0F9A31-572A-A6D4-BF32-7D629D70D55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E250E03-00F6-84F4-F42F-9995E1B708AA}"/>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70E44CB4-D350-3075-B017-A884028A956B}"/>
              </a:ext>
            </a:extLst>
          </p:cNvPr>
          <p:cNvSpPr>
            <a:spLocks noGrp="1"/>
          </p:cNvSpPr>
          <p:nvPr>
            <p:ph type="sldNum" sz="quarter" idx="5"/>
          </p:nvPr>
        </p:nvSpPr>
        <p:spPr/>
        <p:txBody>
          <a:bodyPr/>
          <a:lstStyle/>
          <a:p>
            <a:fld id="{80F36A49-A1DD-40F8-B8AD-E6F5365256CB}" type="slidenum">
              <a:rPr lang="pt-BR" smtClean="0"/>
              <a:t>9</a:t>
            </a:fld>
            <a:endParaRPr lang="pt-BR"/>
          </a:p>
        </p:txBody>
      </p:sp>
    </p:spTree>
    <p:extLst>
      <p:ext uri="{BB962C8B-B14F-4D97-AF65-F5344CB8AC3E}">
        <p14:creationId xmlns:p14="http://schemas.microsoft.com/office/powerpoint/2010/main" val="3440517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17E8D-B340-B8DB-85B0-FB9879D8804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C7F1652-8920-CADF-09D4-60EDAC2A170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3A860EA-E018-B9F0-F843-BF287ABBD034}"/>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D009FA3C-CA3D-6789-133F-2E5F5AB2B5FE}"/>
              </a:ext>
            </a:extLst>
          </p:cNvPr>
          <p:cNvSpPr>
            <a:spLocks noGrp="1"/>
          </p:cNvSpPr>
          <p:nvPr>
            <p:ph type="sldNum" sz="quarter" idx="5"/>
          </p:nvPr>
        </p:nvSpPr>
        <p:spPr/>
        <p:txBody>
          <a:bodyPr/>
          <a:lstStyle/>
          <a:p>
            <a:fld id="{80F36A49-A1DD-40F8-B8AD-E6F5365256CB}" type="slidenum">
              <a:rPr lang="pt-BR" smtClean="0"/>
              <a:t>10</a:t>
            </a:fld>
            <a:endParaRPr lang="pt-BR"/>
          </a:p>
        </p:txBody>
      </p:sp>
    </p:spTree>
    <p:extLst>
      <p:ext uri="{BB962C8B-B14F-4D97-AF65-F5344CB8AC3E}">
        <p14:creationId xmlns:p14="http://schemas.microsoft.com/office/powerpoint/2010/main" val="2732286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B0F3F-7E98-460A-84F3-E111DB07CA1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2D702EF-4AEE-80CB-18FE-CB76F3C1283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9752907-DF8F-A60B-D584-F7442249C5D3}"/>
              </a:ext>
            </a:extLst>
          </p:cNvPr>
          <p:cNvSpPr>
            <a:spLocks noGrp="1"/>
          </p:cNvSpPr>
          <p:nvPr>
            <p:ph type="body" idx="1"/>
          </p:nvPr>
        </p:nvSpPr>
        <p:spPr/>
        <p:txBody>
          <a:bodyPr/>
          <a:lstStyle/>
          <a:p>
            <a:pPr marL="0" indent="0">
              <a:buFontTx/>
              <a:buNone/>
            </a:pPr>
            <a:endParaRPr lang="pt-BR" dirty="0"/>
          </a:p>
        </p:txBody>
      </p:sp>
      <p:sp>
        <p:nvSpPr>
          <p:cNvPr id="4" name="Espaço Reservado para Número de Slide 3">
            <a:extLst>
              <a:ext uri="{FF2B5EF4-FFF2-40B4-BE49-F238E27FC236}">
                <a16:creationId xmlns:a16="http://schemas.microsoft.com/office/drawing/2014/main" id="{D5DEF4CE-7D9E-C6DC-F428-956DF2986540}"/>
              </a:ext>
            </a:extLst>
          </p:cNvPr>
          <p:cNvSpPr>
            <a:spLocks noGrp="1"/>
          </p:cNvSpPr>
          <p:nvPr>
            <p:ph type="sldNum" sz="quarter" idx="5"/>
          </p:nvPr>
        </p:nvSpPr>
        <p:spPr/>
        <p:txBody>
          <a:bodyPr/>
          <a:lstStyle/>
          <a:p>
            <a:fld id="{80F36A49-A1DD-40F8-B8AD-E6F5365256CB}" type="slidenum">
              <a:rPr lang="pt-BR" smtClean="0"/>
              <a:t>11</a:t>
            </a:fld>
            <a:endParaRPr lang="pt-BR"/>
          </a:p>
        </p:txBody>
      </p:sp>
    </p:spTree>
    <p:extLst>
      <p:ext uri="{BB962C8B-B14F-4D97-AF65-F5344CB8AC3E}">
        <p14:creationId xmlns:p14="http://schemas.microsoft.com/office/powerpoint/2010/main" val="1977083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FD696-FB1E-93A1-E055-6B17655F8AF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2EF56BC-4719-26F0-35C5-F192E76250A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201AB85-920E-8820-6A6C-E9BB9D78EF04}"/>
              </a:ext>
            </a:extLst>
          </p:cNvPr>
          <p:cNvSpPr>
            <a:spLocks noGrp="1"/>
          </p:cNvSpPr>
          <p:nvPr>
            <p:ph type="body" idx="1"/>
          </p:nvPr>
        </p:nvSpPr>
        <p:spPr/>
        <p:txBody>
          <a:bodyPr/>
          <a:lstStyle/>
          <a:p>
            <a:pPr marL="0" indent="0">
              <a:buFontTx/>
              <a:buNone/>
            </a:pPr>
            <a:r>
              <a:rPr lang="pt-BR" b="1" dirty="0"/>
              <a:t>Sim e Não também são valores discretos</a:t>
            </a:r>
          </a:p>
          <a:p>
            <a:pPr marL="171450" indent="-171450">
              <a:buFont typeface="Arial" panose="020B0604020202020204" pitchFamily="34" charset="0"/>
              <a:buChar char="•"/>
            </a:pPr>
            <a:endParaRPr lang="pt-BR" b="1" dirty="0"/>
          </a:p>
          <a:p>
            <a:pPr marL="171450" indent="-171450">
              <a:buFont typeface="Arial" panose="020B0604020202020204" pitchFamily="34" charset="0"/>
              <a:buChar char="•"/>
            </a:pPr>
            <a:r>
              <a:rPr lang="pt-BR" b="0" dirty="0"/>
              <a:t>Assim como um bit possui apenas dois estados, uma decisão também possui apenas dois estados.</a:t>
            </a:r>
            <a:endParaRPr lang="pt-BR" sz="1200" b="0" kern="1200" dirty="0">
              <a:solidFill>
                <a:schemeClr val="tx1"/>
              </a:solidFill>
              <a:latin typeface="+mn-lt"/>
              <a:ea typeface="+mn-ea"/>
              <a:cs typeface="+mn-cs"/>
            </a:endParaRPr>
          </a:p>
          <a:p>
            <a:pPr marL="0" indent="0">
              <a:buFontTx/>
              <a:buNone/>
            </a:pPr>
            <a:endParaRPr lang="pt-BR" b="0" dirty="0"/>
          </a:p>
        </p:txBody>
      </p:sp>
      <p:sp>
        <p:nvSpPr>
          <p:cNvPr id="4" name="Espaço Reservado para Número de Slide 3">
            <a:extLst>
              <a:ext uri="{FF2B5EF4-FFF2-40B4-BE49-F238E27FC236}">
                <a16:creationId xmlns:a16="http://schemas.microsoft.com/office/drawing/2014/main" id="{8D32E076-18D2-ED65-706E-B130B1F8F754}"/>
              </a:ext>
            </a:extLst>
          </p:cNvPr>
          <p:cNvSpPr>
            <a:spLocks noGrp="1"/>
          </p:cNvSpPr>
          <p:nvPr>
            <p:ph type="sldNum" sz="quarter" idx="5"/>
          </p:nvPr>
        </p:nvSpPr>
        <p:spPr/>
        <p:txBody>
          <a:bodyPr/>
          <a:lstStyle/>
          <a:p>
            <a:fld id="{80F36A49-A1DD-40F8-B8AD-E6F5365256CB}" type="slidenum">
              <a:rPr lang="pt-BR" smtClean="0"/>
              <a:t>12</a:t>
            </a:fld>
            <a:endParaRPr lang="pt-BR"/>
          </a:p>
        </p:txBody>
      </p:sp>
    </p:spTree>
    <p:extLst>
      <p:ext uri="{BB962C8B-B14F-4D97-AF65-F5344CB8AC3E}">
        <p14:creationId xmlns:p14="http://schemas.microsoft.com/office/powerpoint/2010/main" val="2005082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12B0D-EC00-4939-6AD3-0DDE8A341E8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A67D953-E001-2DBE-80AC-03165CEABCA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37C74A3-FB00-9F32-924D-88CE3D02AD2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1B7948C-8BDF-A9E0-DFB4-663C2A249D3B}"/>
              </a:ext>
            </a:extLst>
          </p:cNvPr>
          <p:cNvSpPr>
            <a:spLocks noGrp="1"/>
          </p:cNvSpPr>
          <p:nvPr>
            <p:ph type="sldNum" sz="quarter" idx="5"/>
          </p:nvPr>
        </p:nvSpPr>
        <p:spPr/>
        <p:txBody>
          <a:bodyPr/>
          <a:lstStyle/>
          <a:p>
            <a:fld id="{80F36A49-A1DD-40F8-B8AD-E6F5365256CB}" type="slidenum">
              <a:rPr lang="pt-BR" smtClean="0"/>
              <a:t>13</a:t>
            </a:fld>
            <a:endParaRPr lang="pt-BR"/>
          </a:p>
        </p:txBody>
      </p:sp>
    </p:spTree>
    <p:extLst>
      <p:ext uri="{BB962C8B-B14F-4D97-AF65-F5344CB8AC3E}">
        <p14:creationId xmlns:p14="http://schemas.microsoft.com/office/powerpoint/2010/main" val="3426874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43978-9C5E-CED3-5A9A-E7E8964AF56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7ECC452-E638-C59F-9220-C1EEB906E3F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44EE923-BA27-93D5-B4BA-235D6F517426}"/>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6453CFC5-F8B7-8132-2FD5-2B4C85725F2D}"/>
              </a:ext>
            </a:extLst>
          </p:cNvPr>
          <p:cNvSpPr>
            <a:spLocks noGrp="1"/>
          </p:cNvSpPr>
          <p:nvPr>
            <p:ph type="sldNum" sz="quarter" idx="5"/>
          </p:nvPr>
        </p:nvSpPr>
        <p:spPr/>
        <p:txBody>
          <a:bodyPr/>
          <a:lstStyle/>
          <a:p>
            <a:fld id="{80F36A49-A1DD-40F8-B8AD-E6F5365256CB}" type="slidenum">
              <a:rPr lang="pt-BR" smtClean="0"/>
              <a:t>14</a:t>
            </a:fld>
            <a:endParaRPr lang="pt-BR"/>
          </a:p>
        </p:txBody>
      </p:sp>
    </p:spTree>
    <p:extLst>
      <p:ext uri="{BB962C8B-B14F-4D97-AF65-F5344CB8AC3E}">
        <p14:creationId xmlns:p14="http://schemas.microsoft.com/office/powerpoint/2010/main" val="3906880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AD38-36B1-3AE9-53A8-C1D4875F46F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57D445D-4CB6-2DA8-F260-EF3963D527F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0F15396-F0B9-D2E5-2A3F-13F1717A9DD3}"/>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178B3083-6380-32FC-4BCB-F38D11A7C66E}"/>
              </a:ext>
            </a:extLst>
          </p:cNvPr>
          <p:cNvSpPr>
            <a:spLocks noGrp="1"/>
          </p:cNvSpPr>
          <p:nvPr>
            <p:ph type="sldNum" sz="quarter" idx="5"/>
          </p:nvPr>
        </p:nvSpPr>
        <p:spPr/>
        <p:txBody>
          <a:bodyPr/>
          <a:lstStyle/>
          <a:p>
            <a:fld id="{80F36A49-A1DD-40F8-B8AD-E6F5365256CB}" type="slidenum">
              <a:rPr lang="pt-BR" smtClean="0"/>
              <a:t>15</a:t>
            </a:fld>
            <a:endParaRPr lang="pt-BR"/>
          </a:p>
        </p:txBody>
      </p:sp>
    </p:spTree>
    <p:extLst>
      <p:ext uri="{BB962C8B-B14F-4D97-AF65-F5344CB8AC3E}">
        <p14:creationId xmlns:p14="http://schemas.microsoft.com/office/powerpoint/2010/main" val="4077920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DD62B-8624-6E8B-4952-701DC6D2ED8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1BD37BF-67CC-9802-656D-D3A35EDC135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606E8A9-1408-5BE9-8960-A0C68AFABA97}"/>
              </a:ext>
            </a:extLst>
          </p:cNvPr>
          <p:cNvSpPr>
            <a:spLocks noGrp="1"/>
          </p:cNvSpPr>
          <p:nvPr>
            <p:ph type="body" idx="1"/>
          </p:nvPr>
        </p:nvSpPr>
        <p:spPr/>
        <p:txBody>
          <a:bodyPr/>
          <a:lstStyle/>
          <a:p>
            <a:pPr marL="0" indent="0">
              <a:buFontTx/>
              <a:buNone/>
            </a:pPr>
            <a:r>
              <a:rPr lang="pt-BR" b="0" dirty="0"/>
              <a:t>Citar também os princípios básicos:</a:t>
            </a:r>
          </a:p>
          <a:p>
            <a:pPr marL="0" indent="0">
              <a:buFontTx/>
              <a:buNone/>
            </a:pPr>
            <a:endParaRPr lang="pt-BR" b="0" dirty="0"/>
          </a:p>
          <a:p>
            <a:r>
              <a:rPr lang="pt-BR" sz="1200" b="1" kern="1200" dirty="0">
                <a:solidFill>
                  <a:schemeClr val="tx1"/>
                </a:solidFill>
                <a:effectLst/>
                <a:latin typeface="+mn-lt"/>
                <a:ea typeface="+mn-ea"/>
                <a:cs typeface="+mn-cs"/>
              </a:rPr>
              <a:t>Princípio da Não Contradição:</a:t>
            </a:r>
            <a:r>
              <a:rPr lang="pt-BR" sz="1200" b="0" kern="1200" dirty="0">
                <a:solidFill>
                  <a:schemeClr val="tx1"/>
                </a:solidFill>
                <a:effectLst/>
                <a:latin typeface="+mn-lt"/>
                <a:ea typeface="+mn-ea"/>
                <a:cs typeface="+mn-cs"/>
              </a:rPr>
              <a:t> Uma proposição não pode ser verdadeira e falsa ao mesmo tempo.</a:t>
            </a:r>
          </a:p>
          <a:p>
            <a:r>
              <a:rPr lang="pt-BR" sz="1200" b="1" kern="1200" dirty="0">
                <a:solidFill>
                  <a:schemeClr val="tx1"/>
                </a:solidFill>
                <a:effectLst/>
                <a:latin typeface="+mn-lt"/>
                <a:ea typeface="+mn-ea"/>
                <a:cs typeface="+mn-cs"/>
              </a:rPr>
              <a:t>Princípio do Terceiro Excluído:</a:t>
            </a:r>
            <a:r>
              <a:rPr lang="pt-BR" sz="1200" b="0" kern="1200" dirty="0">
                <a:solidFill>
                  <a:schemeClr val="tx1"/>
                </a:solidFill>
                <a:effectLst/>
                <a:latin typeface="+mn-lt"/>
                <a:ea typeface="+mn-ea"/>
                <a:cs typeface="+mn-cs"/>
              </a:rPr>
              <a:t> Toda proposição ou é verdadeira ou é falsa, não havendo uma terceira opção.</a:t>
            </a:r>
          </a:p>
          <a:p>
            <a:pPr marL="0" indent="0">
              <a:buFontTx/>
              <a:buNone/>
            </a:pPr>
            <a:endParaRPr lang="pt-BR" b="0" dirty="0"/>
          </a:p>
        </p:txBody>
      </p:sp>
      <p:sp>
        <p:nvSpPr>
          <p:cNvPr id="4" name="Espaço Reservado para Número de Slide 3">
            <a:extLst>
              <a:ext uri="{FF2B5EF4-FFF2-40B4-BE49-F238E27FC236}">
                <a16:creationId xmlns:a16="http://schemas.microsoft.com/office/drawing/2014/main" id="{B3D3DA0E-C75B-6321-D7D5-E7693E3A6ED8}"/>
              </a:ext>
            </a:extLst>
          </p:cNvPr>
          <p:cNvSpPr>
            <a:spLocks noGrp="1"/>
          </p:cNvSpPr>
          <p:nvPr>
            <p:ph type="sldNum" sz="quarter" idx="5"/>
          </p:nvPr>
        </p:nvSpPr>
        <p:spPr/>
        <p:txBody>
          <a:bodyPr/>
          <a:lstStyle/>
          <a:p>
            <a:fld id="{80F36A49-A1DD-40F8-B8AD-E6F5365256CB}" type="slidenum">
              <a:rPr lang="pt-BR" smtClean="0"/>
              <a:t>16</a:t>
            </a:fld>
            <a:endParaRPr lang="pt-BR"/>
          </a:p>
        </p:txBody>
      </p:sp>
    </p:spTree>
    <p:extLst>
      <p:ext uri="{BB962C8B-B14F-4D97-AF65-F5344CB8AC3E}">
        <p14:creationId xmlns:p14="http://schemas.microsoft.com/office/powerpoint/2010/main" val="32287880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1A10A-A2E5-291A-467D-6A193EE8F65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3D0B87F-7657-1CBB-59A9-AEB579C0FD6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69FA888-50F4-3BC6-848B-E5401A7D08AB}"/>
              </a:ext>
            </a:extLst>
          </p:cNvPr>
          <p:cNvSpPr>
            <a:spLocks noGrp="1"/>
          </p:cNvSpPr>
          <p:nvPr>
            <p:ph type="body" idx="1"/>
          </p:nvPr>
        </p:nvSpPr>
        <p:spPr/>
        <p:txBody>
          <a:bodyPr/>
          <a:lstStyle/>
          <a:p>
            <a:pPr marL="0" indent="0">
              <a:buFontTx/>
              <a:buNone/>
            </a:pPr>
            <a:r>
              <a:rPr lang="pt-BR" sz="1200" b="1" dirty="0"/>
              <a:t>Disjunção exclusiva: </a:t>
            </a:r>
            <a:r>
              <a:rPr lang="pt-BR" dirty="0"/>
              <a:t>Embora não faça parte dos conectivos fundamentais da lógica proposicional clássica, ele é muito utilizado em Computação.</a:t>
            </a:r>
            <a:endParaRPr lang="pt-BR" b="0" dirty="0"/>
          </a:p>
        </p:txBody>
      </p:sp>
      <p:sp>
        <p:nvSpPr>
          <p:cNvPr id="4" name="Espaço Reservado para Número de Slide 3">
            <a:extLst>
              <a:ext uri="{FF2B5EF4-FFF2-40B4-BE49-F238E27FC236}">
                <a16:creationId xmlns:a16="http://schemas.microsoft.com/office/drawing/2014/main" id="{665D941C-A48A-92B5-312C-D038C49DAD38}"/>
              </a:ext>
            </a:extLst>
          </p:cNvPr>
          <p:cNvSpPr>
            <a:spLocks noGrp="1"/>
          </p:cNvSpPr>
          <p:nvPr>
            <p:ph type="sldNum" sz="quarter" idx="5"/>
          </p:nvPr>
        </p:nvSpPr>
        <p:spPr/>
        <p:txBody>
          <a:bodyPr/>
          <a:lstStyle/>
          <a:p>
            <a:fld id="{80F36A49-A1DD-40F8-B8AD-E6F5365256CB}" type="slidenum">
              <a:rPr lang="pt-BR" smtClean="0"/>
              <a:t>17</a:t>
            </a:fld>
            <a:endParaRPr lang="pt-BR"/>
          </a:p>
        </p:txBody>
      </p:sp>
    </p:spTree>
    <p:extLst>
      <p:ext uri="{BB962C8B-B14F-4D97-AF65-F5344CB8AC3E}">
        <p14:creationId xmlns:p14="http://schemas.microsoft.com/office/powerpoint/2010/main" val="3963309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FEA64-B1BA-0555-EAB0-328FB9E3F35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8D8694C-AEE6-B69F-C3A8-E81ABD3C524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233EDED-26AE-6279-C4AF-827562928293}"/>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B912365D-5FA7-251F-6BCE-AF9BC5F42F88}"/>
              </a:ext>
            </a:extLst>
          </p:cNvPr>
          <p:cNvSpPr>
            <a:spLocks noGrp="1"/>
          </p:cNvSpPr>
          <p:nvPr>
            <p:ph type="sldNum" sz="quarter" idx="5"/>
          </p:nvPr>
        </p:nvSpPr>
        <p:spPr/>
        <p:txBody>
          <a:bodyPr/>
          <a:lstStyle/>
          <a:p>
            <a:fld id="{80F36A49-A1DD-40F8-B8AD-E6F5365256CB}" type="slidenum">
              <a:rPr lang="pt-BR" smtClean="0"/>
              <a:t>18</a:t>
            </a:fld>
            <a:endParaRPr lang="pt-BR"/>
          </a:p>
        </p:txBody>
      </p:sp>
    </p:spTree>
    <p:extLst>
      <p:ext uri="{BB962C8B-B14F-4D97-AF65-F5344CB8AC3E}">
        <p14:creationId xmlns:p14="http://schemas.microsoft.com/office/powerpoint/2010/main" val="3280893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A688B-B081-F4A2-9DA7-26B6A230FEE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77D21D7-9421-BD1E-7355-B033584B6CD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F0EA7C5-98D8-20EC-F116-2B2755C5D6C0}"/>
              </a:ext>
            </a:extLst>
          </p:cNvPr>
          <p:cNvSpPr>
            <a:spLocks noGrp="1"/>
          </p:cNvSpPr>
          <p:nvPr>
            <p:ph type="body" idx="1"/>
          </p:nvPr>
        </p:nvSpPr>
        <p:spPr/>
        <p:txBody>
          <a:bodyPr/>
          <a:lstStyle/>
          <a:p>
            <a:pPr marL="0" lvl="0" indent="0">
              <a:buFont typeface="Arial" panose="020B0604020202020204" pitchFamily="34" charset="0"/>
              <a:buNone/>
            </a:pPr>
            <a:endParaRPr lang="pt-BR" b="1" dirty="0"/>
          </a:p>
        </p:txBody>
      </p:sp>
      <p:sp>
        <p:nvSpPr>
          <p:cNvPr id="4" name="Espaço Reservado para Número de Slide 3">
            <a:extLst>
              <a:ext uri="{FF2B5EF4-FFF2-40B4-BE49-F238E27FC236}">
                <a16:creationId xmlns:a16="http://schemas.microsoft.com/office/drawing/2014/main" id="{1E770B7C-0B66-3AA6-2A0F-C76F501EFBE9}"/>
              </a:ext>
            </a:extLst>
          </p:cNvPr>
          <p:cNvSpPr>
            <a:spLocks noGrp="1"/>
          </p:cNvSpPr>
          <p:nvPr>
            <p:ph type="sldNum" sz="quarter" idx="5"/>
          </p:nvPr>
        </p:nvSpPr>
        <p:spPr/>
        <p:txBody>
          <a:bodyPr/>
          <a:lstStyle/>
          <a:p>
            <a:fld id="{80F36A49-A1DD-40F8-B8AD-E6F5365256CB}" type="slidenum">
              <a:rPr lang="pt-BR" smtClean="0"/>
              <a:t>19</a:t>
            </a:fld>
            <a:endParaRPr lang="pt-BR"/>
          </a:p>
        </p:txBody>
      </p:sp>
    </p:spTree>
    <p:extLst>
      <p:ext uri="{BB962C8B-B14F-4D97-AF65-F5344CB8AC3E}">
        <p14:creationId xmlns:p14="http://schemas.microsoft.com/office/powerpoint/2010/main" val="954107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CD384-657E-0037-2270-6F4E9F44BDE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435DD1D-07E9-A620-DEC3-F9D508142D8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C34AB1A-8508-02B1-0FAD-DA5BB993D59A}"/>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E7A99E9A-EC3A-942A-EF26-62A56C07451A}"/>
              </a:ext>
            </a:extLst>
          </p:cNvPr>
          <p:cNvSpPr>
            <a:spLocks noGrp="1"/>
          </p:cNvSpPr>
          <p:nvPr>
            <p:ph type="sldNum" sz="quarter" idx="5"/>
          </p:nvPr>
        </p:nvSpPr>
        <p:spPr/>
        <p:txBody>
          <a:bodyPr/>
          <a:lstStyle/>
          <a:p>
            <a:fld id="{80F36A49-A1DD-40F8-B8AD-E6F5365256CB}" type="slidenum">
              <a:rPr lang="pt-BR" smtClean="0"/>
              <a:t>20</a:t>
            </a:fld>
            <a:endParaRPr lang="pt-BR"/>
          </a:p>
        </p:txBody>
      </p:sp>
    </p:spTree>
    <p:extLst>
      <p:ext uri="{BB962C8B-B14F-4D97-AF65-F5344CB8AC3E}">
        <p14:creationId xmlns:p14="http://schemas.microsoft.com/office/powerpoint/2010/main" val="37067776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CA974-CE8F-2FED-C79D-05BF75A8645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C3C8F71-6239-0EF7-2F1F-623F194E11F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1389C8A-CC73-127F-E584-94EB49A9D6F1}"/>
              </a:ext>
            </a:extLst>
          </p:cNvPr>
          <p:cNvSpPr>
            <a:spLocks noGrp="1"/>
          </p:cNvSpPr>
          <p:nvPr>
            <p:ph type="body" idx="1"/>
          </p:nvPr>
        </p:nvSpPr>
        <p:spPr/>
        <p:txBody>
          <a:bodyPr/>
          <a:lstStyle/>
          <a:p>
            <a:pPr marL="0" lvl="0" indent="0">
              <a:buFont typeface="Arial" panose="020B0604020202020204" pitchFamily="34" charset="0"/>
              <a:buNone/>
            </a:pPr>
            <a:endParaRPr lang="pt-BR" b="1" dirty="0"/>
          </a:p>
        </p:txBody>
      </p:sp>
      <p:sp>
        <p:nvSpPr>
          <p:cNvPr id="4" name="Espaço Reservado para Número de Slide 3">
            <a:extLst>
              <a:ext uri="{FF2B5EF4-FFF2-40B4-BE49-F238E27FC236}">
                <a16:creationId xmlns:a16="http://schemas.microsoft.com/office/drawing/2014/main" id="{79B7ECED-DECD-241E-4A1F-146897456B80}"/>
              </a:ext>
            </a:extLst>
          </p:cNvPr>
          <p:cNvSpPr>
            <a:spLocks noGrp="1"/>
          </p:cNvSpPr>
          <p:nvPr>
            <p:ph type="sldNum" sz="quarter" idx="5"/>
          </p:nvPr>
        </p:nvSpPr>
        <p:spPr/>
        <p:txBody>
          <a:bodyPr/>
          <a:lstStyle/>
          <a:p>
            <a:fld id="{80F36A49-A1DD-40F8-B8AD-E6F5365256CB}" type="slidenum">
              <a:rPr lang="pt-BR" smtClean="0"/>
              <a:t>21</a:t>
            </a:fld>
            <a:endParaRPr lang="pt-BR"/>
          </a:p>
        </p:txBody>
      </p:sp>
    </p:spTree>
    <p:extLst>
      <p:ext uri="{BB962C8B-B14F-4D97-AF65-F5344CB8AC3E}">
        <p14:creationId xmlns:p14="http://schemas.microsoft.com/office/powerpoint/2010/main" val="1942753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B89C6-488D-67E9-120D-A4B7F476C06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383AF92-C426-8833-7921-EEB58F9C728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8945E74-468A-A72E-F2FB-EC2E4AD04481}"/>
              </a:ext>
            </a:extLst>
          </p:cNvPr>
          <p:cNvSpPr>
            <a:spLocks noGrp="1"/>
          </p:cNvSpPr>
          <p:nvPr>
            <p:ph type="body" idx="1"/>
          </p:nvPr>
        </p:nvSpPr>
        <p:spPr/>
        <p:txBody>
          <a:bodyPr/>
          <a:lstStyle/>
          <a:p>
            <a:pPr marL="0" lvl="0" indent="0">
              <a:buFont typeface="Arial" panose="020B0604020202020204" pitchFamily="34" charset="0"/>
              <a:buNone/>
            </a:pPr>
            <a:endParaRPr lang="pt-BR" sz="2200" dirty="0"/>
          </a:p>
        </p:txBody>
      </p:sp>
      <p:sp>
        <p:nvSpPr>
          <p:cNvPr id="4" name="Espaço Reservado para Número de Slide 3">
            <a:extLst>
              <a:ext uri="{FF2B5EF4-FFF2-40B4-BE49-F238E27FC236}">
                <a16:creationId xmlns:a16="http://schemas.microsoft.com/office/drawing/2014/main" id="{C93EC7BF-B23F-8334-31C9-E17735FECD52}"/>
              </a:ext>
            </a:extLst>
          </p:cNvPr>
          <p:cNvSpPr>
            <a:spLocks noGrp="1"/>
          </p:cNvSpPr>
          <p:nvPr>
            <p:ph type="sldNum" sz="quarter" idx="5"/>
          </p:nvPr>
        </p:nvSpPr>
        <p:spPr/>
        <p:txBody>
          <a:bodyPr/>
          <a:lstStyle/>
          <a:p>
            <a:fld id="{80F36A49-A1DD-40F8-B8AD-E6F5365256CB}" type="slidenum">
              <a:rPr lang="pt-BR" smtClean="0"/>
              <a:t>22</a:t>
            </a:fld>
            <a:endParaRPr lang="pt-BR"/>
          </a:p>
        </p:txBody>
      </p:sp>
    </p:spTree>
    <p:extLst>
      <p:ext uri="{BB962C8B-B14F-4D97-AF65-F5344CB8AC3E}">
        <p14:creationId xmlns:p14="http://schemas.microsoft.com/office/powerpoint/2010/main" val="2742535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EAF2-3ECF-BF30-962A-DF384C9DA16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DA7AD45-F8E4-B41F-16D4-6D8E68CA388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DFDBC81-AC38-2406-9AF6-2FEF780804F9}"/>
              </a:ext>
            </a:extLst>
          </p:cNvPr>
          <p:cNvSpPr>
            <a:spLocks noGrp="1"/>
          </p:cNvSpPr>
          <p:nvPr>
            <p:ph type="body" idx="1"/>
          </p:nvPr>
        </p:nvSpPr>
        <p:spPr/>
        <p:txBody>
          <a:bodyPr/>
          <a:lstStyle/>
          <a:p>
            <a:r>
              <a:rPr lang="pt-BR" sz="2400" dirty="0"/>
              <a:t>A implicação </a:t>
            </a:r>
            <a:r>
              <a:rPr lang="pt-BR" sz="2400" b="1" dirty="0"/>
              <a:t>não afirma que P acontece</a:t>
            </a:r>
            <a:r>
              <a:rPr lang="pt-BR" sz="2400" dirty="0"/>
              <a:t>; ela apenas estabelece uma promessa:</a:t>
            </a:r>
          </a:p>
          <a:p>
            <a:r>
              <a:rPr lang="pt-BR" sz="2400" dirty="0"/>
              <a:t>"Sempre que P acontecer, Q também acontecerá.“</a:t>
            </a:r>
          </a:p>
          <a:p>
            <a:endParaRPr lang="pt-BR" sz="2400" dirty="0"/>
          </a:p>
          <a:p>
            <a:r>
              <a:rPr lang="pt-BR" sz="2400" dirty="0"/>
              <a:t>Essa promessa só é quebrada em um único caso: quando P ocorre e Q não ocorre.</a:t>
            </a:r>
          </a:p>
          <a:p>
            <a:endParaRPr lang="pt-BR" sz="2400" dirty="0"/>
          </a:p>
          <a:p>
            <a:r>
              <a:rPr lang="pt-BR" sz="2400" dirty="0"/>
              <a:t>Exemplo:</a:t>
            </a:r>
          </a:p>
          <a:p>
            <a:r>
              <a:rPr lang="pt-BR" sz="2400" dirty="0"/>
              <a:t>"Se um aluno entregar todas as atividades, então será aprovado.“</a:t>
            </a:r>
          </a:p>
          <a:p>
            <a:pPr marL="342900" indent="-342900">
              <a:buFont typeface="Arial" panose="020B0604020202020204" pitchFamily="34" charset="0"/>
              <a:buChar char="•"/>
            </a:pPr>
            <a:r>
              <a:rPr lang="pt-BR" sz="2400" dirty="0"/>
              <a:t>Essa regra é violada apenas se um aluno entregar todas as atividades e, mesmo assim, não for aprovado.</a:t>
            </a:r>
          </a:p>
          <a:p>
            <a:pPr marL="342900" indent="-342900">
              <a:buFont typeface="Arial" panose="020B0604020202020204" pitchFamily="34" charset="0"/>
              <a:buChar char="•"/>
            </a:pPr>
            <a:r>
              <a:rPr lang="pt-BR" sz="2400" dirty="0"/>
              <a:t>Se o aluno nem sequer entregou as atividades, a regra não foi contrariada; ela simplesmente não precisou ser aplicada.</a:t>
            </a:r>
          </a:p>
          <a:p>
            <a:pPr marL="0" lvl="0" indent="0">
              <a:buFont typeface="Arial" panose="020B0604020202020204" pitchFamily="34" charset="0"/>
              <a:buNone/>
            </a:pPr>
            <a:endParaRPr lang="pt-BR" sz="2200" dirty="0"/>
          </a:p>
        </p:txBody>
      </p:sp>
      <p:sp>
        <p:nvSpPr>
          <p:cNvPr id="4" name="Espaço Reservado para Número de Slide 3">
            <a:extLst>
              <a:ext uri="{FF2B5EF4-FFF2-40B4-BE49-F238E27FC236}">
                <a16:creationId xmlns:a16="http://schemas.microsoft.com/office/drawing/2014/main" id="{73A57626-C2AA-A0D5-3C1B-D4CC40D524E0}"/>
              </a:ext>
            </a:extLst>
          </p:cNvPr>
          <p:cNvSpPr>
            <a:spLocks noGrp="1"/>
          </p:cNvSpPr>
          <p:nvPr>
            <p:ph type="sldNum" sz="quarter" idx="5"/>
          </p:nvPr>
        </p:nvSpPr>
        <p:spPr/>
        <p:txBody>
          <a:bodyPr/>
          <a:lstStyle/>
          <a:p>
            <a:fld id="{80F36A49-A1DD-40F8-B8AD-E6F5365256CB}" type="slidenum">
              <a:rPr lang="pt-BR" smtClean="0"/>
              <a:t>23</a:t>
            </a:fld>
            <a:endParaRPr lang="pt-BR"/>
          </a:p>
        </p:txBody>
      </p:sp>
    </p:spTree>
    <p:extLst>
      <p:ext uri="{BB962C8B-B14F-4D97-AF65-F5344CB8AC3E}">
        <p14:creationId xmlns:p14="http://schemas.microsoft.com/office/powerpoint/2010/main" val="15886945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D507C-6F78-1EE8-66E8-7833DB525EE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1CDDACD-A975-4445-817D-B8DC3177ACB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2354B87-4594-43A4-A79E-B480A6EDE272}"/>
              </a:ext>
            </a:extLst>
          </p:cNvPr>
          <p:cNvSpPr>
            <a:spLocks noGrp="1"/>
          </p:cNvSpPr>
          <p:nvPr>
            <p:ph type="body" idx="1"/>
          </p:nvPr>
        </p:nvSpPr>
        <p:spPr/>
        <p:txBody>
          <a:bodyPr/>
          <a:lstStyle/>
          <a:p>
            <a:r>
              <a:rPr lang="pt-BR" sz="2400" dirty="0"/>
              <a:t>É uma condição de equivalência.</a:t>
            </a:r>
          </a:p>
          <a:p>
            <a:r>
              <a:rPr lang="pt-BR" sz="2400" dirty="0"/>
              <a:t>As duas proposições devem possuir o mesmo valor lógico.</a:t>
            </a:r>
          </a:p>
          <a:p>
            <a:pPr marL="0" lvl="0" indent="0">
              <a:buFont typeface="Arial" panose="020B0604020202020204" pitchFamily="34" charset="0"/>
              <a:buNone/>
            </a:pPr>
            <a:endParaRPr lang="pt-BR" sz="2200" dirty="0"/>
          </a:p>
          <a:p>
            <a:pPr marL="0" lvl="0" indent="0">
              <a:buFont typeface="Arial" panose="020B0604020202020204" pitchFamily="34" charset="0"/>
              <a:buNone/>
            </a:pPr>
            <a:r>
              <a:rPr lang="pt-BR" sz="2200" dirty="0"/>
              <a:t>Exemplo: </a:t>
            </a:r>
          </a:p>
          <a:p>
            <a:pPr marL="0" lvl="0" indent="0">
              <a:buFont typeface="Arial" panose="020B0604020202020204" pitchFamily="34" charset="0"/>
              <a:buNone/>
            </a:pPr>
            <a:r>
              <a:rPr lang="pt-BR" sz="2200" dirty="0"/>
              <a:t>P= um numero é par</a:t>
            </a:r>
          </a:p>
          <a:p>
            <a:pPr marL="0" lvl="0" indent="0">
              <a:buFont typeface="Arial" panose="020B0604020202020204" pitchFamily="34" charset="0"/>
              <a:buNone/>
            </a:pPr>
            <a:r>
              <a:rPr lang="pt-BR" sz="2200" dirty="0"/>
              <a:t>Q = um numero é divisível por 2</a:t>
            </a:r>
          </a:p>
          <a:p>
            <a:pPr marL="0" lvl="0" indent="0">
              <a:buFont typeface="Arial" panose="020B0604020202020204" pitchFamily="34" charset="0"/>
              <a:buNone/>
            </a:pPr>
            <a:r>
              <a:rPr lang="pt-BR" sz="2400" dirty="0"/>
              <a:t>Um número é par se, e somente se, é divisível por 2.</a:t>
            </a:r>
            <a:endParaRPr lang="pt-BR" sz="2200" dirty="0"/>
          </a:p>
        </p:txBody>
      </p:sp>
      <p:sp>
        <p:nvSpPr>
          <p:cNvPr id="4" name="Espaço Reservado para Número de Slide 3">
            <a:extLst>
              <a:ext uri="{FF2B5EF4-FFF2-40B4-BE49-F238E27FC236}">
                <a16:creationId xmlns:a16="http://schemas.microsoft.com/office/drawing/2014/main" id="{ED4BCCCF-2B76-191C-43CC-4FF3E895EDAE}"/>
              </a:ext>
            </a:extLst>
          </p:cNvPr>
          <p:cNvSpPr>
            <a:spLocks noGrp="1"/>
          </p:cNvSpPr>
          <p:nvPr>
            <p:ph type="sldNum" sz="quarter" idx="5"/>
          </p:nvPr>
        </p:nvSpPr>
        <p:spPr/>
        <p:txBody>
          <a:bodyPr/>
          <a:lstStyle/>
          <a:p>
            <a:fld id="{80F36A49-A1DD-40F8-B8AD-E6F5365256CB}" type="slidenum">
              <a:rPr lang="pt-BR" smtClean="0"/>
              <a:t>24</a:t>
            </a:fld>
            <a:endParaRPr lang="pt-BR"/>
          </a:p>
        </p:txBody>
      </p:sp>
    </p:spTree>
    <p:extLst>
      <p:ext uri="{BB962C8B-B14F-4D97-AF65-F5344CB8AC3E}">
        <p14:creationId xmlns:p14="http://schemas.microsoft.com/office/powerpoint/2010/main" val="17858550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C7F6A-E654-F01A-CC57-5A227780902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5E1ACDC-C5D5-405D-308F-C86DF41070F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BA45426-B001-2A9E-E8E7-754D20D8CBFB}"/>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1B604104-64E9-D706-A8AD-903E7FF1C3C4}"/>
              </a:ext>
            </a:extLst>
          </p:cNvPr>
          <p:cNvSpPr>
            <a:spLocks noGrp="1"/>
          </p:cNvSpPr>
          <p:nvPr>
            <p:ph type="sldNum" sz="quarter" idx="5"/>
          </p:nvPr>
        </p:nvSpPr>
        <p:spPr/>
        <p:txBody>
          <a:bodyPr/>
          <a:lstStyle/>
          <a:p>
            <a:fld id="{80F36A49-A1DD-40F8-B8AD-E6F5365256CB}" type="slidenum">
              <a:rPr lang="pt-BR" smtClean="0"/>
              <a:t>25</a:t>
            </a:fld>
            <a:endParaRPr lang="pt-BR"/>
          </a:p>
        </p:txBody>
      </p:sp>
    </p:spTree>
    <p:extLst>
      <p:ext uri="{BB962C8B-B14F-4D97-AF65-F5344CB8AC3E}">
        <p14:creationId xmlns:p14="http://schemas.microsoft.com/office/powerpoint/2010/main" val="35807382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EEA06-D7D3-2A37-D4B9-FC509943933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6EE6932-7B21-A622-976B-7C4D6C359E8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910B38A-A221-735E-1AEF-D83DF67AFE95}"/>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59026508-E9C8-DB28-986D-FA0A6165BAF7}"/>
              </a:ext>
            </a:extLst>
          </p:cNvPr>
          <p:cNvSpPr>
            <a:spLocks noGrp="1"/>
          </p:cNvSpPr>
          <p:nvPr>
            <p:ph type="sldNum" sz="quarter" idx="5"/>
          </p:nvPr>
        </p:nvSpPr>
        <p:spPr/>
        <p:txBody>
          <a:bodyPr/>
          <a:lstStyle/>
          <a:p>
            <a:fld id="{80F36A49-A1DD-40F8-B8AD-E6F5365256CB}" type="slidenum">
              <a:rPr lang="pt-BR" smtClean="0"/>
              <a:t>26</a:t>
            </a:fld>
            <a:endParaRPr lang="pt-BR"/>
          </a:p>
        </p:txBody>
      </p:sp>
    </p:spTree>
    <p:extLst>
      <p:ext uri="{BB962C8B-B14F-4D97-AF65-F5344CB8AC3E}">
        <p14:creationId xmlns:p14="http://schemas.microsoft.com/office/powerpoint/2010/main" val="18330881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E8F75-2814-DF8B-D3B9-1C8805DF42B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8912B00-F0DD-A1FA-2C70-F54FD99F24E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2F3C3C1-02C6-C482-B184-763FB135CBE5}"/>
              </a:ext>
            </a:extLst>
          </p:cNvPr>
          <p:cNvSpPr>
            <a:spLocks noGrp="1"/>
          </p:cNvSpPr>
          <p:nvPr>
            <p:ph type="body" idx="1"/>
          </p:nvPr>
        </p:nvSpPr>
        <p:spPr/>
        <p:txBody>
          <a:bodyPr/>
          <a:lstStyle/>
          <a:p>
            <a:pPr marL="0" indent="0">
              <a:buFontTx/>
              <a:buNone/>
            </a:pPr>
            <a:endParaRPr lang="pt-BR" b="0" dirty="0"/>
          </a:p>
          <a:p>
            <a:pPr marL="0" indent="0">
              <a:buFontTx/>
              <a:buNone/>
            </a:pPr>
            <a:endParaRPr lang="pt-BR" b="0" dirty="0"/>
          </a:p>
        </p:txBody>
      </p:sp>
      <p:sp>
        <p:nvSpPr>
          <p:cNvPr id="4" name="Espaço Reservado para Número de Slide 3">
            <a:extLst>
              <a:ext uri="{FF2B5EF4-FFF2-40B4-BE49-F238E27FC236}">
                <a16:creationId xmlns:a16="http://schemas.microsoft.com/office/drawing/2014/main" id="{3940D869-3F24-7F05-D6F1-DFFAA807BA77}"/>
              </a:ext>
            </a:extLst>
          </p:cNvPr>
          <p:cNvSpPr>
            <a:spLocks noGrp="1"/>
          </p:cNvSpPr>
          <p:nvPr>
            <p:ph type="sldNum" sz="quarter" idx="5"/>
          </p:nvPr>
        </p:nvSpPr>
        <p:spPr/>
        <p:txBody>
          <a:bodyPr/>
          <a:lstStyle/>
          <a:p>
            <a:fld id="{80F36A49-A1DD-40F8-B8AD-E6F5365256CB}" type="slidenum">
              <a:rPr lang="pt-BR" smtClean="0"/>
              <a:t>27</a:t>
            </a:fld>
            <a:endParaRPr lang="pt-BR"/>
          </a:p>
        </p:txBody>
      </p:sp>
    </p:spTree>
    <p:extLst>
      <p:ext uri="{BB962C8B-B14F-4D97-AF65-F5344CB8AC3E}">
        <p14:creationId xmlns:p14="http://schemas.microsoft.com/office/powerpoint/2010/main" val="35851899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0E62-7F42-9431-2647-9224CDD6F9F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B2B3AE1-722D-ADDF-B70A-6D9210F3FB5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EB23A11-B425-639A-D005-46B2EA67B6AD}"/>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63AE84DC-54BE-7616-55FE-0C5AD79B4365}"/>
              </a:ext>
            </a:extLst>
          </p:cNvPr>
          <p:cNvSpPr>
            <a:spLocks noGrp="1"/>
          </p:cNvSpPr>
          <p:nvPr>
            <p:ph type="sldNum" sz="quarter" idx="5"/>
          </p:nvPr>
        </p:nvSpPr>
        <p:spPr/>
        <p:txBody>
          <a:bodyPr/>
          <a:lstStyle/>
          <a:p>
            <a:fld id="{80F36A49-A1DD-40F8-B8AD-E6F5365256CB}" type="slidenum">
              <a:rPr lang="pt-BR" smtClean="0"/>
              <a:t>28</a:t>
            </a:fld>
            <a:endParaRPr lang="pt-BR"/>
          </a:p>
        </p:txBody>
      </p:sp>
    </p:spTree>
    <p:extLst>
      <p:ext uri="{BB962C8B-B14F-4D97-AF65-F5344CB8AC3E}">
        <p14:creationId xmlns:p14="http://schemas.microsoft.com/office/powerpoint/2010/main" val="4023326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9EA51-67A1-727A-3615-971BBF973F8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F5B1E26-633B-8F31-CE5F-A8C9AC25A15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0993FAB-7A7E-E1F6-8DB5-DCB9AED0BF07}"/>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1A69E455-3354-0E49-825E-275CA1DDB3D5}"/>
              </a:ext>
            </a:extLst>
          </p:cNvPr>
          <p:cNvSpPr>
            <a:spLocks noGrp="1"/>
          </p:cNvSpPr>
          <p:nvPr>
            <p:ph type="sldNum" sz="quarter" idx="5"/>
          </p:nvPr>
        </p:nvSpPr>
        <p:spPr/>
        <p:txBody>
          <a:bodyPr/>
          <a:lstStyle/>
          <a:p>
            <a:fld id="{80F36A49-A1DD-40F8-B8AD-E6F5365256CB}" type="slidenum">
              <a:rPr lang="pt-BR" smtClean="0"/>
              <a:t>29</a:t>
            </a:fld>
            <a:endParaRPr lang="pt-BR"/>
          </a:p>
        </p:txBody>
      </p:sp>
    </p:spTree>
    <p:extLst>
      <p:ext uri="{BB962C8B-B14F-4D97-AF65-F5344CB8AC3E}">
        <p14:creationId xmlns:p14="http://schemas.microsoft.com/office/powerpoint/2010/main" val="2147966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A5DD-E71E-5910-FB1D-FB1F91B3340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68F6069-1171-7936-BD76-74440C59A29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474C979-8DAD-23C9-802E-04189F94A079}"/>
              </a:ext>
            </a:extLst>
          </p:cNvPr>
          <p:cNvSpPr>
            <a:spLocks noGrp="1"/>
          </p:cNvSpPr>
          <p:nvPr>
            <p:ph type="body" idx="1"/>
          </p:nvPr>
        </p:nvSpPr>
        <p:spPr/>
        <p:txBody>
          <a:bodyPr/>
          <a:lstStyle/>
          <a:p>
            <a:pPr marL="171450" indent="-171450">
              <a:buFont typeface="Arial" panose="020B0604020202020204" pitchFamily="34" charset="0"/>
              <a:buChar char="•"/>
            </a:pPr>
            <a:r>
              <a:rPr lang="pt-BR" sz="1200" dirty="0"/>
              <a:t>Pegue todas as linhas cujo resultado é verdadeiro.</a:t>
            </a:r>
          </a:p>
          <a:p>
            <a:pPr marL="171450" indent="-171450">
              <a:buFont typeface="Arial" panose="020B0604020202020204" pitchFamily="34" charset="0"/>
              <a:buChar char="•"/>
            </a:pPr>
            <a:r>
              <a:rPr lang="pt-BR" sz="1200" dirty="0"/>
              <a:t>Cada linha gera um termo.</a:t>
            </a:r>
          </a:p>
          <a:p>
            <a:pPr marL="171450" indent="-171450">
              <a:buFont typeface="Arial" panose="020B0604020202020204" pitchFamily="34" charset="0"/>
              <a:buChar char="•"/>
            </a:pPr>
            <a:r>
              <a:rPr lang="pt-BR" sz="1200" dirty="0"/>
              <a:t>Depois una todos usando </a:t>
            </a:r>
            <a:r>
              <a:rPr lang="pt-BR" sz="1200" b="1" dirty="0"/>
              <a:t>OU</a:t>
            </a:r>
            <a:r>
              <a:rPr lang="pt-BR" sz="1200" dirty="0"/>
              <a:t>.</a:t>
            </a:r>
          </a:p>
          <a:p>
            <a:pPr marL="0" indent="0">
              <a:buFontTx/>
              <a:buNone/>
            </a:pPr>
            <a:endParaRPr lang="pt-BR" b="0" dirty="0"/>
          </a:p>
        </p:txBody>
      </p:sp>
      <p:sp>
        <p:nvSpPr>
          <p:cNvPr id="4" name="Espaço Reservado para Número de Slide 3">
            <a:extLst>
              <a:ext uri="{FF2B5EF4-FFF2-40B4-BE49-F238E27FC236}">
                <a16:creationId xmlns:a16="http://schemas.microsoft.com/office/drawing/2014/main" id="{0A70EFB3-E54D-3205-32B2-25118CC27F78}"/>
              </a:ext>
            </a:extLst>
          </p:cNvPr>
          <p:cNvSpPr>
            <a:spLocks noGrp="1"/>
          </p:cNvSpPr>
          <p:nvPr>
            <p:ph type="sldNum" sz="quarter" idx="5"/>
          </p:nvPr>
        </p:nvSpPr>
        <p:spPr/>
        <p:txBody>
          <a:bodyPr/>
          <a:lstStyle/>
          <a:p>
            <a:fld id="{80F36A49-A1DD-40F8-B8AD-E6F5365256CB}" type="slidenum">
              <a:rPr lang="pt-BR" smtClean="0"/>
              <a:t>30</a:t>
            </a:fld>
            <a:endParaRPr lang="pt-BR"/>
          </a:p>
        </p:txBody>
      </p:sp>
    </p:spTree>
    <p:extLst>
      <p:ext uri="{BB962C8B-B14F-4D97-AF65-F5344CB8AC3E}">
        <p14:creationId xmlns:p14="http://schemas.microsoft.com/office/powerpoint/2010/main" val="40614557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F65F9-843E-9719-F64E-739ED3D1DB0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8AE87A8-D9E0-15EE-41B8-88195C9336F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3DB3AC8-B71A-133D-EEB6-1D8BECE749C1}"/>
              </a:ext>
            </a:extLst>
          </p:cNvPr>
          <p:cNvSpPr>
            <a:spLocks noGrp="1"/>
          </p:cNvSpPr>
          <p:nvPr>
            <p:ph type="body" idx="1"/>
          </p:nvPr>
        </p:nvSpPr>
        <p:spPr/>
        <p:txBody>
          <a:bodyPr/>
          <a:lstStyle/>
          <a:p>
            <a:pPr marL="171450" indent="-171450">
              <a:buFont typeface="Arial" panose="020B0604020202020204" pitchFamily="34" charset="0"/>
              <a:buChar char="•"/>
            </a:pPr>
            <a:r>
              <a:rPr lang="pt-BR" sz="1200" dirty="0"/>
              <a:t>Pegue todas as linhas cujo resultado é falso.</a:t>
            </a:r>
          </a:p>
          <a:p>
            <a:pPr marL="171450" indent="-171450">
              <a:buFont typeface="Arial" panose="020B0604020202020204" pitchFamily="34" charset="0"/>
              <a:buChar char="•"/>
            </a:pPr>
            <a:r>
              <a:rPr lang="pt-BR" sz="1200" dirty="0"/>
              <a:t>Cada linha gera um termo.</a:t>
            </a:r>
          </a:p>
          <a:p>
            <a:pPr marL="171450" indent="-171450">
              <a:buFont typeface="Arial" panose="020B0604020202020204" pitchFamily="34" charset="0"/>
              <a:buChar char="•"/>
            </a:pPr>
            <a:r>
              <a:rPr lang="pt-BR" sz="1200" dirty="0"/>
              <a:t>Depois una todos usando </a:t>
            </a:r>
            <a:r>
              <a:rPr lang="pt-BR" sz="1200" b="1" dirty="0"/>
              <a:t>E</a:t>
            </a:r>
            <a:r>
              <a:rPr lang="pt-BR" sz="1200" dirty="0"/>
              <a:t>.</a:t>
            </a:r>
          </a:p>
          <a:p>
            <a:pPr marL="0" indent="0">
              <a:buFontTx/>
              <a:buNone/>
            </a:pPr>
            <a:endParaRPr lang="pt-BR" b="0" dirty="0"/>
          </a:p>
        </p:txBody>
      </p:sp>
      <p:sp>
        <p:nvSpPr>
          <p:cNvPr id="4" name="Espaço Reservado para Número de Slide 3">
            <a:extLst>
              <a:ext uri="{FF2B5EF4-FFF2-40B4-BE49-F238E27FC236}">
                <a16:creationId xmlns:a16="http://schemas.microsoft.com/office/drawing/2014/main" id="{E99A1C47-98C4-6BDF-E156-3B50F837F79E}"/>
              </a:ext>
            </a:extLst>
          </p:cNvPr>
          <p:cNvSpPr>
            <a:spLocks noGrp="1"/>
          </p:cNvSpPr>
          <p:nvPr>
            <p:ph type="sldNum" sz="quarter" idx="5"/>
          </p:nvPr>
        </p:nvSpPr>
        <p:spPr/>
        <p:txBody>
          <a:bodyPr/>
          <a:lstStyle/>
          <a:p>
            <a:fld id="{80F36A49-A1DD-40F8-B8AD-E6F5365256CB}" type="slidenum">
              <a:rPr lang="pt-BR" smtClean="0"/>
              <a:t>31</a:t>
            </a:fld>
            <a:endParaRPr lang="pt-BR"/>
          </a:p>
        </p:txBody>
      </p:sp>
    </p:spTree>
    <p:extLst>
      <p:ext uri="{BB962C8B-B14F-4D97-AF65-F5344CB8AC3E}">
        <p14:creationId xmlns:p14="http://schemas.microsoft.com/office/powerpoint/2010/main" val="8231248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251DA-BE58-9419-0FEC-6F10CD80C31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35EBE74-0261-E664-F7F1-C492691B423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AE7082C-CAA4-3A7C-B41D-A57D9C3B76BC}"/>
              </a:ext>
            </a:extLst>
          </p:cNvPr>
          <p:cNvSpPr>
            <a:spLocks noGrp="1"/>
          </p:cNvSpPr>
          <p:nvPr>
            <p:ph type="body" idx="1"/>
          </p:nvPr>
        </p:nvSpPr>
        <p:spPr/>
        <p:txBody>
          <a:bodyPr/>
          <a:lstStyle/>
          <a:p>
            <a:pPr marL="171450" indent="-171450">
              <a:buFont typeface="Arial" panose="020B0604020202020204" pitchFamily="34" charset="0"/>
              <a:buChar char="•"/>
            </a:pPr>
            <a:r>
              <a:rPr lang="pt-BR" dirty="0"/>
              <a:t>A FND se relaciona naturalmente com implementações em dois níveis usando portas AND seguidas de OR, enquanto a FNC favorece implementações usando OR seguidas de AND.</a:t>
            </a:r>
            <a:endParaRPr lang="pt-BR" b="0" dirty="0"/>
          </a:p>
        </p:txBody>
      </p:sp>
      <p:sp>
        <p:nvSpPr>
          <p:cNvPr id="4" name="Espaço Reservado para Número de Slide 3">
            <a:extLst>
              <a:ext uri="{FF2B5EF4-FFF2-40B4-BE49-F238E27FC236}">
                <a16:creationId xmlns:a16="http://schemas.microsoft.com/office/drawing/2014/main" id="{463E4F2C-DE4F-4588-23CE-CFB91ADFD6CB}"/>
              </a:ext>
            </a:extLst>
          </p:cNvPr>
          <p:cNvSpPr>
            <a:spLocks noGrp="1"/>
          </p:cNvSpPr>
          <p:nvPr>
            <p:ph type="sldNum" sz="quarter" idx="5"/>
          </p:nvPr>
        </p:nvSpPr>
        <p:spPr/>
        <p:txBody>
          <a:bodyPr/>
          <a:lstStyle/>
          <a:p>
            <a:fld id="{80F36A49-A1DD-40F8-B8AD-E6F5365256CB}" type="slidenum">
              <a:rPr lang="pt-BR" smtClean="0"/>
              <a:t>32</a:t>
            </a:fld>
            <a:endParaRPr lang="pt-BR"/>
          </a:p>
        </p:txBody>
      </p:sp>
    </p:spTree>
    <p:extLst>
      <p:ext uri="{BB962C8B-B14F-4D97-AF65-F5344CB8AC3E}">
        <p14:creationId xmlns:p14="http://schemas.microsoft.com/office/powerpoint/2010/main" val="16512314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3E5C-A7AC-F028-F534-3A7AF906BC8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4060F58-B059-92AA-2B80-7C8E8C50B43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16DDD98-A067-D6B0-8918-5674E2096AEB}"/>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18B59C70-20D6-0DEA-9DE0-A4F0D497949C}"/>
              </a:ext>
            </a:extLst>
          </p:cNvPr>
          <p:cNvSpPr>
            <a:spLocks noGrp="1"/>
          </p:cNvSpPr>
          <p:nvPr>
            <p:ph type="sldNum" sz="quarter" idx="5"/>
          </p:nvPr>
        </p:nvSpPr>
        <p:spPr/>
        <p:txBody>
          <a:bodyPr/>
          <a:lstStyle/>
          <a:p>
            <a:fld id="{80F36A49-A1DD-40F8-B8AD-E6F5365256CB}" type="slidenum">
              <a:rPr lang="pt-BR" smtClean="0"/>
              <a:t>33</a:t>
            </a:fld>
            <a:endParaRPr lang="pt-BR"/>
          </a:p>
        </p:txBody>
      </p:sp>
    </p:spTree>
    <p:extLst>
      <p:ext uri="{BB962C8B-B14F-4D97-AF65-F5344CB8AC3E}">
        <p14:creationId xmlns:p14="http://schemas.microsoft.com/office/powerpoint/2010/main" val="14824895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81342-E866-2613-57B2-4FFC165D13B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26E5998-F90D-EF08-EB76-D7F18B7B97B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1E028F7-C83B-E31E-B8EC-BCB25DA9C870}"/>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FC94BB6F-66E3-671F-FF9D-8328F559B80F}"/>
              </a:ext>
            </a:extLst>
          </p:cNvPr>
          <p:cNvSpPr>
            <a:spLocks noGrp="1"/>
          </p:cNvSpPr>
          <p:nvPr>
            <p:ph type="sldNum" sz="quarter" idx="5"/>
          </p:nvPr>
        </p:nvSpPr>
        <p:spPr/>
        <p:txBody>
          <a:bodyPr/>
          <a:lstStyle/>
          <a:p>
            <a:fld id="{80F36A49-A1DD-40F8-B8AD-E6F5365256CB}" type="slidenum">
              <a:rPr lang="pt-BR" smtClean="0"/>
              <a:t>34</a:t>
            </a:fld>
            <a:endParaRPr lang="pt-BR"/>
          </a:p>
        </p:txBody>
      </p:sp>
    </p:spTree>
    <p:extLst>
      <p:ext uri="{BB962C8B-B14F-4D97-AF65-F5344CB8AC3E}">
        <p14:creationId xmlns:p14="http://schemas.microsoft.com/office/powerpoint/2010/main" val="11893957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B8141-0A67-CBB5-07AA-E902A40E29A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98ABC48-047F-ACCD-97AD-A2423D493EC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84B7712-2CC6-BC6A-8095-D4A6D9B269C0}"/>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C62C6985-EDE1-B07E-E9F1-03C3A6A3FE61}"/>
              </a:ext>
            </a:extLst>
          </p:cNvPr>
          <p:cNvSpPr>
            <a:spLocks noGrp="1"/>
          </p:cNvSpPr>
          <p:nvPr>
            <p:ph type="sldNum" sz="quarter" idx="5"/>
          </p:nvPr>
        </p:nvSpPr>
        <p:spPr/>
        <p:txBody>
          <a:bodyPr/>
          <a:lstStyle/>
          <a:p>
            <a:fld id="{80F36A49-A1DD-40F8-B8AD-E6F5365256CB}" type="slidenum">
              <a:rPr lang="pt-BR" smtClean="0"/>
              <a:t>35</a:t>
            </a:fld>
            <a:endParaRPr lang="pt-BR"/>
          </a:p>
        </p:txBody>
      </p:sp>
    </p:spTree>
    <p:extLst>
      <p:ext uri="{BB962C8B-B14F-4D97-AF65-F5344CB8AC3E}">
        <p14:creationId xmlns:p14="http://schemas.microsoft.com/office/powerpoint/2010/main" val="1401155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10CF7-AA35-FAFC-50E2-5A8C3770EC5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8EF460A-EDF7-0D25-E67C-0CAA74B51BE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84467EC-37E1-F106-C925-B5E296707B5C}"/>
              </a:ext>
            </a:extLst>
          </p:cNvPr>
          <p:cNvSpPr>
            <a:spLocks noGrp="1"/>
          </p:cNvSpPr>
          <p:nvPr>
            <p:ph type="body" idx="1"/>
          </p:nvPr>
        </p:nvSpPr>
        <p:spPr/>
        <p:txBody>
          <a:bodyPr/>
          <a:lstStyle/>
          <a:p>
            <a:pPr marL="0" indent="0">
              <a:buFontTx/>
              <a:buNone/>
            </a:pPr>
            <a:endParaRPr lang="pt-BR" b="0" dirty="0"/>
          </a:p>
        </p:txBody>
      </p:sp>
      <p:sp>
        <p:nvSpPr>
          <p:cNvPr id="4" name="Espaço Reservado para Número de Slide 3">
            <a:extLst>
              <a:ext uri="{FF2B5EF4-FFF2-40B4-BE49-F238E27FC236}">
                <a16:creationId xmlns:a16="http://schemas.microsoft.com/office/drawing/2014/main" id="{7B47BEFB-7CDD-1C85-2CE4-0910AFE5A831}"/>
              </a:ext>
            </a:extLst>
          </p:cNvPr>
          <p:cNvSpPr>
            <a:spLocks noGrp="1"/>
          </p:cNvSpPr>
          <p:nvPr>
            <p:ph type="sldNum" sz="quarter" idx="5"/>
          </p:nvPr>
        </p:nvSpPr>
        <p:spPr/>
        <p:txBody>
          <a:bodyPr/>
          <a:lstStyle/>
          <a:p>
            <a:fld id="{80F36A49-A1DD-40F8-B8AD-E6F5365256CB}" type="slidenum">
              <a:rPr lang="pt-BR" smtClean="0"/>
              <a:t>36</a:t>
            </a:fld>
            <a:endParaRPr lang="pt-BR"/>
          </a:p>
        </p:txBody>
      </p:sp>
    </p:spTree>
    <p:extLst>
      <p:ext uri="{BB962C8B-B14F-4D97-AF65-F5344CB8AC3E}">
        <p14:creationId xmlns:p14="http://schemas.microsoft.com/office/powerpoint/2010/main" val="258567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9B856-A0BC-D210-1737-D966320C0DA3}"/>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EA33AAC6-2469-CA4A-EC71-9377AF26B7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4A0F87A-0C4B-6CED-A923-692979682F71}"/>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5" name="Espaço Reservado para Rodapé 4">
            <a:extLst>
              <a:ext uri="{FF2B5EF4-FFF2-40B4-BE49-F238E27FC236}">
                <a16:creationId xmlns:a16="http://schemas.microsoft.com/office/drawing/2014/main" id="{AFA1D701-1F2B-F9DB-3467-1E702506B69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2D3A131-BC6D-009A-1316-11C0D511C788}"/>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3522442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43BFD2-F256-47DF-B808-ACC0E3CF5B8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6B715E3-1B62-B718-0545-18D1860ED12A}"/>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B0F8541-A06F-A96B-9C7B-7B6775D69F8A}"/>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5" name="Espaço Reservado para Rodapé 4">
            <a:extLst>
              <a:ext uri="{FF2B5EF4-FFF2-40B4-BE49-F238E27FC236}">
                <a16:creationId xmlns:a16="http://schemas.microsoft.com/office/drawing/2014/main" id="{A29E2F6F-2F51-FB58-B282-FF65529154A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84CA48A-0835-7D5D-0C5C-4C7E737E1752}"/>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4830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57B632-00A4-041E-134C-3945EC5FF774}"/>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9E8B5D6A-FCFF-76AF-3B41-CBCC1C30CE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FFA63B6D-65C2-A8BA-7A75-E7BFF8AEEEFE}"/>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5" name="Espaço Reservado para Rodapé 4">
            <a:extLst>
              <a:ext uri="{FF2B5EF4-FFF2-40B4-BE49-F238E27FC236}">
                <a16:creationId xmlns:a16="http://schemas.microsoft.com/office/drawing/2014/main" id="{2B2149EC-9298-99F7-4DF2-9F89752611A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9D0D51F-3496-83FE-F993-6F3C5B119CFF}"/>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236549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630C98-DF9F-EDDF-13FE-19484E4CE2C1}"/>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7DBEED7-86EF-7D00-9D5B-35BED814DF9C}"/>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C4CFBCA-7118-0084-2BFD-AB37CB71E8D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D1CCABC-FE63-8FD2-5554-56984A3CC5B8}"/>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6" name="Espaço Reservado para Rodapé 5">
            <a:extLst>
              <a:ext uri="{FF2B5EF4-FFF2-40B4-BE49-F238E27FC236}">
                <a16:creationId xmlns:a16="http://schemas.microsoft.com/office/drawing/2014/main" id="{BD78125A-07B7-CBA7-1A67-B800BA64CEF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673A3AF-1DE0-4AD3-272B-485CC6D87F54}"/>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443329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9E8815-ABA0-CB0F-583F-E97EB7B59451}"/>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46E8AD69-3F40-C1E3-9580-6371DC13C5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A5D54DCD-A467-392C-7882-9A1F2699C573}"/>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91F29C69-1D15-E7B8-95EE-E358ABDD23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DDD9B3A3-CEB4-374A-3FA1-C3BD23A5E07C}"/>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B9B6B5B5-5DE0-2665-4666-5A565F02F50A}"/>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8" name="Espaço Reservado para Rodapé 7">
            <a:extLst>
              <a:ext uri="{FF2B5EF4-FFF2-40B4-BE49-F238E27FC236}">
                <a16:creationId xmlns:a16="http://schemas.microsoft.com/office/drawing/2014/main" id="{7272278B-CB99-E2F9-7531-401CE1BF3190}"/>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D50092DA-D538-B982-0833-39924176B418}"/>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425119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764F77-C07B-657B-DE18-927ED3DD6DD9}"/>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B1F6EABF-1DF7-2F1B-A964-4AFF92830788}"/>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4" name="Espaço Reservado para Rodapé 3">
            <a:extLst>
              <a:ext uri="{FF2B5EF4-FFF2-40B4-BE49-F238E27FC236}">
                <a16:creationId xmlns:a16="http://schemas.microsoft.com/office/drawing/2014/main" id="{E9E70771-5A68-7380-1FAC-A7D89E013B9C}"/>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2358ABD1-E925-1590-6C8E-DFC75A7BF507}"/>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3892118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4C0372F4-7179-777F-1E51-88AB1A64E560}"/>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3" name="Espaço Reservado para Rodapé 2">
            <a:extLst>
              <a:ext uri="{FF2B5EF4-FFF2-40B4-BE49-F238E27FC236}">
                <a16:creationId xmlns:a16="http://schemas.microsoft.com/office/drawing/2014/main" id="{F77D26EF-C956-F4CD-8145-1C415DFC6D0D}"/>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53EA769-C25E-4FD8-7E9E-E604C852954E}"/>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2017335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FA3AA1-798F-3AA2-B6BB-62D9B3824931}"/>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E8C13AA-9014-6117-7A37-A036F09F89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184FAC68-54B7-EFCE-9620-BC6F674196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1F950BCB-3838-1B1C-112C-A644060F9E03}"/>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6" name="Espaço Reservado para Rodapé 5">
            <a:extLst>
              <a:ext uri="{FF2B5EF4-FFF2-40B4-BE49-F238E27FC236}">
                <a16:creationId xmlns:a16="http://schemas.microsoft.com/office/drawing/2014/main" id="{BC8779FA-261C-A76B-DBC7-DB58B8C117B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2B5AFCC-7631-7153-2CC4-B4689FB8C424}"/>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1441812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CE3E92-DCFD-D54F-EB9D-EF97B89816B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DCA9DF57-38D6-FEBE-B65C-3AF4E429E9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D117E586-D1EC-101C-F876-DEE5A2C81E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4655D0E-B1E7-844D-7A98-DA49B4EC7670}"/>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6" name="Espaço Reservado para Rodapé 5">
            <a:extLst>
              <a:ext uri="{FF2B5EF4-FFF2-40B4-BE49-F238E27FC236}">
                <a16:creationId xmlns:a16="http://schemas.microsoft.com/office/drawing/2014/main" id="{DB538A87-1978-7251-4706-04805D27D02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B8910AE-1487-27DE-EE72-B1B0DB539436}"/>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2962338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C4BC46-0BF2-E806-F16A-DB5D201D6D2B}"/>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9D14E5E-509B-F711-3B25-614C8C3BCE09}"/>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281C6A8-9DA7-0C1F-372D-B2C9FD24F146}"/>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5" name="Espaço Reservado para Rodapé 4">
            <a:extLst>
              <a:ext uri="{FF2B5EF4-FFF2-40B4-BE49-F238E27FC236}">
                <a16:creationId xmlns:a16="http://schemas.microsoft.com/office/drawing/2014/main" id="{4AFE38E9-C9A5-2C3E-744D-E323F97B15F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FD1C984-499C-C6BA-9715-0B7BEAC9BDE8}"/>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153024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F40F235-1569-6ED0-A5F0-7DA4324528AA}"/>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F3DB6C81-CE19-AE0C-8D05-2FBC6567904D}"/>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AD43C4D-693E-5D37-DE0F-919B77DEF79A}"/>
              </a:ext>
            </a:extLst>
          </p:cNvPr>
          <p:cNvSpPr>
            <a:spLocks noGrp="1"/>
          </p:cNvSpPr>
          <p:nvPr>
            <p:ph type="dt" sz="half" idx="10"/>
          </p:nvPr>
        </p:nvSpPr>
        <p:spPr/>
        <p:txBody>
          <a:bodyPr/>
          <a:lstStyle/>
          <a:p>
            <a:fld id="{A87E3B6E-8316-4A1C-BADA-DB7F3456EEF1}" type="datetimeFigureOut">
              <a:rPr lang="pt-BR" smtClean="0"/>
              <a:t>04/08/2026</a:t>
            </a:fld>
            <a:endParaRPr lang="pt-BR"/>
          </a:p>
        </p:txBody>
      </p:sp>
      <p:sp>
        <p:nvSpPr>
          <p:cNvPr id="5" name="Espaço Reservado para Rodapé 4">
            <a:extLst>
              <a:ext uri="{FF2B5EF4-FFF2-40B4-BE49-F238E27FC236}">
                <a16:creationId xmlns:a16="http://schemas.microsoft.com/office/drawing/2014/main" id="{91D2A9D6-4B21-E9D7-968B-F18C64697E0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4010A06-B61B-8C4F-3894-CA75C019DA84}"/>
              </a:ext>
            </a:extLst>
          </p:cNvPr>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4280486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pt-BR"/>
              <a:t>Clique para editar o título Mestre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7" name="Date Placeholder 6"/>
          <p:cNvSpPr>
            <a:spLocks noGrp="1"/>
          </p:cNvSpPr>
          <p:nvPr>
            <p:ph type="dt" sz="half" idx="10"/>
          </p:nvPr>
        </p:nvSpPr>
        <p:spPr/>
        <p:txBody>
          <a:bodyPr/>
          <a:lstStyle/>
          <a:p>
            <a:fld id="{A87E3B6E-8316-4A1C-BADA-DB7F3456EEF1}" type="datetimeFigureOut">
              <a:rPr lang="pt-BR" smtClean="0"/>
              <a:t>04/08/2026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2993257513"/>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A87E3B6E-8316-4A1C-BADA-DB7F3456EEF1}" type="datetimeFigureOut">
              <a:rPr lang="pt-BR" smtClean="0"/>
              <a:t>04/08/2026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3678358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ção">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7" name="Date Placeholder 6"/>
          <p:cNvSpPr>
            <a:spLocks noGrp="1"/>
          </p:cNvSpPr>
          <p:nvPr>
            <p:ph type="dt" sz="half" idx="10"/>
          </p:nvPr>
        </p:nvSpPr>
        <p:spPr/>
        <p:txBody>
          <a:bodyPr/>
          <a:lstStyle/>
          <a:p>
            <a:fld id="{A87E3B6E-8316-4A1C-BADA-DB7F3456EEF1}" type="datetimeFigureOut">
              <a:rPr lang="pt-BR" smtClean="0"/>
              <a:t>04/08/2026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353557266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8" name="Date Placeholder 7"/>
          <p:cNvSpPr>
            <a:spLocks noGrp="1"/>
          </p:cNvSpPr>
          <p:nvPr>
            <p:ph type="dt" sz="half" idx="10"/>
          </p:nvPr>
        </p:nvSpPr>
        <p:spPr/>
        <p:txBody>
          <a:bodyPr/>
          <a:lstStyle/>
          <a:p>
            <a:fld id="{A87E3B6E-8316-4A1C-BADA-DB7F3456EEF1}" type="datetimeFigureOut">
              <a:rPr lang="pt-BR" smtClean="0"/>
              <a:t>04/08/2026</a:t>
            </a:fld>
            <a:endParaRPr lang="pt-BR"/>
          </a:p>
        </p:txBody>
      </p:sp>
      <p:sp>
        <p:nvSpPr>
          <p:cNvPr id="9" name="Footer Placeholder 8"/>
          <p:cNvSpPr>
            <a:spLocks noGrp="1"/>
          </p:cNvSpPr>
          <p:nvPr>
            <p:ph type="ftr" sz="quarter" idx="11"/>
          </p:nvPr>
        </p:nvSpPr>
        <p:spPr/>
        <p:txBody>
          <a:bodyPr/>
          <a:lstStyle/>
          <a:p>
            <a:endParaRPr lang="pt-BR"/>
          </a:p>
        </p:txBody>
      </p:sp>
      <p:sp>
        <p:nvSpPr>
          <p:cNvPr id="10" name="Slide Number Placeholder 9"/>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93368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583436" y="3143250"/>
            <a:ext cx="4270248" cy="259677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7" name="Date Placeholder 6"/>
          <p:cNvSpPr>
            <a:spLocks noGrp="1"/>
          </p:cNvSpPr>
          <p:nvPr>
            <p:ph type="dt" sz="half" idx="10"/>
          </p:nvPr>
        </p:nvSpPr>
        <p:spPr/>
        <p:txBody>
          <a:bodyPr/>
          <a:lstStyle/>
          <a:p>
            <a:fld id="{A87E3B6E-8316-4A1C-BADA-DB7F3456EEF1}" type="datetimeFigureOut">
              <a:rPr lang="pt-BR" smtClean="0"/>
              <a:t>04/08/2026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749C53C-5575-41D6-9732-E4B434B9E1FD}" type="slidenum">
              <a:rPr lang="pt-BR" smtClean="0"/>
              <a:t>‹nº›</a:t>
            </a:fld>
            <a:endParaRPr lang="pt-BR"/>
          </a:p>
        </p:txBody>
      </p:sp>
      <p:sp>
        <p:nvSpPr>
          <p:cNvPr id="10" name="Title 9"/>
          <p:cNvSpPr>
            <a:spLocks noGrp="1"/>
          </p:cNvSpPr>
          <p:nvPr>
            <p:ph type="title"/>
          </p:nvPr>
        </p:nvSpPr>
        <p:spPr/>
        <p:txBody>
          <a:bodyPr/>
          <a:lstStyle/>
          <a:p>
            <a:r>
              <a:rPr lang="pt-BR"/>
              <a:t>Clique para editar o título Mestre</a:t>
            </a:r>
            <a:endParaRPr lang="en-US" dirty="0"/>
          </a:p>
        </p:txBody>
      </p:sp>
    </p:spTree>
    <p:extLst>
      <p:ext uri="{BB962C8B-B14F-4D97-AF65-F5344CB8AC3E}">
        <p14:creationId xmlns:p14="http://schemas.microsoft.com/office/powerpoint/2010/main" val="14317489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87E3B6E-8316-4A1C-BADA-DB7F3456EEF1}" type="datetimeFigureOut">
              <a:rPr lang="pt-BR" smtClean="0"/>
              <a:t>04/08/2026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29993288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7E3B6E-8316-4A1C-BADA-DB7F3456EEF1}" type="datetimeFigureOut">
              <a:rPr lang="pt-BR" smtClean="0"/>
              <a:t>04/08/2026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2967998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pt-BR"/>
              <a:t>Clique para editar o título Mestre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A87E3B6E-8316-4A1C-BADA-DB7F3456EEF1}" type="datetimeFigureOut">
              <a:rPr lang="pt-BR" smtClean="0"/>
              <a:t>04/08/2026</a:t>
            </a:fld>
            <a:endParaRPr lang="pt-BR"/>
          </a:p>
        </p:txBody>
      </p:sp>
      <p:sp>
        <p:nvSpPr>
          <p:cNvPr id="6" name="Footer Placeholder 5"/>
          <p:cNvSpPr>
            <a:spLocks noGrp="1"/>
          </p:cNvSpPr>
          <p:nvPr>
            <p:ph type="ftr" sz="quarter" idx="11"/>
          </p:nvPr>
        </p:nvSpPr>
        <p:spPr>
          <a:xfrm>
            <a:off x="804672" y="6236208"/>
            <a:ext cx="5167503" cy="320040"/>
          </a:xfrm>
        </p:spPr>
        <p:txBody>
          <a:bodyPr/>
          <a:lstStyle>
            <a:lvl1pPr>
              <a:defRPr>
                <a:solidFill>
                  <a:srgbClr val="FFFFFF">
                    <a:alpha val="69804"/>
                  </a:srgbClr>
                </a:solidFill>
              </a:defRPr>
            </a:lvl1pPr>
          </a:lstStyle>
          <a:p>
            <a:endParaRPr lang="pt-BR"/>
          </a:p>
        </p:txBody>
      </p:sp>
      <p:sp>
        <p:nvSpPr>
          <p:cNvPr id="7" name="Slide Number Placeholder 6"/>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78080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lvl1pPr>
              <a:defRPr>
                <a:solidFill>
                  <a:srgbClr val="FFFFFF">
                    <a:alpha val="90000"/>
                  </a:srgbClr>
                </a:solidFill>
                <a:effectLst>
                  <a:outerShdw blurRad="50800" dist="38100" dir="2700000" algn="tl" rotWithShape="0">
                    <a:prstClr val="black">
                      <a:alpha val="43000"/>
                    </a:prstClr>
                  </a:outerShdw>
                </a:effectLst>
              </a:defRPr>
            </a:lvl1pPr>
          </a:lstStyle>
          <a:p>
            <a:fld id="{A87E3B6E-8316-4A1C-BADA-DB7F3456EEF1}" type="datetimeFigureOut">
              <a:rPr lang="pt-BR" smtClean="0"/>
              <a:t>04/08/2026</a:t>
            </a:fld>
            <a:endParaRPr lang="pt-BR"/>
          </a:p>
        </p:txBody>
      </p:sp>
      <p:sp>
        <p:nvSpPr>
          <p:cNvPr id="6" name="Footer Placeholder 5"/>
          <p:cNvSpPr>
            <a:spLocks noGrp="1"/>
          </p:cNvSpPr>
          <p:nvPr>
            <p:ph type="ftr" sz="quarter" idx="11"/>
          </p:nvPr>
        </p:nvSpPr>
        <p:spPr>
          <a:xfrm>
            <a:off x="808523" y="6236208"/>
            <a:ext cx="5103729" cy="320040"/>
          </a:xfrm>
        </p:spPr>
        <p:txBody>
          <a:bodyPr/>
          <a:lstStyle>
            <a:lvl1pPr>
              <a:defRPr>
                <a:solidFill>
                  <a:srgbClr val="FFFFFF">
                    <a:alpha val="70000"/>
                  </a:srgbClr>
                </a:solidFill>
              </a:defRPr>
            </a:lvl1pPr>
          </a:lstStyle>
          <a:p>
            <a:endParaRPr lang="pt-BR"/>
          </a:p>
        </p:txBody>
      </p:sp>
      <p:sp>
        <p:nvSpPr>
          <p:cNvPr id="7" name="Slide Number Placeholder 6"/>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2712544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87E3B6E-8316-4A1C-BADA-DB7F3456EEF1}" type="datetimeFigureOut">
              <a:rPr lang="pt-BR" smtClean="0"/>
              <a:t>04/08/2026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3594998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87E3B6E-8316-4A1C-BADA-DB7F3456EEF1}" type="datetimeFigureOut">
              <a:rPr lang="pt-BR" smtClean="0"/>
              <a:t>04/08/2026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49C53C-5575-41D6-9732-E4B434B9E1FD}" type="slidenum">
              <a:rPr lang="pt-BR" smtClean="0"/>
              <a:t>‹nº›</a:t>
            </a:fld>
            <a:endParaRPr lang="pt-BR"/>
          </a:p>
        </p:txBody>
      </p:sp>
    </p:spTree>
    <p:extLst>
      <p:ext uri="{BB962C8B-B14F-4D97-AF65-F5344CB8AC3E}">
        <p14:creationId xmlns:p14="http://schemas.microsoft.com/office/powerpoint/2010/main" val="1839945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229C4ED7-C003-33C2-9CEB-2E97503196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4730AEA1-DE82-52D0-65A9-766B9E2D2F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12E4FEE-859A-D6B3-CF41-EDFF0B1CDE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7E3B6E-8316-4A1C-BADA-DB7F3456EEF1}" type="datetimeFigureOut">
              <a:rPr lang="pt-BR" smtClean="0"/>
              <a:t>04/08/2026</a:t>
            </a:fld>
            <a:endParaRPr lang="pt-BR"/>
          </a:p>
        </p:txBody>
      </p:sp>
      <p:sp>
        <p:nvSpPr>
          <p:cNvPr id="5" name="Espaço Reservado para Rodapé 4">
            <a:extLst>
              <a:ext uri="{FF2B5EF4-FFF2-40B4-BE49-F238E27FC236}">
                <a16:creationId xmlns:a16="http://schemas.microsoft.com/office/drawing/2014/main" id="{519F3FAC-49A4-4E94-C84A-41786DC2CE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25435549-C584-1997-7B0B-6DC079118A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49C53C-5575-41D6-9732-E4B434B9E1FD}" type="slidenum">
              <a:rPr lang="pt-BR" smtClean="0"/>
              <a:t>‹nº›</a:t>
            </a:fld>
            <a:endParaRPr lang="pt-BR"/>
          </a:p>
        </p:txBody>
      </p:sp>
    </p:spTree>
    <p:extLst>
      <p:ext uri="{BB962C8B-B14F-4D97-AF65-F5344CB8AC3E}">
        <p14:creationId xmlns:p14="http://schemas.microsoft.com/office/powerpoint/2010/main" val="666949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A87E3B6E-8316-4A1C-BADA-DB7F3456EEF1}" type="datetimeFigureOut">
              <a:rPr lang="pt-BR" smtClean="0"/>
              <a:t>04/08/2026</a:t>
            </a:fld>
            <a:endParaRPr lang="pt-BR"/>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pt-BR"/>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9749C53C-5575-41D6-9732-E4B434B9E1FD}" type="slidenum">
              <a:rPr lang="pt-BR" smtClean="0"/>
              <a:t>‹nº›</a:t>
            </a:fld>
            <a:endParaRPr lang="pt-BR"/>
          </a:p>
        </p:txBody>
      </p:sp>
    </p:spTree>
    <p:extLst>
      <p:ext uri="{BB962C8B-B14F-4D97-AF65-F5344CB8AC3E}">
        <p14:creationId xmlns:p14="http://schemas.microsoft.com/office/powerpoint/2010/main" val="253891912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F0EC1-7C1D-9280-1B58-3F6A425D4D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040E75-1356-94B7-0421-DEF54212507D}"/>
              </a:ext>
            </a:extLst>
          </p:cNvPr>
          <p:cNvSpPr>
            <a:spLocks noGrp="1"/>
          </p:cNvSpPr>
          <p:nvPr>
            <p:ph type="ctrTitle"/>
          </p:nvPr>
        </p:nvSpPr>
        <p:spPr>
          <a:xfrm>
            <a:off x="0" y="2524919"/>
            <a:ext cx="12192000" cy="1808162"/>
          </a:xfrm>
          <a:ln>
            <a:noFill/>
          </a:ln>
        </p:spPr>
        <p:txBody>
          <a:bodyPr/>
          <a:lstStyle/>
          <a:p>
            <a:r>
              <a:rPr lang="pt-BR" dirty="0">
                <a:solidFill>
                  <a:schemeClr val="bg1"/>
                </a:solidFill>
              </a:rPr>
              <a:t>Plano de ensino</a:t>
            </a:r>
          </a:p>
        </p:txBody>
      </p:sp>
      <p:sp>
        <p:nvSpPr>
          <p:cNvPr id="3" name="Subtítulo 2">
            <a:extLst>
              <a:ext uri="{FF2B5EF4-FFF2-40B4-BE49-F238E27FC236}">
                <a16:creationId xmlns:a16="http://schemas.microsoft.com/office/drawing/2014/main" id="{41B096D7-64D7-8FC4-9F80-6A40ADEAC61A}"/>
              </a:ext>
            </a:extLst>
          </p:cNvPr>
          <p:cNvSpPr>
            <a:spLocks noGrp="1"/>
          </p:cNvSpPr>
          <p:nvPr>
            <p:ph type="subTitle" idx="1"/>
          </p:nvPr>
        </p:nvSpPr>
        <p:spPr>
          <a:xfrm>
            <a:off x="2695192" y="5207000"/>
            <a:ext cx="6801612" cy="1651000"/>
          </a:xfrm>
        </p:spPr>
        <p:txBody>
          <a:bodyPr/>
          <a:lstStyle/>
          <a:p>
            <a:r>
              <a:rPr lang="pt-BR" dirty="0"/>
              <a:t>Universidade de Uberaba</a:t>
            </a:r>
          </a:p>
          <a:p>
            <a:r>
              <a:rPr lang="pt-BR" dirty="0"/>
              <a:t>Marcio Salmazo Ramos</a:t>
            </a:r>
          </a:p>
        </p:txBody>
      </p:sp>
      <p:pic>
        <p:nvPicPr>
          <p:cNvPr id="8194" name="Picture 2">
            <a:extLst>
              <a:ext uri="{FF2B5EF4-FFF2-40B4-BE49-F238E27FC236}">
                <a16:creationId xmlns:a16="http://schemas.microsoft.com/office/drawing/2014/main" id="{F6019B48-999B-D892-EAC1-867ADFDE6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7048" y="447153"/>
            <a:ext cx="3517900" cy="972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0405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B1F24-3A37-BE5E-87E6-8DFD228F40CA}"/>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20E9C820-C403-81DA-4458-0F826AB9D6E5}"/>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37DBEF96-5BB9-10F9-BA9C-FDE0A19F6FBD}"/>
              </a:ext>
            </a:extLst>
          </p:cNvPr>
          <p:cNvSpPr>
            <a:spLocks noGrp="1"/>
          </p:cNvSpPr>
          <p:nvPr>
            <p:ph type="title"/>
          </p:nvPr>
        </p:nvSpPr>
        <p:spPr>
          <a:xfrm>
            <a:off x="0" y="-1"/>
            <a:ext cx="12192000" cy="1325563"/>
          </a:xfrm>
        </p:spPr>
        <p:txBody>
          <a:bodyPr/>
          <a:lstStyle/>
          <a:p>
            <a:pPr algn="ctr"/>
            <a:r>
              <a:rPr lang="pt-BR" dirty="0">
                <a:solidFill>
                  <a:schemeClr val="bg1"/>
                </a:solidFill>
              </a:rPr>
              <a:t>Sistema de avaliação</a:t>
            </a:r>
          </a:p>
        </p:txBody>
      </p:sp>
      <p:sp>
        <p:nvSpPr>
          <p:cNvPr id="12" name="AutoShape 6" descr="Lógica Proposicional x Lógica de Argumento ⋆ Colaborae">
            <a:extLst>
              <a:ext uri="{FF2B5EF4-FFF2-40B4-BE49-F238E27FC236}">
                <a16:creationId xmlns:a16="http://schemas.microsoft.com/office/drawing/2014/main" id="{B6D3F682-1904-6B9C-FB31-DC217F584E48}"/>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56728EE4-B88D-A8C9-80CD-CA18D0C7F3D0}"/>
              </a:ext>
            </a:extLst>
          </p:cNvPr>
          <p:cNvSpPr>
            <a:spLocks noGrp="1"/>
          </p:cNvSpPr>
          <p:nvPr>
            <p:ph idx="1"/>
          </p:nvPr>
        </p:nvSpPr>
        <p:spPr>
          <a:xfrm>
            <a:off x="1760860" y="2245646"/>
            <a:ext cx="8670280" cy="3657600"/>
          </a:xfrm>
        </p:spPr>
        <p:txBody>
          <a:bodyPr/>
          <a:lstStyle/>
          <a:p>
            <a:r>
              <a:rPr lang="pt-BR" sz="2400" dirty="0"/>
              <a:t>Pontuação semestral total do componente curricular, no valor de 100 (cem pontos).</a:t>
            </a:r>
          </a:p>
          <a:p>
            <a:endParaRPr lang="pt-BR" sz="2400" dirty="0"/>
          </a:p>
          <a:p>
            <a:r>
              <a:rPr lang="pt-BR" sz="2400" dirty="0"/>
              <a:t>Pontuação necessária para aprovação: 60% (sessenta por cento) da pontuação semestral do componente.</a:t>
            </a:r>
          </a:p>
          <a:p>
            <a:endParaRPr lang="pt-BR" sz="2400" dirty="0"/>
          </a:p>
          <a:p>
            <a:r>
              <a:rPr lang="pt-BR" sz="2400" dirty="0"/>
              <a:t>Frequência necessária para aprovação: 75% (setenta e cinco por cento) no componente curricular.</a:t>
            </a:r>
          </a:p>
          <a:p>
            <a:endParaRPr lang="pt-BR" sz="2400" dirty="0"/>
          </a:p>
          <a:p>
            <a:endParaRPr lang="pt-BR" sz="2400" dirty="0"/>
          </a:p>
          <a:p>
            <a:endParaRPr lang="pt-BR" dirty="0"/>
          </a:p>
        </p:txBody>
      </p:sp>
    </p:spTree>
    <p:extLst>
      <p:ext uri="{BB962C8B-B14F-4D97-AF65-F5344CB8AC3E}">
        <p14:creationId xmlns:p14="http://schemas.microsoft.com/office/powerpoint/2010/main" val="339552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C6F12-CB60-EC12-334D-A843F4105EF9}"/>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3522B2D8-67D3-186B-9646-B4F2E93DCAD4}"/>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F627AF45-4965-F2EA-4785-9BD925E69BCA}"/>
              </a:ext>
            </a:extLst>
          </p:cNvPr>
          <p:cNvSpPr>
            <a:spLocks noGrp="1"/>
          </p:cNvSpPr>
          <p:nvPr>
            <p:ph type="title"/>
          </p:nvPr>
        </p:nvSpPr>
        <p:spPr>
          <a:xfrm>
            <a:off x="0" y="-1"/>
            <a:ext cx="12192000" cy="1325563"/>
          </a:xfrm>
        </p:spPr>
        <p:txBody>
          <a:bodyPr/>
          <a:lstStyle/>
          <a:p>
            <a:pPr algn="ctr"/>
            <a:r>
              <a:rPr lang="pt-BR" dirty="0">
                <a:solidFill>
                  <a:schemeClr val="bg1"/>
                </a:solidFill>
              </a:rPr>
              <a:t>Distribuição de Notas</a:t>
            </a:r>
          </a:p>
        </p:txBody>
      </p:sp>
      <p:sp>
        <p:nvSpPr>
          <p:cNvPr id="12" name="AutoShape 6" descr="Lógica Proposicional x Lógica de Argumento ⋆ Colaborae">
            <a:extLst>
              <a:ext uri="{FF2B5EF4-FFF2-40B4-BE49-F238E27FC236}">
                <a16:creationId xmlns:a16="http://schemas.microsoft.com/office/drawing/2014/main" id="{F1C6C694-907B-4090-64BD-AEE83CCF19C5}"/>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7EBA44CF-0249-2FC7-5D35-8CE4AAB5D1FE}"/>
              </a:ext>
            </a:extLst>
          </p:cNvPr>
          <p:cNvSpPr>
            <a:spLocks noGrp="1"/>
          </p:cNvSpPr>
          <p:nvPr>
            <p:ph idx="1"/>
          </p:nvPr>
        </p:nvSpPr>
        <p:spPr>
          <a:xfrm>
            <a:off x="1486540" y="1804575"/>
            <a:ext cx="8670280" cy="4746632"/>
          </a:xfrm>
        </p:spPr>
        <p:txBody>
          <a:bodyPr/>
          <a:lstStyle/>
          <a:p>
            <a:r>
              <a:rPr lang="pt-BR" sz="2400" dirty="0"/>
              <a:t>Atividades Complementares 1 – </a:t>
            </a:r>
            <a:r>
              <a:rPr lang="pt-BR" sz="2400" b="1" dirty="0"/>
              <a:t>5pts</a:t>
            </a:r>
          </a:p>
          <a:p>
            <a:r>
              <a:rPr lang="pt-BR" sz="2400" dirty="0" err="1"/>
              <a:t>Uniube</a:t>
            </a:r>
            <a:r>
              <a:rPr lang="pt-BR" sz="2400" dirty="0"/>
              <a:t>+ – </a:t>
            </a:r>
            <a:r>
              <a:rPr lang="pt-BR" sz="2400" b="1" dirty="0"/>
              <a:t>5pts</a:t>
            </a:r>
            <a:endParaRPr lang="pt-BR" sz="2400" dirty="0"/>
          </a:p>
          <a:p>
            <a:r>
              <a:rPr lang="pt-BR" sz="2400" dirty="0"/>
              <a:t>Avaliação 1 – </a:t>
            </a:r>
            <a:r>
              <a:rPr lang="pt-BR" sz="2400" b="1" dirty="0"/>
              <a:t>25pts</a:t>
            </a:r>
            <a:r>
              <a:rPr lang="pt-BR" sz="2400" dirty="0"/>
              <a:t> – Data prevista: </a:t>
            </a:r>
          </a:p>
          <a:p>
            <a:pPr marL="0" indent="0">
              <a:buNone/>
            </a:pPr>
            <a:endParaRPr lang="pt-BR" sz="2400" dirty="0"/>
          </a:p>
          <a:p>
            <a:r>
              <a:rPr lang="pt-BR" sz="2400" dirty="0"/>
              <a:t>Atividades Complementares 2 – </a:t>
            </a:r>
            <a:r>
              <a:rPr lang="pt-BR" sz="2400" b="1" dirty="0"/>
              <a:t>10pts</a:t>
            </a:r>
          </a:p>
          <a:p>
            <a:r>
              <a:rPr lang="pt-BR" sz="2400" dirty="0" err="1"/>
              <a:t>Uniube</a:t>
            </a:r>
            <a:r>
              <a:rPr lang="pt-BR" sz="2400" dirty="0"/>
              <a:t>+ – </a:t>
            </a:r>
            <a:r>
              <a:rPr lang="pt-BR" sz="2400" b="1" dirty="0"/>
              <a:t>10pts</a:t>
            </a:r>
            <a:endParaRPr lang="pt-BR" sz="2400" dirty="0"/>
          </a:p>
          <a:p>
            <a:r>
              <a:rPr lang="pt-BR" sz="2400" dirty="0"/>
              <a:t>Avaliação 2 – </a:t>
            </a:r>
            <a:r>
              <a:rPr lang="pt-BR" sz="2400" b="1" dirty="0"/>
              <a:t>30pts</a:t>
            </a:r>
            <a:r>
              <a:rPr lang="pt-BR" sz="2400" dirty="0"/>
              <a:t> – Data prevista: </a:t>
            </a:r>
          </a:p>
          <a:p>
            <a:endParaRPr lang="pt-BR" sz="2400" dirty="0"/>
          </a:p>
          <a:p>
            <a:r>
              <a:rPr lang="pt-BR" sz="2400" dirty="0"/>
              <a:t>Avaliação Institucional – </a:t>
            </a:r>
            <a:r>
              <a:rPr lang="pt-BR" sz="2400" b="1" dirty="0"/>
              <a:t>15pts</a:t>
            </a:r>
            <a:endParaRPr lang="pt-BR" sz="2400" dirty="0"/>
          </a:p>
          <a:p>
            <a:r>
              <a:rPr lang="pt-BR" sz="2400" dirty="0"/>
              <a:t>Soma total de pontos: </a:t>
            </a:r>
            <a:r>
              <a:rPr lang="pt-BR" sz="2400" b="1" dirty="0"/>
              <a:t>100pts</a:t>
            </a:r>
            <a:endParaRPr lang="pt-BR" sz="2400" dirty="0"/>
          </a:p>
          <a:p>
            <a:endParaRPr lang="pt-BR" sz="2400" dirty="0"/>
          </a:p>
          <a:p>
            <a:endParaRPr lang="pt-BR" sz="2400" dirty="0"/>
          </a:p>
          <a:p>
            <a:endParaRPr lang="pt-BR" sz="2400" dirty="0"/>
          </a:p>
          <a:p>
            <a:endParaRPr lang="pt-BR" dirty="0"/>
          </a:p>
        </p:txBody>
      </p:sp>
      <p:pic>
        <p:nvPicPr>
          <p:cNvPr id="1026" name="Picture 2" descr="Teste - ícones de educação grátis">
            <a:extLst>
              <a:ext uri="{FF2B5EF4-FFF2-40B4-BE49-F238E27FC236}">
                <a16:creationId xmlns:a16="http://schemas.microsoft.com/office/drawing/2014/main" id="{5C4BB763-0221-5AB3-8665-67367B488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5126" y="2518544"/>
            <a:ext cx="3150736" cy="3150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0451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8EFC3-284D-D3E8-E50A-9E8782F149E5}"/>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B1CC91A5-617B-F614-3886-EF59D2171B4E}"/>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D778D71A-5EF8-AADA-8ACC-9C2D89EE5258}"/>
              </a:ext>
            </a:extLst>
          </p:cNvPr>
          <p:cNvSpPr>
            <a:spLocks noGrp="1"/>
          </p:cNvSpPr>
          <p:nvPr>
            <p:ph type="title"/>
          </p:nvPr>
        </p:nvSpPr>
        <p:spPr>
          <a:xfrm>
            <a:off x="0" y="-1"/>
            <a:ext cx="12192000" cy="1325563"/>
          </a:xfrm>
        </p:spPr>
        <p:txBody>
          <a:bodyPr/>
          <a:lstStyle/>
          <a:p>
            <a:pPr algn="ctr"/>
            <a:r>
              <a:rPr lang="pt-BR" dirty="0">
                <a:solidFill>
                  <a:schemeClr val="bg1"/>
                </a:solidFill>
              </a:rPr>
              <a:t>Bibliografia</a:t>
            </a:r>
          </a:p>
        </p:txBody>
      </p:sp>
      <p:sp>
        <p:nvSpPr>
          <p:cNvPr id="12" name="AutoShape 6" descr="Lógica Proposicional x Lógica de Argumento ⋆ Colaborae">
            <a:extLst>
              <a:ext uri="{FF2B5EF4-FFF2-40B4-BE49-F238E27FC236}">
                <a16:creationId xmlns:a16="http://schemas.microsoft.com/office/drawing/2014/main" id="{ED9276FC-2835-8FCA-9E06-6FEFA248BD66}"/>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E0EE607F-D9F4-7951-D428-ABA18E81EE79}"/>
              </a:ext>
            </a:extLst>
          </p:cNvPr>
          <p:cNvSpPr>
            <a:spLocks noGrp="1"/>
          </p:cNvSpPr>
          <p:nvPr>
            <p:ph idx="1"/>
          </p:nvPr>
        </p:nvSpPr>
        <p:spPr>
          <a:xfrm>
            <a:off x="1486540" y="1804575"/>
            <a:ext cx="9297574" cy="4746632"/>
          </a:xfrm>
        </p:spPr>
        <p:txBody>
          <a:bodyPr/>
          <a:lstStyle/>
          <a:p>
            <a:r>
              <a:rPr lang="pt-BR" sz="2400" b="1" dirty="0"/>
              <a:t>Básica</a:t>
            </a:r>
          </a:p>
          <a:p>
            <a:pPr lvl="1"/>
            <a:endParaRPr lang="pt-BR" sz="2200" dirty="0"/>
          </a:p>
          <a:p>
            <a:pPr lvl="1"/>
            <a:r>
              <a:rPr lang="pt-BR" sz="2200" dirty="0"/>
              <a:t>Matemática Discreta para Computação e Informática – PAULO MENEZES</a:t>
            </a:r>
          </a:p>
          <a:p>
            <a:pPr lvl="1"/>
            <a:r>
              <a:rPr lang="pt-BR" sz="2200" dirty="0"/>
              <a:t>Matemática Discreta – THAMARA PETROLI</a:t>
            </a:r>
          </a:p>
          <a:p>
            <a:pPr lvl="1"/>
            <a:r>
              <a:rPr lang="pt-BR" sz="2200" dirty="0"/>
              <a:t>Matemática discreta para ciência da computação – CLIFFORD STEIN</a:t>
            </a:r>
          </a:p>
          <a:p>
            <a:pPr lvl="1"/>
            <a:endParaRPr lang="pt-BR" sz="2400" dirty="0"/>
          </a:p>
          <a:p>
            <a:r>
              <a:rPr lang="pt-BR" sz="2400" b="1" dirty="0"/>
              <a:t>Complementar</a:t>
            </a:r>
          </a:p>
          <a:p>
            <a:pPr lvl="1"/>
            <a:endParaRPr lang="pt-BR" sz="2000" dirty="0"/>
          </a:p>
          <a:p>
            <a:pPr lvl="1"/>
            <a:r>
              <a:rPr lang="pt-BR" sz="2200" dirty="0" err="1"/>
              <a:t>Discrete</a:t>
            </a:r>
            <a:r>
              <a:rPr lang="pt-BR" sz="2200" dirty="0"/>
              <a:t> </a:t>
            </a:r>
            <a:r>
              <a:rPr lang="pt-BR" sz="2200" dirty="0" err="1"/>
              <a:t>Mathematics</a:t>
            </a:r>
            <a:r>
              <a:rPr lang="pt-BR" sz="2200" dirty="0"/>
              <a:t> </a:t>
            </a:r>
            <a:r>
              <a:rPr lang="pt-BR" sz="2200" dirty="0" err="1"/>
              <a:t>Applications</a:t>
            </a:r>
            <a:r>
              <a:rPr lang="pt-BR" sz="2200" dirty="0"/>
              <a:t> – KENNETH ROSEN </a:t>
            </a:r>
          </a:p>
          <a:p>
            <a:endParaRPr lang="pt-BR" sz="2400" dirty="0"/>
          </a:p>
          <a:p>
            <a:endParaRPr lang="pt-BR" sz="2400" dirty="0"/>
          </a:p>
          <a:p>
            <a:endParaRPr lang="pt-BR" dirty="0"/>
          </a:p>
        </p:txBody>
      </p:sp>
    </p:spTree>
    <p:extLst>
      <p:ext uri="{BB962C8B-B14F-4D97-AF65-F5344CB8AC3E}">
        <p14:creationId xmlns:p14="http://schemas.microsoft.com/office/powerpoint/2010/main" val="1994978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E9326E-3499-D287-DA5A-8AED2AD3A4D6}"/>
              </a:ext>
            </a:extLst>
          </p:cNvPr>
          <p:cNvSpPr>
            <a:spLocks noGrp="1"/>
          </p:cNvSpPr>
          <p:nvPr>
            <p:ph type="ctrTitle"/>
          </p:nvPr>
        </p:nvSpPr>
        <p:spPr>
          <a:xfrm>
            <a:off x="0" y="2524919"/>
            <a:ext cx="12192000" cy="1808162"/>
          </a:xfrm>
          <a:ln>
            <a:noFill/>
          </a:ln>
        </p:spPr>
        <p:txBody>
          <a:bodyPr/>
          <a:lstStyle/>
          <a:p>
            <a:r>
              <a:rPr lang="pt-BR" dirty="0">
                <a:solidFill>
                  <a:schemeClr val="bg1"/>
                </a:solidFill>
              </a:rPr>
              <a:t>módulo 1 – FUNDAMENTOS</a:t>
            </a:r>
          </a:p>
        </p:txBody>
      </p:sp>
      <p:sp>
        <p:nvSpPr>
          <p:cNvPr id="3" name="Subtítulo 2">
            <a:extLst>
              <a:ext uri="{FF2B5EF4-FFF2-40B4-BE49-F238E27FC236}">
                <a16:creationId xmlns:a16="http://schemas.microsoft.com/office/drawing/2014/main" id="{7F2C7C20-5716-4992-8451-F28A3F0EB999}"/>
              </a:ext>
            </a:extLst>
          </p:cNvPr>
          <p:cNvSpPr>
            <a:spLocks noGrp="1"/>
          </p:cNvSpPr>
          <p:nvPr>
            <p:ph type="subTitle" idx="1"/>
          </p:nvPr>
        </p:nvSpPr>
        <p:spPr>
          <a:xfrm>
            <a:off x="2695192" y="5207000"/>
            <a:ext cx="6801612" cy="1651000"/>
          </a:xfrm>
        </p:spPr>
        <p:txBody>
          <a:bodyPr/>
          <a:lstStyle/>
          <a:p>
            <a:r>
              <a:rPr lang="pt-BR" dirty="0"/>
              <a:t>Universidade de Uberaba</a:t>
            </a:r>
          </a:p>
          <a:p>
            <a:r>
              <a:rPr lang="pt-BR" dirty="0"/>
              <a:t>Marcio Salmazo Ramos</a:t>
            </a:r>
          </a:p>
        </p:txBody>
      </p:sp>
      <p:pic>
        <p:nvPicPr>
          <p:cNvPr id="8194" name="Picture 2">
            <a:extLst>
              <a:ext uri="{FF2B5EF4-FFF2-40B4-BE49-F238E27FC236}">
                <a16:creationId xmlns:a16="http://schemas.microsoft.com/office/drawing/2014/main" id="{739C2285-BBDC-FB8D-BB73-A95AC19BC9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7048" y="447153"/>
            <a:ext cx="3517900" cy="972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462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FA0AB-B6BF-1078-48E7-31A7A94C7CCC}"/>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F72A9863-C44E-59E3-6D4E-C74532B7198A}"/>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671F50B4-E98F-7B26-F350-55B8C704402A}"/>
              </a:ext>
            </a:extLst>
          </p:cNvPr>
          <p:cNvSpPr>
            <a:spLocks noGrp="1"/>
          </p:cNvSpPr>
          <p:nvPr>
            <p:ph type="title"/>
          </p:nvPr>
        </p:nvSpPr>
        <p:spPr>
          <a:xfrm>
            <a:off x="0" y="-1"/>
            <a:ext cx="12192000" cy="1325563"/>
          </a:xfrm>
        </p:spPr>
        <p:txBody>
          <a:bodyPr/>
          <a:lstStyle/>
          <a:p>
            <a:pPr algn="ctr"/>
            <a:r>
              <a:rPr lang="pt-BR" dirty="0">
                <a:solidFill>
                  <a:schemeClr val="bg1"/>
                </a:solidFill>
              </a:rPr>
              <a:t>FUNDAMENTOS</a:t>
            </a:r>
          </a:p>
        </p:txBody>
      </p:sp>
      <p:sp>
        <p:nvSpPr>
          <p:cNvPr id="12" name="AutoShape 6" descr="Lógica Proposicional x Lógica de Argumento ⋆ Colaborae">
            <a:extLst>
              <a:ext uri="{FF2B5EF4-FFF2-40B4-BE49-F238E27FC236}">
                <a16:creationId xmlns:a16="http://schemas.microsoft.com/office/drawing/2014/main" id="{6E42C9DB-BA22-8397-1845-976900410224}"/>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15ABAA58-8440-05F4-7082-815BD4AFED45}"/>
              </a:ext>
            </a:extLst>
          </p:cNvPr>
          <p:cNvSpPr>
            <a:spLocks noGrp="1"/>
          </p:cNvSpPr>
          <p:nvPr>
            <p:ph idx="1"/>
          </p:nvPr>
        </p:nvSpPr>
        <p:spPr>
          <a:xfrm>
            <a:off x="382651" y="2273968"/>
            <a:ext cx="8205537" cy="4238038"/>
          </a:xfrm>
        </p:spPr>
        <p:txBody>
          <a:bodyPr/>
          <a:lstStyle/>
          <a:p>
            <a:r>
              <a:rPr lang="pt-BR" sz="2400" dirty="0"/>
              <a:t>A matemática pode ser dividida, de maneira bastante simplificada, em dois grandes mundos:</a:t>
            </a:r>
          </a:p>
          <a:p>
            <a:pPr lvl="1"/>
            <a:endParaRPr lang="pt-BR" dirty="0"/>
          </a:p>
          <a:p>
            <a:pPr lvl="1"/>
            <a:r>
              <a:rPr lang="pt-BR" b="1" dirty="0"/>
              <a:t>Matemática Contínua </a:t>
            </a:r>
            <a:r>
              <a:rPr lang="pt-BR" dirty="0">
                <a:latin typeface="Calibri" panose="020F0502020204030204" pitchFamily="34" charset="0"/>
                <a:ea typeface="Calibri" panose="020F0502020204030204" pitchFamily="34" charset="0"/>
                <a:cs typeface="Calibri" panose="020F0502020204030204" pitchFamily="34" charset="0"/>
              </a:rPr>
              <a:t>→ trabalha com quantidades que podem assumir infinitos valores</a:t>
            </a:r>
            <a:endParaRPr lang="pt-BR" dirty="0"/>
          </a:p>
          <a:p>
            <a:pPr lvl="1"/>
            <a:endParaRPr lang="pt-BR" b="1" dirty="0"/>
          </a:p>
          <a:p>
            <a:pPr lvl="1"/>
            <a:r>
              <a:rPr lang="pt-BR" b="1" dirty="0"/>
              <a:t>Matemática Discreta </a:t>
            </a:r>
            <a:r>
              <a:rPr lang="pt-BR" dirty="0">
                <a:latin typeface="Calibri" panose="020F0502020204030204" pitchFamily="34" charset="0"/>
                <a:ea typeface="Calibri" panose="020F0502020204030204" pitchFamily="34" charset="0"/>
                <a:cs typeface="Calibri" panose="020F0502020204030204" pitchFamily="34" charset="0"/>
              </a:rPr>
              <a:t>→ </a:t>
            </a:r>
            <a:r>
              <a:rPr lang="pt-BR" dirty="0"/>
              <a:t>A matemática discreta estuda estruturas de elementos distintos, contáveis e separados</a:t>
            </a:r>
            <a:endParaRPr lang="pt-BR" b="1" dirty="0"/>
          </a:p>
        </p:txBody>
      </p:sp>
      <mc:AlternateContent xmlns:mc="http://schemas.openxmlformats.org/markup-compatibility/2006" xmlns:a14="http://schemas.microsoft.com/office/drawing/2010/main">
        <mc:Choice Requires="a14">
          <p:graphicFrame>
            <p:nvGraphicFramePr>
              <p:cNvPr id="3" name="Tabela 2">
                <a:extLst>
                  <a:ext uri="{FF2B5EF4-FFF2-40B4-BE49-F238E27FC236}">
                    <a16:creationId xmlns:a16="http://schemas.microsoft.com/office/drawing/2014/main" id="{2BD01C2F-4DEC-D198-7B56-365635F15B20}"/>
                  </a:ext>
                </a:extLst>
              </p:cNvPr>
              <p:cNvGraphicFramePr>
                <a:graphicFrameLocks noGrp="1"/>
              </p:cNvGraphicFramePr>
              <p:nvPr>
                <p:extLst>
                  <p:ext uri="{D42A27DB-BD31-4B8C-83A1-F6EECF244321}">
                    <p14:modId xmlns:p14="http://schemas.microsoft.com/office/powerpoint/2010/main" val="1100333362"/>
                  </p:ext>
                </p:extLst>
              </p:nvPr>
            </p:nvGraphicFramePr>
            <p:xfrm>
              <a:off x="8588188" y="2009274"/>
              <a:ext cx="3320718" cy="4042756"/>
            </p:xfrm>
            <a:graphic>
              <a:graphicData uri="http://schemas.openxmlformats.org/drawingml/2006/table">
                <a:tbl>
                  <a:tblPr firstRow="1" bandRow="1">
                    <a:tableStyleId>{5C22544A-7EE6-4342-B048-85BDC9FD1C3A}</a:tableStyleId>
                  </a:tblPr>
                  <a:tblGrid>
                    <a:gridCol w="1660359">
                      <a:extLst>
                        <a:ext uri="{9D8B030D-6E8A-4147-A177-3AD203B41FA5}">
                          <a16:colId xmlns:a16="http://schemas.microsoft.com/office/drawing/2014/main" val="331691076"/>
                        </a:ext>
                      </a:extLst>
                    </a:gridCol>
                    <a:gridCol w="1660359">
                      <a:extLst>
                        <a:ext uri="{9D8B030D-6E8A-4147-A177-3AD203B41FA5}">
                          <a16:colId xmlns:a16="http://schemas.microsoft.com/office/drawing/2014/main" val="2078216182"/>
                        </a:ext>
                      </a:extLst>
                    </a:gridCol>
                  </a:tblGrid>
                  <a:tr h="473434">
                    <a:tc>
                      <a:txBody>
                        <a:bodyPr/>
                        <a:lstStyle/>
                        <a:p>
                          <a:pPr algn="ctr"/>
                          <a:r>
                            <a:rPr lang="pt-BR" dirty="0"/>
                            <a:t>Contínuo</a:t>
                          </a:r>
                        </a:p>
                      </a:txBody>
                      <a:tcPr/>
                    </a:tc>
                    <a:tc>
                      <a:txBody>
                        <a:bodyPr/>
                        <a:lstStyle/>
                        <a:p>
                          <a:pPr algn="ctr"/>
                          <a:r>
                            <a:rPr lang="pt-BR" dirty="0"/>
                            <a:t>Discreto</a:t>
                          </a:r>
                        </a:p>
                      </a:txBody>
                      <a:tcPr/>
                    </a:tc>
                    <a:extLst>
                      <a:ext uri="{0D108BD9-81ED-4DB2-BD59-A6C34878D82A}">
                        <a16:rowId xmlns:a16="http://schemas.microsoft.com/office/drawing/2014/main" val="1356956785"/>
                      </a:ext>
                    </a:extLst>
                  </a:tr>
                  <a:tr h="473434">
                    <a:tc>
                      <a:txBody>
                        <a:bodyPr/>
                        <a:lstStyle/>
                        <a:p>
                          <a:pPr algn="ctr"/>
                          <a:r>
                            <a:rPr lang="pt-BR" dirty="0"/>
                            <a:t>1</a:t>
                          </a:r>
                        </a:p>
                      </a:txBody>
                      <a:tcPr/>
                    </a:tc>
                    <a:tc>
                      <a:txBody>
                        <a:bodyPr/>
                        <a:lstStyle/>
                        <a:p>
                          <a:pPr algn="ctr"/>
                          <a:r>
                            <a:rPr lang="pt-BR" dirty="0"/>
                            <a:t>18</a:t>
                          </a:r>
                        </a:p>
                      </a:txBody>
                      <a:tcPr/>
                    </a:tc>
                    <a:extLst>
                      <a:ext uri="{0D108BD9-81ED-4DB2-BD59-A6C34878D82A}">
                        <a16:rowId xmlns:a16="http://schemas.microsoft.com/office/drawing/2014/main" val="3017655863"/>
                      </a:ext>
                    </a:extLst>
                  </a:tr>
                  <a:tr h="473434">
                    <a:tc>
                      <a:txBody>
                        <a:bodyPr/>
                        <a:lstStyle/>
                        <a:p>
                          <a:pPr algn="ctr"/>
                          <a:r>
                            <a:rPr lang="pt-BR" dirty="0"/>
                            <a:t>1.1</a:t>
                          </a:r>
                        </a:p>
                      </a:txBody>
                      <a:tcPr/>
                    </a:tc>
                    <a:tc>
                      <a:txBody>
                        <a:bodyPr/>
                        <a:lstStyle/>
                        <a:p>
                          <a:pPr algn="ctr"/>
                          <a:r>
                            <a:rPr lang="pt-BR" dirty="0"/>
                            <a:t>19</a:t>
                          </a:r>
                        </a:p>
                      </a:txBody>
                      <a:tcPr/>
                    </a:tc>
                    <a:extLst>
                      <a:ext uri="{0D108BD9-81ED-4DB2-BD59-A6C34878D82A}">
                        <a16:rowId xmlns:a16="http://schemas.microsoft.com/office/drawing/2014/main" val="4005554692"/>
                      </a:ext>
                    </a:extLst>
                  </a:tr>
                  <a:tr h="473434">
                    <a:tc>
                      <a:txBody>
                        <a:bodyPr/>
                        <a:lstStyle/>
                        <a:p>
                          <a:pPr algn="ctr"/>
                          <a:r>
                            <a:rPr lang="pt-BR" dirty="0"/>
                            <a:t>1.10001</a:t>
                          </a:r>
                        </a:p>
                      </a:txBody>
                      <a:tcPr/>
                    </a:tc>
                    <a:tc>
                      <a:txBody>
                        <a:bodyPr/>
                        <a:lstStyle/>
                        <a:p>
                          <a:pPr algn="ctr"/>
                          <a:r>
                            <a:rPr lang="pt-BR" dirty="0"/>
                            <a:t>20</a:t>
                          </a:r>
                        </a:p>
                      </a:txBody>
                      <a:tcPr/>
                    </a:tc>
                    <a:extLst>
                      <a:ext uri="{0D108BD9-81ED-4DB2-BD59-A6C34878D82A}">
                        <a16:rowId xmlns:a16="http://schemas.microsoft.com/office/drawing/2014/main" val="895354482"/>
                      </a:ext>
                    </a:extLst>
                  </a:tr>
                  <a:tr h="508213">
                    <a:tc>
                      <a:txBody>
                        <a:bodyPr/>
                        <a:lstStyle/>
                        <a:p>
                          <a:pPr algn="ctr"/>
                          <a14:m>
                            <m:oMathPara xmlns:m="http://schemas.openxmlformats.org/officeDocument/2006/math">
                              <m:oMathParaPr>
                                <m:jc m:val="centerGroup"/>
                              </m:oMathParaPr>
                              <m:oMath xmlns:m="http://schemas.openxmlformats.org/officeDocument/2006/math">
                                <m:rad>
                                  <m:radPr>
                                    <m:degHide m:val="on"/>
                                    <m:ctrlPr>
                                      <a:rPr lang="pt-BR" i="1" smtClean="0">
                                        <a:latin typeface="Cambria Math" panose="02040503050406030204" pitchFamily="18" charset="0"/>
                                      </a:rPr>
                                    </m:ctrlPr>
                                  </m:radPr>
                                  <m:deg/>
                                  <m:e>
                                    <m:r>
                                      <a:rPr lang="pt-BR" b="0" i="1" smtClean="0">
                                        <a:latin typeface="Cambria Math" panose="02040503050406030204" pitchFamily="18" charset="0"/>
                                      </a:rPr>
                                      <m:t>2</m:t>
                                    </m:r>
                                  </m:e>
                                </m:rad>
                              </m:oMath>
                            </m:oMathPara>
                          </a14:m>
                          <a:endParaRPr lang="pt-BR" dirty="0"/>
                        </a:p>
                      </a:txBody>
                      <a:tcPr/>
                    </a:tc>
                    <a:tc>
                      <a:txBody>
                        <a:bodyPr/>
                        <a:lstStyle/>
                        <a:p>
                          <a:pPr algn="ctr"/>
                          <a:r>
                            <a:rPr lang="pt-BR" dirty="0"/>
                            <a:t>21</a:t>
                          </a:r>
                        </a:p>
                      </a:txBody>
                      <a:tcPr/>
                    </a:tc>
                    <a:extLst>
                      <a:ext uri="{0D108BD9-81ED-4DB2-BD59-A6C34878D82A}">
                        <a16:rowId xmlns:a16="http://schemas.microsoft.com/office/drawing/2014/main" val="2516934229"/>
                      </a:ext>
                    </a:extLst>
                  </a:tr>
                  <a:tr h="473434">
                    <a:tc>
                      <a:txBody>
                        <a:bodyPr/>
                        <a:lstStyle/>
                        <a:p>
                          <a:pPr algn="ctr"/>
                          <a:r>
                            <a:rPr lang="pt-BR" dirty="0"/>
                            <a:t>...</a:t>
                          </a:r>
                        </a:p>
                      </a:txBody>
                      <a:tcPr/>
                    </a:tc>
                    <a:tc>
                      <a:txBody>
                        <a:bodyPr/>
                        <a:lstStyle/>
                        <a:p>
                          <a:pPr algn="ctr"/>
                          <a:r>
                            <a:rPr lang="pt-BR" dirty="0"/>
                            <a:t>...</a:t>
                          </a:r>
                        </a:p>
                      </a:txBody>
                      <a:tcPr/>
                    </a:tc>
                    <a:extLst>
                      <a:ext uri="{0D108BD9-81ED-4DB2-BD59-A6C34878D82A}">
                        <a16:rowId xmlns:a16="http://schemas.microsoft.com/office/drawing/2014/main" val="3737693217"/>
                      </a:ext>
                    </a:extLst>
                  </a:tr>
                  <a:tr h="1167373">
                    <a:tc>
                      <a:txBody>
                        <a:bodyPr/>
                        <a:lstStyle/>
                        <a:p>
                          <a:pPr algn="ctr"/>
                          <a:r>
                            <a:rPr lang="pt-BR" dirty="0"/>
                            <a:t>Nunca existe um "próximo número"</a:t>
                          </a:r>
                        </a:p>
                      </a:txBody>
                      <a:tcPr/>
                    </a:tc>
                    <a:tc>
                      <a:txBody>
                        <a:bodyPr/>
                        <a:lstStyle/>
                        <a:p>
                          <a:pPr algn="ctr"/>
                          <a:r>
                            <a:rPr lang="pt-BR" dirty="0"/>
                            <a:t>Espaçamento bem definido</a:t>
                          </a:r>
                        </a:p>
                      </a:txBody>
                      <a:tcPr/>
                    </a:tc>
                    <a:extLst>
                      <a:ext uri="{0D108BD9-81ED-4DB2-BD59-A6C34878D82A}">
                        <a16:rowId xmlns:a16="http://schemas.microsoft.com/office/drawing/2014/main" val="4217778685"/>
                      </a:ext>
                    </a:extLst>
                  </a:tr>
                </a:tbl>
              </a:graphicData>
            </a:graphic>
          </p:graphicFrame>
        </mc:Choice>
        <mc:Fallback xmlns="">
          <p:graphicFrame>
            <p:nvGraphicFramePr>
              <p:cNvPr id="3" name="Tabela 2">
                <a:extLst>
                  <a:ext uri="{FF2B5EF4-FFF2-40B4-BE49-F238E27FC236}">
                    <a16:creationId xmlns:a16="http://schemas.microsoft.com/office/drawing/2014/main" id="{2BD01C2F-4DEC-D198-7B56-365635F15B20}"/>
                  </a:ext>
                </a:extLst>
              </p:cNvPr>
              <p:cNvGraphicFramePr>
                <a:graphicFrameLocks noGrp="1"/>
              </p:cNvGraphicFramePr>
              <p:nvPr>
                <p:extLst>
                  <p:ext uri="{D42A27DB-BD31-4B8C-83A1-F6EECF244321}">
                    <p14:modId xmlns:p14="http://schemas.microsoft.com/office/powerpoint/2010/main" val="1100333362"/>
                  </p:ext>
                </p:extLst>
              </p:nvPr>
            </p:nvGraphicFramePr>
            <p:xfrm>
              <a:off x="8588188" y="2009274"/>
              <a:ext cx="3320718" cy="4042756"/>
            </p:xfrm>
            <a:graphic>
              <a:graphicData uri="http://schemas.openxmlformats.org/drawingml/2006/table">
                <a:tbl>
                  <a:tblPr firstRow="1" bandRow="1">
                    <a:tableStyleId>{5C22544A-7EE6-4342-B048-85BDC9FD1C3A}</a:tableStyleId>
                  </a:tblPr>
                  <a:tblGrid>
                    <a:gridCol w="1660359">
                      <a:extLst>
                        <a:ext uri="{9D8B030D-6E8A-4147-A177-3AD203B41FA5}">
                          <a16:colId xmlns:a16="http://schemas.microsoft.com/office/drawing/2014/main" val="331691076"/>
                        </a:ext>
                      </a:extLst>
                    </a:gridCol>
                    <a:gridCol w="1660359">
                      <a:extLst>
                        <a:ext uri="{9D8B030D-6E8A-4147-A177-3AD203B41FA5}">
                          <a16:colId xmlns:a16="http://schemas.microsoft.com/office/drawing/2014/main" val="2078216182"/>
                        </a:ext>
                      </a:extLst>
                    </a:gridCol>
                  </a:tblGrid>
                  <a:tr h="473434">
                    <a:tc>
                      <a:txBody>
                        <a:bodyPr/>
                        <a:lstStyle/>
                        <a:p>
                          <a:pPr algn="ctr"/>
                          <a:r>
                            <a:rPr lang="pt-BR" dirty="0"/>
                            <a:t>Contínuo</a:t>
                          </a:r>
                        </a:p>
                      </a:txBody>
                      <a:tcPr/>
                    </a:tc>
                    <a:tc>
                      <a:txBody>
                        <a:bodyPr/>
                        <a:lstStyle/>
                        <a:p>
                          <a:pPr algn="ctr"/>
                          <a:r>
                            <a:rPr lang="pt-BR" dirty="0"/>
                            <a:t>Discreto</a:t>
                          </a:r>
                        </a:p>
                      </a:txBody>
                      <a:tcPr/>
                    </a:tc>
                    <a:extLst>
                      <a:ext uri="{0D108BD9-81ED-4DB2-BD59-A6C34878D82A}">
                        <a16:rowId xmlns:a16="http://schemas.microsoft.com/office/drawing/2014/main" val="1356956785"/>
                      </a:ext>
                    </a:extLst>
                  </a:tr>
                  <a:tr h="473434">
                    <a:tc>
                      <a:txBody>
                        <a:bodyPr/>
                        <a:lstStyle/>
                        <a:p>
                          <a:pPr algn="ctr"/>
                          <a:r>
                            <a:rPr lang="pt-BR" dirty="0"/>
                            <a:t>1</a:t>
                          </a:r>
                        </a:p>
                      </a:txBody>
                      <a:tcPr/>
                    </a:tc>
                    <a:tc>
                      <a:txBody>
                        <a:bodyPr/>
                        <a:lstStyle/>
                        <a:p>
                          <a:pPr algn="ctr"/>
                          <a:r>
                            <a:rPr lang="pt-BR" dirty="0"/>
                            <a:t>18</a:t>
                          </a:r>
                        </a:p>
                      </a:txBody>
                      <a:tcPr/>
                    </a:tc>
                    <a:extLst>
                      <a:ext uri="{0D108BD9-81ED-4DB2-BD59-A6C34878D82A}">
                        <a16:rowId xmlns:a16="http://schemas.microsoft.com/office/drawing/2014/main" val="3017655863"/>
                      </a:ext>
                    </a:extLst>
                  </a:tr>
                  <a:tr h="473434">
                    <a:tc>
                      <a:txBody>
                        <a:bodyPr/>
                        <a:lstStyle/>
                        <a:p>
                          <a:pPr algn="ctr"/>
                          <a:r>
                            <a:rPr lang="pt-BR" dirty="0"/>
                            <a:t>1.1</a:t>
                          </a:r>
                        </a:p>
                      </a:txBody>
                      <a:tcPr/>
                    </a:tc>
                    <a:tc>
                      <a:txBody>
                        <a:bodyPr/>
                        <a:lstStyle/>
                        <a:p>
                          <a:pPr algn="ctr"/>
                          <a:r>
                            <a:rPr lang="pt-BR" dirty="0"/>
                            <a:t>19</a:t>
                          </a:r>
                        </a:p>
                      </a:txBody>
                      <a:tcPr/>
                    </a:tc>
                    <a:extLst>
                      <a:ext uri="{0D108BD9-81ED-4DB2-BD59-A6C34878D82A}">
                        <a16:rowId xmlns:a16="http://schemas.microsoft.com/office/drawing/2014/main" val="4005554692"/>
                      </a:ext>
                    </a:extLst>
                  </a:tr>
                  <a:tr h="473434">
                    <a:tc>
                      <a:txBody>
                        <a:bodyPr/>
                        <a:lstStyle/>
                        <a:p>
                          <a:pPr algn="ctr"/>
                          <a:r>
                            <a:rPr lang="pt-BR" dirty="0"/>
                            <a:t>1.10001</a:t>
                          </a:r>
                        </a:p>
                      </a:txBody>
                      <a:tcPr/>
                    </a:tc>
                    <a:tc>
                      <a:txBody>
                        <a:bodyPr/>
                        <a:lstStyle/>
                        <a:p>
                          <a:pPr algn="ctr"/>
                          <a:r>
                            <a:rPr lang="pt-BR" dirty="0"/>
                            <a:t>20</a:t>
                          </a:r>
                        </a:p>
                      </a:txBody>
                      <a:tcPr/>
                    </a:tc>
                    <a:extLst>
                      <a:ext uri="{0D108BD9-81ED-4DB2-BD59-A6C34878D82A}">
                        <a16:rowId xmlns:a16="http://schemas.microsoft.com/office/drawing/2014/main" val="895354482"/>
                      </a:ext>
                    </a:extLst>
                  </a:tr>
                  <a:tr h="508213">
                    <a:tc>
                      <a:txBody>
                        <a:bodyPr/>
                        <a:lstStyle/>
                        <a:p>
                          <a:endParaRPr lang="pt-BR"/>
                        </a:p>
                      </a:txBody>
                      <a:tcPr>
                        <a:blipFill>
                          <a:blip r:embed="rId3"/>
                          <a:stretch>
                            <a:fillRect l="-366" t="-376190" r="-101465" b="-322619"/>
                          </a:stretch>
                        </a:blipFill>
                      </a:tcPr>
                    </a:tc>
                    <a:tc>
                      <a:txBody>
                        <a:bodyPr/>
                        <a:lstStyle/>
                        <a:p>
                          <a:pPr algn="ctr"/>
                          <a:r>
                            <a:rPr lang="pt-BR" dirty="0"/>
                            <a:t>21</a:t>
                          </a:r>
                        </a:p>
                      </a:txBody>
                      <a:tcPr/>
                    </a:tc>
                    <a:extLst>
                      <a:ext uri="{0D108BD9-81ED-4DB2-BD59-A6C34878D82A}">
                        <a16:rowId xmlns:a16="http://schemas.microsoft.com/office/drawing/2014/main" val="2516934229"/>
                      </a:ext>
                    </a:extLst>
                  </a:tr>
                  <a:tr h="473434">
                    <a:tc>
                      <a:txBody>
                        <a:bodyPr/>
                        <a:lstStyle/>
                        <a:p>
                          <a:pPr algn="ctr"/>
                          <a:r>
                            <a:rPr lang="pt-BR" dirty="0"/>
                            <a:t>...</a:t>
                          </a:r>
                        </a:p>
                      </a:txBody>
                      <a:tcPr/>
                    </a:tc>
                    <a:tc>
                      <a:txBody>
                        <a:bodyPr/>
                        <a:lstStyle/>
                        <a:p>
                          <a:pPr algn="ctr"/>
                          <a:r>
                            <a:rPr lang="pt-BR" dirty="0"/>
                            <a:t>...</a:t>
                          </a:r>
                        </a:p>
                      </a:txBody>
                      <a:tcPr/>
                    </a:tc>
                    <a:extLst>
                      <a:ext uri="{0D108BD9-81ED-4DB2-BD59-A6C34878D82A}">
                        <a16:rowId xmlns:a16="http://schemas.microsoft.com/office/drawing/2014/main" val="3737693217"/>
                      </a:ext>
                    </a:extLst>
                  </a:tr>
                  <a:tr h="1167373">
                    <a:tc>
                      <a:txBody>
                        <a:bodyPr/>
                        <a:lstStyle/>
                        <a:p>
                          <a:pPr algn="ctr"/>
                          <a:r>
                            <a:rPr lang="pt-BR" dirty="0"/>
                            <a:t>Nunca existe um "próximo número"</a:t>
                          </a:r>
                        </a:p>
                      </a:txBody>
                      <a:tcPr/>
                    </a:tc>
                    <a:tc>
                      <a:txBody>
                        <a:bodyPr/>
                        <a:lstStyle/>
                        <a:p>
                          <a:pPr algn="ctr"/>
                          <a:r>
                            <a:rPr lang="pt-BR" dirty="0"/>
                            <a:t>Espaçamento bem definido</a:t>
                          </a:r>
                        </a:p>
                      </a:txBody>
                      <a:tcPr/>
                    </a:tc>
                    <a:extLst>
                      <a:ext uri="{0D108BD9-81ED-4DB2-BD59-A6C34878D82A}">
                        <a16:rowId xmlns:a16="http://schemas.microsoft.com/office/drawing/2014/main" val="4217778685"/>
                      </a:ext>
                    </a:extLst>
                  </a:tr>
                </a:tbl>
              </a:graphicData>
            </a:graphic>
          </p:graphicFrame>
        </mc:Fallback>
      </mc:AlternateContent>
    </p:spTree>
    <p:extLst>
      <p:ext uri="{BB962C8B-B14F-4D97-AF65-F5344CB8AC3E}">
        <p14:creationId xmlns:p14="http://schemas.microsoft.com/office/powerpoint/2010/main" val="92537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F166F-C9E2-A0F7-8B69-2DFD7AF209B0}"/>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D10A4968-8F43-8111-9A2B-C013EF692181}"/>
              </a:ext>
            </a:extLst>
          </p:cNvPr>
          <p:cNvSpPr/>
          <p:nvPr/>
        </p:nvSpPr>
        <p:spPr>
          <a:xfrm>
            <a:off x="0" y="2766218"/>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650D58C5-6689-1EB8-F2A3-2420C75434BB}"/>
              </a:ext>
            </a:extLst>
          </p:cNvPr>
          <p:cNvSpPr>
            <a:spLocks noGrp="1"/>
          </p:cNvSpPr>
          <p:nvPr>
            <p:ph type="title"/>
          </p:nvPr>
        </p:nvSpPr>
        <p:spPr>
          <a:xfrm>
            <a:off x="0" y="2766218"/>
            <a:ext cx="12192000" cy="1325563"/>
          </a:xfrm>
        </p:spPr>
        <p:txBody>
          <a:bodyPr/>
          <a:lstStyle/>
          <a:p>
            <a:pPr algn="ctr"/>
            <a:r>
              <a:rPr lang="pt-BR" dirty="0">
                <a:solidFill>
                  <a:schemeClr val="bg1"/>
                </a:solidFill>
              </a:rPr>
              <a:t>Por que o computador precisa da Mat. Discreta?</a:t>
            </a:r>
          </a:p>
        </p:txBody>
      </p:sp>
      <p:sp>
        <p:nvSpPr>
          <p:cNvPr id="12" name="AutoShape 6" descr="Lógica Proposicional x Lógica de Argumento ⋆ Colaborae">
            <a:extLst>
              <a:ext uri="{FF2B5EF4-FFF2-40B4-BE49-F238E27FC236}">
                <a16:creationId xmlns:a16="http://schemas.microsoft.com/office/drawing/2014/main" id="{B1E1CA40-1AD7-E800-2F32-9444868881D5}"/>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Tree>
    <p:extLst>
      <p:ext uri="{BB962C8B-B14F-4D97-AF65-F5344CB8AC3E}">
        <p14:creationId xmlns:p14="http://schemas.microsoft.com/office/powerpoint/2010/main" val="616879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656D-50CC-9A39-33E0-DEA2D2B97446}"/>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5AC286B9-ED2B-7504-F944-203C79BB740D}"/>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A0E16854-B825-253D-B3DB-A2FEB790182E}"/>
              </a:ext>
            </a:extLst>
          </p:cNvPr>
          <p:cNvSpPr>
            <a:spLocks noGrp="1"/>
          </p:cNvSpPr>
          <p:nvPr>
            <p:ph type="title"/>
          </p:nvPr>
        </p:nvSpPr>
        <p:spPr>
          <a:xfrm>
            <a:off x="0" y="-1"/>
            <a:ext cx="12192000" cy="1325563"/>
          </a:xfrm>
        </p:spPr>
        <p:txBody>
          <a:bodyPr/>
          <a:lstStyle/>
          <a:p>
            <a:pPr algn="ctr"/>
            <a:r>
              <a:rPr lang="pt-BR" dirty="0">
                <a:solidFill>
                  <a:schemeClr val="bg1"/>
                </a:solidFill>
              </a:rPr>
              <a:t>DISCRETIZAÇÃO</a:t>
            </a:r>
          </a:p>
        </p:txBody>
      </p:sp>
      <p:sp>
        <p:nvSpPr>
          <p:cNvPr id="12" name="AutoShape 6" descr="Lógica Proposicional x Lógica de Argumento ⋆ Colaborae">
            <a:extLst>
              <a:ext uri="{FF2B5EF4-FFF2-40B4-BE49-F238E27FC236}">
                <a16:creationId xmlns:a16="http://schemas.microsoft.com/office/drawing/2014/main" id="{99894E25-0727-156F-541B-6EDCB87D70D1}"/>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00D20FCB-5378-CA36-2DFF-541F35FC0774}"/>
              </a:ext>
            </a:extLst>
          </p:cNvPr>
          <p:cNvSpPr>
            <a:spLocks noGrp="1"/>
          </p:cNvSpPr>
          <p:nvPr>
            <p:ph idx="1"/>
          </p:nvPr>
        </p:nvSpPr>
        <p:spPr>
          <a:xfrm>
            <a:off x="1840831" y="2117558"/>
            <a:ext cx="8205537" cy="4238038"/>
          </a:xfrm>
        </p:spPr>
        <p:txBody>
          <a:bodyPr/>
          <a:lstStyle/>
          <a:p>
            <a:r>
              <a:rPr lang="pt-BR" sz="2400" dirty="0"/>
              <a:t>Para o computador, toda informação é convertida em uma sequência finita de símbolos: os </a:t>
            </a:r>
            <a:r>
              <a:rPr lang="pt-BR" sz="2400" b="1" dirty="0"/>
              <a:t>bits</a:t>
            </a:r>
            <a:r>
              <a:rPr lang="pt-BR" sz="2400" dirty="0"/>
              <a:t>.</a:t>
            </a:r>
          </a:p>
          <a:p>
            <a:endParaRPr lang="pt-BR" sz="2400" dirty="0"/>
          </a:p>
          <a:p>
            <a:pPr lvl="1"/>
            <a:r>
              <a:rPr lang="pt-BR" sz="2200" dirty="0"/>
              <a:t>Um bit possui apenas dois estados: 0 (False) e 1 (</a:t>
            </a:r>
            <a:r>
              <a:rPr lang="pt-BR" sz="2200" dirty="0" err="1"/>
              <a:t>True</a:t>
            </a:r>
            <a:r>
              <a:rPr lang="pt-BR" sz="2200" dirty="0"/>
              <a:t>)</a:t>
            </a:r>
          </a:p>
          <a:p>
            <a:pPr lvl="1"/>
            <a:endParaRPr lang="pt-BR" sz="2200" dirty="0"/>
          </a:p>
          <a:p>
            <a:pPr lvl="1"/>
            <a:r>
              <a:rPr lang="pt-BR" sz="2200" dirty="0"/>
              <a:t>O computador nunca trabalha diretamente com infinitas possibilidades. Sempre existe um estado definido.</a:t>
            </a:r>
          </a:p>
          <a:p>
            <a:pPr lvl="1"/>
            <a:endParaRPr lang="pt-BR" sz="2200" dirty="0"/>
          </a:p>
          <a:p>
            <a:pPr marL="457200" lvl="1" indent="0">
              <a:buNone/>
            </a:pPr>
            <a:r>
              <a:rPr lang="pt-BR" sz="2200" dirty="0"/>
              <a:t>                                 </a:t>
            </a:r>
          </a:p>
          <a:p>
            <a:pPr marL="457200" lvl="1" indent="0">
              <a:buNone/>
            </a:pPr>
            <a:r>
              <a:rPr lang="pt-BR" sz="2200" dirty="0"/>
              <a:t>			</a:t>
            </a:r>
            <a:r>
              <a:rPr lang="pt-BR" sz="2200" b="1" dirty="0"/>
              <a:t>Valores Discretos</a:t>
            </a:r>
          </a:p>
        </p:txBody>
      </p:sp>
      <p:cxnSp>
        <p:nvCxnSpPr>
          <p:cNvPr id="7" name="Conector de Seta Reta 6">
            <a:extLst>
              <a:ext uri="{FF2B5EF4-FFF2-40B4-BE49-F238E27FC236}">
                <a16:creationId xmlns:a16="http://schemas.microsoft.com/office/drawing/2014/main" id="{5823A34D-A7A4-CFFA-E569-4AE4A6762734}"/>
              </a:ext>
            </a:extLst>
          </p:cNvPr>
          <p:cNvCxnSpPr>
            <a:cxnSpLocks/>
          </p:cNvCxnSpPr>
          <p:nvPr/>
        </p:nvCxnSpPr>
        <p:spPr>
          <a:xfrm>
            <a:off x="5582652" y="4812632"/>
            <a:ext cx="0" cy="54156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8468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FC8E4-E2A1-0655-3F3E-A9A57FDCBC1E}"/>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DBCD2E4D-91A2-C7C4-AC1C-0BBD252111BC}"/>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2D3FC0DB-0E89-3E1A-9ED9-8F5D6828D50D}"/>
              </a:ext>
            </a:extLst>
          </p:cNvPr>
          <p:cNvSpPr>
            <a:spLocks noGrp="1"/>
          </p:cNvSpPr>
          <p:nvPr>
            <p:ph type="title"/>
          </p:nvPr>
        </p:nvSpPr>
        <p:spPr>
          <a:xfrm>
            <a:off x="0" y="-1"/>
            <a:ext cx="12192000" cy="1325563"/>
          </a:xfrm>
        </p:spPr>
        <p:txBody>
          <a:bodyPr/>
          <a:lstStyle/>
          <a:p>
            <a:pPr algn="ctr"/>
            <a:r>
              <a:rPr lang="pt-BR" dirty="0">
                <a:solidFill>
                  <a:schemeClr val="bg1"/>
                </a:solidFill>
              </a:rPr>
              <a:t>DISCRETIZAÇÃO</a:t>
            </a:r>
          </a:p>
        </p:txBody>
      </p:sp>
      <p:sp>
        <p:nvSpPr>
          <p:cNvPr id="12" name="AutoShape 6" descr="Lógica Proposicional x Lógica de Argumento ⋆ Colaborae">
            <a:extLst>
              <a:ext uri="{FF2B5EF4-FFF2-40B4-BE49-F238E27FC236}">
                <a16:creationId xmlns:a16="http://schemas.microsoft.com/office/drawing/2014/main" id="{5E11B0B7-D903-67FB-2737-1C90367E8C09}"/>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014DA70A-505E-D958-5257-7CFC4814AFF2}"/>
              </a:ext>
            </a:extLst>
          </p:cNvPr>
          <p:cNvSpPr>
            <a:spLocks noGrp="1"/>
          </p:cNvSpPr>
          <p:nvPr>
            <p:ph idx="1"/>
          </p:nvPr>
        </p:nvSpPr>
        <p:spPr>
          <a:xfrm>
            <a:off x="881607" y="2057400"/>
            <a:ext cx="8205537" cy="4238038"/>
          </a:xfrm>
        </p:spPr>
        <p:txBody>
          <a:bodyPr>
            <a:normAutofit/>
          </a:bodyPr>
          <a:lstStyle/>
          <a:p>
            <a:r>
              <a:rPr lang="pt-BR" sz="2400" dirty="0"/>
              <a:t>Uma das maiores dificuldades da computação é a representação discreta do mundo contínuo</a:t>
            </a:r>
          </a:p>
          <a:p>
            <a:pPr lvl="1"/>
            <a:endParaRPr lang="pt-BR" sz="2200" b="1" dirty="0"/>
          </a:p>
          <a:p>
            <a:pPr lvl="1"/>
            <a:r>
              <a:rPr lang="pt-BR" sz="2200" dirty="0"/>
              <a:t>O mundo real é contínuo.</a:t>
            </a:r>
          </a:p>
          <a:p>
            <a:pPr lvl="1"/>
            <a:r>
              <a:rPr lang="pt-BR" sz="2200" dirty="0"/>
              <a:t>Sempre existe uma etapa chamada digitalização.</a:t>
            </a:r>
          </a:p>
          <a:p>
            <a:pPr lvl="1"/>
            <a:r>
              <a:rPr lang="pt-BR" sz="2200" dirty="0"/>
              <a:t>Representações contínuas passam a ser discretas</a:t>
            </a:r>
          </a:p>
          <a:p>
            <a:pPr lvl="1"/>
            <a:endParaRPr lang="pt-BR" sz="2200" b="1" dirty="0"/>
          </a:p>
          <a:p>
            <a:r>
              <a:rPr lang="pt-BR" sz="2400" dirty="0"/>
              <a:t>Enquanto o Cálculo ajuda a descrever a natureza, a Matemática Discreta ajuda a descrever a computação.</a:t>
            </a:r>
            <a:endParaRPr lang="pt-BR" sz="2600" b="1" dirty="0"/>
          </a:p>
        </p:txBody>
      </p:sp>
      <p:pic>
        <p:nvPicPr>
          <p:cNvPr id="3" name="Imagem 2">
            <a:extLst>
              <a:ext uri="{FF2B5EF4-FFF2-40B4-BE49-F238E27FC236}">
                <a16:creationId xmlns:a16="http://schemas.microsoft.com/office/drawing/2014/main" id="{5BE92C72-08BF-D921-17EC-281A9291E3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2353" y="2899611"/>
            <a:ext cx="3973471" cy="3815154"/>
          </a:xfrm>
          <a:prstGeom prst="rect">
            <a:avLst/>
          </a:prstGeom>
        </p:spPr>
      </p:pic>
    </p:spTree>
    <p:extLst>
      <p:ext uri="{BB962C8B-B14F-4D97-AF65-F5344CB8AC3E}">
        <p14:creationId xmlns:p14="http://schemas.microsoft.com/office/powerpoint/2010/main" val="2561642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A4A24-B4DC-17E3-A285-0359F555D329}"/>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D1B1D5DD-32A6-CD29-A7FD-8C5EFB414D52}"/>
              </a:ext>
            </a:extLst>
          </p:cNvPr>
          <p:cNvSpPr/>
          <p:nvPr/>
        </p:nvSpPr>
        <p:spPr>
          <a:xfrm>
            <a:off x="0" y="2766218"/>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108E967E-9BBB-8858-C15D-73E779C6D733}"/>
              </a:ext>
            </a:extLst>
          </p:cNvPr>
          <p:cNvSpPr>
            <a:spLocks noGrp="1"/>
          </p:cNvSpPr>
          <p:nvPr>
            <p:ph type="title"/>
          </p:nvPr>
        </p:nvSpPr>
        <p:spPr>
          <a:xfrm>
            <a:off x="0" y="2766218"/>
            <a:ext cx="12192000" cy="1325563"/>
          </a:xfrm>
        </p:spPr>
        <p:txBody>
          <a:bodyPr/>
          <a:lstStyle/>
          <a:p>
            <a:pPr algn="ctr"/>
            <a:r>
              <a:rPr lang="pt-BR" dirty="0">
                <a:solidFill>
                  <a:schemeClr val="bg1"/>
                </a:solidFill>
              </a:rPr>
              <a:t>Discretizar é suficiente?</a:t>
            </a:r>
          </a:p>
        </p:txBody>
      </p:sp>
      <p:sp>
        <p:nvSpPr>
          <p:cNvPr id="12" name="AutoShape 6" descr="Lógica Proposicional x Lógica de Argumento ⋆ Colaborae">
            <a:extLst>
              <a:ext uri="{FF2B5EF4-FFF2-40B4-BE49-F238E27FC236}">
                <a16:creationId xmlns:a16="http://schemas.microsoft.com/office/drawing/2014/main" id="{BA400DA5-629A-CF89-34F6-E081B84A3A7E}"/>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Tree>
    <p:extLst>
      <p:ext uri="{BB962C8B-B14F-4D97-AF65-F5344CB8AC3E}">
        <p14:creationId xmlns:p14="http://schemas.microsoft.com/office/powerpoint/2010/main" val="2484560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5C1AE-5895-8948-3B5C-74D9783C79AF}"/>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0F5F3972-1742-4B13-17E7-D5D33B780BC2}"/>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C88367AD-A96D-BB39-44EB-1ED44F1E5FF0}"/>
              </a:ext>
            </a:extLst>
          </p:cNvPr>
          <p:cNvSpPr>
            <a:spLocks noGrp="1"/>
          </p:cNvSpPr>
          <p:nvPr>
            <p:ph type="title"/>
          </p:nvPr>
        </p:nvSpPr>
        <p:spPr>
          <a:xfrm>
            <a:off x="0" y="-1"/>
            <a:ext cx="12192000" cy="1325563"/>
          </a:xfrm>
        </p:spPr>
        <p:txBody>
          <a:bodyPr/>
          <a:lstStyle/>
          <a:p>
            <a:pPr algn="ctr"/>
            <a:r>
              <a:rPr lang="pt-BR" dirty="0">
                <a:solidFill>
                  <a:schemeClr val="bg1"/>
                </a:solidFill>
              </a:rPr>
              <a:t>DISCRETIZAÇÃO</a:t>
            </a:r>
          </a:p>
        </p:txBody>
      </p:sp>
      <p:sp>
        <p:nvSpPr>
          <p:cNvPr id="12" name="AutoShape 6" descr="Lógica Proposicional x Lógica de Argumento ⋆ Colaborae">
            <a:extLst>
              <a:ext uri="{FF2B5EF4-FFF2-40B4-BE49-F238E27FC236}">
                <a16:creationId xmlns:a16="http://schemas.microsoft.com/office/drawing/2014/main" id="{076DBA94-A866-43FF-33E3-1C337900783A}"/>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BA9575A2-1CA8-7BA7-1EFF-DCDBA83C39E5}"/>
              </a:ext>
            </a:extLst>
          </p:cNvPr>
          <p:cNvSpPr>
            <a:spLocks noGrp="1"/>
          </p:cNvSpPr>
          <p:nvPr>
            <p:ph idx="1"/>
          </p:nvPr>
        </p:nvSpPr>
        <p:spPr>
          <a:xfrm>
            <a:off x="881607" y="2057400"/>
            <a:ext cx="8205537" cy="4238038"/>
          </a:xfrm>
        </p:spPr>
        <p:txBody>
          <a:bodyPr>
            <a:normAutofit/>
          </a:bodyPr>
          <a:lstStyle/>
          <a:p>
            <a:r>
              <a:rPr lang="pt-BR" sz="2400" dirty="0"/>
              <a:t>Além de representar informações, o computador também precisa </a:t>
            </a:r>
            <a:r>
              <a:rPr lang="pt-BR" sz="2400" b="1" dirty="0"/>
              <a:t>tomar decisões:</a:t>
            </a:r>
          </a:p>
          <a:p>
            <a:pPr lvl="1"/>
            <a:endParaRPr lang="pt-BR" sz="2200" b="1" dirty="0"/>
          </a:p>
          <a:p>
            <a:pPr lvl="1"/>
            <a:r>
              <a:rPr lang="pt-BR" sz="2200" dirty="0"/>
              <a:t>Comparar números</a:t>
            </a:r>
          </a:p>
          <a:p>
            <a:pPr lvl="1"/>
            <a:r>
              <a:rPr lang="pt-BR" sz="2200" dirty="0"/>
              <a:t>Decidir caminhos</a:t>
            </a:r>
          </a:p>
          <a:p>
            <a:pPr lvl="1"/>
            <a:r>
              <a:rPr lang="pt-BR" sz="2200" dirty="0"/>
              <a:t>Executar comandos</a:t>
            </a:r>
          </a:p>
          <a:p>
            <a:pPr lvl="1"/>
            <a:r>
              <a:rPr lang="pt-BR" sz="2200" dirty="0"/>
              <a:t>Escolher ações</a:t>
            </a:r>
          </a:p>
          <a:p>
            <a:pPr lvl="1"/>
            <a:endParaRPr lang="pt-BR" sz="2200" dirty="0"/>
          </a:p>
          <a:p>
            <a:r>
              <a:rPr lang="pt-BR" sz="2400" b="1" i="1" dirty="0"/>
              <a:t>“Toda decisão vem de uma pergunta”</a:t>
            </a:r>
            <a:endParaRPr lang="pt-BR" sz="2600" b="1" i="1" dirty="0"/>
          </a:p>
        </p:txBody>
      </p:sp>
    </p:spTree>
    <p:extLst>
      <p:ext uri="{BB962C8B-B14F-4D97-AF65-F5344CB8AC3E}">
        <p14:creationId xmlns:p14="http://schemas.microsoft.com/office/powerpoint/2010/main" val="1679062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A4990-7299-21B4-2B2A-3BB201BE4BAF}"/>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7DC39916-A0D9-F524-699B-DE3F1C1C8AD9}"/>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029BB24D-0EA0-311A-F746-3E8408C3EDAF}"/>
              </a:ext>
            </a:extLst>
          </p:cNvPr>
          <p:cNvSpPr>
            <a:spLocks noGrp="1"/>
          </p:cNvSpPr>
          <p:nvPr>
            <p:ph type="title"/>
          </p:nvPr>
        </p:nvSpPr>
        <p:spPr>
          <a:xfrm>
            <a:off x="0" y="-1"/>
            <a:ext cx="12192000" cy="1325563"/>
          </a:xfrm>
        </p:spPr>
        <p:txBody>
          <a:bodyPr/>
          <a:lstStyle/>
          <a:p>
            <a:pPr algn="ctr"/>
            <a:r>
              <a:rPr lang="pt-BR" dirty="0">
                <a:solidFill>
                  <a:schemeClr val="bg1"/>
                </a:solidFill>
              </a:rPr>
              <a:t>DISCRETIZAÇÃO</a:t>
            </a:r>
          </a:p>
        </p:txBody>
      </p:sp>
      <p:sp>
        <p:nvSpPr>
          <p:cNvPr id="12" name="AutoShape 6" descr="Lógica Proposicional x Lógica de Argumento ⋆ Colaborae">
            <a:extLst>
              <a:ext uri="{FF2B5EF4-FFF2-40B4-BE49-F238E27FC236}">
                <a16:creationId xmlns:a16="http://schemas.microsoft.com/office/drawing/2014/main" id="{1305741B-3085-BF17-0308-A1BC1C686554}"/>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4AB8D96F-A20C-1F8B-EA6A-1D7A4988A797}"/>
              </a:ext>
            </a:extLst>
          </p:cNvPr>
          <p:cNvSpPr>
            <a:spLocks noGrp="1"/>
          </p:cNvSpPr>
          <p:nvPr>
            <p:ph idx="1"/>
          </p:nvPr>
        </p:nvSpPr>
        <p:spPr>
          <a:xfrm>
            <a:off x="881607" y="2057400"/>
            <a:ext cx="5061993" cy="4238038"/>
          </a:xfrm>
        </p:spPr>
        <p:txBody>
          <a:bodyPr>
            <a:normAutofit/>
          </a:bodyPr>
          <a:lstStyle/>
          <a:p>
            <a:r>
              <a:rPr lang="pt-BR" sz="2400" dirty="0"/>
              <a:t>Exemplos:</a:t>
            </a:r>
          </a:p>
          <a:p>
            <a:pPr lvl="1"/>
            <a:endParaRPr lang="pt-BR" dirty="0"/>
          </a:p>
          <a:p>
            <a:pPr lvl="1"/>
            <a:r>
              <a:rPr lang="pt-BR" sz="2200" dirty="0"/>
              <a:t>O usuário digitou a senha correta? </a:t>
            </a:r>
          </a:p>
          <a:p>
            <a:pPr lvl="1"/>
            <a:r>
              <a:rPr lang="pt-BR" sz="2200" dirty="0"/>
              <a:t>A temperatura passou de 40°C? </a:t>
            </a:r>
          </a:p>
          <a:p>
            <a:pPr lvl="1"/>
            <a:r>
              <a:rPr lang="pt-BR" sz="2200" dirty="0"/>
              <a:t>Existe conexão com a internet? </a:t>
            </a:r>
          </a:p>
          <a:p>
            <a:pPr lvl="1"/>
            <a:r>
              <a:rPr lang="pt-BR" sz="2200" dirty="0"/>
              <a:t>O arquivo foi encontrado? </a:t>
            </a:r>
          </a:p>
          <a:p>
            <a:pPr lvl="1"/>
            <a:r>
              <a:rPr lang="pt-BR" sz="2200" dirty="0"/>
              <a:t>O saldo é suficiente? </a:t>
            </a:r>
          </a:p>
          <a:p>
            <a:pPr lvl="1"/>
            <a:r>
              <a:rPr lang="pt-BR" sz="2200" dirty="0"/>
              <a:t>Um produto está disponível?</a:t>
            </a:r>
          </a:p>
          <a:p>
            <a:pPr lvl="1"/>
            <a:endParaRPr lang="pt-BR" dirty="0"/>
          </a:p>
          <a:p>
            <a:pPr marL="457200" lvl="1" indent="0">
              <a:buNone/>
            </a:pPr>
            <a:endParaRPr lang="pt-BR" sz="2200" dirty="0"/>
          </a:p>
        </p:txBody>
      </p:sp>
      <p:cxnSp>
        <p:nvCxnSpPr>
          <p:cNvPr id="4" name="Conector de Seta Reta 3">
            <a:extLst>
              <a:ext uri="{FF2B5EF4-FFF2-40B4-BE49-F238E27FC236}">
                <a16:creationId xmlns:a16="http://schemas.microsoft.com/office/drawing/2014/main" id="{8838BEB0-F0D3-9B37-5DA7-071A390DB8BA}"/>
              </a:ext>
            </a:extLst>
          </p:cNvPr>
          <p:cNvCxnSpPr/>
          <p:nvPr/>
        </p:nvCxnSpPr>
        <p:spPr>
          <a:xfrm>
            <a:off x="5763127" y="3994484"/>
            <a:ext cx="175661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Retângulo 7">
            <a:extLst>
              <a:ext uri="{FF2B5EF4-FFF2-40B4-BE49-F238E27FC236}">
                <a16:creationId xmlns:a16="http://schemas.microsoft.com/office/drawing/2014/main" id="{266F7A6E-032B-C5BA-E879-E3D308EA1A1D}"/>
              </a:ext>
            </a:extLst>
          </p:cNvPr>
          <p:cNvSpPr/>
          <p:nvPr/>
        </p:nvSpPr>
        <p:spPr>
          <a:xfrm>
            <a:off x="8037096" y="3272594"/>
            <a:ext cx="2562726" cy="1443779"/>
          </a:xfrm>
          <a:prstGeom prst="rect">
            <a:avLst/>
          </a:prstGeom>
          <a:solidFill>
            <a:srgbClr val="63A5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000" dirty="0"/>
              <a:t>Todas as frases podem ser respondidas com “sim” ou “não”</a:t>
            </a:r>
          </a:p>
        </p:txBody>
      </p:sp>
    </p:spTree>
    <p:extLst>
      <p:ext uri="{BB962C8B-B14F-4D97-AF65-F5344CB8AC3E}">
        <p14:creationId xmlns:p14="http://schemas.microsoft.com/office/powerpoint/2010/main" val="76168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86375-2D0B-2ABB-D48B-9C8F2F7E3A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998875-F739-2FA6-9F81-40FDD442E289}"/>
              </a:ext>
            </a:extLst>
          </p:cNvPr>
          <p:cNvSpPr>
            <a:spLocks noGrp="1"/>
          </p:cNvSpPr>
          <p:nvPr>
            <p:ph type="ctrTitle"/>
          </p:nvPr>
        </p:nvSpPr>
        <p:spPr>
          <a:xfrm>
            <a:off x="0" y="2524919"/>
            <a:ext cx="12192000" cy="1808162"/>
          </a:xfrm>
          <a:ln>
            <a:noFill/>
          </a:ln>
        </p:spPr>
        <p:txBody>
          <a:bodyPr/>
          <a:lstStyle/>
          <a:p>
            <a:r>
              <a:rPr lang="pt-BR" dirty="0">
                <a:solidFill>
                  <a:schemeClr val="bg1"/>
                </a:solidFill>
              </a:rPr>
              <a:t>módulo 2 – lógica proposicional</a:t>
            </a:r>
          </a:p>
        </p:txBody>
      </p:sp>
      <p:sp>
        <p:nvSpPr>
          <p:cNvPr id="3" name="Subtítulo 2">
            <a:extLst>
              <a:ext uri="{FF2B5EF4-FFF2-40B4-BE49-F238E27FC236}">
                <a16:creationId xmlns:a16="http://schemas.microsoft.com/office/drawing/2014/main" id="{A0088D88-CBAE-E40F-9998-A2394A572561}"/>
              </a:ext>
            </a:extLst>
          </p:cNvPr>
          <p:cNvSpPr>
            <a:spLocks noGrp="1"/>
          </p:cNvSpPr>
          <p:nvPr>
            <p:ph type="subTitle" idx="1"/>
          </p:nvPr>
        </p:nvSpPr>
        <p:spPr>
          <a:xfrm>
            <a:off x="2695192" y="5207000"/>
            <a:ext cx="6801612" cy="1651000"/>
          </a:xfrm>
        </p:spPr>
        <p:txBody>
          <a:bodyPr/>
          <a:lstStyle/>
          <a:p>
            <a:r>
              <a:rPr lang="pt-BR" dirty="0"/>
              <a:t>Universidade de Uberaba</a:t>
            </a:r>
          </a:p>
          <a:p>
            <a:r>
              <a:rPr lang="pt-BR" dirty="0"/>
              <a:t>Marcio Salmazo Ramos</a:t>
            </a:r>
          </a:p>
        </p:txBody>
      </p:sp>
      <p:pic>
        <p:nvPicPr>
          <p:cNvPr id="8194" name="Picture 2">
            <a:extLst>
              <a:ext uri="{FF2B5EF4-FFF2-40B4-BE49-F238E27FC236}">
                <a16:creationId xmlns:a16="http://schemas.microsoft.com/office/drawing/2014/main" id="{B1D5A329-EEFA-F49E-64A4-A357C32FDA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7048" y="447153"/>
            <a:ext cx="3517900" cy="972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155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BB9C-4087-947E-27DA-94FC2217800E}"/>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D75C44D5-97DB-9777-F7B5-AD7888ADE02D}"/>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565B6A33-9563-8862-9670-1AEEB83AA144}"/>
              </a:ext>
            </a:extLst>
          </p:cNvPr>
          <p:cNvSpPr>
            <a:spLocks noGrp="1"/>
          </p:cNvSpPr>
          <p:nvPr>
            <p:ph type="title"/>
          </p:nvPr>
        </p:nvSpPr>
        <p:spPr>
          <a:xfrm>
            <a:off x="0" y="-1"/>
            <a:ext cx="12192000" cy="1325563"/>
          </a:xfrm>
        </p:spPr>
        <p:txBody>
          <a:bodyPr/>
          <a:lstStyle/>
          <a:p>
            <a:pPr algn="ctr"/>
            <a:r>
              <a:rPr lang="pt-BR" dirty="0">
                <a:solidFill>
                  <a:schemeClr val="bg1"/>
                </a:solidFill>
              </a:rPr>
              <a:t>LÓGICA PROPOSICIONAL</a:t>
            </a:r>
          </a:p>
        </p:txBody>
      </p:sp>
      <p:sp>
        <p:nvSpPr>
          <p:cNvPr id="12" name="AutoShape 6" descr="Lógica Proposicional x Lógica de Argumento ⋆ Colaborae">
            <a:extLst>
              <a:ext uri="{FF2B5EF4-FFF2-40B4-BE49-F238E27FC236}">
                <a16:creationId xmlns:a16="http://schemas.microsoft.com/office/drawing/2014/main" id="{FF498CC5-E8B7-B831-C3D4-68C95338D9B0}"/>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47F1F8F7-3557-A6AC-CA09-C94294A7E4ED}"/>
              </a:ext>
            </a:extLst>
          </p:cNvPr>
          <p:cNvSpPr>
            <a:spLocks noGrp="1"/>
          </p:cNvSpPr>
          <p:nvPr>
            <p:ph idx="1"/>
          </p:nvPr>
        </p:nvSpPr>
        <p:spPr>
          <a:xfrm>
            <a:off x="881607" y="2057400"/>
            <a:ext cx="9049793" cy="4238038"/>
          </a:xfrm>
        </p:spPr>
        <p:txBody>
          <a:bodyPr>
            <a:normAutofit/>
          </a:bodyPr>
          <a:lstStyle/>
          <a:p>
            <a:r>
              <a:rPr lang="pt-BR" sz="2400" dirty="0"/>
              <a:t>Se o computador toma decisões o tempo inteiro, é necessário uma matemática capaz de estudar </a:t>
            </a:r>
            <a:r>
              <a:rPr lang="pt-BR" sz="2400" b="1" dirty="0"/>
              <a:t>decisões</a:t>
            </a:r>
            <a:r>
              <a:rPr lang="pt-BR" sz="2400" dirty="0"/>
              <a:t>.</a:t>
            </a:r>
          </a:p>
          <a:p>
            <a:endParaRPr lang="pt-BR" sz="2400" dirty="0"/>
          </a:p>
          <a:p>
            <a:r>
              <a:rPr lang="pt-BR" sz="2400" dirty="0"/>
              <a:t>Essa matemática é a </a:t>
            </a:r>
            <a:r>
              <a:rPr lang="pt-BR" sz="2400" b="1" dirty="0"/>
              <a:t>lógica:</a:t>
            </a:r>
          </a:p>
          <a:p>
            <a:pPr lvl="1"/>
            <a:endParaRPr lang="pt-BR" sz="2200" b="1" dirty="0"/>
          </a:p>
          <a:p>
            <a:pPr lvl="1"/>
            <a:r>
              <a:rPr lang="pt-BR" sz="2200" dirty="0"/>
              <a:t>Ela não estuda números, mas sim, afirmações.</a:t>
            </a:r>
          </a:p>
          <a:p>
            <a:pPr lvl="1"/>
            <a:r>
              <a:rPr lang="pt-BR" sz="2200" dirty="0"/>
              <a:t>O raciocínio estruturado por meio de </a:t>
            </a:r>
            <a:r>
              <a:rPr lang="pt-BR" sz="2200" b="1" i="1" dirty="0"/>
              <a:t>proposições</a:t>
            </a:r>
            <a:r>
              <a:rPr lang="pt-BR" sz="2200" dirty="0"/>
              <a:t>, </a:t>
            </a:r>
            <a:r>
              <a:rPr lang="pt-BR" sz="2200" b="1" i="1" dirty="0"/>
              <a:t>conectivos lógicos </a:t>
            </a:r>
            <a:r>
              <a:rPr lang="pt-BR" sz="2200" dirty="0"/>
              <a:t>e </a:t>
            </a:r>
            <a:r>
              <a:rPr lang="pt-BR" sz="2200" b="1" i="1" dirty="0"/>
              <a:t>regras de inferência</a:t>
            </a:r>
            <a:r>
              <a:rPr lang="pt-BR" sz="2200" dirty="0"/>
              <a:t>.</a:t>
            </a:r>
          </a:p>
        </p:txBody>
      </p:sp>
      <p:sp>
        <p:nvSpPr>
          <p:cNvPr id="8" name="Retângulo 7">
            <a:extLst>
              <a:ext uri="{FF2B5EF4-FFF2-40B4-BE49-F238E27FC236}">
                <a16:creationId xmlns:a16="http://schemas.microsoft.com/office/drawing/2014/main" id="{D8381439-8CC2-52ED-5B53-CA6E6154528F}"/>
              </a:ext>
            </a:extLst>
          </p:cNvPr>
          <p:cNvSpPr/>
          <p:nvPr/>
        </p:nvSpPr>
        <p:spPr>
          <a:xfrm>
            <a:off x="5816600" y="5281819"/>
            <a:ext cx="2641600" cy="647700"/>
          </a:xfrm>
          <a:prstGeom prst="rect">
            <a:avLst/>
          </a:prstGeom>
          <a:solidFill>
            <a:srgbClr val="63A5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000" dirty="0"/>
              <a:t>Próximos tópicos a serem estudados</a:t>
            </a:r>
          </a:p>
        </p:txBody>
      </p:sp>
      <p:cxnSp>
        <p:nvCxnSpPr>
          <p:cNvPr id="10" name="Conector: Angulado 9">
            <a:extLst>
              <a:ext uri="{FF2B5EF4-FFF2-40B4-BE49-F238E27FC236}">
                <a16:creationId xmlns:a16="http://schemas.microsoft.com/office/drawing/2014/main" id="{62E15EC8-CC2B-EEAC-0EAD-B0B289CF3917}"/>
              </a:ext>
            </a:extLst>
          </p:cNvPr>
          <p:cNvCxnSpPr/>
          <p:nvPr/>
        </p:nvCxnSpPr>
        <p:spPr>
          <a:xfrm>
            <a:off x="4229100" y="4964319"/>
            <a:ext cx="1282700" cy="635000"/>
          </a:xfrm>
          <a:prstGeom prst="bentConnector3">
            <a:avLst/>
          </a:prstGeom>
          <a:ln w="57150">
            <a:solidFill>
              <a:srgbClr val="63A537"/>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6148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BC413-AA2E-1B24-3A2C-0E77850D411B}"/>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8BBA91B3-2838-C992-E381-EA01CC8CAD1E}"/>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872F4755-DE59-D312-EBF9-99729E62D6B5}"/>
              </a:ext>
            </a:extLst>
          </p:cNvPr>
          <p:cNvSpPr>
            <a:spLocks noGrp="1"/>
          </p:cNvSpPr>
          <p:nvPr>
            <p:ph type="title"/>
          </p:nvPr>
        </p:nvSpPr>
        <p:spPr>
          <a:xfrm>
            <a:off x="0" y="-1"/>
            <a:ext cx="12192000" cy="1325563"/>
          </a:xfrm>
        </p:spPr>
        <p:txBody>
          <a:bodyPr/>
          <a:lstStyle/>
          <a:p>
            <a:pPr algn="ctr"/>
            <a:r>
              <a:rPr lang="pt-BR" dirty="0">
                <a:solidFill>
                  <a:schemeClr val="bg1"/>
                </a:solidFill>
              </a:rPr>
              <a:t>PROPOSIÇÕES</a:t>
            </a:r>
          </a:p>
        </p:txBody>
      </p:sp>
      <p:sp>
        <p:nvSpPr>
          <p:cNvPr id="12" name="AutoShape 6" descr="Lógica Proposicional x Lógica de Argumento ⋆ Colaborae">
            <a:extLst>
              <a:ext uri="{FF2B5EF4-FFF2-40B4-BE49-F238E27FC236}">
                <a16:creationId xmlns:a16="http://schemas.microsoft.com/office/drawing/2014/main" id="{C480B6F5-A61D-DCB5-23B6-4DCB8BF03182}"/>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7C666601-8173-DEFD-AFE2-FBA4318E1022}"/>
              </a:ext>
            </a:extLst>
          </p:cNvPr>
          <p:cNvSpPr>
            <a:spLocks noGrp="1"/>
          </p:cNvSpPr>
          <p:nvPr>
            <p:ph idx="1"/>
          </p:nvPr>
        </p:nvSpPr>
        <p:spPr>
          <a:xfrm>
            <a:off x="881607" y="2057400"/>
            <a:ext cx="7894093" cy="4622800"/>
          </a:xfrm>
        </p:spPr>
        <p:txBody>
          <a:bodyPr>
            <a:normAutofit/>
          </a:bodyPr>
          <a:lstStyle/>
          <a:p>
            <a:r>
              <a:rPr lang="pt-BR" sz="2400" dirty="0"/>
              <a:t>Proposição é uma frase declarativa que possui um valor lógico definido</a:t>
            </a:r>
          </a:p>
          <a:p>
            <a:r>
              <a:rPr lang="pt-BR" sz="2400" dirty="0"/>
              <a:t>São classificada obrigatoriamente como verdadeira (V) ou falsa (F), </a:t>
            </a:r>
            <a:r>
              <a:rPr lang="pt-BR" sz="2400" i="1" dirty="0"/>
              <a:t>mas nunca os dois ao mesmo tempo</a:t>
            </a:r>
          </a:p>
          <a:p>
            <a:endParaRPr lang="pt-BR" sz="2400" dirty="0"/>
          </a:p>
          <a:p>
            <a:r>
              <a:rPr lang="pt-BR" sz="2400" dirty="0"/>
              <a:t>Exemplos:</a:t>
            </a:r>
          </a:p>
          <a:p>
            <a:pPr lvl="1"/>
            <a:endParaRPr lang="pt-BR" sz="2000" dirty="0"/>
          </a:p>
          <a:p>
            <a:pPr lvl="1"/>
            <a:r>
              <a:rPr lang="pt-BR" sz="2200" dirty="0"/>
              <a:t>“O Sol é uma estrela” (Verdadeira) </a:t>
            </a:r>
          </a:p>
          <a:p>
            <a:pPr lvl="1"/>
            <a:r>
              <a:rPr lang="pt-BR" sz="2200" dirty="0"/>
              <a:t>“2 + 2 = 5” (Falsa)</a:t>
            </a:r>
          </a:p>
          <a:p>
            <a:pPr lvl="1"/>
            <a:r>
              <a:rPr lang="pt-BR" sz="2200" dirty="0"/>
              <a:t>“O gato mia” (Verdadeira)</a:t>
            </a:r>
          </a:p>
          <a:p>
            <a:pPr lvl="1"/>
            <a:r>
              <a:rPr lang="pt-BR" sz="2200" dirty="0"/>
              <a:t>“O fogo é frio” (Falsa)</a:t>
            </a:r>
          </a:p>
          <a:p>
            <a:pPr lvl="1"/>
            <a:endParaRPr lang="pt-BR" sz="2200" dirty="0"/>
          </a:p>
          <a:p>
            <a:pPr lvl="1"/>
            <a:endParaRPr lang="pt-BR" sz="2000" dirty="0"/>
          </a:p>
          <a:p>
            <a:endParaRPr lang="pt-BR" sz="2400" dirty="0"/>
          </a:p>
          <a:p>
            <a:pPr lvl="1"/>
            <a:endParaRPr lang="pt-BR" sz="1800" dirty="0"/>
          </a:p>
        </p:txBody>
      </p:sp>
      <p:sp>
        <p:nvSpPr>
          <p:cNvPr id="3" name="Retângulo 2">
            <a:extLst>
              <a:ext uri="{FF2B5EF4-FFF2-40B4-BE49-F238E27FC236}">
                <a16:creationId xmlns:a16="http://schemas.microsoft.com/office/drawing/2014/main" id="{4609E1F0-8D73-48D0-FDD8-65381ECDC296}"/>
              </a:ext>
            </a:extLst>
          </p:cNvPr>
          <p:cNvSpPr/>
          <p:nvPr/>
        </p:nvSpPr>
        <p:spPr>
          <a:xfrm>
            <a:off x="8775700" y="3581400"/>
            <a:ext cx="3416300" cy="3276600"/>
          </a:xfrm>
          <a:prstGeom prst="rect">
            <a:avLst/>
          </a:prstGeom>
          <a:solidFill>
            <a:srgbClr val="63A5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000" dirty="0"/>
              <a:t>Sentenças interrogativas, exclamativas, imperativas ou sem definição NÃO podem ser consideradas proposições:</a:t>
            </a:r>
          </a:p>
          <a:p>
            <a:pPr algn="ctr"/>
            <a:endParaRPr lang="pt-BR" sz="2000" dirty="0"/>
          </a:p>
          <a:p>
            <a:pPr marL="285750" indent="-285750" algn="ctr">
              <a:buFont typeface="Arial" panose="020B0604020202020204" pitchFamily="34" charset="0"/>
              <a:buChar char="•"/>
            </a:pPr>
            <a:r>
              <a:rPr lang="pt-BR" sz="2000" dirty="0"/>
              <a:t>Que horas são?</a:t>
            </a:r>
          </a:p>
          <a:p>
            <a:pPr marL="285750" indent="-285750" algn="ctr">
              <a:buFont typeface="Arial" panose="020B0604020202020204" pitchFamily="34" charset="0"/>
              <a:buChar char="•"/>
            </a:pPr>
            <a:r>
              <a:rPr lang="pt-BR" sz="2000" dirty="0"/>
              <a:t>Que susto!</a:t>
            </a:r>
          </a:p>
          <a:p>
            <a:pPr marL="285750" indent="-285750" algn="ctr">
              <a:buFont typeface="Arial" panose="020B0604020202020204" pitchFamily="34" charset="0"/>
              <a:buChar char="•"/>
            </a:pPr>
            <a:r>
              <a:rPr lang="pt-BR" sz="2000" dirty="0"/>
              <a:t>Feche a porta</a:t>
            </a:r>
          </a:p>
        </p:txBody>
      </p:sp>
    </p:spTree>
    <p:extLst>
      <p:ext uri="{BB962C8B-B14F-4D97-AF65-F5344CB8AC3E}">
        <p14:creationId xmlns:p14="http://schemas.microsoft.com/office/powerpoint/2010/main" val="1143683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F4535-BB06-A04A-75E0-F2C49ECB2165}"/>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D875EC48-E6DC-ACF1-F910-8D679C7FC397}"/>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08D77E5A-898F-0704-04E7-38A033151497}"/>
              </a:ext>
            </a:extLst>
          </p:cNvPr>
          <p:cNvSpPr>
            <a:spLocks noGrp="1"/>
          </p:cNvSpPr>
          <p:nvPr>
            <p:ph type="title"/>
          </p:nvPr>
        </p:nvSpPr>
        <p:spPr>
          <a:xfrm>
            <a:off x="0" y="-1"/>
            <a:ext cx="12192000" cy="1325563"/>
          </a:xfrm>
        </p:spPr>
        <p:txBody>
          <a:bodyPr/>
          <a:lstStyle/>
          <a:p>
            <a:pPr algn="ctr"/>
            <a:r>
              <a:rPr lang="pt-BR" dirty="0">
                <a:solidFill>
                  <a:schemeClr val="bg1"/>
                </a:solidFill>
              </a:rPr>
              <a:t>PROPOSIÇÕES</a:t>
            </a:r>
          </a:p>
        </p:txBody>
      </p:sp>
      <p:sp>
        <p:nvSpPr>
          <p:cNvPr id="12" name="AutoShape 6" descr="Lógica Proposicional x Lógica de Argumento ⋆ Colaborae">
            <a:extLst>
              <a:ext uri="{FF2B5EF4-FFF2-40B4-BE49-F238E27FC236}">
                <a16:creationId xmlns:a16="http://schemas.microsoft.com/office/drawing/2014/main" id="{8EF8A6F1-90D7-1C77-B528-DB3FCAC7A212}"/>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85ECB415-831D-8159-F187-7232074D00DA}"/>
              </a:ext>
            </a:extLst>
          </p:cNvPr>
          <p:cNvSpPr>
            <a:spLocks noGrp="1"/>
          </p:cNvSpPr>
          <p:nvPr>
            <p:ph idx="1"/>
          </p:nvPr>
        </p:nvSpPr>
        <p:spPr>
          <a:xfrm>
            <a:off x="881607" y="2057400"/>
            <a:ext cx="8414793" cy="4622800"/>
          </a:xfrm>
        </p:spPr>
        <p:txBody>
          <a:bodyPr>
            <a:normAutofit/>
          </a:bodyPr>
          <a:lstStyle/>
          <a:p>
            <a:r>
              <a:rPr lang="pt-BR" sz="2400" dirty="0"/>
              <a:t>Uma proposição pode classificada em dois tipos:</a:t>
            </a:r>
            <a:endParaRPr lang="pt-BR" sz="2400" i="1" dirty="0"/>
          </a:p>
          <a:p>
            <a:endParaRPr lang="pt-BR" sz="2400" dirty="0"/>
          </a:p>
          <a:p>
            <a:pPr lvl="1"/>
            <a:r>
              <a:rPr lang="pt-BR" sz="2200" b="1" dirty="0"/>
              <a:t>Simples (ou Atômica): </a:t>
            </a:r>
            <a:r>
              <a:rPr lang="pt-BR" sz="2200" dirty="0"/>
              <a:t>Contém apenas uma única ideia ou declaração, sem o uso de conectivos </a:t>
            </a:r>
          </a:p>
          <a:p>
            <a:pPr marL="457200" lvl="1" indent="0">
              <a:buNone/>
            </a:pPr>
            <a:r>
              <a:rPr lang="pt-BR" dirty="0"/>
              <a:t>	</a:t>
            </a:r>
          </a:p>
          <a:p>
            <a:pPr marL="457200" lvl="1" indent="0">
              <a:buNone/>
            </a:pPr>
            <a:r>
              <a:rPr lang="pt-BR" dirty="0"/>
              <a:t>	(</a:t>
            </a:r>
            <a:r>
              <a:rPr lang="pt-BR" dirty="0" err="1"/>
              <a:t>Ex</a:t>
            </a:r>
            <a:r>
              <a:rPr lang="pt-BR" dirty="0"/>
              <a:t>: "O céu é azul").</a:t>
            </a:r>
          </a:p>
          <a:p>
            <a:pPr lvl="1"/>
            <a:endParaRPr lang="pt-BR" sz="2000" dirty="0"/>
          </a:p>
          <a:p>
            <a:pPr lvl="1"/>
            <a:r>
              <a:rPr lang="pt-BR" sz="2200" b="1" dirty="0"/>
              <a:t>Composta (ou Molecular): </a:t>
            </a:r>
            <a:r>
              <a:rPr lang="pt-BR" sz="2200" dirty="0"/>
              <a:t>Formada pela união de duas ou mais proposições simples por meio de conectivos lógicos </a:t>
            </a:r>
          </a:p>
          <a:p>
            <a:pPr marL="457200" lvl="1" indent="0">
              <a:buNone/>
            </a:pPr>
            <a:r>
              <a:rPr lang="pt-BR" sz="2000" dirty="0"/>
              <a:t>	</a:t>
            </a:r>
          </a:p>
          <a:p>
            <a:pPr marL="457200" lvl="1" indent="0">
              <a:buNone/>
            </a:pPr>
            <a:r>
              <a:rPr lang="pt-BR" sz="2200" dirty="0"/>
              <a:t>	(</a:t>
            </a:r>
            <a:r>
              <a:rPr lang="pt-BR" sz="2200" dirty="0" err="1"/>
              <a:t>Ex</a:t>
            </a:r>
            <a:r>
              <a:rPr lang="pt-BR" sz="2200" dirty="0"/>
              <a:t>: "O céu é azul e o dia está ensolarado").</a:t>
            </a:r>
          </a:p>
          <a:p>
            <a:endParaRPr lang="pt-BR" sz="2400" dirty="0"/>
          </a:p>
          <a:p>
            <a:pPr lvl="1"/>
            <a:endParaRPr lang="pt-BR" sz="1800" dirty="0"/>
          </a:p>
        </p:txBody>
      </p:sp>
    </p:spTree>
    <p:extLst>
      <p:ext uri="{BB962C8B-B14F-4D97-AF65-F5344CB8AC3E}">
        <p14:creationId xmlns:p14="http://schemas.microsoft.com/office/powerpoint/2010/main" val="3506904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1465A-E082-6E66-0386-6FBA02893363}"/>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47095FD7-4C26-5FBA-9BDF-97FBE911B210}"/>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4ED32500-5C59-8090-E1E7-301565B07B72}"/>
              </a:ext>
            </a:extLst>
          </p:cNvPr>
          <p:cNvSpPr>
            <a:spLocks noGrp="1"/>
          </p:cNvSpPr>
          <p:nvPr>
            <p:ph type="title"/>
          </p:nvPr>
        </p:nvSpPr>
        <p:spPr>
          <a:xfrm>
            <a:off x="0" y="-1"/>
            <a:ext cx="12192000" cy="1325563"/>
          </a:xfrm>
        </p:spPr>
        <p:txBody>
          <a:bodyPr/>
          <a:lstStyle/>
          <a:p>
            <a:pPr algn="ctr"/>
            <a:r>
              <a:rPr lang="pt-BR" dirty="0">
                <a:solidFill>
                  <a:schemeClr val="bg1"/>
                </a:solidFill>
              </a:rPr>
              <a:t>CONECTIVOS LÓGICOS</a:t>
            </a:r>
          </a:p>
        </p:txBody>
      </p:sp>
      <p:sp>
        <p:nvSpPr>
          <p:cNvPr id="12" name="AutoShape 6" descr="Lógica Proposicional x Lógica de Argumento ⋆ Colaborae">
            <a:extLst>
              <a:ext uri="{FF2B5EF4-FFF2-40B4-BE49-F238E27FC236}">
                <a16:creationId xmlns:a16="http://schemas.microsoft.com/office/drawing/2014/main" id="{73BF2050-8F22-1B21-59D2-DC2DDC2E7648}"/>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04E60D83-D136-24A0-FE4E-A17448B2F79F}"/>
              </a:ext>
            </a:extLst>
          </p:cNvPr>
          <p:cNvSpPr>
            <a:spLocks noGrp="1"/>
          </p:cNvSpPr>
          <p:nvPr>
            <p:ph idx="1"/>
          </p:nvPr>
        </p:nvSpPr>
        <p:spPr>
          <a:xfrm>
            <a:off x="881607" y="2057400"/>
            <a:ext cx="8414793" cy="4622800"/>
          </a:xfrm>
        </p:spPr>
        <p:txBody>
          <a:bodyPr>
            <a:normAutofit/>
          </a:bodyPr>
          <a:lstStyle/>
          <a:p>
            <a:r>
              <a:rPr lang="pt-BR" sz="2400" dirty="0"/>
              <a:t>Os </a:t>
            </a:r>
            <a:r>
              <a:rPr lang="pt-BR" sz="2400" b="1" dirty="0"/>
              <a:t>conectivos lógicos</a:t>
            </a:r>
            <a:r>
              <a:rPr lang="pt-BR" sz="2400" dirty="0"/>
              <a:t> servem para construir proposições mais complexas a partir da união de proposições simples.</a:t>
            </a:r>
          </a:p>
          <a:p>
            <a:pPr lvl="1"/>
            <a:endParaRPr lang="pt-BR" sz="2200" dirty="0"/>
          </a:p>
          <a:p>
            <a:pPr lvl="1"/>
            <a:r>
              <a:rPr lang="pt-BR" sz="2200" dirty="0"/>
              <a:t>Negação / NOT / </a:t>
            </a:r>
            <a:r>
              <a:rPr lang="pt-BR" sz="3600" dirty="0"/>
              <a:t>¬</a:t>
            </a:r>
            <a:endParaRPr lang="pt-BR" sz="3200" dirty="0"/>
          </a:p>
          <a:p>
            <a:pPr lvl="1"/>
            <a:r>
              <a:rPr lang="pt-BR" sz="2200" dirty="0"/>
              <a:t>Conjunção / E / AND / ∧</a:t>
            </a:r>
          </a:p>
          <a:p>
            <a:pPr lvl="1"/>
            <a:r>
              <a:rPr lang="pt-BR" sz="2200" dirty="0"/>
              <a:t>Disjunção inclusiva / OU / OR / ∨</a:t>
            </a:r>
          </a:p>
          <a:p>
            <a:pPr lvl="1"/>
            <a:r>
              <a:rPr lang="pt-BR" sz="2200" dirty="0"/>
              <a:t>Disjunção exclusiva / XOR / </a:t>
            </a:r>
            <a:r>
              <a:rPr lang="pt-BR" sz="2200" u="sng" dirty="0"/>
              <a:t>∨</a:t>
            </a:r>
            <a:r>
              <a:rPr lang="pt-BR" sz="2200" dirty="0"/>
              <a:t> / </a:t>
            </a:r>
            <a:r>
              <a:rPr lang="pt-BR" sz="2000" dirty="0"/>
              <a:t>⊕</a:t>
            </a:r>
            <a:endParaRPr lang="pt-BR" sz="2200" dirty="0"/>
          </a:p>
          <a:p>
            <a:pPr lvl="1"/>
            <a:r>
              <a:rPr lang="pt-BR" sz="2200" dirty="0"/>
              <a:t>Implicação / </a:t>
            </a:r>
            <a:r>
              <a:rPr lang="pt-BR" sz="2200" dirty="0">
                <a:latin typeface="Calibri" panose="020F0502020204030204" pitchFamily="34" charset="0"/>
                <a:ea typeface="Calibri" panose="020F0502020204030204" pitchFamily="34" charset="0"/>
                <a:cs typeface="Calibri" panose="020F0502020204030204" pitchFamily="34" charset="0"/>
              </a:rPr>
              <a:t>→</a:t>
            </a:r>
            <a:endParaRPr lang="pt-BR" sz="2200" dirty="0"/>
          </a:p>
          <a:p>
            <a:pPr lvl="1"/>
            <a:r>
              <a:rPr lang="pt-BR" sz="2200" dirty="0" err="1"/>
              <a:t>Bicondicional</a:t>
            </a:r>
            <a:r>
              <a:rPr lang="pt-BR" sz="2200" dirty="0"/>
              <a:t>  / </a:t>
            </a:r>
            <a:r>
              <a:rPr lang="pt-BR" sz="2200" dirty="0">
                <a:latin typeface="Calibri" panose="020F0502020204030204" pitchFamily="34" charset="0"/>
                <a:ea typeface="Calibri" panose="020F0502020204030204" pitchFamily="34" charset="0"/>
                <a:cs typeface="Calibri" panose="020F0502020204030204" pitchFamily="34" charset="0"/>
              </a:rPr>
              <a:t>↔</a:t>
            </a:r>
            <a:endParaRPr lang="pt-BR" sz="2200" dirty="0"/>
          </a:p>
        </p:txBody>
      </p:sp>
    </p:spTree>
    <p:extLst>
      <p:ext uri="{BB962C8B-B14F-4D97-AF65-F5344CB8AC3E}">
        <p14:creationId xmlns:p14="http://schemas.microsoft.com/office/powerpoint/2010/main" val="2128197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8F20C-2328-1E80-031B-4DA9D6CEDE10}"/>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B553F371-36A6-4144-BDB0-8616F8BA2E7B}"/>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97514C85-F4D8-F087-F9A9-78F7F8237CB0}"/>
              </a:ext>
            </a:extLst>
          </p:cNvPr>
          <p:cNvSpPr>
            <a:spLocks noGrp="1"/>
          </p:cNvSpPr>
          <p:nvPr>
            <p:ph type="title"/>
          </p:nvPr>
        </p:nvSpPr>
        <p:spPr>
          <a:xfrm>
            <a:off x="0" y="-1"/>
            <a:ext cx="12192000" cy="1325563"/>
          </a:xfrm>
        </p:spPr>
        <p:txBody>
          <a:bodyPr/>
          <a:lstStyle/>
          <a:p>
            <a:pPr algn="ctr"/>
            <a:r>
              <a:rPr lang="pt-BR" dirty="0">
                <a:solidFill>
                  <a:schemeClr val="bg1"/>
                </a:solidFill>
              </a:rPr>
              <a:t>CONECTIVOS LÓGICOS</a:t>
            </a:r>
          </a:p>
        </p:txBody>
      </p:sp>
      <p:sp>
        <p:nvSpPr>
          <p:cNvPr id="12" name="AutoShape 6" descr="Lógica Proposicional x Lógica de Argumento ⋆ Colaborae">
            <a:extLst>
              <a:ext uri="{FF2B5EF4-FFF2-40B4-BE49-F238E27FC236}">
                <a16:creationId xmlns:a16="http://schemas.microsoft.com/office/drawing/2014/main" id="{9EC5F46C-728F-B3B5-B20F-2802304395A5}"/>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650EB62F-E458-1C96-C504-219735C0C04C}"/>
              </a:ext>
            </a:extLst>
          </p:cNvPr>
          <p:cNvSpPr>
            <a:spLocks noGrp="1"/>
          </p:cNvSpPr>
          <p:nvPr>
            <p:ph idx="1"/>
          </p:nvPr>
        </p:nvSpPr>
        <p:spPr>
          <a:xfrm>
            <a:off x="881607" y="2057400"/>
            <a:ext cx="8414793" cy="4622800"/>
          </a:xfrm>
        </p:spPr>
        <p:txBody>
          <a:bodyPr>
            <a:normAutofit/>
          </a:bodyPr>
          <a:lstStyle/>
          <a:p>
            <a:pPr marL="457200" lvl="1" indent="0">
              <a:buNone/>
            </a:pPr>
            <a:r>
              <a:rPr lang="pt-BR" sz="2200" dirty="0"/>
              <a:t>Exemplo:</a:t>
            </a:r>
          </a:p>
          <a:p>
            <a:pPr marL="457200" lvl="1" indent="0">
              <a:buNone/>
            </a:pPr>
            <a:endParaRPr lang="pt-BR" sz="2200" dirty="0"/>
          </a:p>
          <a:p>
            <a:pPr marL="457200" lvl="1" indent="0">
              <a:buNone/>
            </a:pPr>
            <a:r>
              <a:rPr lang="pt-BR" sz="2200" dirty="0"/>
              <a:t>Proposição 1 (P) – “Hoje é sábado”</a:t>
            </a:r>
          </a:p>
          <a:p>
            <a:pPr marL="457200" lvl="1" indent="0">
              <a:buNone/>
            </a:pPr>
            <a:r>
              <a:rPr lang="pt-BR" sz="2200" dirty="0"/>
              <a:t>Proposição 2 (Q) – “Está chovendo.”</a:t>
            </a:r>
          </a:p>
          <a:p>
            <a:pPr marL="457200" lvl="1" indent="0">
              <a:buNone/>
            </a:pPr>
            <a:endParaRPr lang="pt-BR" sz="2200" dirty="0"/>
          </a:p>
          <a:p>
            <a:pPr lvl="1"/>
            <a:r>
              <a:rPr lang="pt-BR" sz="2200" dirty="0"/>
              <a:t>Combinação com o operador lógico ‘E’:</a:t>
            </a:r>
          </a:p>
          <a:p>
            <a:pPr marL="457200" lvl="1" indent="0">
              <a:buNone/>
            </a:pPr>
            <a:r>
              <a:rPr lang="pt-BR" sz="2200" dirty="0"/>
              <a:t>    S = P ∧ Q</a:t>
            </a:r>
          </a:p>
          <a:p>
            <a:pPr marL="457200" lvl="1" indent="0">
              <a:buNone/>
            </a:pPr>
            <a:r>
              <a:rPr lang="pt-BR" sz="2200" dirty="0"/>
              <a:t>    “Hoje é sábado E Está chovendo”</a:t>
            </a:r>
          </a:p>
          <a:p>
            <a:pPr marL="457200" lvl="1" indent="0">
              <a:buNone/>
            </a:pPr>
            <a:endParaRPr lang="pt-BR" sz="2200" dirty="0"/>
          </a:p>
          <a:p>
            <a:pPr lvl="1"/>
            <a:r>
              <a:rPr lang="pt-BR" sz="2200" dirty="0"/>
              <a:t>Combinação com o operador lógico ‘OU’:</a:t>
            </a:r>
          </a:p>
          <a:p>
            <a:pPr marL="457200" lvl="1" indent="0">
              <a:buNone/>
            </a:pPr>
            <a:r>
              <a:rPr lang="pt-BR" sz="2200" dirty="0"/>
              <a:t>    S = P ∨ Q</a:t>
            </a:r>
          </a:p>
          <a:p>
            <a:pPr marL="457200" lvl="1" indent="0">
              <a:buNone/>
            </a:pPr>
            <a:r>
              <a:rPr lang="pt-BR" sz="2200" dirty="0"/>
              <a:t>    “Hoje é sábado OU Está chovendo”</a:t>
            </a:r>
          </a:p>
          <a:p>
            <a:pPr marL="457200" lvl="1" indent="0">
              <a:buNone/>
            </a:pPr>
            <a:endParaRPr lang="pt-BR" sz="2200" dirty="0"/>
          </a:p>
          <a:p>
            <a:pPr marL="457200" lvl="1" indent="0">
              <a:buNone/>
            </a:pPr>
            <a:endParaRPr lang="pt-BR" sz="2200" dirty="0"/>
          </a:p>
        </p:txBody>
      </p:sp>
      <p:sp>
        <p:nvSpPr>
          <p:cNvPr id="7" name="Retângulo 6">
            <a:extLst>
              <a:ext uri="{FF2B5EF4-FFF2-40B4-BE49-F238E27FC236}">
                <a16:creationId xmlns:a16="http://schemas.microsoft.com/office/drawing/2014/main" id="{E60CE604-36B2-DE88-08E6-9DEA68704E0D}"/>
              </a:ext>
            </a:extLst>
          </p:cNvPr>
          <p:cNvSpPr/>
          <p:nvPr/>
        </p:nvSpPr>
        <p:spPr>
          <a:xfrm>
            <a:off x="7142748" y="2676406"/>
            <a:ext cx="4307304" cy="1540706"/>
          </a:xfrm>
          <a:prstGeom prst="rect">
            <a:avLst/>
          </a:prstGeom>
          <a:solidFill>
            <a:srgbClr val="63A5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000" dirty="0"/>
              <a:t>Essas proposições podem ter valor verdadeiro ou falso, com base nos valores das proposições que a compõe</a:t>
            </a:r>
          </a:p>
        </p:txBody>
      </p:sp>
      <p:cxnSp>
        <p:nvCxnSpPr>
          <p:cNvPr id="3" name="Conector de Seta Reta 2">
            <a:extLst>
              <a:ext uri="{FF2B5EF4-FFF2-40B4-BE49-F238E27FC236}">
                <a16:creationId xmlns:a16="http://schemas.microsoft.com/office/drawing/2014/main" id="{AEEBFCF0-A452-888A-C56B-7512E93C32D5}"/>
              </a:ext>
            </a:extLst>
          </p:cNvPr>
          <p:cNvCxnSpPr>
            <a:cxnSpLocks/>
          </p:cNvCxnSpPr>
          <p:nvPr/>
        </p:nvCxnSpPr>
        <p:spPr>
          <a:xfrm>
            <a:off x="9309100" y="4520488"/>
            <a:ext cx="0" cy="64101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4DF3B3BE-172C-6D5E-8AC1-A4B29E30A3E8}"/>
              </a:ext>
            </a:extLst>
          </p:cNvPr>
          <p:cNvSpPr txBox="1"/>
          <p:nvPr/>
        </p:nvSpPr>
        <p:spPr>
          <a:xfrm>
            <a:off x="8392054" y="5280214"/>
            <a:ext cx="1742721" cy="369332"/>
          </a:xfrm>
          <a:prstGeom prst="rect">
            <a:avLst/>
          </a:prstGeom>
          <a:noFill/>
        </p:spPr>
        <p:txBody>
          <a:bodyPr wrap="none" rtlCol="0">
            <a:spAutoFit/>
          </a:bodyPr>
          <a:lstStyle/>
          <a:p>
            <a:r>
              <a:rPr lang="pt-BR" b="1" u="sng" dirty="0"/>
              <a:t>Tabelas Verdade</a:t>
            </a:r>
          </a:p>
        </p:txBody>
      </p:sp>
    </p:spTree>
    <p:extLst>
      <p:ext uri="{BB962C8B-B14F-4D97-AF65-F5344CB8AC3E}">
        <p14:creationId xmlns:p14="http://schemas.microsoft.com/office/powerpoint/2010/main" val="3708040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52978-4397-2495-FB4A-93C14E8CAA43}"/>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BE5DA23D-C533-7A22-8E03-30AFF0FAEAEB}"/>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D47D932C-8177-6FDF-F440-090EC034071B}"/>
              </a:ext>
            </a:extLst>
          </p:cNvPr>
          <p:cNvSpPr>
            <a:spLocks noGrp="1"/>
          </p:cNvSpPr>
          <p:nvPr>
            <p:ph type="title"/>
          </p:nvPr>
        </p:nvSpPr>
        <p:spPr>
          <a:xfrm>
            <a:off x="0" y="-1"/>
            <a:ext cx="12192000" cy="1325563"/>
          </a:xfrm>
        </p:spPr>
        <p:txBody>
          <a:bodyPr/>
          <a:lstStyle/>
          <a:p>
            <a:pPr algn="ctr"/>
            <a:r>
              <a:rPr lang="pt-BR" dirty="0">
                <a:solidFill>
                  <a:schemeClr val="bg1"/>
                </a:solidFill>
              </a:rPr>
              <a:t>TABELA VERDADE</a:t>
            </a:r>
          </a:p>
        </p:txBody>
      </p:sp>
      <p:sp>
        <p:nvSpPr>
          <p:cNvPr id="12" name="AutoShape 6" descr="Lógica Proposicional x Lógica de Argumento ⋆ Colaborae">
            <a:extLst>
              <a:ext uri="{FF2B5EF4-FFF2-40B4-BE49-F238E27FC236}">
                <a16:creationId xmlns:a16="http://schemas.microsoft.com/office/drawing/2014/main" id="{8679DCB3-C40A-3123-DEA3-FC0BC32BFDDF}"/>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1AD80929-46C8-2981-881F-6DFC81B3F9B4}"/>
              </a:ext>
            </a:extLst>
          </p:cNvPr>
          <p:cNvSpPr>
            <a:spLocks noGrp="1"/>
          </p:cNvSpPr>
          <p:nvPr>
            <p:ph idx="1"/>
          </p:nvPr>
        </p:nvSpPr>
        <p:spPr>
          <a:xfrm>
            <a:off x="1736203" y="1866900"/>
            <a:ext cx="8414793" cy="4622800"/>
          </a:xfrm>
        </p:spPr>
        <p:txBody>
          <a:bodyPr>
            <a:normAutofit/>
          </a:bodyPr>
          <a:lstStyle/>
          <a:p>
            <a:pPr lvl="1"/>
            <a:r>
              <a:rPr lang="pt-BR" dirty="0"/>
              <a:t>Define o valor lógico da expressão para cada combinação possível dos valores de entrada</a:t>
            </a:r>
          </a:p>
          <a:p>
            <a:pPr lvl="1"/>
            <a:endParaRPr lang="pt-BR" dirty="0"/>
          </a:p>
          <a:p>
            <a:pPr lvl="1"/>
            <a:r>
              <a:rPr lang="pt-BR" dirty="0"/>
              <a:t>Tabela verdade da </a:t>
            </a:r>
            <a:r>
              <a:rPr lang="pt-BR" b="1" dirty="0"/>
              <a:t>Negação</a:t>
            </a:r>
            <a:r>
              <a:rPr lang="pt-BR" dirty="0"/>
              <a:t>:</a:t>
            </a:r>
          </a:p>
          <a:p>
            <a:pPr lvl="1"/>
            <a:endParaRPr lang="pt-BR" sz="2200" dirty="0"/>
          </a:p>
          <a:p>
            <a:pPr marL="457200" lvl="1" indent="0">
              <a:buNone/>
            </a:pPr>
            <a:endParaRPr lang="pt-BR" dirty="0"/>
          </a:p>
        </p:txBody>
      </p:sp>
      <p:graphicFrame>
        <p:nvGraphicFramePr>
          <p:cNvPr id="8" name="Tabela 7">
            <a:extLst>
              <a:ext uri="{FF2B5EF4-FFF2-40B4-BE49-F238E27FC236}">
                <a16:creationId xmlns:a16="http://schemas.microsoft.com/office/drawing/2014/main" id="{4ACC43A5-E8FA-F881-A717-07DC79C9F5F9}"/>
              </a:ext>
            </a:extLst>
          </p:cNvPr>
          <p:cNvGraphicFramePr>
            <a:graphicFrameLocks noGrp="1"/>
          </p:cNvGraphicFramePr>
          <p:nvPr>
            <p:extLst>
              <p:ext uri="{D42A27DB-BD31-4B8C-83A1-F6EECF244321}">
                <p14:modId xmlns:p14="http://schemas.microsoft.com/office/powerpoint/2010/main" val="1942888026"/>
              </p:ext>
            </p:extLst>
          </p:nvPr>
        </p:nvGraphicFramePr>
        <p:xfrm>
          <a:off x="4006849" y="4006850"/>
          <a:ext cx="3873500" cy="1752600"/>
        </p:xfrm>
        <a:graphic>
          <a:graphicData uri="http://schemas.openxmlformats.org/drawingml/2006/table">
            <a:tbl>
              <a:tblPr firstRow="1" bandRow="1">
                <a:tableStyleId>{5C22544A-7EE6-4342-B048-85BDC9FD1C3A}</a:tableStyleId>
              </a:tblPr>
              <a:tblGrid>
                <a:gridCol w="1936750">
                  <a:extLst>
                    <a:ext uri="{9D8B030D-6E8A-4147-A177-3AD203B41FA5}">
                      <a16:colId xmlns:a16="http://schemas.microsoft.com/office/drawing/2014/main" val="3352659932"/>
                    </a:ext>
                  </a:extLst>
                </a:gridCol>
                <a:gridCol w="1936750">
                  <a:extLst>
                    <a:ext uri="{9D8B030D-6E8A-4147-A177-3AD203B41FA5}">
                      <a16:colId xmlns:a16="http://schemas.microsoft.com/office/drawing/2014/main" val="3526495656"/>
                    </a:ext>
                  </a:extLst>
                </a:gridCol>
              </a:tblGrid>
              <a:tr h="584200">
                <a:tc>
                  <a:txBody>
                    <a:bodyPr/>
                    <a:lstStyle/>
                    <a:p>
                      <a:pPr algn="ctr"/>
                      <a:r>
                        <a:rPr lang="pt-BR" sz="2400" dirty="0"/>
                        <a:t>P</a:t>
                      </a:r>
                    </a:p>
                  </a:txBody>
                  <a:tcPr anchor="ctr"/>
                </a:tc>
                <a:tc>
                  <a:txBody>
                    <a:bodyPr/>
                    <a:lstStyle/>
                    <a:p>
                      <a:pPr algn="ctr"/>
                      <a:r>
                        <a:rPr lang="pt-BR" sz="2400" dirty="0"/>
                        <a:t>¬P</a:t>
                      </a:r>
                    </a:p>
                  </a:txBody>
                  <a:tcPr anchor="ctr"/>
                </a:tc>
                <a:extLst>
                  <a:ext uri="{0D108BD9-81ED-4DB2-BD59-A6C34878D82A}">
                    <a16:rowId xmlns:a16="http://schemas.microsoft.com/office/drawing/2014/main" val="1413103353"/>
                  </a:ext>
                </a:extLst>
              </a:tr>
              <a:tr h="584200">
                <a:tc>
                  <a:txBody>
                    <a:bodyPr/>
                    <a:lstStyle/>
                    <a:p>
                      <a:pPr algn="ctr"/>
                      <a:r>
                        <a:rPr lang="pt-BR" sz="2400" dirty="0"/>
                        <a:t>Verdadeiro</a:t>
                      </a:r>
                    </a:p>
                  </a:txBody>
                  <a:tcPr anchor="ctr"/>
                </a:tc>
                <a:tc>
                  <a:txBody>
                    <a:bodyPr/>
                    <a:lstStyle/>
                    <a:p>
                      <a:pPr algn="ctr"/>
                      <a:r>
                        <a:rPr lang="pt-BR" sz="2400" dirty="0"/>
                        <a:t>Falso</a:t>
                      </a:r>
                    </a:p>
                  </a:txBody>
                  <a:tcPr anchor="ctr"/>
                </a:tc>
                <a:extLst>
                  <a:ext uri="{0D108BD9-81ED-4DB2-BD59-A6C34878D82A}">
                    <a16:rowId xmlns:a16="http://schemas.microsoft.com/office/drawing/2014/main" val="3302035967"/>
                  </a:ext>
                </a:extLst>
              </a:tr>
              <a:tr h="584200">
                <a:tc>
                  <a:txBody>
                    <a:bodyPr/>
                    <a:lstStyle/>
                    <a:p>
                      <a:pPr algn="ctr"/>
                      <a:r>
                        <a:rPr lang="pt-BR" sz="2400" dirty="0"/>
                        <a:t>Falso</a:t>
                      </a:r>
                    </a:p>
                  </a:txBody>
                  <a:tcPr anchor="ctr"/>
                </a:tc>
                <a:tc>
                  <a:txBody>
                    <a:bodyPr/>
                    <a:lstStyle/>
                    <a:p>
                      <a:pPr algn="ctr"/>
                      <a:r>
                        <a:rPr lang="pt-BR" sz="2400" dirty="0"/>
                        <a:t>Verdadeiro</a:t>
                      </a:r>
                    </a:p>
                  </a:txBody>
                  <a:tcPr anchor="ctr"/>
                </a:tc>
                <a:extLst>
                  <a:ext uri="{0D108BD9-81ED-4DB2-BD59-A6C34878D82A}">
                    <a16:rowId xmlns:a16="http://schemas.microsoft.com/office/drawing/2014/main" val="443687263"/>
                  </a:ext>
                </a:extLst>
              </a:tr>
            </a:tbl>
          </a:graphicData>
        </a:graphic>
      </p:graphicFrame>
    </p:spTree>
    <p:extLst>
      <p:ext uri="{BB962C8B-B14F-4D97-AF65-F5344CB8AC3E}">
        <p14:creationId xmlns:p14="http://schemas.microsoft.com/office/powerpoint/2010/main" val="340950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A563F-4C26-2245-D257-91B64F13AD98}"/>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61EFCC11-2FD5-9AE9-1297-E5CD13790152}"/>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C3560D32-74C8-A855-7476-D468BB65D6CF}"/>
              </a:ext>
            </a:extLst>
          </p:cNvPr>
          <p:cNvSpPr>
            <a:spLocks noGrp="1"/>
          </p:cNvSpPr>
          <p:nvPr>
            <p:ph type="title"/>
          </p:nvPr>
        </p:nvSpPr>
        <p:spPr>
          <a:xfrm>
            <a:off x="0" y="-1"/>
            <a:ext cx="12192000" cy="1325563"/>
          </a:xfrm>
        </p:spPr>
        <p:txBody>
          <a:bodyPr/>
          <a:lstStyle/>
          <a:p>
            <a:pPr algn="ctr"/>
            <a:r>
              <a:rPr lang="pt-BR" dirty="0">
                <a:solidFill>
                  <a:schemeClr val="bg1"/>
                </a:solidFill>
              </a:rPr>
              <a:t>TABELA VERDADE</a:t>
            </a:r>
          </a:p>
        </p:txBody>
      </p:sp>
      <p:sp>
        <p:nvSpPr>
          <p:cNvPr id="12" name="AutoShape 6" descr="Lógica Proposicional x Lógica de Argumento ⋆ Colaborae">
            <a:extLst>
              <a:ext uri="{FF2B5EF4-FFF2-40B4-BE49-F238E27FC236}">
                <a16:creationId xmlns:a16="http://schemas.microsoft.com/office/drawing/2014/main" id="{52817CB2-9D7D-CC72-FC5A-F8F48D855460}"/>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ACB13348-CADE-0EF8-16F0-82445437AAFB}"/>
              </a:ext>
            </a:extLst>
          </p:cNvPr>
          <p:cNvSpPr>
            <a:spLocks noGrp="1"/>
          </p:cNvSpPr>
          <p:nvPr>
            <p:ph idx="1"/>
          </p:nvPr>
        </p:nvSpPr>
        <p:spPr>
          <a:xfrm>
            <a:off x="1736203" y="1866900"/>
            <a:ext cx="8414793" cy="4622800"/>
          </a:xfrm>
        </p:spPr>
        <p:txBody>
          <a:bodyPr>
            <a:normAutofit/>
          </a:bodyPr>
          <a:lstStyle/>
          <a:p>
            <a:pPr lvl="1"/>
            <a:r>
              <a:rPr lang="pt-BR" dirty="0"/>
              <a:t>Tabela verdade da </a:t>
            </a:r>
            <a:r>
              <a:rPr lang="pt-BR" b="1" dirty="0"/>
              <a:t>Conjunção (E)</a:t>
            </a:r>
            <a:r>
              <a:rPr lang="pt-BR" dirty="0"/>
              <a:t>:</a:t>
            </a:r>
          </a:p>
          <a:p>
            <a:pPr lvl="1"/>
            <a:endParaRPr lang="pt-BR" sz="2200" dirty="0"/>
          </a:p>
          <a:p>
            <a:pPr marL="457200" lvl="1" indent="0">
              <a:buNone/>
            </a:pPr>
            <a:endParaRPr lang="pt-BR" dirty="0"/>
          </a:p>
        </p:txBody>
      </p:sp>
      <p:graphicFrame>
        <p:nvGraphicFramePr>
          <p:cNvPr id="8" name="Tabela 7">
            <a:extLst>
              <a:ext uri="{FF2B5EF4-FFF2-40B4-BE49-F238E27FC236}">
                <a16:creationId xmlns:a16="http://schemas.microsoft.com/office/drawing/2014/main" id="{3BC277A4-29F2-DF1D-0AF2-C61B6F064BA3}"/>
              </a:ext>
            </a:extLst>
          </p:cNvPr>
          <p:cNvGraphicFramePr>
            <a:graphicFrameLocks noGrp="1"/>
          </p:cNvGraphicFramePr>
          <p:nvPr>
            <p:extLst>
              <p:ext uri="{D42A27DB-BD31-4B8C-83A1-F6EECF244321}">
                <p14:modId xmlns:p14="http://schemas.microsoft.com/office/powerpoint/2010/main" val="2938314310"/>
              </p:ext>
            </p:extLst>
          </p:nvPr>
        </p:nvGraphicFramePr>
        <p:xfrm>
          <a:off x="3235324" y="2819400"/>
          <a:ext cx="5721351" cy="3340100"/>
        </p:xfrm>
        <a:graphic>
          <a:graphicData uri="http://schemas.openxmlformats.org/drawingml/2006/table">
            <a:tbl>
              <a:tblPr firstRow="1" bandRow="1">
                <a:tableStyleId>{5C22544A-7EE6-4342-B048-85BDC9FD1C3A}</a:tableStyleId>
              </a:tblPr>
              <a:tblGrid>
                <a:gridCol w="1907117">
                  <a:extLst>
                    <a:ext uri="{9D8B030D-6E8A-4147-A177-3AD203B41FA5}">
                      <a16:colId xmlns:a16="http://schemas.microsoft.com/office/drawing/2014/main" val="3352659932"/>
                    </a:ext>
                  </a:extLst>
                </a:gridCol>
                <a:gridCol w="1907117">
                  <a:extLst>
                    <a:ext uri="{9D8B030D-6E8A-4147-A177-3AD203B41FA5}">
                      <a16:colId xmlns:a16="http://schemas.microsoft.com/office/drawing/2014/main" val="3526495656"/>
                    </a:ext>
                  </a:extLst>
                </a:gridCol>
                <a:gridCol w="1907117">
                  <a:extLst>
                    <a:ext uri="{9D8B030D-6E8A-4147-A177-3AD203B41FA5}">
                      <a16:colId xmlns:a16="http://schemas.microsoft.com/office/drawing/2014/main" val="1372818486"/>
                    </a:ext>
                  </a:extLst>
                </a:gridCol>
              </a:tblGrid>
              <a:tr h="574158">
                <a:tc>
                  <a:txBody>
                    <a:bodyPr/>
                    <a:lstStyle/>
                    <a:p>
                      <a:pPr algn="ctr"/>
                      <a:r>
                        <a:rPr lang="pt-BR" sz="2400" dirty="0"/>
                        <a:t>P</a:t>
                      </a:r>
                    </a:p>
                  </a:txBody>
                  <a:tcPr anchor="ctr"/>
                </a:tc>
                <a:tc>
                  <a:txBody>
                    <a:bodyPr/>
                    <a:lstStyle/>
                    <a:p>
                      <a:pPr algn="ctr"/>
                      <a:r>
                        <a:rPr lang="pt-BR" sz="2400" dirty="0"/>
                        <a:t>Q</a:t>
                      </a:r>
                    </a:p>
                  </a:txBody>
                  <a:tcPr anchor="ctr"/>
                </a:tc>
                <a:tc>
                  <a:txBody>
                    <a:bodyPr/>
                    <a:lstStyle/>
                    <a:p>
                      <a:pPr algn="ctr"/>
                      <a:r>
                        <a:rPr lang="pt-BR" sz="2400" dirty="0"/>
                        <a:t>P∧Q</a:t>
                      </a:r>
                    </a:p>
                  </a:txBody>
                  <a:tcPr anchor="ctr"/>
                </a:tc>
                <a:extLst>
                  <a:ext uri="{0D108BD9-81ED-4DB2-BD59-A6C34878D82A}">
                    <a16:rowId xmlns:a16="http://schemas.microsoft.com/office/drawing/2014/main" val="1413103353"/>
                  </a:ext>
                </a:extLst>
              </a:tr>
              <a:tr h="808813">
                <a:tc>
                  <a:txBody>
                    <a:bodyPr/>
                    <a:lstStyle/>
                    <a:p>
                      <a:pPr algn="ctr"/>
                      <a:r>
                        <a:rPr lang="pt-BR" sz="2400" dirty="0"/>
                        <a:t>Falso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3302035967"/>
                  </a:ext>
                </a:extLst>
              </a:tr>
              <a:tr h="808813">
                <a:tc>
                  <a:txBody>
                    <a:bodyPr/>
                    <a:lstStyle/>
                    <a:p>
                      <a:pPr algn="ctr"/>
                      <a:r>
                        <a:rPr lang="pt-BR" sz="2400" dirty="0"/>
                        <a:t>Falso</a:t>
                      </a:r>
                    </a:p>
                  </a:txBody>
                  <a:tcPr anchor="ctr"/>
                </a:tc>
                <a:tc>
                  <a:txBody>
                    <a:bodyPr/>
                    <a:lstStyle/>
                    <a:p>
                      <a:pPr algn="ctr"/>
                      <a:r>
                        <a:rPr lang="pt-BR" sz="2400" dirty="0"/>
                        <a:t>Verdadeiro</a:t>
                      </a:r>
                    </a:p>
                  </a:txBody>
                  <a:tcPr anchor="ctr"/>
                </a:tc>
                <a:tc>
                  <a:txBody>
                    <a:bodyPr/>
                    <a:lstStyle/>
                    <a:p>
                      <a:pPr algn="ctr"/>
                      <a:r>
                        <a:rPr lang="pt-BR" sz="2400" dirty="0"/>
                        <a:t>Falso</a:t>
                      </a:r>
                    </a:p>
                  </a:txBody>
                  <a:tcPr anchor="ctr"/>
                </a:tc>
                <a:extLst>
                  <a:ext uri="{0D108BD9-81ED-4DB2-BD59-A6C34878D82A}">
                    <a16:rowId xmlns:a16="http://schemas.microsoft.com/office/drawing/2014/main" val="443687263"/>
                  </a:ext>
                </a:extLst>
              </a:tr>
              <a:tr h="574158">
                <a:tc>
                  <a:txBody>
                    <a:bodyPr/>
                    <a:lstStyle/>
                    <a:p>
                      <a:pPr algn="ctr"/>
                      <a:r>
                        <a:rPr lang="pt-BR" sz="2400" dirty="0"/>
                        <a:t>Verdadeiro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4069305236"/>
                  </a:ext>
                </a:extLst>
              </a:tr>
              <a:tr h="574158">
                <a:tc>
                  <a:txBody>
                    <a:bodyPr/>
                    <a:lstStyle/>
                    <a:p>
                      <a:pPr algn="ctr"/>
                      <a:r>
                        <a:rPr lang="pt-BR" sz="2400" dirty="0"/>
                        <a:t>Verdadeiro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332939433"/>
                  </a:ext>
                </a:extLst>
              </a:tr>
            </a:tbl>
          </a:graphicData>
        </a:graphic>
      </p:graphicFrame>
    </p:spTree>
    <p:extLst>
      <p:ext uri="{BB962C8B-B14F-4D97-AF65-F5344CB8AC3E}">
        <p14:creationId xmlns:p14="http://schemas.microsoft.com/office/powerpoint/2010/main" val="991219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3CC03-CE8F-2687-5E3B-6AD5808F3C1D}"/>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EE9409D6-AC95-2EFA-324A-FD29A26417CF}"/>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93C840E0-D60D-FF7F-DC4F-8D66B0087888}"/>
              </a:ext>
            </a:extLst>
          </p:cNvPr>
          <p:cNvSpPr>
            <a:spLocks noGrp="1"/>
          </p:cNvSpPr>
          <p:nvPr>
            <p:ph type="title"/>
          </p:nvPr>
        </p:nvSpPr>
        <p:spPr>
          <a:xfrm>
            <a:off x="0" y="-1"/>
            <a:ext cx="12192000" cy="1325563"/>
          </a:xfrm>
        </p:spPr>
        <p:txBody>
          <a:bodyPr/>
          <a:lstStyle/>
          <a:p>
            <a:pPr algn="ctr"/>
            <a:r>
              <a:rPr lang="pt-BR" dirty="0">
                <a:solidFill>
                  <a:schemeClr val="bg1"/>
                </a:solidFill>
              </a:rPr>
              <a:t>TABELA VERDADE</a:t>
            </a:r>
          </a:p>
        </p:txBody>
      </p:sp>
      <p:sp>
        <p:nvSpPr>
          <p:cNvPr id="12" name="AutoShape 6" descr="Lógica Proposicional x Lógica de Argumento ⋆ Colaborae">
            <a:extLst>
              <a:ext uri="{FF2B5EF4-FFF2-40B4-BE49-F238E27FC236}">
                <a16:creationId xmlns:a16="http://schemas.microsoft.com/office/drawing/2014/main" id="{CCC1FF9F-D49C-6E8A-BF33-5A28E4BE7B48}"/>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49AEAA45-4527-65F5-BCF2-0DD4B84E5861}"/>
              </a:ext>
            </a:extLst>
          </p:cNvPr>
          <p:cNvSpPr>
            <a:spLocks noGrp="1"/>
          </p:cNvSpPr>
          <p:nvPr>
            <p:ph idx="1"/>
          </p:nvPr>
        </p:nvSpPr>
        <p:spPr>
          <a:xfrm>
            <a:off x="1736203" y="1866900"/>
            <a:ext cx="8414793" cy="4622800"/>
          </a:xfrm>
        </p:spPr>
        <p:txBody>
          <a:bodyPr>
            <a:normAutofit/>
          </a:bodyPr>
          <a:lstStyle/>
          <a:p>
            <a:pPr lvl="1"/>
            <a:r>
              <a:rPr lang="pt-BR" dirty="0"/>
              <a:t>Tabela verdade da </a:t>
            </a:r>
            <a:r>
              <a:rPr lang="pt-BR" b="1" dirty="0"/>
              <a:t>Disjunção Inclusiva (OU):</a:t>
            </a:r>
          </a:p>
          <a:p>
            <a:pPr lvl="1"/>
            <a:endParaRPr lang="pt-BR" sz="2200" dirty="0"/>
          </a:p>
          <a:p>
            <a:pPr marL="457200" lvl="1" indent="0">
              <a:buNone/>
            </a:pPr>
            <a:endParaRPr lang="pt-BR" dirty="0"/>
          </a:p>
        </p:txBody>
      </p:sp>
      <p:graphicFrame>
        <p:nvGraphicFramePr>
          <p:cNvPr id="3" name="Tabela 2">
            <a:extLst>
              <a:ext uri="{FF2B5EF4-FFF2-40B4-BE49-F238E27FC236}">
                <a16:creationId xmlns:a16="http://schemas.microsoft.com/office/drawing/2014/main" id="{4BBB5EEA-267D-6636-A8B4-45F63B711E62}"/>
              </a:ext>
            </a:extLst>
          </p:cNvPr>
          <p:cNvGraphicFramePr>
            <a:graphicFrameLocks noGrp="1"/>
          </p:cNvGraphicFramePr>
          <p:nvPr>
            <p:extLst>
              <p:ext uri="{D42A27DB-BD31-4B8C-83A1-F6EECF244321}">
                <p14:modId xmlns:p14="http://schemas.microsoft.com/office/powerpoint/2010/main" val="3673297649"/>
              </p:ext>
            </p:extLst>
          </p:nvPr>
        </p:nvGraphicFramePr>
        <p:xfrm>
          <a:off x="3235324" y="2819400"/>
          <a:ext cx="5721351" cy="3340100"/>
        </p:xfrm>
        <a:graphic>
          <a:graphicData uri="http://schemas.openxmlformats.org/drawingml/2006/table">
            <a:tbl>
              <a:tblPr firstRow="1" bandRow="1">
                <a:tableStyleId>{5C22544A-7EE6-4342-B048-85BDC9FD1C3A}</a:tableStyleId>
              </a:tblPr>
              <a:tblGrid>
                <a:gridCol w="1907117">
                  <a:extLst>
                    <a:ext uri="{9D8B030D-6E8A-4147-A177-3AD203B41FA5}">
                      <a16:colId xmlns:a16="http://schemas.microsoft.com/office/drawing/2014/main" val="3352659932"/>
                    </a:ext>
                  </a:extLst>
                </a:gridCol>
                <a:gridCol w="1907117">
                  <a:extLst>
                    <a:ext uri="{9D8B030D-6E8A-4147-A177-3AD203B41FA5}">
                      <a16:colId xmlns:a16="http://schemas.microsoft.com/office/drawing/2014/main" val="3526495656"/>
                    </a:ext>
                  </a:extLst>
                </a:gridCol>
                <a:gridCol w="1907117">
                  <a:extLst>
                    <a:ext uri="{9D8B030D-6E8A-4147-A177-3AD203B41FA5}">
                      <a16:colId xmlns:a16="http://schemas.microsoft.com/office/drawing/2014/main" val="1372818486"/>
                    </a:ext>
                  </a:extLst>
                </a:gridCol>
              </a:tblGrid>
              <a:tr h="574158">
                <a:tc>
                  <a:txBody>
                    <a:bodyPr/>
                    <a:lstStyle/>
                    <a:p>
                      <a:pPr algn="ctr"/>
                      <a:r>
                        <a:rPr lang="pt-BR" sz="2400" dirty="0"/>
                        <a:t>P</a:t>
                      </a:r>
                    </a:p>
                  </a:txBody>
                  <a:tcPr anchor="ctr"/>
                </a:tc>
                <a:tc>
                  <a:txBody>
                    <a:bodyPr/>
                    <a:lstStyle/>
                    <a:p>
                      <a:pPr algn="ctr"/>
                      <a:r>
                        <a:rPr lang="pt-BR" sz="2400" dirty="0"/>
                        <a:t>Q</a:t>
                      </a:r>
                    </a:p>
                  </a:txBody>
                  <a:tcPr anchor="ctr"/>
                </a:tc>
                <a:tc>
                  <a:txBody>
                    <a:bodyPr/>
                    <a:lstStyle/>
                    <a:p>
                      <a:pPr algn="ctr"/>
                      <a:r>
                        <a:rPr lang="pt-BR" sz="2400" dirty="0"/>
                        <a:t>P∨Q</a:t>
                      </a:r>
                    </a:p>
                  </a:txBody>
                  <a:tcPr anchor="ctr"/>
                </a:tc>
                <a:extLst>
                  <a:ext uri="{0D108BD9-81ED-4DB2-BD59-A6C34878D82A}">
                    <a16:rowId xmlns:a16="http://schemas.microsoft.com/office/drawing/2014/main" val="1413103353"/>
                  </a:ext>
                </a:extLst>
              </a:tr>
              <a:tr h="808813">
                <a:tc>
                  <a:txBody>
                    <a:bodyPr/>
                    <a:lstStyle/>
                    <a:p>
                      <a:pPr algn="ctr"/>
                      <a:r>
                        <a:rPr lang="pt-BR" sz="2400" dirty="0"/>
                        <a:t>Falso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3302035967"/>
                  </a:ext>
                </a:extLst>
              </a:tr>
              <a:tr h="808813">
                <a:tc>
                  <a:txBody>
                    <a:bodyPr/>
                    <a:lstStyle/>
                    <a:p>
                      <a:pPr algn="ctr"/>
                      <a:r>
                        <a:rPr lang="pt-BR" sz="2400" dirty="0"/>
                        <a:t>Falso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443687263"/>
                  </a:ext>
                </a:extLst>
              </a:tr>
              <a:tr h="574158">
                <a:tc>
                  <a:txBody>
                    <a:bodyPr/>
                    <a:lstStyle/>
                    <a:p>
                      <a:pPr algn="ctr"/>
                      <a:r>
                        <a:rPr lang="pt-BR" sz="2400" dirty="0"/>
                        <a:t>Verdadeiro</a:t>
                      </a:r>
                    </a:p>
                  </a:txBody>
                  <a:tcPr anchor="ctr"/>
                </a:tc>
                <a:tc>
                  <a:txBody>
                    <a:bodyPr/>
                    <a:lstStyle/>
                    <a:p>
                      <a:pPr algn="ctr"/>
                      <a:r>
                        <a:rPr lang="pt-BR" sz="2400" dirty="0"/>
                        <a:t>Falso</a:t>
                      </a:r>
                    </a:p>
                  </a:txBody>
                  <a:tcPr anchor="ctr"/>
                </a:tc>
                <a:tc>
                  <a:txBody>
                    <a:bodyPr/>
                    <a:lstStyle/>
                    <a:p>
                      <a:pPr algn="ctr"/>
                      <a:r>
                        <a:rPr lang="pt-BR" sz="2400" dirty="0"/>
                        <a:t>Verdadeiro</a:t>
                      </a:r>
                    </a:p>
                  </a:txBody>
                  <a:tcPr anchor="ctr"/>
                </a:tc>
                <a:extLst>
                  <a:ext uri="{0D108BD9-81ED-4DB2-BD59-A6C34878D82A}">
                    <a16:rowId xmlns:a16="http://schemas.microsoft.com/office/drawing/2014/main" val="4069305236"/>
                  </a:ext>
                </a:extLst>
              </a:tr>
              <a:tr h="574158">
                <a:tc>
                  <a:txBody>
                    <a:bodyPr/>
                    <a:lstStyle/>
                    <a:p>
                      <a:pPr algn="ctr"/>
                      <a:r>
                        <a:rPr lang="pt-BR" sz="2400" dirty="0"/>
                        <a:t>Verdadeiro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332939433"/>
                  </a:ext>
                </a:extLst>
              </a:tr>
            </a:tbl>
          </a:graphicData>
        </a:graphic>
      </p:graphicFrame>
    </p:spTree>
    <p:extLst>
      <p:ext uri="{BB962C8B-B14F-4D97-AF65-F5344CB8AC3E}">
        <p14:creationId xmlns:p14="http://schemas.microsoft.com/office/powerpoint/2010/main" val="173291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D15C7-56B0-3DF3-6092-634AC1C49719}"/>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5FD32F77-52C3-4AF1-95CB-6810074EAC82}"/>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5B78F03D-DD37-F4B4-3381-03AF9622763F}"/>
              </a:ext>
            </a:extLst>
          </p:cNvPr>
          <p:cNvSpPr>
            <a:spLocks noGrp="1"/>
          </p:cNvSpPr>
          <p:nvPr>
            <p:ph type="title"/>
          </p:nvPr>
        </p:nvSpPr>
        <p:spPr>
          <a:xfrm>
            <a:off x="0" y="-1"/>
            <a:ext cx="12192000" cy="1325563"/>
          </a:xfrm>
        </p:spPr>
        <p:txBody>
          <a:bodyPr/>
          <a:lstStyle/>
          <a:p>
            <a:pPr algn="ctr"/>
            <a:r>
              <a:rPr lang="pt-BR" dirty="0">
                <a:solidFill>
                  <a:schemeClr val="bg1"/>
                </a:solidFill>
              </a:rPr>
              <a:t>TABELA VERDADE</a:t>
            </a:r>
          </a:p>
        </p:txBody>
      </p:sp>
      <p:sp>
        <p:nvSpPr>
          <p:cNvPr id="12" name="AutoShape 6" descr="Lógica Proposicional x Lógica de Argumento ⋆ Colaborae">
            <a:extLst>
              <a:ext uri="{FF2B5EF4-FFF2-40B4-BE49-F238E27FC236}">
                <a16:creationId xmlns:a16="http://schemas.microsoft.com/office/drawing/2014/main" id="{C1F78E54-6055-3C6F-A3BB-63C795B6D9C4}"/>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3D3995B0-03BC-F213-E494-E7719EF2B3B7}"/>
              </a:ext>
            </a:extLst>
          </p:cNvPr>
          <p:cNvSpPr>
            <a:spLocks noGrp="1"/>
          </p:cNvSpPr>
          <p:nvPr>
            <p:ph idx="1"/>
          </p:nvPr>
        </p:nvSpPr>
        <p:spPr>
          <a:xfrm>
            <a:off x="1736203" y="1866900"/>
            <a:ext cx="8414793" cy="4622800"/>
          </a:xfrm>
        </p:spPr>
        <p:txBody>
          <a:bodyPr>
            <a:normAutofit/>
          </a:bodyPr>
          <a:lstStyle/>
          <a:p>
            <a:pPr lvl="1"/>
            <a:r>
              <a:rPr lang="pt-BR" dirty="0"/>
              <a:t>Tabela verdade da </a:t>
            </a:r>
            <a:r>
              <a:rPr lang="pt-BR" b="1" dirty="0"/>
              <a:t>Disjunção Exclusiva (XOR):</a:t>
            </a:r>
          </a:p>
          <a:p>
            <a:pPr lvl="1"/>
            <a:endParaRPr lang="pt-BR" sz="2200" dirty="0"/>
          </a:p>
          <a:p>
            <a:pPr marL="457200" lvl="1" indent="0">
              <a:buNone/>
            </a:pPr>
            <a:endParaRPr lang="pt-BR" dirty="0"/>
          </a:p>
        </p:txBody>
      </p:sp>
      <p:graphicFrame>
        <p:nvGraphicFramePr>
          <p:cNvPr id="3" name="Tabela 2">
            <a:extLst>
              <a:ext uri="{FF2B5EF4-FFF2-40B4-BE49-F238E27FC236}">
                <a16:creationId xmlns:a16="http://schemas.microsoft.com/office/drawing/2014/main" id="{92C7B664-C5C6-E081-BEF1-ACA3F4964E90}"/>
              </a:ext>
            </a:extLst>
          </p:cNvPr>
          <p:cNvGraphicFramePr>
            <a:graphicFrameLocks noGrp="1"/>
          </p:cNvGraphicFramePr>
          <p:nvPr>
            <p:extLst>
              <p:ext uri="{D42A27DB-BD31-4B8C-83A1-F6EECF244321}">
                <p14:modId xmlns:p14="http://schemas.microsoft.com/office/powerpoint/2010/main" val="283072096"/>
              </p:ext>
            </p:extLst>
          </p:nvPr>
        </p:nvGraphicFramePr>
        <p:xfrm>
          <a:off x="3235324" y="2819400"/>
          <a:ext cx="5721351" cy="3340100"/>
        </p:xfrm>
        <a:graphic>
          <a:graphicData uri="http://schemas.openxmlformats.org/drawingml/2006/table">
            <a:tbl>
              <a:tblPr firstRow="1" bandRow="1">
                <a:tableStyleId>{5C22544A-7EE6-4342-B048-85BDC9FD1C3A}</a:tableStyleId>
              </a:tblPr>
              <a:tblGrid>
                <a:gridCol w="1907117">
                  <a:extLst>
                    <a:ext uri="{9D8B030D-6E8A-4147-A177-3AD203B41FA5}">
                      <a16:colId xmlns:a16="http://schemas.microsoft.com/office/drawing/2014/main" val="3352659932"/>
                    </a:ext>
                  </a:extLst>
                </a:gridCol>
                <a:gridCol w="1907117">
                  <a:extLst>
                    <a:ext uri="{9D8B030D-6E8A-4147-A177-3AD203B41FA5}">
                      <a16:colId xmlns:a16="http://schemas.microsoft.com/office/drawing/2014/main" val="3526495656"/>
                    </a:ext>
                  </a:extLst>
                </a:gridCol>
                <a:gridCol w="1907117">
                  <a:extLst>
                    <a:ext uri="{9D8B030D-6E8A-4147-A177-3AD203B41FA5}">
                      <a16:colId xmlns:a16="http://schemas.microsoft.com/office/drawing/2014/main" val="1372818486"/>
                    </a:ext>
                  </a:extLst>
                </a:gridCol>
              </a:tblGrid>
              <a:tr h="574158">
                <a:tc>
                  <a:txBody>
                    <a:bodyPr/>
                    <a:lstStyle/>
                    <a:p>
                      <a:pPr algn="ctr"/>
                      <a:r>
                        <a:rPr lang="pt-BR" sz="2400" dirty="0"/>
                        <a:t>P</a:t>
                      </a:r>
                    </a:p>
                  </a:txBody>
                  <a:tcPr anchor="ctr"/>
                </a:tc>
                <a:tc>
                  <a:txBody>
                    <a:bodyPr/>
                    <a:lstStyle/>
                    <a:p>
                      <a:pPr algn="ctr"/>
                      <a:r>
                        <a:rPr lang="pt-BR" sz="2400" dirty="0"/>
                        <a:t>Q</a:t>
                      </a:r>
                    </a:p>
                  </a:txBody>
                  <a:tcPr anchor="ctr"/>
                </a:tc>
                <a:tc>
                  <a:txBody>
                    <a:bodyPr/>
                    <a:lstStyle/>
                    <a:p>
                      <a:pPr algn="ctr"/>
                      <a:r>
                        <a:rPr lang="pt-BR" sz="2400" dirty="0"/>
                        <a:t>P</a:t>
                      </a:r>
                      <a:r>
                        <a:rPr lang="pt-BR" sz="2400" u="sng" dirty="0"/>
                        <a:t>∨</a:t>
                      </a:r>
                      <a:r>
                        <a:rPr lang="pt-BR" sz="2400" dirty="0"/>
                        <a:t>Q</a:t>
                      </a:r>
                    </a:p>
                  </a:txBody>
                  <a:tcPr anchor="ctr"/>
                </a:tc>
                <a:extLst>
                  <a:ext uri="{0D108BD9-81ED-4DB2-BD59-A6C34878D82A}">
                    <a16:rowId xmlns:a16="http://schemas.microsoft.com/office/drawing/2014/main" val="1413103353"/>
                  </a:ext>
                </a:extLst>
              </a:tr>
              <a:tr h="808813">
                <a:tc>
                  <a:txBody>
                    <a:bodyPr/>
                    <a:lstStyle/>
                    <a:p>
                      <a:pPr algn="ctr"/>
                      <a:r>
                        <a:rPr lang="pt-BR" sz="2400" dirty="0"/>
                        <a:t>Falso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3302035967"/>
                  </a:ext>
                </a:extLst>
              </a:tr>
              <a:tr h="808813">
                <a:tc>
                  <a:txBody>
                    <a:bodyPr/>
                    <a:lstStyle/>
                    <a:p>
                      <a:pPr algn="ctr"/>
                      <a:r>
                        <a:rPr lang="pt-BR" sz="2400" dirty="0"/>
                        <a:t>Falso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443687263"/>
                  </a:ext>
                </a:extLst>
              </a:tr>
              <a:tr h="574158">
                <a:tc>
                  <a:txBody>
                    <a:bodyPr/>
                    <a:lstStyle/>
                    <a:p>
                      <a:pPr algn="ctr"/>
                      <a:r>
                        <a:rPr lang="pt-BR" sz="2400" dirty="0"/>
                        <a:t>Verdadeiro</a:t>
                      </a:r>
                    </a:p>
                  </a:txBody>
                  <a:tcPr anchor="ctr"/>
                </a:tc>
                <a:tc>
                  <a:txBody>
                    <a:bodyPr/>
                    <a:lstStyle/>
                    <a:p>
                      <a:pPr algn="ctr"/>
                      <a:r>
                        <a:rPr lang="pt-BR" sz="2400" dirty="0"/>
                        <a:t>Falso</a:t>
                      </a:r>
                    </a:p>
                  </a:txBody>
                  <a:tcPr anchor="ctr"/>
                </a:tc>
                <a:tc>
                  <a:txBody>
                    <a:bodyPr/>
                    <a:lstStyle/>
                    <a:p>
                      <a:pPr algn="ctr"/>
                      <a:r>
                        <a:rPr lang="pt-BR" sz="2400" dirty="0"/>
                        <a:t>Verdadeiro</a:t>
                      </a:r>
                    </a:p>
                  </a:txBody>
                  <a:tcPr anchor="ctr"/>
                </a:tc>
                <a:extLst>
                  <a:ext uri="{0D108BD9-81ED-4DB2-BD59-A6C34878D82A}">
                    <a16:rowId xmlns:a16="http://schemas.microsoft.com/office/drawing/2014/main" val="4069305236"/>
                  </a:ext>
                </a:extLst>
              </a:tr>
              <a:tr h="574158">
                <a:tc>
                  <a:txBody>
                    <a:bodyPr/>
                    <a:lstStyle/>
                    <a:p>
                      <a:pPr algn="ctr"/>
                      <a:r>
                        <a:rPr lang="pt-BR" sz="2400" dirty="0"/>
                        <a:t>Verdadeiro</a:t>
                      </a:r>
                    </a:p>
                  </a:txBody>
                  <a:tcPr anchor="ctr"/>
                </a:tc>
                <a:tc>
                  <a:txBody>
                    <a:bodyPr/>
                    <a:lstStyle/>
                    <a:p>
                      <a:pPr algn="ctr"/>
                      <a:r>
                        <a:rPr lang="pt-BR" sz="2400" dirty="0"/>
                        <a:t>Verdadeiro</a:t>
                      </a:r>
                    </a:p>
                  </a:txBody>
                  <a:tcPr anchor="ctr"/>
                </a:tc>
                <a:tc>
                  <a:txBody>
                    <a:bodyPr/>
                    <a:lstStyle/>
                    <a:p>
                      <a:pPr algn="ctr"/>
                      <a:r>
                        <a:rPr lang="pt-BR" sz="2400" dirty="0"/>
                        <a:t>Falso</a:t>
                      </a:r>
                    </a:p>
                  </a:txBody>
                  <a:tcPr anchor="ctr"/>
                </a:tc>
                <a:extLst>
                  <a:ext uri="{0D108BD9-81ED-4DB2-BD59-A6C34878D82A}">
                    <a16:rowId xmlns:a16="http://schemas.microsoft.com/office/drawing/2014/main" val="332939433"/>
                  </a:ext>
                </a:extLst>
              </a:tr>
            </a:tbl>
          </a:graphicData>
        </a:graphic>
      </p:graphicFrame>
    </p:spTree>
    <p:extLst>
      <p:ext uri="{BB962C8B-B14F-4D97-AF65-F5344CB8AC3E}">
        <p14:creationId xmlns:p14="http://schemas.microsoft.com/office/powerpoint/2010/main" val="2060079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7999B-4B9A-8FFA-552D-8BBD1B3B4775}"/>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C9C75E06-C595-8D40-3059-30152878A1F4}"/>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0F3CB982-71A3-2B5C-0B5E-3D5216225AEE}"/>
              </a:ext>
            </a:extLst>
          </p:cNvPr>
          <p:cNvSpPr>
            <a:spLocks noGrp="1"/>
          </p:cNvSpPr>
          <p:nvPr>
            <p:ph type="title"/>
          </p:nvPr>
        </p:nvSpPr>
        <p:spPr>
          <a:xfrm>
            <a:off x="0" y="-1"/>
            <a:ext cx="12192000" cy="1325563"/>
          </a:xfrm>
        </p:spPr>
        <p:txBody>
          <a:bodyPr/>
          <a:lstStyle/>
          <a:p>
            <a:pPr algn="ctr"/>
            <a:r>
              <a:rPr lang="pt-BR" dirty="0">
                <a:solidFill>
                  <a:schemeClr val="bg1"/>
                </a:solidFill>
              </a:rPr>
              <a:t>TABELA VERDADE</a:t>
            </a:r>
          </a:p>
        </p:txBody>
      </p:sp>
      <p:sp>
        <p:nvSpPr>
          <p:cNvPr id="12" name="AutoShape 6" descr="Lógica Proposicional x Lógica de Argumento ⋆ Colaborae">
            <a:extLst>
              <a:ext uri="{FF2B5EF4-FFF2-40B4-BE49-F238E27FC236}">
                <a16:creationId xmlns:a16="http://schemas.microsoft.com/office/drawing/2014/main" id="{967205C2-2CB1-0A03-2881-7DB6AB1A3243}"/>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C9A1BDE3-C14C-CAF8-EB15-B7240F72562D}"/>
              </a:ext>
            </a:extLst>
          </p:cNvPr>
          <p:cNvSpPr>
            <a:spLocks noGrp="1"/>
          </p:cNvSpPr>
          <p:nvPr>
            <p:ph idx="1"/>
          </p:nvPr>
        </p:nvSpPr>
        <p:spPr>
          <a:xfrm>
            <a:off x="1736203" y="1866900"/>
            <a:ext cx="8414793" cy="4622800"/>
          </a:xfrm>
        </p:spPr>
        <p:txBody>
          <a:bodyPr>
            <a:normAutofit/>
          </a:bodyPr>
          <a:lstStyle/>
          <a:p>
            <a:pPr lvl="1"/>
            <a:r>
              <a:rPr lang="pt-BR" dirty="0"/>
              <a:t>Tabela verdade do </a:t>
            </a:r>
            <a:r>
              <a:rPr lang="pt-BR" b="1" dirty="0"/>
              <a:t>Condicional (</a:t>
            </a:r>
            <a:r>
              <a:rPr lang="pt-BR" b="1" dirty="0">
                <a:latin typeface="Calibri" panose="020F0502020204030204" pitchFamily="34" charset="0"/>
                <a:ea typeface="Calibri" panose="020F0502020204030204" pitchFamily="34" charset="0"/>
                <a:cs typeface="Calibri" panose="020F0502020204030204" pitchFamily="34" charset="0"/>
              </a:rPr>
              <a:t>→</a:t>
            </a:r>
            <a:r>
              <a:rPr lang="pt-BR" b="1" dirty="0"/>
              <a:t>):</a:t>
            </a:r>
          </a:p>
          <a:p>
            <a:pPr lvl="1"/>
            <a:r>
              <a:rPr lang="pt-BR" dirty="0"/>
              <a:t>Lê-se: Se P, então Q.</a:t>
            </a:r>
          </a:p>
          <a:p>
            <a:pPr marL="457200" lvl="1" indent="0">
              <a:buNone/>
            </a:pPr>
            <a:endParaRPr lang="pt-BR" dirty="0"/>
          </a:p>
        </p:txBody>
      </p:sp>
      <p:graphicFrame>
        <p:nvGraphicFramePr>
          <p:cNvPr id="3" name="Tabela 2">
            <a:extLst>
              <a:ext uri="{FF2B5EF4-FFF2-40B4-BE49-F238E27FC236}">
                <a16:creationId xmlns:a16="http://schemas.microsoft.com/office/drawing/2014/main" id="{2F21861E-1961-432F-E04C-F9DBF245D0D3}"/>
              </a:ext>
            </a:extLst>
          </p:cNvPr>
          <p:cNvGraphicFramePr>
            <a:graphicFrameLocks noGrp="1"/>
          </p:cNvGraphicFramePr>
          <p:nvPr>
            <p:extLst>
              <p:ext uri="{D42A27DB-BD31-4B8C-83A1-F6EECF244321}">
                <p14:modId xmlns:p14="http://schemas.microsoft.com/office/powerpoint/2010/main" val="572216178"/>
              </p:ext>
            </p:extLst>
          </p:nvPr>
        </p:nvGraphicFramePr>
        <p:xfrm>
          <a:off x="3235324" y="3039269"/>
          <a:ext cx="5721351" cy="3340100"/>
        </p:xfrm>
        <a:graphic>
          <a:graphicData uri="http://schemas.openxmlformats.org/drawingml/2006/table">
            <a:tbl>
              <a:tblPr firstRow="1" bandRow="1">
                <a:tableStyleId>{5C22544A-7EE6-4342-B048-85BDC9FD1C3A}</a:tableStyleId>
              </a:tblPr>
              <a:tblGrid>
                <a:gridCol w="1907117">
                  <a:extLst>
                    <a:ext uri="{9D8B030D-6E8A-4147-A177-3AD203B41FA5}">
                      <a16:colId xmlns:a16="http://schemas.microsoft.com/office/drawing/2014/main" val="3352659932"/>
                    </a:ext>
                  </a:extLst>
                </a:gridCol>
                <a:gridCol w="1907117">
                  <a:extLst>
                    <a:ext uri="{9D8B030D-6E8A-4147-A177-3AD203B41FA5}">
                      <a16:colId xmlns:a16="http://schemas.microsoft.com/office/drawing/2014/main" val="3526495656"/>
                    </a:ext>
                  </a:extLst>
                </a:gridCol>
                <a:gridCol w="1907117">
                  <a:extLst>
                    <a:ext uri="{9D8B030D-6E8A-4147-A177-3AD203B41FA5}">
                      <a16:colId xmlns:a16="http://schemas.microsoft.com/office/drawing/2014/main" val="1372818486"/>
                    </a:ext>
                  </a:extLst>
                </a:gridCol>
              </a:tblGrid>
              <a:tr h="574158">
                <a:tc>
                  <a:txBody>
                    <a:bodyPr/>
                    <a:lstStyle/>
                    <a:p>
                      <a:pPr algn="ctr"/>
                      <a:r>
                        <a:rPr lang="pt-BR" sz="2400" dirty="0"/>
                        <a:t>P</a:t>
                      </a:r>
                    </a:p>
                  </a:txBody>
                  <a:tcPr anchor="ctr"/>
                </a:tc>
                <a:tc>
                  <a:txBody>
                    <a:bodyPr/>
                    <a:lstStyle/>
                    <a:p>
                      <a:pPr algn="ctr"/>
                      <a:r>
                        <a:rPr lang="pt-BR" sz="2400" dirty="0"/>
                        <a:t>Q</a:t>
                      </a:r>
                    </a:p>
                  </a:txBody>
                  <a:tcPr anchor="ctr"/>
                </a:tc>
                <a:tc>
                  <a:txBody>
                    <a:bodyPr/>
                    <a:lstStyle/>
                    <a:p>
                      <a:pPr algn="ctr"/>
                      <a:r>
                        <a:rPr lang="pt-BR" sz="2400" dirty="0"/>
                        <a:t>P</a:t>
                      </a:r>
                      <a:r>
                        <a:rPr lang="pt-BR" sz="2400" b="1" dirty="0">
                          <a:latin typeface="Calibri" panose="020F0502020204030204" pitchFamily="34" charset="0"/>
                          <a:ea typeface="Calibri" panose="020F0502020204030204" pitchFamily="34" charset="0"/>
                          <a:cs typeface="Calibri" panose="020F0502020204030204" pitchFamily="34" charset="0"/>
                        </a:rPr>
                        <a:t>→</a:t>
                      </a:r>
                      <a:r>
                        <a:rPr lang="pt-BR" sz="2400" dirty="0"/>
                        <a:t>Q</a:t>
                      </a:r>
                    </a:p>
                  </a:txBody>
                  <a:tcPr anchor="ctr"/>
                </a:tc>
                <a:extLst>
                  <a:ext uri="{0D108BD9-81ED-4DB2-BD59-A6C34878D82A}">
                    <a16:rowId xmlns:a16="http://schemas.microsoft.com/office/drawing/2014/main" val="1413103353"/>
                  </a:ext>
                </a:extLst>
              </a:tr>
              <a:tr h="808813">
                <a:tc>
                  <a:txBody>
                    <a:bodyPr/>
                    <a:lstStyle/>
                    <a:p>
                      <a:pPr algn="ctr"/>
                      <a:r>
                        <a:rPr lang="pt-BR" sz="2400" dirty="0"/>
                        <a:t>Falso</a:t>
                      </a:r>
                    </a:p>
                  </a:txBody>
                  <a:tcPr anchor="ctr"/>
                </a:tc>
                <a:tc>
                  <a:txBody>
                    <a:bodyPr/>
                    <a:lstStyle/>
                    <a:p>
                      <a:pPr algn="ctr"/>
                      <a:r>
                        <a:rPr lang="pt-BR" sz="2400" dirty="0"/>
                        <a:t>Falso</a:t>
                      </a:r>
                    </a:p>
                  </a:txBody>
                  <a:tcPr anchor="ctr"/>
                </a:tc>
                <a:tc>
                  <a:txBody>
                    <a:bodyPr/>
                    <a:lstStyle/>
                    <a:p>
                      <a:pPr algn="ctr"/>
                      <a:r>
                        <a:rPr lang="pt-BR" sz="2400" dirty="0"/>
                        <a:t>Verdadeiro</a:t>
                      </a:r>
                    </a:p>
                  </a:txBody>
                  <a:tcPr anchor="ctr"/>
                </a:tc>
                <a:extLst>
                  <a:ext uri="{0D108BD9-81ED-4DB2-BD59-A6C34878D82A}">
                    <a16:rowId xmlns:a16="http://schemas.microsoft.com/office/drawing/2014/main" val="3302035967"/>
                  </a:ext>
                </a:extLst>
              </a:tr>
              <a:tr h="808813">
                <a:tc>
                  <a:txBody>
                    <a:bodyPr/>
                    <a:lstStyle/>
                    <a:p>
                      <a:pPr algn="ctr"/>
                      <a:r>
                        <a:rPr lang="pt-BR" sz="2400" dirty="0"/>
                        <a:t>Falso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443687263"/>
                  </a:ext>
                </a:extLst>
              </a:tr>
              <a:tr h="574158">
                <a:tc>
                  <a:txBody>
                    <a:bodyPr/>
                    <a:lstStyle/>
                    <a:p>
                      <a:pPr algn="ctr"/>
                      <a:r>
                        <a:rPr lang="pt-BR" sz="2400" dirty="0"/>
                        <a:t>Verdadeiro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4069305236"/>
                  </a:ext>
                </a:extLst>
              </a:tr>
              <a:tr h="574158">
                <a:tc>
                  <a:txBody>
                    <a:bodyPr/>
                    <a:lstStyle/>
                    <a:p>
                      <a:pPr algn="ctr"/>
                      <a:r>
                        <a:rPr lang="pt-BR" sz="2400" dirty="0"/>
                        <a:t>Verdadeiro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332939433"/>
                  </a:ext>
                </a:extLst>
              </a:tr>
            </a:tbl>
          </a:graphicData>
        </a:graphic>
      </p:graphicFrame>
    </p:spTree>
    <p:extLst>
      <p:ext uri="{BB962C8B-B14F-4D97-AF65-F5344CB8AC3E}">
        <p14:creationId xmlns:p14="http://schemas.microsoft.com/office/powerpoint/2010/main" val="2897374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AD09-FF54-ABCB-0F56-10830561DF1C}"/>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760B5B6D-48E2-EF53-65FF-003C2D02258D}"/>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57902790-62E2-4032-6FED-3F2A682F2385}"/>
              </a:ext>
            </a:extLst>
          </p:cNvPr>
          <p:cNvSpPr>
            <a:spLocks noGrp="1"/>
          </p:cNvSpPr>
          <p:nvPr>
            <p:ph type="title"/>
          </p:nvPr>
        </p:nvSpPr>
        <p:spPr>
          <a:xfrm>
            <a:off x="0" y="-1"/>
            <a:ext cx="12192000" cy="1325563"/>
          </a:xfrm>
        </p:spPr>
        <p:txBody>
          <a:bodyPr/>
          <a:lstStyle/>
          <a:p>
            <a:pPr algn="ctr"/>
            <a:r>
              <a:rPr lang="pt-BR" dirty="0">
                <a:solidFill>
                  <a:schemeClr val="bg1"/>
                </a:solidFill>
              </a:rPr>
              <a:t>TABELA VERDADE</a:t>
            </a:r>
          </a:p>
        </p:txBody>
      </p:sp>
      <p:sp>
        <p:nvSpPr>
          <p:cNvPr id="12" name="AutoShape 6" descr="Lógica Proposicional x Lógica de Argumento ⋆ Colaborae">
            <a:extLst>
              <a:ext uri="{FF2B5EF4-FFF2-40B4-BE49-F238E27FC236}">
                <a16:creationId xmlns:a16="http://schemas.microsoft.com/office/drawing/2014/main" id="{B065755B-E45C-5941-3C79-936D7369ED25}"/>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314B16B3-2EC4-8503-DEFC-E3866A1EE1E9}"/>
              </a:ext>
            </a:extLst>
          </p:cNvPr>
          <p:cNvSpPr>
            <a:spLocks noGrp="1"/>
          </p:cNvSpPr>
          <p:nvPr>
            <p:ph idx="1"/>
          </p:nvPr>
        </p:nvSpPr>
        <p:spPr>
          <a:xfrm>
            <a:off x="1736203" y="1866900"/>
            <a:ext cx="8414793" cy="4622800"/>
          </a:xfrm>
        </p:spPr>
        <p:txBody>
          <a:bodyPr>
            <a:normAutofit/>
          </a:bodyPr>
          <a:lstStyle/>
          <a:p>
            <a:pPr lvl="1"/>
            <a:r>
              <a:rPr lang="pt-BR" dirty="0"/>
              <a:t>Tabela verdade do </a:t>
            </a:r>
            <a:r>
              <a:rPr lang="pt-BR" b="1" dirty="0" err="1"/>
              <a:t>Bicondicional</a:t>
            </a:r>
            <a:r>
              <a:rPr lang="pt-BR" b="1" dirty="0"/>
              <a:t> (</a:t>
            </a:r>
            <a:r>
              <a:rPr lang="pt-BR" b="1" dirty="0">
                <a:latin typeface="Calibri" panose="020F0502020204030204" pitchFamily="34" charset="0"/>
                <a:ea typeface="Calibri" panose="020F0502020204030204" pitchFamily="34" charset="0"/>
                <a:cs typeface="Calibri" panose="020F0502020204030204" pitchFamily="34" charset="0"/>
              </a:rPr>
              <a:t>→</a:t>
            </a:r>
            <a:r>
              <a:rPr lang="pt-BR" b="1" dirty="0"/>
              <a:t>):</a:t>
            </a:r>
          </a:p>
          <a:p>
            <a:pPr lvl="1"/>
            <a:r>
              <a:rPr lang="pt-BR" dirty="0"/>
              <a:t>Lê-se: P se, e somente se Q.</a:t>
            </a:r>
          </a:p>
          <a:p>
            <a:pPr marL="457200" lvl="1" indent="0">
              <a:buNone/>
            </a:pPr>
            <a:endParaRPr lang="pt-BR" dirty="0"/>
          </a:p>
        </p:txBody>
      </p:sp>
      <p:graphicFrame>
        <p:nvGraphicFramePr>
          <p:cNvPr id="3" name="Tabela 2">
            <a:extLst>
              <a:ext uri="{FF2B5EF4-FFF2-40B4-BE49-F238E27FC236}">
                <a16:creationId xmlns:a16="http://schemas.microsoft.com/office/drawing/2014/main" id="{81389D16-EF10-DCD7-7806-15A64A650788}"/>
              </a:ext>
            </a:extLst>
          </p:cNvPr>
          <p:cNvGraphicFramePr>
            <a:graphicFrameLocks noGrp="1"/>
          </p:cNvGraphicFramePr>
          <p:nvPr>
            <p:extLst>
              <p:ext uri="{D42A27DB-BD31-4B8C-83A1-F6EECF244321}">
                <p14:modId xmlns:p14="http://schemas.microsoft.com/office/powerpoint/2010/main" val="2900147062"/>
              </p:ext>
            </p:extLst>
          </p:nvPr>
        </p:nvGraphicFramePr>
        <p:xfrm>
          <a:off x="3235324" y="3039269"/>
          <a:ext cx="5721351" cy="3340100"/>
        </p:xfrm>
        <a:graphic>
          <a:graphicData uri="http://schemas.openxmlformats.org/drawingml/2006/table">
            <a:tbl>
              <a:tblPr firstRow="1" bandRow="1">
                <a:tableStyleId>{5C22544A-7EE6-4342-B048-85BDC9FD1C3A}</a:tableStyleId>
              </a:tblPr>
              <a:tblGrid>
                <a:gridCol w="1907117">
                  <a:extLst>
                    <a:ext uri="{9D8B030D-6E8A-4147-A177-3AD203B41FA5}">
                      <a16:colId xmlns:a16="http://schemas.microsoft.com/office/drawing/2014/main" val="3352659932"/>
                    </a:ext>
                  </a:extLst>
                </a:gridCol>
                <a:gridCol w="1907117">
                  <a:extLst>
                    <a:ext uri="{9D8B030D-6E8A-4147-A177-3AD203B41FA5}">
                      <a16:colId xmlns:a16="http://schemas.microsoft.com/office/drawing/2014/main" val="3526495656"/>
                    </a:ext>
                  </a:extLst>
                </a:gridCol>
                <a:gridCol w="1907117">
                  <a:extLst>
                    <a:ext uri="{9D8B030D-6E8A-4147-A177-3AD203B41FA5}">
                      <a16:colId xmlns:a16="http://schemas.microsoft.com/office/drawing/2014/main" val="1372818486"/>
                    </a:ext>
                  </a:extLst>
                </a:gridCol>
              </a:tblGrid>
              <a:tr h="574158">
                <a:tc>
                  <a:txBody>
                    <a:bodyPr/>
                    <a:lstStyle/>
                    <a:p>
                      <a:pPr algn="ctr"/>
                      <a:r>
                        <a:rPr lang="pt-BR" sz="2400" dirty="0"/>
                        <a:t>P</a:t>
                      </a:r>
                    </a:p>
                  </a:txBody>
                  <a:tcPr anchor="ctr"/>
                </a:tc>
                <a:tc>
                  <a:txBody>
                    <a:bodyPr/>
                    <a:lstStyle/>
                    <a:p>
                      <a:pPr algn="ctr"/>
                      <a:r>
                        <a:rPr lang="pt-BR" sz="2400" dirty="0"/>
                        <a:t>Q</a:t>
                      </a:r>
                    </a:p>
                  </a:txBody>
                  <a:tcPr anchor="ctr"/>
                </a:tc>
                <a:tc>
                  <a:txBody>
                    <a:bodyPr/>
                    <a:lstStyle/>
                    <a:p>
                      <a:pPr algn="ctr"/>
                      <a:r>
                        <a:rPr lang="pt-BR" sz="2400" dirty="0"/>
                        <a:t>P</a:t>
                      </a:r>
                      <a:r>
                        <a:rPr lang="pt-BR" sz="2400" b="1" dirty="0">
                          <a:latin typeface="Calibri" panose="020F0502020204030204" pitchFamily="34" charset="0"/>
                          <a:ea typeface="Calibri" panose="020F0502020204030204" pitchFamily="34" charset="0"/>
                          <a:cs typeface="Calibri" panose="020F0502020204030204" pitchFamily="34" charset="0"/>
                        </a:rPr>
                        <a:t>↔</a:t>
                      </a:r>
                      <a:r>
                        <a:rPr lang="pt-BR" sz="2400" dirty="0"/>
                        <a:t>Q</a:t>
                      </a:r>
                    </a:p>
                  </a:txBody>
                  <a:tcPr anchor="ctr"/>
                </a:tc>
                <a:extLst>
                  <a:ext uri="{0D108BD9-81ED-4DB2-BD59-A6C34878D82A}">
                    <a16:rowId xmlns:a16="http://schemas.microsoft.com/office/drawing/2014/main" val="1413103353"/>
                  </a:ext>
                </a:extLst>
              </a:tr>
              <a:tr h="808813">
                <a:tc>
                  <a:txBody>
                    <a:bodyPr/>
                    <a:lstStyle/>
                    <a:p>
                      <a:pPr algn="ctr"/>
                      <a:r>
                        <a:rPr lang="pt-BR" sz="2400" dirty="0"/>
                        <a:t>Falso</a:t>
                      </a:r>
                    </a:p>
                  </a:txBody>
                  <a:tcPr anchor="ctr"/>
                </a:tc>
                <a:tc>
                  <a:txBody>
                    <a:bodyPr/>
                    <a:lstStyle/>
                    <a:p>
                      <a:pPr algn="ctr"/>
                      <a:r>
                        <a:rPr lang="pt-BR" sz="2400" dirty="0"/>
                        <a:t>Falso</a:t>
                      </a:r>
                    </a:p>
                  </a:txBody>
                  <a:tcPr anchor="ctr"/>
                </a:tc>
                <a:tc>
                  <a:txBody>
                    <a:bodyPr/>
                    <a:lstStyle/>
                    <a:p>
                      <a:pPr algn="ctr"/>
                      <a:r>
                        <a:rPr lang="pt-BR" sz="2400" dirty="0"/>
                        <a:t>Verdadeiro</a:t>
                      </a:r>
                    </a:p>
                  </a:txBody>
                  <a:tcPr anchor="ctr"/>
                </a:tc>
                <a:extLst>
                  <a:ext uri="{0D108BD9-81ED-4DB2-BD59-A6C34878D82A}">
                    <a16:rowId xmlns:a16="http://schemas.microsoft.com/office/drawing/2014/main" val="3302035967"/>
                  </a:ext>
                </a:extLst>
              </a:tr>
              <a:tr h="808813">
                <a:tc>
                  <a:txBody>
                    <a:bodyPr/>
                    <a:lstStyle/>
                    <a:p>
                      <a:pPr algn="ctr"/>
                      <a:r>
                        <a:rPr lang="pt-BR" sz="2400" dirty="0"/>
                        <a:t>Falso</a:t>
                      </a:r>
                    </a:p>
                  </a:txBody>
                  <a:tcPr anchor="ctr"/>
                </a:tc>
                <a:tc>
                  <a:txBody>
                    <a:bodyPr/>
                    <a:lstStyle/>
                    <a:p>
                      <a:pPr algn="ctr"/>
                      <a:r>
                        <a:rPr lang="pt-BR" sz="2400" dirty="0"/>
                        <a:t>Verdadeiro</a:t>
                      </a:r>
                    </a:p>
                  </a:txBody>
                  <a:tcPr anchor="ctr"/>
                </a:tc>
                <a:tc>
                  <a:txBody>
                    <a:bodyPr/>
                    <a:lstStyle/>
                    <a:p>
                      <a:pPr algn="ctr"/>
                      <a:r>
                        <a:rPr lang="pt-BR" sz="2400" dirty="0"/>
                        <a:t>Falso</a:t>
                      </a:r>
                    </a:p>
                  </a:txBody>
                  <a:tcPr anchor="ctr"/>
                </a:tc>
                <a:extLst>
                  <a:ext uri="{0D108BD9-81ED-4DB2-BD59-A6C34878D82A}">
                    <a16:rowId xmlns:a16="http://schemas.microsoft.com/office/drawing/2014/main" val="443687263"/>
                  </a:ext>
                </a:extLst>
              </a:tr>
              <a:tr h="574158">
                <a:tc>
                  <a:txBody>
                    <a:bodyPr/>
                    <a:lstStyle/>
                    <a:p>
                      <a:pPr algn="ctr"/>
                      <a:r>
                        <a:rPr lang="pt-BR" sz="2400" dirty="0"/>
                        <a:t>Verdadeiro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4069305236"/>
                  </a:ext>
                </a:extLst>
              </a:tr>
              <a:tr h="574158">
                <a:tc>
                  <a:txBody>
                    <a:bodyPr/>
                    <a:lstStyle/>
                    <a:p>
                      <a:pPr algn="ctr"/>
                      <a:r>
                        <a:rPr lang="pt-BR" sz="2400" dirty="0"/>
                        <a:t>Verdadeiro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332939433"/>
                  </a:ext>
                </a:extLst>
              </a:tr>
            </a:tbl>
          </a:graphicData>
        </a:graphic>
      </p:graphicFrame>
    </p:spTree>
    <p:extLst>
      <p:ext uri="{BB962C8B-B14F-4D97-AF65-F5344CB8AC3E}">
        <p14:creationId xmlns:p14="http://schemas.microsoft.com/office/powerpoint/2010/main" val="1985521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70D52-B12B-F1DC-DA1E-4BBBACA70EC8}"/>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C5D087C2-7253-0D50-CD5E-F4CD77EB2CD3}"/>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22E8B8C9-4312-9220-DB1D-F61FD07626E6}"/>
              </a:ext>
            </a:extLst>
          </p:cNvPr>
          <p:cNvSpPr>
            <a:spLocks noGrp="1"/>
          </p:cNvSpPr>
          <p:nvPr>
            <p:ph type="title"/>
          </p:nvPr>
        </p:nvSpPr>
        <p:spPr>
          <a:xfrm>
            <a:off x="0" y="-1"/>
            <a:ext cx="12192000" cy="1325563"/>
          </a:xfrm>
        </p:spPr>
        <p:txBody>
          <a:bodyPr/>
          <a:lstStyle/>
          <a:p>
            <a:pPr algn="ctr"/>
            <a:r>
              <a:rPr lang="pt-BR" dirty="0">
                <a:solidFill>
                  <a:schemeClr val="bg1"/>
                </a:solidFill>
              </a:rPr>
              <a:t>PRECEDÊNCIA DOS CONECTIVOS</a:t>
            </a:r>
          </a:p>
        </p:txBody>
      </p:sp>
      <p:sp>
        <p:nvSpPr>
          <p:cNvPr id="12" name="AutoShape 6" descr="Lógica Proposicional x Lógica de Argumento ⋆ Colaborae">
            <a:extLst>
              <a:ext uri="{FF2B5EF4-FFF2-40B4-BE49-F238E27FC236}">
                <a16:creationId xmlns:a16="http://schemas.microsoft.com/office/drawing/2014/main" id="{2E0A2F98-F2A3-3E93-26B7-104D4A8BB827}"/>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388C2459-1F7F-3502-4461-5D7DC9CEC61C}"/>
              </a:ext>
            </a:extLst>
          </p:cNvPr>
          <p:cNvSpPr>
            <a:spLocks noGrp="1"/>
          </p:cNvSpPr>
          <p:nvPr>
            <p:ph idx="1"/>
          </p:nvPr>
        </p:nvSpPr>
        <p:spPr>
          <a:xfrm>
            <a:off x="1414346" y="1839036"/>
            <a:ext cx="6327681" cy="4622800"/>
          </a:xfrm>
        </p:spPr>
        <p:txBody>
          <a:bodyPr>
            <a:normAutofit/>
          </a:bodyPr>
          <a:lstStyle/>
          <a:p>
            <a:r>
              <a:rPr lang="pt-BR" sz="2400" dirty="0"/>
              <a:t>A ordem de precedência dos operadores define quem é resolvido primeiro</a:t>
            </a:r>
          </a:p>
          <a:p>
            <a:pPr lvl="1"/>
            <a:endParaRPr lang="pt-BR" sz="2000" dirty="0"/>
          </a:p>
          <a:p>
            <a:pPr marL="914400" lvl="1" indent="-457200">
              <a:buFont typeface="+mj-lt"/>
              <a:buAutoNum type="arabicPeriod"/>
            </a:pPr>
            <a:r>
              <a:rPr lang="pt-BR" sz="2200" dirty="0"/>
              <a:t>Parênteses (Se houver)</a:t>
            </a:r>
          </a:p>
          <a:p>
            <a:pPr marL="914400" lvl="1" indent="-457200">
              <a:buFont typeface="+mj-lt"/>
              <a:buAutoNum type="arabicPeriod"/>
            </a:pPr>
            <a:r>
              <a:rPr lang="pt-BR" sz="2200" dirty="0"/>
              <a:t>Negação </a:t>
            </a:r>
          </a:p>
          <a:p>
            <a:pPr marL="914400" lvl="1" indent="-457200">
              <a:buFont typeface="+mj-lt"/>
              <a:buAutoNum type="arabicPeriod"/>
            </a:pPr>
            <a:r>
              <a:rPr lang="pt-BR" sz="2200" dirty="0"/>
              <a:t>Conjunção </a:t>
            </a:r>
          </a:p>
          <a:p>
            <a:pPr marL="914400" lvl="1" indent="-457200">
              <a:buFont typeface="+mj-lt"/>
              <a:buAutoNum type="arabicPeriod"/>
            </a:pPr>
            <a:r>
              <a:rPr lang="pt-BR" sz="2200" dirty="0"/>
              <a:t>Disjunção (OR / XOR) </a:t>
            </a:r>
          </a:p>
          <a:p>
            <a:pPr marL="914400" lvl="1" indent="-457200">
              <a:buFont typeface="+mj-lt"/>
              <a:buAutoNum type="arabicPeriod"/>
            </a:pPr>
            <a:r>
              <a:rPr lang="pt-BR" sz="2200" dirty="0"/>
              <a:t>Condicional </a:t>
            </a:r>
          </a:p>
          <a:p>
            <a:pPr marL="914400" lvl="1" indent="-457200">
              <a:buFont typeface="+mj-lt"/>
              <a:buAutoNum type="arabicPeriod"/>
            </a:pPr>
            <a:r>
              <a:rPr lang="pt-BR" sz="2200" dirty="0" err="1"/>
              <a:t>Bicondicional</a:t>
            </a:r>
            <a:endParaRPr lang="pt-BR" sz="2200" dirty="0"/>
          </a:p>
          <a:p>
            <a:pPr marL="914400" lvl="1" indent="-457200">
              <a:buFont typeface="+mj-lt"/>
              <a:buAutoNum type="arabicPeriod"/>
            </a:pPr>
            <a:endParaRPr lang="pt-BR" sz="2200" dirty="0"/>
          </a:p>
          <a:p>
            <a:pPr marL="457200" lvl="1" indent="0">
              <a:buNone/>
            </a:pPr>
            <a:endParaRPr lang="pt-BR" sz="2200" dirty="0"/>
          </a:p>
        </p:txBody>
      </p:sp>
      <p:pic>
        <p:nvPicPr>
          <p:cNvPr id="2050" name="Picture 2" descr="Lógica Básica na 40ena] Lógica Proposicional — A linguagem formal | Notas  de aula">
            <a:extLst>
              <a:ext uri="{FF2B5EF4-FFF2-40B4-BE49-F238E27FC236}">
                <a16:creationId xmlns:a16="http://schemas.microsoft.com/office/drawing/2014/main" id="{1A7D922C-AF4B-627F-FF06-372D682F99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9979" y="2706979"/>
            <a:ext cx="6596418" cy="4004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33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16BFC-85F8-947C-7493-38CAF4032006}"/>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939AE28E-58D7-54D0-2032-57FD5BDADAE9}"/>
              </a:ext>
            </a:extLst>
          </p:cNvPr>
          <p:cNvSpPr/>
          <p:nvPr/>
        </p:nvSpPr>
        <p:spPr>
          <a:xfrm>
            <a:off x="0" y="2103437"/>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0EC084CA-93AB-DCFE-0804-685889668470}"/>
              </a:ext>
            </a:extLst>
          </p:cNvPr>
          <p:cNvSpPr>
            <a:spLocks noGrp="1"/>
          </p:cNvSpPr>
          <p:nvPr>
            <p:ph type="title"/>
          </p:nvPr>
        </p:nvSpPr>
        <p:spPr>
          <a:xfrm>
            <a:off x="-31258" y="2103437"/>
            <a:ext cx="12192000" cy="1325563"/>
          </a:xfrm>
        </p:spPr>
        <p:txBody>
          <a:bodyPr/>
          <a:lstStyle/>
          <a:p>
            <a:pPr algn="ctr"/>
            <a:r>
              <a:rPr lang="pt-BR" dirty="0">
                <a:solidFill>
                  <a:schemeClr val="bg1"/>
                </a:solidFill>
              </a:rPr>
              <a:t>Como construir uma Tabela Verdade?</a:t>
            </a:r>
          </a:p>
        </p:txBody>
      </p:sp>
      <p:sp>
        <p:nvSpPr>
          <p:cNvPr id="12" name="AutoShape 6" descr="Lógica Proposicional x Lógica de Argumento ⋆ Colaborae">
            <a:extLst>
              <a:ext uri="{FF2B5EF4-FFF2-40B4-BE49-F238E27FC236}">
                <a16:creationId xmlns:a16="http://schemas.microsoft.com/office/drawing/2014/main" id="{F14652F3-4597-A18E-5AA1-7312B6997082}"/>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 name="CaixaDeTexto 2">
            <a:extLst>
              <a:ext uri="{FF2B5EF4-FFF2-40B4-BE49-F238E27FC236}">
                <a16:creationId xmlns:a16="http://schemas.microsoft.com/office/drawing/2014/main" id="{6D65B10E-3611-2D96-1AE3-A37672AE6C6B}"/>
              </a:ext>
            </a:extLst>
          </p:cNvPr>
          <p:cNvSpPr txBox="1"/>
          <p:nvPr/>
        </p:nvSpPr>
        <p:spPr>
          <a:xfrm>
            <a:off x="4003888" y="3970227"/>
            <a:ext cx="4184223" cy="830997"/>
          </a:xfrm>
          <a:prstGeom prst="rect">
            <a:avLst/>
          </a:prstGeom>
          <a:noFill/>
        </p:spPr>
        <p:txBody>
          <a:bodyPr wrap="none" rtlCol="0">
            <a:spAutoFit/>
          </a:bodyPr>
          <a:lstStyle/>
          <a:p>
            <a:pPr algn="ctr"/>
            <a:r>
              <a:rPr lang="pt-BR" sz="2400" dirty="0"/>
              <a:t>Construir a tabela da expressão:</a:t>
            </a:r>
          </a:p>
          <a:p>
            <a:pPr algn="ctr"/>
            <a:r>
              <a:rPr lang="pt-BR" sz="2400" dirty="0"/>
              <a:t>(P ∧ Q) → R</a:t>
            </a:r>
          </a:p>
        </p:txBody>
      </p:sp>
    </p:spTree>
    <p:extLst>
      <p:ext uri="{BB962C8B-B14F-4D97-AF65-F5344CB8AC3E}">
        <p14:creationId xmlns:p14="http://schemas.microsoft.com/office/powerpoint/2010/main" val="986767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091C3-4F81-E9C1-F50D-CE37013F3D5E}"/>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35FFA12A-3D3A-FAB4-B5B3-1349C0123322}"/>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5DEE3BC0-3F59-838D-1AB4-10F150ED8E11}"/>
              </a:ext>
            </a:extLst>
          </p:cNvPr>
          <p:cNvSpPr>
            <a:spLocks noGrp="1"/>
          </p:cNvSpPr>
          <p:nvPr>
            <p:ph type="title"/>
          </p:nvPr>
        </p:nvSpPr>
        <p:spPr>
          <a:xfrm>
            <a:off x="0" y="-1"/>
            <a:ext cx="12192000" cy="1325563"/>
          </a:xfrm>
        </p:spPr>
        <p:txBody>
          <a:bodyPr/>
          <a:lstStyle/>
          <a:p>
            <a:pPr algn="ctr"/>
            <a:r>
              <a:rPr lang="pt-BR" dirty="0">
                <a:solidFill>
                  <a:schemeClr val="bg1"/>
                </a:solidFill>
              </a:rPr>
              <a:t>CLASSIFICAÇÃO DE EXPRESSÕES LÓGICAS</a:t>
            </a:r>
          </a:p>
        </p:txBody>
      </p:sp>
      <p:sp>
        <p:nvSpPr>
          <p:cNvPr id="12" name="AutoShape 6" descr="Lógica Proposicional x Lógica de Argumento ⋆ Colaborae">
            <a:extLst>
              <a:ext uri="{FF2B5EF4-FFF2-40B4-BE49-F238E27FC236}">
                <a16:creationId xmlns:a16="http://schemas.microsoft.com/office/drawing/2014/main" id="{BC0C4185-DDEA-8C72-9143-7CD01B112C7B}"/>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A5251ECE-2E7C-8367-308E-3281C5AEC121}"/>
              </a:ext>
            </a:extLst>
          </p:cNvPr>
          <p:cNvSpPr>
            <a:spLocks noGrp="1"/>
          </p:cNvSpPr>
          <p:nvPr>
            <p:ph idx="1"/>
          </p:nvPr>
        </p:nvSpPr>
        <p:spPr>
          <a:xfrm>
            <a:off x="1515370" y="1750136"/>
            <a:ext cx="8809730" cy="4622800"/>
          </a:xfrm>
        </p:spPr>
        <p:txBody>
          <a:bodyPr>
            <a:normAutofit/>
          </a:bodyPr>
          <a:lstStyle/>
          <a:p>
            <a:pPr algn="just"/>
            <a:r>
              <a:rPr lang="pt-BR" sz="2400" dirty="0"/>
              <a:t>Dependendo dos resultados de uma tabela verdade, a expressão pode ser classificada em três categorias:</a:t>
            </a:r>
          </a:p>
          <a:p>
            <a:pPr algn="just"/>
            <a:endParaRPr lang="pt-BR" sz="2200" dirty="0"/>
          </a:p>
          <a:p>
            <a:pPr marL="914400" lvl="1" indent="-457200">
              <a:buFont typeface="+mj-lt"/>
              <a:buAutoNum type="arabicPeriod"/>
            </a:pPr>
            <a:r>
              <a:rPr lang="pt-BR" sz="2200" b="1" dirty="0"/>
              <a:t>Tautologia: </a:t>
            </a:r>
            <a:r>
              <a:rPr lang="pt-BR" sz="2200" dirty="0"/>
              <a:t>ocorre quando o resultado de uma proposição é sempre verdadeiro, não importando quais sejam os valores de P e Q</a:t>
            </a:r>
          </a:p>
          <a:p>
            <a:pPr marL="914400" lvl="1" indent="-457200">
              <a:buFont typeface="+mj-lt"/>
              <a:buAutoNum type="arabicPeriod"/>
            </a:pPr>
            <a:endParaRPr lang="pt-BR" sz="2200" dirty="0"/>
          </a:p>
          <a:p>
            <a:pPr marL="457200" lvl="1" indent="0">
              <a:buNone/>
            </a:pPr>
            <a:r>
              <a:rPr lang="pt-BR" sz="2200" dirty="0"/>
              <a:t>	Exemplo: </a:t>
            </a:r>
            <a:r>
              <a:rPr lang="pt-BR" sz="2000" dirty="0"/>
              <a:t>P ∨</a:t>
            </a:r>
            <a:r>
              <a:rPr lang="pt-BR" dirty="0"/>
              <a:t> ¬</a:t>
            </a:r>
            <a:r>
              <a:rPr lang="pt-BR" sz="2000" dirty="0"/>
              <a:t>P </a:t>
            </a:r>
          </a:p>
          <a:p>
            <a:pPr marL="457200" lvl="1" indent="0">
              <a:buNone/>
            </a:pPr>
            <a:r>
              <a:rPr lang="pt-BR" sz="2000" dirty="0"/>
              <a:t>	</a:t>
            </a:r>
            <a:r>
              <a:rPr lang="pt-BR" dirty="0"/>
              <a:t>A expressão é sempre verdadeira, podendo ser simplificada </a:t>
            </a:r>
          </a:p>
          <a:p>
            <a:pPr marL="457200" lvl="1" indent="0">
              <a:buNone/>
            </a:pPr>
            <a:endParaRPr lang="pt-BR" sz="2000" dirty="0"/>
          </a:p>
          <a:p>
            <a:pPr marL="457200" lvl="1" indent="0">
              <a:buNone/>
            </a:pPr>
            <a:r>
              <a:rPr lang="pt-BR" sz="2000" dirty="0"/>
              <a:t>	</a:t>
            </a:r>
            <a:endParaRPr lang="pt-BR" sz="2200" dirty="0"/>
          </a:p>
          <a:p>
            <a:pPr marL="914400" lvl="2" indent="0">
              <a:buNone/>
            </a:pPr>
            <a:r>
              <a:rPr lang="pt-BR" sz="2200" dirty="0"/>
              <a:t>	</a:t>
            </a:r>
            <a:r>
              <a:rPr lang="pt-BR" sz="1600" dirty="0"/>
              <a:t>	</a:t>
            </a:r>
          </a:p>
        </p:txBody>
      </p:sp>
    </p:spTree>
    <p:extLst>
      <p:ext uri="{BB962C8B-B14F-4D97-AF65-F5344CB8AC3E}">
        <p14:creationId xmlns:p14="http://schemas.microsoft.com/office/powerpoint/2010/main" val="3063576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18120-747C-3765-FEAB-886F5F8D41CD}"/>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7C5F6AB2-5744-B8DE-034D-2151A85E4C8C}"/>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17D76049-7086-6481-6997-05835EA5948C}"/>
              </a:ext>
            </a:extLst>
          </p:cNvPr>
          <p:cNvSpPr>
            <a:spLocks noGrp="1"/>
          </p:cNvSpPr>
          <p:nvPr>
            <p:ph type="title"/>
          </p:nvPr>
        </p:nvSpPr>
        <p:spPr>
          <a:xfrm>
            <a:off x="0" y="-1"/>
            <a:ext cx="12192000" cy="1325563"/>
          </a:xfrm>
        </p:spPr>
        <p:txBody>
          <a:bodyPr/>
          <a:lstStyle/>
          <a:p>
            <a:pPr algn="ctr"/>
            <a:r>
              <a:rPr lang="pt-BR" dirty="0">
                <a:solidFill>
                  <a:schemeClr val="bg1"/>
                </a:solidFill>
              </a:rPr>
              <a:t>CLASSIFICAÇÃO DE EXPRESSÕES LÓGICAS</a:t>
            </a:r>
          </a:p>
        </p:txBody>
      </p:sp>
      <p:sp>
        <p:nvSpPr>
          <p:cNvPr id="12" name="AutoShape 6" descr="Lógica Proposicional x Lógica de Argumento ⋆ Colaborae">
            <a:extLst>
              <a:ext uri="{FF2B5EF4-FFF2-40B4-BE49-F238E27FC236}">
                <a16:creationId xmlns:a16="http://schemas.microsoft.com/office/drawing/2014/main" id="{B2FFA2C7-0613-FF59-BD3F-4171035C2F8D}"/>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07D16953-5232-204A-8E2A-A4751FCDFC97}"/>
              </a:ext>
            </a:extLst>
          </p:cNvPr>
          <p:cNvSpPr>
            <a:spLocks noGrp="1"/>
          </p:cNvSpPr>
          <p:nvPr>
            <p:ph idx="1"/>
          </p:nvPr>
        </p:nvSpPr>
        <p:spPr>
          <a:xfrm>
            <a:off x="1703835" y="1788236"/>
            <a:ext cx="8784330" cy="4980864"/>
          </a:xfrm>
        </p:spPr>
        <p:txBody>
          <a:bodyPr>
            <a:normAutofit/>
          </a:bodyPr>
          <a:lstStyle/>
          <a:p>
            <a:pPr marL="457200" indent="-457200">
              <a:buFont typeface="+mj-lt"/>
              <a:buAutoNum type="arabicPeriod" startAt="2"/>
            </a:pPr>
            <a:r>
              <a:rPr lang="pt-BR" sz="2400" b="1" dirty="0"/>
              <a:t>Contradições: </a:t>
            </a:r>
            <a:r>
              <a:rPr lang="pt-BR" sz="2400" dirty="0"/>
              <a:t>ocorre quando o resultado de uma proposição é sempre falso, não importando quais sejam os valores de P e Q</a:t>
            </a:r>
          </a:p>
          <a:p>
            <a:pPr marL="914400" lvl="1" indent="-457200">
              <a:buFont typeface="+mj-lt"/>
              <a:buAutoNum type="arabicPeriod" startAt="2"/>
            </a:pPr>
            <a:endParaRPr lang="pt-BR" sz="2200" dirty="0"/>
          </a:p>
          <a:p>
            <a:pPr lvl="1"/>
            <a:r>
              <a:rPr lang="pt-BR" sz="2200" dirty="0"/>
              <a:t>Exemplo: P ∧ ¬P </a:t>
            </a:r>
          </a:p>
          <a:p>
            <a:pPr lvl="1"/>
            <a:r>
              <a:rPr lang="pt-BR" dirty="0"/>
              <a:t>A expressão é sempre falsa, podendo ser simplificada </a:t>
            </a:r>
          </a:p>
          <a:p>
            <a:pPr marL="457200" lvl="1" indent="0">
              <a:buNone/>
            </a:pPr>
            <a:endParaRPr lang="pt-BR" sz="2000" dirty="0"/>
          </a:p>
          <a:p>
            <a:pPr marL="457200" indent="-457200">
              <a:buFont typeface="+mj-lt"/>
              <a:buAutoNum type="arabicPeriod" startAt="2"/>
            </a:pPr>
            <a:r>
              <a:rPr lang="pt-BR" sz="2400" b="1" dirty="0"/>
              <a:t>Contingências: </a:t>
            </a:r>
            <a:r>
              <a:rPr lang="pt-BR" sz="2400" dirty="0"/>
              <a:t>é uma proposição que pode ser verdadeira em algumas situações e falsa em outras. </a:t>
            </a:r>
          </a:p>
          <a:p>
            <a:pPr marL="914400" lvl="1" indent="-457200">
              <a:buFont typeface="+mj-lt"/>
              <a:buAutoNum type="arabicPeriod" startAt="2"/>
            </a:pPr>
            <a:endParaRPr lang="pt-BR" sz="1800" b="1" dirty="0"/>
          </a:p>
          <a:p>
            <a:pPr lvl="1"/>
            <a:r>
              <a:rPr lang="pt-BR" sz="2200" dirty="0"/>
              <a:t>Exemplo: </a:t>
            </a:r>
            <a:r>
              <a:rPr lang="pt-BR" sz="2000" dirty="0"/>
              <a:t>P∧Q</a:t>
            </a:r>
            <a:endParaRPr lang="pt-BR" sz="2200" dirty="0"/>
          </a:p>
          <a:p>
            <a:pPr lvl="1"/>
            <a:r>
              <a:rPr lang="pt-BR" sz="2200" dirty="0"/>
              <a:t>A maioria das expressões pertence a esta categoria. </a:t>
            </a:r>
            <a:r>
              <a:rPr lang="pt-BR" sz="2200" b="1" dirty="0"/>
              <a:t>	</a:t>
            </a:r>
            <a:r>
              <a:rPr lang="pt-BR" sz="1200" dirty="0"/>
              <a:t>	</a:t>
            </a:r>
          </a:p>
        </p:txBody>
      </p:sp>
    </p:spTree>
    <p:extLst>
      <p:ext uri="{BB962C8B-B14F-4D97-AF65-F5344CB8AC3E}">
        <p14:creationId xmlns:p14="http://schemas.microsoft.com/office/powerpoint/2010/main" val="789164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8ABAB-56D7-9CBC-370B-FF59FDBD8E2C}"/>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6726A8BD-5AD8-F1B1-F74D-C3D2AB36A6CD}"/>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F510B8F9-52AA-08C9-8463-58647553B020}"/>
              </a:ext>
            </a:extLst>
          </p:cNvPr>
          <p:cNvSpPr>
            <a:spLocks noGrp="1"/>
          </p:cNvSpPr>
          <p:nvPr>
            <p:ph type="title"/>
          </p:nvPr>
        </p:nvSpPr>
        <p:spPr>
          <a:xfrm>
            <a:off x="0" y="-1"/>
            <a:ext cx="12192000" cy="1325563"/>
          </a:xfrm>
        </p:spPr>
        <p:txBody>
          <a:bodyPr/>
          <a:lstStyle/>
          <a:p>
            <a:pPr algn="ctr"/>
            <a:r>
              <a:rPr lang="pt-BR" dirty="0">
                <a:solidFill>
                  <a:schemeClr val="bg1"/>
                </a:solidFill>
              </a:rPr>
              <a:t>FORMAS NORMAIS</a:t>
            </a:r>
          </a:p>
        </p:txBody>
      </p:sp>
      <p:sp>
        <p:nvSpPr>
          <p:cNvPr id="12" name="AutoShape 6" descr="Lógica Proposicional x Lógica de Argumento ⋆ Colaborae">
            <a:extLst>
              <a:ext uri="{FF2B5EF4-FFF2-40B4-BE49-F238E27FC236}">
                <a16:creationId xmlns:a16="http://schemas.microsoft.com/office/drawing/2014/main" id="{754F3258-DB71-B496-3236-EF9FEC4C9937}"/>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63D14C3B-8ACB-F5AE-0625-7925BA2C0E89}"/>
              </a:ext>
            </a:extLst>
          </p:cNvPr>
          <p:cNvSpPr>
            <a:spLocks noGrp="1"/>
          </p:cNvSpPr>
          <p:nvPr>
            <p:ph idx="1"/>
          </p:nvPr>
        </p:nvSpPr>
        <p:spPr>
          <a:xfrm>
            <a:off x="1703834" y="1968500"/>
            <a:ext cx="9268965" cy="4800600"/>
          </a:xfrm>
        </p:spPr>
        <p:txBody>
          <a:bodyPr>
            <a:normAutofit/>
          </a:bodyPr>
          <a:lstStyle/>
          <a:p>
            <a:r>
              <a:rPr lang="pt-BR" sz="2400" dirty="0"/>
              <a:t>Representações padronizadas das expressões lógicas usando apenas os operadores básicos (NOT / AND / OR)</a:t>
            </a:r>
          </a:p>
          <a:p>
            <a:endParaRPr lang="pt-BR" sz="2400" dirty="0"/>
          </a:p>
          <a:p>
            <a:r>
              <a:rPr lang="pt-BR" sz="2400" dirty="0"/>
              <a:t>A ideia é padronizar a escrita das expressões e facilitar o processo de simplificação algébrica</a:t>
            </a:r>
          </a:p>
          <a:p>
            <a:endParaRPr lang="pt-BR" sz="2400" dirty="0"/>
          </a:p>
          <a:p>
            <a:r>
              <a:rPr lang="pt-BR" sz="2400" dirty="0"/>
              <a:t>Existem duas formas normais:</a:t>
            </a:r>
          </a:p>
          <a:p>
            <a:pPr lvl="1"/>
            <a:r>
              <a:rPr lang="pt-BR" sz="2200" b="1" dirty="0"/>
              <a:t>Forma Normal Disjuntiva (FND)</a:t>
            </a:r>
          </a:p>
          <a:p>
            <a:pPr lvl="1"/>
            <a:r>
              <a:rPr lang="pt-BR" sz="2200" b="1" dirty="0"/>
              <a:t>Forma Normal Conjuntiva (FNC)</a:t>
            </a:r>
            <a:endParaRPr lang="pt-BR" sz="2200" dirty="0"/>
          </a:p>
          <a:p>
            <a:pPr lvl="1"/>
            <a:endParaRPr lang="pt-BR" sz="2000" dirty="0"/>
          </a:p>
          <a:p>
            <a:endParaRPr lang="pt-BR" sz="2400" dirty="0"/>
          </a:p>
        </p:txBody>
      </p:sp>
    </p:spTree>
    <p:extLst>
      <p:ext uri="{BB962C8B-B14F-4D97-AF65-F5344CB8AC3E}">
        <p14:creationId xmlns:p14="http://schemas.microsoft.com/office/powerpoint/2010/main" val="4284965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082FA-22CF-DA11-8BB8-BAFF0A6C560D}"/>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30443F69-E97F-547E-43B0-B1751897AADE}"/>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11EE1F66-765D-1BD6-E285-CC38CA54A5C7}"/>
              </a:ext>
            </a:extLst>
          </p:cNvPr>
          <p:cNvSpPr>
            <a:spLocks noGrp="1"/>
          </p:cNvSpPr>
          <p:nvPr>
            <p:ph type="title"/>
          </p:nvPr>
        </p:nvSpPr>
        <p:spPr>
          <a:xfrm>
            <a:off x="0" y="-1"/>
            <a:ext cx="12192000" cy="1325563"/>
          </a:xfrm>
        </p:spPr>
        <p:txBody>
          <a:bodyPr/>
          <a:lstStyle/>
          <a:p>
            <a:pPr algn="ctr"/>
            <a:r>
              <a:rPr lang="pt-BR" dirty="0">
                <a:solidFill>
                  <a:schemeClr val="bg1"/>
                </a:solidFill>
              </a:rPr>
              <a:t>FORMAS NORMAIS</a:t>
            </a:r>
          </a:p>
        </p:txBody>
      </p:sp>
      <p:sp>
        <p:nvSpPr>
          <p:cNvPr id="6" name="Espaço Reservado para Conteúdo 5">
            <a:extLst>
              <a:ext uri="{FF2B5EF4-FFF2-40B4-BE49-F238E27FC236}">
                <a16:creationId xmlns:a16="http://schemas.microsoft.com/office/drawing/2014/main" id="{5C5272B4-913A-D086-B7A5-10FE17BE1BED}"/>
              </a:ext>
            </a:extLst>
          </p:cNvPr>
          <p:cNvSpPr>
            <a:spLocks noGrp="1"/>
          </p:cNvSpPr>
          <p:nvPr>
            <p:ph idx="1"/>
          </p:nvPr>
        </p:nvSpPr>
        <p:spPr>
          <a:xfrm>
            <a:off x="1461517" y="1714500"/>
            <a:ext cx="9701783" cy="4800600"/>
          </a:xfrm>
        </p:spPr>
        <p:txBody>
          <a:bodyPr>
            <a:normAutofit/>
          </a:bodyPr>
          <a:lstStyle/>
          <a:p>
            <a:pPr marL="457200" indent="-457200">
              <a:buFont typeface="+mj-lt"/>
              <a:buAutoNum type="arabicPeriod"/>
            </a:pPr>
            <a:r>
              <a:rPr lang="pt-BR" sz="2400" b="1" dirty="0"/>
              <a:t>Forma Normal Disjuntiva (FND) ou Soma de Produtos</a:t>
            </a:r>
          </a:p>
          <a:p>
            <a:pPr marL="914400" lvl="1" indent="-457200">
              <a:buFont typeface="+mj-lt"/>
              <a:buAutoNum type="arabicPeriod"/>
            </a:pPr>
            <a:endParaRPr lang="pt-BR" sz="1600" dirty="0"/>
          </a:p>
          <a:p>
            <a:pPr lvl="1"/>
            <a:r>
              <a:rPr lang="pt-BR" sz="2200" dirty="0"/>
              <a:t>A expressão é construída por </a:t>
            </a:r>
            <a:r>
              <a:rPr lang="pt-BR" sz="2200" b="1" dirty="0"/>
              <a:t>conjunções (E) </a:t>
            </a:r>
            <a:r>
              <a:rPr lang="pt-BR" sz="2200" dirty="0"/>
              <a:t>unidas por </a:t>
            </a:r>
            <a:r>
              <a:rPr lang="pt-BR" sz="2200" b="1" dirty="0"/>
              <a:t>disjunções (OU)</a:t>
            </a:r>
            <a:r>
              <a:rPr lang="pt-BR" sz="2200" dirty="0"/>
              <a:t> .</a:t>
            </a:r>
          </a:p>
          <a:p>
            <a:pPr lvl="1"/>
            <a:r>
              <a:rPr lang="pt-BR" sz="2200" dirty="0"/>
              <a:t>Exemplo: (A ∧ B) ∨ (C ∧ D) ∨ (E ∧ F)</a:t>
            </a:r>
            <a:endParaRPr lang="pt-BR" sz="2400" dirty="0"/>
          </a:p>
          <a:p>
            <a:pPr lvl="1"/>
            <a:r>
              <a:rPr lang="pt-BR" sz="2200" dirty="0"/>
              <a:t>Como construir a FND a partir da tabela verdade:</a:t>
            </a:r>
          </a:p>
          <a:p>
            <a:pPr lvl="1"/>
            <a:endParaRPr lang="pt-BR" sz="2000" dirty="0"/>
          </a:p>
          <a:p>
            <a:endParaRPr lang="pt-BR" sz="2400" dirty="0"/>
          </a:p>
        </p:txBody>
      </p:sp>
      <p:graphicFrame>
        <p:nvGraphicFramePr>
          <p:cNvPr id="3" name="Tabela 2">
            <a:extLst>
              <a:ext uri="{FF2B5EF4-FFF2-40B4-BE49-F238E27FC236}">
                <a16:creationId xmlns:a16="http://schemas.microsoft.com/office/drawing/2014/main" id="{2235DCC4-412B-CE1C-C86C-28D1B9E2F898}"/>
              </a:ext>
            </a:extLst>
          </p:cNvPr>
          <p:cNvGraphicFramePr>
            <a:graphicFrameLocks noGrp="1"/>
          </p:cNvGraphicFramePr>
          <p:nvPr>
            <p:extLst>
              <p:ext uri="{D42A27DB-BD31-4B8C-83A1-F6EECF244321}">
                <p14:modId xmlns:p14="http://schemas.microsoft.com/office/powerpoint/2010/main" val="556735039"/>
              </p:ext>
            </p:extLst>
          </p:nvPr>
        </p:nvGraphicFramePr>
        <p:xfrm>
          <a:off x="1461517" y="3924300"/>
          <a:ext cx="5112768" cy="2590800"/>
        </p:xfrm>
        <a:graphic>
          <a:graphicData uri="http://schemas.openxmlformats.org/drawingml/2006/table">
            <a:tbl>
              <a:tblPr firstRow="1" bandRow="1">
                <a:tableStyleId>{5C22544A-7EE6-4342-B048-85BDC9FD1C3A}</a:tableStyleId>
              </a:tblPr>
              <a:tblGrid>
                <a:gridCol w="1704256">
                  <a:extLst>
                    <a:ext uri="{9D8B030D-6E8A-4147-A177-3AD203B41FA5}">
                      <a16:colId xmlns:a16="http://schemas.microsoft.com/office/drawing/2014/main" val="3352659932"/>
                    </a:ext>
                  </a:extLst>
                </a:gridCol>
                <a:gridCol w="1704256">
                  <a:extLst>
                    <a:ext uri="{9D8B030D-6E8A-4147-A177-3AD203B41FA5}">
                      <a16:colId xmlns:a16="http://schemas.microsoft.com/office/drawing/2014/main" val="3526495656"/>
                    </a:ext>
                  </a:extLst>
                </a:gridCol>
                <a:gridCol w="1704256">
                  <a:extLst>
                    <a:ext uri="{9D8B030D-6E8A-4147-A177-3AD203B41FA5}">
                      <a16:colId xmlns:a16="http://schemas.microsoft.com/office/drawing/2014/main" val="1372818486"/>
                    </a:ext>
                  </a:extLst>
                </a:gridCol>
              </a:tblGrid>
              <a:tr h="462819">
                <a:tc>
                  <a:txBody>
                    <a:bodyPr/>
                    <a:lstStyle/>
                    <a:p>
                      <a:pPr algn="ctr"/>
                      <a:r>
                        <a:rPr lang="pt-BR" sz="2400" dirty="0"/>
                        <a:t>P</a:t>
                      </a:r>
                    </a:p>
                  </a:txBody>
                  <a:tcPr anchor="ctr"/>
                </a:tc>
                <a:tc>
                  <a:txBody>
                    <a:bodyPr/>
                    <a:lstStyle/>
                    <a:p>
                      <a:pPr algn="ctr"/>
                      <a:r>
                        <a:rPr lang="pt-BR" sz="2400" dirty="0"/>
                        <a:t>Q</a:t>
                      </a:r>
                    </a:p>
                  </a:txBody>
                  <a:tcPr anchor="ctr"/>
                </a:tc>
                <a:tc>
                  <a:txBody>
                    <a:bodyPr/>
                    <a:lstStyle/>
                    <a:p>
                      <a:pPr algn="ctr"/>
                      <a:r>
                        <a:rPr lang="pt-BR" sz="2400" dirty="0"/>
                        <a:t>S</a:t>
                      </a:r>
                    </a:p>
                  </a:txBody>
                  <a:tcPr anchor="ctr"/>
                </a:tc>
                <a:extLst>
                  <a:ext uri="{0D108BD9-81ED-4DB2-BD59-A6C34878D82A}">
                    <a16:rowId xmlns:a16="http://schemas.microsoft.com/office/drawing/2014/main" val="1413103353"/>
                  </a:ext>
                </a:extLst>
              </a:tr>
              <a:tr h="578581">
                <a:tc>
                  <a:txBody>
                    <a:bodyPr/>
                    <a:lstStyle/>
                    <a:p>
                      <a:pPr algn="ctr"/>
                      <a:r>
                        <a:rPr lang="pt-BR" sz="2400" dirty="0"/>
                        <a:t>Falso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3302035967"/>
                  </a:ext>
                </a:extLst>
              </a:tr>
              <a:tr h="523510">
                <a:tc>
                  <a:txBody>
                    <a:bodyPr/>
                    <a:lstStyle/>
                    <a:p>
                      <a:pPr algn="ctr"/>
                      <a:r>
                        <a:rPr lang="pt-BR" sz="2400" dirty="0"/>
                        <a:t>Falso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443687263"/>
                  </a:ext>
                </a:extLst>
              </a:tr>
              <a:tr h="505190">
                <a:tc>
                  <a:txBody>
                    <a:bodyPr/>
                    <a:lstStyle/>
                    <a:p>
                      <a:pPr algn="ctr"/>
                      <a:r>
                        <a:rPr lang="pt-BR" sz="2400" dirty="0"/>
                        <a:t>Verdadeiro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4069305236"/>
                  </a:ext>
                </a:extLst>
              </a:tr>
              <a:tr h="520700">
                <a:tc>
                  <a:txBody>
                    <a:bodyPr/>
                    <a:lstStyle/>
                    <a:p>
                      <a:pPr algn="ctr"/>
                      <a:r>
                        <a:rPr lang="pt-BR" sz="2400" dirty="0"/>
                        <a:t>Verdadeiro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332939433"/>
                  </a:ext>
                </a:extLst>
              </a:tr>
            </a:tbl>
          </a:graphicData>
        </a:graphic>
      </p:graphicFrame>
      <p:sp>
        <p:nvSpPr>
          <p:cNvPr id="4" name="Retângulo 3">
            <a:extLst>
              <a:ext uri="{FF2B5EF4-FFF2-40B4-BE49-F238E27FC236}">
                <a16:creationId xmlns:a16="http://schemas.microsoft.com/office/drawing/2014/main" id="{A0DFBAFC-BE73-A620-A90E-1C1D134F6534}"/>
              </a:ext>
            </a:extLst>
          </p:cNvPr>
          <p:cNvSpPr/>
          <p:nvPr/>
        </p:nvSpPr>
        <p:spPr>
          <a:xfrm>
            <a:off x="1461518" y="4911765"/>
            <a:ext cx="5112768" cy="56193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C2588E82-BB32-0FA0-7430-0AAB175D8CFF}"/>
              </a:ext>
            </a:extLst>
          </p:cNvPr>
          <p:cNvSpPr/>
          <p:nvPr/>
        </p:nvSpPr>
        <p:spPr>
          <a:xfrm>
            <a:off x="1461518" y="5954693"/>
            <a:ext cx="5112768" cy="50647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CaixaDeTexto 8">
            <a:extLst>
              <a:ext uri="{FF2B5EF4-FFF2-40B4-BE49-F238E27FC236}">
                <a16:creationId xmlns:a16="http://schemas.microsoft.com/office/drawing/2014/main" id="{85A56699-F253-A6D4-A7CE-2A17E0E642E1}"/>
              </a:ext>
            </a:extLst>
          </p:cNvPr>
          <p:cNvSpPr txBox="1"/>
          <p:nvPr/>
        </p:nvSpPr>
        <p:spPr>
          <a:xfrm>
            <a:off x="7838567" y="3784600"/>
            <a:ext cx="1559433" cy="1908215"/>
          </a:xfrm>
          <a:prstGeom prst="rect">
            <a:avLst/>
          </a:prstGeom>
          <a:noFill/>
        </p:spPr>
        <p:txBody>
          <a:bodyPr wrap="square" rtlCol="0">
            <a:spAutoFit/>
          </a:bodyPr>
          <a:lstStyle/>
          <a:p>
            <a:r>
              <a:rPr lang="pt-BR" sz="2000" dirty="0"/>
              <a:t>Linha 2: </a:t>
            </a:r>
          </a:p>
          <a:p>
            <a:pPr marL="285750" indent="-285750">
              <a:buFont typeface="Arial" panose="020B0604020202020204" pitchFamily="34" charset="0"/>
              <a:buChar char="•"/>
            </a:pPr>
            <a:r>
              <a:rPr lang="pt-BR" sz="2000" dirty="0"/>
              <a:t>P = F </a:t>
            </a:r>
          </a:p>
          <a:p>
            <a:pPr marL="285750" indent="-285750">
              <a:buFont typeface="Arial" panose="020B0604020202020204" pitchFamily="34" charset="0"/>
              <a:buChar char="•"/>
            </a:pPr>
            <a:r>
              <a:rPr lang="pt-BR" sz="2000" dirty="0"/>
              <a:t>Q = V</a:t>
            </a:r>
          </a:p>
          <a:p>
            <a:endParaRPr lang="pt-BR" sz="2000" dirty="0"/>
          </a:p>
          <a:p>
            <a:r>
              <a:rPr lang="pt-BR" sz="2000" dirty="0"/>
              <a:t>Termo: ¬P∧Q</a:t>
            </a:r>
          </a:p>
          <a:p>
            <a:pPr marL="285750" indent="-285750">
              <a:buFont typeface="Arial" panose="020B0604020202020204" pitchFamily="34" charset="0"/>
              <a:buChar char="•"/>
            </a:pPr>
            <a:endParaRPr lang="pt-BR" dirty="0"/>
          </a:p>
        </p:txBody>
      </p:sp>
      <p:sp>
        <p:nvSpPr>
          <p:cNvPr id="10" name="CaixaDeTexto 9">
            <a:extLst>
              <a:ext uri="{FF2B5EF4-FFF2-40B4-BE49-F238E27FC236}">
                <a16:creationId xmlns:a16="http://schemas.microsoft.com/office/drawing/2014/main" id="{B48933C4-E8BB-C395-8F6B-003577A1626E}"/>
              </a:ext>
            </a:extLst>
          </p:cNvPr>
          <p:cNvSpPr txBox="1"/>
          <p:nvPr/>
        </p:nvSpPr>
        <p:spPr>
          <a:xfrm>
            <a:off x="9832467" y="3784600"/>
            <a:ext cx="1559433" cy="1908215"/>
          </a:xfrm>
          <a:prstGeom prst="rect">
            <a:avLst/>
          </a:prstGeom>
          <a:noFill/>
        </p:spPr>
        <p:txBody>
          <a:bodyPr wrap="square" rtlCol="0">
            <a:spAutoFit/>
          </a:bodyPr>
          <a:lstStyle/>
          <a:p>
            <a:r>
              <a:rPr lang="pt-BR" sz="2000" dirty="0"/>
              <a:t>Linha 4: </a:t>
            </a:r>
          </a:p>
          <a:p>
            <a:pPr marL="285750" indent="-285750">
              <a:buFont typeface="Arial" panose="020B0604020202020204" pitchFamily="34" charset="0"/>
              <a:buChar char="•"/>
            </a:pPr>
            <a:r>
              <a:rPr lang="pt-BR" sz="2000" dirty="0"/>
              <a:t>P = V </a:t>
            </a:r>
          </a:p>
          <a:p>
            <a:pPr marL="285750" indent="-285750">
              <a:buFont typeface="Arial" panose="020B0604020202020204" pitchFamily="34" charset="0"/>
              <a:buChar char="•"/>
            </a:pPr>
            <a:r>
              <a:rPr lang="pt-BR" sz="2000" dirty="0"/>
              <a:t>Q = V</a:t>
            </a:r>
          </a:p>
          <a:p>
            <a:endParaRPr lang="pt-BR" sz="2000" dirty="0"/>
          </a:p>
          <a:p>
            <a:r>
              <a:rPr lang="pt-BR" sz="2000" dirty="0"/>
              <a:t>Termo: P∧Q</a:t>
            </a:r>
          </a:p>
          <a:p>
            <a:pPr marL="285750" indent="-285750">
              <a:buFont typeface="Arial" panose="020B0604020202020204" pitchFamily="34" charset="0"/>
              <a:buChar char="•"/>
            </a:pPr>
            <a:endParaRPr lang="pt-BR" dirty="0"/>
          </a:p>
        </p:txBody>
      </p:sp>
      <p:sp>
        <p:nvSpPr>
          <p:cNvPr id="11" name="CaixaDeTexto 10">
            <a:extLst>
              <a:ext uri="{FF2B5EF4-FFF2-40B4-BE49-F238E27FC236}">
                <a16:creationId xmlns:a16="http://schemas.microsoft.com/office/drawing/2014/main" id="{EF5AB5F1-61CF-9CB6-6C34-C153F756BE3C}"/>
              </a:ext>
            </a:extLst>
          </p:cNvPr>
          <p:cNvSpPr txBox="1"/>
          <p:nvPr/>
        </p:nvSpPr>
        <p:spPr>
          <a:xfrm>
            <a:off x="8216900" y="5981700"/>
            <a:ext cx="3175000" cy="400110"/>
          </a:xfrm>
          <a:prstGeom prst="rect">
            <a:avLst/>
          </a:prstGeom>
          <a:noFill/>
        </p:spPr>
        <p:txBody>
          <a:bodyPr wrap="square" rtlCol="0">
            <a:spAutoFit/>
          </a:bodyPr>
          <a:lstStyle/>
          <a:p>
            <a:r>
              <a:rPr lang="pt-BR" sz="2000" b="1" dirty="0"/>
              <a:t>FND = (¬P ∧ Q) ∨ (P ∧ Q) </a:t>
            </a:r>
          </a:p>
        </p:txBody>
      </p:sp>
    </p:spTree>
    <p:extLst>
      <p:ext uri="{BB962C8B-B14F-4D97-AF65-F5344CB8AC3E}">
        <p14:creationId xmlns:p14="http://schemas.microsoft.com/office/powerpoint/2010/main" val="2835995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37022-05AF-B9DE-EBC3-090977CF80FE}"/>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11D92052-68B5-C5B5-0ACC-8FC92A11D0C0}"/>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56A9CCD9-0AAC-E98D-B5AB-C72E72911979}"/>
              </a:ext>
            </a:extLst>
          </p:cNvPr>
          <p:cNvSpPr>
            <a:spLocks noGrp="1"/>
          </p:cNvSpPr>
          <p:nvPr>
            <p:ph type="title"/>
          </p:nvPr>
        </p:nvSpPr>
        <p:spPr>
          <a:xfrm>
            <a:off x="0" y="-1"/>
            <a:ext cx="12192000" cy="1325563"/>
          </a:xfrm>
        </p:spPr>
        <p:txBody>
          <a:bodyPr/>
          <a:lstStyle/>
          <a:p>
            <a:pPr algn="ctr"/>
            <a:r>
              <a:rPr lang="pt-BR" dirty="0">
                <a:solidFill>
                  <a:schemeClr val="bg1"/>
                </a:solidFill>
              </a:rPr>
              <a:t>FORMAS NORMAIS</a:t>
            </a:r>
          </a:p>
        </p:txBody>
      </p:sp>
      <p:sp>
        <p:nvSpPr>
          <p:cNvPr id="12" name="AutoShape 6" descr="Lógica Proposicional x Lógica de Argumento ⋆ Colaborae">
            <a:extLst>
              <a:ext uri="{FF2B5EF4-FFF2-40B4-BE49-F238E27FC236}">
                <a16:creationId xmlns:a16="http://schemas.microsoft.com/office/drawing/2014/main" id="{07E16FB8-3C10-AF41-7CB4-46D8D5031EB5}"/>
              </a:ext>
            </a:extLst>
          </p:cNvPr>
          <p:cNvSpPr>
            <a:spLocks noChangeAspect="1" noChangeArrowheads="1"/>
          </p:cNvSpPr>
          <p:nvPr/>
        </p:nvSpPr>
        <p:spPr bwMode="auto">
          <a:xfrm>
            <a:off x="5943600" y="-1707776"/>
            <a:ext cx="5289176" cy="52891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 name="Espaço Reservado para Conteúdo 5">
            <a:extLst>
              <a:ext uri="{FF2B5EF4-FFF2-40B4-BE49-F238E27FC236}">
                <a16:creationId xmlns:a16="http://schemas.microsoft.com/office/drawing/2014/main" id="{6221B1B6-E31B-6E05-1CA3-F430D78DBD4C}"/>
              </a:ext>
            </a:extLst>
          </p:cNvPr>
          <p:cNvSpPr>
            <a:spLocks noGrp="1"/>
          </p:cNvSpPr>
          <p:nvPr>
            <p:ph idx="1"/>
          </p:nvPr>
        </p:nvSpPr>
        <p:spPr>
          <a:xfrm>
            <a:off x="1461517" y="1643061"/>
            <a:ext cx="9268965" cy="4800600"/>
          </a:xfrm>
        </p:spPr>
        <p:txBody>
          <a:bodyPr>
            <a:normAutofit/>
          </a:bodyPr>
          <a:lstStyle/>
          <a:p>
            <a:pPr marL="457200" indent="-457200">
              <a:buFont typeface="+mj-lt"/>
              <a:buAutoNum type="arabicPeriod" startAt="2"/>
            </a:pPr>
            <a:r>
              <a:rPr lang="pt-BR" sz="2400" b="1" dirty="0"/>
              <a:t>Forma Normal Conjuntiva (FNC) ou Produto de Somas</a:t>
            </a:r>
          </a:p>
          <a:p>
            <a:pPr marL="914400" lvl="1" indent="-457200">
              <a:buFont typeface="+mj-lt"/>
              <a:buAutoNum type="arabicPeriod"/>
            </a:pPr>
            <a:endParaRPr lang="pt-BR" sz="1600" dirty="0"/>
          </a:p>
          <a:p>
            <a:pPr lvl="1"/>
            <a:r>
              <a:rPr lang="pt-BR" sz="2200" dirty="0"/>
              <a:t>A expressão é construída por </a:t>
            </a:r>
            <a:r>
              <a:rPr lang="pt-BR" sz="2200" b="1" dirty="0"/>
              <a:t>disjunções (OU)</a:t>
            </a:r>
            <a:r>
              <a:rPr lang="pt-BR" sz="2200" dirty="0"/>
              <a:t> unidas por </a:t>
            </a:r>
            <a:r>
              <a:rPr lang="pt-BR" sz="2200" b="1" dirty="0"/>
              <a:t>conjunções (E)</a:t>
            </a:r>
            <a:r>
              <a:rPr lang="pt-BR" sz="2200" dirty="0"/>
              <a:t> </a:t>
            </a:r>
            <a:endParaRPr lang="pt-BR" sz="2200" b="1" dirty="0"/>
          </a:p>
          <a:p>
            <a:pPr lvl="1"/>
            <a:r>
              <a:rPr lang="pt-BR" sz="2200" dirty="0"/>
              <a:t>Essencialmente, a FNC é o inverso da FND</a:t>
            </a:r>
          </a:p>
          <a:p>
            <a:pPr lvl="1"/>
            <a:r>
              <a:rPr lang="pt-BR" sz="2200" dirty="0"/>
              <a:t>Como construir a FND a partir da tabela verdade:</a:t>
            </a:r>
          </a:p>
          <a:p>
            <a:endParaRPr lang="pt-BR" sz="2400" dirty="0"/>
          </a:p>
        </p:txBody>
      </p:sp>
      <p:graphicFrame>
        <p:nvGraphicFramePr>
          <p:cNvPr id="3" name="Tabela 2">
            <a:extLst>
              <a:ext uri="{FF2B5EF4-FFF2-40B4-BE49-F238E27FC236}">
                <a16:creationId xmlns:a16="http://schemas.microsoft.com/office/drawing/2014/main" id="{12B862C2-2AE7-DAAD-3DE1-3E3AAC2120A6}"/>
              </a:ext>
            </a:extLst>
          </p:cNvPr>
          <p:cNvGraphicFramePr>
            <a:graphicFrameLocks noGrp="1"/>
          </p:cNvGraphicFramePr>
          <p:nvPr>
            <p:extLst>
              <p:ext uri="{D42A27DB-BD31-4B8C-83A1-F6EECF244321}">
                <p14:modId xmlns:p14="http://schemas.microsoft.com/office/powerpoint/2010/main" val="2037987081"/>
              </p:ext>
            </p:extLst>
          </p:nvPr>
        </p:nvGraphicFramePr>
        <p:xfrm>
          <a:off x="1993900" y="3812742"/>
          <a:ext cx="5011167" cy="2804393"/>
        </p:xfrm>
        <a:graphic>
          <a:graphicData uri="http://schemas.openxmlformats.org/drawingml/2006/table">
            <a:tbl>
              <a:tblPr firstRow="1" bandRow="1">
                <a:tableStyleId>{5C22544A-7EE6-4342-B048-85BDC9FD1C3A}</a:tableStyleId>
              </a:tblPr>
              <a:tblGrid>
                <a:gridCol w="1670389">
                  <a:extLst>
                    <a:ext uri="{9D8B030D-6E8A-4147-A177-3AD203B41FA5}">
                      <a16:colId xmlns:a16="http://schemas.microsoft.com/office/drawing/2014/main" val="3352659932"/>
                    </a:ext>
                  </a:extLst>
                </a:gridCol>
                <a:gridCol w="1670389">
                  <a:extLst>
                    <a:ext uri="{9D8B030D-6E8A-4147-A177-3AD203B41FA5}">
                      <a16:colId xmlns:a16="http://schemas.microsoft.com/office/drawing/2014/main" val="3526495656"/>
                    </a:ext>
                  </a:extLst>
                </a:gridCol>
                <a:gridCol w="1670389">
                  <a:extLst>
                    <a:ext uri="{9D8B030D-6E8A-4147-A177-3AD203B41FA5}">
                      <a16:colId xmlns:a16="http://schemas.microsoft.com/office/drawing/2014/main" val="1372818486"/>
                    </a:ext>
                  </a:extLst>
                </a:gridCol>
              </a:tblGrid>
              <a:tr h="466367">
                <a:tc>
                  <a:txBody>
                    <a:bodyPr/>
                    <a:lstStyle/>
                    <a:p>
                      <a:pPr algn="ctr"/>
                      <a:r>
                        <a:rPr lang="pt-BR" sz="2400" dirty="0"/>
                        <a:t>P</a:t>
                      </a:r>
                    </a:p>
                  </a:txBody>
                  <a:tcPr anchor="ctr"/>
                </a:tc>
                <a:tc>
                  <a:txBody>
                    <a:bodyPr/>
                    <a:lstStyle/>
                    <a:p>
                      <a:pPr algn="ctr"/>
                      <a:r>
                        <a:rPr lang="pt-BR" sz="2400" dirty="0"/>
                        <a:t>Q</a:t>
                      </a:r>
                    </a:p>
                  </a:txBody>
                  <a:tcPr anchor="ctr"/>
                </a:tc>
                <a:tc>
                  <a:txBody>
                    <a:bodyPr/>
                    <a:lstStyle/>
                    <a:p>
                      <a:pPr algn="ctr"/>
                      <a:r>
                        <a:rPr lang="pt-BR" sz="2400" dirty="0"/>
                        <a:t>S</a:t>
                      </a:r>
                    </a:p>
                  </a:txBody>
                  <a:tcPr anchor="ctr"/>
                </a:tc>
                <a:extLst>
                  <a:ext uri="{0D108BD9-81ED-4DB2-BD59-A6C34878D82A}">
                    <a16:rowId xmlns:a16="http://schemas.microsoft.com/office/drawing/2014/main" val="1413103353"/>
                  </a:ext>
                </a:extLst>
              </a:tr>
              <a:tr h="562333">
                <a:tc>
                  <a:txBody>
                    <a:bodyPr/>
                    <a:lstStyle/>
                    <a:p>
                      <a:pPr algn="ctr"/>
                      <a:r>
                        <a:rPr lang="pt-BR" sz="2400" dirty="0"/>
                        <a:t>Falso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3302035967"/>
                  </a:ext>
                </a:extLst>
              </a:tr>
              <a:tr h="635000">
                <a:tc>
                  <a:txBody>
                    <a:bodyPr/>
                    <a:lstStyle/>
                    <a:p>
                      <a:pPr algn="ctr"/>
                      <a:r>
                        <a:rPr lang="pt-BR" sz="2400" dirty="0"/>
                        <a:t>Falso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443687263"/>
                  </a:ext>
                </a:extLst>
              </a:tr>
              <a:tr h="579586">
                <a:tc>
                  <a:txBody>
                    <a:bodyPr/>
                    <a:lstStyle/>
                    <a:p>
                      <a:pPr algn="ctr"/>
                      <a:r>
                        <a:rPr lang="pt-BR" sz="2400" dirty="0"/>
                        <a:t>Verdadeiro</a:t>
                      </a:r>
                    </a:p>
                  </a:txBody>
                  <a:tcPr anchor="ctr"/>
                </a:tc>
                <a:tc>
                  <a:txBody>
                    <a:bodyPr/>
                    <a:lstStyle/>
                    <a:p>
                      <a:pPr algn="ctr"/>
                      <a:r>
                        <a:rPr lang="pt-BR" sz="2400" dirty="0"/>
                        <a:t>Falso</a:t>
                      </a:r>
                    </a:p>
                  </a:txBody>
                  <a:tcPr anchor="ctr"/>
                </a:tc>
                <a:tc>
                  <a:txBody>
                    <a:bodyPr/>
                    <a:lstStyle/>
                    <a:p>
                      <a:pPr algn="ctr"/>
                      <a:r>
                        <a:rPr lang="pt-BR" sz="2400" dirty="0"/>
                        <a:t>Falso</a:t>
                      </a:r>
                    </a:p>
                  </a:txBody>
                  <a:tcPr anchor="ctr"/>
                </a:tc>
                <a:extLst>
                  <a:ext uri="{0D108BD9-81ED-4DB2-BD59-A6C34878D82A}">
                    <a16:rowId xmlns:a16="http://schemas.microsoft.com/office/drawing/2014/main" val="4069305236"/>
                  </a:ext>
                </a:extLst>
              </a:tr>
              <a:tr h="561107">
                <a:tc>
                  <a:txBody>
                    <a:bodyPr/>
                    <a:lstStyle/>
                    <a:p>
                      <a:pPr algn="ctr"/>
                      <a:r>
                        <a:rPr lang="pt-BR" sz="2400" dirty="0"/>
                        <a:t>Verdadeiro</a:t>
                      </a:r>
                    </a:p>
                  </a:txBody>
                  <a:tcPr anchor="ctr"/>
                </a:tc>
                <a:tc>
                  <a:txBody>
                    <a:bodyPr/>
                    <a:lstStyle/>
                    <a:p>
                      <a:pPr algn="ctr"/>
                      <a:r>
                        <a:rPr lang="pt-BR" sz="2400" dirty="0"/>
                        <a:t>Verdadeiro</a:t>
                      </a:r>
                    </a:p>
                  </a:txBody>
                  <a:tcPr anchor="ctr"/>
                </a:tc>
                <a:tc>
                  <a:txBody>
                    <a:bodyPr/>
                    <a:lstStyle/>
                    <a:p>
                      <a:pPr algn="ctr"/>
                      <a:r>
                        <a:rPr lang="pt-BR" sz="2400" dirty="0"/>
                        <a:t>Verdadeiro</a:t>
                      </a:r>
                    </a:p>
                  </a:txBody>
                  <a:tcPr anchor="ctr"/>
                </a:tc>
                <a:extLst>
                  <a:ext uri="{0D108BD9-81ED-4DB2-BD59-A6C34878D82A}">
                    <a16:rowId xmlns:a16="http://schemas.microsoft.com/office/drawing/2014/main" val="332939433"/>
                  </a:ext>
                </a:extLst>
              </a:tr>
            </a:tbl>
          </a:graphicData>
        </a:graphic>
      </p:graphicFrame>
      <p:sp>
        <p:nvSpPr>
          <p:cNvPr id="4" name="Retângulo 3">
            <a:extLst>
              <a:ext uri="{FF2B5EF4-FFF2-40B4-BE49-F238E27FC236}">
                <a16:creationId xmlns:a16="http://schemas.microsoft.com/office/drawing/2014/main" id="{A2044466-C146-9CDE-12CB-B03C85378BD3}"/>
              </a:ext>
            </a:extLst>
          </p:cNvPr>
          <p:cNvSpPr/>
          <p:nvPr/>
        </p:nvSpPr>
        <p:spPr>
          <a:xfrm>
            <a:off x="1993901" y="4230297"/>
            <a:ext cx="5011166" cy="66278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F1A50CD5-3422-583D-8547-5A233D766228}"/>
              </a:ext>
            </a:extLst>
          </p:cNvPr>
          <p:cNvSpPr/>
          <p:nvPr/>
        </p:nvSpPr>
        <p:spPr>
          <a:xfrm>
            <a:off x="1993900" y="5443209"/>
            <a:ext cx="5011166" cy="66278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0659FAC5-F346-F983-8453-89378AD17FBA}"/>
              </a:ext>
            </a:extLst>
          </p:cNvPr>
          <p:cNvSpPr txBox="1"/>
          <p:nvPr/>
        </p:nvSpPr>
        <p:spPr>
          <a:xfrm>
            <a:off x="7758144" y="3720214"/>
            <a:ext cx="2439954" cy="1908215"/>
          </a:xfrm>
          <a:prstGeom prst="rect">
            <a:avLst/>
          </a:prstGeom>
          <a:noFill/>
        </p:spPr>
        <p:txBody>
          <a:bodyPr wrap="square" rtlCol="0">
            <a:spAutoFit/>
          </a:bodyPr>
          <a:lstStyle/>
          <a:p>
            <a:r>
              <a:rPr lang="pt-BR" sz="2000" dirty="0"/>
              <a:t>Linha 1: </a:t>
            </a:r>
          </a:p>
          <a:p>
            <a:pPr marL="285750" indent="-285750">
              <a:buFont typeface="Arial" panose="020B0604020202020204" pitchFamily="34" charset="0"/>
              <a:buChar char="•"/>
            </a:pPr>
            <a:r>
              <a:rPr lang="pt-BR" sz="2000" dirty="0"/>
              <a:t>P = F </a:t>
            </a:r>
          </a:p>
          <a:p>
            <a:pPr marL="285750" indent="-285750">
              <a:buFont typeface="Arial" panose="020B0604020202020204" pitchFamily="34" charset="0"/>
              <a:buChar char="•"/>
            </a:pPr>
            <a:r>
              <a:rPr lang="pt-BR" sz="2000" dirty="0"/>
              <a:t>Q = F</a:t>
            </a:r>
          </a:p>
          <a:p>
            <a:endParaRPr lang="pt-BR" sz="2000" dirty="0"/>
          </a:p>
          <a:p>
            <a:r>
              <a:rPr lang="pt-BR" sz="2000" dirty="0"/>
              <a:t>Termo: P∨Q</a:t>
            </a:r>
          </a:p>
          <a:p>
            <a:pPr marL="285750" indent="-285750">
              <a:buFont typeface="Arial" panose="020B0604020202020204" pitchFamily="34" charset="0"/>
              <a:buChar char="•"/>
            </a:pPr>
            <a:endParaRPr lang="pt-BR" dirty="0"/>
          </a:p>
        </p:txBody>
      </p:sp>
      <p:sp>
        <p:nvSpPr>
          <p:cNvPr id="9" name="CaixaDeTexto 8">
            <a:extLst>
              <a:ext uri="{FF2B5EF4-FFF2-40B4-BE49-F238E27FC236}">
                <a16:creationId xmlns:a16="http://schemas.microsoft.com/office/drawing/2014/main" id="{C1FBBBE7-530E-26EB-43A7-B7A02807F410}"/>
              </a:ext>
            </a:extLst>
          </p:cNvPr>
          <p:cNvSpPr txBox="1"/>
          <p:nvPr/>
        </p:nvSpPr>
        <p:spPr>
          <a:xfrm>
            <a:off x="10198099" y="3720214"/>
            <a:ext cx="1559433" cy="1908215"/>
          </a:xfrm>
          <a:prstGeom prst="rect">
            <a:avLst/>
          </a:prstGeom>
          <a:noFill/>
        </p:spPr>
        <p:txBody>
          <a:bodyPr wrap="square" rtlCol="0">
            <a:spAutoFit/>
          </a:bodyPr>
          <a:lstStyle/>
          <a:p>
            <a:r>
              <a:rPr lang="pt-BR" sz="2000" dirty="0"/>
              <a:t>Linha 3: </a:t>
            </a:r>
          </a:p>
          <a:p>
            <a:pPr marL="285750" indent="-285750">
              <a:buFont typeface="Arial" panose="020B0604020202020204" pitchFamily="34" charset="0"/>
              <a:buChar char="•"/>
            </a:pPr>
            <a:r>
              <a:rPr lang="pt-BR" sz="2000" dirty="0"/>
              <a:t>P = V </a:t>
            </a:r>
          </a:p>
          <a:p>
            <a:pPr marL="285750" indent="-285750">
              <a:buFont typeface="Arial" panose="020B0604020202020204" pitchFamily="34" charset="0"/>
              <a:buChar char="•"/>
            </a:pPr>
            <a:r>
              <a:rPr lang="pt-BR" sz="2000" dirty="0"/>
              <a:t>Q = F</a:t>
            </a:r>
          </a:p>
          <a:p>
            <a:endParaRPr lang="pt-BR" sz="2000" dirty="0"/>
          </a:p>
          <a:p>
            <a:r>
              <a:rPr lang="pt-BR" sz="2000" dirty="0"/>
              <a:t>Termo: ¬P∨Q</a:t>
            </a:r>
          </a:p>
          <a:p>
            <a:pPr marL="285750" indent="-285750">
              <a:buFont typeface="Arial" panose="020B0604020202020204" pitchFamily="34" charset="0"/>
              <a:buChar char="•"/>
            </a:pPr>
            <a:endParaRPr lang="pt-BR" dirty="0"/>
          </a:p>
        </p:txBody>
      </p:sp>
      <p:sp>
        <p:nvSpPr>
          <p:cNvPr id="10" name="CaixaDeTexto 9">
            <a:extLst>
              <a:ext uri="{FF2B5EF4-FFF2-40B4-BE49-F238E27FC236}">
                <a16:creationId xmlns:a16="http://schemas.microsoft.com/office/drawing/2014/main" id="{FC1907F8-4486-05E9-6BB3-0A162EA17055}"/>
              </a:ext>
            </a:extLst>
          </p:cNvPr>
          <p:cNvSpPr txBox="1"/>
          <p:nvPr/>
        </p:nvSpPr>
        <p:spPr>
          <a:xfrm>
            <a:off x="8610599" y="5575942"/>
            <a:ext cx="3175000" cy="400110"/>
          </a:xfrm>
          <a:prstGeom prst="rect">
            <a:avLst/>
          </a:prstGeom>
          <a:noFill/>
        </p:spPr>
        <p:txBody>
          <a:bodyPr wrap="square" rtlCol="0">
            <a:spAutoFit/>
          </a:bodyPr>
          <a:lstStyle/>
          <a:p>
            <a:r>
              <a:rPr lang="pt-BR" sz="2000" b="1" dirty="0"/>
              <a:t>FNC = (P∨Q) ∧ (¬ P∨Q)</a:t>
            </a:r>
          </a:p>
        </p:txBody>
      </p:sp>
    </p:spTree>
    <p:extLst>
      <p:ext uri="{BB962C8B-B14F-4D97-AF65-F5344CB8AC3E}">
        <p14:creationId xmlns:p14="http://schemas.microsoft.com/office/powerpoint/2010/main" val="1320833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7F0D9-66ED-56EE-3264-84913978BAFB}"/>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55BAB3D4-51EA-1D9F-08B9-4D1DAE31D6CD}"/>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EC255F8C-A030-3515-3C30-C973559E2512}"/>
              </a:ext>
            </a:extLst>
          </p:cNvPr>
          <p:cNvSpPr>
            <a:spLocks noGrp="1"/>
          </p:cNvSpPr>
          <p:nvPr>
            <p:ph type="title"/>
          </p:nvPr>
        </p:nvSpPr>
        <p:spPr>
          <a:xfrm>
            <a:off x="0" y="-1"/>
            <a:ext cx="12192000" cy="1325563"/>
          </a:xfrm>
        </p:spPr>
        <p:txBody>
          <a:bodyPr/>
          <a:lstStyle/>
          <a:p>
            <a:pPr algn="ctr"/>
            <a:r>
              <a:rPr lang="pt-BR" dirty="0">
                <a:solidFill>
                  <a:schemeClr val="bg1"/>
                </a:solidFill>
              </a:rPr>
              <a:t>FORMAS NORMAIS</a:t>
            </a:r>
          </a:p>
        </p:txBody>
      </p:sp>
      <p:sp>
        <p:nvSpPr>
          <p:cNvPr id="6" name="Espaço Reservado para Conteúdo 5">
            <a:extLst>
              <a:ext uri="{FF2B5EF4-FFF2-40B4-BE49-F238E27FC236}">
                <a16:creationId xmlns:a16="http://schemas.microsoft.com/office/drawing/2014/main" id="{AEB1C85E-E816-8077-A017-DD54F3C05046}"/>
              </a:ext>
            </a:extLst>
          </p:cNvPr>
          <p:cNvSpPr>
            <a:spLocks noGrp="1"/>
          </p:cNvSpPr>
          <p:nvPr>
            <p:ph idx="1"/>
          </p:nvPr>
        </p:nvSpPr>
        <p:spPr>
          <a:xfrm>
            <a:off x="478972" y="1709056"/>
            <a:ext cx="10784568" cy="4517571"/>
          </a:xfrm>
        </p:spPr>
        <p:txBody>
          <a:bodyPr>
            <a:normAutofit/>
          </a:bodyPr>
          <a:lstStyle/>
          <a:p>
            <a:r>
              <a:rPr lang="pt-BR" sz="2200" dirty="0"/>
              <a:t>Cada disjunção na FND representa uma combinação específica que torna a expressão verdadeira. A conjunção reúne todas essas possibilidades.</a:t>
            </a:r>
          </a:p>
          <a:p>
            <a:endParaRPr lang="pt-BR" sz="2200" dirty="0"/>
          </a:p>
          <a:p>
            <a:pPr lvl="1"/>
            <a:r>
              <a:rPr lang="pt-BR" sz="2200" dirty="0"/>
              <a:t>A FND aponta diretamente para as combinações que assumem um valor verdadeiro (Assumindo que, para a conjunção, ambos precisam ter valor lógico verdadeiro)</a:t>
            </a:r>
          </a:p>
          <a:p>
            <a:endParaRPr lang="pt-BR" sz="2200" dirty="0"/>
          </a:p>
          <a:p>
            <a:r>
              <a:rPr lang="pt-BR" sz="2200" dirty="0"/>
              <a:t>Na FNC </a:t>
            </a:r>
            <a:r>
              <a:rPr lang="pt-BR" sz="2400" dirty="0"/>
              <a:t>Em vez de construir cláusulas que identificam onde a expressão é verdadeira, ela constrói cláusulas que eliminam exatamente as linhas falsas.</a:t>
            </a:r>
          </a:p>
          <a:p>
            <a:endParaRPr lang="pt-BR" sz="2400" dirty="0"/>
          </a:p>
          <a:p>
            <a:pPr lvl="1"/>
            <a:r>
              <a:rPr lang="pt-BR" sz="2000" dirty="0"/>
              <a:t>As disjunções apontam para as combinações que resultam em falso, as conjunções (nesse caso) exigem que todas as cláusulas sejam verdadeiras ao mesmo tempo. Qualquer linha falsa será “bloqueada” (Sobrando apenas as verdadeiras)</a:t>
            </a:r>
          </a:p>
          <a:p>
            <a:endParaRPr lang="pt-BR" sz="2200" dirty="0"/>
          </a:p>
          <a:p>
            <a:endParaRPr lang="pt-BR" sz="2400" dirty="0"/>
          </a:p>
        </p:txBody>
      </p:sp>
    </p:spTree>
    <p:extLst>
      <p:ext uri="{BB962C8B-B14F-4D97-AF65-F5344CB8AC3E}">
        <p14:creationId xmlns:p14="http://schemas.microsoft.com/office/powerpoint/2010/main" val="40117778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A03EA-EF49-B291-088D-687E1505929E}"/>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5767BEE0-D39B-7515-23DD-2AEDC7BE84F5}"/>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FC59D06A-2A42-FD62-104D-A406E36CDB03}"/>
              </a:ext>
            </a:extLst>
          </p:cNvPr>
          <p:cNvSpPr>
            <a:spLocks noGrp="1"/>
          </p:cNvSpPr>
          <p:nvPr>
            <p:ph type="title"/>
          </p:nvPr>
        </p:nvSpPr>
        <p:spPr>
          <a:xfrm>
            <a:off x="0" y="-1"/>
            <a:ext cx="12192000" cy="1325563"/>
          </a:xfrm>
        </p:spPr>
        <p:txBody>
          <a:bodyPr/>
          <a:lstStyle/>
          <a:p>
            <a:pPr algn="ctr"/>
            <a:r>
              <a:rPr lang="pt-BR" dirty="0">
                <a:solidFill>
                  <a:schemeClr val="bg1"/>
                </a:solidFill>
              </a:rPr>
              <a:t>FIXAÇÃO</a:t>
            </a:r>
          </a:p>
        </p:txBody>
      </p:sp>
      <p:sp>
        <p:nvSpPr>
          <p:cNvPr id="6" name="Espaço Reservado para Conteúdo 5">
            <a:extLst>
              <a:ext uri="{FF2B5EF4-FFF2-40B4-BE49-F238E27FC236}">
                <a16:creationId xmlns:a16="http://schemas.microsoft.com/office/drawing/2014/main" id="{A9E676ED-E7DC-0DFE-7341-79D2058D39E0}"/>
              </a:ext>
            </a:extLst>
          </p:cNvPr>
          <p:cNvSpPr>
            <a:spLocks noGrp="1"/>
          </p:cNvSpPr>
          <p:nvPr>
            <p:ph idx="1"/>
          </p:nvPr>
        </p:nvSpPr>
        <p:spPr>
          <a:xfrm>
            <a:off x="1758950" y="1817914"/>
            <a:ext cx="9283700" cy="4669971"/>
          </a:xfrm>
        </p:spPr>
        <p:txBody>
          <a:bodyPr>
            <a:normAutofit/>
          </a:bodyPr>
          <a:lstStyle/>
          <a:p>
            <a:r>
              <a:rPr lang="pt-BR" sz="2400" dirty="0"/>
              <a:t>1. Classifique as sentenças abaixo em Proposição ou Não Proposição</a:t>
            </a:r>
            <a:endParaRPr lang="pt-BR" sz="2000" dirty="0"/>
          </a:p>
          <a:p>
            <a:pPr lvl="1"/>
            <a:endParaRPr lang="pt-BR" sz="2000" dirty="0"/>
          </a:p>
          <a:p>
            <a:pPr marL="914400" lvl="1" indent="-457200">
              <a:buFont typeface="+mj-lt"/>
              <a:buAutoNum type="alphaUcPeriod"/>
            </a:pPr>
            <a:r>
              <a:rPr lang="pt-BR" sz="2000" dirty="0"/>
              <a:t>O Brasil fica na América do Sul.</a:t>
            </a:r>
          </a:p>
          <a:p>
            <a:pPr marL="914400" lvl="1" indent="-457200">
              <a:buFont typeface="+mj-lt"/>
              <a:buAutoNum type="alphaUcPeriod"/>
            </a:pPr>
            <a:r>
              <a:rPr lang="pt-BR" sz="2000" dirty="0"/>
              <a:t>Feche a porta.</a:t>
            </a:r>
          </a:p>
          <a:p>
            <a:pPr marL="914400" lvl="1" indent="-457200">
              <a:buFont typeface="+mj-lt"/>
              <a:buAutoNum type="alphaUcPeriod"/>
            </a:pPr>
            <a:r>
              <a:rPr lang="pt-BR" sz="2000" dirty="0"/>
              <a:t>2 + 2 = 5.</a:t>
            </a:r>
          </a:p>
          <a:p>
            <a:pPr marL="914400" lvl="1" indent="-457200">
              <a:buFont typeface="+mj-lt"/>
              <a:buAutoNum type="alphaUcPeriod"/>
            </a:pPr>
            <a:r>
              <a:rPr lang="pt-BR" sz="2000" dirty="0"/>
              <a:t>Qual é o seu nome?</a:t>
            </a:r>
          </a:p>
          <a:p>
            <a:pPr marL="914400" lvl="1" indent="-457200">
              <a:buFont typeface="+mj-lt"/>
              <a:buAutoNum type="alphaUcPeriod"/>
            </a:pPr>
            <a:r>
              <a:rPr lang="pt-BR" sz="2000" dirty="0"/>
              <a:t>Hoje está chovendo.</a:t>
            </a:r>
          </a:p>
          <a:p>
            <a:pPr marL="914400" lvl="1" indent="-457200">
              <a:buFont typeface="+mj-lt"/>
              <a:buAutoNum type="alphaUcPeriod"/>
            </a:pPr>
            <a:r>
              <a:rPr lang="pt-BR" sz="2000" dirty="0"/>
              <a:t>x + 3 = 7.</a:t>
            </a:r>
          </a:p>
          <a:p>
            <a:pPr marL="914400" lvl="1" indent="-457200">
              <a:buFont typeface="+mj-lt"/>
              <a:buAutoNum type="alphaUcPeriod"/>
            </a:pPr>
            <a:r>
              <a:rPr lang="pt-BR" sz="2000" dirty="0"/>
              <a:t>Todo computador possui memória RAM.</a:t>
            </a:r>
          </a:p>
          <a:p>
            <a:pPr marL="914400" lvl="1" indent="-457200">
              <a:buFont typeface="+mj-lt"/>
              <a:buAutoNum type="alphaUcPeriod"/>
            </a:pPr>
            <a:r>
              <a:rPr lang="pt-BR" sz="2000" dirty="0"/>
              <a:t>Que filme interessante!</a:t>
            </a:r>
          </a:p>
        </p:txBody>
      </p:sp>
    </p:spTree>
    <p:extLst>
      <p:ext uri="{BB962C8B-B14F-4D97-AF65-F5344CB8AC3E}">
        <p14:creationId xmlns:p14="http://schemas.microsoft.com/office/powerpoint/2010/main" val="722263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D91DA-A5EA-A2AB-F8AB-A4F80208C82C}"/>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1252498C-CC2E-D731-9130-680DA391E139}"/>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63A98B74-1D0F-862D-E3D3-28AFA0263BAF}"/>
              </a:ext>
            </a:extLst>
          </p:cNvPr>
          <p:cNvSpPr>
            <a:spLocks noGrp="1"/>
          </p:cNvSpPr>
          <p:nvPr>
            <p:ph type="title"/>
          </p:nvPr>
        </p:nvSpPr>
        <p:spPr>
          <a:xfrm>
            <a:off x="0" y="-1"/>
            <a:ext cx="12192000" cy="1325563"/>
          </a:xfrm>
        </p:spPr>
        <p:txBody>
          <a:bodyPr/>
          <a:lstStyle/>
          <a:p>
            <a:pPr algn="ctr"/>
            <a:r>
              <a:rPr lang="pt-BR" dirty="0">
                <a:solidFill>
                  <a:schemeClr val="bg1"/>
                </a:solidFill>
              </a:rPr>
              <a:t>FIXAÇÃO</a:t>
            </a:r>
          </a:p>
        </p:txBody>
      </p:sp>
      <p:sp>
        <p:nvSpPr>
          <p:cNvPr id="3" name="Espaço Reservado para Conteúdo 5">
            <a:extLst>
              <a:ext uri="{FF2B5EF4-FFF2-40B4-BE49-F238E27FC236}">
                <a16:creationId xmlns:a16="http://schemas.microsoft.com/office/drawing/2014/main" id="{752E2BDE-F25E-3A64-65AD-497643F065C1}"/>
              </a:ext>
            </a:extLst>
          </p:cNvPr>
          <p:cNvSpPr txBox="1">
            <a:spLocks/>
          </p:cNvSpPr>
          <p:nvPr/>
        </p:nvSpPr>
        <p:spPr>
          <a:xfrm>
            <a:off x="2852057" y="1621970"/>
            <a:ext cx="7750628" cy="508363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pt-BR" sz="2400" dirty="0"/>
              <a:t>Considere</a:t>
            </a:r>
          </a:p>
          <a:p>
            <a:pPr lvl="1"/>
            <a:endParaRPr lang="pt-BR" sz="2000" dirty="0"/>
          </a:p>
          <a:p>
            <a:pPr lvl="1"/>
            <a:r>
              <a:rPr lang="pt-BR" sz="2000" dirty="0"/>
              <a:t>p: "João estuda." </a:t>
            </a:r>
          </a:p>
          <a:p>
            <a:pPr lvl="1"/>
            <a:r>
              <a:rPr lang="pt-BR" sz="2000" dirty="0"/>
              <a:t>q: "João trabalha." </a:t>
            </a:r>
          </a:p>
          <a:p>
            <a:pPr lvl="1"/>
            <a:r>
              <a:rPr lang="pt-BR" sz="2000" dirty="0"/>
              <a:t>r: "João é aprovado.“</a:t>
            </a:r>
          </a:p>
          <a:p>
            <a:pPr marL="457200" lvl="1" indent="0">
              <a:buNone/>
            </a:pPr>
            <a:r>
              <a:rPr lang="pt-BR" sz="2000" dirty="0"/>
              <a:t> </a:t>
            </a:r>
            <a:endParaRPr lang="pt-BR" sz="2400" dirty="0"/>
          </a:p>
          <a:p>
            <a:pPr>
              <a:buFont typeface="Arial" panose="020B0604020202020204" pitchFamily="34" charset="0"/>
              <a:buNone/>
            </a:pPr>
            <a:r>
              <a:rPr lang="pt-BR" sz="2400" dirty="0"/>
              <a:t>Escreva em linguagem simbólica e monte a tabela-verdade:</a:t>
            </a:r>
          </a:p>
          <a:p>
            <a:pPr lvl="1">
              <a:buFont typeface="Arial" panose="020B0604020202020204" pitchFamily="34" charset="0"/>
              <a:buNone/>
            </a:pPr>
            <a:endParaRPr lang="pt-BR" dirty="0"/>
          </a:p>
          <a:p>
            <a:pPr lvl="1">
              <a:buFont typeface="Arial" panose="020B0604020202020204" pitchFamily="34" charset="0"/>
              <a:buNone/>
            </a:pPr>
            <a:r>
              <a:rPr lang="pt-BR" dirty="0"/>
              <a:t>a) João estuda e trabalha.</a:t>
            </a:r>
          </a:p>
          <a:p>
            <a:pPr lvl="1">
              <a:buFont typeface="Arial" panose="020B0604020202020204" pitchFamily="34" charset="0"/>
              <a:buNone/>
            </a:pPr>
            <a:r>
              <a:rPr lang="pt-BR" dirty="0"/>
              <a:t>b) João não trabalha.</a:t>
            </a:r>
          </a:p>
          <a:p>
            <a:pPr lvl="1">
              <a:buFont typeface="Arial" panose="020B0604020202020204" pitchFamily="34" charset="0"/>
              <a:buNone/>
            </a:pPr>
            <a:r>
              <a:rPr lang="pt-BR" dirty="0"/>
              <a:t>c) João estuda ou trabalha.</a:t>
            </a:r>
          </a:p>
          <a:p>
            <a:pPr lvl="1">
              <a:buFont typeface="Arial" panose="020B0604020202020204" pitchFamily="34" charset="0"/>
              <a:buNone/>
            </a:pPr>
            <a:r>
              <a:rPr lang="pt-BR" dirty="0"/>
              <a:t>d) Se João estudar, será aprovado.</a:t>
            </a:r>
          </a:p>
          <a:p>
            <a:pPr lvl="1">
              <a:buFont typeface="Arial" panose="020B0604020202020204" pitchFamily="34" charset="0"/>
              <a:buNone/>
            </a:pPr>
            <a:r>
              <a:rPr lang="pt-BR" dirty="0"/>
              <a:t>e) João será aprovado somente se estudar.</a:t>
            </a:r>
          </a:p>
          <a:p>
            <a:pPr lvl="1">
              <a:buFont typeface="Arial" panose="020B0604020202020204" pitchFamily="34" charset="0"/>
              <a:buNone/>
            </a:pPr>
            <a:r>
              <a:rPr lang="pt-BR" dirty="0"/>
              <a:t>f) João estuda, trabalha e será aprovado.</a:t>
            </a:r>
          </a:p>
          <a:p>
            <a:pPr lvl="1">
              <a:buFont typeface="Arial" panose="020B0604020202020204" pitchFamily="34" charset="0"/>
              <a:buNone/>
            </a:pPr>
            <a:r>
              <a:rPr lang="pt-BR" dirty="0"/>
              <a:t>g) João não estuda nem trabalha.</a:t>
            </a:r>
          </a:p>
          <a:p>
            <a:endParaRPr lang="pt-BR" sz="2000" dirty="0"/>
          </a:p>
        </p:txBody>
      </p:sp>
    </p:spTree>
    <p:extLst>
      <p:ext uri="{BB962C8B-B14F-4D97-AF65-F5344CB8AC3E}">
        <p14:creationId xmlns:p14="http://schemas.microsoft.com/office/powerpoint/2010/main" val="41212441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9A073-41FB-6983-DE12-E0F478C7D679}"/>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8DC6F78A-025D-F83A-C88E-F65601985C82}"/>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6B1D9ABF-C06E-6A4D-DA20-4A310022BE6D}"/>
              </a:ext>
            </a:extLst>
          </p:cNvPr>
          <p:cNvSpPr>
            <a:spLocks noGrp="1"/>
          </p:cNvSpPr>
          <p:nvPr>
            <p:ph type="title"/>
          </p:nvPr>
        </p:nvSpPr>
        <p:spPr>
          <a:xfrm>
            <a:off x="0" y="-1"/>
            <a:ext cx="12192000" cy="1325563"/>
          </a:xfrm>
        </p:spPr>
        <p:txBody>
          <a:bodyPr/>
          <a:lstStyle/>
          <a:p>
            <a:pPr algn="ctr"/>
            <a:r>
              <a:rPr lang="pt-BR" dirty="0">
                <a:solidFill>
                  <a:schemeClr val="bg1"/>
                </a:solidFill>
              </a:rPr>
              <a:t>FIXAÇÃO</a:t>
            </a:r>
          </a:p>
        </p:txBody>
      </p:sp>
      <p:sp>
        <p:nvSpPr>
          <p:cNvPr id="6" name="Espaço Reservado para Conteúdo 5">
            <a:extLst>
              <a:ext uri="{FF2B5EF4-FFF2-40B4-BE49-F238E27FC236}">
                <a16:creationId xmlns:a16="http://schemas.microsoft.com/office/drawing/2014/main" id="{6F9D24B6-B570-1651-6D25-D6BFA5AC9D66}"/>
              </a:ext>
            </a:extLst>
          </p:cNvPr>
          <p:cNvSpPr>
            <a:spLocks noGrp="1"/>
          </p:cNvSpPr>
          <p:nvPr>
            <p:ph idx="1"/>
          </p:nvPr>
        </p:nvSpPr>
        <p:spPr>
          <a:xfrm>
            <a:off x="2958647" y="1817914"/>
            <a:ext cx="6274706" cy="4669971"/>
          </a:xfrm>
        </p:spPr>
        <p:txBody>
          <a:bodyPr>
            <a:normAutofit/>
          </a:bodyPr>
          <a:lstStyle/>
          <a:p>
            <a:pPr>
              <a:buNone/>
            </a:pPr>
            <a:r>
              <a:rPr lang="pt-BR" sz="2400" dirty="0"/>
              <a:t>Considere</a:t>
            </a:r>
          </a:p>
          <a:p>
            <a:pPr lvl="1"/>
            <a:endParaRPr lang="pt-BR" sz="2000" dirty="0"/>
          </a:p>
          <a:p>
            <a:pPr lvl="1"/>
            <a:r>
              <a:rPr lang="pt-BR" sz="2000" dirty="0"/>
              <a:t>p: V</a:t>
            </a:r>
          </a:p>
          <a:p>
            <a:pPr lvl="1"/>
            <a:r>
              <a:rPr lang="pt-BR" sz="2000" dirty="0"/>
              <a:t>q: F</a:t>
            </a:r>
          </a:p>
          <a:p>
            <a:pPr lvl="1"/>
            <a:r>
              <a:rPr lang="pt-BR" sz="2000" dirty="0"/>
              <a:t>r: V</a:t>
            </a:r>
          </a:p>
          <a:p>
            <a:pPr>
              <a:buNone/>
            </a:pPr>
            <a:r>
              <a:rPr lang="pt-BR" sz="2400" dirty="0"/>
              <a:t>Determine o valor lógico:</a:t>
            </a:r>
          </a:p>
          <a:p>
            <a:pPr marL="914400" lvl="1" indent="-457200">
              <a:buFont typeface="+mj-lt"/>
              <a:buAutoNum type="alphaUcPeriod"/>
            </a:pPr>
            <a:endParaRPr lang="pt-BR" dirty="0"/>
          </a:p>
          <a:p>
            <a:pPr marL="914400" lvl="1" indent="-457200">
              <a:buFont typeface="+mj-lt"/>
              <a:buAutoNum type="alphaUcPeriod"/>
            </a:pPr>
            <a:r>
              <a:rPr lang="pt-BR" sz="2000" dirty="0"/>
              <a:t>(</a:t>
            </a:r>
            <a:r>
              <a:rPr lang="pt-BR" sz="2000" dirty="0" err="1"/>
              <a:t>p→q</a:t>
            </a:r>
            <a:r>
              <a:rPr lang="pt-BR" sz="2000" dirty="0"/>
              <a:t>)→(¬q→¬p)</a:t>
            </a:r>
          </a:p>
          <a:p>
            <a:pPr marL="914400" lvl="1" indent="-457200">
              <a:buFont typeface="+mj-lt"/>
              <a:buAutoNum type="alphaUcPeriod"/>
            </a:pPr>
            <a:r>
              <a:rPr lang="pt-BR" sz="2000" dirty="0"/>
              <a:t>(</a:t>
            </a:r>
            <a:r>
              <a:rPr lang="pt-BR" sz="2000" dirty="0" err="1"/>
              <a:t>p∧q</a:t>
            </a:r>
            <a:r>
              <a:rPr lang="pt-BR" sz="2000" dirty="0"/>
              <a:t>)∨(¬</a:t>
            </a:r>
            <a:r>
              <a:rPr lang="pt-BR" sz="2000" dirty="0" err="1"/>
              <a:t>p∧r</a:t>
            </a:r>
            <a:r>
              <a:rPr lang="pt-BR" sz="2000" dirty="0"/>
              <a:t>) </a:t>
            </a:r>
          </a:p>
          <a:p>
            <a:pPr marL="914400" lvl="1" indent="-457200">
              <a:buFont typeface="+mj-lt"/>
              <a:buAutoNum type="alphaUcPeriod"/>
            </a:pPr>
            <a:r>
              <a:rPr lang="pt-BR" sz="2000" dirty="0"/>
              <a:t>(</a:t>
            </a:r>
            <a:r>
              <a:rPr lang="pt-BR" sz="2000" dirty="0" err="1"/>
              <a:t>p→q</a:t>
            </a:r>
            <a:r>
              <a:rPr lang="pt-BR" sz="2000" dirty="0"/>
              <a:t>)↔(¬q→¬p) </a:t>
            </a:r>
          </a:p>
          <a:p>
            <a:pPr marL="914400" lvl="1" indent="-457200">
              <a:buFont typeface="+mj-lt"/>
              <a:buAutoNum type="alphaUcPeriod"/>
            </a:pPr>
            <a:r>
              <a:rPr lang="pt-BR" sz="2000" dirty="0"/>
              <a:t>(</a:t>
            </a:r>
            <a:r>
              <a:rPr lang="pt-BR" sz="2000" dirty="0" err="1"/>
              <a:t>p∨q</a:t>
            </a:r>
            <a:r>
              <a:rPr lang="pt-BR" sz="2000" dirty="0"/>
              <a:t>)→(</a:t>
            </a:r>
            <a:r>
              <a:rPr lang="pt-BR" sz="2000" dirty="0" err="1"/>
              <a:t>r∧p</a:t>
            </a:r>
            <a:r>
              <a:rPr lang="pt-BR" sz="2000" dirty="0"/>
              <a:t>)</a:t>
            </a:r>
            <a:endParaRPr lang="pt-BR" sz="1800" dirty="0"/>
          </a:p>
        </p:txBody>
      </p:sp>
    </p:spTree>
    <p:extLst>
      <p:ext uri="{BB962C8B-B14F-4D97-AF65-F5344CB8AC3E}">
        <p14:creationId xmlns:p14="http://schemas.microsoft.com/office/powerpoint/2010/main" val="3345997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CD776-7844-2F52-9329-67032F2D638E}"/>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C82CD923-EB36-66C4-37A7-0EE1B510990D}"/>
              </a:ext>
            </a:extLst>
          </p:cNvPr>
          <p:cNvSpPr/>
          <p:nvPr/>
        </p:nvSpPr>
        <p:spPr>
          <a:xfrm>
            <a:off x="0" y="-2"/>
            <a:ext cx="12192000" cy="1325563"/>
          </a:xfrm>
          <a:prstGeom prst="rect">
            <a:avLst/>
          </a:prstGeom>
          <a:solidFill>
            <a:schemeClr val="accent2"/>
          </a:solidFill>
          <a:ln>
            <a:solidFill>
              <a:srgbClr val="418A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a:extLst>
              <a:ext uri="{FF2B5EF4-FFF2-40B4-BE49-F238E27FC236}">
                <a16:creationId xmlns:a16="http://schemas.microsoft.com/office/drawing/2014/main" id="{07603507-8297-4269-818A-11BE84E3755C}"/>
              </a:ext>
            </a:extLst>
          </p:cNvPr>
          <p:cNvSpPr>
            <a:spLocks noGrp="1"/>
          </p:cNvSpPr>
          <p:nvPr>
            <p:ph type="title"/>
          </p:nvPr>
        </p:nvSpPr>
        <p:spPr>
          <a:xfrm>
            <a:off x="0" y="-1"/>
            <a:ext cx="12192000" cy="1325563"/>
          </a:xfrm>
        </p:spPr>
        <p:txBody>
          <a:bodyPr/>
          <a:lstStyle/>
          <a:p>
            <a:pPr algn="ctr"/>
            <a:r>
              <a:rPr lang="pt-BR" dirty="0">
                <a:solidFill>
                  <a:schemeClr val="bg1"/>
                </a:solidFill>
              </a:rPr>
              <a:t>FIXAÇÃO</a:t>
            </a:r>
          </a:p>
        </p:txBody>
      </p:sp>
      <p:sp>
        <p:nvSpPr>
          <p:cNvPr id="6" name="Espaço Reservado para Conteúdo 5">
            <a:extLst>
              <a:ext uri="{FF2B5EF4-FFF2-40B4-BE49-F238E27FC236}">
                <a16:creationId xmlns:a16="http://schemas.microsoft.com/office/drawing/2014/main" id="{F3D264AD-408A-565C-850B-89460A039265}"/>
              </a:ext>
            </a:extLst>
          </p:cNvPr>
          <p:cNvSpPr>
            <a:spLocks noGrp="1"/>
          </p:cNvSpPr>
          <p:nvPr>
            <p:ph idx="1"/>
          </p:nvPr>
        </p:nvSpPr>
        <p:spPr>
          <a:xfrm>
            <a:off x="1273629" y="1643743"/>
            <a:ext cx="9644742" cy="4942113"/>
          </a:xfrm>
        </p:spPr>
        <p:txBody>
          <a:bodyPr>
            <a:normAutofit lnSpcReduction="10000"/>
          </a:bodyPr>
          <a:lstStyle/>
          <a:p>
            <a:pPr marL="0" indent="0">
              <a:buNone/>
            </a:pPr>
            <a:r>
              <a:rPr lang="pt-BR" sz="2400" dirty="0"/>
              <a:t>Considere</a:t>
            </a:r>
          </a:p>
          <a:p>
            <a:pPr lvl="1"/>
            <a:endParaRPr lang="pt-BR" sz="2200" dirty="0"/>
          </a:p>
          <a:p>
            <a:pPr lvl="1"/>
            <a:r>
              <a:rPr lang="pt-BR" sz="2200" dirty="0"/>
              <a:t>p: "O servidor está ligado." </a:t>
            </a:r>
          </a:p>
          <a:p>
            <a:pPr lvl="1"/>
            <a:r>
              <a:rPr lang="pt-BR" sz="2200" dirty="0"/>
              <a:t>q: "A rede está funcionando." </a:t>
            </a:r>
          </a:p>
          <a:p>
            <a:pPr lvl="1"/>
            <a:r>
              <a:rPr lang="pt-BR" sz="2200" dirty="0"/>
              <a:t>r: "Os usuários conseguem acessar o sistema." </a:t>
            </a:r>
          </a:p>
          <a:p>
            <a:pPr marL="0" indent="0">
              <a:buNone/>
            </a:pPr>
            <a:endParaRPr lang="pt-BR" sz="2400" dirty="0"/>
          </a:p>
          <a:p>
            <a:pPr marL="0" indent="0">
              <a:buNone/>
            </a:pPr>
            <a:r>
              <a:rPr lang="pt-BR" sz="2400" dirty="0"/>
              <a:t>Escreva em lógica proposicional.</a:t>
            </a:r>
          </a:p>
          <a:p>
            <a:pPr lvl="1"/>
            <a:endParaRPr lang="pt-BR" sz="2200" dirty="0"/>
          </a:p>
          <a:p>
            <a:pPr marL="914400" lvl="1" indent="-457200">
              <a:buFont typeface="+mj-lt"/>
              <a:buAutoNum type="alphaUcPeriod"/>
            </a:pPr>
            <a:r>
              <a:rPr lang="pt-BR" sz="2200" dirty="0"/>
              <a:t>Se o servidor estiver ligado e a rede funcionar, então os usuários conseguem acessar o sistema.</a:t>
            </a:r>
          </a:p>
          <a:p>
            <a:pPr marL="914400" lvl="1" indent="-457200">
              <a:buFont typeface="+mj-lt"/>
              <a:buAutoNum type="alphaUcPeriod"/>
            </a:pPr>
            <a:r>
              <a:rPr lang="pt-BR" sz="2200" dirty="0"/>
              <a:t>Os usuários não conseguem acessar o sistema.</a:t>
            </a:r>
          </a:p>
          <a:p>
            <a:pPr marL="914400" lvl="1" indent="-457200">
              <a:buFont typeface="+mj-lt"/>
              <a:buAutoNum type="alphaUcPeriod"/>
            </a:pPr>
            <a:r>
              <a:rPr lang="pt-BR" sz="2200" dirty="0"/>
              <a:t>O servidor está ligado, mas a rede não funciona.</a:t>
            </a:r>
          </a:p>
          <a:p>
            <a:pPr marL="914400" lvl="1" indent="-457200">
              <a:buFont typeface="+mj-lt"/>
              <a:buAutoNum type="alphaUcPeriod"/>
            </a:pPr>
            <a:r>
              <a:rPr lang="pt-BR" sz="2200" dirty="0"/>
              <a:t>Se os usuários conseguem acessar o sistema, então o servidor está ligado.</a:t>
            </a:r>
          </a:p>
          <a:p>
            <a:pPr marL="914400" lvl="1" indent="-457200">
              <a:buFont typeface="+mj-lt"/>
              <a:buAutoNum type="alphaUcPeriod"/>
            </a:pPr>
            <a:r>
              <a:rPr lang="pt-BR" sz="2200" dirty="0"/>
              <a:t>O servidor está desligado ou a rede está funcionando.</a:t>
            </a:r>
          </a:p>
        </p:txBody>
      </p:sp>
    </p:spTree>
    <p:extLst>
      <p:ext uri="{BB962C8B-B14F-4D97-AF65-F5344CB8AC3E}">
        <p14:creationId xmlns:p14="http://schemas.microsoft.com/office/powerpoint/2010/main" val="4115658102"/>
      </p:ext>
    </p:extLst>
  </p:cSld>
  <p:clrMapOvr>
    <a:masterClrMapping/>
  </p:clrMapOvr>
</p:sld>
</file>

<file path=ppt/theme/theme1.xml><?xml version="1.0" encoding="utf-8"?>
<a:theme xmlns:a="http://schemas.openxmlformats.org/drawingml/2006/main" name="Tema do Office">
  <a:themeElements>
    <a:clrScheme name="Amarelo Verde">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acote">
  <a:themeElements>
    <a:clrScheme name="Amarelo Verde">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cot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cote">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A425FB89-E954-4A2A-81DC-D90804A94DB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1554</TotalTime>
  <Words>2256</Words>
  <Application>Microsoft Office PowerPoint</Application>
  <PresentationFormat>Widescreen</PresentationFormat>
  <Paragraphs>498</Paragraphs>
  <Slides>36</Slides>
  <Notes>36</Notes>
  <HiddenSlides>0</HiddenSlides>
  <MMClips>0</MMClips>
  <ScaleCrop>false</ScaleCrop>
  <HeadingPairs>
    <vt:vector size="6" baseType="variant">
      <vt:variant>
        <vt:lpstr>Fontes usadas</vt:lpstr>
      </vt:variant>
      <vt:variant>
        <vt:i4>5</vt:i4>
      </vt:variant>
      <vt:variant>
        <vt:lpstr>Tema</vt:lpstr>
      </vt:variant>
      <vt:variant>
        <vt:i4>2</vt:i4>
      </vt:variant>
      <vt:variant>
        <vt:lpstr>Títulos de slides</vt:lpstr>
      </vt:variant>
      <vt:variant>
        <vt:i4>36</vt:i4>
      </vt:variant>
    </vt:vector>
  </HeadingPairs>
  <TitlesOfParts>
    <vt:vector size="43" baseType="lpstr">
      <vt:lpstr>Arial</vt:lpstr>
      <vt:lpstr>Calibri</vt:lpstr>
      <vt:lpstr>Calibri Light</vt:lpstr>
      <vt:lpstr>Cambria Math</vt:lpstr>
      <vt:lpstr>Gill Sans MT</vt:lpstr>
      <vt:lpstr>Tema do Office</vt:lpstr>
      <vt:lpstr>Pacote</vt:lpstr>
      <vt:lpstr>Plano de ensino</vt:lpstr>
      <vt:lpstr>Sistema de avaliação</vt:lpstr>
      <vt:lpstr>Distribuição de Notas</vt:lpstr>
      <vt:lpstr>Bibliografia</vt:lpstr>
      <vt:lpstr>módulo 1 – FUNDAMENTOS</vt:lpstr>
      <vt:lpstr>FUNDAMENTOS</vt:lpstr>
      <vt:lpstr>Por que o computador precisa da Mat. Discreta?</vt:lpstr>
      <vt:lpstr>DISCRETIZAÇÃO</vt:lpstr>
      <vt:lpstr>DISCRETIZAÇÃO</vt:lpstr>
      <vt:lpstr>Discretizar é suficiente?</vt:lpstr>
      <vt:lpstr>DISCRETIZAÇÃO</vt:lpstr>
      <vt:lpstr>DISCRETIZAÇÃO</vt:lpstr>
      <vt:lpstr>módulo 2 – lógica proposicional</vt:lpstr>
      <vt:lpstr>LÓGICA PROPOSICIONAL</vt:lpstr>
      <vt:lpstr>PROPOSIÇÕES</vt:lpstr>
      <vt:lpstr>PROPOSIÇÕES</vt:lpstr>
      <vt:lpstr>CONECTIVOS LÓGICOS</vt:lpstr>
      <vt:lpstr>CONECTIVOS LÓGICOS</vt:lpstr>
      <vt:lpstr>TABELA VERDADE</vt:lpstr>
      <vt:lpstr>TABELA VERDADE</vt:lpstr>
      <vt:lpstr>TABELA VERDADE</vt:lpstr>
      <vt:lpstr>TABELA VERDADE</vt:lpstr>
      <vt:lpstr>TABELA VERDADE</vt:lpstr>
      <vt:lpstr>TABELA VERDADE</vt:lpstr>
      <vt:lpstr>PRECEDÊNCIA DOS CONECTIVOS</vt:lpstr>
      <vt:lpstr>Como construir uma Tabela Verdade?</vt:lpstr>
      <vt:lpstr>CLASSIFICAÇÃO DE EXPRESSÕES LÓGICAS</vt:lpstr>
      <vt:lpstr>CLASSIFICAÇÃO DE EXPRESSÕES LÓGICAS</vt:lpstr>
      <vt:lpstr>FORMAS NORMAIS</vt:lpstr>
      <vt:lpstr>FORMAS NORMAIS</vt:lpstr>
      <vt:lpstr>FORMAS NORMAIS</vt:lpstr>
      <vt:lpstr>FORMAS NORMAIS</vt:lpstr>
      <vt:lpstr>FIXAÇÃO</vt:lpstr>
      <vt:lpstr>FIXAÇÃO</vt:lpstr>
      <vt:lpstr>FIXAÇÃO</vt:lpstr>
      <vt:lpstr>FIXAÇÃO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Marcio Salmazo Ramos</dc:creator>
  <cp:lastModifiedBy>Marcio Salmazo Ramos</cp:lastModifiedBy>
  <cp:revision>116</cp:revision>
  <dcterms:created xsi:type="dcterms:W3CDTF">2026-07-26T12:48:37Z</dcterms:created>
  <dcterms:modified xsi:type="dcterms:W3CDTF">2026-08-04T16:51:23Z</dcterms:modified>
</cp:coreProperties>
</file>