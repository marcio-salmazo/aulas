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s/slide27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26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3"/>
  </p:notesMasterIdLst>
  <p:sldIdLst>
    <p:sldId id="256" r:id="rId2"/>
    <p:sldId id="257" r:id="rId3"/>
    <p:sldId id="290" r:id="rId4"/>
    <p:sldId id="291" r:id="rId5"/>
    <p:sldId id="292" r:id="rId6"/>
    <p:sldId id="293" r:id="rId7"/>
    <p:sldId id="294" r:id="rId8"/>
    <p:sldId id="295" r:id="rId9"/>
    <p:sldId id="296" r:id="rId10"/>
    <p:sldId id="297" r:id="rId11"/>
    <p:sldId id="299" r:id="rId12"/>
    <p:sldId id="300" r:id="rId13"/>
    <p:sldId id="301" r:id="rId14"/>
    <p:sldId id="302" r:id="rId15"/>
    <p:sldId id="303" r:id="rId16"/>
    <p:sldId id="298" r:id="rId17"/>
    <p:sldId id="305" r:id="rId18"/>
    <p:sldId id="274" r:id="rId19"/>
    <p:sldId id="304" r:id="rId20"/>
    <p:sldId id="306" r:id="rId21"/>
    <p:sldId id="307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08" r:id="rId30"/>
    <p:sldId id="316" r:id="rId31"/>
    <p:sldId id="318" r:id="rId32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-1650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customXml" Target="../customXml/item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40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500A8A-9320-4B85-B401-09FCFAF5928C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os estilos do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103952-2BE2-47AC-A918-E94902FFAD3F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15165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F9314D7-A659-428B-AB7F-074073DA29E3}" type="datetimeFigureOut">
              <a:rPr lang="pt-BR" smtClean="0"/>
              <a:pPr/>
              <a:t>02/10/2014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A6964672-3222-4ECC-9B29-8ABA166EB394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1.wmf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Processamento</a:t>
            </a:r>
            <a:r>
              <a:rPr lang="en-US" dirty="0" smtClean="0"/>
              <a:t> de </a:t>
            </a:r>
            <a:r>
              <a:rPr lang="en-US" dirty="0" err="1" smtClean="0"/>
              <a:t>Imagens</a:t>
            </a:r>
            <a:r>
              <a:rPr lang="en-US" dirty="0" smtClean="0"/>
              <a:t> </a:t>
            </a:r>
            <a:r>
              <a:rPr lang="en-US" dirty="0" err="1" smtClean="0"/>
              <a:t>Coloridas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Fundamentos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 visão da cor</a:t>
            </a:r>
          </a:p>
          <a:p>
            <a:pPr lvl="1"/>
            <a:r>
              <a:rPr lang="pt-BR" dirty="0" smtClean="0"/>
              <a:t>É a capacidade de um organismo ou máquina de distinguir objetos baseando-se nos comprimentos de onda (ou freqüências) da luz sendo refletida, emitida ou transmitida</a:t>
            </a:r>
            <a:endParaRPr lang="pt-B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Fundamentos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A visão da cor</a:t>
            </a:r>
          </a:p>
          <a:p>
            <a:pPr lvl="1"/>
            <a:r>
              <a:rPr lang="pt-BR" dirty="0" smtClean="0"/>
              <a:t>A cor é um poderoso descritor de característica que simplifica a identificação e extração de objetos da cena;</a:t>
            </a:r>
          </a:p>
          <a:p>
            <a:pPr lvl="1"/>
            <a:r>
              <a:rPr lang="pt-BR" dirty="0" smtClean="0"/>
              <a:t>Seres humanos podem distinguir milhares de tonalidades e intensidades (enquanto se restringe a dezenas de níveis de cinza)</a:t>
            </a:r>
          </a:p>
          <a:p>
            <a:pPr lvl="1"/>
            <a:endParaRPr lang="pt-BR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Fundamentos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processamento de imagens coloridas dividem-se em</a:t>
            </a:r>
          </a:p>
          <a:p>
            <a:pPr lvl="1"/>
            <a:r>
              <a:rPr lang="pt-BR" i="1" dirty="0" err="1" smtClean="0"/>
              <a:t>full-color</a:t>
            </a:r>
            <a:r>
              <a:rPr lang="pt-BR" dirty="0" smtClean="0"/>
              <a:t>: adquiridas com sensores </a:t>
            </a:r>
            <a:r>
              <a:rPr lang="pt-BR" dirty="0" err="1" smtClean="0"/>
              <a:t>full-color</a:t>
            </a:r>
            <a:endParaRPr lang="pt-BR" dirty="0" smtClean="0"/>
          </a:p>
          <a:p>
            <a:pPr lvl="2"/>
            <a:r>
              <a:rPr lang="pt-BR" dirty="0" smtClean="0"/>
              <a:t>TV, scanner colorido;</a:t>
            </a:r>
          </a:p>
          <a:p>
            <a:endParaRPr lang="pt-BR" dirty="0" smtClean="0"/>
          </a:p>
          <a:p>
            <a:pPr lvl="1"/>
            <a:r>
              <a:rPr lang="pt-BR" i="1" dirty="0" err="1" smtClean="0"/>
              <a:t>pseudocolor</a:t>
            </a:r>
            <a:r>
              <a:rPr lang="pt-BR" dirty="0" smtClean="0"/>
              <a:t>: atribuição de cores a imagens monocromáticas</a:t>
            </a:r>
          </a:p>
          <a:p>
            <a:pPr lvl="1"/>
            <a:endParaRPr lang="pt-BR" dirty="0" smtClean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Fundamentos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Como o ser humano interpreta a cor?</a:t>
            </a:r>
          </a:p>
          <a:p>
            <a:pPr lvl="1"/>
            <a:r>
              <a:rPr lang="pt-BR" dirty="0" smtClean="0"/>
              <a:t>A cor é um fenômeno psicológico que ainda não está totalmente entendido </a:t>
            </a:r>
          </a:p>
          <a:p>
            <a:pPr lvl="1"/>
            <a:r>
              <a:rPr lang="pt-BR" dirty="0" smtClean="0"/>
              <a:t>Apesar disto, a natureza física da cor pode ser expressa sobre uma base formal suportada por resultados teóricos e experimentais.</a:t>
            </a:r>
          </a:p>
          <a:p>
            <a:pPr lvl="1"/>
            <a:r>
              <a:rPr lang="pt-BR" dirty="0" smtClean="0"/>
              <a:t>Em 1666, Isaac Newton descobriu que quando um feixe de luz do sol passa através de um prisma, a luz que sai não é branca mas sim formada pela faixa do espectro que vai do violeta ao vermelho.</a:t>
            </a:r>
          </a:p>
          <a:p>
            <a:endParaRPr lang="pt-BR" dirty="0" smtClean="0"/>
          </a:p>
          <a:p>
            <a:pPr lvl="1"/>
            <a:endParaRPr lang="pt-BR" dirty="0" smtClean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Fundamentos da cor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Picture 2" descr="File:EM spectrum.sv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3477" y="1990743"/>
            <a:ext cx="7496175" cy="401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Fundamentos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cor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A cor que os seres humanos percebem no objeto são determinados pela natureza da luz refletida a partir do objeto</a:t>
            </a:r>
          </a:p>
          <a:p>
            <a:endParaRPr lang="pt-BR" dirty="0" smtClean="0"/>
          </a:p>
          <a:p>
            <a:r>
              <a:rPr lang="pt-BR" dirty="0" smtClean="0"/>
              <a:t>A cor do objeto depende do comprimento de onda do espectro visível que predominantemente reflete da superfície do objeto; </a:t>
            </a:r>
          </a:p>
          <a:p>
            <a:pPr lvl="1"/>
            <a:r>
              <a:rPr lang="pt-BR" dirty="0" smtClean="0"/>
              <a:t>Ex: objetos verdes refletem luz com comprimentos de onda entre 500 </a:t>
            </a:r>
            <a:r>
              <a:rPr lang="pt-BR" dirty="0" err="1" smtClean="0"/>
              <a:t>nm</a:t>
            </a:r>
            <a:r>
              <a:rPr lang="pt-BR" dirty="0" smtClean="0"/>
              <a:t> e 570 </a:t>
            </a:r>
            <a:r>
              <a:rPr lang="pt-BR" dirty="0" err="1" smtClean="0"/>
              <a:t>nm</a:t>
            </a:r>
            <a:r>
              <a:rPr lang="pt-BR" dirty="0" smtClean="0"/>
              <a:t> e absorve a maioria da energia nos outros comprimentos de onda.</a:t>
            </a:r>
          </a:p>
          <a:p>
            <a:pPr lvl="1"/>
            <a:r>
              <a:rPr lang="pt-BR" dirty="0" smtClean="0"/>
              <a:t>Um corpo que reflete luz relativamente balanceada em todo o espectro visível aparece como branca ao observador.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Características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luz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Luz acromática (sem cor)</a:t>
            </a:r>
          </a:p>
          <a:p>
            <a:pPr lvl="1"/>
            <a:r>
              <a:rPr lang="pt-BR" dirty="0" smtClean="0"/>
              <a:t>Não tem componente de cor  </a:t>
            </a:r>
          </a:p>
          <a:p>
            <a:pPr lvl="1"/>
            <a:r>
              <a:rPr lang="pt-BR" dirty="0" smtClean="0"/>
              <a:t>Representa apenas a intensidade luminosa</a:t>
            </a:r>
          </a:p>
          <a:p>
            <a:endParaRPr lang="pt-BR" dirty="0" smtClean="0"/>
          </a:p>
          <a:p>
            <a:r>
              <a:rPr lang="pt-BR" dirty="0" smtClean="0"/>
              <a:t>Luz cromática </a:t>
            </a:r>
          </a:p>
          <a:p>
            <a:pPr lvl="1"/>
            <a:r>
              <a:rPr lang="pt-BR" dirty="0" smtClean="0"/>
              <a:t>Se estende pelo espectro de energia eletromagnética no intervalo aproximado de 400 a 700 </a:t>
            </a:r>
            <a:r>
              <a:rPr lang="pt-BR" dirty="0" err="1" smtClean="0"/>
              <a:t>nm</a:t>
            </a:r>
            <a:r>
              <a:rPr lang="pt-BR" dirty="0" smtClean="0"/>
              <a:t> (1 </a:t>
            </a:r>
            <a:r>
              <a:rPr lang="pt-BR" dirty="0" err="1" smtClean="0"/>
              <a:t>nm</a:t>
            </a:r>
            <a:r>
              <a:rPr lang="pt-BR" dirty="0" smtClean="0"/>
              <a:t> = 10</a:t>
            </a:r>
            <a:r>
              <a:rPr lang="pt-BR" baseline="30000" dirty="0" smtClean="0"/>
              <a:t>–9</a:t>
            </a:r>
            <a:r>
              <a:rPr lang="pt-BR" dirty="0" smtClean="0"/>
              <a:t> m).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Quantidades</a:t>
            </a:r>
            <a:r>
              <a:rPr lang="en-US" dirty="0" smtClean="0"/>
              <a:t> </a:t>
            </a:r>
            <a:r>
              <a:rPr lang="en-US" dirty="0" err="1" smtClean="0"/>
              <a:t>que</a:t>
            </a:r>
            <a:r>
              <a:rPr lang="en-US" dirty="0" smtClean="0"/>
              <a:t> </a:t>
            </a:r>
            <a:r>
              <a:rPr lang="en-US" dirty="0" err="1" smtClean="0"/>
              <a:t>descrevem</a:t>
            </a:r>
            <a:r>
              <a:rPr lang="en-US" dirty="0" smtClean="0"/>
              <a:t> a </a:t>
            </a:r>
            <a:r>
              <a:rPr lang="en-US" dirty="0" err="1" smtClean="0"/>
              <a:t>qualidade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luz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err="1" smtClean="0"/>
              <a:t>Radiância</a:t>
            </a:r>
            <a:endParaRPr lang="pt-BR" dirty="0" smtClean="0"/>
          </a:p>
          <a:p>
            <a:pPr lvl="1"/>
            <a:r>
              <a:rPr lang="pt-BR" dirty="0" smtClean="0"/>
              <a:t>soma total de energia que é emitida da fonte luminosa (watts)</a:t>
            </a:r>
          </a:p>
          <a:p>
            <a:r>
              <a:rPr lang="pt-BR" dirty="0" err="1" smtClean="0"/>
              <a:t>Luminância</a:t>
            </a:r>
            <a:r>
              <a:rPr lang="pt-BR" dirty="0" smtClean="0"/>
              <a:t> </a:t>
            </a:r>
          </a:p>
          <a:p>
            <a:pPr lvl="1"/>
            <a:r>
              <a:rPr lang="pt-BR" dirty="0" smtClean="0"/>
              <a:t>dá uma medida da soma de energia percebida por um observador a partir de uma fonte de luz (</a:t>
            </a:r>
            <a:r>
              <a:rPr lang="pt-BR" dirty="0" err="1" smtClean="0"/>
              <a:t>lumen</a:t>
            </a:r>
            <a:r>
              <a:rPr lang="pt-BR" dirty="0" smtClean="0"/>
              <a:t>)</a:t>
            </a:r>
          </a:p>
          <a:p>
            <a:r>
              <a:rPr lang="pt-BR" dirty="0" smtClean="0"/>
              <a:t>Brilho</a:t>
            </a:r>
          </a:p>
          <a:p>
            <a:pPr lvl="1"/>
            <a:r>
              <a:rPr lang="pt-BR" dirty="0" smtClean="0"/>
              <a:t>descritor subjetivo praticamente impossível de medir</a:t>
            </a:r>
          </a:p>
          <a:p>
            <a:pPr lvl="1"/>
            <a:r>
              <a:rPr lang="pt-BR" dirty="0" smtClean="0"/>
              <a:t>incorpora a noção monocromática de intensidade</a:t>
            </a:r>
          </a:p>
          <a:p>
            <a:pPr lvl="1"/>
            <a:r>
              <a:rPr lang="pt-BR" dirty="0" smtClean="0"/>
              <a:t>é um fator importante na descrição da sensação de cor</a:t>
            </a:r>
            <a:endParaRPr lang="pt-BR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Questão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Dada uma fonte operando na região do raio X:</a:t>
            </a:r>
          </a:p>
          <a:p>
            <a:endParaRPr lang="pt-BR" dirty="0" smtClean="0"/>
          </a:p>
          <a:p>
            <a:pPr>
              <a:buNone/>
            </a:pPr>
            <a:r>
              <a:rPr lang="pt-BR" dirty="0" smtClean="0"/>
              <a:t>1 – qual é a </a:t>
            </a:r>
            <a:r>
              <a:rPr lang="pt-BR" dirty="0" err="1" smtClean="0"/>
              <a:t>radiância</a:t>
            </a:r>
            <a:r>
              <a:rPr lang="pt-BR" dirty="0" smtClean="0"/>
              <a:t>?</a:t>
            </a:r>
          </a:p>
          <a:p>
            <a:pPr>
              <a:buNone/>
            </a:pPr>
            <a:r>
              <a:rPr lang="pt-BR" dirty="0" smtClean="0"/>
              <a:t>      (a) alta          (b) baixa</a:t>
            </a:r>
          </a:p>
          <a:p>
            <a:pPr>
              <a:buNone/>
            </a:pPr>
            <a:endParaRPr lang="pt-BR" dirty="0" smtClean="0"/>
          </a:p>
          <a:p>
            <a:pPr>
              <a:buNone/>
            </a:pPr>
            <a:r>
              <a:rPr lang="pt-BR" dirty="0" smtClean="0"/>
              <a:t>2- qual é a </a:t>
            </a:r>
            <a:r>
              <a:rPr lang="pt-BR" dirty="0" err="1" smtClean="0"/>
              <a:t>luminância</a:t>
            </a:r>
            <a:r>
              <a:rPr lang="pt-BR" dirty="0" smtClean="0"/>
              <a:t>?</a:t>
            </a:r>
          </a:p>
          <a:p>
            <a:pPr>
              <a:buNone/>
            </a:pPr>
            <a:r>
              <a:rPr lang="pt-BR" dirty="0" smtClean="0"/>
              <a:t>      (a)alta            (b) baixa</a:t>
            </a:r>
          </a:p>
          <a:p>
            <a:endParaRPr lang="pt-BR" dirty="0"/>
          </a:p>
        </p:txBody>
      </p:sp>
      <p:sp>
        <p:nvSpPr>
          <p:cNvPr id="4" name="Elipse 3"/>
          <p:cNvSpPr/>
          <p:nvPr/>
        </p:nvSpPr>
        <p:spPr>
          <a:xfrm>
            <a:off x="1258888" y="3270263"/>
            <a:ext cx="1368425" cy="50482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Elipse 4"/>
          <p:cNvSpPr/>
          <p:nvPr/>
        </p:nvSpPr>
        <p:spPr>
          <a:xfrm>
            <a:off x="3500430" y="4781564"/>
            <a:ext cx="1657350" cy="576262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Cores </a:t>
            </a:r>
            <a:r>
              <a:rPr lang="en-US" dirty="0" err="1"/>
              <a:t>primárias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As cores primárias são:</a:t>
            </a:r>
          </a:p>
          <a:p>
            <a:pPr lvl="1"/>
            <a:r>
              <a:rPr lang="pt-BR" dirty="0" smtClean="0"/>
              <a:t>Vermelho </a:t>
            </a:r>
            <a:r>
              <a:rPr lang="pt-BR" dirty="0"/>
              <a:t>(</a:t>
            </a:r>
            <a:r>
              <a:rPr lang="pt-BR" dirty="0" err="1"/>
              <a:t>red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Verde (</a:t>
            </a:r>
            <a:r>
              <a:rPr lang="pt-BR" dirty="0" err="1"/>
              <a:t>green</a:t>
            </a:r>
            <a:r>
              <a:rPr lang="pt-BR" dirty="0"/>
              <a:t>)</a:t>
            </a:r>
          </a:p>
          <a:p>
            <a:pPr lvl="1"/>
            <a:r>
              <a:rPr lang="pt-BR" dirty="0"/>
              <a:t>Azul (blue</a:t>
            </a:r>
            <a:r>
              <a:rPr lang="pt-BR" dirty="0" smtClean="0"/>
              <a:t>)</a:t>
            </a:r>
          </a:p>
          <a:p>
            <a:r>
              <a:rPr lang="pt-BR" dirty="0"/>
              <a:t>A partir destas cores pode se obter todas as outras cores</a:t>
            </a:r>
            <a:r>
              <a:rPr lang="pt-BR" dirty="0" smtClean="0"/>
              <a:t>.</a:t>
            </a:r>
          </a:p>
          <a:p>
            <a:pPr lvl="1"/>
            <a:r>
              <a:rPr lang="pt-BR" dirty="0"/>
              <a:t>Por quê estas cores foram escolhidas como cores primárias</a:t>
            </a:r>
            <a:r>
              <a:rPr lang="pt-BR" dirty="0" smtClean="0"/>
              <a:t>?</a:t>
            </a:r>
            <a:endParaRPr lang="pt-BR" dirty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33307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Cores </a:t>
            </a:r>
            <a:r>
              <a:rPr lang="en-US" dirty="0" err="1"/>
              <a:t>primárias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Há células no nosso olho que são responsáveis pela sensação de cor;</a:t>
            </a:r>
          </a:p>
          <a:p>
            <a:pPr lvl="1"/>
            <a:r>
              <a:rPr lang="pt-BR" dirty="0" smtClean="0"/>
              <a:t>Experimentos </a:t>
            </a:r>
            <a:r>
              <a:rPr lang="pt-BR" dirty="0"/>
              <a:t>mostram que os 6 a 7 milhões de cones no olho humano podem ser divididos em três principais categorias de </a:t>
            </a:r>
            <a:r>
              <a:rPr lang="pt-BR" dirty="0" smtClean="0"/>
              <a:t>sensores:</a:t>
            </a:r>
          </a:p>
          <a:p>
            <a:pPr lvl="2"/>
            <a:r>
              <a:rPr lang="pt-BR" dirty="0" smtClean="0"/>
              <a:t>Vermelho </a:t>
            </a:r>
            <a:r>
              <a:rPr lang="pt-BR" dirty="0"/>
              <a:t>(65% de todos os cones são sensíveis ao </a:t>
            </a:r>
            <a:r>
              <a:rPr lang="pt-BR" dirty="0" smtClean="0"/>
              <a:t>vermelho)</a:t>
            </a:r>
          </a:p>
          <a:p>
            <a:pPr lvl="2"/>
            <a:r>
              <a:rPr lang="pt-BR" dirty="0" smtClean="0"/>
              <a:t>Verde </a:t>
            </a:r>
            <a:r>
              <a:rPr lang="pt-BR" dirty="0"/>
              <a:t>(33%)  </a:t>
            </a:r>
            <a:endParaRPr lang="pt-BR" dirty="0" smtClean="0"/>
          </a:p>
          <a:p>
            <a:pPr lvl="2"/>
            <a:r>
              <a:rPr lang="pt-BR" dirty="0" smtClean="0"/>
              <a:t>Azul </a:t>
            </a:r>
            <a:r>
              <a:rPr lang="pt-BR" dirty="0"/>
              <a:t>(2% </a:t>
            </a:r>
            <a:r>
              <a:rPr lang="pt-BR" dirty="0" smtClean="0"/>
              <a:t>)</a:t>
            </a:r>
          </a:p>
          <a:p>
            <a:pPr lvl="1"/>
            <a:r>
              <a:rPr lang="pt-BR" dirty="0" smtClean="0"/>
              <a:t>Assumimos </a:t>
            </a:r>
            <a:r>
              <a:rPr lang="pt-BR" dirty="0"/>
              <a:t>que a partir da combinação das cores primárias em proporções adequadas é possível gerar todas as outras cores</a:t>
            </a:r>
          </a:p>
          <a:p>
            <a:pPr marL="0" indent="0">
              <a:buNone/>
            </a:pPr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6580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Cores </a:t>
            </a:r>
            <a:r>
              <a:rPr lang="en-US" dirty="0" err="1"/>
              <a:t>primárias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247384" cy="4997152"/>
          </a:xfrm>
        </p:spPr>
        <p:txBody>
          <a:bodyPr>
            <a:normAutofit fontScale="70000" lnSpcReduction="20000"/>
          </a:bodyPr>
          <a:lstStyle/>
          <a:p>
            <a:r>
              <a:rPr lang="pt-BR" dirty="0"/>
              <a:t>A CIE </a:t>
            </a:r>
            <a:r>
              <a:rPr lang="pt-BR" dirty="0" smtClean="0"/>
              <a:t>(</a:t>
            </a:r>
            <a:r>
              <a:rPr lang="pt-BR" i="1" dirty="0" err="1" smtClean="0"/>
              <a:t>International</a:t>
            </a:r>
            <a:r>
              <a:rPr lang="pt-BR" i="1" dirty="0" smtClean="0"/>
              <a:t> </a:t>
            </a:r>
            <a:r>
              <a:rPr lang="pt-BR" i="1" dirty="0" err="1"/>
              <a:t>Comission</a:t>
            </a:r>
            <a:r>
              <a:rPr lang="pt-BR" i="1" dirty="0"/>
              <a:t> </a:t>
            </a:r>
            <a:r>
              <a:rPr lang="pt-BR" i="1" dirty="0" err="1"/>
              <a:t>of</a:t>
            </a:r>
            <a:r>
              <a:rPr lang="pt-BR" i="1" dirty="0"/>
              <a:t> </a:t>
            </a:r>
            <a:r>
              <a:rPr lang="pt-BR" i="1" dirty="0" err="1" smtClean="0"/>
              <a:t>Illumination</a:t>
            </a:r>
            <a:r>
              <a:rPr lang="pt-BR" dirty="0" smtClean="0"/>
              <a:t>) recomendou</a:t>
            </a:r>
            <a:r>
              <a:rPr lang="pt-BR" dirty="0"/>
              <a:t>, em 1931, três comprimentos de onda para cada cor primária </a:t>
            </a:r>
            <a:endParaRPr lang="pt-BR" dirty="0" smtClean="0"/>
          </a:p>
          <a:p>
            <a:pPr lvl="1"/>
            <a:r>
              <a:rPr lang="pt-BR" dirty="0" smtClean="0"/>
              <a:t>R = 700,0 </a:t>
            </a:r>
            <a:r>
              <a:rPr lang="pt-BR" dirty="0" err="1" smtClean="0"/>
              <a:t>nm</a:t>
            </a:r>
            <a:r>
              <a:rPr lang="pt-BR" dirty="0" smtClean="0"/>
              <a:t> </a:t>
            </a:r>
          </a:p>
          <a:p>
            <a:pPr lvl="1"/>
            <a:r>
              <a:rPr lang="pt-BR" dirty="0" smtClean="0"/>
              <a:t>G = 546,1 </a:t>
            </a:r>
            <a:r>
              <a:rPr lang="pt-BR" dirty="0" err="1" smtClean="0"/>
              <a:t>nm</a:t>
            </a:r>
            <a:r>
              <a:rPr lang="pt-BR" dirty="0" smtClean="0"/>
              <a:t> </a:t>
            </a:r>
          </a:p>
          <a:p>
            <a:pPr lvl="1"/>
            <a:r>
              <a:rPr lang="pt-BR" dirty="0" smtClean="0"/>
              <a:t>B </a:t>
            </a:r>
            <a:r>
              <a:rPr lang="pt-BR" dirty="0"/>
              <a:t>= </a:t>
            </a:r>
            <a:r>
              <a:rPr lang="pt-BR" dirty="0" smtClean="0"/>
              <a:t>435,8 </a:t>
            </a:r>
            <a:r>
              <a:rPr lang="pt-BR" dirty="0" err="1" smtClean="0"/>
              <a:t>nm</a:t>
            </a:r>
            <a:endParaRPr lang="pt-BR" dirty="0" smtClean="0"/>
          </a:p>
          <a:p>
            <a:r>
              <a:rPr lang="pt-BR" dirty="0" smtClean="0"/>
              <a:t>Outros </a:t>
            </a:r>
            <a:r>
              <a:rPr lang="pt-BR" dirty="0"/>
              <a:t>resultados foram obtidos experimentalmente:</a:t>
            </a:r>
          </a:p>
          <a:p>
            <a:pPr lvl="1"/>
            <a:r>
              <a:rPr lang="pt-BR" dirty="0" smtClean="0"/>
              <a:t>R = 575 </a:t>
            </a:r>
            <a:r>
              <a:rPr lang="pt-BR" dirty="0" err="1"/>
              <a:t>nm</a:t>
            </a:r>
            <a:endParaRPr lang="pt-BR" dirty="0"/>
          </a:p>
          <a:p>
            <a:pPr lvl="1"/>
            <a:r>
              <a:rPr lang="pt-BR" dirty="0" smtClean="0"/>
              <a:t>G = 535 </a:t>
            </a:r>
            <a:r>
              <a:rPr lang="pt-BR" dirty="0" err="1"/>
              <a:t>nm</a:t>
            </a:r>
            <a:endParaRPr lang="pt-BR" dirty="0"/>
          </a:p>
          <a:p>
            <a:pPr lvl="1"/>
            <a:r>
              <a:rPr lang="pt-BR" dirty="0" smtClean="0"/>
              <a:t>B = </a:t>
            </a:r>
            <a:r>
              <a:rPr lang="pt-BR" dirty="0"/>
              <a:t>445 </a:t>
            </a:r>
            <a:r>
              <a:rPr lang="pt-BR" dirty="0" err="1" smtClean="0"/>
              <a:t>nm</a:t>
            </a:r>
            <a:endParaRPr lang="pt-BR" dirty="0" smtClean="0"/>
          </a:p>
          <a:p>
            <a:r>
              <a:rPr lang="pt-BR" dirty="0"/>
              <a:t>De acordo com os experimentos não há um comprimento de onda para R, G ou B</a:t>
            </a:r>
            <a:r>
              <a:rPr lang="pt-BR" dirty="0" smtClean="0"/>
              <a:t>, mas </a:t>
            </a:r>
            <a:r>
              <a:rPr lang="pt-BR" dirty="0"/>
              <a:t>sim  bandas de comprimentos de onda que dão a sensação de R, </a:t>
            </a:r>
            <a:r>
              <a:rPr lang="pt-BR" dirty="0" smtClean="0"/>
              <a:t>G e </a:t>
            </a:r>
            <a:r>
              <a:rPr lang="pt-BR" dirty="0"/>
              <a:t>B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  <a:p>
            <a:endParaRPr lang="en-US" dirty="0"/>
          </a:p>
        </p:txBody>
      </p:sp>
      <p:pic>
        <p:nvPicPr>
          <p:cNvPr id="4" name="Picture 4" descr="http://upload.wikimedia.org/wikipedia/commons/thumb/0/04/Cone-fundamentals-with-srgb-spectrum.svg/287px-Cone-fundamentals-with-srgb-spectrum.sv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9521" y="2060848"/>
            <a:ext cx="4434738" cy="3120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142090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Cores </a:t>
            </a:r>
            <a:r>
              <a:rPr lang="en-US" dirty="0" err="1"/>
              <a:t>primárias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175376" cy="4925144"/>
          </a:xfrm>
        </p:spPr>
        <p:txBody>
          <a:bodyPr>
            <a:normAutofit fontScale="92500"/>
          </a:bodyPr>
          <a:lstStyle/>
          <a:p>
            <a:r>
              <a:rPr lang="pt-BR" dirty="0" smtClean="0"/>
              <a:t>Os </a:t>
            </a:r>
            <a:r>
              <a:rPr lang="pt-BR" dirty="0"/>
              <a:t>intervalos de sensibilidade se sobrepõem para permitir a percepção de todo o espectro visível </a:t>
            </a:r>
            <a:endParaRPr lang="pt-BR" dirty="0" smtClean="0"/>
          </a:p>
          <a:p>
            <a:r>
              <a:rPr lang="pt-BR" dirty="0"/>
              <a:t>É importante notar que não é possível gerar todas as cores </a:t>
            </a:r>
            <a:r>
              <a:rPr lang="pt-BR" dirty="0" smtClean="0"/>
              <a:t>visíveis </a:t>
            </a:r>
            <a:r>
              <a:rPr lang="pt-BR" dirty="0"/>
              <a:t>a partir das três componentes RGB </a:t>
            </a:r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en-US" dirty="0"/>
          </a:p>
        </p:txBody>
      </p:sp>
      <p:pic>
        <p:nvPicPr>
          <p:cNvPr id="4" name="Picture 4" descr="http://upload.wikimedia.org/wikipedia/commons/thumb/0/04/Cone-fundamentals-with-srgb-spectrum.svg/287px-Cone-fundamentals-with-srgb-spectrum.svg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79521" y="2060848"/>
            <a:ext cx="4434738" cy="31204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269270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Cores </a:t>
            </a:r>
            <a:r>
              <a:rPr lang="en-US" dirty="0" err="1"/>
              <a:t>primárias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2260426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/>
              <a:t>A </a:t>
            </a:r>
            <a:r>
              <a:rPr lang="pt-BR" dirty="0"/>
              <a:t>curva abaixo representa uma média das três curvas de resposta espectral do olho humano. </a:t>
            </a:r>
          </a:p>
          <a:p>
            <a:pPr lvl="1"/>
            <a:r>
              <a:rPr lang="pt-BR" dirty="0"/>
              <a:t>Observa-se que a função assume valor máximo igual a 1 em λ = </a:t>
            </a:r>
            <a:r>
              <a:rPr lang="pt-BR" dirty="0" smtClean="0"/>
              <a:t>555nm</a:t>
            </a:r>
          </a:p>
          <a:p>
            <a:pPr lvl="1"/>
            <a:r>
              <a:rPr lang="pt-BR" dirty="0"/>
              <a:t>O</a:t>
            </a:r>
            <a:r>
              <a:rPr lang="pt-BR" dirty="0" smtClean="0"/>
              <a:t> </a:t>
            </a:r>
            <a:r>
              <a:rPr lang="pt-BR" dirty="0"/>
              <a:t>olho humano é mais sensível para luz </a:t>
            </a:r>
            <a:r>
              <a:rPr lang="pt-BR" dirty="0" err="1"/>
              <a:t>verde-amarelada</a:t>
            </a:r>
            <a:r>
              <a:rPr lang="pt-BR" dirty="0"/>
              <a:t>.</a:t>
            </a:r>
          </a:p>
          <a:p>
            <a:endParaRPr lang="pt-BR" dirty="0"/>
          </a:p>
          <a:p>
            <a:endParaRPr lang="pt-BR" dirty="0"/>
          </a:p>
          <a:p>
            <a:endParaRPr lang="en-US" dirty="0"/>
          </a:p>
        </p:txBody>
      </p:sp>
      <p:pic>
        <p:nvPicPr>
          <p:cNvPr id="4" name="Picture 2" descr="http://upload.wikimedia.org/wikipedia/commons/thumb/7/72/CIE_1931_Luminosity.png/220px-CIE_1931_Luminosity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3964" y="3860626"/>
            <a:ext cx="3935412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Picture 4" descr="http://upload.wikimedia.org/wikipedia/commons/thumb/0/04/Cone-fundamentals-with-srgb-spectrum.svg/287px-Cone-fundamentals-with-srgb-spectrum.svg.pn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787651" y="3933651"/>
            <a:ext cx="3960813" cy="278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110538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da cor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5831560" cy="4495800"/>
          </a:xfrm>
        </p:spPr>
        <p:txBody>
          <a:bodyPr>
            <a:normAutofit/>
          </a:bodyPr>
          <a:lstStyle/>
          <a:p>
            <a:r>
              <a:rPr lang="pt-BR" dirty="0"/>
              <a:t>Processo aditivo</a:t>
            </a:r>
          </a:p>
          <a:p>
            <a:pPr lvl="1"/>
            <a:r>
              <a:rPr lang="pt-BR" dirty="0" smtClean="0"/>
              <a:t>As </a:t>
            </a:r>
            <a:r>
              <a:rPr lang="pt-BR" dirty="0"/>
              <a:t>cores primárias são somadas para produzir as cores secundárias de luz:</a:t>
            </a:r>
          </a:p>
          <a:p>
            <a:pPr lvl="2"/>
            <a:r>
              <a:rPr lang="pt-BR" dirty="0" smtClean="0"/>
              <a:t>magenta = azul + </a:t>
            </a:r>
            <a:r>
              <a:rPr lang="pt-BR" dirty="0"/>
              <a:t>vermelho, </a:t>
            </a:r>
          </a:p>
          <a:p>
            <a:pPr lvl="2"/>
            <a:r>
              <a:rPr lang="pt-BR" dirty="0" smtClean="0"/>
              <a:t>ciano =  </a:t>
            </a:r>
            <a:r>
              <a:rPr lang="pt-BR" dirty="0"/>
              <a:t>verde + </a:t>
            </a:r>
            <a:r>
              <a:rPr lang="pt-BR" dirty="0" smtClean="0"/>
              <a:t>azul</a:t>
            </a:r>
          </a:p>
          <a:p>
            <a:pPr lvl="2"/>
            <a:r>
              <a:rPr lang="pt-BR" dirty="0" smtClean="0"/>
              <a:t>amarelo = vermelho + </a:t>
            </a:r>
            <a:r>
              <a:rPr lang="pt-BR" dirty="0"/>
              <a:t>verde</a:t>
            </a:r>
          </a:p>
          <a:p>
            <a:endParaRPr lang="pt-BR" dirty="0"/>
          </a:p>
        </p:txBody>
      </p:sp>
      <p:pic>
        <p:nvPicPr>
          <p:cNvPr id="4" name="Imagem 3" descr="wc_additive_color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96136" y="3501008"/>
            <a:ext cx="3014663" cy="263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Estrela de 7 Pontos 4"/>
          <p:cNvSpPr/>
          <p:nvPr/>
        </p:nvSpPr>
        <p:spPr>
          <a:xfrm>
            <a:off x="1259632" y="4852226"/>
            <a:ext cx="4103687" cy="1439862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600" dirty="0">
                <a:solidFill>
                  <a:schemeClr val="bg1"/>
                </a:solidFill>
              </a:rPr>
              <a:t>magenta, ciano e amarelo são cores secundárias da luz 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da cor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7991602" cy="2404864"/>
          </a:xfrm>
        </p:spPr>
        <p:txBody>
          <a:bodyPr>
            <a:normAutofit fontScale="77500" lnSpcReduction="20000"/>
          </a:bodyPr>
          <a:lstStyle/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pt-BR" dirty="0"/>
              <a:t>Modelo Subtrativo</a:t>
            </a:r>
          </a:p>
          <a:p>
            <a:pPr lvl="1"/>
            <a:r>
              <a:rPr lang="pt-BR" dirty="0" smtClean="0"/>
              <a:t>Processo </a:t>
            </a:r>
            <a:r>
              <a:rPr lang="pt-BR" dirty="0"/>
              <a:t>de pigmentação ou coloração</a:t>
            </a:r>
          </a:p>
          <a:p>
            <a:pPr lvl="1"/>
            <a:r>
              <a:rPr lang="pt-BR" dirty="0" smtClean="0"/>
              <a:t>Partículas </a:t>
            </a:r>
            <a:r>
              <a:rPr lang="pt-BR" dirty="0"/>
              <a:t>chamadas pigmentos absorvem ou subtraem uma cor primária da luz e reflete ou transmite as outras duas:</a:t>
            </a:r>
          </a:p>
          <a:p>
            <a:pPr lvl="2"/>
            <a:r>
              <a:rPr lang="pt-BR" dirty="0" smtClean="0"/>
              <a:t>magenta </a:t>
            </a:r>
            <a:r>
              <a:rPr lang="pt-BR" dirty="0"/>
              <a:t>= absorve o verde e reflete azul e vermelho</a:t>
            </a:r>
          </a:p>
          <a:p>
            <a:pPr lvl="2"/>
            <a:r>
              <a:rPr lang="pt-BR" dirty="0" smtClean="0"/>
              <a:t>amarelo </a:t>
            </a:r>
            <a:r>
              <a:rPr lang="pt-BR" dirty="0"/>
              <a:t>= absorve o azul e reflete verde e vermelho</a:t>
            </a:r>
          </a:p>
          <a:p>
            <a:pPr lvl="2"/>
            <a:r>
              <a:rPr lang="pt-BR" dirty="0" smtClean="0"/>
              <a:t>ciano = </a:t>
            </a:r>
            <a:r>
              <a:rPr lang="pt-BR" dirty="0"/>
              <a:t>absorve o vermelho e reflete azul e </a:t>
            </a:r>
            <a:r>
              <a:rPr lang="pt-BR" dirty="0" smtClean="0"/>
              <a:t>verde</a:t>
            </a:r>
            <a:endParaRPr lang="pt-BR" dirty="0"/>
          </a:p>
          <a:p>
            <a:endParaRPr lang="pt-BR" dirty="0"/>
          </a:p>
        </p:txBody>
      </p:sp>
      <p:pic>
        <p:nvPicPr>
          <p:cNvPr id="5" name="Imagem 4" descr="wc_subtractive_colors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27584" y="4221088"/>
            <a:ext cx="3744912" cy="243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Estrela de 7 Pontos 5"/>
          <p:cNvSpPr/>
          <p:nvPr/>
        </p:nvSpPr>
        <p:spPr>
          <a:xfrm>
            <a:off x="5364163" y="4652963"/>
            <a:ext cx="3455987" cy="1871662"/>
          </a:xfrm>
          <a:prstGeom prst="star7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600" dirty="0"/>
              <a:t>magenta, </a:t>
            </a:r>
            <a:r>
              <a:rPr lang="pt-BR" sz="1600" dirty="0" smtClean="0"/>
              <a:t>ciano e </a:t>
            </a:r>
            <a:r>
              <a:rPr lang="pt-BR" sz="1600" dirty="0"/>
              <a:t>amarelo são cores primária do pigmento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13569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8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pt-BR" dirty="0" smtClean="0"/>
              <a:t>Modelo Subtrativo</a:t>
            </a:r>
            <a:endParaRPr lang="pt-BR" dirty="0"/>
          </a:p>
        </p:txBody>
      </p:sp>
      <p:sp>
        <p:nvSpPr>
          <p:cNvPr id="4" name="Seta para a direita 3"/>
          <p:cNvSpPr/>
          <p:nvPr/>
        </p:nvSpPr>
        <p:spPr>
          <a:xfrm rot="19800000">
            <a:off x="1042988" y="2687282"/>
            <a:ext cx="1512887" cy="2873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5" name="Seta para a direita 4"/>
          <p:cNvSpPr/>
          <p:nvPr/>
        </p:nvSpPr>
        <p:spPr>
          <a:xfrm rot="19800000">
            <a:off x="1042988" y="3192107"/>
            <a:ext cx="1512887" cy="288925"/>
          </a:xfrm>
          <a:prstGeom prst="rightArrow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6" name="Seta para a direita 5"/>
          <p:cNvSpPr/>
          <p:nvPr/>
        </p:nvSpPr>
        <p:spPr>
          <a:xfrm rot="19800000">
            <a:off x="1042988" y="3696932"/>
            <a:ext cx="1512887" cy="288925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7" name="Retângulo 6"/>
          <p:cNvSpPr/>
          <p:nvPr/>
        </p:nvSpPr>
        <p:spPr>
          <a:xfrm>
            <a:off x="2460625" y="2039582"/>
            <a:ext cx="392113" cy="1908175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9" name="Seta para a direita 8"/>
          <p:cNvSpPr/>
          <p:nvPr/>
        </p:nvSpPr>
        <p:spPr>
          <a:xfrm rot="12600000">
            <a:off x="1027113" y="2334857"/>
            <a:ext cx="1511300" cy="288925"/>
          </a:xfrm>
          <a:prstGeom prst="rightArrow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0" name="Seta para a direita 9"/>
          <p:cNvSpPr/>
          <p:nvPr/>
        </p:nvSpPr>
        <p:spPr>
          <a:xfrm rot="12600000">
            <a:off x="1027113" y="2865082"/>
            <a:ext cx="1511300" cy="287337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2" name="Seta para a direita 11"/>
          <p:cNvSpPr/>
          <p:nvPr/>
        </p:nvSpPr>
        <p:spPr>
          <a:xfrm rot="19800000">
            <a:off x="3443288" y="2687282"/>
            <a:ext cx="1511300" cy="2873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3" name="Seta para a direita 12"/>
          <p:cNvSpPr/>
          <p:nvPr/>
        </p:nvSpPr>
        <p:spPr>
          <a:xfrm rot="19800000">
            <a:off x="3443288" y="3192107"/>
            <a:ext cx="1511300" cy="288925"/>
          </a:xfrm>
          <a:prstGeom prst="rightArrow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4" name="Seta para a direita 13"/>
          <p:cNvSpPr/>
          <p:nvPr/>
        </p:nvSpPr>
        <p:spPr>
          <a:xfrm rot="19800000">
            <a:off x="3443288" y="3696932"/>
            <a:ext cx="1511300" cy="288925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5" name="Retângulo 14"/>
          <p:cNvSpPr/>
          <p:nvPr/>
        </p:nvSpPr>
        <p:spPr>
          <a:xfrm>
            <a:off x="4859338" y="2039582"/>
            <a:ext cx="393700" cy="1908175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7" name="Seta para a direita 16"/>
          <p:cNvSpPr/>
          <p:nvPr/>
        </p:nvSpPr>
        <p:spPr>
          <a:xfrm rot="12600000">
            <a:off x="3425825" y="2865082"/>
            <a:ext cx="1512888" cy="287337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8" name="Seta para a direita 17"/>
          <p:cNvSpPr/>
          <p:nvPr/>
        </p:nvSpPr>
        <p:spPr>
          <a:xfrm rot="12600000">
            <a:off x="3425825" y="1826857"/>
            <a:ext cx="1512888" cy="2873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19" name="Seta para a direita 18"/>
          <p:cNvSpPr/>
          <p:nvPr/>
        </p:nvSpPr>
        <p:spPr>
          <a:xfrm rot="19800000">
            <a:off x="5819775" y="2676169"/>
            <a:ext cx="1511300" cy="28733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0" name="Seta para a direita 19"/>
          <p:cNvSpPr/>
          <p:nvPr/>
        </p:nvSpPr>
        <p:spPr>
          <a:xfrm rot="19800000">
            <a:off x="5819775" y="3180994"/>
            <a:ext cx="1511300" cy="288925"/>
          </a:xfrm>
          <a:prstGeom prst="rightArrow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1" name="Seta para a direita 20"/>
          <p:cNvSpPr/>
          <p:nvPr/>
        </p:nvSpPr>
        <p:spPr>
          <a:xfrm rot="19800000">
            <a:off x="5819775" y="3687407"/>
            <a:ext cx="1511300" cy="287337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2" name="Retângulo 21"/>
          <p:cNvSpPr/>
          <p:nvPr/>
        </p:nvSpPr>
        <p:spPr>
          <a:xfrm>
            <a:off x="7235825" y="2028469"/>
            <a:ext cx="393700" cy="1909763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3" name="Seta para a direita 22"/>
          <p:cNvSpPr/>
          <p:nvPr/>
        </p:nvSpPr>
        <p:spPr>
          <a:xfrm rot="12600000">
            <a:off x="5802313" y="2323744"/>
            <a:ext cx="1512887" cy="288925"/>
          </a:xfrm>
          <a:prstGeom prst="rightArrow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5" name="Seta para a direita 24"/>
          <p:cNvSpPr/>
          <p:nvPr/>
        </p:nvSpPr>
        <p:spPr>
          <a:xfrm rot="12600000">
            <a:off x="5802313" y="1815744"/>
            <a:ext cx="1511300" cy="287338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6" name="Seta para a direita 25"/>
          <p:cNvSpPr/>
          <p:nvPr/>
        </p:nvSpPr>
        <p:spPr>
          <a:xfrm>
            <a:off x="3203575" y="5265382"/>
            <a:ext cx="1512888" cy="287337"/>
          </a:xfrm>
          <a:prstGeom prst="right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9" name="Retângulo 28"/>
          <p:cNvSpPr/>
          <p:nvPr/>
        </p:nvSpPr>
        <p:spPr>
          <a:xfrm>
            <a:off x="4859338" y="4906607"/>
            <a:ext cx="393700" cy="1908175"/>
          </a:xfrm>
          <a:prstGeom prst="rect">
            <a:avLst/>
          </a:prstGeom>
          <a:solidFill>
            <a:srgbClr val="00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3" name="Retângulo 32"/>
          <p:cNvSpPr/>
          <p:nvPr/>
        </p:nvSpPr>
        <p:spPr>
          <a:xfrm>
            <a:off x="5461000" y="4893907"/>
            <a:ext cx="392113" cy="1909762"/>
          </a:xfrm>
          <a:prstGeom prst="rect">
            <a:avLst/>
          </a:prstGeom>
          <a:solidFill>
            <a:srgbClr val="FF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34" name="Retângulo 33"/>
          <p:cNvSpPr/>
          <p:nvPr/>
        </p:nvSpPr>
        <p:spPr>
          <a:xfrm>
            <a:off x="6011863" y="4893907"/>
            <a:ext cx="393700" cy="1909762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8697" name="CaixaDeTexto 34"/>
          <p:cNvSpPr txBox="1">
            <a:spLocks noChangeArrowheads="1"/>
          </p:cNvSpPr>
          <p:nvPr/>
        </p:nvSpPr>
        <p:spPr bwMode="auto">
          <a:xfrm>
            <a:off x="4716463" y="4489094"/>
            <a:ext cx="2522537" cy="368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pt-BR"/>
              <a:t>Três cores misturadas</a:t>
            </a:r>
          </a:p>
        </p:txBody>
      </p:sp>
      <p:sp>
        <p:nvSpPr>
          <p:cNvPr id="28698" name="CaixaDeTexto 35"/>
          <p:cNvSpPr txBox="1">
            <a:spLocks noChangeArrowheads="1"/>
          </p:cNvSpPr>
          <p:nvPr/>
        </p:nvSpPr>
        <p:spPr bwMode="auto">
          <a:xfrm>
            <a:off x="6804025" y="5265382"/>
            <a:ext cx="208915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pt-BR" dirty="0"/>
              <a:t>Todas as cores são absolvidas, ficando tudo preto</a:t>
            </a:r>
          </a:p>
        </p:txBody>
      </p:sp>
      <p:sp>
        <p:nvSpPr>
          <p:cNvPr id="27" name="Seta para a direita 26"/>
          <p:cNvSpPr/>
          <p:nvPr/>
        </p:nvSpPr>
        <p:spPr>
          <a:xfrm>
            <a:off x="3203575" y="5770207"/>
            <a:ext cx="2232025" cy="288925"/>
          </a:xfrm>
          <a:prstGeom prst="rightArrow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  <p:sp>
        <p:nvSpPr>
          <p:cNvPr id="28" name="Seta para a direita 27"/>
          <p:cNvSpPr/>
          <p:nvPr/>
        </p:nvSpPr>
        <p:spPr>
          <a:xfrm>
            <a:off x="3203575" y="6276619"/>
            <a:ext cx="2808288" cy="287338"/>
          </a:xfrm>
          <a:prstGeom prst="rightArrow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da cor</a:t>
            </a:r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06503" y="1657176"/>
            <a:ext cx="5265737" cy="515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" name="Imagem 4" descr="wc_07roda de cores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3528" y="2162001"/>
            <a:ext cx="3240087" cy="3367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aixaDeTexto 5"/>
          <p:cNvSpPr txBox="1">
            <a:spLocks noChangeArrowheads="1"/>
          </p:cNvSpPr>
          <p:nvPr/>
        </p:nvSpPr>
        <p:spPr bwMode="auto">
          <a:xfrm>
            <a:off x="467990" y="6049788"/>
            <a:ext cx="29527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Roda de cores </a:t>
            </a:r>
          </a:p>
        </p:txBody>
      </p:sp>
    </p:spTree>
    <p:extLst>
      <p:ext uri="{BB962C8B-B14F-4D97-AF65-F5344CB8AC3E}">
        <p14:creationId xmlns:p14="http://schemas.microsoft.com/office/powerpoint/2010/main" val="1895676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Daltonismo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Qual número você vê?</a:t>
            </a:r>
          </a:p>
          <a:p>
            <a:pPr lvl="1"/>
            <a:r>
              <a:rPr lang="en-US" dirty="0" err="1" smtClean="0"/>
              <a:t>correto</a:t>
            </a:r>
            <a:r>
              <a:rPr lang="en-US" dirty="0"/>
              <a:t>: </a:t>
            </a:r>
            <a:r>
              <a:rPr lang="en-US" dirty="0" smtClean="0"/>
              <a:t>74</a:t>
            </a:r>
          </a:p>
          <a:p>
            <a:pPr lvl="1"/>
            <a:r>
              <a:rPr lang="en-US" dirty="0" err="1" smtClean="0"/>
              <a:t>daltônico</a:t>
            </a:r>
            <a:r>
              <a:rPr lang="en-US" dirty="0"/>
              <a:t>: 21</a:t>
            </a:r>
          </a:p>
          <a:p>
            <a:endParaRPr lang="en-US" dirty="0"/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563888" y="2708920"/>
            <a:ext cx="3551238" cy="3132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05884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da cor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 cor formada em termos da quantidade de R, G e B é utilizada em dispositivos de entrada e saída: </a:t>
            </a:r>
            <a:endParaRPr lang="pt-BR" dirty="0" smtClean="0"/>
          </a:p>
          <a:p>
            <a:pPr lvl="1"/>
            <a:r>
              <a:rPr lang="pt-BR" dirty="0" smtClean="0"/>
              <a:t>scanner, monitor</a:t>
            </a:r>
            <a:r>
              <a:rPr lang="pt-BR" dirty="0"/>
              <a:t>, </a:t>
            </a:r>
            <a:r>
              <a:rPr lang="pt-BR" dirty="0" smtClean="0"/>
              <a:t>câmeras </a:t>
            </a:r>
            <a:r>
              <a:rPr lang="pt-BR" dirty="0"/>
              <a:t>de </a:t>
            </a:r>
            <a:r>
              <a:rPr lang="pt-BR" dirty="0" smtClean="0"/>
              <a:t>vídeo</a:t>
            </a:r>
            <a:r>
              <a:rPr lang="pt-BR" dirty="0"/>
              <a:t>;</a:t>
            </a:r>
          </a:p>
          <a:p>
            <a:endParaRPr lang="pt-BR" dirty="0"/>
          </a:p>
          <a:p>
            <a:r>
              <a:rPr lang="pt-BR" dirty="0"/>
              <a:t>Nós não percebemos a cor em termos da quantidade de R, G e B que cada cor possui;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4834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da cor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/>
              <a:t>As características que percebemos são: </a:t>
            </a:r>
            <a:endParaRPr lang="pt-BR" dirty="0" smtClean="0"/>
          </a:p>
          <a:p>
            <a:pPr lvl="1"/>
            <a:r>
              <a:rPr lang="pt-BR" dirty="0" smtClean="0"/>
              <a:t>Brilho</a:t>
            </a:r>
          </a:p>
          <a:p>
            <a:pPr lvl="2"/>
            <a:r>
              <a:rPr lang="pt-BR" dirty="0" smtClean="0"/>
              <a:t>Intensidade </a:t>
            </a:r>
            <a:r>
              <a:rPr lang="pt-BR" dirty="0"/>
              <a:t>da luz</a:t>
            </a:r>
          </a:p>
          <a:p>
            <a:pPr lvl="1"/>
            <a:r>
              <a:rPr lang="pt-BR" dirty="0" smtClean="0"/>
              <a:t>Tonalidade ou </a:t>
            </a:r>
            <a:r>
              <a:rPr lang="pt-BR" dirty="0"/>
              <a:t>Matiz (</a:t>
            </a:r>
            <a:r>
              <a:rPr lang="pt-BR" dirty="0" err="1"/>
              <a:t>Hue</a:t>
            </a:r>
            <a:r>
              <a:rPr lang="pt-BR" dirty="0" smtClean="0"/>
              <a:t>)</a:t>
            </a:r>
          </a:p>
          <a:p>
            <a:pPr lvl="2"/>
            <a:r>
              <a:rPr lang="pt-BR" dirty="0" smtClean="0"/>
              <a:t>É </a:t>
            </a:r>
            <a:r>
              <a:rPr lang="pt-BR" dirty="0"/>
              <a:t>o comprimento da onda dominante (cor dominante percebida pelo observador)</a:t>
            </a:r>
          </a:p>
          <a:p>
            <a:pPr lvl="1"/>
            <a:r>
              <a:rPr lang="pt-BR" dirty="0" smtClean="0"/>
              <a:t>Saturação </a:t>
            </a:r>
            <a:r>
              <a:rPr lang="pt-BR" dirty="0"/>
              <a:t>ou </a:t>
            </a:r>
            <a:r>
              <a:rPr lang="pt-BR" dirty="0" smtClean="0"/>
              <a:t>pureza</a:t>
            </a:r>
          </a:p>
          <a:p>
            <a:pPr lvl="2"/>
            <a:r>
              <a:rPr lang="pt-BR" dirty="0" smtClean="0"/>
              <a:t>Corresponde </a:t>
            </a:r>
            <a:r>
              <a:rPr lang="pt-BR" dirty="0"/>
              <a:t>à pureza relativa ou a quantidade de luz branca misturada à matiz</a:t>
            </a:r>
            <a:r>
              <a:rPr lang="pt-BR" dirty="0" smtClean="0"/>
              <a:t>;</a:t>
            </a:r>
          </a:p>
          <a:p>
            <a:pPr lvl="2"/>
            <a:endParaRPr lang="pt-BR" dirty="0"/>
          </a:p>
          <a:p>
            <a:r>
              <a:rPr lang="pt-BR" dirty="0" smtClean="0"/>
              <a:t>O </a:t>
            </a:r>
            <a:r>
              <a:rPr lang="pt-BR" dirty="0"/>
              <a:t>espectro de cores puras são completamente saturados. </a:t>
            </a:r>
            <a:endParaRPr lang="pt-BR" dirty="0" smtClean="0"/>
          </a:p>
          <a:p>
            <a:pPr lvl="1"/>
            <a:r>
              <a:rPr lang="pt-BR" dirty="0" smtClean="0"/>
              <a:t>Cores </a:t>
            </a:r>
            <a:r>
              <a:rPr lang="pt-BR" dirty="0"/>
              <a:t>como Rosa (vermelho e branco) e lilás (violeta e branco) são menos saturadas, com o grau de saturação sendo inversamente proporcional à </a:t>
            </a:r>
            <a:r>
              <a:rPr lang="pt-BR" dirty="0" smtClean="0"/>
              <a:t>quantidade de </a:t>
            </a:r>
            <a:r>
              <a:rPr lang="pt-BR" dirty="0"/>
              <a:t>luz branca adicionada)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875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Formação da cor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Das </a:t>
            </a:r>
            <a:r>
              <a:rPr lang="pt-BR" dirty="0"/>
              <a:t>características que </a:t>
            </a:r>
            <a:r>
              <a:rPr lang="pt-BR" dirty="0" smtClean="0"/>
              <a:t>percebemos </a:t>
            </a:r>
          </a:p>
          <a:p>
            <a:pPr lvl="1"/>
            <a:r>
              <a:rPr lang="pt-BR" dirty="0" smtClean="0"/>
              <a:t>Saturação </a:t>
            </a:r>
            <a:r>
              <a:rPr lang="pt-BR" dirty="0"/>
              <a:t>e matiz juntos dão a sensação da cor (</a:t>
            </a:r>
            <a:r>
              <a:rPr lang="pt-BR" dirty="0" err="1"/>
              <a:t>cromaticidade</a:t>
            </a:r>
            <a:r>
              <a:rPr lang="pt-BR" dirty="0"/>
              <a:t>). </a:t>
            </a:r>
          </a:p>
          <a:p>
            <a:pPr lvl="1"/>
            <a:r>
              <a:rPr lang="pt-BR" dirty="0" smtClean="0"/>
              <a:t>Brilho </a:t>
            </a:r>
            <a:r>
              <a:rPr lang="pt-BR" dirty="0"/>
              <a:t>indica a noção acromática de intensidade</a:t>
            </a:r>
          </a:p>
          <a:p>
            <a:endParaRPr lang="pt-BR" dirty="0"/>
          </a:p>
          <a:p>
            <a:r>
              <a:rPr lang="pt-BR" dirty="0"/>
              <a:t>Portanto uma cor pode ser caracterizada por </a:t>
            </a:r>
            <a:endParaRPr lang="pt-BR" dirty="0" smtClean="0"/>
          </a:p>
          <a:p>
            <a:pPr lvl="1"/>
            <a:r>
              <a:rPr lang="pt-BR" dirty="0" smtClean="0"/>
              <a:t>seu </a:t>
            </a:r>
            <a:r>
              <a:rPr lang="pt-BR" dirty="0"/>
              <a:t>brilho </a:t>
            </a:r>
            <a:endParaRPr lang="pt-BR" dirty="0" smtClean="0"/>
          </a:p>
          <a:p>
            <a:pPr lvl="1"/>
            <a:r>
              <a:rPr lang="pt-BR" dirty="0" smtClean="0"/>
              <a:t>sua </a:t>
            </a:r>
            <a:r>
              <a:rPr lang="pt-BR" dirty="0" err="1"/>
              <a:t>cromaticidade</a:t>
            </a:r>
            <a:endParaRPr lang="pt-BR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0030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cromaticidade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Tristimulus</a:t>
            </a:r>
            <a:endParaRPr lang="pt-BR" dirty="0" smtClean="0"/>
          </a:p>
          <a:p>
            <a:pPr lvl="1"/>
            <a:r>
              <a:rPr lang="pt-BR" dirty="0" smtClean="0"/>
              <a:t>Definida </a:t>
            </a:r>
            <a:r>
              <a:rPr lang="pt-BR" dirty="0"/>
              <a:t>pela </a:t>
            </a:r>
            <a:r>
              <a:rPr lang="pt-BR" dirty="0" err="1"/>
              <a:t>tupla</a:t>
            </a:r>
            <a:r>
              <a:rPr lang="pt-BR" dirty="0"/>
              <a:t> (X, Y, Z) que indica a quantidade de luz vermelha, verde e azul  necessárias para formar uma determinada cor</a:t>
            </a:r>
            <a:r>
              <a:rPr lang="pt-BR" dirty="0" smtClean="0"/>
              <a:t>;</a:t>
            </a:r>
          </a:p>
          <a:p>
            <a:pPr lvl="2"/>
            <a:r>
              <a:rPr lang="pt-BR" dirty="0" smtClean="0"/>
              <a:t>X representa a quantidade de vermelho</a:t>
            </a:r>
          </a:p>
          <a:p>
            <a:pPr lvl="2"/>
            <a:r>
              <a:rPr lang="pt-BR" dirty="0" smtClean="0"/>
              <a:t>Y </a:t>
            </a:r>
            <a:r>
              <a:rPr lang="pt-BR" dirty="0"/>
              <a:t>representa a quantidade de verde e </a:t>
            </a:r>
            <a:endParaRPr lang="pt-BR" dirty="0" smtClean="0"/>
          </a:p>
          <a:p>
            <a:pPr lvl="2"/>
            <a:r>
              <a:rPr lang="pt-BR" dirty="0" smtClean="0"/>
              <a:t>Z </a:t>
            </a:r>
            <a:r>
              <a:rPr lang="pt-BR" dirty="0"/>
              <a:t>representa a quantidade de azul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8299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cromaticidade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/>
              <a:t>uma cor é especificada por seus coeficientes de </a:t>
            </a:r>
            <a:r>
              <a:rPr lang="pt-BR" b="1" i="1" dirty="0" err="1"/>
              <a:t>cromaticidade</a:t>
            </a:r>
            <a:r>
              <a:rPr lang="pt-BR" dirty="0"/>
              <a:t> </a:t>
            </a:r>
            <a:r>
              <a:rPr lang="pt-BR" i="1" dirty="0"/>
              <a:t>x</a:t>
            </a:r>
            <a:r>
              <a:rPr lang="pt-BR" dirty="0"/>
              <a:t>, </a:t>
            </a:r>
            <a:r>
              <a:rPr lang="pt-BR" i="1" dirty="0"/>
              <a:t>y</a:t>
            </a:r>
            <a:r>
              <a:rPr lang="pt-BR" dirty="0"/>
              <a:t> e </a:t>
            </a:r>
            <a:r>
              <a:rPr lang="pt-BR" i="1" dirty="0"/>
              <a:t>z</a:t>
            </a:r>
            <a:r>
              <a:rPr lang="pt-BR" dirty="0"/>
              <a:t> definidos como:</a:t>
            </a:r>
          </a:p>
          <a:p>
            <a:endParaRPr lang="en-US" dirty="0"/>
          </a:p>
        </p:txBody>
      </p:sp>
      <p:graphicFrame>
        <p:nvGraphicFramePr>
          <p:cNvPr id="4" name="Objeto 3"/>
          <p:cNvGraphicFramePr>
            <a:graphicFrameLocks noChangeAspect="1"/>
          </p:cNvGraphicFramePr>
          <p:nvPr/>
        </p:nvGraphicFramePr>
        <p:xfrm>
          <a:off x="1187450" y="2997200"/>
          <a:ext cx="6461125" cy="128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9" name="Equação" r:id="rId3" imgW="3060700" imgH="609600" progId="Equation.3">
                  <p:embed/>
                </p:oleObj>
              </mc:Choice>
              <mc:Fallback>
                <p:oleObj name="Equação" r:id="rId3" imgW="3060700" imgH="609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997200"/>
                        <a:ext cx="6461125" cy="1285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7033417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cromaticidade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463408" cy="4495800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A cor pode ser especificada pelos seus coeficientes de </a:t>
            </a:r>
            <a:r>
              <a:rPr lang="pt-BR" dirty="0" err="1"/>
              <a:t>cromaticidade</a:t>
            </a:r>
            <a:r>
              <a:rPr lang="pt-BR" dirty="0"/>
              <a:t>, bem como pelo diagrama </a:t>
            </a:r>
            <a:r>
              <a:rPr lang="pt-BR" dirty="0" smtClean="0"/>
              <a:t>de </a:t>
            </a:r>
            <a:r>
              <a:rPr lang="pt-BR" dirty="0" err="1" smtClean="0"/>
              <a:t>cromaticidade</a:t>
            </a:r>
            <a:endParaRPr lang="pt-BR" dirty="0"/>
          </a:p>
          <a:p>
            <a:pPr lvl="1"/>
            <a:r>
              <a:rPr lang="pt-BR" dirty="0"/>
              <a:t>Para obter o valor </a:t>
            </a:r>
            <a:r>
              <a:rPr lang="pt-BR" dirty="0" smtClean="0"/>
              <a:t>de </a:t>
            </a:r>
            <a:r>
              <a:rPr lang="pt-BR" i="1" dirty="0"/>
              <a:t>z</a:t>
            </a:r>
            <a:r>
              <a:rPr lang="pt-BR" dirty="0"/>
              <a:t> (azul) para </a:t>
            </a:r>
            <a:r>
              <a:rPr lang="pt-BR" dirty="0" smtClean="0"/>
              <a:t>qualquer </a:t>
            </a:r>
            <a:r>
              <a:rPr lang="pt-BR" dirty="0"/>
              <a:t>valor </a:t>
            </a:r>
            <a:r>
              <a:rPr lang="pt-BR" i="1" dirty="0"/>
              <a:t>x</a:t>
            </a:r>
            <a:r>
              <a:rPr lang="pt-BR" dirty="0"/>
              <a:t> </a:t>
            </a:r>
            <a:r>
              <a:rPr lang="pt-BR" dirty="0" smtClean="0"/>
              <a:t>e </a:t>
            </a:r>
            <a:r>
              <a:rPr lang="pt-BR" i="1" dirty="0"/>
              <a:t>y</a:t>
            </a:r>
            <a:r>
              <a:rPr lang="pt-BR" dirty="0"/>
              <a:t> bastar </a:t>
            </a:r>
            <a:r>
              <a:rPr lang="pt-BR" dirty="0" smtClean="0"/>
              <a:t>fazer </a:t>
            </a:r>
            <a:r>
              <a:rPr lang="pt-BR" i="1" dirty="0"/>
              <a:t>z = 1 – (</a:t>
            </a:r>
            <a:r>
              <a:rPr lang="pt-BR" i="1" dirty="0" err="1"/>
              <a:t>x+y</a:t>
            </a:r>
            <a:r>
              <a:rPr lang="pt-BR" i="1" dirty="0" smtClean="0"/>
              <a:t>)</a:t>
            </a:r>
          </a:p>
          <a:p>
            <a:pPr lvl="1"/>
            <a:r>
              <a:rPr lang="pt-BR" dirty="0" smtClean="0"/>
              <a:t>Cores </a:t>
            </a:r>
            <a:r>
              <a:rPr lang="pt-BR" dirty="0"/>
              <a:t>puras, que possuem saturação máxima, estão localizadas na fronteira do </a:t>
            </a:r>
            <a:r>
              <a:rPr lang="pt-BR" dirty="0" smtClean="0"/>
              <a:t>diagrama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11195" y="1700808"/>
            <a:ext cx="396081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0611633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cromaticidade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463408" cy="4495800"/>
          </a:xfrm>
        </p:spPr>
        <p:txBody>
          <a:bodyPr>
            <a:normAutofit/>
          </a:bodyPr>
          <a:lstStyle/>
          <a:p>
            <a:r>
              <a:rPr lang="pt-BR" dirty="0"/>
              <a:t>A </a:t>
            </a:r>
            <a:r>
              <a:rPr lang="pt-BR" dirty="0" smtClean="0"/>
              <a:t>cor </a:t>
            </a:r>
            <a:r>
              <a:rPr lang="pt-BR" dirty="0"/>
              <a:t>branca é obtida quando as três cores primarias se misturam na mesma </a:t>
            </a:r>
            <a:r>
              <a:rPr lang="pt-BR" dirty="0" smtClean="0"/>
              <a:t>proporção</a:t>
            </a:r>
          </a:p>
          <a:p>
            <a:pPr lvl="1"/>
            <a:r>
              <a:rPr lang="pt-BR" dirty="0"/>
              <a:t>Cor branca de acordo com </a:t>
            </a:r>
            <a:r>
              <a:rPr lang="pt-BR" dirty="0" smtClean="0"/>
              <a:t>CIE</a:t>
            </a:r>
            <a:endParaRPr lang="pt-BR" dirty="0"/>
          </a:p>
          <a:p>
            <a:pPr lvl="1"/>
            <a:r>
              <a:rPr lang="pt-BR" dirty="0"/>
              <a:t>Saturação = 0</a:t>
            </a:r>
          </a:p>
          <a:p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11195" y="1700808"/>
            <a:ext cx="396081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6" name="Conector de seta reta 5"/>
          <p:cNvCxnSpPr/>
          <p:nvPr/>
        </p:nvCxnSpPr>
        <p:spPr>
          <a:xfrm>
            <a:off x="3203848" y="4005064"/>
            <a:ext cx="3672408" cy="61218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841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cromaticidade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679432" cy="5069160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Como usar o diagrama de </a:t>
            </a:r>
            <a:r>
              <a:rPr lang="pt-BR" dirty="0" err="1" smtClean="0"/>
              <a:t>cromaticidade</a:t>
            </a:r>
            <a:r>
              <a:rPr lang="pt-BR" dirty="0" smtClean="0"/>
              <a:t>?</a:t>
            </a:r>
            <a:endParaRPr lang="pt-BR" dirty="0"/>
          </a:p>
          <a:p>
            <a:pPr lvl="1"/>
            <a:r>
              <a:rPr lang="pt-BR" dirty="0"/>
              <a:t>Uma cor pode ser especificada pelo diagrama de </a:t>
            </a:r>
            <a:r>
              <a:rPr lang="pt-BR" dirty="0" err="1"/>
              <a:t>cromaticidade</a:t>
            </a:r>
            <a:r>
              <a:rPr lang="pt-BR" dirty="0"/>
              <a:t> determinando os coeficientes </a:t>
            </a:r>
            <a:r>
              <a:rPr lang="pt-BR" i="1" dirty="0" smtClean="0"/>
              <a:t>x</a:t>
            </a:r>
            <a:r>
              <a:rPr lang="pt-BR" dirty="0"/>
              <a:t>, </a:t>
            </a:r>
            <a:r>
              <a:rPr lang="pt-BR" i="1" dirty="0" smtClean="0"/>
              <a:t>y </a:t>
            </a:r>
            <a:r>
              <a:rPr lang="pt-BR" dirty="0" smtClean="0"/>
              <a:t>e </a:t>
            </a:r>
            <a:r>
              <a:rPr lang="pt-BR" i="1" dirty="0"/>
              <a:t>z</a:t>
            </a:r>
          </a:p>
          <a:p>
            <a:pPr lvl="1"/>
            <a:r>
              <a:rPr lang="pt-BR" dirty="0"/>
              <a:t>Exemplo: o ponto GREEN marcado no diagrama tem aproximadamente </a:t>
            </a:r>
            <a:endParaRPr lang="pt-BR" dirty="0" smtClean="0"/>
          </a:p>
          <a:p>
            <a:pPr lvl="2"/>
            <a:r>
              <a:rPr lang="pt-BR" dirty="0" smtClean="0"/>
              <a:t>x </a:t>
            </a:r>
            <a:r>
              <a:rPr lang="pt-BR" dirty="0"/>
              <a:t>= 2.3 (23%), </a:t>
            </a:r>
            <a:endParaRPr lang="pt-BR" dirty="0" smtClean="0"/>
          </a:p>
          <a:p>
            <a:pPr lvl="2"/>
            <a:r>
              <a:rPr lang="pt-BR" dirty="0" smtClean="0"/>
              <a:t>y </a:t>
            </a:r>
            <a:r>
              <a:rPr lang="pt-BR" dirty="0"/>
              <a:t>= 6.3 (63%) </a:t>
            </a:r>
            <a:endParaRPr lang="pt-BR" dirty="0" smtClean="0"/>
          </a:p>
          <a:p>
            <a:pPr lvl="2"/>
            <a:r>
              <a:rPr lang="pt-BR" dirty="0" smtClean="0"/>
              <a:t>z </a:t>
            </a:r>
            <a:r>
              <a:rPr lang="pt-BR" dirty="0"/>
              <a:t>= 1.4 (14%) </a:t>
            </a:r>
            <a:endParaRPr lang="pt-BR" dirty="0" smtClean="0"/>
          </a:p>
          <a:p>
            <a:pPr lvl="2"/>
            <a:r>
              <a:rPr lang="pt-BR" dirty="0" smtClean="0"/>
              <a:t>Essas são </a:t>
            </a:r>
            <a:r>
              <a:rPr lang="pt-BR" dirty="0"/>
              <a:t>as proporções de R, G, B para obter a cor </a:t>
            </a:r>
            <a:r>
              <a:rPr lang="pt-BR" dirty="0" smtClean="0"/>
              <a:t>GREEN</a:t>
            </a:r>
            <a:endParaRPr lang="pt-BR" dirty="0"/>
          </a:p>
          <a:p>
            <a:pPr lvl="1"/>
            <a:r>
              <a:rPr lang="pt-BR" dirty="0" smtClean="0"/>
              <a:t>Útil </a:t>
            </a:r>
            <a:r>
              <a:rPr lang="pt-BR" dirty="0"/>
              <a:t>para mistura de </a:t>
            </a:r>
            <a:r>
              <a:rPr lang="pt-BR" dirty="0" smtClean="0"/>
              <a:t>cores</a:t>
            </a:r>
            <a:endParaRPr lang="pt-BR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11195" y="1700808"/>
            <a:ext cx="3960813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7202695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Mistura de Cores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463036" cy="4495800"/>
          </a:xfrm>
        </p:spPr>
        <p:txBody>
          <a:bodyPr>
            <a:normAutofit fontScale="92500" lnSpcReduction="20000"/>
          </a:bodyPr>
          <a:lstStyle/>
          <a:p>
            <a:r>
              <a:rPr lang="pt-BR" dirty="0" smtClean="0"/>
              <a:t>Traçando </a:t>
            </a:r>
            <a:r>
              <a:rPr lang="pt-BR" dirty="0"/>
              <a:t>uma linha reta entre duas cores do diagrama é possível definir todas as variações de cores que podem </a:t>
            </a:r>
            <a:r>
              <a:rPr lang="pt-BR" dirty="0" smtClean="0"/>
              <a:t>ser </a:t>
            </a:r>
            <a:r>
              <a:rPr lang="pt-BR" dirty="0"/>
              <a:t>obtidas pela </a:t>
            </a:r>
            <a:r>
              <a:rPr lang="pt-BR" dirty="0" smtClean="0"/>
              <a:t>combinação </a:t>
            </a:r>
            <a:r>
              <a:rPr lang="pt-BR" dirty="0"/>
              <a:t>aditiva </a:t>
            </a:r>
            <a:r>
              <a:rPr lang="pt-BR" dirty="0" smtClean="0"/>
              <a:t>destas duas </a:t>
            </a:r>
            <a:r>
              <a:rPr lang="pt-BR" dirty="0"/>
              <a:t>cores.</a:t>
            </a:r>
          </a:p>
          <a:p>
            <a:pPr lvl="1"/>
            <a:r>
              <a:rPr lang="pt-BR" dirty="0" smtClean="0"/>
              <a:t>A </a:t>
            </a:r>
            <a:r>
              <a:rPr lang="pt-BR" dirty="0"/>
              <a:t>extensão para três </a:t>
            </a:r>
            <a:r>
              <a:rPr lang="pt-BR" dirty="0" smtClean="0"/>
              <a:t>cores </a:t>
            </a:r>
            <a:r>
              <a:rPr lang="pt-BR" dirty="0"/>
              <a:t>é direta </a:t>
            </a:r>
          </a:p>
          <a:p>
            <a:pPr lvl="1"/>
            <a:r>
              <a:rPr lang="pt-BR" dirty="0" smtClean="0"/>
              <a:t>Com </a:t>
            </a:r>
            <a:r>
              <a:rPr lang="pt-BR" dirty="0"/>
              <a:t>3 cores não é possível </a:t>
            </a:r>
            <a:r>
              <a:rPr lang="pt-BR" dirty="0" smtClean="0"/>
              <a:t>gerar </a:t>
            </a:r>
            <a:r>
              <a:rPr lang="pt-BR" dirty="0"/>
              <a:t>todo os </a:t>
            </a:r>
            <a:r>
              <a:rPr lang="pt-BR" dirty="0" smtClean="0"/>
              <a:t>espectro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75684" y="1772816"/>
            <a:ext cx="3960812" cy="4708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5" name="Conector reto 4"/>
          <p:cNvCxnSpPr/>
          <p:nvPr/>
        </p:nvCxnSpPr>
        <p:spPr>
          <a:xfrm>
            <a:off x="6588571" y="3412704"/>
            <a:ext cx="1295400" cy="1223962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ector reto 5"/>
          <p:cNvCxnSpPr/>
          <p:nvPr/>
        </p:nvCxnSpPr>
        <p:spPr>
          <a:xfrm rot="5400000">
            <a:off x="5580508" y="4204867"/>
            <a:ext cx="1800225" cy="215900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to 6"/>
          <p:cNvCxnSpPr/>
          <p:nvPr/>
        </p:nvCxnSpPr>
        <p:spPr>
          <a:xfrm flipV="1">
            <a:off x="6372671" y="4636666"/>
            <a:ext cx="1511300" cy="576263"/>
          </a:xfrm>
          <a:prstGeom prst="line">
            <a:avLst/>
          </a:prstGeom>
          <a:ln w="28575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779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cromaticidade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Aplicações para o diagrama de </a:t>
            </a:r>
            <a:r>
              <a:rPr lang="pt-BR" dirty="0" err="1"/>
              <a:t>cromaticidade</a:t>
            </a:r>
            <a:endParaRPr lang="pt-BR" dirty="0"/>
          </a:p>
          <a:p>
            <a:pPr lvl="1"/>
            <a:r>
              <a:rPr lang="pt-BR" dirty="0" smtClean="0"/>
              <a:t>Indica </a:t>
            </a:r>
            <a:r>
              <a:rPr lang="pt-BR" dirty="0"/>
              <a:t>a proporção com que cada cor primária deve ser misturada para obter qualquer outra  cor;</a:t>
            </a:r>
          </a:p>
          <a:p>
            <a:pPr lvl="1"/>
            <a:r>
              <a:rPr lang="pt-BR" dirty="0" smtClean="0"/>
              <a:t>Definir </a:t>
            </a:r>
            <a:r>
              <a:rPr lang="pt-BR" i="1" dirty="0" err="1"/>
              <a:t>gamutes</a:t>
            </a:r>
            <a:r>
              <a:rPr lang="pt-BR" dirty="0"/>
              <a:t> de cores (ou intervalos de cores) para diferentes dispositivos.</a:t>
            </a:r>
          </a:p>
          <a:p>
            <a:pPr lvl="1"/>
            <a:r>
              <a:rPr lang="pt-BR" dirty="0" smtClean="0"/>
              <a:t>Comparar </a:t>
            </a:r>
            <a:r>
              <a:rPr lang="pt-BR" i="1" dirty="0" err="1"/>
              <a:t>gamutes</a:t>
            </a:r>
            <a:r>
              <a:rPr lang="pt-BR" i="1" dirty="0"/>
              <a:t> </a:t>
            </a:r>
            <a:r>
              <a:rPr lang="pt-BR" dirty="0"/>
              <a:t>de cor entre vários dispositivos de exibição (monitor, </a:t>
            </a:r>
            <a:r>
              <a:rPr lang="pt-BR" dirty="0" smtClean="0"/>
              <a:t>vídeo, </a:t>
            </a:r>
            <a:r>
              <a:rPr lang="pt-BR" dirty="0"/>
              <a:t>impressora)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9472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cromaticidade</a:t>
            </a:r>
            <a:endParaRPr lang="en-US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4967464" cy="5069160"/>
          </a:xfrm>
        </p:spPr>
        <p:txBody>
          <a:bodyPr>
            <a:normAutofit fontScale="85000" lnSpcReduction="10000"/>
          </a:bodyPr>
          <a:lstStyle/>
          <a:p>
            <a:r>
              <a:rPr lang="pt-BR" dirty="0"/>
              <a:t>Aplicações para o diagrama de </a:t>
            </a:r>
            <a:r>
              <a:rPr lang="pt-BR" dirty="0" err="1"/>
              <a:t>cromaticidade</a:t>
            </a:r>
            <a:endParaRPr lang="pt-BR" dirty="0"/>
          </a:p>
          <a:p>
            <a:pPr lvl="1"/>
            <a:r>
              <a:rPr lang="pt-BR" dirty="0" smtClean="0"/>
              <a:t>O </a:t>
            </a:r>
            <a:r>
              <a:rPr lang="pt-BR" i="1" dirty="0" err="1"/>
              <a:t>gamute</a:t>
            </a:r>
            <a:r>
              <a:rPr lang="pt-BR" dirty="0"/>
              <a:t> da impressora é menor que do </a:t>
            </a:r>
            <a:r>
              <a:rPr lang="pt-BR" i="1" dirty="0" err="1"/>
              <a:t>gamute</a:t>
            </a:r>
            <a:r>
              <a:rPr lang="pt-BR" dirty="0"/>
              <a:t> do </a:t>
            </a:r>
            <a:r>
              <a:rPr lang="pt-BR" dirty="0" smtClean="0"/>
              <a:t>vídeo</a:t>
            </a:r>
          </a:p>
          <a:p>
            <a:pPr lvl="1"/>
            <a:r>
              <a:rPr lang="pt-BR" dirty="0" smtClean="0"/>
              <a:t>se </a:t>
            </a:r>
            <a:r>
              <a:rPr lang="pt-BR" dirty="0"/>
              <a:t>quisermos uma reprodução exata da imagem de vídeo na impressora então o </a:t>
            </a:r>
            <a:r>
              <a:rPr lang="pt-BR" i="1" dirty="0" err="1"/>
              <a:t>gamute</a:t>
            </a:r>
            <a:r>
              <a:rPr lang="pt-BR" dirty="0"/>
              <a:t> de cores do </a:t>
            </a:r>
            <a:r>
              <a:rPr lang="pt-BR" dirty="0" smtClean="0"/>
              <a:t>vídeo </a:t>
            </a:r>
            <a:r>
              <a:rPr lang="pt-BR" dirty="0"/>
              <a:t>deve ser reduzido.</a:t>
            </a:r>
          </a:p>
          <a:p>
            <a:pPr lvl="1"/>
            <a:r>
              <a:rPr lang="pt-BR" dirty="0" smtClean="0"/>
              <a:t>Nota</a:t>
            </a:r>
            <a:r>
              <a:rPr lang="pt-BR" dirty="0"/>
              <a:t>: os fabricantes </a:t>
            </a:r>
            <a:r>
              <a:rPr lang="pt-BR" dirty="0" smtClean="0"/>
              <a:t>de monitor informam </a:t>
            </a:r>
            <a:r>
              <a:rPr lang="pt-BR" dirty="0"/>
              <a:t>as coordenadas de </a:t>
            </a:r>
            <a:r>
              <a:rPr lang="pt-BR" dirty="0" err="1" smtClean="0"/>
              <a:t>cromaticidade</a:t>
            </a:r>
            <a:r>
              <a:rPr lang="pt-BR" dirty="0" smtClean="0"/>
              <a:t> </a:t>
            </a:r>
            <a:r>
              <a:rPr lang="pt-BR" dirty="0"/>
              <a:t>do </a:t>
            </a:r>
            <a:r>
              <a:rPr lang="pt-BR" dirty="0" smtClean="0"/>
              <a:t>monitor</a:t>
            </a:r>
            <a:r>
              <a:rPr lang="pt-BR" dirty="0"/>
              <a:t>. </a:t>
            </a:r>
          </a:p>
          <a:p>
            <a:pPr lvl="2"/>
            <a:r>
              <a:rPr lang="pt-BR" dirty="0" smtClean="0"/>
              <a:t>R: </a:t>
            </a:r>
            <a:r>
              <a:rPr lang="pt-BR" i="1" dirty="0" smtClean="0"/>
              <a:t>x </a:t>
            </a:r>
            <a:r>
              <a:rPr lang="pt-BR" i="1" dirty="0"/>
              <a:t>= 0.62</a:t>
            </a:r>
            <a:r>
              <a:rPr lang="pt-BR" dirty="0"/>
              <a:t> </a:t>
            </a:r>
            <a:r>
              <a:rPr lang="pt-BR" dirty="0" smtClean="0"/>
              <a:t>e </a:t>
            </a:r>
            <a:r>
              <a:rPr lang="pt-BR" i="1" dirty="0"/>
              <a:t>y = </a:t>
            </a:r>
            <a:r>
              <a:rPr lang="pt-BR" i="1" dirty="0" smtClean="0"/>
              <a:t>0.330</a:t>
            </a:r>
            <a:endParaRPr lang="pt-BR" i="1" dirty="0"/>
          </a:p>
          <a:p>
            <a:pPr lvl="2"/>
            <a:r>
              <a:rPr lang="pt-BR" dirty="0" smtClean="0"/>
              <a:t>G: </a:t>
            </a:r>
            <a:r>
              <a:rPr lang="pt-BR" i="1" dirty="0" smtClean="0"/>
              <a:t>x </a:t>
            </a:r>
            <a:r>
              <a:rPr lang="pt-BR" i="1" dirty="0"/>
              <a:t>= 0.21</a:t>
            </a:r>
            <a:r>
              <a:rPr lang="pt-BR" dirty="0"/>
              <a:t> </a:t>
            </a:r>
            <a:r>
              <a:rPr lang="pt-BR" dirty="0" smtClean="0"/>
              <a:t>e </a:t>
            </a:r>
            <a:r>
              <a:rPr lang="pt-BR" i="1" dirty="0" smtClean="0"/>
              <a:t>y </a:t>
            </a:r>
            <a:r>
              <a:rPr lang="pt-BR" i="1" dirty="0"/>
              <a:t>= 0.685</a:t>
            </a:r>
          </a:p>
          <a:p>
            <a:pPr lvl="2"/>
            <a:r>
              <a:rPr lang="pt-BR" dirty="0" smtClean="0"/>
              <a:t>B: </a:t>
            </a:r>
            <a:r>
              <a:rPr lang="pt-BR" i="1" dirty="0" smtClean="0"/>
              <a:t>x </a:t>
            </a:r>
            <a:r>
              <a:rPr lang="pt-BR" i="1" dirty="0"/>
              <a:t>= 0.15</a:t>
            </a:r>
            <a:r>
              <a:rPr lang="pt-BR" dirty="0"/>
              <a:t> </a:t>
            </a:r>
            <a:r>
              <a:rPr lang="pt-BR" dirty="0" smtClean="0"/>
              <a:t>e </a:t>
            </a:r>
            <a:r>
              <a:rPr lang="pt-BR" i="1" dirty="0" smtClean="0"/>
              <a:t>y </a:t>
            </a:r>
            <a:r>
              <a:rPr lang="pt-BR" i="1" dirty="0"/>
              <a:t>= 0.063</a:t>
            </a:r>
          </a:p>
          <a:p>
            <a:pPr lvl="1"/>
            <a:endParaRPr lang="pt-BR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444554" y="1789013"/>
            <a:ext cx="3663950" cy="423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458838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Mediano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1D26A5B-1609-49B5-B47E-B67A0306D510}"/>
</file>

<file path=customXml/itemProps2.xml><?xml version="1.0" encoding="utf-8"?>
<ds:datastoreItem xmlns:ds="http://schemas.openxmlformats.org/officeDocument/2006/customXml" ds:itemID="{AF8F14F2-1DBD-4293-B567-11B05E2713AA}"/>
</file>

<file path=customXml/itemProps3.xml><?xml version="1.0" encoding="utf-8"?>
<ds:datastoreItem xmlns:ds="http://schemas.openxmlformats.org/officeDocument/2006/customXml" ds:itemID="{CEA29E9F-C962-400C-9CCA-8DAD643C58DD}"/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66</TotalTime>
  <Words>1471</Words>
  <Application>Microsoft Office PowerPoint</Application>
  <PresentationFormat>Apresentação na tela (4:3)</PresentationFormat>
  <Paragraphs>182</Paragraphs>
  <Slides>31</Slides>
  <Notes>0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31</vt:i4>
      </vt:variant>
    </vt:vector>
  </HeadingPairs>
  <TitlesOfParts>
    <vt:vector size="33" baseType="lpstr">
      <vt:lpstr>Mediano</vt:lpstr>
      <vt:lpstr>Equação</vt:lpstr>
      <vt:lpstr>Processamento de Imagens Coloridas</vt:lpstr>
      <vt:lpstr>Fundamentos da cor</vt:lpstr>
      <vt:lpstr>Fundamentos da cor</vt:lpstr>
      <vt:lpstr>Fundamentos da cor</vt:lpstr>
      <vt:lpstr>Fundamentos da cor</vt:lpstr>
      <vt:lpstr>Fundamentos da cor</vt:lpstr>
      <vt:lpstr>Fundamentos da cor</vt:lpstr>
      <vt:lpstr>Características da luz</vt:lpstr>
      <vt:lpstr>Quantidades que descrevem a qualidade da luz</vt:lpstr>
      <vt:lpstr>Questão</vt:lpstr>
      <vt:lpstr>Cores primárias</vt:lpstr>
      <vt:lpstr>Cores primárias</vt:lpstr>
      <vt:lpstr>Cores primárias</vt:lpstr>
      <vt:lpstr>Cores primárias</vt:lpstr>
      <vt:lpstr>Cores primárias</vt:lpstr>
      <vt:lpstr>Formação da cor</vt:lpstr>
      <vt:lpstr>Formação da cor</vt:lpstr>
      <vt:lpstr>Modelo Subtrativo</vt:lpstr>
      <vt:lpstr>Formação da cor</vt:lpstr>
      <vt:lpstr>Daltonismo</vt:lpstr>
      <vt:lpstr>Formação da cor</vt:lpstr>
      <vt:lpstr>Formação da cor</vt:lpstr>
      <vt:lpstr>Formação da cor</vt:lpstr>
      <vt:lpstr>Diagrama de cromaticidade</vt:lpstr>
      <vt:lpstr>Diagrama de cromaticidade</vt:lpstr>
      <vt:lpstr>Diagrama de cromaticidade</vt:lpstr>
      <vt:lpstr>Diagrama de cromaticidade</vt:lpstr>
      <vt:lpstr>Diagrama de cromaticidade</vt:lpstr>
      <vt:lpstr>Mistura de Cores</vt:lpstr>
      <vt:lpstr>Diagrama de cromaticidade</vt:lpstr>
      <vt:lpstr>Diagrama de cromaticidade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Processamento de Imagens Coloridas I</dc:title>
  <dc:creator>Eduardo</dc:creator>
  <cp:lastModifiedBy>Backes</cp:lastModifiedBy>
  <cp:revision>17</cp:revision>
  <dcterms:created xsi:type="dcterms:W3CDTF">2014-09-13T16:16:23Z</dcterms:created>
  <dcterms:modified xsi:type="dcterms:W3CDTF">2014-10-02T17:47:09Z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1500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_SourceUrl">
    <vt:lpwstr/>
  </property>
  <property fmtid="{D5CDD505-2E9C-101B-9397-08002B2CF9AE}" pid="9" name="_SharedFileIndex">
    <vt:lpwstr/>
  </property>
  <property fmtid="{D5CDD505-2E9C-101B-9397-08002B2CF9AE}" pid="10" name="ComplianceAssetId">
    <vt:lpwstr/>
  </property>
  <property fmtid="{D5CDD505-2E9C-101B-9397-08002B2CF9AE}" pid="11" name="TemplateUrl">
    <vt:lpwstr/>
  </property>
</Properties>
</file>